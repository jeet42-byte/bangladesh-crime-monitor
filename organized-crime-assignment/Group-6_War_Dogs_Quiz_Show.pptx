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ound 1: The Film" id="{674799c3-52ca-0bd8-ead2-1dd07078414f}">
          <p14:sldIdLst>
            <p14:sldId id="256"/>
            <p14:sldId id="257"/>
          </p14:sldIdLst>
        </p14:section>
        <p14:section name="Round 2: Definition" id="{37a86c6d-0bf6-d644-f988-996fbbb4df33}">
          <p14:sldIdLst>
            <p14:sldId id="258"/>
            <p14:sldId id="259"/>
          </p14:sldIdLst>
        </p14:section>
        <p14:section name="Round 3: Models" id="{b329c6de-b9c1-12a1-36b0-d2af0430130e}">
          <p14:sldIdLst>
            <p14:sldId id="260"/>
            <p14:sldId id="261"/>
          </p14:sldIdLst>
        </p14:section>
        <p14:section name="Round 4: Corruption" id="{688e5d4b-9dd8-88f5-89bd-eccf7c3956d1}">
          <p14:sldIdLst>
            <p14:sldId id="262"/>
            <p14:sldId id="263"/>
          </p14:sldIdLst>
        </p14:section>
        <p14:section name="Round 5: Theories" id="{a56c6801-b357-0e46-25c4-fbeaba9e3d6b}">
          <p14:sldIdLst>
            <p14:sldId id="264"/>
            <p14:sldId id="265"/>
          </p14:sldIdLst>
        </p14:section>
        <p14:section name="Final Round" id="{3baa6c0e-0604-38ba-b57c-55ebe5e75d84}">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Roll 27 – [Name] (about 50 seconds)
[Big game-show energy.] Good morning, and welcome to... Who Wants to Be a Criminologist? The War Dogs edition! We are Group 6, and today you are the contestants.
Here are the rules: we ask a question, you vote by raising your hand for A, B, C or D, and then we reveal the answer, and the criminology behind it. Six rounds. Let's play.
Round one, for 100 points. [Read the question.] War Dogs, from 2016, is based on a true story. How much was the real Pentagon contract that the company AEY won?
[Point to each option.] Hands up for A, 3 million... B, 29.8 million... C, 298 million... D, 2.98 billion? [Count hands, react.] Let's see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Roll 27 – [Name] (about 50 seconds)
The answer is C: 298 million dollars! [React to the votes.] A real contract, signed in 2007, to arm the Afghan National Army.
Here is the film in brief. It was directed by Todd Phillips and stars Jonah Hill and Miles Teller.
Act One: David, a broke massage therapist, joins his friend Efraim's company AEY, bidding online for small military contracts, and pushes a stuck shipment through Jordan into Iraq.
Act Two: a watch-listed broker, Henry, gives them access to old ammunition in Albania, and they win the Afghan contract.
Act Three: the ammunition is Chinese-made and banned, so they hide it. Efraim gets four years in prison, David seven months of house arrest.
Our thesis: organized crime doesn't always carry guns. Sometimes it sells them. [Member 2], round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8 – [Name] (about 50 seconds)
Thank you, [Member 1]! Round two, for 200 points. Now it gets harder.
[Read the question.] Under the UN Convention against Transnational Organized Crime, is AEY an "organized criminal group"?
A: No, because it was a legally registered company.
B: No, because it had fewer than three people.
C: Yes, because it had three or more people, existing over time, committing serious crime for profit.
D: Only if it used violence.
[Count hands.] Interesting! Many people think organized crime must mean violence, or the mafia. Let's find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8 – [Name] (about 50 seconds)
The answer is C! Under Article 2 of the UN Convention, an organized criminal group is a structured group of three or more people, existing for a period of time, committing serious crime for material benefit. AEY ticks every box: Efraim, David, their financier, Henry and the suppliers, operating for years, committing fraud for millions.
[Red card.] But here is the twist. Abadinsky's classic attributes describe the mafia: hierarchy, exclusive membership, rituals, and survival after arrests. AEY has none of them.
So our classification: organized white-collar crime. A legal company, committing organized and transnational fraud across five countries.
[Member 3], round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[Name] (about 50 seconds)
Thank you, [Member 2]! Round three, for 300 points. This one is about the models we studied in class.
[Read the question.] AEY started as a legal business and slid into fraud as demand grew. Which model of organized crime fits best?
A: the hierarchical model of Cressey.
B: the patron–client model of Albini.
C: the enterprise model of Smith.
D: the traditional mafia family.
[Count hands.] Hint: think about the word "slid". Let's reveal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[Name] (about 50 seconds)
The answer is C: Smith's enterprise model! Smith argued that legal and illegal businesses sit on one spectrum and respond to the same market demand. That is exactly AEY: it moved from legal bidding, to grey deals with fixers, to outright fraud.
The network model of Morselli also fits strongly. Power belonged to brokers who connected separate worlds: AEY linked the Pentagon to Henry, and Henry linked them to Albania.
Albini's patron–client model fits partly: Henry trades access for a share of profits.
But Cressey's hierarchical model, the mafia model, fits poorly. There were no ranks, no code and no family.
[Member 4], round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Roll 33 – [Name] (about 50 seconds)
Thank you, [Member 3]! Round four, for 500 points. Let's talk about corruption.
[Read the question.] Robert Klitgaard has a famous formula: corruption equals M plus D minus A. What do M, D and A stand for?
A: Money plus Drugs minus Arrests.
B: Mafia plus Deals minus Audits.
C: Monopoly plus Discretion minus Accountability.
D: Motive plus Desire minus Anxiety.
[Count hands.] Some of these sound very tempting! Let's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Roll 33 – [Name] (about 50 seconds)
The answer is C: Monopoly plus Discretion minus Accountability!
Let's apply it to the film. Monopoly: Henry controls the only access to cheap Balkan ammunition, so everyone must pay him. Discretion: officials, fixers and border agents decide with little scrutiny, and middlemen skim money. And accountability is low: in the rush of war, a company run by a man in his early twenties passes the Pentagon's vetting.
Transparency International defines corruption as the abuse of entrusted power for private gain. And this is also state-corporate crime: the harm grew out of a government policy of outsourcing war to the lowest bidder.
[Member 5], round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[Name] (about 50 seconds)
Thank you, [Member 4]! Round five, for 1,000 points. We are getting close to the end.
[Read the question in the character's voice.] "The troops still get bullets that work. Who is harmed?" This kind of excuse is an example of which technique of neutralization?
A: Denial of injury.
B: Denial of the victim.
C: Condemnation of the condemners.
D: Appeal to higher loyalties.
[Count hands.] Careful, A and B sound very similar! Let's reveal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[Name] (about 50 seconds)
The answer is A: denial of injury! The offender claims that no one is really hurt. Denial of the victim would mean "the victim deserved it", which is different.
Sykes and Matza showed that offenders know the rules, but use excuses to switch them off. In the film, the characters also condemn the condemners, "the government does it too", and appeal to higher loyalties, "I did it for my family". These are our paraphrases, not exact lines.
Three more theories explain their choices. Strain theory: David is broke with a baby coming, so he innovates. Differential association: he learns fraud from Efraim. And rational choice: a huge reward, a small chance of getting caught.
[Member 6], the final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 Roll 21 – [Name] (about 50 seconds)
Thank you, [Member 5]! And now... the final round. For one million points! [Pause for effect.]
[Read the question slowly.] How accurately does War Dogs portray organized crime and corruption?
A: Completely accurate, like a documentary.
B: Accurate in substance, but exaggerated in style.
C: Pure fiction, with no basis in fact.
D: It makes the fraud look worse than it really was.
[Count hands.] Is that your final answer? Let's lock it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 Roll 21 – [Name] (about 50 seconds)
The answer is B: accurate in substance, exaggerated in style!
[Green card.] What the film gets right: it breaks the mafia stereotype, it fits the UN definition and the enterprise and network models, and the contract, the repackaging and the sentences are all real.
[Red card.] What it gets wrong: the comedy glamorizes fraud, Henry is a composite character, the threats in Albania were invented, and it ignores real victims, like the 26 people killed in the Gërdec depot explosion in 2008.
Our conclusion: AEY is organized crime under the UN definition, but not the mafia. And the lesson for Bangladesh: big procurement relies on middlemen too, so vetting contractors is crime prevention.
Thank you for playing! Every contestant wins today. We're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QUESTION-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ANSWER-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QUES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19088"/>
            <a:ext cx="9144000" cy="201168"/>
          </a:xfrm>
          <a:prstGeom prst="rect">
            <a:avLst/>
          </a:prstGeom>
          <a:noFill/>
          <a:ln/>
        </p:spPr>
        <p:txBody>
          <a:bodyPr wrap="square" lIns="0" tIns="0" rIns="0" bIns="0" rtlCol="0" anchor="ctr"/>
          <a:lstStyle/>
          <a:p>
            <a:pPr indent="0" marL="0">
              <a:buNone/>
            </a:pPr>
            <a:r>
              <a:rPr lang="en-US" sz="900" b="1" spc="100" kern="0" dirty="0">
                <a:solidFill>
                  <a:srgbClr val="7C72B0"/>
                </a:solidFill>
              </a:rPr>
              <a:t>MCCJ 527  ·  GROUP 6  ·  WHO WANTS TO BE A CRIMINOLOGIST?  WAR DOGS EDITION</a:t>
            </a:r>
            <a:endParaRPr lang="en-US" sz="9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7C72B0"/>
                </a:solidFill>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NSW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19088"/>
            <a:ext cx="9144000" cy="201168"/>
          </a:xfrm>
          <a:prstGeom prst="rect">
            <a:avLst/>
          </a:prstGeom>
          <a:noFill/>
          <a:ln/>
        </p:spPr>
        <p:txBody>
          <a:bodyPr wrap="square" lIns="0" tIns="0" rIns="0" bIns="0" rtlCol="0" anchor="ctr"/>
          <a:lstStyle/>
          <a:p>
            <a:pPr indent="0" marL="0">
              <a:buNone/>
            </a:pPr>
            <a:r>
              <a:rPr lang="en-US" sz="900" b="1" spc="100" kern="0" dirty="0">
                <a:solidFill>
                  <a:srgbClr val="7C72B0"/>
                </a:solidFill>
              </a:rPr>
              <a:t>MCCJ 527  ·  GROUP 6  ·  WHO WANTS TO BE A CRIMINOLOGIST?  WAR DOGS EDITION</a:t>
            </a:r>
            <a:endParaRPr lang="en-US" sz="9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7C72B0"/>
                </a:solidFill>
              </a:defRPr>
            </a:lvl1pPr>
          </a:lstStyle>
          <a:p>
            <a:pPr algn="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7C72B0"/>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ound badge"/>
          <p:cNvSpPr/>
          <p:nvPr/>
        </p:nvSpPr>
        <p:spPr>
          <a:xfrm>
            <a:off x="548640" y="292608"/>
            <a:ext cx="566928" cy="566928"/>
          </a:xfrm>
          <a:prstGeom prst="ellipse">
            <a:avLst/>
          </a:prstGeom>
          <a:solidFill>
            <a:srgbClr val="FFC83D"/>
          </a:solidFill>
          <a:ln/>
        </p:spPr>
      </p:sp>
      <p:pic>
        <p:nvPicPr>
          <p:cNvPr id="3" name="round icon" descr="round">    </p:cNvPr>
          <p:cNvPicPr>
            <a:picLocks noChangeAspect="1"/>
          </p:cNvPicPr>
          <p:nvPr/>
        </p:nvPicPr>
        <p:blipFill>
          <a:blip r:embed="rId1"/>
          <a:stretch>
            <a:fillRect/>
          </a:stretch>
        </p:blipFill>
        <p:spPr>
          <a:xfrm>
            <a:off x="685800" y="429768"/>
            <a:ext cx="292608" cy="292608"/>
          </a:xfrm>
          <a:prstGeom prst="rect">
            <a:avLst/>
          </a:prstGeom>
        </p:spPr>
      </p:pic>
      <p:sp>
        <p:nvSpPr>
          <p:cNvPr id="4" name="Text 1"/>
          <p:cNvSpPr txBox="1"/>
          <p:nvPr/>
        </p:nvSpPr>
        <p:spPr>
          <a:xfrm>
            <a:off x="1280160" y="274320"/>
            <a:ext cx="4572000" cy="603504"/>
          </a:xfrm>
          <a:prstGeom prst="rect">
            <a:avLst/>
          </a:prstGeom>
          <a:noFill/>
          <a:ln/>
        </p:spPr>
        <p:txBody>
          <a:bodyPr wrap="square" lIns="0" tIns="0" rIns="0" bIns="0" rtlCol="0" anchor="ctr"/>
          <a:lstStyle/>
          <a:p>
            <a:pPr indent="0" marL="0">
              <a:buNone/>
            </a:pPr>
            <a:r>
              <a:rPr lang="en-US" sz="1400" b="1" spc="300" kern="0" dirty="0">
                <a:solidFill>
                  <a:srgbClr val="FFC83D"/>
                </a:solidFill>
              </a:rPr>
              <a:t>ROUND 1 OF 6</a:t>
            </a:r>
            <a:endParaRPr lang="en-US" sz="1400" dirty="0"/>
          </a:p>
          <a:p>
            <a:pPr indent="0" marL="0">
              <a:buNone/>
            </a:pPr>
            <a:r>
              <a:rPr lang="en-US" sz="1200" dirty="0">
                <a:solidFill>
                  <a:srgbClr val="A89FD0"/>
                </a:solidFill>
              </a:rPr>
              <a:t>Hosted by Roll 27</a:t>
            </a:r>
            <a:endParaRPr lang="en-US" sz="1400" dirty="0"/>
          </a:p>
        </p:txBody>
      </p:sp>
      <p:sp>
        <p:nvSpPr>
          <p:cNvPr id="5" name="Text 2"/>
          <p:cNvSpPr txBox="1"/>
          <p:nvPr/>
        </p:nvSpPr>
        <p:spPr>
          <a:xfrm>
            <a:off x="9265615" y="365760"/>
            <a:ext cx="2377440" cy="420624"/>
          </a:xfrm>
          <a:prstGeom prst="roundRect">
            <a:avLst>
              <a:gd name="adj" fmla="val 50000"/>
            </a:avLst>
          </a:prstGeom>
          <a:solidFill>
            <a:srgbClr val="FFC83D"/>
          </a:solidFill>
          <a:ln/>
        </p:spPr>
        <p:txBody>
          <a:bodyPr wrap="square" lIns="0" tIns="0" rIns="0" bIns="0" rtlCol="0" anchor="ctr"/>
          <a:lstStyle/>
          <a:p>
            <a:pPr algn="ctr" indent="0" marL="0">
              <a:buNone/>
            </a:pPr>
            <a:r>
              <a:rPr lang="en-US" sz="1500" b="1" spc="200" kern="0" dirty="0">
                <a:solidFill>
                  <a:srgbClr val="140B33"/>
                </a:solidFill>
              </a:rPr>
              <a:t>100 POINTS</a:t>
            </a:r>
            <a:endParaRPr lang="en-US" sz="1500" dirty="0"/>
          </a:p>
        </p:txBody>
      </p:sp>
      <p:sp>
        <p:nvSpPr>
          <p:cNvPr id="6" name="question panel"/>
          <p:cNvSpPr/>
          <p:nvPr/>
        </p:nvSpPr>
        <p:spPr>
          <a:xfrm>
            <a:off x="914400" y="1280160"/>
            <a:ext cx="10362895" cy="1600200"/>
          </a:xfrm>
          <a:prstGeom prst="roundRect">
            <a:avLst>
              <a:gd name="adj" fmla="val 14286"/>
            </a:avLst>
          </a:prstGeom>
          <a:solidFill>
            <a:srgbClr val="1E1548"/>
          </a:solidFill>
          <a:ln w="25400">
            <a:solidFill>
              <a:srgbClr val="FFC83D"/>
            </a:solidFill>
            <a:prstDash val="solid"/>
          </a:ln>
        </p:spPr>
      </p:sp>
      <p:sp>
        <p:nvSpPr>
          <p:cNvPr id="7" name="Text 4"/>
          <p:cNvSpPr txBox="1"/>
          <p:nvPr/>
        </p:nvSpPr>
        <p:spPr>
          <a:xfrm>
            <a:off x="1280160" y="1280160"/>
            <a:ext cx="9631375" cy="1600200"/>
          </a:xfrm>
          <a:prstGeom prst="rect">
            <a:avLst/>
          </a:prstGeom>
          <a:noFill/>
          <a:ln/>
        </p:spPr>
        <p:txBody>
          <a:bodyPr wrap="square" lIns="0" tIns="0" rIns="0" bIns="0" rtlCol="0" anchor="ctr"/>
          <a:lstStyle/>
          <a:p>
            <a:pPr algn="ctr" indent="0" marL="0">
              <a:buNone/>
            </a:pPr>
            <a:r>
              <a:rPr lang="en-US" sz="2600" b="1" dirty="0">
                <a:solidFill>
                  <a:schemeClr val="bg1"/>
                </a:solidFill>
              </a:rPr>
              <a:t>War Dogs (2016) is based on a true story. How much was the real Pentagon contract that AEY Inc. won?</a:t>
            </a:r>
            <a:endParaRPr lang="en-US" sz="2600" dirty="0"/>
          </a:p>
        </p:txBody>
      </p:sp>
      <p:sp>
        <p:nvSpPr>
          <p:cNvPr id="8" name="option A"/>
          <p:cNvSpPr/>
          <p:nvPr/>
        </p:nvSpPr>
        <p:spPr>
          <a:xfrm>
            <a:off x="548640" y="3246120"/>
            <a:ext cx="5364328" cy="822960"/>
          </a:xfrm>
          <a:prstGeom prst="roundRect">
            <a:avLst>
              <a:gd name="adj" fmla="val 50000"/>
            </a:avLst>
          </a:prstGeom>
          <a:solidFill>
            <a:srgbClr val="241A52"/>
          </a:solidFill>
          <a:ln w="25400">
            <a:solidFill>
              <a:srgbClr val="5B4BC4"/>
            </a:solidFill>
            <a:prstDash val="solid"/>
          </a:ln>
        </p:spPr>
      </p:sp>
      <p:sp>
        <p:nvSpPr>
          <p:cNvPr id="9" name="letter A"/>
          <p:cNvSpPr/>
          <p:nvPr/>
        </p:nvSpPr>
        <p:spPr>
          <a:xfrm>
            <a:off x="676656" y="3374136"/>
            <a:ext cx="566928" cy="566928"/>
          </a:xfrm>
          <a:prstGeom prst="ellipse">
            <a:avLst/>
          </a:prstGeom>
          <a:solidFill>
            <a:srgbClr val="FFC83D"/>
          </a:solidFill>
          <a:ln/>
        </p:spPr>
      </p:sp>
      <p:sp>
        <p:nvSpPr>
          <p:cNvPr id="10" name="Text 7"/>
          <p:cNvSpPr txBox="1"/>
          <p:nvPr/>
        </p:nvSpPr>
        <p:spPr>
          <a:xfrm>
            <a:off x="676656" y="3374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A</a:t>
            </a:r>
            <a:endParaRPr lang="en-US" sz="2000" dirty="0"/>
          </a:p>
        </p:txBody>
      </p:sp>
      <p:sp>
        <p:nvSpPr>
          <p:cNvPr id="11" name="Text 8"/>
          <p:cNvSpPr txBox="1"/>
          <p:nvPr/>
        </p:nvSpPr>
        <p:spPr>
          <a:xfrm>
            <a:off x="1417320" y="3246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$3 million</a:t>
            </a:r>
            <a:endParaRPr lang="en-US" sz="1700" dirty="0"/>
          </a:p>
        </p:txBody>
      </p:sp>
      <p:sp>
        <p:nvSpPr>
          <p:cNvPr id="12" name="option B"/>
          <p:cNvSpPr/>
          <p:nvPr/>
        </p:nvSpPr>
        <p:spPr>
          <a:xfrm>
            <a:off x="6278728" y="3246120"/>
            <a:ext cx="5364328" cy="822960"/>
          </a:xfrm>
          <a:prstGeom prst="roundRect">
            <a:avLst>
              <a:gd name="adj" fmla="val 50000"/>
            </a:avLst>
          </a:prstGeom>
          <a:solidFill>
            <a:srgbClr val="241A52"/>
          </a:solidFill>
          <a:ln w="25400">
            <a:solidFill>
              <a:srgbClr val="5B4BC4"/>
            </a:solidFill>
            <a:prstDash val="solid"/>
          </a:ln>
        </p:spPr>
      </p:sp>
      <p:sp>
        <p:nvSpPr>
          <p:cNvPr id="13" name="letter B"/>
          <p:cNvSpPr/>
          <p:nvPr/>
        </p:nvSpPr>
        <p:spPr>
          <a:xfrm>
            <a:off x="6406744" y="3374136"/>
            <a:ext cx="566928" cy="566928"/>
          </a:xfrm>
          <a:prstGeom prst="ellipse">
            <a:avLst/>
          </a:prstGeom>
          <a:solidFill>
            <a:srgbClr val="FFC83D"/>
          </a:solidFill>
          <a:ln/>
        </p:spPr>
      </p:sp>
      <p:sp>
        <p:nvSpPr>
          <p:cNvPr id="14" name="Text 11"/>
          <p:cNvSpPr txBox="1"/>
          <p:nvPr/>
        </p:nvSpPr>
        <p:spPr>
          <a:xfrm>
            <a:off x="6406744" y="3374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B</a:t>
            </a:r>
            <a:endParaRPr lang="en-US" sz="2000" dirty="0"/>
          </a:p>
        </p:txBody>
      </p:sp>
      <p:sp>
        <p:nvSpPr>
          <p:cNvPr id="15" name="Text 12"/>
          <p:cNvSpPr txBox="1"/>
          <p:nvPr/>
        </p:nvSpPr>
        <p:spPr>
          <a:xfrm>
            <a:off x="7147408" y="3246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$29.8 million</a:t>
            </a:r>
            <a:endParaRPr lang="en-US" sz="1700" dirty="0"/>
          </a:p>
        </p:txBody>
      </p:sp>
      <p:sp>
        <p:nvSpPr>
          <p:cNvPr id="16" name="option C"/>
          <p:cNvSpPr/>
          <p:nvPr/>
        </p:nvSpPr>
        <p:spPr>
          <a:xfrm>
            <a:off x="548640" y="4389120"/>
            <a:ext cx="5364328" cy="822960"/>
          </a:xfrm>
          <a:prstGeom prst="roundRect">
            <a:avLst>
              <a:gd name="adj" fmla="val 50000"/>
            </a:avLst>
          </a:prstGeom>
          <a:solidFill>
            <a:srgbClr val="241A52"/>
          </a:solidFill>
          <a:ln w="25400">
            <a:solidFill>
              <a:srgbClr val="5B4BC4"/>
            </a:solidFill>
            <a:prstDash val="solid"/>
          </a:ln>
        </p:spPr>
      </p:sp>
      <p:sp>
        <p:nvSpPr>
          <p:cNvPr id="17" name="letter C"/>
          <p:cNvSpPr/>
          <p:nvPr/>
        </p:nvSpPr>
        <p:spPr>
          <a:xfrm>
            <a:off x="676656" y="4517136"/>
            <a:ext cx="566928" cy="566928"/>
          </a:xfrm>
          <a:prstGeom prst="ellipse">
            <a:avLst/>
          </a:prstGeom>
          <a:solidFill>
            <a:srgbClr val="FFC83D"/>
          </a:solidFill>
          <a:ln/>
        </p:spPr>
      </p:sp>
      <p:sp>
        <p:nvSpPr>
          <p:cNvPr id="18" name="Text 15"/>
          <p:cNvSpPr txBox="1"/>
          <p:nvPr/>
        </p:nvSpPr>
        <p:spPr>
          <a:xfrm>
            <a:off x="676656" y="4517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C</a:t>
            </a:r>
            <a:endParaRPr lang="en-US" sz="2000" dirty="0"/>
          </a:p>
        </p:txBody>
      </p:sp>
      <p:sp>
        <p:nvSpPr>
          <p:cNvPr id="19" name="Text 16"/>
          <p:cNvSpPr txBox="1"/>
          <p:nvPr/>
        </p:nvSpPr>
        <p:spPr>
          <a:xfrm>
            <a:off x="1417320" y="4389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$298 million</a:t>
            </a:r>
            <a:endParaRPr lang="en-US" sz="1700" dirty="0"/>
          </a:p>
        </p:txBody>
      </p:sp>
      <p:sp>
        <p:nvSpPr>
          <p:cNvPr id="20" name="option D"/>
          <p:cNvSpPr/>
          <p:nvPr/>
        </p:nvSpPr>
        <p:spPr>
          <a:xfrm>
            <a:off x="6278728" y="4389120"/>
            <a:ext cx="5364328" cy="822960"/>
          </a:xfrm>
          <a:prstGeom prst="roundRect">
            <a:avLst>
              <a:gd name="adj" fmla="val 50000"/>
            </a:avLst>
          </a:prstGeom>
          <a:solidFill>
            <a:srgbClr val="241A52"/>
          </a:solidFill>
          <a:ln w="25400">
            <a:solidFill>
              <a:srgbClr val="5B4BC4"/>
            </a:solidFill>
            <a:prstDash val="solid"/>
          </a:ln>
        </p:spPr>
      </p:sp>
      <p:sp>
        <p:nvSpPr>
          <p:cNvPr id="21" name="letter D"/>
          <p:cNvSpPr/>
          <p:nvPr/>
        </p:nvSpPr>
        <p:spPr>
          <a:xfrm>
            <a:off x="6406744" y="4517136"/>
            <a:ext cx="566928" cy="566928"/>
          </a:xfrm>
          <a:prstGeom prst="ellipse">
            <a:avLst/>
          </a:prstGeom>
          <a:solidFill>
            <a:srgbClr val="FFC83D"/>
          </a:solidFill>
          <a:ln/>
        </p:spPr>
      </p:sp>
      <p:sp>
        <p:nvSpPr>
          <p:cNvPr id="22" name="Text 19"/>
          <p:cNvSpPr txBox="1"/>
          <p:nvPr/>
        </p:nvSpPr>
        <p:spPr>
          <a:xfrm>
            <a:off x="6406744" y="4517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D</a:t>
            </a:r>
            <a:endParaRPr lang="en-US" sz="2000" dirty="0"/>
          </a:p>
        </p:txBody>
      </p:sp>
      <p:sp>
        <p:nvSpPr>
          <p:cNvPr id="23" name="Text 20"/>
          <p:cNvSpPr txBox="1"/>
          <p:nvPr/>
        </p:nvSpPr>
        <p:spPr>
          <a:xfrm>
            <a:off x="7147408" y="4389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$2.98 billion</a:t>
            </a:r>
            <a:endParaRPr lang="en-US" sz="1700" dirty="0"/>
          </a:p>
        </p:txBody>
      </p:sp>
      <p:pic>
        <p:nvPicPr>
          <p:cNvPr id="24" name="hand" descr="raise hand">    </p:cNvPr>
          <p:cNvPicPr>
            <a:picLocks noChangeAspect="1"/>
          </p:cNvPicPr>
          <p:nvPr/>
        </p:nvPicPr>
        <p:blipFill>
          <a:blip r:embed="rId2"/>
          <a:stretch>
            <a:fillRect/>
          </a:stretch>
        </p:blipFill>
        <p:spPr>
          <a:xfrm>
            <a:off x="4221328" y="5650992"/>
            <a:ext cx="365760" cy="365760"/>
          </a:xfrm>
          <a:prstGeom prst="rect">
            <a:avLst/>
          </a:prstGeom>
        </p:spPr>
      </p:pic>
      <p:sp>
        <p:nvSpPr>
          <p:cNvPr id="25" name="Text 21"/>
          <p:cNvSpPr txBox="1"/>
          <p:nvPr/>
        </p:nvSpPr>
        <p:spPr>
          <a:xfrm>
            <a:off x="4678528" y="5605272"/>
            <a:ext cx="3657600" cy="457200"/>
          </a:xfrm>
          <a:prstGeom prst="rect">
            <a:avLst/>
          </a:prstGeom>
          <a:noFill/>
          <a:ln/>
        </p:spPr>
        <p:txBody>
          <a:bodyPr wrap="square" lIns="0" tIns="0" rIns="0" bIns="0" rtlCol="0" anchor="ctr"/>
          <a:lstStyle/>
          <a:p>
            <a:pPr indent="0" marL="0">
              <a:buNone/>
            </a:pPr>
            <a:r>
              <a:rPr lang="en-US" sz="1800" b="1" dirty="0">
                <a:solidFill>
                  <a:srgbClr val="FFC83D"/>
                </a:solidFill>
              </a:rPr>
              <a:t>Hands up: A, B, C or D?</a:t>
            </a:r>
            <a:endParaRPr lang="en-US" sz="1800" dirty="0"/>
          </a:p>
        </p:txBody>
      </p:sp>
      <p:sp>
        <p:nvSpPr>
          <p:cNvPr id="27" name="Text 22"/>
          <p:cNvSpPr txBox="1"/>
          <p:nvPr/>
        </p:nvSpPr>
        <p:spPr>
          <a:xfrm>
            <a:off x="548640" y="6035040"/>
            <a:ext cx="11094415" cy="274320"/>
          </a:xfrm>
          <a:prstGeom prst="rect">
            <a:avLst/>
          </a:prstGeom>
          <a:noFill/>
          <a:ln/>
        </p:spPr>
        <p:txBody>
          <a:bodyPr wrap="square" lIns="0" tIns="0" rIns="0" bIns="0" rtlCol="0" anchor="ctr"/>
          <a:lstStyle/>
          <a:p>
            <a:pPr algn="ctr" indent="0" marL="0">
              <a:buNone/>
            </a:pPr>
            <a:r>
              <a:rPr lang="en-US" sz="1100" b="1" spc="200" kern="0" dirty="0">
                <a:solidFill>
                  <a:srgbClr val="8B7CF6"/>
                </a:solidFill>
              </a:rPr>
              <a:t>WHO WANTS TO BE A CRIMINOLOGIST?  ·  WAR DOGS EDITION  ·  GROUP 6</a:t>
            </a:r>
            <a:endParaRPr lang="en-US" sz="11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7C72B0"/>
                </a:solidFill>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round badge"/>
          <p:cNvSpPr/>
          <p:nvPr/>
        </p:nvSpPr>
        <p:spPr>
          <a:xfrm>
            <a:off x="548640" y="292608"/>
            <a:ext cx="566928" cy="566928"/>
          </a:xfrm>
          <a:prstGeom prst="ellipse">
            <a:avLst/>
          </a:prstGeom>
          <a:solidFill>
            <a:srgbClr val="FFC83D"/>
          </a:solidFill>
          <a:ln/>
        </p:spPr>
      </p:sp>
      <p:pic>
        <p:nvPicPr>
          <p:cNvPr id="3" name="round icon" descr="round">    </p:cNvPr>
          <p:cNvPicPr>
            <a:picLocks noChangeAspect="1"/>
          </p:cNvPicPr>
          <p:nvPr/>
        </p:nvPicPr>
        <p:blipFill>
          <a:blip r:embed="rId1"/>
          <a:stretch>
            <a:fillRect/>
          </a:stretch>
        </p:blipFill>
        <p:spPr>
          <a:xfrm>
            <a:off x="685800" y="429768"/>
            <a:ext cx="292608" cy="292608"/>
          </a:xfrm>
          <a:prstGeom prst="rect">
            <a:avLst/>
          </a:prstGeom>
        </p:spPr>
      </p:pic>
      <p:sp>
        <p:nvSpPr>
          <p:cNvPr id="4" name="Text 1"/>
          <p:cNvSpPr txBox="1"/>
          <p:nvPr/>
        </p:nvSpPr>
        <p:spPr>
          <a:xfrm>
            <a:off x="1280160" y="274320"/>
            <a:ext cx="4572000" cy="603504"/>
          </a:xfrm>
          <a:prstGeom prst="rect">
            <a:avLst/>
          </a:prstGeom>
          <a:noFill/>
          <a:ln/>
        </p:spPr>
        <p:txBody>
          <a:bodyPr wrap="square" lIns="0" tIns="0" rIns="0" bIns="0" rtlCol="0" anchor="ctr"/>
          <a:lstStyle/>
          <a:p>
            <a:pPr indent="0" marL="0">
              <a:buNone/>
            </a:pPr>
            <a:r>
              <a:rPr lang="en-US" sz="1400" b="1" spc="300" kern="0" dirty="0">
                <a:solidFill>
                  <a:srgbClr val="FFC83D"/>
                </a:solidFill>
              </a:rPr>
              <a:t>ROUND 1 OF 6</a:t>
            </a:r>
            <a:endParaRPr lang="en-US" sz="1400" dirty="0"/>
          </a:p>
          <a:p>
            <a:pPr indent="0" marL="0">
              <a:buNone/>
            </a:pPr>
            <a:r>
              <a:rPr lang="en-US" sz="1200" dirty="0">
                <a:solidFill>
                  <a:srgbClr val="A89FD0"/>
                </a:solidFill>
              </a:rPr>
              <a:t>Hosted by Roll 27</a:t>
            </a:r>
            <a:endParaRPr lang="en-US" sz="1400" dirty="0"/>
          </a:p>
        </p:txBody>
      </p:sp>
      <p:sp>
        <p:nvSpPr>
          <p:cNvPr id="5" name="Text 2"/>
          <p:cNvSpPr txBox="1"/>
          <p:nvPr/>
        </p:nvSpPr>
        <p:spPr>
          <a:xfrm>
            <a:off x="9265615" y="365760"/>
            <a:ext cx="2377440" cy="420624"/>
          </a:xfrm>
          <a:prstGeom prst="roundRect">
            <a:avLst>
              <a:gd name="adj" fmla="val 50000"/>
            </a:avLst>
          </a:prstGeom>
          <a:solidFill>
            <a:srgbClr val="FFC83D"/>
          </a:solidFill>
          <a:ln/>
        </p:spPr>
        <p:txBody>
          <a:bodyPr wrap="square" lIns="0" tIns="0" rIns="0" bIns="0" rtlCol="0" anchor="ctr"/>
          <a:lstStyle/>
          <a:p>
            <a:pPr algn="ctr" indent="0" marL="0">
              <a:buNone/>
            </a:pPr>
            <a:r>
              <a:rPr lang="en-US" sz="1500" b="1" spc="200" kern="0" dirty="0">
                <a:solidFill>
                  <a:srgbClr val="140B33"/>
                </a:solidFill>
              </a:rPr>
              <a:t>CORRECT ANSWER</a:t>
            </a:r>
            <a:endParaRPr lang="en-US" sz="1500" dirty="0"/>
          </a:p>
        </p:txBody>
      </p:sp>
      <p:sp>
        <p:nvSpPr>
          <p:cNvPr id="6" name="option C"/>
          <p:cNvSpPr/>
          <p:nvPr/>
        </p:nvSpPr>
        <p:spPr>
          <a:xfrm>
            <a:off x="548640" y="1188720"/>
            <a:ext cx="11094415" cy="868680"/>
          </a:xfrm>
          <a:prstGeom prst="roundRect">
            <a:avLst>
              <a:gd name="adj" fmla="val 50000"/>
            </a:avLst>
          </a:prstGeom>
          <a:solidFill>
            <a:srgbClr val="22C55E"/>
          </a:solidFill>
          <a:ln w="25400">
            <a:solidFill>
              <a:srgbClr val="B8F5CD"/>
            </a:solidFill>
            <a:prstDash val="solid"/>
          </a:ln>
        </p:spPr>
      </p:sp>
      <p:sp>
        <p:nvSpPr>
          <p:cNvPr id="7" name="letter C"/>
          <p:cNvSpPr/>
          <p:nvPr/>
        </p:nvSpPr>
        <p:spPr>
          <a:xfrm>
            <a:off x="676656" y="1339596"/>
            <a:ext cx="566928" cy="566928"/>
          </a:xfrm>
          <a:prstGeom prst="ellipse">
            <a:avLst/>
          </a:prstGeom>
          <a:solidFill>
            <a:srgbClr val="FFFFFF"/>
          </a:solidFill>
          <a:ln/>
        </p:spPr>
      </p:sp>
      <p:sp>
        <p:nvSpPr>
          <p:cNvPr id="8" name="Text 5"/>
          <p:cNvSpPr txBox="1"/>
          <p:nvPr/>
        </p:nvSpPr>
        <p:spPr>
          <a:xfrm>
            <a:off x="676656" y="1339596"/>
            <a:ext cx="566928" cy="566928"/>
          </a:xfrm>
          <a:prstGeom prst="rect">
            <a:avLst/>
          </a:prstGeom>
          <a:noFill/>
          <a:ln/>
        </p:spPr>
        <p:txBody>
          <a:bodyPr wrap="square" lIns="0" tIns="0" rIns="0" bIns="0" rtlCol="0" anchor="ctr"/>
          <a:lstStyle/>
          <a:p>
            <a:pPr algn="ctr" indent="0" marL="0">
              <a:buNone/>
            </a:pPr>
            <a:r>
              <a:rPr lang="en-US" sz="2000" b="1" dirty="0">
                <a:solidFill>
                  <a:srgbClr val="22C55E"/>
                </a:solidFill>
              </a:rPr>
              <a:t>C</a:t>
            </a:r>
            <a:endParaRPr lang="en-US" sz="2000" dirty="0"/>
          </a:p>
        </p:txBody>
      </p:sp>
      <p:sp>
        <p:nvSpPr>
          <p:cNvPr id="9" name="Text 6"/>
          <p:cNvSpPr txBox="1"/>
          <p:nvPr/>
        </p:nvSpPr>
        <p:spPr>
          <a:xfrm>
            <a:off x="1417320" y="1188720"/>
            <a:ext cx="9997135" cy="868680"/>
          </a:xfrm>
          <a:prstGeom prst="rect">
            <a:avLst/>
          </a:prstGeom>
          <a:noFill/>
          <a:ln/>
        </p:spPr>
        <p:txBody>
          <a:bodyPr wrap="square" lIns="0" tIns="0" rIns="0" bIns="0" rtlCol="0" anchor="ctr"/>
          <a:lstStyle/>
          <a:p>
            <a:pPr indent="0" marL="0">
              <a:buNone/>
            </a:pPr>
            <a:r>
              <a:rPr lang="en-US" sz="1700" b="1" dirty="0">
                <a:solidFill>
                  <a:schemeClr val="bg1"/>
                </a:solidFill>
              </a:rPr>
              <a:t>$298 million: a real 2007 contract to arm the Afghan National Army</a:t>
            </a:r>
            <a:endParaRPr lang="en-US" sz="1700" dirty="0"/>
          </a:p>
        </p:txBody>
      </p:sp>
      <p:sp>
        <p:nvSpPr>
          <p:cNvPr id="10" name="card 1"/>
          <p:cNvSpPr/>
          <p:nvPr/>
        </p:nvSpPr>
        <p:spPr>
          <a:xfrm>
            <a:off x="548640" y="2331720"/>
            <a:ext cx="5410048" cy="1481328"/>
          </a:xfrm>
          <a:prstGeom prst="roundRect">
            <a:avLst>
              <a:gd name="adj" fmla="val 7407"/>
            </a:avLst>
          </a:prstGeom>
          <a:solidFill>
            <a:srgbClr val="1E1548"/>
          </a:solidFill>
          <a:ln w="15875">
            <a:solidFill>
              <a:srgbClr val="5B4BC4"/>
            </a:solidFill>
            <a:prstDash val="solid"/>
          </a:ln>
        </p:spPr>
      </p:sp>
      <p:sp>
        <p:nvSpPr>
          <p:cNvPr id="11" name="Text 8"/>
          <p:cNvSpPr txBox="1"/>
          <p:nvPr/>
        </p:nvSpPr>
        <p:spPr>
          <a:xfrm>
            <a:off x="777240" y="2441448"/>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FFC83D"/>
                </a:solidFill>
              </a:rPr>
              <a:t>THE FILM</a:t>
            </a:r>
            <a:endParaRPr lang="en-US" sz="1500" dirty="0"/>
          </a:p>
          <a:p>
            <a:pPr indent="0" marL="0">
              <a:spcAft>
                <a:spcPts val="300"/>
              </a:spcAft>
              <a:buNone/>
            </a:pPr>
            <a:r>
              <a:rPr lang="en-US" sz="1400" dirty="0">
                <a:solidFill>
                  <a:srgbClr val="DDD6FE"/>
                </a:solidFill>
              </a:rPr>
              <a:t>Directed by Todd Phillips (Warner Bros., 2016). Jonah Hill as Efraim Diveroli, Miles Teller as David Packouz, Bradley Cooper as broker Henry Girard.</a:t>
            </a:r>
            <a:endParaRPr lang="en-US" sz="1500" dirty="0"/>
          </a:p>
        </p:txBody>
      </p:sp>
      <p:sp>
        <p:nvSpPr>
          <p:cNvPr id="12" name="card 2"/>
          <p:cNvSpPr/>
          <p:nvPr/>
        </p:nvSpPr>
        <p:spPr>
          <a:xfrm>
            <a:off x="6233008" y="2331720"/>
            <a:ext cx="5410048" cy="1481328"/>
          </a:xfrm>
          <a:prstGeom prst="roundRect">
            <a:avLst>
              <a:gd name="adj" fmla="val 7407"/>
            </a:avLst>
          </a:prstGeom>
          <a:solidFill>
            <a:srgbClr val="1E1548"/>
          </a:solidFill>
          <a:ln w="15875">
            <a:solidFill>
              <a:srgbClr val="5B4BC4"/>
            </a:solidFill>
            <a:prstDash val="solid"/>
          </a:ln>
        </p:spPr>
      </p:sp>
      <p:sp>
        <p:nvSpPr>
          <p:cNvPr id="13" name="Text 10"/>
          <p:cNvSpPr txBox="1"/>
          <p:nvPr/>
        </p:nvSpPr>
        <p:spPr>
          <a:xfrm>
            <a:off x="6461608" y="2441448"/>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FFC83D"/>
                </a:solidFill>
              </a:rPr>
              <a:t>ACT I · THE HUSTLE</a:t>
            </a:r>
            <a:endParaRPr lang="en-US" sz="1500" dirty="0"/>
          </a:p>
          <a:p>
            <a:pPr indent="0" marL="0">
              <a:spcAft>
                <a:spcPts val="300"/>
              </a:spcAft>
              <a:buNone/>
            </a:pPr>
            <a:r>
              <a:rPr lang="en-US" sz="1400" dirty="0">
                <a:solidFill>
                  <a:srgbClr val="DDD6FE"/>
                </a:solidFill>
              </a:rPr>
              <a:t>Broke Miami masseur David joins Efraim’s company AEY, bidding online for small Pentagon contracts, then pushes a stuck shipment through Jordan into Iraq.</a:t>
            </a:r>
            <a:endParaRPr lang="en-US" sz="1500" dirty="0"/>
          </a:p>
        </p:txBody>
      </p:sp>
      <p:sp>
        <p:nvSpPr>
          <p:cNvPr id="14" name="card 3"/>
          <p:cNvSpPr/>
          <p:nvPr/>
        </p:nvSpPr>
        <p:spPr>
          <a:xfrm>
            <a:off x="548640" y="3995928"/>
            <a:ext cx="5410048" cy="1481328"/>
          </a:xfrm>
          <a:prstGeom prst="roundRect">
            <a:avLst>
              <a:gd name="adj" fmla="val 7407"/>
            </a:avLst>
          </a:prstGeom>
          <a:solidFill>
            <a:srgbClr val="1E1548"/>
          </a:solidFill>
          <a:ln w="15875">
            <a:solidFill>
              <a:srgbClr val="5B4BC4"/>
            </a:solidFill>
            <a:prstDash val="solid"/>
          </a:ln>
        </p:spPr>
      </p:sp>
      <p:sp>
        <p:nvSpPr>
          <p:cNvPr id="15" name="Text 12"/>
          <p:cNvSpPr txBox="1"/>
          <p:nvPr/>
        </p:nvSpPr>
        <p:spPr>
          <a:xfrm>
            <a:off x="777240" y="4105656"/>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FFC83D"/>
                </a:solidFill>
              </a:rPr>
              <a:t>ACT II · THE DEAL</a:t>
            </a:r>
            <a:endParaRPr lang="en-US" sz="1500" dirty="0"/>
          </a:p>
          <a:p>
            <a:pPr indent="0" marL="0">
              <a:spcAft>
                <a:spcPts val="300"/>
              </a:spcAft>
              <a:buNone/>
            </a:pPr>
            <a:r>
              <a:rPr lang="en-US" sz="1400" dirty="0">
                <a:solidFill>
                  <a:srgbClr val="DDD6FE"/>
                </a:solidFill>
              </a:rPr>
              <a:t>Watch-listed broker Henry opens access to old ammunition in Albania. AEY underbids everyone and wins the Afghan contract.</a:t>
            </a:r>
            <a:endParaRPr lang="en-US" sz="1500" dirty="0"/>
          </a:p>
        </p:txBody>
      </p:sp>
      <p:sp>
        <p:nvSpPr>
          <p:cNvPr id="16" name="card 4"/>
          <p:cNvSpPr/>
          <p:nvPr/>
        </p:nvSpPr>
        <p:spPr>
          <a:xfrm>
            <a:off x="6233008" y="3995928"/>
            <a:ext cx="5410048" cy="1481328"/>
          </a:xfrm>
          <a:prstGeom prst="roundRect">
            <a:avLst>
              <a:gd name="adj" fmla="val 7407"/>
            </a:avLst>
          </a:prstGeom>
          <a:solidFill>
            <a:srgbClr val="1E1548"/>
          </a:solidFill>
          <a:ln w="15875">
            <a:solidFill>
              <a:srgbClr val="F87171"/>
            </a:solidFill>
            <a:prstDash val="solid"/>
          </a:ln>
        </p:spPr>
      </p:sp>
      <p:sp>
        <p:nvSpPr>
          <p:cNvPr id="17" name="Text 14"/>
          <p:cNvSpPr txBox="1"/>
          <p:nvPr/>
        </p:nvSpPr>
        <p:spPr>
          <a:xfrm>
            <a:off x="6461608" y="4105656"/>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F87171"/>
                </a:solidFill>
              </a:rPr>
              <a:t>ACT III · THE FALL</a:t>
            </a:r>
            <a:endParaRPr lang="en-US" sz="1500" dirty="0"/>
          </a:p>
          <a:p>
            <a:pPr indent="0" marL="0">
              <a:spcAft>
                <a:spcPts val="300"/>
              </a:spcAft>
              <a:buNone/>
            </a:pPr>
            <a:r>
              <a:rPr lang="en-US" sz="1400" dirty="0">
                <a:solidFill>
                  <a:srgbClr val="DDD6FE"/>
                </a:solidFill>
              </a:rPr>
              <a:t>The rounds are Chinese-made and banned. They are repackaged to hide it. Efraim: 4 years in prison; David: 7 months house arrest.</a:t>
            </a:r>
            <a:endParaRPr lang="en-US" sz="1500" dirty="0"/>
          </a:p>
        </p:txBody>
      </p:sp>
      <p:sp>
        <p:nvSpPr>
          <p:cNvPr id="18" name="Text 15"/>
          <p:cNvSpPr txBox="1"/>
          <p:nvPr/>
        </p:nvSpPr>
        <p:spPr>
          <a:xfrm>
            <a:off x="548640" y="5577840"/>
            <a:ext cx="11094415" cy="411480"/>
          </a:xfrm>
          <a:prstGeom prst="rect">
            <a:avLst/>
          </a:prstGeom>
          <a:noFill/>
          <a:ln/>
        </p:spPr>
        <p:txBody>
          <a:bodyPr wrap="square" lIns="0" tIns="0" rIns="0" bIns="0" rtlCol="0" anchor="ctr"/>
          <a:lstStyle/>
          <a:p>
            <a:pPr algn="ctr" indent="0" marL="0">
              <a:buNone/>
            </a:pPr>
            <a:r>
              <a:rPr lang="en-US" sz="1600" b="1" i="1" dirty="0">
                <a:solidFill>
                  <a:srgbClr val="FFC83D"/>
                </a:solidFill>
              </a:rPr>
              <a:t>Organized crime doesn’t always carry guns. Sometimes it sells them, with a government contract.</a:t>
            </a:r>
            <a:endParaRPr lang="en-US" sz="1600" dirty="0"/>
          </a:p>
        </p:txBody>
      </p:sp>
      <p:sp>
        <p:nvSpPr>
          <p:cNvPr id="19" name="Text 16"/>
          <p:cNvSpPr txBox="1"/>
          <p:nvPr/>
        </p:nvSpPr>
        <p:spPr>
          <a:xfrm>
            <a:off x="548640" y="6108192"/>
            <a:ext cx="11094415" cy="201168"/>
          </a:xfrm>
          <a:prstGeom prst="rect">
            <a:avLst/>
          </a:prstGeom>
          <a:noFill/>
          <a:ln/>
        </p:spPr>
        <p:txBody>
          <a:bodyPr wrap="square" lIns="0" tIns="0" rIns="0" bIns="0" rtlCol="0" anchor="ctr"/>
          <a:lstStyle/>
          <a:p>
            <a:pPr indent="0" marL="0">
              <a:buNone/>
            </a:pPr>
            <a:r>
              <a:rPr lang="en-US" sz="1000" i="1" dirty="0">
                <a:solidFill>
                  <a:srgbClr val="7C72B0"/>
                </a:solidFill>
              </a:rPr>
              <a:t>Sources: Phillips (2016); Lawson (2015).</a:t>
            </a:r>
            <a:endParaRPr lang="en-US" sz="10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7C72B0"/>
                </a:solidFil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round badge"/>
          <p:cNvSpPr/>
          <p:nvPr/>
        </p:nvSpPr>
        <p:spPr>
          <a:xfrm>
            <a:off x="548640" y="292608"/>
            <a:ext cx="566928" cy="566928"/>
          </a:xfrm>
          <a:prstGeom prst="ellipse">
            <a:avLst/>
          </a:prstGeom>
          <a:solidFill>
            <a:srgbClr val="FFC83D"/>
          </a:solidFill>
          <a:ln/>
        </p:spPr>
      </p:sp>
      <p:pic>
        <p:nvPicPr>
          <p:cNvPr id="3" name="round icon" descr="round">    </p:cNvPr>
          <p:cNvPicPr>
            <a:picLocks noChangeAspect="1"/>
          </p:cNvPicPr>
          <p:nvPr/>
        </p:nvPicPr>
        <p:blipFill>
          <a:blip r:embed="rId1"/>
          <a:stretch>
            <a:fillRect/>
          </a:stretch>
        </p:blipFill>
        <p:spPr>
          <a:xfrm>
            <a:off x="685800" y="429768"/>
            <a:ext cx="292608" cy="292608"/>
          </a:xfrm>
          <a:prstGeom prst="rect">
            <a:avLst/>
          </a:prstGeom>
        </p:spPr>
      </p:pic>
      <p:sp>
        <p:nvSpPr>
          <p:cNvPr id="4" name="Text 1"/>
          <p:cNvSpPr txBox="1"/>
          <p:nvPr/>
        </p:nvSpPr>
        <p:spPr>
          <a:xfrm>
            <a:off x="1280160" y="274320"/>
            <a:ext cx="4572000" cy="603504"/>
          </a:xfrm>
          <a:prstGeom prst="rect">
            <a:avLst/>
          </a:prstGeom>
          <a:noFill/>
          <a:ln/>
        </p:spPr>
        <p:txBody>
          <a:bodyPr wrap="square" lIns="0" tIns="0" rIns="0" bIns="0" rtlCol="0" anchor="ctr"/>
          <a:lstStyle/>
          <a:p>
            <a:pPr indent="0" marL="0">
              <a:buNone/>
            </a:pPr>
            <a:r>
              <a:rPr lang="en-US" sz="1400" b="1" spc="300" kern="0" dirty="0">
                <a:solidFill>
                  <a:srgbClr val="FFC83D"/>
                </a:solidFill>
              </a:rPr>
              <a:t>ROUND 2 OF 6</a:t>
            </a:r>
            <a:endParaRPr lang="en-US" sz="1400" dirty="0"/>
          </a:p>
          <a:p>
            <a:pPr indent="0" marL="0">
              <a:buNone/>
            </a:pPr>
            <a:r>
              <a:rPr lang="en-US" sz="1200" dirty="0">
                <a:solidFill>
                  <a:srgbClr val="A89FD0"/>
                </a:solidFill>
              </a:rPr>
              <a:t>Hosted by Roll 8</a:t>
            </a:r>
            <a:endParaRPr lang="en-US" sz="1400" dirty="0"/>
          </a:p>
        </p:txBody>
      </p:sp>
      <p:sp>
        <p:nvSpPr>
          <p:cNvPr id="5" name="Text 2"/>
          <p:cNvSpPr txBox="1"/>
          <p:nvPr/>
        </p:nvSpPr>
        <p:spPr>
          <a:xfrm>
            <a:off x="9265615" y="365760"/>
            <a:ext cx="2377440" cy="420624"/>
          </a:xfrm>
          <a:prstGeom prst="roundRect">
            <a:avLst>
              <a:gd name="adj" fmla="val 50000"/>
            </a:avLst>
          </a:prstGeom>
          <a:solidFill>
            <a:srgbClr val="FFC83D"/>
          </a:solidFill>
          <a:ln/>
        </p:spPr>
        <p:txBody>
          <a:bodyPr wrap="square" lIns="0" tIns="0" rIns="0" bIns="0" rtlCol="0" anchor="ctr"/>
          <a:lstStyle/>
          <a:p>
            <a:pPr algn="ctr" indent="0" marL="0">
              <a:buNone/>
            </a:pPr>
            <a:r>
              <a:rPr lang="en-US" sz="1500" b="1" spc="200" kern="0" dirty="0">
                <a:solidFill>
                  <a:srgbClr val="140B33"/>
                </a:solidFill>
              </a:rPr>
              <a:t>200 POINTS</a:t>
            </a:r>
            <a:endParaRPr lang="en-US" sz="1500" dirty="0"/>
          </a:p>
        </p:txBody>
      </p:sp>
      <p:sp>
        <p:nvSpPr>
          <p:cNvPr id="6" name="question panel"/>
          <p:cNvSpPr/>
          <p:nvPr/>
        </p:nvSpPr>
        <p:spPr>
          <a:xfrm>
            <a:off x="914400" y="1280160"/>
            <a:ext cx="10362895" cy="1600200"/>
          </a:xfrm>
          <a:prstGeom prst="roundRect">
            <a:avLst>
              <a:gd name="adj" fmla="val 14286"/>
            </a:avLst>
          </a:prstGeom>
          <a:solidFill>
            <a:srgbClr val="1E1548"/>
          </a:solidFill>
          <a:ln w="25400">
            <a:solidFill>
              <a:srgbClr val="FFC83D"/>
            </a:solidFill>
            <a:prstDash val="solid"/>
          </a:ln>
        </p:spPr>
      </p:sp>
      <p:sp>
        <p:nvSpPr>
          <p:cNvPr id="7" name="Text 4"/>
          <p:cNvSpPr txBox="1"/>
          <p:nvPr/>
        </p:nvSpPr>
        <p:spPr>
          <a:xfrm>
            <a:off x="1280160" y="1280160"/>
            <a:ext cx="9631375" cy="1600200"/>
          </a:xfrm>
          <a:prstGeom prst="rect">
            <a:avLst/>
          </a:prstGeom>
          <a:noFill/>
          <a:ln/>
        </p:spPr>
        <p:txBody>
          <a:bodyPr wrap="square" lIns="0" tIns="0" rIns="0" bIns="0" rtlCol="0" anchor="ctr"/>
          <a:lstStyle/>
          <a:p>
            <a:pPr algn="ctr" indent="0" marL="0">
              <a:buNone/>
            </a:pPr>
            <a:r>
              <a:rPr lang="en-US" sz="2600" b="1" dirty="0">
                <a:solidFill>
                  <a:schemeClr val="bg1"/>
                </a:solidFill>
              </a:rPr>
              <a:t>Under the UN Convention against Transnational Organized Crime, is AEY an “organized criminal group”?</a:t>
            </a:r>
            <a:endParaRPr lang="en-US" sz="2600" dirty="0"/>
          </a:p>
        </p:txBody>
      </p:sp>
      <p:sp>
        <p:nvSpPr>
          <p:cNvPr id="8" name="option A"/>
          <p:cNvSpPr/>
          <p:nvPr/>
        </p:nvSpPr>
        <p:spPr>
          <a:xfrm>
            <a:off x="548640" y="3246120"/>
            <a:ext cx="5364328" cy="822960"/>
          </a:xfrm>
          <a:prstGeom prst="roundRect">
            <a:avLst>
              <a:gd name="adj" fmla="val 50000"/>
            </a:avLst>
          </a:prstGeom>
          <a:solidFill>
            <a:srgbClr val="241A52"/>
          </a:solidFill>
          <a:ln w="25400">
            <a:solidFill>
              <a:srgbClr val="5B4BC4"/>
            </a:solidFill>
            <a:prstDash val="solid"/>
          </a:ln>
        </p:spPr>
      </p:sp>
      <p:sp>
        <p:nvSpPr>
          <p:cNvPr id="9" name="letter A"/>
          <p:cNvSpPr/>
          <p:nvPr/>
        </p:nvSpPr>
        <p:spPr>
          <a:xfrm>
            <a:off x="676656" y="3374136"/>
            <a:ext cx="566928" cy="566928"/>
          </a:xfrm>
          <a:prstGeom prst="ellipse">
            <a:avLst/>
          </a:prstGeom>
          <a:solidFill>
            <a:srgbClr val="FFC83D"/>
          </a:solidFill>
          <a:ln/>
        </p:spPr>
      </p:sp>
      <p:sp>
        <p:nvSpPr>
          <p:cNvPr id="10" name="Text 7"/>
          <p:cNvSpPr txBox="1"/>
          <p:nvPr/>
        </p:nvSpPr>
        <p:spPr>
          <a:xfrm>
            <a:off x="676656" y="3374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A</a:t>
            </a:r>
            <a:endParaRPr lang="en-US" sz="2000" dirty="0"/>
          </a:p>
        </p:txBody>
      </p:sp>
      <p:sp>
        <p:nvSpPr>
          <p:cNvPr id="11" name="Text 8"/>
          <p:cNvSpPr txBox="1"/>
          <p:nvPr/>
        </p:nvSpPr>
        <p:spPr>
          <a:xfrm>
            <a:off x="1417320" y="3246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No, it was a legally registered company</a:t>
            </a:r>
            <a:endParaRPr lang="en-US" sz="1700" dirty="0"/>
          </a:p>
        </p:txBody>
      </p:sp>
      <p:sp>
        <p:nvSpPr>
          <p:cNvPr id="12" name="option B"/>
          <p:cNvSpPr/>
          <p:nvPr/>
        </p:nvSpPr>
        <p:spPr>
          <a:xfrm>
            <a:off x="6278728" y="3246120"/>
            <a:ext cx="5364328" cy="822960"/>
          </a:xfrm>
          <a:prstGeom prst="roundRect">
            <a:avLst>
              <a:gd name="adj" fmla="val 50000"/>
            </a:avLst>
          </a:prstGeom>
          <a:solidFill>
            <a:srgbClr val="241A52"/>
          </a:solidFill>
          <a:ln w="25400">
            <a:solidFill>
              <a:srgbClr val="5B4BC4"/>
            </a:solidFill>
            <a:prstDash val="solid"/>
          </a:ln>
        </p:spPr>
      </p:sp>
      <p:sp>
        <p:nvSpPr>
          <p:cNvPr id="13" name="letter B"/>
          <p:cNvSpPr/>
          <p:nvPr/>
        </p:nvSpPr>
        <p:spPr>
          <a:xfrm>
            <a:off x="6406744" y="3374136"/>
            <a:ext cx="566928" cy="566928"/>
          </a:xfrm>
          <a:prstGeom prst="ellipse">
            <a:avLst/>
          </a:prstGeom>
          <a:solidFill>
            <a:srgbClr val="FFC83D"/>
          </a:solidFill>
          <a:ln/>
        </p:spPr>
      </p:sp>
      <p:sp>
        <p:nvSpPr>
          <p:cNvPr id="14" name="Text 11"/>
          <p:cNvSpPr txBox="1"/>
          <p:nvPr/>
        </p:nvSpPr>
        <p:spPr>
          <a:xfrm>
            <a:off x="6406744" y="3374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B</a:t>
            </a:r>
            <a:endParaRPr lang="en-US" sz="2000" dirty="0"/>
          </a:p>
        </p:txBody>
      </p:sp>
      <p:sp>
        <p:nvSpPr>
          <p:cNvPr id="15" name="Text 12"/>
          <p:cNvSpPr txBox="1"/>
          <p:nvPr/>
        </p:nvSpPr>
        <p:spPr>
          <a:xfrm>
            <a:off x="7147408" y="3246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No, it had fewer than three people</a:t>
            </a:r>
            <a:endParaRPr lang="en-US" sz="1700" dirty="0"/>
          </a:p>
        </p:txBody>
      </p:sp>
      <p:sp>
        <p:nvSpPr>
          <p:cNvPr id="16" name="option C"/>
          <p:cNvSpPr/>
          <p:nvPr/>
        </p:nvSpPr>
        <p:spPr>
          <a:xfrm>
            <a:off x="548640" y="4389120"/>
            <a:ext cx="5364328" cy="822960"/>
          </a:xfrm>
          <a:prstGeom prst="roundRect">
            <a:avLst>
              <a:gd name="adj" fmla="val 50000"/>
            </a:avLst>
          </a:prstGeom>
          <a:solidFill>
            <a:srgbClr val="241A52"/>
          </a:solidFill>
          <a:ln w="25400">
            <a:solidFill>
              <a:srgbClr val="5B4BC4"/>
            </a:solidFill>
            <a:prstDash val="solid"/>
          </a:ln>
        </p:spPr>
      </p:sp>
      <p:sp>
        <p:nvSpPr>
          <p:cNvPr id="17" name="letter C"/>
          <p:cNvSpPr/>
          <p:nvPr/>
        </p:nvSpPr>
        <p:spPr>
          <a:xfrm>
            <a:off x="676656" y="4517136"/>
            <a:ext cx="566928" cy="566928"/>
          </a:xfrm>
          <a:prstGeom prst="ellipse">
            <a:avLst/>
          </a:prstGeom>
          <a:solidFill>
            <a:srgbClr val="FFC83D"/>
          </a:solidFill>
          <a:ln/>
        </p:spPr>
      </p:sp>
      <p:sp>
        <p:nvSpPr>
          <p:cNvPr id="18" name="Text 15"/>
          <p:cNvSpPr txBox="1"/>
          <p:nvPr/>
        </p:nvSpPr>
        <p:spPr>
          <a:xfrm>
            <a:off x="676656" y="4517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C</a:t>
            </a:r>
            <a:endParaRPr lang="en-US" sz="2000" dirty="0"/>
          </a:p>
        </p:txBody>
      </p:sp>
      <p:sp>
        <p:nvSpPr>
          <p:cNvPr id="19" name="Text 16"/>
          <p:cNvSpPr txBox="1"/>
          <p:nvPr/>
        </p:nvSpPr>
        <p:spPr>
          <a:xfrm>
            <a:off x="1417320" y="4389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Yes: 3+ people, over time, serious crime, for profit</a:t>
            </a:r>
            <a:endParaRPr lang="en-US" sz="1700" dirty="0"/>
          </a:p>
        </p:txBody>
      </p:sp>
      <p:sp>
        <p:nvSpPr>
          <p:cNvPr id="20" name="option D"/>
          <p:cNvSpPr/>
          <p:nvPr/>
        </p:nvSpPr>
        <p:spPr>
          <a:xfrm>
            <a:off x="6278728" y="4389120"/>
            <a:ext cx="5364328" cy="822960"/>
          </a:xfrm>
          <a:prstGeom prst="roundRect">
            <a:avLst>
              <a:gd name="adj" fmla="val 50000"/>
            </a:avLst>
          </a:prstGeom>
          <a:solidFill>
            <a:srgbClr val="241A52"/>
          </a:solidFill>
          <a:ln w="25400">
            <a:solidFill>
              <a:srgbClr val="5B4BC4"/>
            </a:solidFill>
            <a:prstDash val="solid"/>
          </a:ln>
        </p:spPr>
      </p:sp>
      <p:sp>
        <p:nvSpPr>
          <p:cNvPr id="21" name="letter D"/>
          <p:cNvSpPr/>
          <p:nvPr/>
        </p:nvSpPr>
        <p:spPr>
          <a:xfrm>
            <a:off x="6406744" y="4517136"/>
            <a:ext cx="566928" cy="566928"/>
          </a:xfrm>
          <a:prstGeom prst="ellipse">
            <a:avLst/>
          </a:prstGeom>
          <a:solidFill>
            <a:srgbClr val="FFC83D"/>
          </a:solidFill>
          <a:ln/>
        </p:spPr>
      </p:sp>
      <p:sp>
        <p:nvSpPr>
          <p:cNvPr id="22" name="Text 19"/>
          <p:cNvSpPr txBox="1"/>
          <p:nvPr/>
        </p:nvSpPr>
        <p:spPr>
          <a:xfrm>
            <a:off x="6406744" y="4517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D</a:t>
            </a:r>
            <a:endParaRPr lang="en-US" sz="2000" dirty="0"/>
          </a:p>
        </p:txBody>
      </p:sp>
      <p:sp>
        <p:nvSpPr>
          <p:cNvPr id="23" name="Text 20"/>
          <p:cNvSpPr txBox="1"/>
          <p:nvPr/>
        </p:nvSpPr>
        <p:spPr>
          <a:xfrm>
            <a:off x="7147408" y="4389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Only if it used violence</a:t>
            </a:r>
            <a:endParaRPr lang="en-US" sz="1700" dirty="0"/>
          </a:p>
        </p:txBody>
      </p:sp>
      <p:pic>
        <p:nvPicPr>
          <p:cNvPr id="24" name="hand" descr="raise hand">    </p:cNvPr>
          <p:cNvPicPr>
            <a:picLocks noChangeAspect="1"/>
          </p:cNvPicPr>
          <p:nvPr/>
        </p:nvPicPr>
        <p:blipFill>
          <a:blip r:embed="rId2"/>
          <a:stretch>
            <a:fillRect/>
          </a:stretch>
        </p:blipFill>
        <p:spPr>
          <a:xfrm>
            <a:off x="4221328" y="5650992"/>
            <a:ext cx="365760" cy="365760"/>
          </a:xfrm>
          <a:prstGeom prst="rect">
            <a:avLst/>
          </a:prstGeom>
        </p:spPr>
      </p:pic>
      <p:sp>
        <p:nvSpPr>
          <p:cNvPr id="25" name="Text 21"/>
          <p:cNvSpPr txBox="1"/>
          <p:nvPr/>
        </p:nvSpPr>
        <p:spPr>
          <a:xfrm>
            <a:off x="4678528" y="5605272"/>
            <a:ext cx="3657600" cy="457200"/>
          </a:xfrm>
          <a:prstGeom prst="rect">
            <a:avLst/>
          </a:prstGeom>
          <a:noFill/>
          <a:ln/>
        </p:spPr>
        <p:txBody>
          <a:bodyPr wrap="square" lIns="0" tIns="0" rIns="0" bIns="0" rtlCol="0" anchor="ctr"/>
          <a:lstStyle/>
          <a:p>
            <a:pPr indent="0" marL="0">
              <a:buNone/>
            </a:pPr>
            <a:r>
              <a:rPr lang="en-US" sz="1800" b="1" dirty="0">
                <a:solidFill>
                  <a:srgbClr val="FFC83D"/>
                </a:solidFill>
              </a:rPr>
              <a:t>Hands up: A, B, C or D?</a:t>
            </a:r>
            <a:endParaRPr lang="en-US" sz="18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7C72B0"/>
                </a:solidFil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round badge"/>
          <p:cNvSpPr/>
          <p:nvPr/>
        </p:nvSpPr>
        <p:spPr>
          <a:xfrm>
            <a:off x="548640" y="292608"/>
            <a:ext cx="566928" cy="566928"/>
          </a:xfrm>
          <a:prstGeom prst="ellipse">
            <a:avLst/>
          </a:prstGeom>
          <a:solidFill>
            <a:srgbClr val="FFC83D"/>
          </a:solidFill>
          <a:ln/>
        </p:spPr>
      </p:sp>
      <p:pic>
        <p:nvPicPr>
          <p:cNvPr id="3" name="round icon" descr="round">    </p:cNvPr>
          <p:cNvPicPr>
            <a:picLocks noChangeAspect="1"/>
          </p:cNvPicPr>
          <p:nvPr/>
        </p:nvPicPr>
        <p:blipFill>
          <a:blip r:embed="rId1"/>
          <a:stretch>
            <a:fillRect/>
          </a:stretch>
        </p:blipFill>
        <p:spPr>
          <a:xfrm>
            <a:off x="685800" y="429768"/>
            <a:ext cx="292608" cy="292608"/>
          </a:xfrm>
          <a:prstGeom prst="rect">
            <a:avLst/>
          </a:prstGeom>
        </p:spPr>
      </p:pic>
      <p:sp>
        <p:nvSpPr>
          <p:cNvPr id="4" name="Text 1"/>
          <p:cNvSpPr txBox="1"/>
          <p:nvPr/>
        </p:nvSpPr>
        <p:spPr>
          <a:xfrm>
            <a:off x="1280160" y="274320"/>
            <a:ext cx="4572000" cy="603504"/>
          </a:xfrm>
          <a:prstGeom prst="rect">
            <a:avLst/>
          </a:prstGeom>
          <a:noFill/>
          <a:ln/>
        </p:spPr>
        <p:txBody>
          <a:bodyPr wrap="square" lIns="0" tIns="0" rIns="0" bIns="0" rtlCol="0" anchor="ctr"/>
          <a:lstStyle/>
          <a:p>
            <a:pPr indent="0" marL="0">
              <a:buNone/>
            </a:pPr>
            <a:r>
              <a:rPr lang="en-US" sz="1400" b="1" spc="300" kern="0" dirty="0">
                <a:solidFill>
                  <a:srgbClr val="FFC83D"/>
                </a:solidFill>
              </a:rPr>
              <a:t>ROUND 2 OF 6</a:t>
            </a:r>
            <a:endParaRPr lang="en-US" sz="1400" dirty="0"/>
          </a:p>
          <a:p>
            <a:pPr indent="0" marL="0">
              <a:buNone/>
            </a:pPr>
            <a:r>
              <a:rPr lang="en-US" sz="1200" dirty="0">
                <a:solidFill>
                  <a:srgbClr val="A89FD0"/>
                </a:solidFill>
              </a:rPr>
              <a:t>Hosted by Roll 8</a:t>
            </a:r>
            <a:endParaRPr lang="en-US" sz="1400" dirty="0"/>
          </a:p>
        </p:txBody>
      </p:sp>
      <p:sp>
        <p:nvSpPr>
          <p:cNvPr id="5" name="Text 2"/>
          <p:cNvSpPr txBox="1"/>
          <p:nvPr/>
        </p:nvSpPr>
        <p:spPr>
          <a:xfrm>
            <a:off x="9265615" y="365760"/>
            <a:ext cx="2377440" cy="420624"/>
          </a:xfrm>
          <a:prstGeom prst="roundRect">
            <a:avLst>
              <a:gd name="adj" fmla="val 50000"/>
            </a:avLst>
          </a:prstGeom>
          <a:solidFill>
            <a:srgbClr val="FFC83D"/>
          </a:solidFill>
          <a:ln/>
        </p:spPr>
        <p:txBody>
          <a:bodyPr wrap="square" lIns="0" tIns="0" rIns="0" bIns="0" rtlCol="0" anchor="ctr"/>
          <a:lstStyle/>
          <a:p>
            <a:pPr algn="ctr" indent="0" marL="0">
              <a:buNone/>
            </a:pPr>
            <a:r>
              <a:rPr lang="en-US" sz="1500" b="1" spc="200" kern="0" dirty="0">
                <a:solidFill>
                  <a:srgbClr val="140B33"/>
                </a:solidFill>
              </a:rPr>
              <a:t>CORRECT ANSWER</a:t>
            </a:r>
            <a:endParaRPr lang="en-US" sz="1500" dirty="0"/>
          </a:p>
        </p:txBody>
      </p:sp>
      <p:sp>
        <p:nvSpPr>
          <p:cNvPr id="6" name="option C"/>
          <p:cNvSpPr/>
          <p:nvPr/>
        </p:nvSpPr>
        <p:spPr>
          <a:xfrm>
            <a:off x="548640" y="1188720"/>
            <a:ext cx="11094415" cy="868680"/>
          </a:xfrm>
          <a:prstGeom prst="roundRect">
            <a:avLst>
              <a:gd name="adj" fmla="val 50000"/>
            </a:avLst>
          </a:prstGeom>
          <a:solidFill>
            <a:srgbClr val="22C55E"/>
          </a:solidFill>
          <a:ln w="25400">
            <a:solidFill>
              <a:srgbClr val="B8F5CD"/>
            </a:solidFill>
            <a:prstDash val="solid"/>
          </a:ln>
        </p:spPr>
      </p:sp>
      <p:sp>
        <p:nvSpPr>
          <p:cNvPr id="7" name="letter C"/>
          <p:cNvSpPr/>
          <p:nvPr/>
        </p:nvSpPr>
        <p:spPr>
          <a:xfrm>
            <a:off x="676656" y="1339596"/>
            <a:ext cx="566928" cy="566928"/>
          </a:xfrm>
          <a:prstGeom prst="ellipse">
            <a:avLst/>
          </a:prstGeom>
          <a:solidFill>
            <a:srgbClr val="FFFFFF"/>
          </a:solidFill>
          <a:ln/>
        </p:spPr>
      </p:sp>
      <p:sp>
        <p:nvSpPr>
          <p:cNvPr id="8" name="Text 5"/>
          <p:cNvSpPr txBox="1"/>
          <p:nvPr/>
        </p:nvSpPr>
        <p:spPr>
          <a:xfrm>
            <a:off x="676656" y="1339596"/>
            <a:ext cx="566928" cy="566928"/>
          </a:xfrm>
          <a:prstGeom prst="rect">
            <a:avLst/>
          </a:prstGeom>
          <a:noFill/>
          <a:ln/>
        </p:spPr>
        <p:txBody>
          <a:bodyPr wrap="square" lIns="0" tIns="0" rIns="0" bIns="0" rtlCol="0" anchor="ctr"/>
          <a:lstStyle/>
          <a:p>
            <a:pPr algn="ctr" indent="0" marL="0">
              <a:buNone/>
            </a:pPr>
            <a:r>
              <a:rPr lang="en-US" sz="2000" b="1" dirty="0">
                <a:solidFill>
                  <a:srgbClr val="22C55E"/>
                </a:solidFill>
              </a:rPr>
              <a:t>C</a:t>
            </a:r>
            <a:endParaRPr lang="en-US" sz="2000" dirty="0"/>
          </a:p>
        </p:txBody>
      </p:sp>
      <p:sp>
        <p:nvSpPr>
          <p:cNvPr id="9" name="Text 6"/>
          <p:cNvSpPr txBox="1"/>
          <p:nvPr/>
        </p:nvSpPr>
        <p:spPr>
          <a:xfrm>
            <a:off x="1417320" y="1188720"/>
            <a:ext cx="9997135" cy="868680"/>
          </a:xfrm>
          <a:prstGeom prst="rect">
            <a:avLst/>
          </a:prstGeom>
          <a:noFill/>
          <a:ln/>
        </p:spPr>
        <p:txBody>
          <a:bodyPr wrap="square" lIns="0" tIns="0" rIns="0" bIns="0" rtlCol="0" anchor="ctr"/>
          <a:lstStyle/>
          <a:p>
            <a:pPr indent="0" marL="0">
              <a:buNone/>
            </a:pPr>
            <a:r>
              <a:rPr lang="en-US" sz="1700" b="1" dirty="0">
                <a:solidFill>
                  <a:schemeClr val="bg1"/>
                </a:solidFill>
              </a:rPr>
              <a:t>Yes. Under UNTOC Article 2, AEY is an organized criminal group</a:t>
            </a:r>
            <a:endParaRPr lang="en-US" sz="1700" dirty="0"/>
          </a:p>
        </p:txBody>
      </p:sp>
      <p:sp>
        <p:nvSpPr>
          <p:cNvPr id="10" name="card 1"/>
          <p:cNvSpPr/>
          <p:nvPr/>
        </p:nvSpPr>
        <p:spPr>
          <a:xfrm>
            <a:off x="548640" y="2331720"/>
            <a:ext cx="5410048" cy="1481328"/>
          </a:xfrm>
          <a:prstGeom prst="roundRect">
            <a:avLst>
              <a:gd name="adj" fmla="val 7407"/>
            </a:avLst>
          </a:prstGeom>
          <a:solidFill>
            <a:srgbClr val="1E1548"/>
          </a:solidFill>
          <a:ln w="15875">
            <a:solidFill>
              <a:srgbClr val="22C55E"/>
            </a:solidFill>
            <a:prstDash val="solid"/>
          </a:ln>
        </p:spPr>
      </p:sp>
      <p:sp>
        <p:nvSpPr>
          <p:cNvPr id="11" name="Text 8"/>
          <p:cNvSpPr txBox="1"/>
          <p:nvPr/>
        </p:nvSpPr>
        <p:spPr>
          <a:xfrm>
            <a:off x="777240" y="2441448"/>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22C55E"/>
                </a:solidFill>
              </a:rPr>
              <a:t>THE UN TEST (UNODC, 2004)</a:t>
            </a:r>
            <a:endParaRPr lang="en-US" sz="1500" dirty="0"/>
          </a:p>
          <a:p>
            <a:pPr indent="0" marL="0">
              <a:spcAft>
                <a:spcPts val="300"/>
              </a:spcAft>
              <a:buNone/>
            </a:pPr>
            <a:r>
              <a:rPr lang="en-US" sz="1400" dirty="0">
                <a:solidFill>
                  <a:srgbClr val="DDD6FE"/>
                </a:solidFill>
              </a:rPr>
              <a:t>A structured group of 3+ persons, existing for a period of time, acting together to commit serious crime for material benefit. AEY ticks every box.</a:t>
            </a:r>
            <a:endParaRPr lang="en-US" sz="1500" dirty="0"/>
          </a:p>
        </p:txBody>
      </p:sp>
      <p:sp>
        <p:nvSpPr>
          <p:cNvPr id="12" name="card 2"/>
          <p:cNvSpPr/>
          <p:nvPr/>
        </p:nvSpPr>
        <p:spPr>
          <a:xfrm>
            <a:off x="6233008" y="2331720"/>
            <a:ext cx="5410048" cy="1481328"/>
          </a:xfrm>
          <a:prstGeom prst="roundRect">
            <a:avLst>
              <a:gd name="adj" fmla="val 7407"/>
            </a:avLst>
          </a:prstGeom>
          <a:solidFill>
            <a:srgbClr val="1E1548"/>
          </a:solidFill>
          <a:ln w="15875">
            <a:solidFill>
              <a:srgbClr val="F87171"/>
            </a:solidFill>
            <a:prstDash val="solid"/>
          </a:ln>
        </p:spPr>
      </p:sp>
      <p:sp>
        <p:nvSpPr>
          <p:cNvPr id="13" name="Text 10"/>
          <p:cNvSpPr txBox="1"/>
          <p:nvPr/>
        </p:nvSpPr>
        <p:spPr>
          <a:xfrm>
            <a:off x="6461608" y="2441448"/>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F87171"/>
                </a:solidFill>
              </a:rPr>
              <a:t>ABADINSKY’S MAFIA TEST (2013)</a:t>
            </a:r>
            <a:endParaRPr lang="en-US" sz="1500" dirty="0"/>
          </a:p>
          <a:p>
            <a:pPr indent="0" marL="0">
              <a:spcAft>
                <a:spcPts val="300"/>
              </a:spcAft>
              <a:buNone/>
            </a:pPr>
            <a:r>
              <a:rPr lang="en-US" sz="1400" dirty="0">
                <a:solidFill>
                  <a:srgbClr val="DDD6FE"/>
                </a:solidFill>
              </a:rPr>
              <a:t>Hierarchy, exclusive membership, rituals, survival after arrests: AEY has none of these. It collapsed when its leaders were charged.</a:t>
            </a:r>
            <a:endParaRPr lang="en-US" sz="1500" dirty="0"/>
          </a:p>
        </p:txBody>
      </p:sp>
      <p:sp>
        <p:nvSpPr>
          <p:cNvPr id="14" name="card 3"/>
          <p:cNvSpPr/>
          <p:nvPr/>
        </p:nvSpPr>
        <p:spPr>
          <a:xfrm>
            <a:off x="548640" y="3995928"/>
            <a:ext cx="5410048" cy="1481328"/>
          </a:xfrm>
          <a:prstGeom prst="roundRect">
            <a:avLst>
              <a:gd name="adj" fmla="val 7407"/>
            </a:avLst>
          </a:prstGeom>
          <a:solidFill>
            <a:srgbClr val="1E1548"/>
          </a:solidFill>
          <a:ln w="15875">
            <a:solidFill>
              <a:srgbClr val="5B4BC4"/>
            </a:solidFill>
            <a:prstDash val="solid"/>
          </a:ln>
        </p:spPr>
      </p:sp>
      <p:sp>
        <p:nvSpPr>
          <p:cNvPr id="15" name="Text 12"/>
          <p:cNvSpPr txBox="1"/>
          <p:nvPr/>
        </p:nvSpPr>
        <p:spPr>
          <a:xfrm>
            <a:off x="777240" y="4105656"/>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FFC83D"/>
                </a:solidFill>
              </a:rPr>
              <a:t>OUR CLASSIFICATION</a:t>
            </a:r>
            <a:endParaRPr lang="en-US" sz="1500" dirty="0"/>
          </a:p>
          <a:p>
            <a:pPr indent="0" marL="0">
              <a:spcAft>
                <a:spcPts val="300"/>
              </a:spcAft>
              <a:buNone/>
            </a:pPr>
            <a:r>
              <a:rPr lang="en-US" sz="1400" dirty="0">
                <a:solidFill>
                  <a:srgbClr val="DDD6FE"/>
                </a:solidFill>
              </a:rPr>
              <a:t>Organized white-collar crime: a legal company committing organized fraud (Sutherland, 1940).</a:t>
            </a:r>
            <a:endParaRPr lang="en-US" sz="1500" dirty="0"/>
          </a:p>
        </p:txBody>
      </p:sp>
      <p:sp>
        <p:nvSpPr>
          <p:cNvPr id="16" name="card 4"/>
          <p:cNvSpPr/>
          <p:nvPr/>
        </p:nvSpPr>
        <p:spPr>
          <a:xfrm>
            <a:off x="6233008" y="3995928"/>
            <a:ext cx="5410048" cy="1481328"/>
          </a:xfrm>
          <a:prstGeom prst="roundRect">
            <a:avLst>
              <a:gd name="adj" fmla="val 7407"/>
            </a:avLst>
          </a:prstGeom>
          <a:solidFill>
            <a:srgbClr val="1E1548"/>
          </a:solidFill>
          <a:ln w="15875">
            <a:solidFill>
              <a:srgbClr val="5B4BC4"/>
            </a:solidFill>
            <a:prstDash val="solid"/>
          </a:ln>
        </p:spPr>
      </p:sp>
      <p:sp>
        <p:nvSpPr>
          <p:cNvPr id="17" name="Text 14"/>
          <p:cNvSpPr txBox="1"/>
          <p:nvPr/>
        </p:nvSpPr>
        <p:spPr>
          <a:xfrm>
            <a:off x="6461608" y="4105656"/>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FFC83D"/>
                </a:solidFill>
              </a:rPr>
              <a:t>TRANSNATIONAL</a:t>
            </a:r>
            <a:endParaRPr lang="en-US" sz="1500" dirty="0"/>
          </a:p>
          <a:p>
            <a:pPr indent="0" marL="0">
              <a:spcAft>
                <a:spcPts val="300"/>
              </a:spcAft>
              <a:buNone/>
            </a:pPr>
            <a:r>
              <a:rPr lang="en-US" sz="1400" dirty="0">
                <a:solidFill>
                  <a:srgbClr val="DDD6FE"/>
                </a:solidFill>
              </a:rPr>
              <a:t>The crime spanned the US, Jordan, Iraq, Albania and Afghanistan, exploiting gaps between national laws.</a:t>
            </a:r>
            <a:endParaRPr lang="en-US" sz="1500" dirty="0"/>
          </a:p>
        </p:txBody>
      </p:sp>
      <p:sp>
        <p:nvSpPr>
          <p:cNvPr id="18" name="Text 15"/>
          <p:cNvSpPr txBox="1"/>
          <p:nvPr/>
        </p:nvSpPr>
        <p:spPr>
          <a:xfrm>
            <a:off x="548640" y="6108192"/>
            <a:ext cx="11094415" cy="201168"/>
          </a:xfrm>
          <a:prstGeom prst="rect">
            <a:avLst/>
          </a:prstGeom>
          <a:noFill/>
          <a:ln/>
        </p:spPr>
        <p:txBody>
          <a:bodyPr wrap="square" lIns="0" tIns="0" rIns="0" bIns="0" rtlCol="0" anchor="ctr"/>
          <a:lstStyle/>
          <a:p>
            <a:pPr indent="0" marL="0">
              <a:buNone/>
            </a:pPr>
            <a:r>
              <a:rPr lang="en-US" sz="1000" i="1" dirty="0">
                <a:solidFill>
                  <a:srgbClr val="7C72B0"/>
                </a:solidFill>
              </a:rPr>
              <a:t>Sources: UNODC (2004); Abadinsky (2013); Sutherland (1940).</a:t>
            </a:r>
            <a:endParaRPr lang="en-US" sz="10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7C72B0"/>
                </a:solidFil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round badge"/>
          <p:cNvSpPr/>
          <p:nvPr/>
        </p:nvSpPr>
        <p:spPr>
          <a:xfrm>
            <a:off x="548640" y="292608"/>
            <a:ext cx="566928" cy="566928"/>
          </a:xfrm>
          <a:prstGeom prst="ellipse">
            <a:avLst/>
          </a:prstGeom>
          <a:solidFill>
            <a:srgbClr val="FFC83D"/>
          </a:solidFill>
          <a:ln/>
        </p:spPr>
      </p:sp>
      <p:pic>
        <p:nvPicPr>
          <p:cNvPr id="3" name="round icon" descr="round">    </p:cNvPr>
          <p:cNvPicPr>
            <a:picLocks noChangeAspect="1"/>
          </p:cNvPicPr>
          <p:nvPr/>
        </p:nvPicPr>
        <p:blipFill>
          <a:blip r:embed="rId1"/>
          <a:stretch>
            <a:fillRect/>
          </a:stretch>
        </p:blipFill>
        <p:spPr>
          <a:xfrm>
            <a:off x="685800" y="429768"/>
            <a:ext cx="292608" cy="292608"/>
          </a:xfrm>
          <a:prstGeom prst="rect">
            <a:avLst/>
          </a:prstGeom>
        </p:spPr>
      </p:pic>
      <p:sp>
        <p:nvSpPr>
          <p:cNvPr id="4" name="Text 1"/>
          <p:cNvSpPr txBox="1"/>
          <p:nvPr/>
        </p:nvSpPr>
        <p:spPr>
          <a:xfrm>
            <a:off x="1280160" y="274320"/>
            <a:ext cx="4572000" cy="603504"/>
          </a:xfrm>
          <a:prstGeom prst="rect">
            <a:avLst/>
          </a:prstGeom>
          <a:noFill/>
          <a:ln/>
        </p:spPr>
        <p:txBody>
          <a:bodyPr wrap="square" lIns="0" tIns="0" rIns="0" bIns="0" rtlCol="0" anchor="ctr"/>
          <a:lstStyle/>
          <a:p>
            <a:pPr indent="0" marL="0">
              <a:buNone/>
            </a:pPr>
            <a:r>
              <a:rPr lang="en-US" sz="1400" b="1" spc="300" kern="0" dirty="0">
                <a:solidFill>
                  <a:srgbClr val="FFC83D"/>
                </a:solidFill>
              </a:rPr>
              <a:t>ROUND 3 OF 6</a:t>
            </a:r>
            <a:endParaRPr lang="en-US" sz="1400" dirty="0"/>
          </a:p>
          <a:p>
            <a:pPr indent="0" marL="0">
              <a:buNone/>
            </a:pPr>
            <a:r>
              <a:rPr lang="en-US" sz="1200" dirty="0">
                <a:solidFill>
                  <a:srgbClr val="A89FD0"/>
                </a:solidFill>
              </a:rPr>
              <a:t>Hosted by Roll 37</a:t>
            </a:r>
            <a:endParaRPr lang="en-US" sz="1400" dirty="0"/>
          </a:p>
        </p:txBody>
      </p:sp>
      <p:sp>
        <p:nvSpPr>
          <p:cNvPr id="5" name="Text 2"/>
          <p:cNvSpPr txBox="1"/>
          <p:nvPr/>
        </p:nvSpPr>
        <p:spPr>
          <a:xfrm>
            <a:off x="9265615" y="365760"/>
            <a:ext cx="2377440" cy="420624"/>
          </a:xfrm>
          <a:prstGeom prst="roundRect">
            <a:avLst>
              <a:gd name="adj" fmla="val 50000"/>
            </a:avLst>
          </a:prstGeom>
          <a:solidFill>
            <a:srgbClr val="FFC83D"/>
          </a:solidFill>
          <a:ln/>
        </p:spPr>
        <p:txBody>
          <a:bodyPr wrap="square" lIns="0" tIns="0" rIns="0" bIns="0" rtlCol="0" anchor="ctr"/>
          <a:lstStyle/>
          <a:p>
            <a:pPr algn="ctr" indent="0" marL="0">
              <a:buNone/>
            </a:pPr>
            <a:r>
              <a:rPr lang="en-US" sz="1500" b="1" spc="200" kern="0" dirty="0">
                <a:solidFill>
                  <a:srgbClr val="140B33"/>
                </a:solidFill>
              </a:rPr>
              <a:t>300 POINTS</a:t>
            </a:r>
            <a:endParaRPr lang="en-US" sz="1500" dirty="0"/>
          </a:p>
        </p:txBody>
      </p:sp>
      <p:sp>
        <p:nvSpPr>
          <p:cNvPr id="6" name="question panel"/>
          <p:cNvSpPr/>
          <p:nvPr/>
        </p:nvSpPr>
        <p:spPr>
          <a:xfrm>
            <a:off x="914400" y="1280160"/>
            <a:ext cx="10362895" cy="1600200"/>
          </a:xfrm>
          <a:prstGeom prst="roundRect">
            <a:avLst>
              <a:gd name="adj" fmla="val 14286"/>
            </a:avLst>
          </a:prstGeom>
          <a:solidFill>
            <a:srgbClr val="1E1548"/>
          </a:solidFill>
          <a:ln w="25400">
            <a:solidFill>
              <a:srgbClr val="FFC83D"/>
            </a:solidFill>
            <a:prstDash val="solid"/>
          </a:ln>
        </p:spPr>
      </p:sp>
      <p:sp>
        <p:nvSpPr>
          <p:cNvPr id="7" name="Text 4"/>
          <p:cNvSpPr txBox="1"/>
          <p:nvPr/>
        </p:nvSpPr>
        <p:spPr>
          <a:xfrm>
            <a:off x="1280160" y="1280160"/>
            <a:ext cx="9631375" cy="1600200"/>
          </a:xfrm>
          <a:prstGeom prst="rect">
            <a:avLst/>
          </a:prstGeom>
          <a:noFill/>
          <a:ln/>
        </p:spPr>
        <p:txBody>
          <a:bodyPr wrap="square" lIns="0" tIns="0" rIns="0" bIns="0" rtlCol="0" anchor="ctr"/>
          <a:lstStyle/>
          <a:p>
            <a:pPr algn="ctr" indent="0" marL="0">
              <a:buNone/>
            </a:pPr>
            <a:r>
              <a:rPr lang="en-US" sz="2600" b="1" dirty="0">
                <a:solidFill>
                  <a:schemeClr val="bg1"/>
                </a:solidFill>
              </a:rPr>
              <a:t>AEY started legally and slid into fraud as demand grew. Which model of organized crime fits best?</a:t>
            </a:r>
            <a:endParaRPr lang="en-US" sz="2600" dirty="0"/>
          </a:p>
        </p:txBody>
      </p:sp>
      <p:sp>
        <p:nvSpPr>
          <p:cNvPr id="8" name="option A"/>
          <p:cNvSpPr/>
          <p:nvPr/>
        </p:nvSpPr>
        <p:spPr>
          <a:xfrm>
            <a:off x="548640" y="3246120"/>
            <a:ext cx="5364328" cy="822960"/>
          </a:xfrm>
          <a:prstGeom prst="roundRect">
            <a:avLst>
              <a:gd name="adj" fmla="val 50000"/>
            </a:avLst>
          </a:prstGeom>
          <a:solidFill>
            <a:srgbClr val="241A52"/>
          </a:solidFill>
          <a:ln w="25400">
            <a:solidFill>
              <a:srgbClr val="5B4BC4"/>
            </a:solidFill>
            <a:prstDash val="solid"/>
          </a:ln>
        </p:spPr>
      </p:sp>
      <p:sp>
        <p:nvSpPr>
          <p:cNvPr id="9" name="letter A"/>
          <p:cNvSpPr/>
          <p:nvPr/>
        </p:nvSpPr>
        <p:spPr>
          <a:xfrm>
            <a:off x="676656" y="3374136"/>
            <a:ext cx="566928" cy="566928"/>
          </a:xfrm>
          <a:prstGeom prst="ellipse">
            <a:avLst/>
          </a:prstGeom>
          <a:solidFill>
            <a:srgbClr val="FFC83D"/>
          </a:solidFill>
          <a:ln/>
        </p:spPr>
      </p:sp>
      <p:sp>
        <p:nvSpPr>
          <p:cNvPr id="10" name="Text 7"/>
          <p:cNvSpPr txBox="1"/>
          <p:nvPr/>
        </p:nvSpPr>
        <p:spPr>
          <a:xfrm>
            <a:off x="676656" y="3374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A</a:t>
            </a:r>
            <a:endParaRPr lang="en-US" sz="2000" dirty="0"/>
          </a:p>
        </p:txBody>
      </p:sp>
      <p:sp>
        <p:nvSpPr>
          <p:cNvPr id="11" name="Text 8"/>
          <p:cNvSpPr txBox="1"/>
          <p:nvPr/>
        </p:nvSpPr>
        <p:spPr>
          <a:xfrm>
            <a:off x="1417320" y="3246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Hierarchical model (Cressey)</a:t>
            </a:r>
            <a:endParaRPr lang="en-US" sz="1700" dirty="0"/>
          </a:p>
        </p:txBody>
      </p:sp>
      <p:sp>
        <p:nvSpPr>
          <p:cNvPr id="12" name="option B"/>
          <p:cNvSpPr/>
          <p:nvPr/>
        </p:nvSpPr>
        <p:spPr>
          <a:xfrm>
            <a:off x="6278728" y="3246120"/>
            <a:ext cx="5364328" cy="822960"/>
          </a:xfrm>
          <a:prstGeom prst="roundRect">
            <a:avLst>
              <a:gd name="adj" fmla="val 50000"/>
            </a:avLst>
          </a:prstGeom>
          <a:solidFill>
            <a:srgbClr val="241A52"/>
          </a:solidFill>
          <a:ln w="25400">
            <a:solidFill>
              <a:srgbClr val="5B4BC4"/>
            </a:solidFill>
            <a:prstDash val="solid"/>
          </a:ln>
        </p:spPr>
      </p:sp>
      <p:sp>
        <p:nvSpPr>
          <p:cNvPr id="13" name="letter B"/>
          <p:cNvSpPr/>
          <p:nvPr/>
        </p:nvSpPr>
        <p:spPr>
          <a:xfrm>
            <a:off x="6406744" y="3374136"/>
            <a:ext cx="566928" cy="566928"/>
          </a:xfrm>
          <a:prstGeom prst="ellipse">
            <a:avLst/>
          </a:prstGeom>
          <a:solidFill>
            <a:srgbClr val="FFC83D"/>
          </a:solidFill>
          <a:ln/>
        </p:spPr>
      </p:sp>
      <p:sp>
        <p:nvSpPr>
          <p:cNvPr id="14" name="Text 11"/>
          <p:cNvSpPr txBox="1"/>
          <p:nvPr/>
        </p:nvSpPr>
        <p:spPr>
          <a:xfrm>
            <a:off x="6406744" y="3374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B</a:t>
            </a:r>
            <a:endParaRPr lang="en-US" sz="2000" dirty="0"/>
          </a:p>
        </p:txBody>
      </p:sp>
      <p:sp>
        <p:nvSpPr>
          <p:cNvPr id="15" name="Text 12"/>
          <p:cNvSpPr txBox="1"/>
          <p:nvPr/>
        </p:nvSpPr>
        <p:spPr>
          <a:xfrm>
            <a:off x="7147408" y="3246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Patron–client model (Albini)</a:t>
            </a:r>
            <a:endParaRPr lang="en-US" sz="1700" dirty="0"/>
          </a:p>
        </p:txBody>
      </p:sp>
      <p:sp>
        <p:nvSpPr>
          <p:cNvPr id="16" name="option C"/>
          <p:cNvSpPr/>
          <p:nvPr/>
        </p:nvSpPr>
        <p:spPr>
          <a:xfrm>
            <a:off x="548640" y="4389120"/>
            <a:ext cx="5364328" cy="822960"/>
          </a:xfrm>
          <a:prstGeom prst="roundRect">
            <a:avLst>
              <a:gd name="adj" fmla="val 50000"/>
            </a:avLst>
          </a:prstGeom>
          <a:solidFill>
            <a:srgbClr val="241A52"/>
          </a:solidFill>
          <a:ln w="25400">
            <a:solidFill>
              <a:srgbClr val="5B4BC4"/>
            </a:solidFill>
            <a:prstDash val="solid"/>
          </a:ln>
        </p:spPr>
      </p:sp>
      <p:sp>
        <p:nvSpPr>
          <p:cNvPr id="17" name="letter C"/>
          <p:cNvSpPr/>
          <p:nvPr/>
        </p:nvSpPr>
        <p:spPr>
          <a:xfrm>
            <a:off x="676656" y="4517136"/>
            <a:ext cx="566928" cy="566928"/>
          </a:xfrm>
          <a:prstGeom prst="ellipse">
            <a:avLst/>
          </a:prstGeom>
          <a:solidFill>
            <a:srgbClr val="FFC83D"/>
          </a:solidFill>
          <a:ln/>
        </p:spPr>
      </p:sp>
      <p:sp>
        <p:nvSpPr>
          <p:cNvPr id="18" name="Text 15"/>
          <p:cNvSpPr txBox="1"/>
          <p:nvPr/>
        </p:nvSpPr>
        <p:spPr>
          <a:xfrm>
            <a:off x="676656" y="4517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C</a:t>
            </a:r>
            <a:endParaRPr lang="en-US" sz="2000" dirty="0"/>
          </a:p>
        </p:txBody>
      </p:sp>
      <p:sp>
        <p:nvSpPr>
          <p:cNvPr id="19" name="Text 16"/>
          <p:cNvSpPr txBox="1"/>
          <p:nvPr/>
        </p:nvSpPr>
        <p:spPr>
          <a:xfrm>
            <a:off x="1417320" y="4389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Enterprise model (Smith)</a:t>
            </a:r>
            <a:endParaRPr lang="en-US" sz="1700" dirty="0"/>
          </a:p>
        </p:txBody>
      </p:sp>
      <p:sp>
        <p:nvSpPr>
          <p:cNvPr id="20" name="option D"/>
          <p:cNvSpPr/>
          <p:nvPr/>
        </p:nvSpPr>
        <p:spPr>
          <a:xfrm>
            <a:off x="6278728" y="4389120"/>
            <a:ext cx="5364328" cy="822960"/>
          </a:xfrm>
          <a:prstGeom prst="roundRect">
            <a:avLst>
              <a:gd name="adj" fmla="val 50000"/>
            </a:avLst>
          </a:prstGeom>
          <a:solidFill>
            <a:srgbClr val="241A52"/>
          </a:solidFill>
          <a:ln w="25400">
            <a:solidFill>
              <a:srgbClr val="5B4BC4"/>
            </a:solidFill>
            <a:prstDash val="solid"/>
          </a:ln>
        </p:spPr>
      </p:sp>
      <p:sp>
        <p:nvSpPr>
          <p:cNvPr id="21" name="letter D"/>
          <p:cNvSpPr/>
          <p:nvPr/>
        </p:nvSpPr>
        <p:spPr>
          <a:xfrm>
            <a:off x="6406744" y="4517136"/>
            <a:ext cx="566928" cy="566928"/>
          </a:xfrm>
          <a:prstGeom prst="ellipse">
            <a:avLst/>
          </a:prstGeom>
          <a:solidFill>
            <a:srgbClr val="FFC83D"/>
          </a:solidFill>
          <a:ln/>
        </p:spPr>
      </p:sp>
      <p:sp>
        <p:nvSpPr>
          <p:cNvPr id="22" name="Text 19"/>
          <p:cNvSpPr txBox="1"/>
          <p:nvPr/>
        </p:nvSpPr>
        <p:spPr>
          <a:xfrm>
            <a:off x="6406744" y="4517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D</a:t>
            </a:r>
            <a:endParaRPr lang="en-US" sz="2000" dirty="0"/>
          </a:p>
        </p:txBody>
      </p:sp>
      <p:sp>
        <p:nvSpPr>
          <p:cNvPr id="23" name="Text 20"/>
          <p:cNvSpPr txBox="1"/>
          <p:nvPr/>
        </p:nvSpPr>
        <p:spPr>
          <a:xfrm>
            <a:off x="7147408" y="4389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The traditional mafia “family”</a:t>
            </a:r>
            <a:endParaRPr lang="en-US" sz="1700" dirty="0"/>
          </a:p>
        </p:txBody>
      </p:sp>
      <p:pic>
        <p:nvPicPr>
          <p:cNvPr id="24" name="hand" descr="raise hand">    </p:cNvPr>
          <p:cNvPicPr>
            <a:picLocks noChangeAspect="1"/>
          </p:cNvPicPr>
          <p:nvPr/>
        </p:nvPicPr>
        <p:blipFill>
          <a:blip r:embed="rId2"/>
          <a:stretch>
            <a:fillRect/>
          </a:stretch>
        </p:blipFill>
        <p:spPr>
          <a:xfrm>
            <a:off x="4221328" y="5650992"/>
            <a:ext cx="365760" cy="365760"/>
          </a:xfrm>
          <a:prstGeom prst="rect">
            <a:avLst/>
          </a:prstGeom>
        </p:spPr>
      </p:pic>
      <p:sp>
        <p:nvSpPr>
          <p:cNvPr id="25" name="Text 21"/>
          <p:cNvSpPr txBox="1"/>
          <p:nvPr/>
        </p:nvSpPr>
        <p:spPr>
          <a:xfrm>
            <a:off x="4678528" y="5605272"/>
            <a:ext cx="3657600" cy="457200"/>
          </a:xfrm>
          <a:prstGeom prst="rect">
            <a:avLst/>
          </a:prstGeom>
          <a:noFill/>
          <a:ln/>
        </p:spPr>
        <p:txBody>
          <a:bodyPr wrap="square" lIns="0" tIns="0" rIns="0" bIns="0" rtlCol="0" anchor="ctr"/>
          <a:lstStyle/>
          <a:p>
            <a:pPr indent="0" marL="0">
              <a:buNone/>
            </a:pPr>
            <a:r>
              <a:rPr lang="en-US" sz="1800" b="1" dirty="0">
                <a:solidFill>
                  <a:srgbClr val="FFC83D"/>
                </a:solidFill>
              </a:rPr>
              <a:t>Hands up: A, B, C or D?</a:t>
            </a:r>
            <a:endParaRPr lang="en-US" sz="18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7C72B0"/>
                </a:solidFil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round badge"/>
          <p:cNvSpPr/>
          <p:nvPr/>
        </p:nvSpPr>
        <p:spPr>
          <a:xfrm>
            <a:off x="548640" y="292608"/>
            <a:ext cx="566928" cy="566928"/>
          </a:xfrm>
          <a:prstGeom prst="ellipse">
            <a:avLst/>
          </a:prstGeom>
          <a:solidFill>
            <a:srgbClr val="FFC83D"/>
          </a:solidFill>
          <a:ln/>
        </p:spPr>
      </p:sp>
      <p:pic>
        <p:nvPicPr>
          <p:cNvPr id="3" name="round icon" descr="round">    </p:cNvPr>
          <p:cNvPicPr>
            <a:picLocks noChangeAspect="1"/>
          </p:cNvPicPr>
          <p:nvPr/>
        </p:nvPicPr>
        <p:blipFill>
          <a:blip r:embed="rId1"/>
          <a:stretch>
            <a:fillRect/>
          </a:stretch>
        </p:blipFill>
        <p:spPr>
          <a:xfrm>
            <a:off x="685800" y="429768"/>
            <a:ext cx="292608" cy="292608"/>
          </a:xfrm>
          <a:prstGeom prst="rect">
            <a:avLst/>
          </a:prstGeom>
        </p:spPr>
      </p:pic>
      <p:sp>
        <p:nvSpPr>
          <p:cNvPr id="4" name="Text 1"/>
          <p:cNvSpPr txBox="1"/>
          <p:nvPr/>
        </p:nvSpPr>
        <p:spPr>
          <a:xfrm>
            <a:off x="1280160" y="274320"/>
            <a:ext cx="4572000" cy="603504"/>
          </a:xfrm>
          <a:prstGeom prst="rect">
            <a:avLst/>
          </a:prstGeom>
          <a:noFill/>
          <a:ln/>
        </p:spPr>
        <p:txBody>
          <a:bodyPr wrap="square" lIns="0" tIns="0" rIns="0" bIns="0" rtlCol="0" anchor="ctr"/>
          <a:lstStyle/>
          <a:p>
            <a:pPr indent="0" marL="0">
              <a:buNone/>
            </a:pPr>
            <a:r>
              <a:rPr lang="en-US" sz="1400" b="1" spc="300" kern="0" dirty="0">
                <a:solidFill>
                  <a:srgbClr val="FFC83D"/>
                </a:solidFill>
              </a:rPr>
              <a:t>ROUND 3 OF 6</a:t>
            </a:r>
            <a:endParaRPr lang="en-US" sz="1400" dirty="0"/>
          </a:p>
          <a:p>
            <a:pPr indent="0" marL="0">
              <a:buNone/>
            </a:pPr>
            <a:r>
              <a:rPr lang="en-US" sz="1200" dirty="0">
                <a:solidFill>
                  <a:srgbClr val="A89FD0"/>
                </a:solidFill>
              </a:rPr>
              <a:t>Hosted by Roll 37</a:t>
            </a:r>
            <a:endParaRPr lang="en-US" sz="1400" dirty="0"/>
          </a:p>
        </p:txBody>
      </p:sp>
      <p:sp>
        <p:nvSpPr>
          <p:cNvPr id="5" name="Text 2"/>
          <p:cNvSpPr txBox="1"/>
          <p:nvPr/>
        </p:nvSpPr>
        <p:spPr>
          <a:xfrm>
            <a:off x="9265615" y="365760"/>
            <a:ext cx="2377440" cy="420624"/>
          </a:xfrm>
          <a:prstGeom prst="roundRect">
            <a:avLst>
              <a:gd name="adj" fmla="val 50000"/>
            </a:avLst>
          </a:prstGeom>
          <a:solidFill>
            <a:srgbClr val="FFC83D"/>
          </a:solidFill>
          <a:ln/>
        </p:spPr>
        <p:txBody>
          <a:bodyPr wrap="square" lIns="0" tIns="0" rIns="0" bIns="0" rtlCol="0" anchor="ctr"/>
          <a:lstStyle/>
          <a:p>
            <a:pPr algn="ctr" indent="0" marL="0">
              <a:buNone/>
            </a:pPr>
            <a:r>
              <a:rPr lang="en-US" sz="1500" b="1" spc="200" kern="0" dirty="0">
                <a:solidFill>
                  <a:srgbClr val="140B33"/>
                </a:solidFill>
              </a:rPr>
              <a:t>CORRECT ANSWER</a:t>
            </a:r>
            <a:endParaRPr lang="en-US" sz="1500" dirty="0"/>
          </a:p>
        </p:txBody>
      </p:sp>
      <p:sp>
        <p:nvSpPr>
          <p:cNvPr id="6" name="option C"/>
          <p:cNvSpPr/>
          <p:nvPr/>
        </p:nvSpPr>
        <p:spPr>
          <a:xfrm>
            <a:off x="548640" y="1188720"/>
            <a:ext cx="11094415" cy="868680"/>
          </a:xfrm>
          <a:prstGeom prst="roundRect">
            <a:avLst>
              <a:gd name="adj" fmla="val 50000"/>
            </a:avLst>
          </a:prstGeom>
          <a:solidFill>
            <a:srgbClr val="22C55E"/>
          </a:solidFill>
          <a:ln w="25400">
            <a:solidFill>
              <a:srgbClr val="B8F5CD"/>
            </a:solidFill>
            <a:prstDash val="solid"/>
          </a:ln>
        </p:spPr>
      </p:sp>
      <p:sp>
        <p:nvSpPr>
          <p:cNvPr id="7" name="letter C"/>
          <p:cNvSpPr/>
          <p:nvPr/>
        </p:nvSpPr>
        <p:spPr>
          <a:xfrm>
            <a:off x="676656" y="1339596"/>
            <a:ext cx="566928" cy="566928"/>
          </a:xfrm>
          <a:prstGeom prst="ellipse">
            <a:avLst/>
          </a:prstGeom>
          <a:solidFill>
            <a:srgbClr val="FFFFFF"/>
          </a:solidFill>
          <a:ln/>
        </p:spPr>
      </p:sp>
      <p:sp>
        <p:nvSpPr>
          <p:cNvPr id="8" name="Text 5"/>
          <p:cNvSpPr txBox="1"/>
          <p:nvPr/>
        </p:nvSpPr>
        <p:spPr>
          <a:xfrm>
            <a:off x="676656" y="1339596"/>
            <a:ext cx="566928" cy="566928"/>
          </a:xfrm>
          <a:prstGeom prst="rect">
            <a:avLst/>
          </a:prstGeom>
          <a:noFill/>
          <a:ln/>
        </p:spPr>
        <p:txBody>
          <a:bodyPr wrap="square" lIns="0" tIns="0" rIns="0" bIns="0" rtlCol="0" anchor="ctr"/>
          <a:lstStyle/>
          <a:p>
            <a:pPr algn="ctr" indent="0" marL="0">
              <a:buNone/>
            </a:pPr>
            <a:r>
              <a:rPr lang="en-US" sz="2000" b="1" dirty="0">
                <a:solidFill>
                  <a:srgbClr val="22C55E"/>
                </a:solidFill>
              </a:rPr>
              <a:t>C</a:t>
            </a:r>
            <a:endParaRPr lang="en-US" sz="2000" dirty="0"/>
          </a:p>
        </p:txBody>
      </p:sp>
      <p:sp>
        <p:nvSpPr>
          <p:cNvPr id="9" name="Text 6"/>
          <p:cNvSpPr txBox="1"/>
          <p:nvPr/>
        </p:nvSpPr>
        <p:spPr>
          <a:xfrm>
            <a:off x="1417320" y="1188720"/>
            <a:ext cx="9997135" cy="868680"/>
          </a:xfrm>
          <a:prstGeom prst="rect">
            <a:avLst/>
          </a:prstGeom>
          <a:noFill/>
          <a:ln/>
        </p:spPr>
        <p:txBody>
          <a:bodyPr wrap="square" lIns="0" tIns="0" rIns="0" bIns="0" rtlCol="0" anchor="ctr"/>
          <a:lstStyle/>
          <a:p>
            <a:pPr indent="0" marL="0">
              <a:buNone/>
            </a:pPr>
            <a:r>
              <a:rPr lang="en-US" sz="1700" b="1" dirty="0">
                <a:solidFill>
                  <a:schemeClr val="bg1"/>
                </a:solidFill>
              </a:rPr>
              <a:t>Enterprise model: crime as business on a legal–illegal spectrum</a:t>
            </a:r>
            <a:endParaRPr lang="en-US" sz="1700" dirty="0"/>
          </a:p>
        </p:txBody>
      </p:sp>
      <p:sp>
        <p:nvSpPr>
          <p:cNvPr id="10" name="card 1"/>
          <p:cNvSpPr/>
          <p:nvPr/>
        </p:nvSpPr>
        <p:spPr>
          <a:xfrm>
            <a:off x="548640" y="2331720"/>
            <a:ext cx="5410048" cy="1481328"/>
          </a:xfrm>
          <a:prstGeom prst="roundRect">
            <a:avLst>
              <a:gd name="adj" fmla="val 7407"/>
            </a:avLst>
          </a:prstGeom>
          <a:solidFill>
            <a:srgbClr val="1E1548"/>
          </a:solidFill>
          <a:ln w="15875">
            <a:solidFill>
              <a:srgbClr val="22C55E"/>
            </a:solidFill>
            <a:prstDash val="solid"/>
          </a:ln>
        </p:spPr>
      </p:sp>
      <p:sp>
        <p:nvSpPr>
          <p:cNvPr id="11" name="Text 8"/>
          <p:cNvSpPr txBox="1"/>
          <p:nvPr/>
        </p:nvSpPr>
        <p:spPr>
          <a:xfrm>
            <a:off x="777240" y="2441448"/>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22C55E"/>
                </a:solidFill>
              </a:rPr>
              <a:t>ENTERPRISE · SMITH (1980) · STRONG FIT</a:t>
            </a:r>
            <a:endParaRPr lang="en-US" sz="1500" dirty="0"/>
          </a:p>
          <a:p>
            <a:pPr indent="0" marL="0">
              <a:spcAft>
                <a:spcPts val="300"/>
              </a:spcAft>
              <a:buNone/>
            </a:pPr>
            <a:r>
              <a:rPr lang="en-US" sz="1400" dirty="0">
                <a:solidFill>
                  <a:srgbClr val="DDD6FE"/>
                </a:solidFill>
              </a:rPr>
              <a:t>Legal and illegal business sit on one spectrum, driven by the same demand. AEY moved from bidding, to fixers, to fraud.</a:t>
            </a:r>
            <a:endParaRPr lang="en-US" sz="1500" dirty="0"/>
          </a:p>
        </p:txBody>
      </p:sp>
      <p:sp>
        <p:nvSpPr>
          <p:cNvPr id="12" name="card 2"/>
          <p:cNvSpPr/>
          <p:nvPr/>
        </p:nvSpPr>
        <p:spPr>
          <a:xfrm>
            <a:off x="6233008" y="2331720"/>
            <a:ext cx="5410048" cy="1481328"/>
          </a:xfrm>
          <a:prstGeom prst="roundRect">
            <a:avLst>
              <a:gd name="adj" fmla="val 7407"/>
            </a:avLst>
          </a:prstGeom>
          <a:solidFill>
            <a:srgbClr val="1E1548"/>
          </a:solidFill>
          <a:ln w="15875">
            <a:solidFill>
              <a:srgbClr val="22C55E"/>
            </a:solidFill>
            <a:prstDash val="solid"/>
          </a:ln>
        </p:spPr>
      </p:sp>
      <p:sp>
        <p:nvSpPr>
          <p:cNvPr id="13" name="Text 10"/>
          <p:cNvSpPr txBox="1"/>
          <p:nvPr/>
        </p:nvSpPr>
        <p:spPr>
          <a:xfrm>
            <a:off x="6461608" y="2441448"/>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22C55E"/>
                </a:solidFill>
              </a:rPr>
              <a:t>NETWORK · MORSELLI (2009) · STRONG FIT</a:t>
            </a:r>
            <a:endParaRPr lang="en-US" sz="1500" dirty="0"/>
          </a:p>
          <a:p>
            <a:pPr indent="0" marL="0">
              <a:spcAft>
                <a:spcPts val="300"/>
              </a:spcAft>
              <a:buNone/>
            </a:pPr>
            <a:r>
              <a:rPr lang="en-US" sz="1400" dirty="0">
                <a:solidFill>
                  <a:srgbClr val="DDD6FE"/>
                </a:solidFill>
              </a:rPr>
              <a:t>Brokers who connect separate worlds hold the power: AEY linked the Pentagon to Henry, Henry to Albania.</a:t>
            </a:r>
            <a:endParaRPr lang="en-US" sz="1500" dirty="0"/>
          </a:p>
        </p:txBody>
      </p:sp>
      <p:sp>
        <p:nvSpPr>
          <p:cNvPr id="14" name="card 3"/>
          <p:cNvSpPr/>
          <p:nvPr/>
        </p:nvSpPr>
        <p:spPr>
          <a:xfrm>
            <a:off x="548640" y="3995928"/>
            <a:ext cx="5410048" cy="1481328"/>
          </a:xfrm>
          <a:prstGeom prst="roundRect">
            <a:avLst>
              <a:gd name="adj" fmla="val 7407"/>
            </a:avLst>
          </a:prstGeom>
          <a:solidFill>
            <a:srgbClr val="1E1548"/>
          </a:solidFill>
          <a:ln w="15875">
            <a:solidFill>
              <a:srgbClr val="5B4BC4"/>
            </a:solidFill>
            <a:prstDash val="solid"/>
          </a:ln>
        </p:spPr>
      </p:sp>
      <p:sp>
        <p:nvSpPr>
          <p:cNvPr id="15" name="Text 12"/>
          <p:cNvSpPr txBox="1"/>
          <p:nvPr/>
        </p:nvSpPr>
        <p:spPr>
          <a:xfrm>
            <a:off x="777240" y="4105656"/>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FFC83D"/>
                </a:solidFill>
              </a:rPr>
              <a:t>PATRON–CLIENT · ALBINI (1971) · PARTIAL</a:t>
            </a:r>
            <a:endParaRPr lang="en-US" sz="1500" dirty="0"/>
          </a:p>
          <a:p>
            <a:pPr indent="0" marL="0">
              <a:spcAft>
                <a:spcPts val="300"/>
              </a:spcAft>
              <a:buNone/>
            </a:pPr>
            <a:r>
              <a:rPr lang="en-US" sz="1400" dirty="0">
                <a:solidFill>
                  <a:srgbClr val="DDD6FE"/>
                </a:solidFill>
              </a:rPr>
              <a:t>Henry acts as a patron, trading access to supply for a share of the profits.</a:t>
            </a:r>
            <a:endParaRPr lang="en-US" sz="1500" dirty="0"/>
          </a:p>
        </p:txBody>
      </p:sp>
      <p:sp>
        <p:nvSpPr>
          <p:cNvPr id="16" name="card 4"/>
          <p:cNvSpPr/>
          <p:nvPr/>
        </p:nvSpPr>
        <p:spPr>
          <a:xfrm>
            <a:off x="6233008" y="3995928"/>
            <a:ext cx="5410048" cy="1481328"/>
          </a:xfrm>
          <a:prstGeom prst="roundRect">
            <a:avLst>
              <a:gd name="adj" fmla="val 7407"/>
            </a:avLst>
          </a:prstGeom>
          <a:solidFill>
            <a:srgbClr val="1E1548"/>
          </a:solidFill>
          <a:ln w="15875">
            <a:solidFill>
              <a:srgbClr val="F87171"/>
            </a:solidFill>
            <a:prstDash val="solid"/>
          </a:ln>
        </p:spPr>
      </p:sp>
      <p:sp>
        <p:nvSpPr>
          <p:cNvPr id="17" name="Text 14"/>
          <p:cNvSpPr txBox="1"/>
          <p:nvPr/>
        </p:nvSpPr>
        <p:spPr>
          <a:xfrm>
            <a:off x="6461608" y="4105656"/>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F87171"/>
                </a:solidFill>
              </a:rPr>
              <a:t>HIERARCHICAL · CRESSEY (1969) · WEAK</a:t>
            </a:r>
            <a:endParaRPr lang="en-US" sz="1500" dirty="0"/>
          </a:p>
          <a:p>
            <a:pPr indent="0" marL="0">
              <a:spcAft>
                <a:spcPts val="300"/>
              </a:spcAft>
              <a:buNone/>
            </a:pPr>
            <a:r>
              <a:rPr lang="en-US" sz="1400" dirty="0">
                <a:solidFill>
                  <a:srgbClr val="DDD6FE"/>
                </a:solidFill>
              </a:rPr>
              <a:t>No ranks, no code, no family: everything rested on Efraim alone.</a:t>
            </a:r>
            <a:endParaRPr lang="en-US" sz="1500" dirty="0"/>
          </a:p>
        </p:txBody>
      </p:sp>
      <p:sp>
        <p:nvSpPr>
          <p:cNvPr id="18" name="Text 15"/>
          <p:cNvSpPr txBox="1"/>
          <p:nvPr/>
        </p:nvSpPr>
        <p:spPr>
          <a:xfrm>
            <a:off x="548640" y="6108192"/>
            <a:ext cx="11094415" cy="201168"/>
          </a:xfrm>
          <a:prstGeom prst="rect">
            <a:avLst/>
          </a:prstGeom>
          <a:noFill/>
          <a:ln/>
        </p:spPr>
        <p:txBody>
          <a:bodyPr wrap="square" lIns="0" tIns="0" rIns="0" bIns="0" rtlCol="0" anchor="ctr"/>
          <a:lstStyle/>
          <a:p>
            <a:pPr indent="0" marL="0">
              <a:buNone/>
            </a:pPr>
            <a:r>
              <a:rPr lang="en-US" sz="1000" i="1" dirty="0">
                <a:solidFill>
                  <a:srgbClr val="7C72B0"/>
                </a:solidFill>
              </a:rPr>
              <a:t>Sources: Smith (1980); Morselli (2009); Albini (1971); Cressey (1969).</a:t>
            </a:r>
            <a:endParaRPr lang="en-US" sz="10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7C72B0"/>
                </a:solidFil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round badge"/>
          <p:cNvSpPr/>
          <p:nvPr/>
        </p:nvSpPr>
        <p:spPr>
          <a:xfrm>
            <a:off x="548640" y="292608"/>
            <a:ext cx="566928" cy="566928"/>
          </a:xfrm>
          <a:prstGeom prst="ellipse">
            <a:avLst/>
          </a:prstGeom>
          <a:solidFill>
            <a:srgbClr val="FFC83D"/>
          </a:solidFill>
          <a:ln/>
        </p:spPr>
      </p:sp>
      <p:pic>
        <p:nvPicPr>
          <p:cNvPr id="3" name="round icon" descr="round">    </p:cNvPr>
          <p:cNvPicPr>
            <a:picLocks noChangeAspect="1"/>
          </p:cNvPicPr>
          <p:nvPr/>
        </p:nvPicPr>
        <p:blipFill>
          <a:blip r:embed="rId1"/>
          <a:stretch>
            <a:fillRect/>
          </a:stretch>
        </p:blipFill>
        <p:spPr>
          <a:xfrm>
            <a:off x="685800" y="429768"/>
            <a:ext cx="292608" cy="292608"/>
          </a:xfrm>
          <a:prstGeom prst="rect">
            <a:avLst/>
          </a:prstGeom>
        </p:spPr>
      </p:pic>
      <p:sp>
        <p:nvSpPr>
          <p:cNvPr id="4" name="Text 1"/>
          <p:cNvSpPr txBox="1"/>
          <p:nvPr/>
        </p:nvSpPr>
        <p:spPr>
          <a:xfrm>
            <a:off x="1280160" y="274320"/>
            <a:ext cx="4572000" cy="603504"/>
          </a:xfrm>
          <a:prstGeom prst="rect">
            <a:avLst/>
          </a:prstGeom>
          <a:noFill/>
          <a:ln/>
        </p:spPr>
        <p:txBody>
          <a:bodyPr wrap="square" lIns="0" tIns="0" rIns="0" bIns="0" rtlCol="0" anchor="ctr"/>
          <a:lstStyle/>
          <a:p>
            <a:pPr indent="0" marL="0">
              <a:buNone/>
            </a:pPr>
            <a:r>
              <a:rPr lang="en-US" sz="1400" b="1" spc="300" kern="0" dirty="0">
                <a:solidFill>
                  <a:srgbClr val="FFC83D"/>
                </a:solidFill>
              </a:rPr>
              <a:t>ROUND 4 OF 6</a:t>
            </a:r>
            <a:endParaRPr lang="en-US" sz="1400" dirty="0"/>
          </a:p>
          <a:p>
            <a:pPr indent="0" marL="0">
              <a:buNone/>
            </a:pPr>
            <a:r>
              <a:rPr lang="en-US" sz="1200" dirty="0">
                <a:solidFill>
                  <a:srgbClr val="A89FD0"/>
                </a:solidFill>
              </a:rPr>
              <a:t>Hosted by Roll 33</a:t>
            </a:r>
            <a:endParaRPr lang="en-US" sz="1400" dirty="0"/>
          </a:p>
        </p:txBody>
      </p:sp>
      <p:sp>
        <p:nvSpPr>
          <p:cNvPr id="5" name="Text 2"/>
          <p:cNvSpPr txBox="1"/>
          <p:nvPr/>
        </p:nvSpPr>
        <p:spPr>
          <a:xfrm>
            <a:off x="9265615" y="365760"/>
            <a:ext cx="2377440" cy="420624"/>
          </a:xfrm>
          <a:prstGeom prst="roundRect">
            <a:avLst>
              <a:gd name="adj" fmla="val 50000"/>
            </a:avLst>
          </a:prstGeom>
          <a:solidFill>
            <a:srgbClr val="FFC83D"/>
          </a:solidFill>
          <a:ln/>
        </p:spPr>
        <p:txBody>
          <a:bodyPr wrap="square" lIns="0" tIns="0" rIns="0" bIns="0" rtlCol="0" anchor="ctr"/>
          <a:lstStyle/>
          <a:p>
            <a:pPr algn="ctr" indent="0" marL="0">
              <a:buNone/>
            </a:pPr>
            <a:r>
              <a:rPr lang="en-US" sz="1500" b="1" spc="200" kern="0" dirty="0">
                <a:solidFill>
                  <a:srgbClr val="140B33"/>
                </a:solidFill>
              </a:rPr>
              <a:t>500 POINTS</a:t>
            </a:r>
            <a:endParaRPr lang="en-US" sz="1500" dirty="0"/>
          </a:p>
        </p:txBody>
      </p:sp>
      <p:sp>
        <p:nvSpPr>
          <p:cNvPr id="6" name="question panel"/>
          <p:cNvSpPr/>
          <p:nvPr/>
        </p:nvSpPr>
        <p:spPr>
          <a:xfrm>
            <a:off x="914400" y="1280160"/>
            <a:ext cx="10362895" cy="1600200"/>
          </a:xfrm>
          <a:prstGeom prst="roundRect">
            <a:avLst>
              <a:gd name="adj" fmla="val 14286"/>
            </a:avLst>
          </a:prstGeom>
          <a:solidFill>
            <a:srgbClr val="1E1548"/>
          </a:solidFill>
          <a:ln w="25400">
            <a:solidFill>
              <a:srgbClr val="FFC83D"/>
            </a:solidFill>
            <a:prstDash val="solid"/>
          </a:ln>
        </p:spPr>
      </p:sp>
      <p:sp>
        <p:nvSpPr>
          <p:cNvPr id="7" name="Text 4"/>
          <p:cNvSpPr txBox="1"/>
          <p:nvPr/>
        </p:nvSpPr>
        <p:spPr>
          <a:xfrm>
            <a:off x="1280160" y="1280160"/>
            <a:ext cx="9631375" cy="1600200"/>
          </a:xfrm>
          <a:prstGeom prst="rect">
            <a:avLst/>
          </a:prstGeom>
          <a:noFill/>
          <a:ln/>
        </p:spPr>
        <p:txBody>
          <a:bodyPr wrap="square" lIns="0" tIns="0" rIns="0" bIns="0" rtlCol="0" anchor="ctr"/>
          <a:lstStyle/>
          <a:p>
            <a:pPr algn="ctr" indent="0" marL="0">
              <a:buNone/>
            </a:pPr>
            <a:r>
              <a:rPr lang="en-US" sz="2600" b="1" dirty="0">
                <a:solidFill>
                  <a:schemeClr val="bg1"/>
                </a:solidFill>
              </a:rPr>
              <a:t>Klitgaard’s famous formula says Corruption = M + D − A. What do M, D and A stand for?</a:t>
            </a:r>
            <a:endParaRPr lang="en-US" sz="2600" dirty="0"/>
          </a:p>
        </p:txBody>
      </p:sp>
      <p:sp>
        <p:nvSpPr>
          <p:cNvPr id="8" name="option A"/>
          <p:cNvSpPr/>
          <p:nvPr/>
        </p:nvSpPr>
        <p:spPr>
          <a:xfrm>
            <a:off x="548640" y="3246120"/>
            <a:ext cx="5364328" cy="822960"/>
          </a:xfrm>
          <a:prstGeom prst="roundRect">
            <a:avLst>
              <a:gd name="adj" fmla="val 50000"/>
            </a:avLst>
          </a:prstGeom>
          <a:solidFill>
            <a:srgbClr val="241A52"/>
          </a:solidFill>
          <a:ln w="25400">
            <a:solidFill>
              <a:srgbClr val="5B4BC4"/>
            </a:solidFill>
            <a:prstDash val="solid"/>
          </a:ln>
        </p:spPr>
      </p:sp>
      <p:sp>
        <p:nvSpPr>
          <p:cNvPr id="9" name="letter A"/>
          <p:cNvSpPr/>
          <p:nvPr/>
        </p:nvSpPr>
        <p:spPr>
          <a:xfrm>
            <a:off x="676656" y="3374136"/>
            <a:ext cx="566928" cy="566928"/>
          </a:xfrm>
          <a:prstGeom prst="ellipse">
            <a:avLst/>
          </a:prstGeom>
          <a:solidFill>
            <a:srgbClr val="FFC83D"/>
          </a:solidFill>
          <a:ln/>
        </p:spPr>
      </p:sp>
      <p:sp>
        <p:nvSpPr>
          <p:cNvPr id="10" name="Text 7"/>
          <p:cNvSpPr txBox="1"/>
          <p:nvPr/>
        </p:nvSpPr>
        <p:spPr>
          <a:xfrm>
            <a:off x="676656" y="3374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A</a:t>
            </a:r>
            <a:endParaRPr lang="en-US" sz="2000" dirty="0"/>
          </a:p>
        </p:txBody>
      </p:sp>
      <p:sp>
        <p:nvSpPr>
          <p:cNvPr id="11" name="Text 8"/>
          <p:cNvSpPr txBox="1"/>
          <p:nvPr/>
        </p:nvSpPr>
        <p:spPr>
          <a:xfrm>
            <a:off x="1417320" y="3246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Money + Drugs − Arrests</a:t>
            </a:r>
            <a:endParaRPr lang="en-US" sz="1700" dirty="0"/>
          </a:p>
        </p:txBody>
      </p:sp>
      <p:sp>
        <p:nvSpPr>
          <p:cNvPr id="12" name="option B"/>
          <p:cNvSpPr/>
          <p:nvPr/>
        </p:nvSpPr>
        <p:spPr>
          <a:xfrm>
            <a:off x="6278728" y="3246120"/>
            <a:ext cx="5364328" cy="822960"/>
          </a:xfrm>
          <a:prstGeom prst="roundRect">
            <a:avLst>
              <a:gd name="adj" fmla="val 50000"/>
            </a:avLst>
          </a:prstGeom>
          <a:solidFill>
            <a:srgbClr val="241A52"/>
          </a:solidFill>
          <a:ln w="25400">
            <a:solidFill>
              <a:srgbClr val="5B4BC4"/>
            </a:solidFill>
            <a:prstDash val="solid"/>
          </a:ln>
        </p:spPr>
      </p:sp>
      <p:sp>
        <p:nvSpPr>
          <p:cNvPr id="13" name="letter B"/>
          <p:cNvSpPr/>
          <p:nvPr/>
        </p:nvSpPr>
        <p:spPr>
          <a:xfrm>
            <a:off x="6406744" y="3374136"/>
            <a:ext cx="566928" cy="566928"/>
          </a:xfrm>
          <a:prstGeom prst="ellipse">
            <a:avLst/>
          </a:prstGeom>
          <a:solidFill>
            <a:srgbClr val="FFC83D"/>
          </a:solidFill>
          <a:ln/>
        </p:spPr>
      </p:sp>
      <p:sp>
        <p:nvSpPr>
          <p:cNvPr id="14" name="Text 11"/>
          <p:cNvSpPr txBox="1"/>
          <p:nvPr/>
        </p:nvSpPr>
        <p:spPr>
          <a:xfrm>
            <a:off x="6406744" y="3374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B</a:t>
            </a:r>
            <a:endParaRPr lang="en-US" sz="2000" dirty="0"/>
          </a:p>
        </p:txBody>
      </p:sp>
      <p:sp>
        <p:nvSpPr>
          <p:cNvPr id="15" name="Text 12"/>
          <p:cNvSpPr txBox="1"/>
          <p:nvPr/>
        </p:nvSpPr>
        <p:spPr>
          <a:xfrm>
            <a:off x="7147408" y="3246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Mafia + Deals − Audits</a:t>
            </a:r>
            <a:endParaRPr lang="en-US" sz="1700" dirty="0"/>
          </a:p>
        </p:txBody>
      </p:sp>
      <p:sp>
        <p:nvSpPr>
          <p:cNvPr id="16" name="option C"/>
          <p:cNvSpPr/>
          <p:nvPr/>
        </p:nvSpPr>
        <p:spPr>
          <a:xfrm>
            <a:off x="548640" y="4389120"/>
            <a:ext cx="5364328" cy="822960"/>
          </a:xfrm>
          <a:prstGeom prst="roundRect">
            <a:avLst>
              <a:gd name="adj" fmla="val 50000"/>
            </a:avLst>
          </a:prstGeom>
          <a:solidFill>
            <a:srgbClr val="241A52"/>
          </a:solidFill>
          <a:ln w="25400">
            <a:solidFill>
              <a:srgbClr val="5B4BC4"/>
            </a:solidFill>
            <a:prstDash val="solid"/>
          </a:ln>
        </p:spPr>
      </p:sp>
      <p:sp>
        <p:nvSpPr>
          <p:cNvPr id="17" name="letter C"/>
          <p:cNvSpPr/>
          <p:nvPr/>
        </p:nvSpPr>
        <p:spPr>
          <a:xfrm>
            <a:off x="676656" y="4517136"/>
            <a:ext cx="566928" cy="566928"/>
          </a:xfrm>
          <a:prstGeom prst="ellipse">
            <a:avLst/>
          </a:prstGeom>
          <a:solidFill>
            <a:srgbClr val="FFC83D"/>
          </a:solidFill>
          <a:ln/>
        </p:spPr>
      </p:sp>
      <p:sp>
        <p:nvSpPr>
          <p:cNvPr id="18" name="Text 15"/>
          <p:cNvSpPr txBox="1"/>
          <p:nvPr/>
        </p:nvSpPr>
        <p:spPr>
          <a:xfrm>
            <a:off x="676656" y="4517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C</a:t>
            </a:r>
            <a:endParaRPr lang="en-US" sz="2000" dirty="0"/>
          </a:p>
        </p:txBody>
      </p:sp>
      <p:sp>
        <p:nvSpPr>
          <p:cNvPr id="19" name="Text 16"/>
          <p:cNvSpPr txBox="1"/>
          <p:nvPr/>
        </p:nvSpPr>
        <p:spPr>
          <a:xfrm>
            <a:off x="1417320" y="4389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Monopoly + Discretion − Accountability</a:t>
            </a:r>
            <a:endParaRPr lang="en-US" sz="1700" dirty="0"/>
          </a:p>
        </p:txBody>
      </p:sp>
      <p:sp>
        <p:nvSpPr>
          <p:cNvPr id="20" name="option D"/>
          <p:cNvSpPr/>
          <p:nvPr/>
        </p:nvSpPr>
        <p:spPr>
          <a:xfrm>
            <a:off x="6278728" y="4389120"/>
            <a:ext cx="5364328" cy="822960"/>
          </a:xfrm>
          <a:prstGeom prst="roundRect">
            <a:avLst>
              <a:gd name="adj" fmla="val 50000"/>
            </a:avLst>
          </a:prstGeom>
          <a:solidFill>
            <a:srgbClr val="241A52"/>
          </a:solidFill>
          <a:ln w="25400">
            <a:solidFill>
              <a:srgbClr val="5B4BC4"/>
            </a:solidFill>
            <a:prstDash val="solid"/>
          </a:ln>
        </p:spPr>
      </p:sp>
      <p:sp>
        <p:nvSpPr>
          <p:cNvPr id="21" name="letter D"/>
          <p:cNvSpPr/>
          <p:nvPr/>
        </p:nvSpPr>
        <p:spPr>
          <a:xfrm>
            <a:off x="6406744" y="4517136"/>
            <a:ext cx="566928" cy="566928"/>
          </a:xfrm>
          <a:prstGeom prst="ellipse">
            <a:avLst/>
          </a:prstGeom>
          <a:solidFill>
            <a:srgbClr val="FFC83D"/>
          </a:solidFill>
          <a:ln/>
        </p:spPr>
      </p:sp>
      <p:sp>
        <p:nvSpPr>
          <p:cNvPr id="22" name="Text 19"/>
          <p:cNvSpPr txBox="1"/>
          <p:nvPr/>
        </p:nvSpPr>
        <p:spPr>
          <a:xfrm>
            <a:off x="6406744" y="4517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D</a:t>
            </a:r>
            <a:endParaRPr lang="en-US" sz="2000" dirty="0"/>
          </a:p>
        </p:txBody>
      </p:sp>
      <p:sp>
        <p:nvSpPr>
          <p:cNvPr id="23" name="Text 20"/>
          <p:cNvSpPr txBox="1"/>
          <p:nvPr/>
        </p:nvSpPr>
        <p:spPr>
          <a:xfrm>
            <a:off x="7147408" y="4389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Motive + Desire − Anxiety</a:t>
            </a:r>
            <a:endParaRPr lang="en-US" sz="1700" dirty="0"/>
          </a:p>
        </p:txBody>
      </p:sp>
      <p:pic>
        <p:nvPicPr>
          <p:cNvPr id="24" name="hand" descr="raise hand">    </p:cNvPr>
          <p:cNvPicPr>
            <a:picLocks noChangeAspect="1"/>
          </p:cNvPicPr>
          <p:nvPr/>
        </p:nvPicPr>
        <p:blipFill>
          <a:blip r:embed="rId2"/>
          <a:stretch>
            <a:fillRect/>
          </a:stretch>
        </p:blipFill>
        <p:spPr>
          <a:xfrm>
            <a:off x="4221328" y="5650992"/>
            <a:ext cx="365760" cy="365760"/>
          </a:xfrm>
          <a:prstGeom prst="rect">
            <a:avLst/>
          </a:prstGeom>
        </p:spPr>
      </p:pic>
      <p:sp>
        <p:nvSpPr>
          <p:cNvPr id="25" name="Text 21"/>
          <p:cNvSpPr txBox="1"/>
          <p:nvPr/>
        </p:nvSpPr>
        <p:spPr>
          <a:xfrm>
            <a:off x="4678528" y="5605272"/>
            <a:ext cx="3657600" cy="457200"/>
          </a:xfrm>
          <a:prstGeom prst="rect">
            <a:avLst/>
          </a:prstGeom>
          <a:noFill/>
          <a:ln/>
        </p:spPr>
        <p:txBody>
          <a:bodyPr wrap="square" lIns="0" tIns="0" rIns="0" bIns="0" rtlCol="0" anchor="ctr"/>
          <a:lstStyle/>
          <a:p>
            <a:pPr indent="0" marL="0">
              <a:buNone/>
            </a:pPr>
            <a:r>
              <a:rPr lang="en-US" sz="1800" b="1" dirty="0">
                <a:solidFill>
                  <a:srgbClr val="FFC83D"/>
                </a:solidFill>
              </a:rPr>
              <a:t>Hands up: A, B, C or D?</a:t>
            </a:r>
            <a:endParaRPr lang="en-US" sz="18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7C72B0"/>
                </a:solidFil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round badge"/>
          <p:cNvSpPr/>
          <p:nvPr/>
        </p:nvSpPr>
        <p:spPr>
          <a:xfrm>
            <a:off x="548640" y="292608"/>
            <a:ext cx="566928" cy="566928"/>
          </a:xfrm>
          <a:prstGeom prst="ellipse">
            <a:avLst/>
          </a:prstGeom>
          <a:solidFill>
            <a:srgbClr val="FFC83D"/>
          </a:solidFill>
          <a:ln/>
        </p:spPr>
      </p:sp>
      <p:pic>
        <p:nvPicPr>
          <p:cNvPr id="3" name="round icon" descr="round">    </p:cNvPr>
          <p:cNvPicPr>
            <a:picLocks noChangeAspect="1"/>
          </p:cNvPicPr>
          <p:nvPr/>
        </p:nvPicPr>
        <p:blipFill>
          <a:blip r:embed="rId1"/>
          <a:stretch>
            <a:fillRect/>
          </a:stretch>
        </p:blipFill>
        <p:spPr>
          <a:xfrm>
            <a:off x="685800" y="429768"/>
            <a:ext cx="292608" cy="292608"/>
          </a:xfrm>
          <a:prstGeom prst="rect">
            <a:avLst/>
          </a:prstGeom>
        </p:spPr>
      </p:pic>
      <p:sp>
        <p:nvSpPr>
          <p:cNvPr id="4" name="Text 1"/>
          <p:cNvSpPr txBox="1"/>
          <p:nvPr/>
        </p:nvSpPr>
        <p:spPr>
          <a:xfrm>
            <a:off x="1280160" y="274320"/>
            <a:ext cx="4572000" cy="603504"/>
          </a:xfrm>
          <a:prstGeom prst="rect">
            <a:avLst/>
          </a:prstGeom>
          <a:noFill/>
          <a:ln/>
        </p:spPr>
        <p:txBody>
          <a:bodyPr wrap="square" lIns="0" tIns="0" rIns="0" bIns="0" rtlCol="0" anchor="ctr"/>
          <a:lstStyle/>
          <a:p>
            <a:pPr indent="0" marL="0">
              <a:buNone/>
            </a:pPr>
            <a:r>
              <a:rPr lang="en-US" sz="1400" b="1" spc="300" kern="0" dirty="0">
                <a:solidFill>
                  <a:srgbClr val="FFC83D"/>
                </a:solidFill>
              </a:rPr>
              <a:t>ROUND 4 OF 6</a:t>
            </a:r>
            <a:endParaRPr lang="en-US" sz="1400" dirty="0"/>
          </a:p>
          <a:p>
            <a:pPr indent="0" marL="0">
              <a:buNone/>
            </a:pPr>
            <a:r>
              <a:rPr lang="en-US" sz="1200" dirty="0">
                <a:solidFill>
                  <a:srgbClr val="A89FD0"/>
                </a:solidFill>
              </a:rPr>
              <a:t>Hosted by Roll 33</a:t>
            </a:r>
            <a:endParaRPr lang="en-US" sz="1400" dirty="0"/>
          </a:p>
        </p:txBody>
      </p:sp>
      <p:sp>
        <p:nvSpPr>
          <p:cNvPr id="5" name="Text 2"/>
          <p:cNvSpPr txBox="1"/>
          <p:nvPr/>
        </p:nvSpPr>
        <p:spPr>
          <a:xfrm>
            <a:off x="9265615" y="365760"/>
            <a:ext cx="2377440" cy="420624"/>
          </a:xfrm>
          <a:prstGeom prst="roundRect">
            <a:avLst>
              <a:gd name="adj" fmla="val 50000"/>
            </a:avLst>
          </a:prstGeom>
          <a:solidFill>
            <a:srgbClr val="FFC83D"/>
          </a:solidFill>
          <a:ln/>
        </p:spPr>
        <p:txBody>
          <a:bodyPr wrap="square" lIns="0" tIns="0" rIns="0" bIns="0" rtlCol="0" anchor="ctr"/>
          <a:lstStyle/>
          <a:p>
            <a:pPr algn="ctr" indent="0" marL="0">
              <a:buNone/>
            </a:pPr>
            <a:r>
              <a:rPr lang="en-US" sz="1500" b="1" spc="200" kern="0" dirty="0">
                <a:solidFill>
                  <a:srgbClr val="140B33"/>
                </a:solidFill>
              </a:rPr>
              <a:t>CORRECT ANSWER</a:t>
            </a:r>
            <a:endParaRPr lang="en-US" sz="1500" dirty="0"/>
          </a:p>
        </p:txBody>
      </p:sp>
      <p:sp>
        <p:nvSpPr>
          <p:cNvPr id="6" name="option C"/>
          <p:cNvSpPr/>
          <p:nvPr/>
        </p:nvSpPr>
        <p:spPr>
          <a:xfrm>
            <a:off x="548640" y="1188720"/>
            <a:ext cx="11094415" cy="868680"/>
          </a:xfrm>
          <a:prstGeom prst="roundRect">
            <a:avLst>
              <a:gd name="adj" fmla="val 50000"/>
            </a:avLst>
          </a:prstGeom>
          <a:solidFill>
            <a:srgbClr val="22C55E"/>
          </a:solidFill>
          <a:ln w="25400">
            <a:solidFill>
              <a:srgbClr val="B8F5CD"/>
            </a:solidFill>
            <a:prstDash val="solid"/>
          </a:ln>
        </p:spPr>
      </p:sp>
      <p:sp>
        <p:nvSpPr>
          <p:cNvPr id="7" name="letter C"/>
          <p:cNvSpPr/>
          <p:nvPr/>
        </p:nvSpPr>
        <p:spPr>
          <a:xfrm>
            <a:off x="676656" y="1339596"/>
            <a:ext cx="566928" cy="566928"/>
          </a:xfrm>
          <a:prstGeom prst="ellipse">
            <a:avLst/>
          </a:prstGeom>
          <a:solidFill>
            <a:srgbClr val="FFFFFF"/>
          </a:solidFill>
          <a:ln/>
        </p:spPr>
      </p:sp>
      <p:sp>
        <p:nvSpPr>
          <p:cNvPr id="8" name="Text 5"/>
          <p:cNvSpPr txBox="1"/>
          <p:nvPr/>
        </p:nvSpPr>
        <p:spPr>
          <a:xfrm>
            <a:off x="676656" y="1339596"/>
            <a:ext cx="566928" cy="566928"/>
          </a:xfrm>
          <a:prstGeom prst="rect">
            <a:avLst/>
          </a:prstGeom>
          <a:noFill/>
          <a:ln/>
        </p:spPr>
        <p:txBody>
          <a:bodyPr wrap="square" lIns="0" tIns="0" rIns="0" bIns="0" rtlCol="0" anchor="ctr"/>
          <a:lstStyle/>
          <a:p>
            <a:pPr algn="ctr" indent="0" marL="0">
              <a:buNone/>
            </a:pPr>
            <a:r>
              <a:rPr lang="en-US" sz="2000" b="1" dirty="0">
                <a:solidFill>
                  <a:srgbClr val="22C55E"/>
                </a:solidFill>
              </a:rPr>
              <a:t>C</a:t>
            </a:r>
            <a:endParaRPr lang="en-US" sz="2000" dirty="0"/>
          </a:p>
        </p:txBody>
      </p:sp>
      <p:sp>
        <p:nvSpPr>
          <p:cNvPr id="9" name="Text 6"/>
          <p:cNvSpPr txBox="1"/>
          <p:nvPr/>
        </p:nvSpPr>
        <p:spPr>
          <a:xfrm>
            <a:off x="1417320" y="1188720"/>
            <a:ext cx="9997135" cy="868680"/>
          </a:xfrm>
          <a:prstGeom prst="rect">
            <a:avLst/>
          </a:prstGeom>
          <a:noFill/>
          <a:ln/>
        </p:spPr>
        <p:txBody>
          <a:bodyPr wrap="square" lIns="0" tIns="0" rIns="0" bIns="0" rtlCol="0" anchor="ctr"/>
          <a:lstStyle/>
          <a:p>
            <a:pPr indent="0" marL="0">
              <a:buNone/>
            </a:pPr>
            <a:r>
              <a:rPr lang="en-US" sz="1700" b="1" dirty="0">
                <a:solidFill>
                  <a:schemeClr val="bg1"/>
                </a:solidFill>
              </a:rPr>
              <a:t>Monopoly + Discretion − Accountability (Klitgaard, 1988)</a:t>
            </a:r>
            <a:endParaRPr lang="en-US" sz="1700" dirty="0"/>
          </a:p>
        </p:txBody>
      </p:sp>
      <p:sp>
        <p:nvSpPr>
          <p:cNvPr id="10" name="card 1"/>
          <p:cNvSpPr/>
          <p:nvPr/>
        </p:nvSpPr>
        <p:spPr>
          <a:xfrm>
            <a:off x="548640" y="2331720"/>
            <a:ext cx="5410048" cy="1481328"/>
          </a:xfrm>
          <a:prstGeom prst="roundRect">
            <a:avLst>
              <a:gd name="adj" fmla="val 7407"/>
            </a:avLst>
          </a:prstGeom>
          <a:solidFill>
            <a:srgbClr val="1E1548"/>
          </a:solidFill>
          <a:ln w="15875">
            <a:solidFill>
              <a:srgbClr val="5B4BC4"/>
            </a:solidFill>
            <a:prstDash val="solid"/>
          </a:ln>
        </p:spPr>
      </p:sp>
      <p:sp>
        <p:nvSpPr>
          <p:cNvPr id="11" name="Text 8"/>
          <p:cNvSpPr txBox="1"/>
          <p:nvPr/>
        </p:nvSpPr>
        <p:spPr>
          <a:xfrm>
            <a:off x="777240" y="2441448"/>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FFC83D"/>
                </a:solidFill>
              </a:rPr>
              <a:t>MONOPOLY</a:t>
            </a:r>
            <a:endParaRPr lang="en-US" sz="1500" dirty="0"/>
          </a:p>
          <a:p>
            <a:pPr indent="0" marL="0">
              <a:spcAft>
                <a:spcPts val="300"/>
              </a:spcAft>
              <a:buNone/>
            </a:pPr>
            <a:r>
              <a:rPr lang="en-US" sz="1400" dirty="0">
                <a:solidFill>
                  <a:srgbClr val="DDD6FE"/>
                </a:solidFill>
              </a:rPr>
              <a:t>Henry controls the only access to cheap Balkan ammunition, so everyone in the chain must pay him.</a:t>
            </a:r>
            <a:endParaRPr lang="en-US" sz="1500" dirty="0"/>
          </a:p>
        </p:txBody>
      </p:sp>
      <p:sp>
        <p:nvSpPr>
          <p:cNvPr id="12" name="card 2"/>
          <p:cNvSpPr/>
          <p:nvPr/>
        </p:nvSpPr>
        <p:spPr>
          <a:xfrm>
            <a:off x="6233008" y="2331720"/>
            <a:ext cx="5410048" cy="1481328"/>
          </a:xfrm>
          <a:prstGeom prst="roundRect">
            <a:avLst>
              <a:gd name="adj" fmla="val 7407"/>
            </a:avLst>
          </a:prstGeom>
          <a:solidFill>
            <a:srgbClr val="1E1548"/>
          </a:solidFill>
          <a:ln w="15875">
            <a:solidFill>
              <a:srgbClr val="5B4BC4"/>
            </a:solidFill>
            <a:prstDash val="solid"/>
          </a:ln>
        </p:spPr>
      </p:sp>
      <p:sp>
        <p:nvSpPr>
          <p:cNvPr id="13" name="Text 10"/>
          <p:cNvSpPr txBox="1"/>
          <p:nvPr/>
        </p:nvSpPr>
        <p:spPr>
          <a:xfrm>
            <a:off x="6461608" y="2441448"/>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FFC83D"/>
                </a:solidFill>
              </a:rPr>
              <a:t>DISCRETION</a:t>
            </a:r>
            <a:endParaRPr lang="en-US" sz="1500" dirty="0"/>
          </a:p>
          <a:p>
            <a:pPr indent="0" marL="0">
              <a:spcAft>
                <a:spcPts val="300"/>
              </a:spcAft>
              <a:buNone/>
            </a:pPr>
            <a:r>
              <a:rPr lang="en-US" sz="1400" dirty="0">
                <a:solidFill>
                  <a:srgbClr val="DDD6FE"/>
                </a:solidFill>
              </a:rPr>
              <a:t>Officials, fixers and border agents in Jordan and Albania decide with little scrutiny; middlemen skim profits.</a:t>
            </a:r>
            <a:endParaRPr lang="en-US" sz="1500" dirty="0"/>
          </a:p>
        </p:txBody>
      </p:sp>
      <p:sp>
        <p:nvSpPr>
          <p:cNvPr id="14" name="card 3"/>
          <p:cNvSpPr/>
          <p:nvPr/>
        </p:nvSpPr>
        <p:spPr>
          <a:xfrm>
            <a:off x="548640" y="3995928"/>
            <a:ext cx="5410048" cy="1481328"/>
          </a:xfrm>
          <a:prstGeom prst="roundRect">
            <a:avLst>
              <a:gd name="adj" fmla="val 7407"/>
            </a:avLst>
          </a:prstGeom>
          <a:solidFill>
            <a:srgbClr val="1E1548"/>
          </a:solidFill>
          <a:ln w="15875">
            <a:solidFill>
              <a:srgbClr val="F87171"/>
            </a:solidFill>
            <a:prstDash val="solid"/>
          </a:ln>
        </p:spPr>
      </p:sp>
      <p:sp>
        <p:nvSpPr>
          <p:cNvPr id="15" name="Text 12"/>
          <p:cNvSpPr txBox="1"/>
          <p:nvPr/>
        </p:nvSpPr>
        <p:spPr>
          <a:xfrm>
            <a:off x="777240" y="4105656"/>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F87171"/>
                </a:solidFill>
              </a:rPr>
              <a:t>LOW ACCOUNTABILITY</a:t>
            </a:r>
            <a:endParaRPr lang="en-US" sz="1500" dirty="0"/>
          </a:p>
          <a:p>
            <a:pPr indent="0" marL="0">
              <a:spcAft>
                <a:spcPts val="300"/>
              </a:spcAft>
              <a:buNone/>
            </a:pPr>
            <a:r>
              <a:rPr lang="en-US" sz="1400" dirty="0">
                <a:solidFill>
                  <a:srgbClr val="DDD6FE"/>
                </a:solidFill>
              </a:rPr>
              <a:t>In wartime urgency, a company run by a man in his early twenties passes Pentagon vetting.</a:t>
            </a:r>
            <a:endParaRPr lang="en-US" sz="1500" dirty="0"/>
          </a:p>
        </p:txBody>
      </p:sp>
      <p:sp>
        <p:nvSpPr>
          <p:cNvPr id="16" name="card 4"/>
          <p:cNvSpPr/>
          <p:nvPr/>
        </p:nvSpPr>
        <p:spPr>
          <a:xfrm>
            <a:off x="6233008" y="3995928"/>
            <a:ext cx="5410048" cy="1481328"/>
          </a:xfrm>
          <a:prstGeom prst="roundRect">
            <a:avLst>
              <a:gd name="adj" fmla="val 7407"/>
            </a:avLst>
          </a:prstGeom>
          <a:solidFill>
            <a:srgbClr val="1E1548"/>
          </a:solidFill>
          <a:ln w="15875">
            <a:solidFill>
              <a:srgbClr val="5B4BC4"/>
            </a:solidFill>
            <a:prstDash val="solid"/>
          </a:ln>
        </p:spPr>
      </p:sp>
      <p:sp>
        <p:nvSpPr>
          <p:cNvPr id="17" name="Text 14"/>
          <p:cNvSpPr txBox="1"/>
          <p:nvPr/>
        </p:nvSpPr>
        <p:spPr>
          <a:xfrm>
            <a:off x="6461608" y="4105656"/>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FFC83D"/>
                </a:solidFill>
              </a:rPr>
              <a:t>STATE-CORPORATE CRIME</a:t>
            </a:r>
            <a:endParaRPr lang="en-US" sz="1500" dirty="0"/>
          </a:p>
          <a:p>
            <a:pPr indent="0" marL="0">
              <a:spcAft>
                <a:spcPts val="300"/>
              </a:spcAft>
              <a:buNone/>
            </a:pPr>
            <a:r>
              <a:rPr lang="en-US" sz="1400" dirty="0">
                <a:solidFill>
                  <a:srgbClr val="DDD6FE"/>
                </a:solidFill>
              </a:rPr>
              <a:t>Corruption is the abuse of entrusted power for private gain. Here the harm grew from a policy of outsourcing war to the lowest bidder (Kramer et al., 2002).</a:t>
            </a:r>
            <a:endParaRPr lang="en-US" sz="1500" dirty="0"/>
          </a:p>
        </p:txBody>
      </p:sp>
      <p:sp>
        <p:nvSpPr>
          <p:cNvPr id="18" name="Text 15"/>
          <p:cNvSpPr txBox="1"/>
          <p:nvPr/>
        </p:nvSpPr>
        <p:spPr>
          <a:xfrm>
            <a:off x="548640" y="6108192"/>
            <a:ext cx="11094415" cy="201168"/>
          </a:xfrm>
          <a:prstGeom prst="rect">
            <a:avLst/>
          </a:prstGeom>
          <a:noFill/>
          <a:ln/>
        </p:spPr>
        <p:txBody>
          <a:bodyPr wrap="square" lIns="0" tIns="0" rIns="0" bIns="0" rtlCol="0" anchor="ctr"/>
          <a:lstStyle/>
          <a:p>
            <a:pPr indent="0" marL="0">
              <a:buNone/>
            </a:pPr>
            <a:r>
              <a:rPr lang="en-US" sz="1000" i="1" dirty="0">
                <a:solidFill>
                  <a:srgbClr val="7C72B0"/>
                </a:solidFill>
              </a:rPr>
              <a:t>Sources: Klitgaard (1988); Transparency International (n.d.); Kramer et al. (2002).</a:t>
            </a:r>
            <a:endParaRPr lang="en-US" sz="10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7C72B0"/>
                </a:solidFil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round badge"/>
          <p:cNvSpPr/>
          <p:nvPr/>
        </p:nvSpPr>
        <p:spPr>
          <a:xfrm>
            <a:off x="548640" y="292608"/>
            <a:ext cx="566928" cy="566928"/>
          </a:xfrm>
          <a:prstGeom prst="ellipse">
            <a:avLst/>
          </a:prstGeom>
          <a:solidFill>
            <a:srgbClr val="FFC83D"/>
          </a:solidFill>
          <a:ln/>
        </p:spPr>
      </p:sp>
      <p:pic>
        <p:nvPicPr>
          <p:cNvPr id="3" name="round icon" descr="round">    </p:cNvPr>
          <p:cNvPicPr>
            <a:picLocks noChangeAspect="1"/>
          </p:cNvPicPr>
          <p:nvPr/>
        </p:nvPicPr>
        <p:blipFill>
          <a:blip r:embed="rId1"/>
          <a:stretch>
            <a:fillRect/>
          </a:stretch>
        </p:blipFill>
        <p:spPr>
          <a:xfrm>
            <a:off x="685800" y="429768"/>
            <a:ext cx="292608" cy="292608"/>
          </a:xfrm>
          <a:prstGeom prst="rect">
            <a:avLst/>
          </a:prstGeom>
        </p:spPr>
      </p:pic>
      <p:sp>
        <p:nvSpPr>
          <p:cNvPr id="4" name="Text 1"/>
          <p:cNvSpPr txBox="1"/>
          <p:nvPr/>
        </p:nvSpPr>
        <p:spPr>
          <a:xfrm>
            <a:off x="1280160" y="274320"/>
            <a:ext cx="4572000" cy="603504"/>
          </a:xfrm>
          <a:prstGeom prst="rect">
            <a:avLst/>
          </a:prstGeom>
          <a:noFill/>
          <a:ln/>
        </p:spPr>
        <p:txBody>
          <a:bodyPr wrap="square" lIns="0" tIns="0" rIns="0" bIns="0" rtlCol="0" anchor="ctr"/>
          <a:lstStyle/>
          <a:p>
            <a:pPr indent="0" marL="0">
              <a:buNone/>
            </a:pPr>
            <a:r>
              <a:rPr lang="en-US" sz="1400" b="1" spc="300" kern="0" dirty="0">
                <a:solidFill>
                  <a:srgbClr val="FFC83D"/>
                </a:solidFill>
              </a:rPr>
              <a:t>ROUND 5 OF 6</a:t>
            </a:r>
            <a:endParaRPr lang="en-US" sz="1400" dirty="0"/>
          </a:p>
          <a:p>
            <a:pPr indent="0" marL="0">
              <a:buNone/>
            </a:pPr>
            <a:r>
              <a:rPr lang="en-US" sz="1200" dirty="0">
                <a:solidFill>
                  <a:srgbClr val="A89FD0"/>
                </a:solidFill>
              </a:rPr>
              <a:t>Hosted by Roll 24</a:t>
            </a:r>
            <a:endParaRPr lang="en-US" sz="1400" dirty="0"/>
          </a:p>
        </p:txBody>
      </p:sp>
      <p:sp>
        <p:nvSpPr>
          <p:cNvPr id="5" name="Text 2"/>
          <p:cNvSpPr txBox="1"/>
          <p:nvPr/>
        </p:nvSpPr>
        <p:spPr>
          <a:xfrm>
            <a:off x="9265615" y="365760"/>
            <a:ext cx="2377440" cy="420624"/>
          </a:xfrm>
          <a:prstGeom prst="roundRect">
            <a:avLst>
              <a:gd name="adj" fmla="val 50000"/>
            </a:avLst>
          </a:prstGeom>
          <a:solidFill>
            <a:srgbClr val="FFC83D"/>
          </a:solidFill>
          <a:ln/>
        </p:spPr>
        <p:txBody>
          <a:bodyPr wrap="square" lIns="0" tIns="0" rIns="0" bIns="0" rtlCol="0" anchor="ctr"/>
          <a:lstStyle/>
          <a:p>
            <a:pPr algn="ctr" indent="0" marL="0">
              <a:buNone/>
            </a:pPr>
            <a:r>
              <a:rPr lang="en-US" sz="1500" b="1" spc="200" kern="0" dirty="0">
                <a:solidFill>
                  <a:srgbClr val="140B33"/>
                </a:solidFill>
              </a:rPr>
              <a:t>1,000 POINTS</a:t>
            </a:r>
            <a:endParaRPr lang="en-US" sz="1500" dirty="0"/>
          </a:p>
        </p:txBody>
      </p:sp>
      <p:sp>
        <p:nvSpPr>
          <p:cNvPr id="6" name="question panel"/>
          <p:cNvSpPr/>
          <p:nvPr/>
        </p:nvSpPr>
        <p:spPr>
          <a:xfrm>
            <a:off x="914400" y="1280160"/>
            <a:ext cx="10362895" cy="1600200"/>
          </a:xfrm>
          <a:prstGeom prst="roundRect">
            <a:avLst>
              <a:gd name="adj" fmla="val 14286"/>
            </a:avLst>
          </a:prstGeom>
          <a:solidFill>
            <a:srgbClr val="1E1548"/>
          </a:solidFill>
          <a:ln w="25400">
            <a:solidFill>
              <a:srgbClr val="FFC83D"/>
            </a:solidFill>
            <a:prstDash val="solid"/>
          </a:ln>
        </p:spPr>
      </p:sp>
      <p:sp>
        <p:nvSpPr>
          <p:cNvPr id="7" name="Text 4"/>
          <p:cNvSpPr txBox="1"/>
          <p:nvPr/>
        </p:nvSpPr>
        <p:spPr>
          <a:xfrm>
            <a:off x="1280160" y="1280160"/>
            <a:ext cx="9631375" cy="1600200"/>
          </a:xfrm>
          <a:prstGeom prst="rect">
            <a:avLst/>
          </a:prstGeom>
          <a:noFill/>
          <a:ln/>
        </p:spPr>
        <p:txBody>
          <a:bodyPr wrap="square" lIns="0" tIns="0" rIns="0" bIns="0" rtlCol="0" anchor="ctr"/>
          <a:lstStyle/>
          <a:p>
            <a:pPr algn="ctr" indent="0" marL="0">
              <a:buNone/>
            </a:pPr>
            <a:r>
              <a:rPr lang="en-US" sz="2600" b="1" dirty="0">
                <a:solidFill>
                  <a:schemeClr val="bg1"/>
                </a:solidFill>
              </a:rPr>
              <a:t>“The troops still get bullets that work. Who is harmed?” This excuse is an example of which technique of neutralization?</a:t>
            </a:r>
            <a:endParaRPr lang="en-US" sz="2600" dirty="0"/>
          </a:p>
        </p:txBody>
      </p:sp>
      <p:sp>
        <p:nvSpPr>
          <p:cNvPr id="8" name="option A"/>
          <p:cNvSpPr/>
          <p:nvPr/>
        </p:nvSpPr>
        <p:spPr>
          <a:xfrm>
            <a:off x="548640" y="3246120"/>
            <a:ext cx="5364328" cy="822960"/>
          </a:xfrm>
          <a:prstGeom prst="roundRect">
            <a:avLst>
              <a:gd name="adj" fmla="val 50000"/>
            </a:avLst>
          </a:prstGeom>
          <a:solidFill>
            <a:srgbClr val="241A52"/>
          </a:solidFill>
          <a:ln w="25400">
            <a:solidFill>
              <a:srgbClr val="5B4BC4"/>
            </a:solidFill>
            <a:prstDash val="solid"/>
          </a:ln>
        </p:spPr>
      </p:sp>
      <p:sp>
        <p:nvSpPr>
          <p:cNvPr id="9" name="letter A"/>
          <p:cNvSpPr/>
          <p:nvPr/>
        </p:nvSpPr>
        <p:spPr>
          <a:xfrm>
            <a:off x="676656" y="3374136"/>
            <a:ext cx="566928" cy="566928"/>
          </a:xfrm>
          <a:prstGeom prst="ellipse">
            <a:avLst/>
          </a:prstGeom>
          <a:solidFill>
            <a:srgbClr val="FFC83D"/>
          </a:solidFill>
          <a:ln/>
        </p:spPr>
      </p:sp>
      <p:sp>
        <p:nvSpPr>
          <p:cNvPr id="10" name="Text 7"/>
          <p:cNvSpPr txBox="1"/>
          <p:nvPr/>
        </p:nvSpPr>
        <p:spPr>
          <a:xfrm>
            <a:off x="676656" y="3374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A</a:t>
            </a:r>
            <a:endParaRPr lang="en-US" sz="2000" dirty="0"/>
          </a:p>
        </p:txBody>
      </p:sp>
      <p:sp>
        <p:nvSpPr>
          <p:cNvPr id="11" name="Text 8"/>
          <p:cNvSpPr txBox="1"/>
          <p:nvPr/>
        </p:nvSpPr>
        <p:spPr>
          <a:xfrm>
            <a:off x="1417320" y="3246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Denial of injury</a:t>
            </a:r>
            <a:endParaRPr lang="en-US" sz="1700" dirty="0"/>
          </a:p>
        </p:txBody>
      </p:sp>
      <p:sp>
        <p:nvSpPr>
          <p:cNvPr id="12" name="option B"/>
          <p:cNvSpPr/>
          <p:nvPr/>
        </p:nvSpPr>
        <p:spPr>
          <a:xfrm>
            <a:off x="6278728" y="3246120"/>
            <a:ext cx="5364328" cy="822960"/>
          </a:xfrm>
          <a:prstGeom prst="roundRect">
            <a:avLst>
              <a:gd name="adj" fmla="val 50000"/>
            </a:avLst>
          </a:prstGeom>
          <a:solidFill>
            <a:srgbClr val="241A52"/>
          </a:solidFill>
          <a:ln w="25400">
            <a:solidFill>
              <a:srgbClr val="5B4BC4"/>
            </a:solidFill>
            <a:prstDash val="solid"/>
          </a:ln>
        </p:spPr>
      </p:sp>
      <p:sp>
        <p:nvSpPr>
          <p:cNvPr id="13" name="letter B"/>
          <p:cNvSpPr/>
          <p:nvPr/>
        </p:nvSpPr>
        <p:spPr>
          <a:xfrm>
            <a:off x="6406744" y="3374136"/>
            <a:ext cx="566928" cy="566928"/>
          </a:xfrm>
          <a:prstGeom prst="ellipse">
            <a:avLst/>
          </a:prstGeom>
          <a:solidFill>
            <a:srgbClr val="FFC83D"/>
          </a:solidFill>
          <a:ln/>
        </p:spPr>
      </p:sp>
      <p:sp>
        <p:nvSpPr>
          <p:cNvPr id="14" name="Text 11"/>
          <p:cNvSpPr txBox="1"/>
          <p:nvPr/>
        </p:nvSpPr>
        <p:spPr>
          <a:xfrm>
            <a:off x="6406744" y="3374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B</a:t>
            </a:r>
            <a:endParaRPr lang="en-US" sz="2000" dirty="0"/>
          </a:p>
        </p:txBody>
      </p:sp>
      <p:sp>
        <p:nvSpPr>
          <p:cNvPr id="15" name="Text 12"/>
          <p:cNvSpPr txBox="1"/>
          <p:nvPr/>
        </p:nvSpPr>
        <p:spPr>
          <a:xfrm>
            <a:off x="7147408" y="3246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Denial of the victim</a:t>
            </a:r>
            <a:endParaRPr lang="en-US" sz="1700" dirty="0"/>
          </a:p>
        </p:txBody>
      </p:sp>
      <p:sp>
        <p:nvSpPr>
          <p:cNvPr id="16" name="option C"/>
          <p:cNvSpPr/>
          <p:nvPr/>
        </p:nvSpPr>
        <p:spPr>
          <a:xfrm>
            <a:off x="548640" y="4389120"/>
            <a:ext cx="5364328" cy="822960"/>
          </a:xfrm>
          <a:prstGeom prst="roundRect">
            <a:avLst>
              <a:gd name="adj" fmla="val 50000"/>
            </a:avLst>
          </a:prstGeom>
          <a:solidFill>
            <a:srgbClr val="241A52"/>
          </a:solidFill>
          <a:ln w="25400">
            <a:solidFill>
              <a:srgbClr val="5B4BC4"/>
            </a:solidFill>
            <a:prstDash val="solid"/>
          </a:ln>
        </p:spPr>
      </p:sp>
      <p:sp>
        <p:nvSpPr>
          <p:cNvPr id="17" name="letter C"/>
          <p:cNvSpPr/>
          <p:nvPr/>
        </p:nvSpPr>
        <p:spPr>
          <a:xfrm>
            <a:off x="676656" y="4517136"/>
            <a:ext cx="566928" cy="566928"/>
          </a:xfrm>
          <a:prstGeom prst="ellipse">
            <a:avLst/>
          </a:prstGeom>
          <a:solidFill>
            <a:srgbClr val="FFC83D"/>
          </a:solidFill>
          <a:ln/>
        </p:spPr>
      </p:sp>
      <p:sp>
        <p:nvSpPr>
          <p:cNvPr id="18" name="Text 15"/>
          <p:cNvSpPr txBox="1"/>
          <p:nvPr/>
        </p:nvSpPr>
        <p:spPr>
          <a:xfrm>
            <a:off x="676656" y="4517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C</a:t>
            </a:r>
            <a:endParaRPr lang="en-US" sz="2000" dirty="0"/>
          </a:p>
        </p:txBody>
      </p:sp>
      <p:sp>
        <p:nvSpPr>
          <p:cNvPr id="19" name="Text 16"/>
          <p:cNvSpPr txBox="1"/>
          <p:nvPr/>
        </p:nvSpPr>
        <p:spPr>
          <a:xfrm>
            <a:off x="1417320" y="4389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Condemnation of the condemners</a:t>
            </a:r>
            <a:endParaRPr lang="en-US" sz="1700" dirty="0"/>
          </a:p>
        </p:txBody>
      </p:sp>
      <p:sp>
        <p:nvSpPr>
          <p:cNvPr id="20" name="option D"/>
          <p:cNvSpPr/>
          <p:nvPr/>
        </p:nvSpPr>
        <p:spPr>
          <a:xfrm>
            <a:off x="6278728" y="4389120"/>
            <a:ext cx="5364328" cy="822960"/>
          </a:xfrm>
          <a:prstGeom prst="roundRect">
            <a:avLst>
              <a:gd name="adj" fmla="val 50000"/>
            </a:avLst>
          </a:prstGeom>
          <a:solidFill>
            <a:srgbClr val="241A52"/>
          </a:solidFill>
          <a:ln w="25400">
            <a:solidFill>
              <a:srgbClr val="5B4BC4"/>
            </a:solidFill>
            <a:prstDash val="solid"/>
          </a:ln>
        </p:spPr>
      </p:sp>
      <p:sp>
        <p:nvSpPr>
          <p:cNvPr id="21" name="letter D"/>
          <p:cNvSpPr/>
          <p:nvPr/>
        </p:nvSpPr>
        <p:spPr>
          <a:xfrm>
            <a:off x="6406744" y="4517136"/>
            <a:ext cx="566928" cy="566928"/>
          </a:xfrm>
          <a:prstGeom prst="ellipse">
            <a:avLst/>
          </a:prstGeom>
          <a:solidFill>
            <a:srgbClr val="FFC83D"/>
          </a:solidFill>
          <a:ln/>
        </p:spPr>
      </p:sp>
      <p:sp>
        <p:nvSpPr>
          <p:cNvPr id="22" name="Text 19"/>
          <p:cNvSpPr txBox="1"/>
          <p:nvPr/>
        </p:nvSpPr>
        <p:spPr>
          <a:xfrm>
            <a:off x="6406744" y="4517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D</a:t>
            </a:r>
            <a:endParaRPr lang="en-US" sz="2000" dirty="0"/>
          </a:p>
        </p:txBody>
      </p:sp>
      <p:sp>
        <p:nvSpPr>
          <p:cNvPr id="23" name="Text 20"/>
          <p:cNvSpPr txBox="1"/>
          <p:nvPr/>
        </p:nvSpPr>
        <p:spPr>
          <a:xfrm>
            <a:off x="7147408" y="4389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Appeal to higher loyalties</a:t>
            </a:r>
            <a:endParaRPr lang="en-US" sz="1700" dirty="0"/>
          </a:p>
        </p:txBody>
      </p:sp>
      <p:pic>
        <p:nvPicPr>
          <p:cNvPr id="24" name="hand" descr="raise hand">    </p:cNvPr>
          <p:cNvPicPr>
            <a:picLocks noChangeAspect="1"/>
          </p:cNvPicPr>
          <p:nvPr/>
        </p:nvPicPr>
        <p:blipFill>
          <a:blip r:embed="rId2"/>
          <a:stretch>
            <a:fillRect/>
          </a:stretch>
        </p:blipFill>
        <p:spPr>
          <a:xfrm>
            <a:off x="4221328" y="5650992"/>
            <a:ext cx="365760" cy="365760"/>
          </a:xfrm>
          <a:prstGeom prst="rect">
            <a:avLst/>
          </a:prstGeom>
        </p:spPr>
      </p:pic>
      <p:sp>
        <p:nvSpPr>
          <p:cNvPr id="25" name="Text 21"/>
          <p:cNvSpPr txBox="1"/>
          <p:nvPr/>
        </p:nvSpPr>
        <p:spPr>
          <a:xfrm>
            <a:off x="4678528" y="5605272"/>
            <a:ext cx="3657600" cy="457200"/>
          </a:xfrm>
          <a:prstGeom prst="rect">
            <a:avLst/>
          </a:prstGeom>
          <a:noFill/>
          <a:ln/>
        </p:spPr>
        <p:txBody>
          <a:bodyPr wrap="square" lIns="0" tIns="0" rIns="0" bIns="0" rtlCol="0" anchor="ctr"/>
          <a:lstStyle/>
          <a:p>
            <a:pPr indent="0" marL="0">
              <a:buNone/>
            </a:pPr>
            <a:r>
              <a:rPr lang="en-US" sz="1800" b="1" dirty="0">
                <a:solidFill>
                  <a:srgbClr val="FFC83D"/>
                </a:solidFill>
              </a:rPr>
              <a:t>Hands up: A, B, C or D?</a:t>
            </a:r>
            <a:endParaRPr lang="en-US" sz="18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7C72B0"/>
                </a:solidFil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round badge"/>
          <p:cNvSpPr/>
          <p:nvPr/>
        </p:nvSpPr>
        <p:spPr>
          <a:xfrm>
            <a:off x="548640" y="292608"/>
            <a:ext cx="566928" cy="566928"/>
          </a:xfrm>
          <a:prstGeom prst="ellipse">
            <a:avLst/>
          </a:prstGeom>
          <a:solidFill>
            <a:srgbClr val="FFC83D"/>
          </a:solidFill>
          <a:ln/>
        </p:spPr>
      </p:sp>
      <p:pic>
        <p:nvPicPr>
          <p:cNvPr id="3" name="round icon" descr="round">    </p:cNvPr>
          <p:cNvPicPr>
            <a:picLocks noChangeAspect="1"/>
          </p:cNvPicPr>
          <p:nvPr/>
        </p:nvPicPr>
        <p:blipFill>
          <a:blip r:embed="rId1"/>
          <a:stretch>
            <a:fillRect/>
          </a:stretch>
        </p:blipFill>
        <p:spPr>
          <a:xfrm>
            <a:off x="685800" y="429768"/>
            <a:ext cx="292608" cy="292608"/>
          </a:xfrm>
          <a:prstGeom prst="rect">
            <a:avLst/>
          </a:prstGeom>
        </p:spPr>
      </p:pic>
      <p:sp>
        <p:nvSpPr>
          <p:cNvPr id="4" name="Text 1"/>
          <p:cNvSpPr txBox="1"/>
          <p:nvPr/>
        </p:nvSpPr>
        <p:spPr>
          <a:xfrm>
            <a:off x="1280160" y="274320"/>
            <a:ext cx="4572000" cy="603504"/>
          </a:xfrm>
          <a:prstGeom prst="rect">
            <a:avLst/>
          </a:prstGeom>
          <a:noFill/>
          <a:ln/>
        </p:spPr>
        <p:txBody>
          <a:bodyPr wrap="square" lIns="0" tIns="0" rIns="0" bIns="0" rtlCol="0" anchor="ctr"/>
          <a:lstStyle/>
          <a:p>
            <a:pPr indent="0" marL="0">
              <a:buNone/>
            </a:pPr>
            <a:r>
              <a:rPr lang="en-US" sz="1400" b="1" spc="300" kern="0" dirty="0">
                <a:solidFill>
                  <a:srgbClr val="FFC83D"/>
                </a:solidFill>
              </a:rPr>
              <a:t>ROUND 5 OF 6</a:t>
            </a:r>
            <a:endParaRPr lang="en-US" sz="1400" dirty="0"/>
          </a:p>
          <a:p>
            <a:pPr indent="0" marL="0">
              <a:buNone/>
            </a:pPr>
            <a:r>
              <a:rPr lang="en-US" sz="1200" dirty="0">
                <a:solidFill>
                  <a:srgbClr val="A89FD0"/>
                </a:solidFill>
              </a:rPr>
              <a:t>Hosted by Roll 24</a:t>
            </a:r>
            <a:endParaRPr lang="en-US" sz="1400" dirty="0"/>
          </a:p>
        </p:txBody>
      </p:sp>
      <p:sp>
        <p:nvSpPr>
          <p:cNvPr id="5" name="Text 2"/>
          <p:cNvSpPr txBox="1"/>
          <p:nvPr/>
        </p:nvSpPr>
        <p:spPr>
          <a:xfrm>
            <a:off x="9265615" y="365760"/>
            <a:ext cx="2377440" cy="420624"/>
          </a:xfrm>
          <a:prstGeom prst="roundRect">
            <a:avLst>
              <a:gd name="adj" fmla="val 50000"/>
            </a:avLst>
          </a:prstGeom>
          <a:solidFill>
            <a:srgbClr val="FFC83D"/>
          </a:solidFill>
          <a:ln/>
        </p:spPr>
        <p:txBody>
          <a:bodyPr wrap="square" lIns="0" tIns="0" rIns="0" bIns="0" rtlCol="0" anchor="ctr"/>
          <a:lstStyle/>
          <a:p>
            <a:pPr algn="ctr" indent="0" marL="0">
              <a:buNone/>
            </a:pPr>
            <a:r>
              <a:rPr lang="en-US" sz="1500" b="1" spc="200" kern="0" dirty="0">
                <a:solidFill>
                  <a:srgbClr val="140B33"/>
                </a:solidFill>
              </a:rPr>
              <a:t>CORRECT ANSWER</a:t>
            </a:r>
            <a:endParaRPr lang="en-US" sz="1500" dirty="0"/>
          </a:p>
        </p:txBody>
      </p:sp>
      <p:sp>
        <p:nvSpPr>
          <p:cNvPr id="6" name="option A"/>
          <p:cNvSpPr/>
          <p:nvPr/>
        </p:nvSpPr>
        <p:spPr>
          <a:xfrm>
            <a:off x="548640" y="1188720"/>
            <a:ext cx="11094415" cy="868680"/>
          </a:xfrm>
          <a:prstGeom prst="roundRect">
            <a:avLst>
              <a:gd name="adj" fmla="val 50000"/>
            </a:avLst>
          </a:prstGeom>
          <a:solidFill>
            <a:srgbClr val="22C55E"/>
          </a:solidFill>
          <a:ln w="25400">
            <a:solidFill>
              <a:srgbClr val="B8F5CD"/>
            </a:solidFill>
            <a:prstDash val="solid"/>
          </a:ln>
        </p:spPr>
      </p:sp>
      <p:sp>
        <p:nvSpPr>
          <p:cNvPr id="7" name="letter A"/>
          <p:cNvSpPr/>
          <p:nvPr/>
        </p:nvSpPr>
        <p:spPr>
          <a:xfrm>
            <a:off x="676656" y="1339596"/>
            <a:ext cx="566928" cy="566928"/>
          </a:xfrm>
          <a:prstGeom prst="ellipse">
            <a:avLst/>
          </a:prstGeom>
          <a:solidFill>
            <a:srgbClr val="FFFFFF"/>
          </a:solidFill>
          <a:ln/>
        </p:spPr>
      </p:sp>
      <p:sp>
        <p:nvSpPr>
          <p:cNvPr id="8" name="Text 5"/>
          <p:cNvSpPr txBox="1"/>
          <p:nvPr/>
        </p:nvSpPr>
        <p:spPr>
          <a:xfrm>
            <a:off x="676656" y="1339596"/>
            <a:ext cx="566928" cy="566928"/>
          </a:xfrm>
          <a:prstGeom prst="rect">
            <a:avLst/>
          </a:prstGeom>
          <a:noFill/>
          <a:ln/>
        </p:spPr>
        <p:txBody>
          <a:bodyPr wrap="square" lIns="0" tIns="0" rIns="0" bIns="0" rtlCol="0" anchor="ctr"/>
          <a:lstStyle/>
          <a:p>
            <a:pPr algn="ctr" indent="0" marL="0">
              <a:buNone/>
            </a:pPr>
            <a:r>
              <a:rPr lang="en-US" sz="2000" b="1" dirty="0">
                <a:solidFill>
                  <a:srgbClr val="22C55E"/>
                </a:solidFill>
              </a:rPr>
              <a:t>A</a:t>
            </a:r>
            <a:endParaRPr lang="en-US" sz="2000" dirty="0"/>
          </a:p>
        </p:txBody>
      </p:sp>
      <p:sp>
        <p:nvSpPr>
          <p:cNvPr id="9" name="Text 6"/>
          <p:cNvSpPr txBox="1"/>
          <p:nvPr/>
        </p:nvSpPr>
        <p:spPr>
          <a:xfrm>
            <a:off x="1417320" y="1188720"/>
            <a:ext cx="9997135" cy="868680"/>
          </a:xfrm>
          <a:prstGeom prst="rect">
            <a:avLst/>
          </a:prstGeom>
          <a:noFill/>
          <a:ln/>
        </p:spPr>
        <p:txBody>
          <a:bodyPr wrap="square" lIns="0" tIns="0" rIns="0" bIns="0" rtlCol="0" anchor="ctr"/>
          <a:lstStyle/>
          <a:p>
            <a:pPr indent="0" marL="0">
              <a:buNone/>
            </a:pPr>
            <a:r>
              <a:rPr lang="en-US" sz="1700" b="1" dirty="0">
                <a:solidFill>
                  <a:schemeClr val="bg1"/>
                </a:solidFill>
              </a:rPr>
              <a:t>Denial of injury: “no one is really hurt” (Sykes &amp; Matza, 1957)</a:t>
            </a:r>
            <a:endParaRPr lang="en-US" sz="1700" dirty="0"/>
          </a:p>
        </p:txBody>
      </p:sp>
      <p:sp>
        <p:nvSpPr>
          <p:cNvPr id="10" name="card 1"/>
          <p:cNvSpPr/>
          <p:nvPr/>
        </p:nvSpPr>
        <p:spPr>
          <a:xfrm>
            <a:off x="548640" y="2331720"/>
            <a:ext cx="5410048" cy="1481328"/>
          </a:xfrm>
          <a:prstGeom prst="roundRect">
            <a:avLst>
              <a:gd name="adj" fmla="val 7407"/>
            </a:avLst>
          </a:prstGeom>
          <a:solidFill>
            <a:srgbClr val="1E1548"/>
          </a:solidFill>
          <a:ln w="15875">
            <a:solidFill>
              <a:srgbClr val="5B4BC4"/>
            </a:solidFill>
            <a:prstDash val="solid"/>
          </a:ln>
        </p:spPr>
      </p:sp>
      <p:sp>
        <p:nvSpPr>
          <p:cNvPr id="11" name="Text 8"/>
          <p:cNvSpPr txBox="1"/>
          <p:nvPr/>
        </p:nvSpPr>
        <p:spPr>
          <a:xfrm>
            <a:off x="777240" y="2441448"/>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FFC83D"/>
                </a:solidFill>
              </a:rPr>
              <a:t>NEUTRALIZATION · SYKES &amp; MATZA (1957)</a:t>
            </a:r>
            <a:endParaRPr lang="en-US" sz="1500" dirty="0"/>
          </a:p>
          <a:p>
            <a:pPr indent="0" marL="0">
              <a:spcAft>
                <a:spcPts val="300"/>
              </a:spcAft>
              <a:buNone/>
            </a:pPr>
            <a:r>
              <a:rPr lang="en-US" sz="1400" dirty="0">
                <a:solidFill>
                  <a:srgbClr val="DDD6FE"/>
                </a:solidFill>
              </a:rPr>
              <a:t>Offenders know the rules but switch them off: denial of injury, “the government does it too”, “I did it for my family”.</a:t>
            </a:r>
            <a:endParaRPr lang="en-US" sz="1500" dirty="0"/>
          </a:p>
        </p:txBody>
      </p:sp>
      <p:sp>
        <p:nvSpPr>
          <p:cNvPr id="12" name="card 2"/>
          <p:cNvSpPr/>
          <p:nvPr/>
        </p:nvSpPr>
        <p:spPr>
          <a:xfrm>
            <a:off x="6233008" y="2331720"/>
            <a:ext cx="5410048" cy="1481328"/>
          </a:xfrm>
          <a:prstGeom prst="roundRect">
            <a:avLst>
              <a:gd name="adj" fmla="val 7407"/>
            </a:avLst>
          </a:prstGeom>
          <a:solidFill>
            <a:srgbClr val="1E1548"/>
          </a:solidFill>
          <a:ln w="15875">
            <a:solidFill>
              <a:srgbClr val="5B4BC4"/>
            </a:solidFill>
            <a:prstDash val="solid"/>
          </a:ln>
        </p:spPr>
      </p:sp>
      <p:sp>
        <p:nvSpPr>
          <p:cNvPr id="13" name="Text 10"/>
          <p:cNvSpPr txBox="1"/>
          <p:nvPr/>
        </p:nvSpPr>
        <p:spPr>
          <a:xfrm>
            <a:off x="6461608" y="2441448"/>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FFC83D"/>
                </a:solidFill>
              </a:rPr>
              <a:t>STRAIN / ANOMIE · MERTON (1938)</a:t>
            </a:r>
            <a:endParaRPr lang="en-US" sz="1500" dirty="0"/>
          </a:p>
          <a:p>
            <a:pPr indent="0" marL="0">
              <a:spcAft>
                <a:spcPts val="300"/>
              </a:spcAft>
              <a:buNone/>
            </a:pPr>
            <a:r>
              <a:rPr lang="en-US" sz="1400" dirty="0">
                <a:solidFill>
                  <a:srgbClr val="DDD6FE"/>
                </a:solidFill>
              </a:rPr>
              <a:t>Broke, with a baby coming, David “innovates”: legitimate goal of wealth, illegitimate means. Money overrides family (Messner &amp; Rosenfeld, 1994).</a:t>
            </a:r>
            <a:endParaRPr lang="en-US" sz="1500" dirty="0"/>
          </a:p>
        </p:txBody>
      </p:sp>
      <p:sp>
        <p:nvSpPr>
          <p:cNvPr id="14" name="card 3"/>
          <p:cNvSpPr/>
          <p:nvPr/>
        </p:nvSpPr>
        <p:spPr>
          <a:xfrm>
            <a:off x="548640" y="3995928"/>
            <a:ext cx="5410048" cy="1481328"/>
          </a:xfrm>
          <a:prstGeom prst="roundRect">
            <a:avLst>
              <a:gd name="adj" fmla="val 7407"/>
            </a:avLst>
          </a:prstGeom>
          <a:solidFill>
            <a:srgbClr val="1E1548"/>
          </a:solidFill>
          <a:ln w="15875">
            <a:solidFill>
              <a:srgbClr val="5B4BC4"/>
            </a:solidFill>
            <a:prstDash val="solid"/>
          </a:ln>
        </p:spPr>
      </p:sp>
      <p:sp>
        <p:nvSpPr>
          <p:cNvPr id="15" name="Text 12"/>
          <p:cNvSpPr txBox="1"/>
          <p:nvPr/>
        </p:nvSpPr>
        <p:spPr>
          <a:xfrm>
            <a:off x="777240" y="4105656"/>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FFC83D"/>
                </a:solidFill>
              </a:rPr>
              <a:t>DIFFERENTIAL ASSOCIATION · SUTHERLAND (1940)</a:t>
            </a:r>
            <a:endParaRPr lang="en-US" sz="1500" dirty="0"/>
          </a:p>
          <a:p>
            <a:pPr indent="0" marL="0">
              <a:spcAft>
                <a:spcPts val="300"/>
              </a:spcAft>
              <a:buNone/>
            </a:pPr>
            <a:r>
              <a:rPr lang="en-US" sz="1400" dirty="0">
                <a:solidFill>
                  <a:srgbClr val="DDD6FE"/>
                </a:solidFill>
              </a:rPr>
              <a:t>David learns both the methods and the excuses of fraud from Efraim.</a:t>
            </a:r>
            <a:endParaRPr lang="en-US" sz="1500" dirty="0"/>
          </a:p>
        </p:txBody>
      </p:sp>
      <p:sp>
        <p:nvSpPr>
          <p:cNvPr id="16" name="card 4"/>
          <p:cNvSpPr/>
          <p:nvPr/>
        </p:nvSpPr>
        <p:spPr>
          <a:xfrm>
            <a:off x="6233008" y="3995928"/>
            <a:ext cx="5410048" cy="1481328"/>
          </a:xfrm>
          <a:prstGeom prst="roundRect">
            <a:avLst>
              <a:gd name="adj" fmla="val 7407"/>
            </a:avLst>
          </a:prstGeom>
          <a:solidFill>
            <a:srgbClr val="1E1548"/>
          </a:solidFill>
          <a:ln w="15875">
            <a:solidFill>
              <a:srgbClr val="5B4BC4"/>
            </a:solidFill>
            <a:prstDash val="solid"/>
          </a:ln>
        </p:spPr>
      </p:sp>
      <p:sp>
        <p:nvSpPr>
          <p:cNvPr id="17" name="Text 14"/>
          <p:cNvSpPr txBox="1"/>
          <p:nvPr/>
        </p:nvSpPr>
        <p:spPr>
          <a:xfrm>
            <a:off x="6461608" y="4105656"/>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FFC83D"/>
                </a:solidFill>
              </a:rPr>
              <a:t>RATIONAL CHOICE · CORNISH &amp; CLARKE (1986)</a:t>
            </a:r>
            <a:endParaRPr lang="en-US" sz="1500" dirty="0"/>
          </a:p>
          <a:p>
            <a:pPr indent="0" marL="0">
              <a:spcAft>
                <a:spcPts val="300"/>
              </a:spcAft>
              <a:buNone/>
            </a:pPr>
            <a:r>
              <a:rPr lang="en-US" sz="1400" dirty="0">
                <a:solidFill>
                  <a:srgbClr val="DDD6FE"/>
                </a:solidFill>
              </a:rPr>
              <a:t>Repackaging banned rounds: a huge reward against a small chance of being caught.</a:t>
            </a:r>
            <a:endParaRPr lang="en-US" sz="1500" dirty="0"/>
          </a:p>
        </p:txBody>
      </p:sp>
      <p:sp>
        <p:nvSpPr>
          <p:cNvPr id="18" name="Text 15"/>
          <p:cNvSpPr txBox="1"/>
          <p:nvPr/>
        </p:nvSpPr>
        <p:spPr>
          <a:xfrm>
            <a:off x="548640" y="5577840"/>
            <a:ext cx="11094415" cy="411480"/>
          </a:xfrm>
          <a:prstGeom prst="rect">
            <a:avLst/>
          </a:prstGeom>
          <a:noFill/>
          <a:ln/>
        </p:spPr>
        <p:txBody>
          <a:bodyPr wrap="square" lIns="0" tIns="0" rIns="0" bIns="0" rtlCol="0" anchor="ctr"/>
          <a:lstStyle/>
          <a:p>
            <a:pPr algn="ctr" indent="0" marL="0">
              <a:buNone/>
            </a:pPr>
            <a:r>
              <a:rPr lang="en-US" sz="1600" b="1" i="1" dirty="0">
                <a:solidFill>
                  <a:srgbClr val="FFC83D"/>
                </a:solidFill>
              </a:rPr>
              <a:t>Paraphrased excuses reflect the characters’ attitudes; they are not verbatim lines.</a:t>
            </a:r>
            <a:endParaRPr lang="en-US" sz="1600" dirty="0"/>
          </a:p>
        </p:txBody>
      </p:sp>
      <p:sp>
        <p:nvSpPr>
          <p:cNvPr id="19" name="Text 16"/>
          <p:cNvSpPr txBox="1"/>
          <p:nvPr/>
        </p:nvSpPr>
        <p:spPr>
          <a:xfrm>
            <a:off x="548640" y="6108192"/>
            <a:ext cx="11094415" cy="201168"/>
          </a:xfrm>
          <a:prstGeom prst="rect">
            <a:avLst/>
          </a:prstGeom>
          <a:noFill/>
          <a:ln/>
        </p:spPr>
        <p:txBody>
          <a:bodyPr wrap="square" lIns="0" tIns="0" rIns="0" bIns="0" rtlCol="0" anchor="ctr"/>
          <a:lstStyle/>
          <a:p>
            <a:pPr indent="0" marL="0">
              <a:buNone/>
            </a:pPr>
            <a:r>
              <a:rPr lang="en-US" sz="1000" i="1" dirty="0">
                <a:solidFill>
                  <a:srgbClr val="7C72B0"/>
                </a:solidFill>
              </a:rPr>
              <a:t>Sources: Sykes &amp; Matza (1957); Merton (1938); Messner &amp; Rosenfeld (1994); Sutherland (1940); Cornish &amp; Clarke (1986).</a:t>
            </a:r>
            <a:endParaRPr lang="en-US" sz="10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7C72B0"/>
                </a:solidFil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round badge"/>
          <p:cNvSpPr/>
          <p:nvPr/>
        </p:nvSpPr>
        <p:spPr>
          <a:xfrm>
            <a:off x="548640" y="292608"/>
            <a:ext cx="566928" cy="566928"/>
          </a:xfrm>
          <a:prstGeom prst="ellipse">
            <a:avLst/>
          </a:prstGeom>
          <a:solidFill>
            <a:srgbClr val="FFC83D"/>
          </a:solidFill>
          <a:ln/>
        </p:spPr>
      </p:sp>
      <p:pic>
        <p:nvPicPr>
          <p:cNvPr id="3" name="round icon" descr="round">    </p:cNvPr>
          <p:cNvPicPr>
            <a:picLocks noChangeAspect="1"/>
          </p:cNvPicPr>
          <p:nvPr/>
        </p:nvPicPr>
        <p:blipFill>
          <a:blip r:embed="rId1"/>
          <a:stretch>
            <a:fillRect/>
          </a:stretch>
        </p:blipFill>
        <p:spPr>
          <a:xfrm>
            <a:off x="685800" y="429768"/>
            <a:ext cx="292608" cy="292608"/>
          </a:xfrm>
          <a:prstGeom prst="rect">
            <a:avLst/>
          </a:prstGeom>
        </p:spPr>
      </p:pic>
      <p:sp>
        <p:nvSpPr>
          <p:cNvPr id="4" name="Text 1"/>
          <p:cNvSpPr txBox="1"/>
          <p:nvPr/>
        </p:nvSpPr>
        <p:spPr>
          <a:xfrm>
            <a:off x="1280160" y="274320"/>
            <a:ext cx="4572000" cy="603504"/>
          </a:xfrm>
          <a:prstGeom prst="rect">
            <a:avLst/>
          </a:prstGeom>
          <a:noFill/>
          <a:ln/>
        </p:spPr>
        <p:txBody>
          <a:bodyPr wrap="square" lIns="0" tIns="0" rIns="0" bIns="0" rtlCol="0" anchor="ctr"/>
          <a:lstStyle/>
          <a:p>
            <a:pPr indent="0" marL="0">
              <a:buNone/>
            </a:pPr>
            <a:r>
              <a:rPr lang="en-US" sz="1400" b="1" spc="300" kern="0" dirty="0">
                <a:solidFill>
                  <a:srgbClr val="FFC83D"/>
                </a:solidFill>
              </a:rPr>
              <a:t>ROUND 6 OF 6</a:t>
            </a:r>
            <a:endParaRPr lang="en-US" sz="1400" dirty="0"/>
          </a:p>
          <a:p>
            <a:pPr indent="0" marL="0">
              <a:buNone/>
            </a:pPr>
            <a:r>
              <a:rPr lang="en-US" sz="1200" dirty="0">
                <a:solidFill>
                  <a:srgbClr val="A89FD0"/>
                </a:solidFill>
              </a:rPr>
              <a:t>Hosted by Roll 21</a:t>
            </a:r>
            <a:endParaRPr lang="en-US" sz="1400" dirty="0"/>
          </a:p>
        </p:txBody>
      </p:sp>
      <p:sp>
        <p:nvSpPr>
          <p:cNvPr id="5" name="Text 2"/>
          <p:cNvSpPr txBox="1"/>
          <p:nvPr/>
        </p:nvSpPr>
        <p:spPr>
          <a:xfrm>
            <a:off x="9265615" y="365760"/>
            <a:ext cx="2377440" cy="420624"/>
          </a:xfrm>
          <a:prstGeom prst="roundRect">
            <a:avLst>
              <a:gd name="adj" fmla="val 50000"/>
            </a:avLst>
          </a:prstGeom>
          <a:solidFill>
            <a:srgbClr val="FFC83D"/>
          </a:solidFill>
          <a:ln/>
        </p:spPr>
        <p:txBody>
          <a:bodyPr wrap="square" lIns="0" tIns="0" rIns="0" bIns="0" rtlCol="0" anchor="ctr"/>
          <a:lstStyle/>
          <a:p>
            <a:pPr algn="ctr" indent="0" marL="0">
              <a:buNone/>
            </a:pPr>
            <a:r>
              <a:rPr lang="en-US" sz="1500" b="1" spc="200" kern="0" dirty="0">
                <a:solidFill>
                  <a:srgbClr val="140B33"/>
                </a:solidFill>
              </a:rPr>
              <a:t>1 MILLION POINTS</a:t>
            </a:r>
            <a:endParaRPr lang="en-US" sz="1500" dirty="0"/>
          </a:p>
        </p:txBody>
      </p:sp>
      <p:sp>
        <p:nvSpPr>
          <p:cNvPr id="6" name="question panel"/>
          <p:cNvSpPr/>
          <p:nvPr/>
        </p:nvSpPr>
        <p:spPr>
          <a:xfrm>
            <a:off x="914400" y="1280160"/>
            <a:ext cx="10362895" cy="1600200"/>
          </a:xfrm>
          <a:prstGeom prst="roundRect">
            <a:avLst>
              <a:gd name="adj" fmla="val 14286"/>
            </a:avLst>
          </a:prstGeom>
          <a:solidFill>
            <a:srgbClr val="1E1548"/>
          </a:solidFill>
          <a:ln w="25400">
            <a:solidFill>
              <a:srgbClr val="FFC83D"/>
            </a:solidFill>
            <a:prstDash val="solid"/>
          </a:ln>
        </p:spPr>
      </p:sp>
      <p:sp>
        <p:nvSpPr>
          <p:cNvPr id="7" name="Text 4"/>
          <p:cNvSpPr txBox="1"/>
          <p:nvPr/>
        </p:nvSpPr>
        <p:spPr>
          <a:xfrm>
            <a:off x="1280160" y="1280160"/>
            <a:ext cx="9631375" cy="1600200"/>
          </a:xfrm>
          <a:prstGeom prst="rect">
            <a:avLst/>
          </a:prstGeom>
          <a:noFill/>
          <a:ln/>
        </p:spPr>
        <p:txBody>
          <a:bodyPr wrap="square" lIns="0" tIns="0" rIns="0" bIns="0" rtlCol="0" anchor="ctr"/>
          <a:lstStyle/>
          <a:p>
            <a:pPr algn="ctr" indent="0" marL="0">
              <a:buNone/>
            </a:pPr>
            <a:r>
              <a:rPr lang="en-US" sz="2600" b="1" dirty="0">
                <a:solidFill>
                  <a:schemeClr val="bg1"/>
                </a:solidFill>
              </a:rPr>
              <a:t>The million-point question: how accurately does War Dogs portray organized crime and corruption?</a:t>
            </a:r>
            <a:endParaRPr lang="en-US" sz="2600" dirty="0"/>
          </a:p>
        </p:txBody>
      </p:sp>
      <p:sp>
        <p:nvSpPr>
          <p:cNvPr id="8" name="option A"/>
          <p:cNvSpPr/>
          <p:nvPr/>
        </p:nvSpPr>
        <p:spPr>
          <a:xfrm>
            <a:off x="548640" y="3246120"/>
            <a:ext cx="5364328" cy="822960"/>
          </a:xfrm>
          <a:prstGeom prst="roundRect">
            <a:avLst>
              <a:gd name="adj" fmla="val 50000"/>
            </a:avLst>
          </a:prstGeom>
          <a:solidFill>
            <a:srgbClr val="241A52"/>
          </a:solidFill>
          <a:ln w="25400">
            <a:solidFill>
              <a:srgbClr val="5B4BC4"/>
            </a:solidFill>
            <a:prstDash val="solid"/>
          </a:ln>
        </p:spPr>
      </p:sp>
      <p:sp>
        <p:nvSpPr>
          <p:cNvPr id="9" name="letter A"/>
          <p:cNvSpPr/>
          <p:nvPr/>
        </p:nvSpPr>
        <p:spPr>
          <a:xfrm>
            <a:off x="676656" y="3374136"/>
            <a:ext cx="566928" cy="566928"/>
          </a:xfrm>
          <a:prstGeom prst="ellipse">
            <a:avLst/>
          </a:prstGeom>
          <a:solidFill>
            <a:srgbClr val="FFC83D"/>
          </a:solidFill>
          <a:ln/>
        </p:spPr>
      </p:sp>
      <p:sp>
        <p:nvSpPr>
          <p:cNvPr id="10" name="Text 7"/>
          <p:cNvSpPr txBox="1"/>
          <p:nvPr/>
        </p:nvSpPr>
        <p:spPr>
          <a:xfrm>
            <a:off x="676656" y="3374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A</a:t>
            </a:r>
            <a:endParaRPr lang="en-US" sz="2000" dirty="0"/>
          </a:p>
        </p:txBody>
      </p:sp>
      <p:sp>
        <p:nvSpPr>
          <p:cNvPr id="11" name="Text 8"/>
          <p:cNvSpPr txBox="1"/>
          <p:nvPr/>
        </p:nvSpPr>
        <p:spPr>
          <a:xfrm>
            <a:off x="1417320" y="3246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Completely accurate, like a documentary</a:t>
            </a:r>
            <a:endParaRPr lang="en-US" sz="1700" dirty="0"/>
          </a:p>
        </p:txBody>
      </p:sp>
      <p:sp>
        <p:nvSpPr>
          <p:cNvPr id="12" name="option B"/>
          <p:cNvSpPr/>
          <p:nvPr/>
        </p:nvSpPr>
        <p:spPr>
          <a:xfrm>
            <a:off x="6278728" y="3246120"/>
            <a:ext cx="5364328" cy="822960"/>
          </a:xfrm>
          <a:prstGeom prst="roundRect">
            <a:avLst>
              <a:gd name="adj" fmla="val 50000"/>
            </a:avLst>
          </a:prstGeom>
          <a:solidFill>
            <a:srgbClr val="241A52"/>
          </a:solidFill>
          <a:ln w="25400">
            <a:solidFill>
              <a:srgbClr val="5B4BC4"/>
            </a:solidFill>
            <a:prstDash val="solid"/>
          </a:ln>
        </p:spPr>
      </p:sp>
      <p:sp>
        <p:nvSpPr>
          <p:cNvPr id="13" name="letter B"/>
          <p:cNvSpPr/>
          <p:nvPr/>
        </p:nvSpPr>
        <p:spPr>
          <a:xfrm>
            <a:off x="6406744" y="3374136"/>
            <a:ext cx="566928" cy="566928"/>
          </a:xfrm>
          <a:prstGeom prst="ellipse">
            <a:avLst/>
          </a:prstGeom>
          <a:solidFill>
            <a:srgbClr val="FFC83D"/>
          </a:solidFill>
          <a:ln/>
        </p:spPr>
      </p:sp>
      <p:sp>
        <p:nvSpPr>
          <p:cNvPr id="14" name="Text 11"/>
          <p:cNvSpPr txBox="1"/>
          <p:nvPr/>
        </p:nvSpPr>
        <p:spPr>
          <a:xfrm>
            <a:off x="6406744" y="3374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B</a:t>
            </a:r>
            <a:endParaRPr lang="en-US" sz="2000" dirty="0"/>
          </a:p>
        </p:txBody>
      </p:sp>
      <p:sp>
        <p:nvSpPr>
          <p:cNvPr id="15" name="Text 12"/>
          <p:cNvSpPr txBox="1"/>
          <p:nvPr/>
        </p:nvSpPr>
        <p:spPr>
          <a:xfrm>
            <a:off x="7147408" y="3246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Accurate in substance, exaggerated in style</a:t>
            </a:r>
            <a:endParaRPr lang="en-US" sz="1700" dirty="0"/>
          </a:p>
        </p:txBody>
      </p:sp>
      <p:sp>
        <p:nvSpPr>
          <p:cNvPr id="16" name="option C"/>
          <p:cNvSpPr/>
          <p:nvPr/>
        </p:nvSpPr>
        <p:spPr>
          <a:xfrm>
            <a:off x="548640" y="4389120"/>
            <a:ext cx="5364328" cy="822960"/>
          </a:xfrm>
          <a:prstGeom prst="roundRect">
            <a:avLst>
              <a:gd name="adj" fmla="val 50000"/>
            </a:avLst>
          </a:prstGeom>
          <a:solidFill>
            <a:srgbClr val="241A52"/>
          </a:solidFill>
          <a:ln w="25400">
            <a:solidFill>
              <a:srgbClr val="5B4BC4"/>
            </a:solidFill>
            <a:prstDash val="solid"/>
          </a:ln>
        </p:spPr>
      </p:sp>
      <p:sp>
        <p:nvSpPr>
          <p:cNvPr id="17" name="letter C"/>
          <p:cNvSpPr/>
          <p:nvPr/>
        </p:nvSpPr>
        <p:spPr>
          <a:xfrm>
            <a:off x="676656" y="4517136"/>
            <a:ext cx="566928" cy="566928"/>
          </a:xfrm>
          <a:prstGeom prst="ellipse">
            <a:avLst/>
          </a:prstGeom>
          <a:solidFill>
            <a:srgbClr val="FFC83D"/>
          </a:solidFill>
          <a:ln/>
        </p:spPr>
      </p:sp>
      <p:sp>
        <p:nvSpPr>
          <p:cNvPr id="18" name="Text 15"/>
          <p:cNvSpPr txBox="1"/>
          <p:nvPr/>
        </p:nvSpPr>
        <p:spPr>
          <a:xfrm>
            <a:off x="676656" y="4517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C</a:t>
            </a:r>
            <a:endParaRPr lang="en-US" sz="2000" dirty="0"/>
          </a:p>
        </p:txBody>
      </p:sp>
      <p:sp>
        <p:nvSpPr>
          <p:cNvPr id="19" name="Text 16"/>
          <p:cNvSpPr txBox="1"/>
          <p:nvPr/>
        </p:nvSpPr>
        <p:spPr>
          <a:xfrm>
            <a:off x="1417320" y="4389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Pure fiction with no basis in fact</a:t>
            </a:r>
            <a:endParaRPr lang="en-US" sz="1700" dirty="0"/>
          </a:p>
        </p:txBody>
      </p:sp>
      <p:sp>
        <p:nvSpPr>
          <p:cNvPr id="20" name="option D"/>
          <p:cNvSpPr/>
          <p:nvPr/>
        </p:nvSpPr>
        <p:spPr>
          <a:xfrm>
            <a:off x="6278728" y="4389120"/>
            <a:ext cx="5364328" cy="822960"/>
          </a:xfrm>
          <a:prstGeom prst="roundRect">
            <a:avLst>
              <a:gd name="adj" fmla="val 50000"/>
            </a:avLst>
          </a:prstGeom>
          <a:solidFill>
            <a:srgbClr val="241A52"/>
          </a:solidFill>
          <a:ln w="25400">
            <a:solidFill>
              <a:srgbClr val="5B4BC4"/>
            </a:solidFill>
            <a:prstDash val="solid"/>
          </a:ln>
        </p:spPr>
      </p:sp>
      <p:sp>
        <p:nvSpPr>
          <p:cNvPr id="21" name="letter D"/>
          <p:cNvSpPr/>
          <p:nvPr/>
        </p:nvSpPr>
        <p:spPr>
          <a:xfrm>
            <a:off x="6406744" y="4517136"/>
            <a:ext cx="566928" cy="566928"/>
          </a:xfrm>
          <a:prstGeom prst="ellipse">
            <a:avLst/>
          </a:prstGeom>
          <a:solidFill>
            <a:srgbClr val="FFC83D"/>
          </a:solidFill>
          <a:ln/>
        </p:spPr>
      </p:sp>
      <p:sp>
        <p:nvSpPr>
          <p:cNvPr id="22" name="Text 19"/>
          <p:cNvSpPr txBox="1"/>
          <p:nvPr/>
        </p:nvSpPr>
        <p:spPr>
          <a:xfrm>
            <a:off x="6406744" y="4517136"/>
            <a:ext cx="566928" cy="566928"/>
          </a:xfrm>
          <a:prstGeom prst="rect">
            <a:avLst/>
          </a:prstGeom>
          <a:noFill/>
          <a:ln/>
        </p:spPr>
        <p:txBody>
          <a:bodyPr wrap="square" lIns="0" tIns="0" rIns="0" bIns="0" rtlCol="0" anchor="ctr"/>
          <a:lstStyle/>
          <a:p>
            <a:pPr algn="ctr" indent="0" marL="0">
              <a:buNone/>
            </a:pPr>
            <a:r>
              <a:rPr lang="en-US" sz="2000" b="1" dirty="0">
                <a:solidFill>
                  <a:srgbClr val="140B33"/>
                </a:solidFill>
              </a:rPr>
              <a:t>D</a:t>
            </a:r>
            <a:endParaRPr lang="en-US" sz="2000" dirty="0"/>
          </a:p>
        </p:txBody>
      </p:sp>
      <p:sp>
        <p:nvSpPr>
          <p:cNvPr id="23" name="Text 20"/>
          <p:cNvSpPr txBox="1"/>
          <p:nvPr/>
        </p:nvSpPr>
        <p:spPr>
          <a:xfrm>
            <a:off x="7147408" y="4389120"/>
            <a:ext cx="4267048" cy="822960"/>
          </a:xfrm>
          <a:prstGeom prst="rect">
            <a:avLst/>
          </a:prstGeom>
          <a:noFill/>
          <a:ln/>
        </p:spPr>
        <p:txBody>
          <a:bodyPr wrap="square" lIns="0" tIns="0" rIns="0" bIns="0" rtlCol="0" anchor="ctr"/>
          <a:lstStyle/>
          <a:p>
            <a:pPr indent="0" marL="0">
              <a:buNone/>
            </a:pPr>
            <a:r>
              <a:rPr lang="en-US" sz="1700" dirty="0">
                <a:solidFill>
                  <a:schemeClr val="bg1"/>
                </a:solidFill>
              </a:rPr>
              <a:t>It makes the fraud look worse than it was</a:t>
            </a:r>
            <a:endParaRPr lang="en-US" sz="1700" dirty="0"/>
          </a:p>
        </p:txBody>
      </p:sp>
      <p:pic>
        <p:nvPicPr>
          <p:cNvPr id="24" name="hand" descr="raise hand">    </p:cNvPr>
          <p:cNvPicPr>
            <a:picLocks noChangeAspect="1"/>
          </p:cNvPicPr>
          <p:nvPr/>
        </p:nvPicPr>
        <p:blipFill>
          <a:blip r:embed="rId2"/>
          <a:stretch>
            <a:fillRect/>
          </a:stretch>
        </p:blipFill>
        <p:spPr>
          <a:xfrm>
            <a:off x="4221328" y="5650992"/>
            <a:ext cx="365760" cy="365760"/>
          </a:xfrm>
          <a:prstGeom prst="rect">
            <a:avLst/>
          </a:prstGeom>
        </p:spPr>
      </p:pic>
      <p:sp>
        <p:nvSpPr>
          <p:cNvPr id="25" name="Text 21"/>
          <p:cNvSpPr txBox="1"/>
          <p:nvPr/>
        </p:nvSpPr>
        <p:spPr>
          <a:xfrm>
            <a:off x="4678528" y="5605272"/>
            <a:ext cx="3657600" cy="457200"/>
          </a:xfrm>
          <a:prstGeom prst="rect">
            <a:avLst/>
          </a:prstGeom>
          <a:noFill/>
          <a:ln/>
        </p:spPr>
        <p:txBody>
          <a:bodyPr wrap="square" lIns="0" tIns="0" rIns="0" bIns="0" rtlCol="0" anchor="ctr"/>
          <a:lstStyle/>
          <a:p>
            <a:pPr indent="0" marL="0">
              <a:buNone/>
            </a:pPr>
            <a:r>
              <a:rPr lang="en-US" sz="1800" b="1" dirty="0">
                <a:solidFill>
                  <a:srgbClr val="FFC83D"/>
                </a:solidFill>
              </a:rPr>
              <a:t>Hands up: A, B, C or D?</a:t>
            </a:r>
            <a:endParaRPr lang="en-US" sz="18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7C72B0"/>
                </a:solidFil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round badge"/>
          <p:cNvSpPr/>
          <p:nvPr/>
        </p:nvSpPr>
        <p:spPr>
          <a:xfrm>
            <a:off x="548640" y="292608"/>
            <a:ext cx="566928" cy="566928"/>
          </a:xfrm>
          <a:prstGeom prst="ellipse">
            <a:avLst/>
          </a:prstGeom>
          <a:solidFill>
            <a:srgbClr val="FFC83D"/>
          </a:solidFill>
          <a:ln/>
        </p:spPr>
      </p:sp>
      <p:pic>
        <p:nvPicPr>
          <p:cNvPr id="3" name="round icon" descr="round">    </p:cNvPr>
          <p:cNvPicPr>
            <a:picLocks noChangeAspect="1"/>
          </p:cNvPicPr>
          <p:nvPr/>
        </p:nvPicPr>
        <p:blipFill>
          <a:blip r:embed="rId1"/>
          <a:stretch>
            <a:fillRect/>
          </a:stretch>
        </p:blipFill>
        <p:spPr>
          <a:xfrm>
            <a:off x="685800" y="429768"/>
            <a:ext cx="292608" cy="292608"/>
          </a:xfrm>
          <a:prstGeom prst="rect">
            <a:avLst/>
          </a:prstGeom>
        </p:spPr>
      </p:pic>
      <p:sp>
        <p:nvSpPr>
          <p:cNvPr id="4" name="Text 1"/>
          <p:cNvSpPr txBox="1"/>
          <p:nvPr/>
        </p:nvSpPr>
        <p:spPr>
          <a:xfrm>
            <a:off x="1280160" y="274320"/>
            <a:ext cx="4572000" cy="603504"/>
          </a:xfrm>
          <a:prstGeom prst="rect">
            <a:avLst/>
          </a:prstGeom>
          <a:noFill/>
          <a:ln/>
        </p:spPr>
        <p:txBody>
          <a:bodyPr wrap="square" lIns="0" tIns="0" rIns="0" bIns="0" rtlCol="0" anchor="ctr"/>
          <a:lstStyle/>
          <a:p>
            <a:pPr indent="0" marL="0">
              <a:buNone/>
            </a:pPr>
            <a:r>
              <a:rPr lang="en-US" sz="1400" b="1" spc="300" kern="0" dirty="0">
                <a:solidFill>
                  <a:srgbClr val="FFC83D"/>
                </a:solidFill>
              </a:rPr>
              <a:t>ROUND 6 OF 6</a:t>
            </a:r>
            <a:endParaRPr lang="en-US" sz="1400" dirty="0"/>
          </a:p>
          <a:p>
            <a:pPr indent="0" marL="0">
              <a:buNone/>
            </a:pPr>
            <a:r>
              <a:rPr lang="en-US" sz="1200" dirty="0">
                <a:solidFill>
                  <a:srgbClr val="A89FD0"/>
                </a:solidFill>
              </a:rPr>
              <a:t>Hosted by Roll 21</a:t>
            </a:r>
            <a:endParaRPr lang="en-US" sz="1400" dirty="0"/>
          </a:p>
        </p:txBody>
      </p:sp>
      <p:sp>
        <p:nvSpPr>
          <p:cNvPr id="5" name="Text 2"/>
          <p:cNvSpPr txBox="1"/>
          <p:nvPr/>
        </p:nvSpPr>
        <p:spPr>
          <a:xfrm>
            <a:off x="9265615" y="365760"/>
            <a:ext cx="2377440" cy="420624"/>
          </a:xfrm>
          <a:prstGeom prst="roundRect">
            <a:avLst>
              <a:gd name="adj" fmla="val 50000"/>
            </a:avLst>
          </a:prstGeom>
          <a:solidFill>
            <a:srgbClr val="FFC83D"/>
          </a:solidFill>
          <a:ln/>
        </p:spPr>
        <p:txBody>
          <a:bodyPr wrap="square" lIns="0" tIns="0" rIns="0" bIns="0" rtlCol="0" anchor="ctr"/>
          <a:lstStyle/>
          <a:p>
            <a:pPr algn="ctr" indent="0" marL="0">
              <a:buNone/>
            </a:pPr>
            <a:r>
              <a:rPr lang="en-US" sz="1500" b="1" spc="200" kern="0" dirty="0">
                <a:solidFill>
                  <a:srgbClr val="140B33"/>
                </a:solidFill>
              </a:rPr>
              <a:t>CORRECT ANSWER</a:t>
            </a:r>
            <a:endParaRPr lang="en-US" sz="1500" dirty="0"/>
          </a:p>
        </p:txBody>
      </p:sp>
      <p:sp>
        <p:nvSpPr>
          <p:cNvPr id="6" name="option B"/>
          <p:cNvSpPr/>
          <p:nvPr/>
        </p:nvSpPr>
        <p:spPr>
          <a:xfrm>
            <a:off x="548640" y="1188720"/>
            <a:ext cx="11094415" cy="868680"/>
          </a:xfrm>
          <a:prstGeom prst="roundRect">
            <a:avLst>
              <a:gd name="adj" fmla="val 50000"/>
            </a:avLst>
          </a:prstGeom>
          <a:solidFill>
            <a:srgbClr val="22C55E"/>
          </a:solidFill>
          <a:ln w="25400">
            <a:solidFill>
              <a:srgbClr val="B8F5CD"/>
            </a:solidFill>
            <a:prstDash val="solid"/>
          </a:ln>
        </p:spPr>
      </p:sp>
      <p:sp>
        <p:nvSpPr>
          <p:cNvPr id="7" name="letter B"/>
          <p:cNvSpPr/>
          <p:nvPr/>
        </p:nvSpPr>
        <p:spPr>
          <a:xfrm>
            <a:off x="676656" y="1339596"/>
            <a:ext cx="566928" cy="566928"/>
          </a:xfrm>
          <a:prstGeom prst="ellipse">
            <a:avLst/>
          </a:prstGeom>
          <a:solidFill>
            <a:srgbClr val="FFFFFF"/>
          </a:solidFill>
          <a:ln/>
        </p:spPr>
      </p:sp>
      <p:sp>
        <p:nvSpPr>
          <p:cNvPr id="8" name="Text 5"/>
          <p:cNvSpPr txBox="1"/>
          <p:nvPr/>
        </p:nvSpPr>
        <p:spPr>
          <a:xfrm>
            <a:off x="676656" y="1339596"/>
            <a:ext cx="566928" cy="566928"/>
          </a:xfrm>
          <a:prstGeom prst="rect">
            <a:avLst/>
          </a:prstGeom>
          <a:noFill/>
          <a:ln/>
        </p:spPr>
        <p:txBody>
          <a:bodyPr wrap="square" lIns="0" tIns="0" rIns="0" bIns="0" rtlCol="0" anchor="ctr"/>
          <a:lstStyle/>
          <a:p>
            <a:pPr algn="ctr" indent="0" marL="0">
              <a:buNone/>
            </a:pPr>
            <a:r>
              <a:rPr lang="en-US" sz="2000" b="1" dirty="0">
                <a:solidFill>
                  <a:srgbClr val="22C55E"/>
                </a:solidFill>
              </a:rPr>
              <a:t>B</a:t>
            </a:r>
            <a:endParaRPr lang="en-US" sz="2000" dirty="0"/>
          </a:p>
        </p:txBody>
      </p:sp>
      <p:sp>
        <p:nvSpPr>
          <p:cNvPr id="9" name="Text 6"/>
          <p:cNvSpPr txBox="1"/>
          <p:nvPr/>
        </p:nvSpPr>
        <p:spPr>
          <a:xfrm>
            <a:off x="1417320" y="1188720"/>
            <a:ext cx="9997135" cy="868680"/>
          </a:xfrm>
          <a:prstGeom prst="rect">
            <a:avLst/>
          </a:prstGeom>
          <a:noFill/>
          <a:ln/>
        </p:spPr>
        <p:txBody>
          <a:bodyPr wrap="square" lIns="0" tIns="0" rIns="0" bIns="0" rtlCol="0" anchor="ctr"/>
          <a:lstStyle/>
          <a:p>
            <a:pPr indent="0" marL="0">
              <a:buNone/>
            </a:pPr>
            <a:r>
              <a:rPr lang="en-US" sz="1700" b="1" dirty="0">
                <a:solidFill>
                  <a:schemeClr val="bg1"/>
                </a:solidFill>
              </a:rPr>
              <a:t>Accurate in substance, exaggerated in style: our final verdict</a:t>
            </a:r>
            <a:endParaRPr lang="en-US" sz="1700" dirty="0"/>
          </a:p>
        </p:txBody>
      </p:sp>
      <p:sp>
        <p:nvSpPr>
          <p:cNvPr id="10" name="card 1"/>
          <p:cNvSpPr/>
          <p:nvPr/>
        </p:nvSpPr>
        <p:spPr>
          <a:xfrm>
            <a:off x="548640" y="2331720"/>
            <a:ext cx="5410048" cy="1481328"/>
          </a:xfrm>
          <a:prstGeom prst="roundRect">
            <a:avLst>
              <a:gd name="adj" fmla="val 7407"/>
            </a:avLst>
          </a:prstGeom>
          <a:solidFill>
            <a:srgbClr val="1E1548"/>
          </a:solidFill>
          <a:ln w="15875">
            <a:solidFill>
              <a:srgbClr val="22C55E"/>
            </a:solidFill>
            <a:prstDash val="solid"/>
          </a:ln>
        </p:spPr>
      </p:sp>
      <p:sp>
        <p:nvSpPr>
          <p:cNvPr id="11" name="Text 8"/>
          <p:cNvSpPr txBox="1"/>
          <p:nvPr/>
        </p:nvSpPr>
        <p:spPr>
          <a:xfrm>
            <a:off x="777240" y="2441448"/>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22C55E"/>
                </a:solidFill>
              </a:rPr>
              <a:t>WHAT IT GETS RIGHT</a:t>
            </a:r>
            <a:endParaRPr lang="en-US" sz="1500" dirty="0"/>
          </a:p>
          <a:p>
            <a:pPr indent="0" marL="0">
              <a:spcAft>
                <a:spcPts val="300"/>
              </a:spcAft>
              <a:buNone/>
            </a:pPr>
            <a:r>
              <a:rPr lang="en-US" sz="1400" dirty="0">
                <a:solidFill>
                  <a:srgbClr val="DDD6FE"/>
                </a:solidFill>
              </a:rPr>
              <a:t>Breaks the mafia stereotype; fits the UN definition, enterprise and network models; the contract, repackaging and sentences are real.</a:t>
            </a:r>
            <a:endParaRPr lang="en-US" sz="1500" dirty="0"/>
          </a:p>
        </p:txBody>
      </p:sp>
      <p:sp>
        <p:nvSpPr>
          <p:cNvPr id="12" name="card 2"/>
          <p:cNvSpPr/>
          <p:nvPr/>
        </p:nvSpPr>
        <p:spPr>
          <a:xfrm>
            <a:off x="6233008" y="2331720"/>
            <a:ext cx="5410048" cy="1481328"/>
          </a:xfrm>
          <a:prstGeom prst="roundRect">
            <a:avLst>
              <a:gd name="adj" fmla="val 7407"/>
            </a:avLst>
          </a:prstGeom>
          <a:solidFill>
            <a:srgbClr val="1E1548"/>
          </a:solidFill>
          <a:ln w="15875">
            <a:solidFill>
              <a:srgbClr val="F87171"/>
            </a:solidFill>
            <a:prstDash val="solid"/>
          </a:ln>
        </p:spPr>
      </p:sp>
      <p:sp>
        <p:nvSpPr>
          <p:cNvPr id="13" name="Text 10"/>
          <p:cNvSpPr txBox="1"/>
          <p:nvPr/>
        </p:nvSpPr>
        <p:spPr>
          <a:xfrm>
            <a:off x="6461608" y="2441448"/>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F87171"/>
                </a:solidFill>
              </a:rPr>
              <a:t>WHAT IT GETS WRONG</a:t>
            </a:r>
            <a:endParaRPr lang="en-US" sz="1500" dirty="0"/>
          </a:p>
          <a:p>
            <a:pPr indent="0" marL="0">
              <a:spcAft>
                <a:spcPts val="300"/>
              </a:spcAft>
              <a:buNone/>
            </a:pPr>
            <a:r>
              <a:rPr lang="en-US" sz="1400" dirty="0">
                <a:solidFill>
                  <a:srgbClr val="DDD6FE"/>
                </a:solidFill>
              </a:rPr>
              <a:t>Comedy glamorizes fraud; Henry is a composite; the threats in Albania are invented; it skips the Gërdec depot blast that killed 26 in 2008.</a:t>
            </a:r>
            <a:endParaRPr lang="en-US" sz="1500" dirty="0"/>
          </a:p>
        </p:txBody>
      </p:sp>
      <p:sp>
        <p:nvSpPr>
          <p:cNvPr id="14" name="card 3"/>
          <p:cNvSpPr/>
          <p:nvPr/>
        </p:nvSpPr>
        <p:spPr>
          <a:xfrm>
            <a:off x="548640" y="3995928"/>
            <a:ext cx="5410048" cy="1481328"/>
          </a:xfrm>
          <a:prstGeom prst="roundRect">
            <a:avLst>
              <a:gd name="adj" fmla="val 7407"/>
            </a:avLst>
          </a:prstGeom>
          <a:solidFill>
            <a:srgbClr val="1E1548"/>
          </a:solidFill>
          <a:ln w="15875">
            <a:solidFill>
              <a:srgbClr val="5B4BC4"/>
            </a:solidFill>
            <a:prstDash val="solid"/>
          </a:ln>
        </p:spPr>
      </p:sp>
      <p:sp>
        <p:nvSpPr>
          <p:cNvPr id="15" name="Text 12"/>
          <p:cNvSpPr txBox="1"/>
          <p:nvPr/>
        </p:nvSpPr>
        <p:spPr>
          <a:xfrm>
            <a:off x="777240" y="4105656"/>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FFC83D"/>
                </a:solidFill>
              </a:rPr>
              <a:t>OUR CONCLUSION</a:t>
            </a:r>
            <a:endParaRPr lang="en-US" sz="1500" dirty="0"/>
          </a:p>
          <a:p>
            <a:pPr indent="0" marL="0">
              <a:spcAft>
                <a:spcPts val="300"/>
              </a:spcAft>
              <a:buNone/>
            </a:pPr>
            <a:r>
              <a:rPr lang="en-US" sz="1400" dirty="0">
                <a:solidFill>
                  <a:srgbClr val="DDD6FE"/>
                </a:solidFill>
              </a:rPr>
              <a:t>AEY is organized crime under the UN definition, but not the mafia: organized white-collar crime, enabled by a weak system.</a:t>
            </a:r>
            <a:endParaRPr lang="en-US" sz="1500" dirty="0"/>
          </a:p>
        </p:txBody>
      </p:sp>
      <p:sp>
        <p:nvSpPr>
          <p:cNvPr id="16" name="card 4"/>
          <p:cNvSpPr/>
          <p:nvPr/>
        </p:nvSpPr>
        <p:spPr>
          <a:xfrm>
            <a:off x="6233008" y="3995928"/>
            <a:ext cx="5410048" cy="1481328"/>
          </a:xfrm>
          <a:prstGeom prst="roundRect">
            <a:avLst>
              <a:gd name="adj" fmla="val 7407"/>
            </a:avLst>
          </a:prstGeom>
          <a:solidFill>
            <a:srgbClr val="1E1548"/>
          </a:solidFill>
          <a:ln w="15875">
            <a:solidFill>
              <a:srgbClr val="5B4BC4"/>
            </a:solidFill>
            <a:prstDash val="solid"/>
          </a:ln>
        </p:spPr>
      </p:sp>
      <p:sp>
        <p:nvSpPr>
          <p:cNvPr id="17" name="Text 14"/>
          <p:cNvSpPr txBox="1"/>
          <p:nvPr/>
        </p:nvSpPr>
        <p:spPr>
          <a:xfrm>
            <a:off x="6461608" y="4105656"/>
            <a:ext cx="4952848" cy="1261872"/>
          </a:xfrm>
          <a:prstGeom prst="rect">
            <a:avLst/>
          </a:prstGeom>
          <a:noFill/>
          <a:ln/>
        </p:spPr>
        <p:txBody>
          <a:bodyPr wrap="square" lIns="0" tIns="0" rIns="0" bIns="0" rtlCol="0" anchor="t"/>
          <a:lstStyle/>
          <a:p>
            <a:pPr indent="0" marL="0">
              <a:spcAft>
                <a:spcPts val="300"/>
              </a:spcAft>
              <a:buNone/>
            </a:pPr>
            <a:r>
              <a:rPr lang="en-US" sz="1500" b="1" dirty="0">
                <a:solidFill>
                  <a:srgbClr val="FFC83D"/>
                </a:solidFill>
              </a:rPr>
              <a:t>LESSON FOR BANGLADESH</a:t>
            </a:r>
            <a:endParaRPr lang="en-US" sz="1500" dirty="0"/>
          </a:p>
          <a:p>
            <a:pPr indent="0" marL="0">
              <a:spcAft>
                <a:spcPts val="300"/>
              </a:spcAft>
              <a:buNone/>
            </a:pPr>
            <a:r>
              <a:rPr lang="en-US" sz="1400" dirty="0">
                <a:solidFill>
                  <a:srgbClr val="DDD6FE"/>
                </a:solidFill>
              </a:rPr>
              <a:t>Big procurement relies on middlemen too. Vet contractors, disclose real owners and check where goods come from.</a:t>
            </a:r>
            <a:endParaRPr lang="en-US" sz="1500" dirty="0"/>
          </a:p>
        </p:txBody>
      </p:sp>
      <p:sp>
        <p:nvSpPr>
          <p:cNvPr id="18" name="Text 15"/>
          <p:cNvSpPr txBox="1"/>
          <p:nvPr/>
        </p:nvSpPr>
        <p:spPr>
          <a:xfrm>
            <a:off x="548640" y="5577840"/>
            <a:ext cx="11094415" cy="411480"/>
          </a:xfrm>
          <a:prstGeom prst="rect">
            <a:avLst/>
          </a:prstGeom>
          <a:noFill/>
          <a:ln/>
        </p:spPr>
        <p:txBody>
          <a:bodyPr wrap="square" lIns="0" tIns="0" rIns="0" bIns="0" rtlCol="0" anchor="ctr"/>
          <a:lstStyle/>
          <a:p>
            <a:pPr algn="ctr" indent="0" marL="0">
              <a:buNone/>
            </a:pPr>
            <a:r>
              <a:rPr lang="en-US" sz="1600" b="1" i="1" dirty="0">
                <a:solidFill>
                  <a:srgbClr val="FFC83D"/>
                </a:solidFill>
              </a:rPr>
              <a:t>Thank you for playing! Every contestant wins. Questions?</a:t>
            </a:r>
            <a:endParaRPr lang="en-US" sz="1600" dirty="0"/>
          </a:p>
        </p:txBody>
      </p:sp>
      <p:sp>
        <p:nvSpPr>
          <p:cNvPr id="19" name="Text 16"/>
          <p:cNvSpPr txBox="1"/>
          <p:nvPr/>
        </p:nvSpPr>
        <p:spPr>
          <a:xfrm>
            <a:off x="548640" y="6108192"/>
            <a:ext cx="11094415" cy="201168"/>
          </a:xfrm>
          <a:prstGeom prst="rect">
            <a:avLst/>
          </a:prstGeom>
          <a:noFill/>
          <a:ln/>
        </p:spPr>
        <p:txBody>
          <a:bodyPr wrap="square" lIns="0" tIns="0" rIns="0" bIns="0" rtlCol="0" anchor="ctr"/>
          <a:lstStyle/>
          <a:p>
            <a:pPr indent="0" marL="0">
              <a:buNone/>
            </a:pPr>
            <a:r>
              <a:rPr lang="en-US" sz="1000" i="1" dirty="0">
                <a:solidFill>
                  <a:srgbClr val="7C72B0"/>
                </a:solidFill>
              </a:rPr>
              <a:t>Sources: Lawson (2015); Al Jazeera (2008). Verdict is the group’s assessment.</a:t>
            </a:r>
            <a:endParaRPr lang="en-US" sz="1000" dirty="0"/>
          </a:p>
        </p:txBody>
      </p:sp>
      <p:sp>
        <p:nvSpPr>
          <p:cNvPr id="25" name="Slide Number Placeholder 0"/>
          <p:cNvSpPr>
            <a:spLocks noGrp="1"/>
          </p:cNvSpPr>
          <p:nvPr>
            <p:ph type="sldNum" sz="quarter" idx="4294967295"/>
          </p:nvPr>
        </p:nvSpPr>
        <p:spPr>
          <a:xfrm>
            <a:off x="11094415" y="6419088"/>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7C72B0"/>
                </a:solidFill>
              </a:defRPr>
            </a:lvl1pPr>
          </a:lstStyle>
          <a:p>
            <a:pPr algn="r"/>
            <a:fld id="{F7021451-1387-4CA6-816F-3879F97B5CBC}" type="slidenum">
              <a:rPr b="1" lang="en-US"/>
              <a:t>12</a:t>
            </a:fld>
            <a:endParaRPr lang="en-US"/>
          </a:p>
        </p:txBody>
      </p:sp>
    </p:spTree>
  </p:cSld>
  <p:clrMapOvr>
    <a:masterClrMapping/>
  </p:clrMapOvr>
</p:sld>
</file>

<file path=ppt/theme/theme1.xml><?xml version="1.0" encoding="utf-8"?>
<a:theme xmlns:a="http://schemas.openxmlformats.org/drawingml/2006/main" name="Who Wants to Be a Criminologist">
  <a:themeElements>
    <a:clrScheme name="Who Wants to Be a Criminologist">
      <a:dk1>
        <a:srgbClr val="140B33"/>
      </a:dk1>
      <a:lt1>
        <a:srgbClr val="FFFFFF"/>
      </a:lt1>
      <a:dk2>
        <a:srgbClr val="120A2E"/>
      </a:dk2>
      <a:lt2>
        <a:srgbClr val="EDE9FF"/>
      </a:lt2>
      <a:accent1>
        <a:srgbClr val="FFC83D"/>
      </a:accent1>
      <a:accent2>
        <a:srgbClr val="22C55E"/>
      </a:accent2>
      <a:accent3>
        <a:srgbClr val="8B7CF6"/>
      </a:accent3>
      <a:accent4>
        <a:srgbClr val="F87171"/>
      </a:accent4>
      <a:accent5>
        <a:srgbClr val="2B1F5C"/>
      </a:accent5>
      <a:accent6>
        <a:srgbClr val="C4B5FD"/>
      </a:accent6>
      <a:hlink>
        <a:srgbClr val="FFC83D"/>
      </a:hlink>
      <a:folHlink>
        <a:srgbClr val="C4B5FD"/>
      </a:folHlink>
    </a:clrScheme>
    <a:fontScheme name="Who Wants to Be a Criminologis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Wants to Be a Criminologist? War Dogs Edition – Group 6</dc:title>
  <dc:subject>MCCJ 527 Organized Crime and Corruption</dc:subject>
  <dc:creator>PptxGenJS</dc:creator>
  <cp:lastModifiedBy>PptxGenJS</cp:lastModifiedBy>
  <cp:revision>1</cp:revision>
  <dcterms:created xsi:type="dcterms:W3CDTF">2026-10-17T17:25:27Z</dcterms:created>
  <dcterms:modified xsi:type="dcterms:W3CDTF">2026-10-17T17:25:27Z</dcterms:modified>
</cp:coreProperties>
</file>