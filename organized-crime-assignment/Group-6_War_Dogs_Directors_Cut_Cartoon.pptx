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959920-184b-2b68-a4ba-3816c2330593}">
          <p14:sldIdLst>
            <p14:sldId id="256"/>
            <p14:sldId id="257"/>
          </p14:sldIdLst>
        </p14:section>
        <p14:section name="Act I: The Hustle" id="{223ab3ad-01b8-6181-60b0-57514ce41f8b}">
          <p14:sldIdLst>
            <p14:sldId id="258"/>
            <p14:sldId id="259"/>
            <p14:sldId id="260"/>
          </p14:sldIdLst>
        </p14:section>
        <p14:section name="Act II: The Deal" id="{386aed27-865e-dd37-ad1a-a580d5e8de34}">
          <p14:sldIdLst>
            <p14:sldId id="261"/>
            <p14:sldId id="262"/>
            <p14:sldId id="263"/>
            <p14:sldId id="264"/>
            <p14:sldId id="265"/>
          </p14:sldIdLst>
        </p14:section>
        <p14:section name="Act III: The Fall" id="{9149fed3-89ec-8180-f2e9-72d3a1159f50}">
          <p14:sldIdLst>
            <p14:sldId id="266"/>
            <p14:sldId id="267"/>
            <p14:sldId id="268"/>
          </p14:sldIdLst>
        </p14:section>
        <p14:section name="Verdict and Credits" id="{102aa763-1417-edf4-981d-2b032d226813}">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[Dim the lights if you can. Speak like a movie trailer.] In a world where wars are fought with contracts... two young men from Miami... win almost 300 million dollars to arm an army they will never meet.
[Normal voice.] Good morning. We are Group 6, and today we present War Dogs, the 2016 film. But we are not going to review it like movie critics. We are going to show you a criminologist's director's cut.
We will play the story in three acts: the Hustle, the Deal and the Fall. And at key moments, we will press pause, and explain the organized crime and corruption concepts hiding inside the scene. Our one big question: is this really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First, the trailer facts. War Dogs was directed by Todd Phillips, the director of The Hangover, and released by Warner Bros. in 2016. It stars Jonah Hill as Efraim Diveroli and Miles Teller as David Packouz, with Ana de Armas and Bradley Cooper. It is a comedy, but it is based on a true story, first reported by journalist Guy Lawson in Rolling Stone.
[Right panel.] Here is our thesis: organized crime doesn't always carry guns. Sometimes it sells them, with a government contract. The real company, AEY, won a contract worth 298 million dollars from the Pentagon in 2007.
Let's press play on Act One. Sweety, roll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25 seconds)
[The cartoon plays by itself. Read along with the yellow captions, or just say:]
Miami. David is broke: his bedsheet business has flopped and a baby is on the way. His old friend Efraim shows him the Pentagon's "crumbs": small contracts the big firms ignore. When a shipment of pistols gets stuck in Jordan, they drive it into Iraq themselves. It works, and the money rolls in.
[Click to the Act I film strip and keep it short there, because the story has just been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Thank you, Nabin. Act One: the Hustle. [Move across the film strip.]
Scene one: David is a broke massage therapist in Miami. His bedsheet business has failed, and his girlfriend is pregnant. He needs money, fast.
Scene two: he meets his old friend Efraim, whose company AEY bids online for the "crumbs" of military procurement: small contracts the big defence companies ignore. David joins him.
Scene three: a shipment of pistols gets stuck in Jordan, so they fly out, use local fixers and drive it into Iraq. It works, and they get paid.
Scene four: the money flows. New office, new cars. And David starts lying to his partner about what he really does.
[Pause.] Now let's freeze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[Freeze-frame.] What is happening in Act One?
[Spectrum.] Dwight Smith's enterprise model says legal and illegal business sit on one spectrum, driven by the same market demand. Watch AEY move along it: from legal bidding on crumbs, to grey deals with fixers in Jordan, and later, in Act Three, to outright fraud.
[Bottom cards.] Three theories explain why. Strain theory: David is broke with a baby coming. In Merton's terms he "innovates": he keeps the goal of wealth but uses illegitimate means. Differential association: he learns both the methods and the excuses from Efraim. And rational choice: every step is a calculation, a big reward against a small chance of being caught.
Press play. Jakaria, Act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25 seconds)
[The cartoon plays by itself. Read along with the yellow captions, or just say:]
At an arms fair in Las Vegas, they meet Henry Girard, a dealer on a terrorist watch list. He cannot sell to the US government himself, but he has about 100 million rounds of old ammunition in Albania. With that cheap supply, AEY underbids everyone and wins the Afghan army contract, worth about 300 million dollars. Then Efraim decides to cut Henry out.
[Click to the Act II film strip and keep it short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Thank you, Sweety. Act Two: the Deal.
Scene five: at an arms fair in Las Vegas, they meet Henry Girard, played by Bradley Cooper. Henry is on a terrorist watch list, so he cannot sell to the US government directly. He needs a front.
Scene six: Henry has access to about 100 million rounds of old rifle ammunition sitting in Albania.
Scene seven: with this cheap supply and a financier behind them, AEY underbids everyone and wins the Afghan army contract, worth around 300 million dollars.
Scene eight: Efraim, greedy as ever, starts planning to cut Henry out of his share.
So let's pause again. Is this group actually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[Freeze-frame.] Is AEY organized crime? It depends on the definition.
[Left.] The UN Convention against Transnational Organized Crime says an organized criminal group is three or more persons, structured, existing over time, committing serious crime for material benefit. AEY ticks every box: Efraim, David, their financier, Henry and the suppliers, operating for years, committing fraud and conspiracy for millions.
[Right.] But Abadinsky's classic attributes describe the mafia: hierarchy, exclusive membership, rituals, and an organization that survives when its leaders are arrested. AEY had none of that. It collapsed the moment the founders were charged.
[Bottom.] So our verdict: AEY is organized white-collar crime. A legal company, committing organized and transnational fraud. Imran will show you how the network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Thank you, Jakaria. [Freeze-frame.] Who holds the power in this deal? Look at the network. [Trace the yellow lines.]
On one side is the US Army, buying through open online tenders. On the other is a stockpile in Albania. They can't connect directly. In the middle sit two brokers: AEY, with a clean American name, and Henry, who has the supply but is on a terrorist watch list.
[Right cards.] This is exactly Morselli's network model: power belongs to the brokers who connect separate worlds. Albini's patron–client model fits too: Henry trades access to supply for a share of the profits.
But Cressey's hierarchical model does not fit at all. There is no boss, no ranks, no family. Next, the corruption that made it all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[Freeze-frame.] Where is the corruption? Transparency International defines corruption as the abuse of entrusted power for private gain. And Robert Klitgaard gives a formula: corruption equals monopoly, plus discretion, minus accountability.
[Cards.] Monopoly: Henry controls the only access to cheap Balkan ammunition, so everyone must pay him. Discretion: officials, fixers and border agents decide with little scrutiny, and middlemen skim money. And low accountability: in wartime urgency, a company run by a man in his early twenties passes the Pentagon's vetting.
[Bottom.] This is state-corporate crime: the harm came from a government policy of outsourcing war to the lowest bidder. And we also see the crime–terror nexus: a watch-listed dealer simply borrows a clean company's name.
Akif, Act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25 seconds)
[The cartoon plays by itself. Read along with the yellow captions, or just say:]
Then David discovers the ammunition was made in China, which is banned under a US arms embargo. Instead of reporting it, they repack the rounds to hide the Chinese markings. Threats, unpaid money and betrayal break their friendship. In the end the federal government steps in: Efraim gets four years in prison, and David gets seven months of house arrest.
[Click to the Act III film strip and keep it short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Thank you, Imran. Act Three: the Fall.
Scene nine: David discovers the ammunition was made in China, which is banned under a US arms embargo, and by the contract itself.
Scene ten: instead of reporting it, they have the rounds repacked to remove the Chinese markings. This really happened.
Scene eleven: David is threatened in Albania, Efraim cheats him out of his money, and their friendship collapses.
Scene twelve: the federal government steps in. In real life, the case was exposed by journalists in 2008. Efraim was sentenced to four years in prison, and David, who cooperated, to seven months of house arrest.
[Pause.] One last freeze-frame. How did they justify all this to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[Freeze-frame.] How do two ordinary young men commit fraud on this scale without feeling like criminals? Sykes and Matza call it techniques of neutralization. Offenders know the rules, but use excuses to switch their conscience off.
[Read each yellow line like a subtitle.]
Denial of injury: "The troops still get bullets that work. Who is harmed?"
Condemnation of the condemners: "The government buys from shady sources too."
Denial of responsibility: "We didn't make the bullets, we just moved them."
Appeal to higher loyalties: "I'm doing this for my family."
These are our paraphrases of the characters' attitudes, not exact lines. And notice: every excuse sounds like normal business talk. That is exactly what makes white-collar crime so hard to see.
Nishit will give the critics'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Thank you, Akif. So what is our critics' verdict? Accurate in substance, exaggerated in style.
[Go row by row.] Conceptual accuracy: four stars. The film fits the UN definition, the enterprise model and the network model very closely.
Factual accuracy: four stars. The contract, the repackaging and the sentences are all true. Henry Girard is a composite character, inspired by a real Swiss broker.
But realism of tone: only two stars. The comedy glamorizes the money and makes fraud look harmless, and the threats in Albania were invented.
And systemic insight: two stars. The film blames two young men, but skips the failure of the system, and real victims, like the 26 people killed in the Gërdec depot explosion in Albania in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So here is our final cut. [Read slowly.] Organized crime doesn't always carry guns. Sometimes it sells them, with a government contract.
The answer to our big question: AEY is organized crime under the UN definition, but it is not the mafia. It is organized white-collar crime, best explained by the enterprise and network models.
And a lesson for Bangladesh. Our own large procurement projects also depend on middlemen and intermediaries. Vetting contractors, disclosing who really owns a company, and checking where goods come from are not just paperwork. They are crime prevention.
[Point to the credits.] That's a wrap from Group 6. Thank you, and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CREE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AUSED-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BLAN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CREE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USE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slideLayout" Target="../slideLayouts/slideLayout4.xml"/><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4.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3.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slideLayout" Target="../slideLayouts/slideLayout4.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slideLayout" Target="../slideLayouts/slideLayout2.xml"/><Relationship Id="rId2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ojector watermark" descr="preencoded.png">    </p:cNvPr>
          <p:cNvPicPr>
            <a:picLocks noChangeAspect="1"/>
          </p:cNvPicPr>
          <p:nvPr/>
        </p:nvPicPr>
        <p:blipFill>
          <a:blip r:embed="rId1"/>
          <a:stretch>
            <a:fillRect/>
          </a:stretch>
        </p:blipFill>
        <p:spPr>
          <a:xfrm>
            <a:off x="7223760" y="822960"/>
            <a:ext cx="4937760" cy="4937760"/>
          </a:xfrm>
          <a:prstGeom prst="rect">
            <a:avLst/>
          </a:prstGeom>
        </p:spPr>
      </p:pic>
      <p:pic>
        <p:nvPicPr>
          <p:cNvPr id="3" name="title david" descr="Cartoon David">    </p:cNvPr>
          <p:cNvPicPr>
            <a:picLocks noChangeAspect="1"/>
          </p:cNvPicPr>
          <p:nvPr/>
        </p:nvPicPr>
        <p:blipFill>
          <a:blip r:embed="rId2"/>
          <a:stretch>
            <a:fillRect/>
          </a:stretch>
        </p:blipFill>
        <p:spPr>
          <a:xfrm>
            <a:off x="7726680" y="2926080"/>
            <a:ext cx="1481328" cy="3108960"/>
          </a:xfrm>
          <a:prstGeom prst="rect">
            <a:avLst/>
          </a:prstGeom>
        </p:spPr>
      </p:pic>
      <p:pic>
        <p:nvPicPr>
          <p:cNvPr id="4" name="title efraim" descr="Cartoon Efraim">    </p:cNvPr>
          <p:cNvPicPr>
            <a:picLocks noChangeAspect="1"/>
          </p:cNvPicPr>
          <p:nvPr/>
        </p:nvPicPr>
        <p:blipFill>
          <a:blip r:embed="rId3"/>
          <a:stretch>
            <a:fillRect/>
          </a:stretch>
        </p:blipFill>
        <p:spPr>
          <a:xfrm>
            <a:off x="10012680" y="2926080"/>
            <a:ext cx="1481328" cy="3108960"/>
          </a:xfrm>
          <a:prstGeom prst="rect">
            <a:avLst/>
          </a:prstGeom>
        </p:spPr>
      </p:pic>
      <p:pic>
        <p:nvPicPr>
          <p:cNvPr id="5" name="title money" descr="Money">    </p:cNvPr>
          <p:cNvPicPr>
            <a:picLocks noChangeAspect="1"/>
          </p:cNvPicPr>
          <p:nvPr/>
        </p:nvPicPr>
        <p:blipFill>
          <a:blip r:embed="rId4"/>
          <a:stretch>
            <a:fillRect/>
          </a:stretch>
        </p:blipFill>
        <p:spPr>
          <a:xfrm>
            <a:off x="9052560" y="5230368"/>
            <a:ext cx="1005840" cy="694944"/>
          </a:xfrm>
          <a:prstGeom prst="rect">
            <a:avLst/>
          </a:prstGeom>
        </p:spPr>
      </p:pic>
      <p:sp>
        <p:nvSpPr>
          <p:cNvPr id="6" name="rec dot"/>
          <p:cNvSpPr/>
          <p:nvPr/>
        </p:nvSpPr>
        <p:spPr>
          <a:xfrm>
            <a:off x="548640" y="1298448"/>
            <a:ext cx="182880" cy="182880"/>
          </a:xfrm>
          <a:prstGeom prst="ellipse">
            <a:avLst/>
          </a:prstGeom>
          <a:solidFill>
            <a:srgbClr val="E5383B"/>
          </a:solidFill>
          <a:ln/>
        </p:spPr>
      </p:sp>
      <p:sp>
        <p:nvSpPr>
          <p:cNvPr id="7" name="Text 1"/>
          <p:cNvSpPr txBox="1"/>
          <p:nvPr/>
        </p:nvSpPr>
        <p:spPr>
          <a:xfrm>
            <a:off x="841248" y="1234440"/>
            <a:ext cx="91440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NOW SHOWING  ·  MCCJ 527 ORGANIZED CRIME AND CORRUPTION</a:t>
            </a:r>
            <a:endParaRPr lang="en-US" sz="1300" dirty="0"/>
          </a:p>
        </p:txBody>
      </p:sp>
      <p:sp>
        <p:nvSpPr>
          <p:cNvPr id="8" name="Text 2"/>
          <p:cNvSpPr txBox="1"/>
          <p:nvPr/>
        </p:nvSpPr>
        <p:spPr>
          <a:xfrm>
            <a:off x="548640" y="1783080"/>
            <a:ext cx="8686800" cy="1325880"/>
          </a:xfrm>
          <a:prstGeom prst="rect">
            <a:avLst/>
          </a:prstGeom>
          <a:noFill/>
          <a:ln/>
        </p:spPr>
        <p:txBody>
          <a:bodyPr wrap="square" lIns="0" tIns="0" rIns="0" bIns="0" rtlCol="0" anchor="ctr"/>
          <a:lstStyle/>
          <a:p>
            <a:pPr indent="0" marL="0">
              <a:buNone/>
            </a:pPr>
            <a:r>
              <a:rPr lang="en-US" sz="8000" b="1" spc="600" kern="0" dirty="0">
                <a:solidFill>
                  <a:schemeClr val="bg1"/>
                </a:solidFill>
                <a:latin typeface="Bookman Old Style" pitchFamily="34" charset="0"/>
                <a:ea typeface="Bookman Old Style" pitchFamily="34" charset="-122"/>
                <a:cs typeface="Bookman Old Style" pitchFamily="34" charset="-120"/>
              </a:rPr>
              <a:t>WAR DOGS</a:t>
            </a:r>
            <a:endParaRPr lang="en-US" sz="8000" dirty="0"/>
          </a:p>
        </p:txBody>
      </p:sp>
      <p:sp>
        <p:nvSpPr>
          <p:cNvPr id="9" name="Text 3"/>
          <p:cNvSpPr txBox="1"/>
          <p:nvPr/>
        </p:nvSpPr>
        <p:spPr>
          <a:xfrm>
            <a:off x="548640" y="3108960"/>
            <a:ext cx="8686800" cy="640080"/>
          </a:xfrm>
          <a:prstGeom prst="rect">
            <a:avLst/>
          </a:prstGeom>
          <a:noFill/>
          <a:ln/>
        </p:spPr>
        <p:txBody>
          <a:bodyPr wrap="square" lIns="0" tIns="0" rIns="0" bIns="0" rtlCol="0" anchor="ctr"/>
          <a:lstStyle/>
          <a:p>
            <a:pPr indent="0" marL="0">
              <a:buNone/>
            </a:pPr>
            <a:r>
              <a:rPr lang="en-US" sz="3000" i="1" dirty="0">
                <a:solidFill>
                  <a:srgbClr val="FFD84D"/>
                </a:solidFill>
                <a:latin typeface="Bookman Old Style" pitchFamily="34" charset="0"/>
                <a:ea typeface="Bookman Old Style" pitchFamily="34" charset="-122"/>
                <a:cs typeface="Bookman Old Style" pitchFamily="34" charset="-120"/>
              </a:rPr>
              <a:t>A Criminologist’s Director’s Cut</a:t>
            </a:r>
            <a:endParaRPr lang="en-US" sz="3000" dirty="0"/>
          </a:p>
        </p:txBody>
      </p:sp>
      <p:sp>
        <p:nvSpPr>
          <p:cNvPr id="10" name="Text 4"/>
          <p:cNvSpPr txBox="1"/>
          <p:nvPr/>
        </p:nvSpPr>
        <p:spPr>
          <a:xfrm>
            <a:off x="548640" y="3840480"/>
            <a:ext cx="8229600" cy="411480"/>
          </a:xfrm>
          <a:prstGeom prst="rect">
            <a:avLst/>
          </a:prstGeom>
          <a:noFill/>
          <a:ln/>
        </p:spPr>
        <p:txBody>
          <a:bodyPr wrap="square" lIns="0" tIns="0" rIns="0" bIns="0" rtlCol="0" anchor="ctr"/>
          <a:lstStyle/>
          <a:p>
            <a:pPr indent="0" marL="0">
              <a:buNone/>
            </a:pPr>
            <a:r>
              <a:rPr lang="en-US" sz="1800" dirty="0">
                <a:solidFill>
                  <a:srgbClr val="D9D6CF"/>
                </a:solidFill>
              </a:rPr>
              <a:t>Three acts. Five crimes. One question: is this organized crime?</a:t>
            </a:r>
            <a:endParaRPr lang="en-US" sz="1800" dirty="0"/>
          </a:p>
        </p:txBody>
      </p:sp>
      <p:sp>
        <p:nvSpPr>
          <p:cNvPr id="11" name="Text 5"/>
          <p:cNvSpPr txBox="1"/>
          <p:nvPr/>
        </p:nvSpPr>
        <p:spPr>
          <a:xfrm>
            <a:off x="548640" y="4480560"/>
            <a:ext cx="8229600" cy="2011680"/>
          </a:xfrm>
          <a:prstGeom prst="rect">
            <a:avLst/>
          </a:prstGeom>
          <a:noFill/>
          <a:ln/>
        </p:spPr>
        <p:txBody>
          <a:bodyPr wrap="square" lIns="0" tIns="0" rIns="0" bIns="0" rtlCol="0" anchor="t"/>
          <a:lstStyle/>
          <a:p>
            <a:pPr indent="0" marL="0">
              <a:spcAft>
                <a:spcPts val="400"/>
              </a:spcAft>
              <a:buNone/>
            </a:pPr>
            <a:r>
              <a:rPr lang="en-US" sz="1100" b="1" spc="200" kern="0" dirty="0">
                <a:solidFill>
                  <a:srgbClr val="A9ADB5"/>
                </a:solidFill>
                <a:latin typeface="Courier New" pitchFamily="34" charset="0"/>
                <a:ea typeface="Courier New" pitchFamily="34" charset="-122"/>
                <a:cs typeface="Courier New" pitchFamily="34" charset="-120"/>
              </a:rPr>
              <a:t>PRESENTED BY GROUP 6</a:t>
            </a:r>
            <a:endParaRPr lang="en-US" sz="1100" dirty="0"/>
          </a:p>
          <a:p>
            <a:pPr indent="0" marL="0">
              <a:spcAft>
                <a:spcPts val="400"/>
              </a:spcAft>
              <a:buNone/>
            </a:pPr>
            <a:r>
              <a:rPr lang="en-US" sz="1300" dirty="0">
                <a:solidFill>
                  <a:schemeClr val="bg1"/>
                </a:solidFill>
              </a:rPr>
              <a:t>27  Minhaz Ahamed Khan Nabin   ·   08  Jesmin Naher Sweety</a:t>
            </a:r>
            <a:endParaRPr lang="en-US" sz="1100" dirty="0"/>
          </a:p>
          <a:p>
            <a:pPr indent="0" marL="0">
              <a:spcAft>
                <a:spcPts val="400"/>
              </a:spcAft>
              <a:buNone/>
            </a:pPr>
            <a:r>
              <a:rPr lang="en-US" sz="1300" dirty="0">
                <a:solidFill>
                  <a:schemeClr val="bg1"/>
                </a:solidFill>
              </a:rPr>
              <a:t>37  Md. Abir Mahmud Jakaria   ·   33  Imran Mridha</a:t>
            </a:r>
            <a:endParaRPr lang="en-US" sz="1100" dirty="0"/>
          </a:p>
          <a:p>
            <a:pPr indent="0" marL="0">
              <a:spcAft>
                <a:spcPts val="400"/>
              </a:spcAft>
              <a:buNone/>
            </a:pPr>
            <a:r>
              <a:rPr lang="en-US" sz="1300" dirty="0">
                <a:solidFill>
                  <a:schemeClr val="bg1"/>
                </a:solidFill>
              </a:rPr>
              <a:t>24  Ahnaf Akif   ·   21  Nishit Kumer</a:t>
            </a:r>
            <a:endParaRPr lang="en-US" sz="1100" dirty="0"/>
          </a:p>
          <a:p>
            <a:pPr indent="0" marL="0">
              <a:spcAft>
                <a:spcPts val="400"/>
              </a:spcAft>
              <a:buNone/>
            </a:pPr>
            <a:r>
              <a:rPr lang="en-US" sz="1300" dirty="0">
                <a:solidFill>
                  <a:srgbClr val="A9ADB5"/>
                </a:solidFill>
              </a:rPr>
              <a:t>Department of Criminology, University of Dhaka</a:t>
            </a:r>
            <a:endParaRPr lang="en-US" sz="1100" dirty="0"/>
          </a:p>
          <a:p>
            <a:pPr indent="0" marL="0">
              <a:spcAft>
                <a:spcPts val="400"/>
              </a:spcAft>
              <a:buNone/>
            </a:pPr>
            <a:r>
              <a:rPr lang="en-US" sz="1200" i="1" dirty="0">
                <a:solidFill>
                  <a:srgbClr val="A9ADB5"/>
                </a:solidFill>
              </a:rPr>
              <a:t>Submitted to: Md. Rezaul Karim Shohag, Assistant Professor</a:t>
            </a:r>
            <a:endParaRPr lang="en-US" sz="11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57"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1500"/>
                                        <p:tgtEl>
                                          <p:spTgt spid="2"/>
                                        </p:tgtEl>
                                      </p:cBhvr>
                                    </p:animEffect>
                                  </p:childTnLst>
                                </p:cTn>
                              </p:par>
                              <p:par>
                                <p:cTn id="10" presetID="53" presetClass="entr" presetSubtype="16" fill="hold" grpId="0" nodeType="withEffect">
                                  <p:stCondLst>
                                    <p:cond delay="3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400" fill="hold"/>
                                        <p:tgtEl>
                                          <p:spTgt spid="6"/>
                                        </p:tgtEl>
                                        <p:attrNameLst>
                                          <p:attrName>ppt_w</p:attrName>
                                        </p:attrNameLst>
                                      </p:cBhvr>
                                      <p:tavLst>
                                        <p:tav tm="0">
                                          <p:val>
                                            <p:strVal val="0"/>
                                          </p:val>
                                        </p:tav>
                                        <p:tav tm="100000">
                                          <p:val>
                                            <p:strVal val="#ppt_w"/>
                                          </p:val>
                                        </p:tav>
                                      </p:tavLst>
                                    </p:anim>
                                    <p:anim calcmode="lin" valueType="num">
                                      <p:cBhvr additive="base">
                                        <p:cTn id="8" dur="400" fill="hold"/>
                                        <p:tgtEl>
                                          <p:spTgt spid="6"/>
                                        </p:tgtEl>
                                        <p:attrNameLst>
                                          <p:attrName>ppt_h</p:attrName>
                                        </p:attrNameLst>
                                      </p:cBhvr>
                                      <p:tavLst>
                                        <p:tav tm="0">
                                          <p:val>
                                            <p:strVal val="0"/>
                                          </p:val>
                                        </p:tav>
                                        <p:tav tm="100000">
                                          <p:val>
                                            <p:strVal val="#ppt_h"/>
                                          </p:val>
                                        </p:tav>
                                      </p:tavLst>
                                    </p:anim>
                                    <p:animEffect transition="in" filter="fade">
                                      <p:cBhvr>
                                        <p:cTn id="9" dur="400"/>
                                        <p:tgtEl>
                                          <p:spTgt spid="6"/>
                                        </p:tgtEl>
                                      </p:cBhvr>
                                    </p:animEffect>
                                  </p:childTnLst>
                                </p:cTn>
                              </p:par>
                              <p:par>
                                <p:cTn id="12" presetID="1" presetClass="entr" presetSubtype="0" fill="hold" grpId="0" nodeType="withEffect">
                                  <p:stCondLst>
                                    <p:cond delay="500"/>
                                  </p:stCondLst>
                                  <p:iterate type="lt">
                                    <p:tmAbs val="30"/>
                                  </p:iterate>
                                  <p:childTnLst>
                                    <p:set>
                                      <p:cBhvr>
                                        <p:cTn id="11" dur="1" fill="hold">
                                          <p:stCondLst>
                                            <p:cond delay="0"/>
                                          </p:stCondLst>
                                        </p:cTn>
                                        <p:tgtEl>
                                          <p:spTgt spid="7"/>
                                        </p:tgtEl>
                                        <p:attrNameLst>
                                          <p:attrName>style.visibility</p:attrName>
                                        </p:attrNameLst>
                                      </p:cBhvr>
                                      <p:to>
                                        <p:strVal val="visible"/>
                                      </p:to>
                                    </p:set>
                                  </p:childTnLst>
                                </p:cTn>
                              </p:par>
                              <p:par>
                                <p:cTn id="14" presetID="6" presetClass="emph" presetSubtype="0" fill="hold" grpId="1" nodeType="withEffect" autoRev="1" repeatCount="indefinite">
                                  <p:stCondLst>
                                    <p:cond delay="800"/>
                                  </p:stCondLst>
                                  <p:childTnLst>
                                    <p:animScale>
                                      <p:cBhvr>
                                        <p:cTn id="13" dur="650" fill="hold"/>
                                        <p:tgtEl>
                                          <p:spTgt spid="6"/>
                                        </p:tgtEl>
                                      </p:cBhvr>
                                      <p:by x="135000" y="135000"/>
                                    </p:animScale>
                                  </p:childTnLst>
                                </p:cTn>
                              </p:par>
                              <p:par>
                                <p:cTn id="19" presetID="53" presetClass="entr" presetSubtype="16" fill="hold" grpId="0" nodeType="withEffect">
                                  <p:stCondLst>
                                    <p:cond delay="120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900" fill="hold"/>
                                        <p:tgtEl>
                                          <p:spTgt spid="8"/>
                                        </p:tgtEl>
                                        <p:attrNameLst>
                                          <p:attrName>ppt_w</p:attrName>
                                        </p:attrNameLst>
                                      </p:cBhvr>
                                      <p:tavLst>
                                        <p:tav tm="0">
                                          <p:val>
                                            <p:strVal val="0"/>
                                          </p:val>
                                        </p:tav>
                                        <p:tav tm="100000">
                                          <p:val>
                                            <p:strVal val="#ppt_w"/>
                                          </p:val>
                                        </p:tav>
                                      </p:tavLst>
                                    </p:anim>
                                    <p:anim calcmode="lin" valueType="num">
                                      <p:cBhvr additive="base">
                                        <p:cTn id="17" dur="900" fill="hold"/>
                                        <p:tgtEl>
                                          <p:spTgt spid="8"/>
                                        </p:tgtEl>
                                        <p:attrNameLst>
                                          <p:attrName>ppt_h</p:attrName>
                                        </p:attrNameLst>
                                      </p:cBhvr>
                                      <p:tavLst>
                                        <p:tav tm="0">
                                          <p:val>
                                            <p:strVal val="0"/>
                                          </p:val>
                                        </p:tav>
                                        <p:tav tm="100000">
                                          <p:val>
                                            <p:strVal val="#ppt_h"/>
                                          </p:val>
                                        </p:tav>
                                      </p:tavLst>
                                    </p:anim>
                                    <p:animEffect transition="in" filter="fade">
                                      <p:cBhvr>
                                        <p:cTn id="18" dur="900"/>
                                        <p:tgtEl>
                                          <p:spTgt spid="8"/>
                                        </p:tgtEl>
                                      </p:cBhvr>
                                    </p:animEffect>
                                  </p:childTnLst>
                                </p:cTn>
                              </p:par>
                              <p:par>
                                <p:cTn id="21" presetID="6" presetClass="emph" presetSubtype="0" fill="hold" grpId="1" nodeType="withEffect" autoRev="1" repeatCount="indefinite">
                                  <p:stCondLst>
                                    <p:cond delay="1600"/>
                                  </p:stCondLst>
                                  <p:childTnLst>
                                    <p:animScale>
                                      <p:cBhvr>
                                        <p:cTn id="20" dur="2200" fill="hold"/>
                                        <p:tgtEl>
                                          <p:spTgt spid="2"/>
                                        </p:tgtEl>
                                      </p:cBhvr>
                                      <p:by x="103000" y="103000"/>
                                    </p:animScale>
                                  </p:childTnLst>
                                </p:cTn>
                              </p:par>
                              <p:par>
                                <p:cTn id="26" presetID="42" presetClass="entr" presetSubtype="0" fill="hold" grpId="0" nodeType="withEffect">
                                  <p:stCondLst>
                                    <p:cond delay="21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700"/>
                                        <p:tgtEl>
                                          <p:spTgt spid="9"/>
                                        </p:tgtEl>
                                      </p:cBhvr>
                                    </p:animEffect>
                                    <p:anim calcmode="lin" valueType="num">
                                      <p:cBhvr additive="base">
                                        <p:cTn id="24" dur="700" fill="hold"/>
                                        <p:tgtEl>
                                          <p:spTgt spid="9"/>
                                        </p:tgtEl>
                                        <p:attrNameLst>
                                          <p:attrName>ppt_x</p:attrName>
                                        </p:attrNameLst>
                                      </p:cBhvr>
                                      <p:tavLst>
                                        <p:tav tm="0">
                                          <p:val>
                                            <p:strVal val="#ppt_x"/>
                                          </p:val>
                                        </p:tav>
                                        <p:tav tm="100000">
                                          <p:val>
                                            <p:strVal val="#ppt_x"/>
                                          </p:val>
                                        </p:tav>
                                      </p:tavLst>
                                    </p:anim>
                                    <p:anim calcmode="lin" valueType="num">
                                      <p:cBhvr additive="base">
                                        <p:cTn id="25" dur="700" fill="hold"/>
                                        <p:tgtEl>
                                          <p:spTgt spid="9"/>
                                        </p:tgtEl>
                                        <p:attrNameLst>
                                          <p:attrName>ppt_y</p:attrName>
                                        </p:attrNameLst>
                                      </p:cBhvr>
                                      <p:tavLst>
                                        <p:tav tm="0">
                                          <p:val>
                                            <p:strVal val="#ppt_y+.06"/>
                                          </p:val>
                                        </p:tav>
                                        <p:tav tm="100000">
                                          <p:val>
                                            <p:strVal val="#ppt_y"/>
                                          </p:val>
                                        </p:tav>
                                      </p:tavLst>
                                    </p:anim>
                                  </p:childTnLst>
                                </p:cTn>
                              </p:par>
                              <p:par>
                                <p:cTn id="29" presetID="10" presetClass="entr" presetSubtype="0" fill="hold" grpId="0" nodeType="withEffect">
                                  <p:stCondLst>
                                    <p:cond delay="27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00"/>
                                        <p:tgtEl>
                                          <p:spTgt spid="10"/>
                                        </p:tgtEl>
                                      </p:cBhvr>
                                    </p:animEffect>
                                  </p:childTnLst>
                                </p:cTn>
                              </p:par>
                              <p:par>
                                <p:cTn id="34" presetID="42" presetClass="entr" presetSubtype="0" fill="hold" grpId="0" nodeType="withEffect">
                                  <p:stCondLst>
                                    <p:cond delay="3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800"/>
                                        <p:tgtEl>
                                          <p:spTgt spid="11"/>
                                        </p:tgtEl>
                                      </p:cBhvr>
                                    </p:animEffect>
                                    <p:anim calcmode="lin" valueType="num">
                                      <p:cBhvr additive="base">
                                        <p:cTn id="32" dur="800" fill="hold"/>
                                        <p:tgtEl>
                                          <p:spTgt spid="11"/>
                                        </p:tgtEl>
                                        <p:attrNameLst>
                                          <p:attrName>ppt_x</p:attrName>
                                        </p:attrNameLst>
                                      </p:cBhvr>
                                      <p:tavLst>
                                        <p:tav tm="0">
                                          <p:val>
                                            <p:strVal val="#ppt_x"/>
                                          </p:val>
                                        </p:tav>
                                        <p:tav tm="100000">
                                          <p:val>
                                            <p:strVal val="#ppt_x"/>
                                          </p:val>
                                        </p:tav>
                                      </p:tavLst>
                                    </p:anim>
                                    <p:anim calcmode="lin" valueType="num">
                                      <p:cBhvr additive="base">
                                        <p:cTn id="33" dur="800" fill="hold"/>
                                        <p:tgtEl>
                                          <p:spTgt spid="11"/>
                                        </p:tgtEl>
                                        <p:attrNameLst>
                                          <p:attrName>ppt_y</p:attrName>
                                        </p:attrNameLst>
                                      </p:cBhvr>
                                      <p:tavLst>
                                        <p:tav tm="0">
                                          <p:val>
                                            <p:strVal val="#ppt_y+.06"/>
                                          </p:val>
                                        </p:tav>
                                        <p:tav tm="100000">
                                          <p:val>
                                            <p:strVal val="#ppt_y"/>
                                          </p:val>
                                        </p:tav>
                                      </p:tavLst>
                                    </p:anim>
                                  </p:childTnLst>
                                </p:cTn>
                              </p:par>
                              <p:par>
                                <p:cTn id="38" presetID="2" presetClass="entr" presetSubtype="2" fill="hold" grpId="0" nodeType="withEffect">
                                  <p:stCondLst>
                                    <p:cond delay="380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1600" fill="hold"/>
                                        <p:tgtEl>
                                          <p:spTgt spid="3"/>
                                        </p:tgtEl>
                                        <p:attrNameLst>
                                          <p:attrName>ppt_x</p:attrName>
                                        </p:attrNameLst>
                                      </p:cBhvr>
                                      <p:tavLst>
                                        <p:tav tm="0">
                                          <p:val>
                                            <p:strVal val="1+#ppt_w/2"/>
                                          </p:val>
                                        </p:tav>
                                        <p:tav tm="100000">
                                          <p:val>
                                            <p:strVal val="#ppt_x"/>
                                          </p:val>
                                        </p:tav>
                                      </p:tavLst>
                                    </p:anim>
                                    <p:anim calcmode="lin" valueType="num">
                                      <p:cBhvr additive="base">
                                        <p:cTn id="37" dur="1600" fill="hold"/>
                                        <p:tgtEl>
                                          <p:spTgt spid="3"/>
                                        </p:tgtEl>
                                        <p:attrNameLst>
                                          <p:attrName>ppt_y</p:attrName>
                                        </p:attrNameLst>
                                      </p:cBhvr>
                                      <p:tavLst>
                                        <p:tav tm="0">
                                          <p:val>
                                            <p:strVal val="#ppt_y"/>
                                          </p:val>
                                        </p:tav>
                                        <p:tav tm="100000">
                                          <p:val>
                                            <p:strVal val="#ppt_y"/>
                                          </p:val>
                                        </p:tav>
                                      </p:tavLst>
                                    </p:anim>
                                  </p:childTnLst>
                                </p:cTn>
                              </p:par>
                              <p:par>
                                <p:cTn id="40" presetID="0" presetClass="path" presetSubtype="0" fill="hold" grpId="1" nodeType="withEffect" autoRev="1" repeatCount="4000">
                                  <p:stCondLst>
                                    <p:cond delay="3800"/>
                                  </p:stCondLst>
                                  <p:childTnLst>
                                    <p:animMotion origin="layout" path="M 0 0 L 0 -0.012 E" pathEditMode="relative" ptsTypes="AA">
                                      <p:cBhvr>
                                        <p:cTn id="39" dur="220" fill="hold"/>
                                        <p:tgtEl>
                                          <p:spTgt spid="3"/>
                                        </p:tgtEl>
                                        <p:attrNameLst>
                                          <p:attrName>ppt_x</p:attrName>
                                          <p:attrName>ppt_y</p:attrName>
                                        </p:attrNameLst>
                                      </p:cBhvr>
                                    </p:animMotion>
                                  </p:childTnLst>
                                </p:cTn>
                              </p:par>
                              <p:par>
                                <p:cTn id="44" presetID="2" presetClass="entr" presetSubtype="2" fill="hold" grpId="0" nodeType="withEffect">
                                  <p:stCondLst>
                                    <p:cond delay="430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1600" fill="hold"/>
                                        <p:tgtEl>
                                          <p:spTgt spid="4"/>
                                        </p:tgtEl>
                                        <p:attrNameLst>
                                          <p:attrName>ppt_x</p:attrName>
                                        </p:attrNameLst>
                                      </p:cBhvr>
                                      <p:tavLst>
                                        <p:tav tm="0">
                                          <p:val>
                                            <p:strVal val="1+#ppt_w/2"/>
                                          </p:val>
                                        </p:tav>
                                        <p:tav tm="100000">
                                          <p:val>
                                            <p:strVal val="#ppt_x"/>
                                          </p:val>
                                        </p:tav>
                                      </p:tavLst>
                                    </p:anim>
                                    <p:anim calcmode="lin" valueType="num">
                                      <p:cBhvr additive="base">
                                        <p:cTn id="43" dur="1600" fill="hold"/>
                                        <p:tgtEl>
                                          <p:spTgt spid="4"/>
                                        </p:tgtEl>
                                        <p:attrNameLst>
                                          <p:attrName>ppt_y</p:attrName>
                                        </p:attrNameLst>
                                      </p:cBhvr>
                                      <p:tavLst>
                                        <p:tav tm="0">
                                          <p:val>
                                            <p:strVal val="#ppt_y"/>
                                          </p:val>
                                        </p:tav>
                                        <p:tav tm="100000">
                                          <p:val>
                                            <p:strVal val="#ppt_y"/>
                                          </p:val>
                                        </p:tav>
                                      </p:tavLst>
                                    </p:anim>
                                  </p:childTnLst>
                                </p:cTn>
                              </p:par>
                              <p:par>
                                <p:cTn id="46" presetID="0" presetClass="path" presetSubtype="0" fill="hold" grpId="1" nodeType="withEffect" autoRev="1" repeatCount="4000">
                                  <p:stCondLst>
                                    <p:cond delay="4300"/>
                                  </p:stCondLst>
                                  <p:childTnLst>
                                    <p:animMotion origin="layout" path="M 0 0 L 0 -0.012 E" pathEditMode="relative" ptsTypes="AA">
                                      <p:cBhvr>
                                        <p:cTn id="45" dur="220" fill="hold"/>
                                        <p:tgtEl>
                                          <p:spTgt spid="4"/>
                                        </p:tgtEl>
                                        <p:attrNameLst>
                                          <p:attrName>ppt_x</p:attrName>
                                          <p:attrName>ppt_y</p:attrName>
                                        </p:attrNameLst>
                                      </p:cBhvr>
                                    </p:animMotion>
                                  </p:childTnLst>
                                </p:cTn>
                              </p:par>
                              <p:par>
                                <p:cTn id="51" presetID="53" presetClass="entr" presetSubtype="32" fill="hold" grpId="0" nodeType="withEffect">
                                  <p:stCondLst>
                                    <p:cond delay="6100"/>
                                  </p:stCondLst>
                                  <p:childTnLst>
                                    <p:set>
                                      <p:cBhvr>
                                        <p:cTn id="47" dur="1" fill="hold">
                                          <p:stCondLst>
                                            <p:cond delay="0"/>
                                          </p:stCondLst>
                                        </p:cTn>
                                        <p:tgtEl>
                                          <p:spTgt spid="5"/>
                                        </p:tgtEl>
                                        <p:attrNameLst>
                                          <p:attrName>style.visibility</p:attrName>
                                        </p:attrNameLst>
                                      </p:cBhvr>
                                      <p:to>
                                        <p:strVal val="visible"/>
                                      </p:to>
                                    </p:set>
                                    <p:anim calcmode="lin" valueType="num">
                                      <p:cBhvr additive="base">
                                        <p:cTn id="48" dur="450" fill="hold"/>
                                        <p:tgtEl>
                                          <p:spTgt spid="5"/>
                                        </p:tgtEl>
                                        <p:attrNameLst>
                                          <p:attrName>ppt_w</p:attrName>
                                        </p:attrNameLst>
                                      </p:cBhvr>
                                      <p:tavLst>
                                        <p:tav tm="0">
                                          <p:val>
                                            <p:strVal val="#ppt_w*2.4"/>
                                          </p:val>
                                        </p:tav>
                                        <p:tav tm="100000">
                                          <p:val>
                                            <p:strVal val="#ppt_w"/>
                                          </p:val>
                                        </p:tav>
                                      </p:tavLst>
                                    </p:anim>
                                    <p:anim calcmode="lin" valueType="num">
                                      <p:cBhvr additive="base">
                                        <p:cTn id="49" dur="450" fill="hold"/>
                                        <p:tgtEl>
                                          <p:spTgt spid="5"/>
                                        </p:tgtEl>
                                        <p:attrNameLst>
                                          <p:attrName>ppt_h</p:attrName>
                                        </p:attrNameLst>
                                      </p:cBhvr>
                                      <p:tavLst>
                                        <p:tav tm="0">
                                          <p:val>
                                            <p:strVal val="#ppt_h*2.4"/>
                                          </p:val>
                                        </p:tav>
                                        <p:tav tm="100000">
                                          <p:val>
                                            <p:strVal val="#ppt_h"/>
                                          </p:val>
                                        </p:tav>
                                      </p:tavLst>
                                    </p:anim>
                                    <p:animEffect transition="in" filter="fade">
                                      <p:cBhvr>
                                        <p:cTn id="50" dur="450"/>
                                        <p:tgtEl>
                                          <p:spTgt spid="5"/>
                                        </p:tgtEl>
                                      </p:cBhvr>
                                    </p:animEffect>
                                  </p:childTnLst>
                                </p:cTn>
                              </p:par>
                              <p:par>
                                <p:cTn id="53" presetID="0" presetClass="path" presetSubtype="0" fill="hold" grpId="2" nodeType="withEffect" autoRev="1" repeatCount="indefinite">
                                  <p:stCondLst>
                                    <p:cond delay="6800"/>
                                  </p:stCondLst>
                                  <p:childTnLst>
                                    <p:animMotion origin="layout" path="M 0 0 L 0 -0.035 E" pathEditMode="relative" ptsTypes="AA">
                                      <p:cBhvr>
                                        <p:cTn id="52" dur="900" fill="hold"/>
                                        <p:tgtEl>
                                          <p:spTgt spid="3"/>
                                        </p:tgtEl>
                                        <p:attrNameLst>
                                          <p:attrName>ppt_x</p:attrName>
                                          <p:attrName>ppt_y</p:attrName>
                                        </p:attrNameLst>
                                      </p:cBhvr>
                                    </p:animMotion>
                                  </p:childTnLst>
                                </p:cTn>
                              </p:par>
                              <p:par>
                                <p:cTn id="55" presetID="0" presetClass="path" presetSubtype="0" fill="hold" grpId="2" nodeType="withEffect" autoRev="1" repeatCount="indefinite">
                                  <p:stCondLst>
                                    <p:cond delay="7200"/>
                                  </p:stCondLst>
                                  <p:childTnLst>
                                    <p:animMotion origin="layout" path="M 0 0 L 0 -0.035 E" pathEditMode="relative" ptsTypes="AA">
                                      <p:cBhvr>
                                        <p:cTn id="54" dur="900" fill="hold"/>
                                        <p:tgtEl>
                                          <p:spTgt spid="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6" grpId="1" animBg="1"/>
      <p:bldP spid="8" grpId="0" animBg="1"/>
      <p:bldP spid="2" grpId="1" animBg="1"/>
      <p:bldP spid="9" grpId="0" animBg="1"/>
      <p:bldP spid="10" grpId="0" animBg="1"/>
      <p:bldP spid="11" grpId="0" animBg="1"/>
      <p:bldP spid="3" grpId="0" animBg="1"/>
      <p:bldP spid="3" grpId="1" animBg="1"/>
      <p:bldP spid="4" grpId="0" animBg="1"/>
      <p:bldP spid="4" grpId="1" animBg="1"/>
      <p:bldP spid="5" grpId="0" animBg="1"/>
      <p:bldP spid="3" grpId="2" animBg="1"/>
      <p:bldP spid="4" grpId="2"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TRAILER  ·  BEFORE WE PRESS PLAY</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 buddy comedy that hides a real organized fraud</a:t>
            </a:r>
            <a:endParaRPr lang="en-US" sz="3000" dirty="0"/>
          </a:p>
        </p:txBody>
      </p:sp>
      <p:sp>
        <p:nvSpPr>
          <p:cNvPr id="5" name="Text 3"/>
          <p:cNvSpPr txBox="1"/>
          <p:nvPr/>
        </p:nvSpPr>
        <p:spPr>
          <a:xfrm>
            <a:off x="548640" y="1737360"/>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DIRECTOR</a:t>
            </a:r>
            <a:endParaRPr lang="en-US" sz="1200" dirty="0"/>
          </a:p>
        </p:txBody>
      </p:sp>
      <p:sp>
        <p:nvSpPr>
          <p:cNvPr id="6" name="Text 4"/>
          <p:cNvSpPr txBox="1"/>
          <p:nvPr/>
        </p:nvSpPr>
        <p:spPr>
          <a:xfrm>
            <a:off x="2514600" y="1737360"/>
            <a:ext cx="4572000" cy="603504"/>
          </a:xfrm>
          <a:prstGeom prst="rect">
            <a:avLst/>
          </a:prstGeom>
          <a:noFill/>
          <a:ln/>
        </p:spPr>
        <p:txBody>
          <a:bodyPr wrap="square" lIns="0" tIns="0" rIns="0" bIns="0" rtlCol="0" anchor="ctr"/>
          <a:lstStyle/>
          <a:p>
            <a:pPr indent="0" marL="0">
              <a:buNone/>
            </a:pPr>
            <a:r>
              <a:rPr lang="en-US" sz="1600" dirty="0">
                <a:solidFill>
                  <a:schemeClr val="bg1"/>
                </a:solidFill>
              </a:rPr>
              <a:t>Todd Phillips</a:t>
            </a:r>
            <a:endParaRPr lang="en-US" sz="1600" dirty="0"/>
          </a:p>
        </p:txBody>
      </p:sp>
      <p:sp>
        <p:nvSpPr>
          <p:cNvPr id="7" name="Shape 5"/>
          <p:cNvSpPr/>
          <p:nvPr/>
        </p:nvSpPr>
        <p:spPr>
          <a:xfrm>
            <a:off x="548640" y="2395728"/>
            <a:ext cx="6537960" cy="0"/>
          </a:xfrm>
          <a:prstGeom prst="line">
            <a:avLst/>
          </a:prstGeom>
          <a:noFill/>
          <a:ln w="12700">
            <a:solidFill>
              <a:srgbClr val="33363D"/>
            </a:solidFill>
            <a:prstDash val="solid"/>
          </a:ln>
        </p:spPr>
      </p:sp>
      <p:sp>
        <p:nvSpPr>
          <p:cNvPr id="8" name="Text 6"/>
          <p:cNvSpPr txBox="1"/>
          <p:nvPr/>
        </p:nvSpPr>
        <p:spPr>
          <a:xfrm>
            <a:off x="548640" y="2450592"/>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YEAR · STUDIO</a:t>
            </a:r>
            <a:endParaRPr lang="en-US" sz="1200" dirty="0"/>
          </a:p>
        </p:txBody>
      </p:sp>
      <p:sp>
        <p:nvSpPr>
          <p:cNvPr id="9" name="Text 7"/>
          <p:cNvSpPr txBox="1"/>
          <p:nvPr/>
        </p:nvSpPr>
        <p:spPr>
          <a:xfrm>
            <a:off x="2514600" y="2450592"/>
            <a:ext cx="4572000" cy="603504"/>
          </a:xfrm>
          <a:prstGeom prst="rect">
            <a:avLst/>
          </a:prstGeom>
          <a:noFill/>
          <a:ln/>
        </p:spPr>
        <p:txBody>
          <a:bodyPr wrap="square" lIns="0" tIns="0" rIns="0" bIns="0" rtlCol="0" anchor="ctr"/>
          <a:lstStyle/>
          <a:p>
            <a:pPr indent="0" marL="0">
              <a:buNone/>
            </a:pPr>
            <a:r>
              <a:rPr lang="en-US" sz="1600" dirty="0">
                <a:solidFill>
                  <a:schemeClr val="bg1"/>
                </a:solidFill>
              </a:rPr>
              <a:t>2016 · Warner Bros.</a:t>
            </a:r>
            <a:endParaRPr lang="en-US" sz="1600" dirty="0"/>
          </a:p>
        </p:txBody>
      </p:sp>
      <p:sp>
        <p:nvSpPr>
          <p:cNvPr id="10" name="Shape 8"/>
          <p:cNvSpPr/>
          <p:nvPr/>
        </p:nvSpPr>
        <p:spPr>
          <a:xfrm>
            <a:off x="548640" y="3108960"/>
            <a:ext cx="6537960" cy="0"/>
          </a:xfrm>
          <a:prstGeom prst="line">
            <a:avLst/>
          </a:prstGeom>
          <a:noFill/>
          <a:ln w="12700">
            <a:solidFill>
              <a:srgbClr val="33363D"/>
            </a:solidFill>
            <a:prstDash val="solid"/>
          </a:ln>
        </p:spPr>
      </p:sp>
      <p:sp>
        <p:nvSpPr>
          <p:cNvPr id="11" name="Text 9"/>
          <p:cNvSpPr txBox="1"/>
          <p:nvPr/>
        </p:nvSpPr>
        <p:spPr>
          <a:xfrm>
            <a:off x="548640" y="3163824"/>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GENRE</a:t>
            </a:r>
            <a:endParaRPr lang="en-US" sz="1200" dirty="0"/>
          </a:p>
        </p:txBody>
      </p:sp>
      <p:sp>
        <p:nvSpPr>
          <p:cNvPr id="12" name="Text 10"/>
          <p:cNvSpPr txBox="1"/>
          <p:nvPr/>
        </p:nvSpPr>
        <p:spPr>
          <a:xfrm>
            <a:off x="2514600" y="3163824"/>
            <a:ext cx="4572000" cy="603504"/>
          </a:xfrm>
          <a:prstGeom prst="rect">
            <a:avLst/>
          </a:prstGeom>
          <a:noFill/>
          <a:ln/>
        </p:spPr>
        <p:txBody>
          <a:bodyPr wrap="square" lIns="0" tIns="0" rIns="0" bIns="0" rtlCol="0" anchor="ctr"/>
          <a:lstStyle/>
          <a:p>
            <a:pPr indent="0" marL="0">
              <a:buNone/>
            </a:pPr>
            <a:r>
              <a:rPr lang="en-US" sz="1600" dirty="0">
                <a:solidFill>
                  <a:schemeClr val="bg1"/>
                </a:solidFill>
              </a:rPr>
              <a:t>Crime comedy-drama (based on true events)</a:t>
            </a:r>
            <a:endParaRPr lang="en-US" sz="1600" dirty="0"/>
          </a:p>
        </p:txBody>
      </p:sp>
      <p:sp>
        <p:nvSpPr>
          <p:cNvPr id="13" name="Shape 11"/>
          <p:cNvSpPr/>
          <p:nvPr/>
        </p:nvSpPr>
        <p:spPr>
          <a:xfrm>
            <a:off x="548640" y="3822192"/>
            <a:ext cx="6537960" cy="0"/>
          </a:xfrm>
          <a:prstGeom prst="line">
            <a:avLst/>
          </a:prstGeom>
          <a:noFill/>
          <a:ln w="12700">
            <a:solidFill>
              <a:srgbClr val="33363D"/>
            </a:solidFill>
            <a:prstDash val="solid"/>
          </a:ln>
        </p:spPr>
      </p:sp>
      <p:sp>
        <p:nvSpPr>
          <p:cNvPr id="14" name="Text 12"/>
          <p:cNvSpPr txBox="1"/>
          <p:nvPr/>
        </p:nvSpPr>
        <p:spPr>
          <a:xfrm>
            <a:off x="548640" y="3877056"/>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STARRING</a:t>
            </a:r>
            <a:endParaRPr lang="en-US" sz="1200" dirty="0"/>
          </a:p>
        </p:txBody>
      </p:sp>
      <p:sp>
        <p:nvSpPr>
          <p:cNvPr id="15" name="Text 13"/>
          <p:cNvSpPr txBox="1"/>
          <p:nvPr/>
        </p:nvSpPr>
        <p:spPr>
          <a:xfrm>
            <a:off x="2514600" y="3877056"/>
            <a:ext cx="4572000" cy="603504"/>
          </a:xfrm>
          <a:prstGeom prst="rect">
            <a:avLst/>
          </a:prstGeom>
          <a:noFill/>
          <a:ln/>
        </p:spPr>
        <p:txBody>
          <a:bodyPr wrap="square" lIns="0" tIns="0" rIns="0" bIns="0" rtlCol="0" anchor="ctr"/>
          <a:lstStyle/>
          <a:p>
            <a:pPr indent="0" marL="0">
              <a:buNone/>
            </a:pPr>
            <a:r>
              <a:rPr lang="en-US" sz="1600" dirty="0">
                <a:solidFill>
                  <a:schemeClr val="bg1"/>
                </a:solidFill>
              </a:rPr>
              <a:t>Jonah Hill · Miles Teller · Ana de Armas · Bradley Cooper</a:t>
            </a:r>
            <a:endParaRPr lang="en-US" sz="1600" dirty="0"/>
          </a:p>
        </p:txBody>
      </p:sp>
      <p:sp>
        <p:nvSpPr>
          <p:cNvPr id="16" name="Shape 14"/>
          <p:cNvSpPr/>
          <p:nvPr/>
        </p:nvSpPr>
        <p:spPr>
          <a:xfrm>
            <a:off x="548640" y="4535424"/>
            <a:ext cx="6537960" cy="0"/>
          </a:xfrm>
          <a:prstGeom prst="line">
            <a:avLst/>
          </a:prstGeom>
          <a:noFill/>
          <a:ln w="12700">
            <a:solidFill>
              <a:srgbClr val="33363D"/>
            </a:solidFill>
            <a:prstDash val="solid"/>
          </a:ln>
        </p:spPr>
      </p:sp>
      <p:sp>
        <p:nvSpPr>
          <p:cNvPr id="17" name="Text 15"/>
          <p:cNvSpPr txBox="1"/>
          <p:nvPr/>
        </p:nvSpPr>
        <p:spPr>
          <a:xfrm>
            <a:off x="548640" y="4590288"/>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SOURCE</a:t>
            </a:r>
            <a:endParaRPr lang="en-US" sz="1200" dirty="0"/>
          </a:p>
        </p:txBody>
      </p:sp>
      <p:sp>
        <p:nvSpPr>
          <p:cNvPr id="18" name="Text 16"/>
          <p:cNvSpPr txBox="1"/>
          <p:nvPr/>
        </p:nvSpPr>
        <p:spPr>
          <a:xfrm>
            <a:off x="2514600" y="4590288"/>
            <a:ext cx="4572000" cy="603504"/>
          </a:xfrm>
          <a:prstGeom prst="rect">
            <a:avLst/>
          </a:prstGeom>
          <a:noFill/>
          <a:ln/>
        </p:spPr>
        <p:txBody>
          <a:bodyPr wrap="square" lIns="0" tIns="0" rIns="0" bIns="0" rtlCol="0" anchor="ctr"/>
          <a:lstStyle/>
          <a:p>
            <a:pPr indent="0" marL="0">
              <a:buNone/>
            </a:pPr>
            <a:r>
              <a:rPr lang="en-US" sz="1600" dirty="0">
                <a:solidFill>
                  <a:schemeClr val="bg1"/>
                </a:solidFill>
              </a:rPr>
              <a:t>Guy Lawson, Rolling Stone (2011); Arms and the Dudes (2015)</a:t>
            </a:r>
            <a:endParaRPr lang="en-US" sz="1600" dirty="0"/>
          </a:p>
        </p:txBody>
      </p:sp>
      <p:sp>
        <p:nvSpPr>
          <p:cNvPr id="19" name="Shape 17"/>
          <p:cNvSpPr/>
          <p:nvPr/>
        </p:nvSpPr>
        <p:spPr>
          <a:xfrm>
            <a:off x="548640" y="5248656"/>
            <a:ext cx="6537960" cy="0"/>
          </a:xfrm>
          <a:prstGeom prst="line">
            <a:avLst/>
          </a:prstGeom>
          <a:noFill/>
          <a:ln w="12700">
            <a:solidFill>
              <a:srgbClr val="33363D"/>
            </a:solidFill>
            <a:prstDash val="solid"/>
          </a:ln>
        </p:spPr>
      </p:sp>
      <p:sp>
        <p:nvSpPr>
          <p:cNvPr id="20" name="thesis"/>
          <p:cNvSpPr/>
          <p:nvPr/>
        </p:nvSpPr>
        <p:spPr>
          <a:xfrm>
            <a:off x="7543800" y="1737360"/>
            <a:ext cx="4099255" cy="4023360"/>
          </a:xfrm>
          <a:prstGeom prst="rect">
            <a:avLst/>
          </a:prstGeom>
          <a:solidFill>
            <a:srgbClr val="1B1D22"/>
          </a:solidFill>
          <a:ln w="19050">
            <a:solidFill>
              <a:srgbClr val="FFD84D"/>
            </a:solidFill>
            <a:prstDash val="solid"/>
          </a:ln>
        </p:spPr>
      </p:sp>
      <p:sp>
        <p:nvSpPr>
          <p:cNvPr id="21" name="Text 19"/>
          <p:cNvSpPr txBox="1"/>
          <p:nvPr/>
        </p:nvSpPr>
        <p:spPr>
          <a:xfrm>
            <a:off x="7863840" y="1920240"/>
            <a:ext cx="3459175" cy="274320"/>
          </a:xfrm>
          <a:prstGeom prst="rect">
            <a:avLst/>
          </a:prstGeom>
          <a:noFill/>
          <a:ln/>
        </p:spPr>
        <p:txBody>
          <a:bodyPr wrap="square" lIns="0" tIns="0" rIns="0" bIns="0" rtlCol="0" anchor="ctr"/>
          <a:lstStyle/>
          <a:p>
            <a:pPr indent="0" marL="0">
              <a:buNone/>
            </a:pPr>
            <a:r>
              <a:rPr lang="en-US" sz="1200" b="1" spc="200" kern="0" dirty="0">
                <a:solidFill>
                  <a:srgbClr val="FFD84D"/>
                </a:solidFill>
                <a:latin typeface="Courier New" pitchFamily="34" charset="0"/>
                <a:ea typeface="Courier New" pitchFamily="34" charset="-122"/>
                <a:cs typeface="Courier New" pitchFamily="34" charset="-120"/>
              </a:rPr>
              <a:t>OUR THESIS</a:t>
            </a:r>
            <a:endParaRPr lang="en-US" sz="1200" dirty="0"/>
          </a:p>
        </p:txBody>
      </p:sp>
      <p:sp>
        <p:nvSpPr>
          <p:cNvPr id="22" name="Text 20"/>
          <p:cNvSpPr txBox="1"/>
          <p:nvPr/>
        </p:nvSpPr>
        <p:spPr>
          <a:xfrm>
            <a:off x="7863840" y="2286000"/>
            <a:ext cx="3459175" cy="1920240"/>
          </a:xfrm>
          <a:prstGeom prst="rect">
            <a:avLst/>
          </a:prstGeom>
          <a:noFill/>
          <a:ln/>
        </p:spPr>
        <p:txBody>
          <a:bodyPr wrap="square" lIns="0" tIns="0" rIns="0" bIns="0" rtlCol="0" anchor="t"/>
          <a:lstStyle/>
          <a:p>
            <a:pPr indent="0" marL="0">
              <a:buNone/>
            </a:pPr>
            <a:r>
              <a:rPr lang="en-US" sz="2000" b="1" dirty="0">
                <a:solidFill>
                  <a:schemeClr val="bg1"/>
                </a:solidFill>
                <a:latin typeface="Bookman Old Style" pitchFamily="34" charset="0"/>
                <a:ea typeface="Bookman Old Style" pitchFamily="34" charset="-122"/>
                <a:cs typeface="Bookman Old Style" pitchFamily="34" charset="-120"/>
              </a:rPr>
              <a:t>Organized crime doesn’t always carry guns. Sometimes it sells them, with a government contract.</a:t>
            </a:r>
            <a:endParaRPr lang="en-US" sz="2000" dirty="0"/>
          </a:p>
        </p:txBody>
      </p:sp>
      <p:sp>
        <p:nvSpPr>
          <p:cNvPr id="23" name="Text 21"/>
          <p:cNvSpPr txBox="1"/>
          <p:nvPr/>
        </p:nvSpPr>
        <p:spPr>
          <a:xfrm>
            <a:off x="7863840" y="4480560"/>
            <a:ext cx="3459175" cy="1005840"/>
          </a:xfrm>
          <a:prstGeom prst="rect">
            <a:avLst/>
          </a:prstGeom>
          <a:noFill/>
          <a:ln/>
        </p:spPr>
        <p:txBody>
          <a:bodyPr wrap="square" lIns="0" tIns="0" rIns="0" bIns="0" rtlCol="0" anchor="ctr"/>
          <a:lstStyle/>
          <a:p>
            <a:pPr indent="0" marL="0">
              <a:buNone/>
            </a:pPr>
            <a:r>
              <a:rPr lang="en-US" sz="3200" b="1" dirty="0">
                <a:solidFill>
                  <a:srgbClr val="FFD84D"/>
                </a:solidFill>
                <a:latin typeface="Bookman Old Style" pitchFamily="34" charset="0"/>
                <a:ea typeface="Bookman Old Style" pitchFamily="34" charset="-122"/>
                <a:cs typeface="Bookman Old Style" pitchFamily="34" charset="-120"/>
              </a:rPr>
              <a:t>$298M</a:t>
            </a:r>
            <a:pPr indent="0" marL="0">
              <a:buNone/>
            </a:pPr>
            <a:r>
              <a:rPr lang="en-US" sz="1300" dirty="0">
                <a:solidFill>
                  <a:srgbClr val="D9D6CF"/>
                </a:solidFill>
              </a:rPr>
              <a:t>   real Pentagon contract won by AEY Inc., 2007</a:t>
            </a:r>
            <a:endParaRPr lang="en-US" sz="3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9" fill="hold">
                      <p:stCondLst>
                        <p:cond delay="indefinite"/>
                        <p:cond evt="onBegin" delay="0">
                          <p:tn val="2"/>
                        </p:cond>
                      </p:stCondLst>
                      <p:childTnLst>
                        <p:par>
                          <p:cTn id="110"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10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ppt_x</p:attrName>
                                        </p:attrNameLst>
                                      </p:cBhvr>
                                      <p:tavLst>
                                        <p:tav tm="0">
                                          <p:val>
                                            <p:strVal val="#ppt_x"/>
                                          </p:val>
                                        </p:tav>
                                        <p:tav tm="100000">
                                          <p:val>
                                            <p:strVal val="#ppt_x"/>
                                          </p:val>
                                        </p:tav>
                                      </p:tavLst>
                                    </p:anim>
                                    <p:anim calcmode="lin" valueType="num">
                                      <p:cBhvr additive="base">
                                        <p:cTn id="20" dur="600" fill="hold"/>
                                        <p:tgtEl>
                                          <p:spTgt spid="5"/>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10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13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16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additive="base">
                                        <p:cTn id="34" dur="600" fill="hold"/>
                                        <p:tgtEl>
                                          <p:spTgt spid="8"/>
                                        </p:tgtEl>
                                        <p:attrNameLst>
                                          <p:attrName>ppt_x</p:attrName>
                                        </p:attrNameLst>
                                      </p:cBhvr>
                                      <p:tavLst>
                                        <p:tav tm="0">
                                          <p:val>
                                            <p:strVal val="#ppt_x"/>
                                          </p:val>
                                        </p:tav>
                                        <p:tav tm="100000">
                                          <p:val>
                                            <p:strVal val="#ppt_x"/>
                                          </p:val>
                                        </p:tav>
                                      </p:tavLst>
                                    </p:anim>
                                    <p:anim calcmode="lin" valueType="num">
                                      <p:cBhvr additive="base">
                                        <p:cTn id="35" dur="600" fill="hold"/>
                                        <p:tgtEl>
                                          <p:spTgt spid="8"/>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1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additive="base">
                                        <p:cTn id="39" dur="600" fill="hold"/>
                                        <p:tgtEl>
                                          <p:spTgt spid="9"/>
                                        </p:tgtEl>
                                        <p:attrNameLst>
                                          <p:attrName>ppt_x</p:attrName>
                                        </p:attrNameLst>
                                      </p:cBhvr>
                                      <p:tavLst>
                                        <p:tav tm="0">
                                          <p:val>
                                            <p:strVal val="#ppt_x"/>
                                          </p:val>
                                        </p:tav>
                                        <p:tav tm="100000">
                                          <p:val>
                                            <p:strVal val="#ppt_x"/>
                                          </p:val>
                                        </p:tav>
                                      </p:tavLst>
                                    </p:anim>
                                    <p:anim calcmode="lin" valueType="num">
                                      <p:cBhvr additive="base">
                                        <p:cTn id="40" dur="600" fill="hold"/>
                                        <p:tgtEl>
                                          <p:spTgt spid="9"/>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1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additive="base">
                                        <p:cTn id="44" dur="600" fill="hold"/>
                                        <p:tgtEl>
                                          <p:spTgt spid="10"/>
                                        </p:tgtEl>
                                        <p:attrNameLst>
                                          <p:attrName>ppt_x</p:attrName>
                                        </p:attrNameLst>
                                      </p:cBhvr>
                                      <p:tavLst>
                                        <p:tav tm="0">
                                          <p:val>
                                            <p:strVal val="#ppt_x"/>
                                          </p:val>
                                        </p:tav>
                                        <p:tav tm="100000">
                                          <p:val>
                                            <p:strVal val="#ppt_x"/>
                                          </p:val>
                                        </p:tav>
                                      </p:tavLst>
                                    </p:anim>
                                    <p:anim calcmode="lin" valueType="num">
                                      <p:cBhvr additive="base">
                                        <p:cTn id="45" dur="600" fill="hold"/>
                                        <p:tgtEl>
                                          <p:spTgt spid="10"/>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22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additive="base">
                                        <p:cTn id="49" dur="600" fill="hold"/>
                                        <p:tgtEl>
                                          <p:spTgt spid="11"/>
                                        </p:tgtEl>
                                        <p:attrNameLst>
                                          <p:attrName>ppt_x</p:attrName>
                                        </p:attrNameLst>
                                      </p:cBhvr>
                                      <p:tavLst>
                                        <p:tav tm="0">
                                          <p:val>
                                            <p:strVal val="#ppt_x"/>
                                          </p:val>
                                        </p:tav>
                                        <p:tav tm="100000">
                                          <p:val>
                                            <p:strVal val="#ppt_x"/>
                                          </p:val>
                                        </p:tav>
                                      </p:tavLst>
                                    </p:anim>
                                    <p:anim calcmode="lin" valueType="num">
                                      <p:cBhvr additive="base">
                                        <p:cTn id="50" dur="600" fill="hold"/>
                                        <p:tgtEl>
                                          <p:spTgt spid="11"/>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22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additive="base">
                                        <p:cTn id="54" dur="600" fill="hold"/>
                                        <p:tgtEl>
                                          <p:spTgt spid="12"/>
                                        </p:tgtEl>
                                        <p:attrNameLst>
                                          <p:attrName>ppt_x</p:attrName>
                                        </p:attrNameLst>
                                      </p:cBhvr>
                                      <p:tavLst>
                                        <p:tav tm="0">
                                          <p:val>
                                            <p:strVal val="#ppt_x"/>
                                          </p:val>
                                        </p:tav>
                                        <p:tav tm="100000">
                                          <p:val>
                                            <p:strVal val="#ppt_x"/>
                                          </p:val>
                                        </p:tav>
                                      </p:tavLst>
                                    </p:anim>
                                    <p:anim calcmode="lin" valueType="num">
                                      <p:cBhvr additive="base">
                                        <p:cTn id="55" dur="600" fill="hold"/>
                                        <p:tgtEl>
                                          <p:spTgt spid="12"/>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25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additive="base">
                                        <p:cTn id="59" dur="600" fill="hold"/>
                                        <p:tgtEl>
                                          <p:spTgt spid="13"/>
                                        </p:tgtEl>
                                        <p:attrNameLst>
                                          <p:attrName>ppt_x</p:attrName>
                                        </p:attrNameLst>
                                      </p:cBhvr>
                                      <p:tavLst>
                                        <p:tav tm="0">
                                          <p:val>
                                            <p:strVal val="#ppt_x"/>
                                          </p:val>
                                        </p:tav>
                                        <p:tav tm="100000">
                                          <p:val>
                                            <p:strVal val="#ppt_x"/>
                                          </p:val>
                                        </p:tav>
                                      </p:tavLst>
                                    </p:anim>
                                    <p:anim calcmode="lin" valueType="num">
                                      <p:cBhvr additive="base">
                                        <p:cTn id="60" dur="600" fill="hold"/>
                                        <p:tgtEl>
                                          <p:spTgt spid="13"/>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25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additive="base">
                                        <p:cTn id="64" dur="600" fill="hold"/>
                                        <p:tgtEl>
                                          <p:spTgt spid="14"/>
                                        </p:tgtEl>
                                        <p:attrNameLst>
                                          <p:attrName>ppt_x</p:attrName>
                                        </p:attrNameLst>
                                      </p:cBhvr>
                                      <p:tavLst>
                                        <p:tav tm="0">
                                          <p:val>
                                            <p:strVal val="#ppt_x"/>
                                          </p:val>
                                        </p:tav>
                                        <p:tav tm="100000">
                                          <p:val>
                                            <p:strVal val="#ppt_x"/>
                                          </p:val>
                                        </p:tav>
                                      </p:tavLst>
                                    </p:anim>
                                    <p:anim calcmode="lin" valueType="num">
                                      <p:cBhvr additive="base">
                                        <p:cTn id="65" dur="600" fill="hold"/>
                                        <p:tgtEl>
                                          <p:spTgt spid="14"/>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25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additive="base">
                                        <p:cTn id="69" dur="600" fill="hold"/>
                                        <p:tgtEl>
                                          <p:spTgt spid="15"/>
                                        </p:tgtEl>
                                        <p:attrNameLst>
                                          <p:attrName>ppt_x</p:attrName>
                                        </p:attrNameLst>
                                      </p:cBhvr>
                                      <p:tavLst>
                                        <p:tav tm="0">
                                          <p:val>
                                            <p:strVal val="#ppt_x"/>
                                          </p:val>
                                        </p:tav>
                                        <p:tav tm="100000">
                                          <p:val>
                                            <p:strVal val="#ppt_x"/>
                                          </p:val>
                                        </p:tav>
                                      </p:tavLst>
                                    </p:anim>
                                    <p:anim calcmode="lin" valueType="num">
                                      <p:cBhvr additive="base">
                                        <p:cTn id="70" dur="600" fill="hold"/>
                                        <p:tgtEl>
                                          <p:spTgt spid="15"/>
                                        </p:tgtEl>
                                        <p:attrNameLst>
                                          <p:attrName>ppt_y</p:attrName>
                                        </p:attrNameLst>
                                      </p:cBhvr>
                                      <p:tavLst>
                                        <p:tav tm="0">
                                          <p:val>
                                            <p:strVal val="#ppt_y+.06"/>
                                          </p:val>
                                        </p:tav>
                                        <p:tav tm="100000">
                                          <p:val>
                                            <p:strVal val="#ppt_y"/>
                                          </p:val>
                                        </p:tav>
                                      </p:tavLst>
                                    </p:anim>
                                  </p:childTnLst>
                                </p:cTn>
                              </p:par>
                              <p:par>
                                <p:cTn id="76" presetID="53" presetClass="entr" presetSubtype="16" fill="hold" grpId="0" nodeType="withEffect">
                                  <p:stCondLst>
                                    <p:cond delay="270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600" fill="hold"/>
                                        <p:tgtEl>
                                          <p:spTgt spid="20"/>
                                        </p:tgtEl>
                                        <p:attrNameLst>
                                          <p:attrName>ppt_w</p:attrName>
                                        </p:attrNameLst>
                                      </p:cBhvr>
                                      <p:tavLst>
                                        <p:tav tm="0">
                                          <p:val>
                                            <p:strVal val="0"/>
                                          </p:val>
                                        </p:tav>
                                        <p:tav tm="100000">
                                          <p:val>
                                            <p:strVal val="#ppt_w"/>
                                          </p:val>
                                        </p:tav>
                                      </p:tavLst>
                                    </p:anim>
                                    <p:anim calcmode="lin" valueType="num">
                                      <p:cBhvr additive="base">
                                        <p:cTn id="74" dur="600" fill="hold"/>
                                        <p:tgtEl>
                                          <p:spTgt spid="20"/>
                                        </p:tgtEl>
                                        <p:attrNameLst>
                                          <p:attrName>ppt_h</p:attrName>
                                        </p:attrNameLst>
                                      </p:cBhvr>
                                      <p:tavLst>
                                        <p:tav tm="0">
                                          <p:val>
                                            <p:strVal val="0"/>
                                          </p:val>
                                        </p:tav>
                                        <p:tav tm="100000">
                                          <p:val>
                                            <p:strVal val="#ppt_h"/>
                                          </p:val>
                                        </p:tav>
                                      </p:tavLst>
                                    </p:anim>
                                    <p:animEffect transition="in" filter="fade">
                                      <p:cBhvr>
                                        <p:cTn id="75" dur="600"/>
                                        <p:tgtEl>
                                          <p:spTgt spid="20"/>
                                        </p:tgtEl>
                                      </p:cBhvr>
                                    </p:animEffect>
                                  </p:childTnLst>
                                </p:cTn>
                              </p:par>
                              <p:par>
                                <p:cTn id="81" presetID="42" presetClass="entr" presetSubtype="0" fill="hold" grpId="0" nodeType="withEffect">
                                  <p:stCondLst>
                                    <p:cond delay="280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600"/>
                                        <p:tgtEl>
                                          <p:spTgt spid="16"/>
                                        </p:tgtEl>
                                      </p:cBhvr>
                                    </p:animEffect>
                                    <p:anim calcmode="lin" valueType="num">
                                      <p:cBhvr additive="base">
                                        <p:cTn id="79" dur="600" fill="hold"/>
                                        <p:tgtEl>
                                          <p:spTgt spid="16"/>
                                        </p:tgtEl>
                                        <p:attrNameLst>
                                          <p:attrName>ppt_x</p:attrName>
                                        </p:attrNameLst>
                                      </p:cBhvr>
                                      <p:tavLst>
                                        <p:tav tm="0">
                                          <p:val>
                                            <p:strVal val="#ppt_x"/>
                                          </p:val>
                                        </p:tav>
                                        <p:tav tm="100000">
                                          <p:val>
                                            <p:strVal val="#ppt_x"/>
                                          </p:val>
                                        </p:tav>
                                      </p:tavLst>
                                    </p:anim>
                                    <p:anim calcmode="lin" valueType="num">
                                      <p:cBhvr additive="base">
                                        <p:cTn id="80" dur="600" fill="hold"/>
                                        <p:tgtEl>
                                          <p:spTgt spid="16"/>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280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600"/>
                                        <p:tgtEl>
                                          <p:spTgt spid="17"/>
                                        </p:tgtEl>
                                      </p:cBhvr>
                                    </p:animEffect>
                                    <p:anim calcmode="lin" valueType="num">
                                      <p:cBhvr additive="base">
                                        <p:cTn id="84" dur="600" fill="hold"/>
                                        <p:tgtEl>
                                          <p:spTgt spid="17"/>
                                        </p:tgtEl>
                                        <p:attrNameLst>
                                          <p:attrName>ppt_x</p:attrName>
                                        </p:attrNameLst>
                                      </p:cBhvr>
                                      <p:tavLst>
                                        <p:tav tm="0">
                                          <p:val>
                                            <p:strVal val="#ppt_x"/>
                                          </p:val>
                                        </p:tav>
                                        <p:tav tm="100000">
                                          <p:val>
                                            <p:strVal val="#ppt_x"/>
                                          </p:val>
                                        </p:tav>
                                      </p:tavLst>
                                    </p:anim>
                                    <p:anim calcmode="lin" valueType="num">
                                      <p:cBhvr additive="base">
                                        <p:cTn id="85" dur="600" fill="hold"/>
                                        <p:tgtEl>
                                          <p:spTgt spid="17"/>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280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anim calcmode="lin" valueType="num">
                                      <p:cBhvr additive="base">
                                        <p:cTn id="89" dur="600" fill="hold"/>
                                        <p:tgtEl>
                                          <p:spTgt spid="18"/>
                                        </p:tgtEl>
                                        <p:attrNameLst>
                                          <p:attrName>ppt_x</p:attrName>
                                        </p:attrNameLst>
                                      </p:cBhvr>
                                      <p:tavLst>
                                        <p:tav tm="0">
                                          <p:val>
                                            <p:strVal val="#ppt_x"/>
                                          </p:val>
                                        </p:tav>
                                        <p:tav tm="100000">
                                          <p:val>
                                            <p:strVal val="#ppt_x"/>
                                          </p:val>
                                        </p:tav>
                                      </p:tavLst>
                                    </p:anim>
                                    <p:anim calcmode="lin" valueType="num">
                                      <p:cBhvr additive="base">
                                        <p:cTn id="90" dur="600" fill="hold"/>
                                        <p:tgtEl>
                                          <p:spTgt spid="18"/>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3100"/>
                                  </p:stCondLst>
                                  <p:childTnLst>
                                    <p:set>
                                      <p:cBhvr>
                                        <p:cTn id="92" dur="1" fill="hold">
                                          <p:stCondLst>
                                            <p:cond delay="0"/>
                                          </p:stCondLst>
                                        </p:cTn>
                                        <p:tgtEl>
                                          <p:spTgt spid="19"/>
                                        </p:tgtEl>
                                        <p:attrNameLst>
                                          <p:attrName>style.visibility</p:attrName>
                                        </p:attrNameLst>
                                      </p:cBhvr>
                                      <p:to>
                                        <p:strVal val="visible"/>
                                      </p:to>
                                    </p:set>
                                    <p:animEffect transition="in" filter="fade">
                                      <p:cBhvr>
                                        <p:cTn id="93" dur="600"/>
                                        <p:tgtEl>
                                          <p:spTgt spid="19"/>
                                        </p:tgtEl>
                                      </p:cBhvr>
                                    </p:animEffect>
                                    <p:anim calcmode="lin" valueType="num">
                                      <p:cBhvr additive="base">
                                        <p:cTn id="94" dur="600" fill="hold"/>
                                        <p:tgtEl>
                                          <p:spTgt spid="19"/>
                                        </p:tgtEl>
                                        <p:attrNameLst>
                                          <p:attrName>ppt_x</p:attrName>
                                        </p:attrNameLst>
                                      </p:cBhvr>
                                      <p:tavLst>
                                        <p:tav tm="0">
                                          <p:val>
                                            <p:strVal val="#ppt_x"/>
                                          </p:val>
                                        </p:tav>
                                        <p:tav tm="100000">
                                          <p:val>
                                            <p:strVal val="#ppt_x"/>
                                          </p:val>
                                        </p:tav>
                                      </p:tavLst>
                                    </p:anim>
                                    <p:anim calcmode="lin" valueType="num">
                                      <p:cBhvr additive="base">
                                        <p:cTn id="95" dur="600" fill="hold"/>
                                        <p:tgtEl>
                                          <p:spTgt spid="19"/>
                                        </p:tgtEl>
                                        <p:attrNameLst>
                                          <p:attrName>ppt_y</p:attrName>
                                        </p:attrNameLst>
                                      </p:cBhvr>
                                      <p:tavLst>
                                        <p:tav tm="0">
                                          <p:val>
                                            <p:strVal val="#ppt_y+.06"/>
                                          </p:val>
                                        </p:tav>
                                        <p:tav tm="100000">
                                          <p:val>
                                            <p:strVal val="#ppt_y"/>
                                          </p:val>
                                        </p:tav>
                                      </p:tavLst>
                                    </p:anim>
                                  </p:childTnLst>
                                </p:cTn>
                              </p:par>
                              <p:par>
                                <p:cTn id="99" presetID="10" presetClass="entr" presetSubtype="0" fill="hold" grpId="0" nodeType="withEffect">
                                  <p:stCondLst>
                                    <p:cond delay="32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500"/>
                                        <p:tgtEl>
                                          <p:spTgt spid="21"/>
                                        </p:tgtEl>
                                      </p:cBhvr>
                                    </p:animEffect>
                                  </p:childTnLst>
                                </p:cTn>
                              </p:par>
                              <p:par>
                                <p:cTn id="101" presetID="1" presetClass="entr" presetSubtype="0" fill="hold" grpId="0" nodeType="withEffect">
                                  <p:stCondLst>
                                    <p:cond delay="3400"/>
                                  </p:stCondLst>
                                  <p:iterate type="lt">
                                    <p:tmAbs val="28"/>
                                  </p:iterate>
                                  <p:childTnLst>
                                    <p:set>
                                      <p:cBhvr>
                                        <p:cTn id="100" dur="1" fill="hold">
                                          <p:stCondLst>
                                            <p:cond delay="0"/>
                                          </p:stCondLst>
                                        </p:cTn>
                                        <p:tgtEl>
                                          <p:spTgt spid="22"/>
                                        </p:tgtEl>
                                        <p:attrNameLst>
                                          <p:attrName>style.visibility</p:attrName>
                                        </p:attrNameLst>
                                      </p:cBhvr>
                                      <p:to>
                                        <p:strVal val="visible"/>
                                      </p:to>
                                    </p:set>
                                  </p:childTnLst>
                                </p:cTn>
                              </p:par>
                              <p:par>
                                <p:cTn id="106" presetID="53" presetClass="entr" presetSubtype="32" fill="hold" grpId="0" nodeType="withEffect">
                                  <p:stCondLst>
                                    <p:cond delay="660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450" fill="hold"/>
                                        <p:tgtEl>
                                          <p:spTgt spid="23"/>
                                        </p:tgtEl>
                                        <p:attrNameLst>
                                          <p:attrName>ppt_w</p:attrName>
                                        </p:attrNameLst>
                                      </p:cBhvr>
                                      <p:tavLst>
                                        <p:tav tm="0">
                                          <p:val>
                                            <p:strVal val="#ppt_w*2.4"/>
                                          </p:val>
                                        </p:tav>
                                        <p:tav tm="100000">
                                          <p:val>
                                            <p:strVal val="#ppt_w"/>
                                          </p:val>
                                        </p:tav>
                                      </p:tavLst>
                                    </p:anim>
                                    <p:anim calcmode="lin" valueType="num">
                                      <p:cBhvr additive="base">
                                        <p:cTn id="104" dur="450" fill="hold"/>
                                        <p:tgtEl>
                                          <p:spTgt spid="23"/>
                                        </p:tgtEl>
                                        <p:attrNameLst>
                                          <p:attrName>ppt_h</p:attrName>
                                        </p:attrNameLst>
                                      </p:cBhvr>
                                      <p:tavLst>
                                        <p:tav tm="0">
                                          <p:val>
                                            <p:strVal val="#ppt_h*2.4"/>
                                          </p:val>
                                        </p:tav>
                                        <p:tav tm="100000">
                                          <p:val>
                                            <p:strVal val="#ppt_h"/>
                                          </p:val>
                                        </p:tav>
                                      </p:tavLst>
                                    </p:anim>
                                    <p:animEffect transition="in" filter="fade">
                                      <p:cBhvr>
                                        <p:cTn id="105" dur="450"/>
                                        <p:tgtEl>
                                          <p:spTgt spid="23"/>
                                        </p:tgtEl>
                                      </p:cBhvr>
                                    </p:animEffect>
                                  </p:childTnLst>
                                </p:cTn>
                              </p:par>
                              <p:par>
                                <p:cTn id="108" presetID="6" presetClass="emph" presetSubtype="0" fill="hold" grpId="1" nodeType="withEffect" autoRev="1" repeatCount="indefinite">
                                  <p:stCondLst>
                                    <p:cond delay="7200"/>
                                  </p:stCondLst>
                                  <p:childTnLst>
                                    <p:animScale>
                                      <p:cBhvr>
                                        <p:cTn id="107" dur="900" fill="hold"/>
                                        <p:tgtEl>
                                          <p:spTgt spid="23"/>
                                        </p:tgtEl>
                                      </p:cBhvr>
                                      <p:by x="104000" y="10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0" grpId="0" animBg="1"/>
      <p:bldP spid="16" grpId="0" animBg="1"/>
      <p:bldP spid="17" grpId="0" animBg="1"/>
      <p:bldP spid="18" grpId="0" animBg="1"/>
      <p:bldP spid="19" grpId="0" animBg="1"/>
      <p:bldP spid="21" grpId="0" animBg="1"/>
      <p:bldP spid="22" grpId="0" animBg="1"/>
      <p:bldP spid="23" grpId="0" animBg="1"/>
      <p:bldP spid="2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  ·  THE HUSTLE  ·  ▶ PLAYBACK</a:t>
            </a:r>
            <a:endParaRPr lang="en-US" sz="1300" dirty="0"/>
          </a:p>
        </p:txBody>
      </p:sp>
      <p:sp>
        <p:nvSpPr>
          <p:cNvPr id="4" name="cutscene act1"/>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bg">    </p:cNvPr>
          <p:cNvPicPr>
            <a:picLocks noChangeAspect="1"/>
          </p:cNvPicPr>
          <p:nvPr/>
        </p:nvPicPr>
        <p:blipFill>
          <a:blip r:embed="rId1"/>
          <a:stretch>
            <a:fillRect/>
          </a:stretch>
        </p:blipFill>
        <p:spPr>
          <a:xfrm>
            <a:off x="548640" y="868680"/>
            <a:ext cx="11094415" cy="5349240"/>
          </a:xfrm>
          <a:prstGeom prst="rect">
            <a:avLst/>
          </a:prstGeom>
        </p:spPr>
      </p:pic>
      <p:pic>
        <p:nvPicPr>
          <p:cNvPr id="7" name="david sad" descr="david sad">    </p:cNvPr>
          <p:cNvPicPr>
            <a:picLocks noChangeAspect="1"/>
          </p:cNvPicPr>
          <p:nvPr/>
        </p:nvPicPr>
        <p:blipFill>
          <a:blip r:embed="rId2"/>
          <a:stretch>
            <a:fillRect/>
          </a:stretch>
        </p:blipFill>
        <p:spPr>
          <a:xfrm>
            <a:off x="1828800" y="2788920"/>
            <a:ext cx="1262743" cy="2651760"/>
          </a:xfrm>
          <a:prstGeom prst="rect">
            <a:avLst/>
          </a:prstGeom>
        </p:spPr>
      </p:pic>
      <p:pic>
        <p:nvPicPr>
          <p:cNvPr id="8" name="david happy" descr="david happy">    </p:cNvPr>
          <p:cNvPicPr>
            <a:picLocks noChangeAspect="1"/>
          </p:cNvPicPr>
          <p:nvPr/>
        </p:nvPicPr>
        <p:blipFill>
          <a:blip r:embed="rId3"/>
          <a:stretch>
            <a:fillRect/>
          </a:stretch>
        </p:blipFill>
        <p:spPr>
          <a:xfrm>
            <a:off x="1828800" y="2788920"/>
            <a:ext cx="1262743" cy="2651760"/>
          </a:xfrm>
          <a:prstGeom prst="rect">
            <a:avLst/>
          </a:prstGeom>
        </p:spPr>
      </p:pic>
      <p:pic>
        <p:nvPicPr>
          <p:cNvPr id="9" name="david cheer" descr="david cheer">    </p:cNvPr>
          <p:cNvPicPr>
            <a:picLocks noChangeAspect="1"/>
          </p:cNvPicPr>
          <p:nvPr/>
        </p:nvPicPr>
        <p:blipFill>
          <a:blip r:embed="rId4"/>
          <a:stretch>
            <a:fillRect/>
          </a:stretch>
        </p:blipFill>
        <p:spPr>
          <a:xfrm>
            <a:off x="1828800" y="2788920"/>
            <a:ext cx="1262743" cy="2651760"/>
          </a:xfrm>
          <a:prstGeom prst="rect">
            <a:avLst/>
          </a:prstGeom>
        </p:spPr>
      </p:pic>
      <p:pic>
        <p:nvPicPr>
          <p:cNvPr id="10" name="sheets" descr="sheets">    </p:cNvPr>
          <p:cNvPicPr>
            <a:picLocks noChangeAspect="1"/>
          </p:cNvPicPr>
          <p:nvPr/>
        </p:nvPicPr>
        <p:blipFill>
          <a:blip r:embed="rId5"/>
          <a:stretch>
            <a:fillRect/>
          </a:stretch>
        </p:blipFill>
        <p:spPr>
          <a:xfrm>
            <a:off x="3154680" y="4315968"/>
            <a:ext cx="1417320" cy="1097280"/>
          </a:xfrm>
          <a:prstGeom prst="rect">
            <a:avLst/>
          </a:prstGeom>
        </p:spPr>
      </p:pic>
      <p:sp>
        <p:nvSpPr>
          <p:cNvPr id="11" name="thought"/>
          <p:cNvSpPr/>
          <p:nvPr/>
        </p:nvSpPr>
        <p:spPr>
          <a:xfrm>
            <a:off x="868680" y="1325880"/>
            <a:ext cx="2286000" cy="1097280"/>
          </a:xfrm>
          <a:prstGeom prst="cloudCallout">
            <a:avLst/>
          </a:prstGeom>
          <a:solidFill>
            <a:srgbClr val="F4F1EA"/>
          </a:solidFill>
          <a:ln w="25400">
            <a:solidFill>
              <a:srgbClr val="0D0D0F"/>
            </a:solidFill>
          </a:ln>
        </p:spPr>
        <p:txBody>
          <a:bodyPr wrap="square" lIns="76200" tIns="76200" rIns="76200" bIns="76200" rtlCol="0" anchor="ctr"/>
          <a:lstStyle/>
          <a:p>
            <a:pPr algn="ctr" indent="0" marL="0">
              <a:buNone/>
            </a:pPr>
            <a:r>
              <a:rPr lang="en-US" sz="1500" b="1" dirty="0">
                <a:solidFill>
                  <a:srgbClr val="0D0D0F"/>
                </a:solidFill>
                <a:latin typeface="Calibri" pitchFamily="34" charset="0"/>
                <a:ea typeface="Calibri" pitchFamily="34" charset="-122"/>
                <a:cs typeface="Calibri" pitchFamily="34" charset="-120"/>
              </a:rPr>
              <a:t>Need money. Fast.</a:t>
            </a:r>
            <a:endParaRPr lang="en-US" sz="1500" dirty="0"/>
          </a:p>
        </p:txBody>
      </p:sp>
      <p:pic>
        <p:nvPicPr>
          <p:cNvPr id="12" name="efraim point" descr="efraim point">    </p:cNvPr>
          <p:cNvPicPr>
            <a:picLocks noChangeAspect="1"/>
          </p:cNvPicPr>
          <p:nvPr/>
        </p:nvPicPr>
        <p:blipFill>
          <a:blip r:embed="rId6"/>
          <a:stretch>
            <a:fillRect/>
          </a:stretch>
        </p:blipFill>
        <p:spPr>
          <a:xfrm>
            <a:off x="8503920" y="2788920"/>
            <a:ext cx="1262743" cy="2651760"/>
          </a:xfrm>
          <a:prstGeom prst="rect">
            <a:avLst/>
          </a:prstGeom>
        </p:spPr>
      </p:pic>
      <p:pic>
        <p:nvPicPr>
          <p:cNvPr id="13" name="efraim cheer" descr="efraim cheer">    </p:cNvPr>
          <p:cNvPicPr>
            <a:picLocks noChangeAspect="1"/>
          </p:cNvPicPr>
          <p:nvPr/>
        </p:nvPicPr>
        <p:blipFill>
          <a:blip r:embed="rId7"/>
          <a:stretch>
            <a:fillRect/>
          </a:stretch>
        </p:blipFill>
        <p:spPr>
          <a:xfrm>
            <a:off x="8503920" y="2788920"/>
            <a:ext cx="1262743" cy="2651760"/>
          </a:xfrm>
          <a:prstGeom prst="rect">
            <a:avLst/>
          </a:prstGeom>
        </p:spPr>
      </p:pic>
      <p:pic>
        <p:nvPicPr>
          <p:cNvPr id="14" name="laptop" descr="laptop">    </p:cNvPr>
          <p:cNvPicPr>
            <a:picLocks noChangeAspect="1"/>
          </p:cNvPicPr>
          <p:nvPr/>
        </p:nvPicPr>
        <p:blipFill>
          <a:blip r:embed="rId8"/>
          <a:stretch>
            <a:fillRect/>
          </a:stretch>
        </p:blipFill>
        <p:spPr>
          <a:xfrm>
            <a:off x="6629400" y="3429000"/>
            <a:ext cx="1463040" cy="1024128"/>
          </a:xfrm>
          <a:prstGeom prst="rect">
            <a:avLst/>
          </a:prstGeom>
        </p:spPr>
      </p:pic>
      <p:sp>
        <p:nvSpPr>
          <p:cNvPr id="15" name="efraim says"/>
          <p:cNvSpPr/>
          <p:nvPr/>
        </p:nvSpPr>
        <p:spPr>
          <a:xfrm flipH="1">
            <a:off x="5577840" y="1325880"/>
            <a:ext cx="3017520" cy="1051560"/>
          </a:xfrm>
          <a:prstGeom prst="wedgeRoundRectCallout">
            <a:avLst/>
          </a:prstGeom>
          <a:solidFill>
            <a:srgbClr val="F4F1EA"/>
          </a:solidFill>
          <a:ln w="25400">
            <a:solidFill>
              <a:srgbClr val="0D0D0F"/>
            </a:solidFill>
          </a:ln>
        </p:spPr>
        <p:txBody>
          <a:bodyPr wrap="square" lIns="76200" tIns="76200" rIns="76200" bIns="76200" rtlCol="0" anchor="ctr"/>
          <a:lstStyle/>
          <a:p>
            <a:pPr algn="ctr" indent="0" marL="0">
              <a:buNone/>
            </a:pPr>
            <a:r>
              <a:rPr lang="en-US" sz="1500" b="1" dirty="0">
                <a:solidFill>
                  <a:srgbClr val="0D0D0F"/>
                </a:solidFill>
                <a:latin typeface="Calibri" pitchFamily="34" charset="0"/>
                <a:ea typeface="Calibri" pitchFamily="34" charset="-122"/>
                <a:cs typeface="Calibri" pitchFamily="34" charset="-120"/>
              </a:rPr>
              <a:t>Small contracts the big firms ignore. Easy money!</a:t>
            </a:r>
            <a:endParaRPr lang="en-US" sz="1500" dirty="0"/>
          </a:p>
        </p:txBody>
      </p:sp>
      <p:pic>
        <p:nvPicPr>
          <p:cNvPr id="16" name="sign" descr="sign">    </p:cNvPr>
          <p:cNvPicPr>
            <a:picLocks noChangeAspect="1"/>
          </p:cNvPicPr>
          <p:nvPr/>
        </p:nvPicPr>
        <p:blipFill>
          <a:blip r:embed="rId9"/>
          <a:stretch>
            <a:fillRect/>
          </a:stretch>
        </p:blipFill>
        <p:spPr>
          <a:xfrm>
            <a:off x="10195560" y="3246120"/>
            <a:ext cx="1097280" cy="1143000"/>
          </a:xfrm>
          <a:prstGeom prst="rect">
            <a:avLst/>
          </a:prstGeom>
        </p:spPr>
      </p:pic>
      <p:pic>
        <p:nvPicPr>
          <p:cNvPr id="17" name="truck" descr="truck">    </p:cNvPr>
          <p:cNvPicPr>
            <a:picLocks noChangeAspect="1"/>
          </p:cNvPicPr>
          <p:nvPr/>
        </p:nvPicPr>
        <p:blipFill>
          <a:blip r:embed="rId10"/>
          <a:stretch>
            <a:fillRect/>
          </a:stretch>
        </p:blipFill>
        <p:spPr>
          <a:xfrm>
            <a:off x="4206240" y="4224528"/>
            <a:ext cx="3017520" cy="1435608"/>
          </a:xfrm>
          <a:prstGeom prst="rect">
            <a:avLst/>
          </a:prstGeom>
        </p:spPr>
      </p:pic>
      <p:pic>
        <p:nvPicPr>
          <p:cNvPr id="18" name="money 0" descr="money 0">    </p:cNvPr>
          <p:cNvPicPr>
            <a:picLocks noChangeAspect="1"/>
          </p:cNvPicPr>
          <p:nvPr/>
        </p:nvPicPr>
        <p:blipFill>
          <a:blip r:embed="rId11"/>
          <a:stretch>
            <a:fillRect/>
          </a:stretch>
        </p:blipFill>
        <p:spPr>
          <a:xfrm>
            <a:off x="4114800" y="4526280"/>
            <a:ext cx="1097280" cy="758952"/>
          </a:xfrm>
          <a:prstGeom prst="rect">
            <a:avLst/>
          </a:prstGeom>
        </p:spPr>
      </p:pic>
      <p:pic>
        <p:nvPicPr>
          <p:cNvPr id="19" name="money 1" descr="money 1">    </p:cNvPr>
          <p:cNvPicPr>
            <a:picLocks noChangeAspect="1"/>
          </p:cNvPicPr>
          <p:nvPr/>
        </p:nvPicPr>
        <p:blipFill>
          <a:blip r:embed="rId12"/>
          <a:stretch>
            <a:fillRect/>
          </a:stretch>
        </p:blipFill>
        <p:spPr>
          <a:xfrm>
            <a:off x="5303520" y="4526280"/>
            <a:ext cx="1097280" cy="758952"/>
          </a:xfrm>
          <a:prstGeom prst="rect">
            <a:avLst/>
          </a:prstGeom>
        </p:spPr>
      </p:pic>
      <p:pic>
        <p:nvPicPr>
          <p:cNvPr id="20" name="money 2" descr="money 2">    </p:cNvPr>
          <p:cNvPicPr>
            <a:picLocks noChangeAspect="1"/>
          </p:cNvPicPr>
          <p:nvPr/>
        </p:nvPicPr>
        <p:blipFill>
          <a:blip r:embed="rId13"/>
          <a:stretch>
            <a:fillRect/>
          </a:stretch>
        </p:blipFill>
        <p:spPr>
          <a:xfrm>
            <a:off x="6492240" y="4526280"/>
            <a:ext cx="1097280" cy="758952"/>
          </a:xfrm>
          <a:prstGeom prst="rect">
            <a:avLst/>
          </a:prstGeom>
        </p:spPr>
      </p:pic>
      <p:pic>
        <p:nvPicPr>
          <p:cNvPr id="21" name="coin 0" descr="coin 0">    </p:cNvPr>
          <p:cNvPicPr>
            <a:picLocks noChangeAspect="1"/>
          </p:cNvPicPr>
          <p:nvPr/>
        </p:nvPicPr>
        <p:blipFill>
          <a:blip r:embed="rId14"/>
          <a:stretch>
            <a:fillRect/>
          </a:stretch>
        </p:blipFill>
        <p:spPr>
          <a:xfrm>
            <a:off x="3017520" y="4956048"/>
            <a:ext cx="384048" cy="384048"/>
          </a:xfrm>
          <a:prstGeom prst="rect">
            <a:avLst/>
          </a:prstGeom>
        </p:spPr>
      </p:pic>
      <p:pic>
        <p:nvPicPr>
          <p:cNvPr id="22" name="coin 1" descr="coin 1">    </p:cNvPr>
          <p:cNvPicPr>
            <a:picLocks noChangeAspect="1"/>
          </p:cNvPicPr>
          <p:nvPr/>
        </p:nvPicPr>
        <p:blipFill>
          <a:blip r:embed="rId15"/>
          <a:stretch>
            <a:fillRect/>
          </a:stretch>
        </p:blipFill>
        <p:spPr>
          <a:xfrm>
            <a:off x="4023360" y="4727448"/>
            <a:ext cx="384048" cy="384048"/>
          </a:xfrm>
          <a:prstGeom prst="rect">
            <a:avLst/>
          </a:prstGeom>
        </p:spPr>
      </p:pic>
      <p:pic>
        <p:nvPicPr>
          <p:cNvPr id="23" name="coin 2" descr="coin 2">    </p:cNvPr>
          <p:cNvPicPr>
            <a:picLocks noChangeAspect="1"/>
          </p:cNvPicPr>
          <p:nvPr/>
        </p:nvPicPr>
        <p:blipFill>
          <a:blip r:embed="rId16"/>
          <a:stretch>
            <a:fillRect/>
          </a:stretch>
        </p:blipFill>
        <p:spPr>
          <a:xfrm>
            <a:off x="5120640" y="4956048"/>
            <a:ext cx="384048" cy="384048"/>
          </a:xfrm>
          <a:prstGeom prst="rect">
            <a:avLst/>
          </a:prstGeom>
        </p:spPr>
      </p:pic>
      <p:pic>
        <p:nvPicPr>
          <p:cNvPr id="24" name="coin 3" descr="coin 3">    </p:cNvPr>
          <p:cNvPicPr>
            <a:picLocks noChangeAspect="1"/>
          </p:cNvPicPr>
          <p:nvPr/>
        </p:nvPicPr>
        <p:blipFill>
          <a:blip r:embed="rId17"/>
          <a:stretch>
            <a:fillRect/>
          </a:stretch>
        </p:blipFill>
        <p:spPr>
          <a:xfrm>
            <a:off x="6309360" y="4727448"/>
            <a:ext cx="384048" cy="384048"/>
          </a:xfrm>
          <a:prstGeom prst="rect">
            <a:avLst/>
          </a:prstGeom>
        </p:spPr>
      </p:pic>
      <p:pic>
        <p:nvPicPr>
          <p:cNvPr id="25" name="coin 4" descr="coin 4">    </p:cNvPr>
          <p:cNvPicPr>
            <a:picLocks noChangeAspect="1"/>
          </p:cNvPicPr>
          <p:nvPr/>
        </p:nvPicPr>
        <p:blipFill>
          <a:blip r:embed="rId18"/>
          <a:stretch>
            <a:fillRect/>
          </a:stretch>
        </p:blipFill>
        <p:spPr>
          <a:xfrm>
            <a:off x="7406640" y="4956048"/>
            <a:ext cx="384048" cy="384048"/>
          </a:xfrm>
          <a:prstGeom prst="rect">
            <a:avLst/>
          </a:prstGeom>
        </p:spPr>
      </p:pic>
      <p:pic>
        <p:nvPicPr>
          <p:cNvPr id="26" name="coin 5" descr="coin 5">    </p:cNvPr>
          <p:cNvPicPr>
            <a:picLocks noChangeAspect="1"/>
          </p:cNvPicPr>
          <p:nvPr/>
        </p:nvPicPr>
        <p:blipFill>
          <a:blip r:embed="rId19"/>
          <a:stretch>
            <a:fillRect/>
          </a:stretch>
        </p:blipFill>
        <p:spPr>
          <a:xfrm>
            <a:off x="8229600" y="4727448"/>
            <a:ext cx="384048" cy="384048"/>
          </a:xfrm>
          <a:prstGeom prst="rect">
            <a:avLst/>
          </a:prstGeom>
        </p:spPr>
      </p:pic>
      <p:sp>
        <p:nvSpPr>
          <p:cNvPr id="27" name="caption bar"/>
          <p:cNvSpPr/>
          <p:nvPr/>
        </p:nvSpPr>
        <p:spPr>
          <a:xfrm>
            <a:off x="548640" y="5650992"/>
            <a:ext cx="11094415" cy="566928"/>
          </a:xfrm>
          <a:prstGeom prst="rect">
            <a:avLst/>
          </a:prstGeom>
          <a:solidFill>
            <a:srgbClr val="000000">
              <a:alpha val="70000"/>
            </a:srgbClr>
          </a:solidFill>
          <a:ln/>
        </p:spPr>
      </p:sp>
      <p:sp>
        <p:nvSpPr>
          <p:cNvPr id="28" name="caption 1"/>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Miami. David is broke: his bedsheet business has flopped, and a baby is on the way.</a:t>
            </a:r>
            <a:endParaRPr lang="en-US" sz="1700" dirty="0"/>
          </a:p>
        </p:txBody>
      </p:sp>
      <p:sp>
        <p:nvSpPr>
          <p:cNvPr id="29" name="caption 2"/>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His old friend Efraim bids online for the Pentagon’s “crumbs”: small contracts big firms ignore.</a:t>
            </a:r>
            <a:endParaRPr lang="en-US" sz="1700" dirty="0"/>
          </a:p>
        </p:txBody>
      </p:sp>
      <p:sp>
        <p:nvSpPr>
          <p:cNvPr id="30" name="caption 3"/>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A shipment of pistols is stuck in Jordan, so they drive it into Iraq themselves.</a:t>
            </a:r>
            <a:endParaRPr lang="en-US" sz="1700" dirty="0"/>
          </a:p>
        </p:txBody>
      </p:sp>
      <p:sp>
        <p:nvSpPr>
          <p:cNvPr id="31" name="caption 4"/>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It works. Bigger contracts follow, and the money rolls in.</a:t>
            </a:r>
            <a:endParaRPr lang="en-US" sz="17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148" fill="hold">
                      <p:stCondLst>
                        <p:cond delay="indefinite"/>
                        <p:cond evt="onBegin" delay="0">
                          <p:tn val="2"/>
                        </p:cond>
                      </p:stCondLst>
                      <p:childTnLst>
                        <p:par>
                          <p:cTn id="14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900"/>
                                        <p:tgtEl>
                                          <p:spTgt spid="6"/>
                                        </p:tgtEl>
                                      </p:cBhvr>
                                    </p:animEffect>
                                  </p:childTnLst>
                                </p:cTn>
                              </p:par>
                              <p:par>
                                <p:cTn id="12" presetID="1" presetClass="entr" presetSubtype="0" fill="hold" grpId="0" nodeType="withEffect">
                                  <p:stCondLst>
                                    <p:cond delay="200"/>
                                  </p:stCondLst>
                                  <p:iterate type="lt">
                                    <p:tmAbs val="30"/>
                                  </p:iterate>
                                  <p:childTnLst>
                                    <p:set>
                                      <p:cBhvr>
                                        <p:cTn id="11" dur="1" fill="hold">
                                          <p:stCondLst>
                                            <p:cond delay="0"/>
                                          </p:stCondLst>
                                        </p:cTn>
                                        <p:tgtEl>
                                          <p:spTgt spid="3"/>
                                        </p:tgtEl>
                                        <p:attrNameLst>
                                          <p:attrName>style.visibility</p:attrName>
                                        </p:attrNameLst>
                                      </p:cBhvr>
                                      <p:to>
                                        <p:strVal val="visible"/>
                                      </p:to>
                                    </p:set>
                                  </p:childTnLst>
                                </p:cTn>
                              </p:par>
                              <p:par>
                                <p:cTn id="14" presetID="6" presetClass="emph" presetSubtype="0" fill="hold" grpId="1" nodeType="withEffect" autoRev="1" repeatCount="indefinite">
                                  <p:stCondLst>
                                    <p:cond delay="500"/>
                                  </p:stCondLst>
                                  <p:childTnLst>
                                    <p:animScale>
                                      <p:cBhvr>
                                        <p:cTn id="13" dur="650" fill="hold"/>
                                        <p:tgtEl>
                                          <p:spTgt spid="2"/>
                                        </p:tgtEl>
                                      </p:cBhvr>
                                      <p:by x="135000" y="135000"/>
                                    </p:animScale>
                                  </p:childTnLst>
                                </p:cTn>
                              </p:par>
                              <p:par>
                                <p:cTn id="17" presetID="10" presetClass="entr" presetSubtype="0" fill="hold" grpId="0" nodeType="withEffect">
                                  <p:stCondLst>
                                    <p:cond delay="60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21" presetID="2" presetClass="entr" presetSubtype="8" fill="hold" grpId="0" nodeType="withEffect">
                                  <p:stCondLst>
                                    <p:cond delay="9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800" fill="hold"/>
                                        <p:tgtEl>
                                          <p:spTgt spid="7"/>
                                        </p:tgtEl>
                                        <p:attrNameLst>
                                          <p:attrName>ppt_x</p:attrName>
                                        </p:attrNameLst>
                                      </p:cBhvr>
                                      <p:tavLst>
                                        <p:tav tm="0">
                                          <p:val>
                                            <p:strVal val="0-#ppt_w/2"/>
                                          </p:val>
                                        </p:tav>
                                        <p:tav tm="100000">
                                          <p:val>
                                            <p:strVal val="#ppt_x"/>
                                          </p:val>
                                        </p:tav>
                                      </p:tavLst>
                                    </p:anim>
                                    <p:anim calcmode="lin" valueType="num">
                                      <p:cBhvr additive="base">
                                        <p:cTn id="20" dur="1800" fill="hold"/>
                                        <p:tgtEl>
                                          <p:spTgt spid="7"/>
                                        </p:tgtEl>
                                        <p:attrNameLst>
                                          <p:attrName>ppt_y</p:attrName>
                                        </p:attrNameLst>
                                      </p:cBhvr>
                                      <p:tavLst>
                                        <p:tav tm="0">
                                          <p:val>
                                            <p:strVal val="#ppt_y"/>
                                          </p:val>
                                        </p:tav>
                                        <p:tav tm="100000">
                                          <p:val>
                                            <p:strVal val="#ppt_y"/>
                                          </p:val>
                                        </p:tav>
                                      </p:tavLst>
                                    </p:anim>
                                  </p:childTnLst>
                                </p:cTn>
                              </p:par>
                              <p:par>
                                <p:cTn id="23" presetID="0" presetClass="path" presetSubtype="0" fill="hold" grpId="1" nodeType="withEffect" autoRev="1" repeatCount="4000">
                                  <p:stCondLst>
                                    <p:cond delay="900"/>
                                  </p:stCondLst>
                                  <p:childTnLst>
                                    <p:animMotion origin="layout" path="M 0 0 L 0 -0.012 E" pathEditMode="relative" ptsTypes="AA">
                                      <p:cBhvr>
                                        <p:cTn id="22" dur="225" fill="hold"/>
                                        <p:tgtEl>
                                          <p:spTgt spid="7"/>
                                        </p:tgtEl>
                                        <p:attrNameLst>
                                          <p:attrName>ppt_x</p:attrName>
                                          <p:attrName>ppt_y</p:attrName>
                                        </p:attrNameLst>
                                      </p:cBhvr>
                                    </p:animMotion>
                                  </p:childTnLst>
                                </p:cTn>
                              </p:par>
                              <p:par>
                                <p:cTn id="25" presetID="1" presetClass="entr" presetSubtype="0" fill="hold" grpId="0" nodeType="withEffect">
                                  <p:stCondLst>
                                    <p:cond delay="1000"/>
                                  </p:stCondLst>
                                  <p:iterate type="lt">
                                    <p:tmAbs val="32"/>
                                  </p:iterate>
                                  <p:childTnLst>
                                    <p:set>
                                      <p:cBhvr>
                                        <p:cTn id="24" dur="1" fill="hold">
                                          <p:stCondLst>
                                            <p:cond delay="0"/>
                                          </p:stCondLst>
                                        </p:cTn>
                                        <p:tgtEl>
                                          <p:spTgt spid="28"/>
                                        </p:tgtEl>
                                        <p:attrNameLst>
                                          <p:attrName>style.visibility</p:attrName>
                                        </p:attrNameLst>
                                      </p:cBhvr>
                                      <p:to>
                                        <p:strVal val="visible"/>
                                      </p:to>
                                    </p:set>
                                  </p:childTnLst>
                                </p:cTn>
                              </p:par>
                              <p:par>
                                <p:cTn id="29" presetID="2" presetClass="entr" presetSubtype="1" fill="hold" grpId="0" nodeType="withEffect">
                                  <p:stCondLst>
                                    <p:cond delay="27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600" fill="hold"/>
                                        <p:tgtEl>
                                          <p:spTgt spid="10"/>
                                        </p:tgtEl>
                                        <p:attrNameLst>
                                          <p:attrName>ppt_x</p:attrName>
                                        </p:attrNameLst>
                                      </p:cBhvr>
                                      <p:tavLst>
                                        <p:tav tm="0">
                                          <p:val>
                                            <p:strVal val="#ppt_x"/>
                                          </p:val>
                                        </p:tav>
                                        <p:tav tm="100000">
                                          <p:val>
                                            <p:strVal val="#ppt_x"/>
                                          </p:val>
                                        </p:tav>
                                      </p:tavLst>
                                    </p:anim>
                                    <p:anim calcmode="lin" valueType="num">
                                      <p:cBhvr additive="base">
                                        <p:cTn id="28" dur="600" fill="hold"/>
                                        <p:tgtEl>
                                          <p:spTgt spid="10"/>
                                        </p:tgtEl>
                                        <p:attrNameLst>
                                          <p:attrName>ppt_y</p:attrName>
                                        </p:attrNameLst>
                                      </p:cBhvr>
                                      <p:tavLst>
                                        <p:tav tm="0">
                                          <p:val>
                                            <p:strVal val="0-#ppt_h/2"/>
                                          </p:val>
                                        </p:tav>
                                        <p:tav tm="100000">
                                          <p:val>
                                            <p:strVal val="#ppt_y"/>
                                          </p:val>
                                        </p:tav>
                                      </p:tavLst>
                                    </p:anim>
                                  </p:childTnLst>
                                </p:cTn>
                              </p:par>
                              <p:par>
                                <p:cTn id="34" presetID="53" presetClass="entr" presetSubtype="16" fill="hold" grpId="0" nodeType="withEffect">
                                  <p:stCondLst>
                                    <p:cond delay="33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ppt_w</p:attrName>
                                        </p:attrNameLst>
                                      </p:cBhvr>
                                      <p:tavLst>
                                        <p:tav tm="0">
                                          <p:val>
                                            <p:strVal val="0"/>
                                          </p:val>
                                        </p:tav>
                                        <p:tav tm="100000">
                                          <p:val>
                                            <p:strVal val="#ppt_w"/>
                                          </p:val>
                                        </p:tav>
                                      </p:tavLst>
                                    </p:anim>
                                    <p:anim calcmode="lin" valueType="num">
                                      <p:cBhvr additive="base">
                                        <p:cTn id="32" dur="500" fill="hold"/>
                                        <p:tgtEl>
                                          <p:spTgt spid="11"/>
                                        </p:tgtEl>
                                        <p:attrNameLst>
                                          <p:attrName>ppt_h</p:attrName>
                                        </p:attrNameLst>
                                      </p:cBhvr>
                                      <p:tavLst>
                                        <p:tav tm="0">
                                          <p:val>
                                            <p:strVal val="0"/>
                                          </p:val>
                                        </p:tav>
                                        <p:tav tm="100000">
                                          <p:val>
                                            <p:strVal val="#ppt_h"/>
                                          </p:val>
                                        </p:tav>
                                      </p:tavLst>
                                    </p:anim>
                                    <p:animEffect transition="in" filter="fade">
                                      <p:cBhvr>
                                        <p:cTn id="33" dur="500"/>
                                        <p:tgtEl>
                                          <p:spTgt spid="11"/>
                                        </p:tgtEl>
                                      </p:cBhvr>
                                    </p:animEffect>
                                  </p:childTnLst>
                                </p:cTn>
                              </p:par>
                              <p:par>
                                <p:cTn id="37" presetID="10" presetClass="exit" presetSubtype="0" fill="hold" grpId="1" nodeType="withEffect">
                                  <p:stCondLst>
                                    <p:cond delay="5200"/>
                                  </p:stCondLst>
                                  <p:childTnLst>
                                    <p:animEffect transition="out" filter="fade">
                                      <p:cBhvr>
                                        <p:cTn id="35" dur="400"/>
                                        <p:tgtEl>
                                          <p:spTgt spid="11"/>
                                        </p:tgtEl>
                                      </p:cBhvr>
                                    </p:animEffect>
                                    <p:set>
                                      <p:cBhvr>
                                        <p:cTn id="36" dur="1" fill="hold">
                                          <p:stCondLst>
                                            <p:cond delay="399"/>
                                          </p:stCondLst>
                                        </p:cTn>
                                        <p:tgtEl>
                                          <p:spTgt spid="11"/>
                                        </p:tgtEl>
                                        <p:attrNameLst>
                                          <p:attrName>style.visibility</p:attrName>
                                        </p:attrNameLst>
                                      </p:cBhvr>
                                      <p:to>
                                        <p:strVal val="hidden"/>
                                      </p:to>
                                    </p:set>
                                  </p:childTnLst>
                                </p:cTn>
                              </p:par>
                              <p:par>
                                <p:cTn id="40" presetID="10" presetClass="exit" presetSubtype="0" fill="hold" grpId="1" nodeType="withEffect">
                                  <p:stCondLst>
                                    <p:cond delay="5300"/>
                                  </p:stCondLst>
                                  <p:childTnLst>
                                    <p:animEffect transition="out" filter="fade">
                                      <p:cBhvr>
                                        <p:cTn id="38" dur="400"/>
                                        <p:tgtEl>
                                          <p:spTgt spid="28"/>
                                        </p:tgtEl>
                                      </p:cBhvr>
                                    </p:animEffect>
                                    <p:set>
                                      <p:cBhvr>
                                        <p:cTn id="39" dur="1" fill="hold">
                                          <p:stCondLst>
                                            <p:cond delay="399"/>
                                          </p:stCondLst>
                                        </p:cTn>
                                        <p:tgtEl>
                                          <p:spTgt spid="28"/>
                                        </p:tgtEl>
                                        <p:attrNameLst>
                                          <p:attrName>style.visibility</p:attrName>
                                        </p:attrNameLst>
                                      </p:cBhvr>
                                      <p:to>
                                        <p:strVal val="hidden"/>
                                      </p:to>
                                    </p:set>
                                  </p:childTnLst>
                                </p:cTn>
                              </p:par>
                              <p:par>
                                <p:cTn id="44" presetID="2" presetClass="entr" presetSubtype="2" fill="hold" grpId="0" nodeType="withEffect">
                                  <p:stCondLst>
                                    <p:cond delay="550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1800" fill="hold"/>
                                        <p:tgtEl>
                                          <p:spTgt spid="12"/>
                                        </p:tgtEl>
                                        <p:attrNameLst>
                                          <p:attrName>ppt_x</p:attrName>
                                        </p:attrNameLst>
                                      </p:cBhvr>
                                      <p:tavLst>
                                        <p:tav tm="0">
                                          <p:val>
                                            <p:strVal val="1+#ppt_w/2"/>
                                          </p:val>
                                        </p:tav>
                                        <p:tav tm="100000">
                                          <p:val>
                                            <p:strVal val="#ppt_x"/>
                                          </p:val>
                                        </p:tav>
                                      </p:tavLst>
                                    </p:anim>
                                    <p:anim calcmode="lin" valueType="num">
                                      <p:cBhvr additive="base">
                                        <p:cTn id="43" dur="1800" fill="hold"/>
                                        <p:tgtEl>
                                          <p:spTgt spid="12"/>
                                        </p:tgtEl>
                                        <p:attrNameLst>
                                          <p:attrName>ppt_y</p:attrName>
                                        </p:attrNameLst>
                                      </p:cBhvr>
                                      <p:tavLst>
                                        <p:tav tm="0">
                                          <p:val>
                                            <p:strVal val="#ppt_y"/>
                                          </p:val>
                                        </p:tav>
                                        <p:tav tm="100000">
                                          <p:val>
                                            <p:strVal val="#ppt_y"/>
                                          </p:val>
                                        </p:tav>
                                      </p:tavLst>
                                    </p:anim>
                                  </p:childTnLst>
                                </p:cTn>
                              </p:par>
                              <p:par>
                                <p:cTn id="46" presetID="0" presetClass="path" presetSubtype="0" fill="hold" grpId="1" nodeType="withEffect" autoRev="1" repeatCount="4000">
                                  <p:stCondLst>
                                    <p:cond delay="5500"/>
                                  </p:stCondLst>
                                  <p:childTnLst>
                                    <p:animMotion origin="layout" path="M 0 0 L 0 -0.012 E" pathEditMode="relative" ptsTypes="AA">
                                      <p:cBhvr>
                                        <p:cTn id="45" dur="225" fill="hold"/>
                                        <p:tgtEl>
                                          <p:spTgt spid="12"/>
                                        </p:tgtEl>
                                        <p:attrNameLst>
                                          <p:attrName>ppt_x</p:attrName>
                                          <p:attrName>ppt_y</p:attrName>
                                        </p:attrNameLst>
                                      </p:cBhvr>
                                    </p:animMotion>
                                  </p:childTnLst>
                                </p:cTn>
                              </p:par>
                              <p:par>
                                <p:cTn id="48" presetID="1" presetClass="entr" presetSubtype="0" fill="hold" grpId="0" nodeType="withEffect">
                                  <p:stCondLst>
                                    <p:cond delay="5600"/>
                                  </p:stCondLst>
                                  <p:iterate type="lt">
                                    <p:tmAbs val="32"/>
                                  </p:iterate>
                                  <p:childTnLst>
                                    <p:set>
                                      <p:cBhvr>
                                        <p:cTn id="47" dur="1" fill="hold">
                                          <p:stCondLst>
                                            <p:cond delay="0"/>
                                          </p:stCondLst>
                                        </p:cTn>
                                        <p:tgtEl>
                                          <p:spTgt spid="29"/>
                                        </p:tgtEl>
                                        <p:attrNameLst>
                                          <p:attrName>style.visibility</p:attrName>
                                        </p:attrNameLst>
                                      </p:cBhvr>
                                      <p:to>
                                        <p:strVal val="visible"/>
                                      </p:to>
                                    </p:set>
                                  </p:childTnLst>
                                </p:cTn>
                              </p:par>
                              <p:par>
                                <p:cTn id="53" presetID="53" presetClass="entr" presetSubtype="16" fill="hold" grpId="0" nodeType="withEffect">
                                  <p:stCondLst>
                                    <p:cond delay="730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ppt_w</p:attrName>
                                        </p:attrNameLst>
                                      </p:cBhvr>
                                      <p:tavLst>
                                        <p:tav tm="0">
                                          <p:val>
                                            <p:strVal val="0"/>
                                          </p:val>
                                        </p:tav>
                                        <p:tav tm="100000">
                                          <p:val>
                                            <p:strVal val="#ppt_w"/>
                                          </p:val>
                                        </p:tav>
                                      </p:tavLst>
                                    </p:anim>
                                    <p:anim calcmode="lin" valueType="num">
                                      <p:cBhvr additive="base">
                                        <p:cTn id="51" dur="500" fill="hold"/>
                                        <p:tgtEl>
                                          <p:spTgt spid="14"/>
                                        </p:tgtEl>
                                        <p:attrNameLst>
                                          <p:attrName>ppt_h</p:attrName>
                                        </p:attrNameLst>
                                      </p:cBhvr>
                                      <p:tavLst>
                                        <p:tav tm="0">
                                          <p:val>
                                            <p:strVal val="0"/>
                                          </p:val>
                                        </p:tav>
                                        <p:tav tm="100000">
                                          <p:val>
                                            <p:strVal val="#ppt_h"/>
                                          </p:val>
                                        </p:tav>
                                      </p:tavLst>
                                    </p:anim>
                                    <p:animEffect transition="in" filter="fade">
                                      <p:cBhvr>
                                        <p:cTn id="52" dur="500"/>
                                        <p:tgtEl>
                                          <p:spTgt spid="14"/>
                                        </p:tgtEl>
                                      </p:cBhvr>
                                    </p:animEffect>
                                  </p:childTnLst>
                                </p:cTn>
                              </p:par>
                              <p:par>
                                <p:cTn id="58" presetID="53" presetClass="entr" presetSubtype="16" fill="hold" grpId="0" nodeType="withEffect">
                                  <p:stCondLst>
                                    <p:cond delay="760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ppt_w</p:attrName>
                                        </p:attrNameLst>
                                      </p:cBhvr>
                                      <p:tavLst>
                                        <p:tav tm="0">
                                          <p:val>
                                            <p:strVal val="0"/>
                                          </p:val>
                                        </p:tav>
                                        <p:tav tm="100000">
                                          <p:val>
                                            <p:strVal val="#ppt_w"/>
                                          </p:val>
                                        </p:tav>
                                      </p:tavLst>
                                    </p:anim>
                                    <p:anim calcmode="lin" valueType="num">
                                      <p:cBhvr additive="base">
                                        <p:cTn id="56" dur="500" fill="hold"/>
                                        <p:tgtEl>
                                          <p:spTgt spid="15"/>
                                        </p:tgtEl>
                                        <p:attrNameLst>
                                          <p:attrName>ppt_h</p:attrName>
                                        </p:attrNameLst>
                                      </p:cBhvr>
                                      <p:tavLst>
                                        <p:tav tm="0">
                                          <p:val>
                                            <p:strVal val="0"/>
                                          </p:val>
                                        </p:tav>
                                        <p:tav tm="100000">
                                          <p:val>
                                            <p:strVal val="#ppt_h"/>
                                          </p:val>
                                        </p:tav>
                                      </p:tavLst>
                                    </p:anim>
                                    <p:animEffect transition="in" filter="fade">
                                      <p:cBhvr>
                                        <p:cTn id="57" dur="500"/>
                                        <p:tgtEl>
                                          <p:spTgt spid="15"/>
                                        </p:tgtEl>
                                      </p:cBhvr>
                                    </p:animEffect>
                                  </p:childTnLst>
                                </p:cTn>
                              </p:par>
                              <p:par>
                                <p:cTn id="61" presetID="10" presetClass="exit" presetSubtype="0" fill="hold" grpId="2" nodeType="withEffect">
                                  <p:stCondLst>
                                    <p:cond delay="8300"/>
                                  </p:stCondLst>
                                  <p:childTnLst>
                                    <p:animEffect transition="out" filter="fade">
                                      <p:cBhvr>
                                        <p:cTn id="59" dur="400"/>
                                        <p:tgtEl>
                                          <p:spTgt spid="7"/>
                                        </p:tgtEl>
                                      </p:cBhvr>
                                    </p:animEffect>
                                    <p:set>
                                      <p:cBhvr>
                                        <p:cTn id="60" dur="1" fill="hold">
                                          <p:stCondLst>
                                            <p:cond delay="399"/>
                                          </p:stCondLst>
                                        </p:cTn>
                                        <p:tgtEl>
                                          <p:spTgt spid="7"/>
                                        </p:tgtEl>
                                        <p:attrNameLst>
                                          <p:attrName>style.visibility</p:attrName>
                                        </p:attrNameLst>
                                      </p:cBhvr>
                                      <p:to>
                                        <p:strVal val="hidden"/>
                                      </p:to>
                                    </p:set>
                                  </p:childTnLst>
                                </p:cTn>
                              </p:par>
                              <p:par>
                                <p:cTn id="64" presetID="10" presetClass="entr" presetSubtype="0" fill="hold" grpId="0" nodeType="withEffect">
                                  <p:stCondLst>
                                    <p:cond delay="830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400"/>
                                        <p:tgtEl>
                                          <p:spTgt spid="8"/>
                                        </p:tgtEl>
                                      </p:cBhvr>
                                    </p:animEffect>
                                  </p:childTnLst>
                                </p:cTn>
                              </p:par>
                              <p:par>
                                <p:cTn id="67" presetID="10" presetClass="exit" presetSubtype="0" fill="hold" grpId="1" nodeType="withEffect">
                                  <p:stCondLst>
                                    <p:cond delay="9900"/>
                                  </p:stCondLst>
                                  <p:childTnLst>
                                    <p:animEffect transition="out" filter="fade">
                                      <p:cBhvr>
                                        <p:cTn id="65" dur="400"/>
                                        <p:tgtEl>
                                          <p:spTgt spid="29"/>
                                        </p:tgtEl>
                                      </p:cBhvr>
                                    </p:animEffect>
                                    <p:set>
                                      <p:cBhvr>
                                        <p:cTn id="66" dur="1" fill="hold">
                                          <p:stCondLst>
                                            <p:cond delay="399"/>
                                          </p:stCondLst>
                                        </p:cTn>
                                        <p:tgtEl>
                                          <p:spTgt spid="29"/>
                                        </p:tgtEl>
                                        <p:attrNameLst>
                                          <p:attrName>style.visibility</p:attrName>
                                        </p:attrNameLst>
                                      </p:cBhvr>
                                      <p:to>
                                        <p:strVal val="hidden"/>
                                      </p:to>
                                    </p:set>
                                  </p:childTnLst>
                                </p:cTn>
                              </p:par>
                              <p:par>
                                <p:cTn id="70" presetID="10" presetClass="exit" presetSubtype="0" fill="hold" grpId="1" nodeType="withEffect">
                                  <p:stCondLst>
                                    <p:cond delay="9900"/>
                                  </p:stCondLst>
                                  <p:childTnLst>
                                    <p:animEffect transition="out" filter="fade">
                                      <p:cBhvr>
                                        <p:cTn id="68" dur="400"/>
                                        <p:tgtEl>
                                          <p:spTgt spid="15"/>
                                        </p:tgtEl>
                                      </p:cBhvr>
                                    </p:animEffect>
                                    <p:set>
                                      <p:cBhvr>
                                        <p:cTn id="69" dur="1" fill="hold">
                                          <p:stCondLst>
                                            <p:cond delay="399"/>
                                          </p:stCondLst>
                                        </p:cTn>
                                        <p:tgtEl>
                                          <p:spTgt spid="15"/>
                                        </p:tgtEl>
                                        <p:attrNameLst>
                                          <p:attrName>style.visibility</p:attrName>
                                        </p:attrNameLst>
                                      </p:cBhvr>
                                      <p:to>
                                        <p:strVal val="hidden"/>
                                      </p:to>
                                    </p:set>
                                  </p:childTnLst>
                                </p:cTn>
                              </p:par>
                              <p:par>
                                <p:cTn id="72" presetID="1" presetClass="entr" presetSubtype="0" fill="hold" grpId="0" nodeType="withEffect">
                                  <p:stCondLst>
                                    <p:cond delay="10100"/>
                                  </p:stCondLst>
                                  <p:iterate type="lt">
                                    <p:tmAbs val="32"/>
                                  </p:iterate>
                                  <p:childTnLst>
                                    <p:set>
                                      <p:cBhvr>
                                        <p:cTn id="71" dur="1" fill="hold">
                                          <p:stCondLst>
                                            <p:cond delay="0"/>
                                          </p:stCondLst>
                                        </p:cTn>
                                        <p:tgtEl>
                                          <p:spTgt spid="30"/>
                                        </p:tgtEl>
                                        <p:attrNameLst>
                                          <p:attrName>style.visibility</p:attrName>
                                        </p:attrNameLst>
                                      </p:cBhvr>
                                      <p:to>
                                        <p:strVal val="visible"/>
                                      </p:to>
                                    </p:set>
                                  </p:childTnLst>
                                </p:cTn>
                              </p:par>
                              <p:par>
                                <p:cTn id="77" presetID="42" presetClass="entr" presetSubtype="0" fill="hold" grpId="0" nodeType="withEffect">
                                  <p:stCondLst>
                                    <p:cond delay="1020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600"/>
                                        <p:tgtEl>
                                          <p:spTgt spid="16"/>
                                        </p:tgtEl>
                                      </p:cBhvr>
                                    </p:animEffect>
                                    <p:anim calcmode="lin" valueType="num">
                                      <p:cBhvr additive="base">
                                        <p:cTn id="75" dur="600" fill="hold"/>
                                        <p:tgtEl>
                                          <p:spTgt spid="16"/>
                                        </p:tgtEl>
                                        <p:attrNameLst>
                                          <p:attrName>ppt_x</p:attrName>
                                        </p:attrNameLst>
                                      </p:cBhvr>
                                      <p:tavLst>
                                        <p:tav tm="0">
                                          <p:val>
                                            <p:strVal val="#ppt_x"/>
                                          </p:val>
                                        </p:tav>
                                        <p:tav tm="100000">
                                          <p:val>
                                            <p:strVal val="#ppt_x"/>
                                          </p:val>
                                        </p:tav>
                                      </p:tavLst>
                                    </p:anim>
                                    <p:anim calcmode="lin" valueType="num">
                                      <p:cBhvr additive="base">
                                        <p:cTn id="76" dur="600" fill="hold"/>
                                        <p:tgtEl>
                                          <p:spTgt spid="16"/>
                                        </p:tgtEl>
                                        <p:attrNameLst>
                                          <p:attrName>ppt_y</p:attrName>
                                        </p:attrNameLst>
                                      </p:cBhvr>
                                      <p:tavLst>
                                        <p:tav tm="0">
                                          <p:val>
                                            <p:strVal val="#ppt_y+.06"/>
                                          </p:val>
                                        </p:tav>
                                        <p:tav tm="100000">
                                          <p:val>
                                            <p:strVal val="#ppt_y"/>
                                          </p:val>
                                        </p:tav>
                                      </p:tavLst>
                                    </p:anim>
                                  </p:childTnLst>
                                </p:cTn>
                              </p:par>
                              <p:par>
                                <p:cTn id="81" presetID="2" presetClass="entr" presetSubtype="8" fill="hold" grpId="0" nodeType="withEffect">
                                  <p:stCondLst>
                                    <p:cond delay="10600"/>
                                  </p:stCondLst>
                                  <p:childTnLst>
                                    <p:set>
                                      <p:cBhvr>
                                        <p:cTn id="78" dur="1" fill="hold">
                                          <p:stCondLst>
                                            <p:cond delay="0"/>
                                          </p:stCondLst>
                                        </p:cTn>
                                        <p:tgtEl>
                                          <p:spTgt spid="17"/>
                                        </p:tgtEl>
                                        <p:attrNameLst>
                                          <p:attrName>style.visibility</p:attrName>
                                        </p:attrNameLst>
                                      </p:cBhvr>
                                      <p:to>
                                        <p:strVal val="visible"/>
                                      </p:to>
                                    </p:set>
                                    <p:anim calcmode="lin" valueType="num">
                                      <p:cBhvr additive="base">
                                        <p:cTn id="79" dur="3800" fill="hold"/>
                                        <p:tgtEl>
                                          <p:spTgt spid="17"/>
                                        </p:tgtEl>
                                        <p:attrNameLst>
                                          <p:attrName>ppt_x</p:attrName>
                                        </p:attrNameLst>
                                      </p:cBhvr>
                                      <p:tavLst>
                                        <p:tav tm="0">
                                          <p:val>
                                            <p:strVal val="0-#ppt_w/2"/>
                                          </p:val>
                                        </p:tav>
                                        <p:tav tm="100000">
                                          <p:val>
                                            <p:strVal val="1+#ppt_w/2"/>
                                          </p:val>
                                        </p:tav>
                                      </p:tavLst>
                                    </p:anim>
                                    <p:anim calcmode="lin" valueType="num">
                                      <p:cBhvr additive="base">
                                        <p:cTn id="80" dur="3800" fill="hold"/>
                                        <p:tgtEl>
                                          <p:spTgt spid="17"/>
                                        </p:tgtEl>
                                        <p:attrNameLst>
                                          <p:attrName>ppt_y</p:attrName>
                                        </p:attrNameLst>
                                      </p:cBhvr>
                                      <p:tavLst>
                                        <p:tav tm="0">
                                          <p:val>
                                            <p:strVal val="#ppt_y"/>
                                          </p:val>
                                        </p:tav>
                                        <p:tav tm="100000">
                                          <p:val>
                                            <p:strVal val="#ppt_y"/>
                                          </p:val>
                                        </p:tav>
                                      </p:tavLst>
                                    </p:anim>
                                  </p:childTnLst>
                                </p:cTn>
                              </p:par>
                              <p:par>
                                <p:cTn id="84" presetID="10" presetClass="exit" presetSubtype="0" fill="hold" grpId="1" nodeType="withEffect">
                                  <p:stCondLst>
                                    <p:cond delay="14400"/>
                                  </p:stCondLst>
                                  <p:childTnLst>
                                    <p:animEffect transition="out" filter="fade">
                                      <p:cBhvr>
                                        <p:cTn id="82" dur="400"/>
                                        <p:tgtEl>
                                          <p:spTgt spid="30"/>
                                        </p:tgtEl>
                                      </p:cBhvr>
                                    </p:animEffect>
                                    <p:set>
                                      <p:cBhvr>
                                        <p:cTn id="83" dur="1" fill="hold">
                                          <p:stCondLst>
                                            <p:cond delay="399"/>
                                          </p:stCondLst>
                                        </p:cTn>
                                        <p:tgtEl>
                                          <p:spTgt spid="30"/>
                                        </p:tgtEl>
                                        <p:attrNameLst>
                                          <p:attrName>style.visibility</p:attrName>
                                        </p:attrNameLst>
                                      </p:cBhvr>
                                      <p:to>
                                        <p:strVal val="hidden"/>
                                      </p:to>
                                    </p:set>
                                  </p:childTnLst>
                                </p:cTn>
                              </p:par>
                              <p:par>
                                <p:cTn id="86" presetID="1" presetClass="entr" presetSubtype="0" fill="hold" grpId="0" nodeType="withEffect">
                                  <p:stCondLst>
                                    <p:cond delay="14600"/>
                                  </p:stCondLst>
                                  <p:iterate type="lt">
                                    <p:tmAbs val="32"/>
                                  </p:iterate>
                                  <p:childTnLst>
                                    <p:set>
                                      <p:cBhvr>
                                        <p:cTn id="85" dur="1" fill="hold">
                                          <p:stCondLst>
                                            <p:cond delay="0"/>
                                          </p:stCondLst>
                                        </p:cTn>
                                        <p:tgtEl>
                                          <p:spTgt spid="31"/>
                                        </p:tgtEl>
                                        <p:attrNameLst>
                                          <p:attrName>style.visibility</p:attrName>
                                        </p:attrNameLst>
                                      </p:cBhvr>
                                      <p:to>
                                        <p:strVal val="visible"/>
                                      </p:to>
                                    </p:set>
                                  </p:childTnLst>
                                </p:cTn>
                              </p:par>
                              <p:par>
                                <p:cTn id="89" presetID="10" presetClass="exit" presetSubtype="0" fill="hold" grpId="1" nodeType="withEffect">
                                  <p:stCondLst>
                                    <p:cond delay="14600"/>
                                  </p:stCondLst>
                                  <p:childTnLst>
                                    <p:animEffect transition="out" filter="fade">
                                      <p:cBhvr>
                                        <p:cTn id="87" dur="300"/>
                                        <p:tgtEl>
                                          <p:spTgt spid="14"/>
                                        </p:tgtEl>
                                      </p:cBhvr>
                                    </p:animEffect>
                                    <p:set>
                                      <p:cBhvr>
                                        <p:cTn id="88" dur="1" fill="hold">
                                          <p:stCondLst>
                                            <p:cond delay="299"/>
                                          </p:stCondLst>
                                        </p:cTn>
                                        <p:tgtEl>
                                          <p:spTgt spid="14"/>
                                        </p:tgtEl>
                                        <p:attrNameLst>
                                          <p:attrName>style.visibility</p:attrName>
                                        </p:attrNameLst>
                                      </p:cBhvr>
                                      <p:to>
                                        <p:strVal val="hidden"/>
                                      </p:to>
                                    </p:set>
                                  </p:childTnLst>
                                </p:cTn>
                              </p:par>
                              <p:par>
                                <p:cTn id="92" presetID="10" presetClass="exit" presetSubtype="0" fill="hold" grpId="1" nodeType="withEffect">
                                  <p:stCondLst>
                                    <p:cond delay="14600"/>
                                  </p:stCondLst>
                                  <p:childTnLst>
                                    <p:animEffect transition="out" filter="fade">
                                      <p:cBhvr>
                                        <p:cTn id="90" dur="300"/>
                                        <p:tgtEl>
                                          <p:spTgt spid="10"/>
                                        </p:tgtEl>
                                      </p:cBhvr>
                                    </p:animEffect>
                                    <p:set>
                                      <p:cBhvr>
                                        <p:cTn id="91" dur="1" fill="hold">
                                          <p:stCondLst>
                                            <p:cond delay="299"/>
                                          </p:stCondLst>
                                        </p:cTn>
                                        <p:tgtEl>
                                          <p:spTgt spid="10"/>
                                        </p:tgtEl>
                                        <p:attrNameLst>
                                          <p:attrName>style.visibility</p:attrName>
                                        </p:attrNameLst>
                                      </p:cBhvr>
                                      <p:to>
                                        <p:strVal val="hidden"/>
                                      </p:to>
                                    </p:set>
                                  </p:childTnLst>
                                </p:cTn>
                              </p:par>
                              <p:par>
                                <p:cTn id="97" presetID="53" presetClass="entr" presetSubtype="32" fill="hold" grpId="0" nodeType="withEffect">
                                  <p:stCondLst>
                                    <p:cond delay="15000"/>
                                  </p:stCondLst>
                                  <p:childTnLst>
                                    <p:set>
                                      <p:cBhvr>
                                        <p:cTn id="93" dur="1" fill="hold">
                                          <p:stCondLst>
                                            <p:cond delay="0"/>
                                          </p:stCondLst>
                                        </p:cTn>
                                        <p:tgtEl>
                                          <p:spTgt spid="18"/>
                                        </p:tgtEl>
                                        <p:attrNameLst>
                                          <p:attrName>style.visibility</p:attrName>
                                        </p:attrNameLst>
                                      </p:cBhvr>
                                      <p:to>
                                        <p:strVal val="visible"/>
                                      </p:to>
                                    </p:set>
                                    <p:anim calcmode="lin" valueType="num">
                                      <p:cBhvr additive="base">
                                        <p:cTn id="94" dur="400" fill="hold"/>
                                        <p:tgtEl>
                                          <p:spTgt spid="18"/>
                                        </p:tgtEl>
                                        <p:attrNameLst>
                                          <p:attrName>ppt_w</p:attrName>
                                        </p:attrNameLst>
                                      </p:cBhvr>
                                      <p:tavLst>
                                        <p:tav tm="0">
                                          <p:val>
                                            <p:strVal val="#ppt_w*2.4"/>
                                          </p:val>
                                        </p:tav>
                                        <p:tav tm="100000">
                                          <p:val>
                                            <p:strVal val="#ppt_w"/>
                                          </p:val>
                                        </p:tav>
                                      </p:tavLst>
                                    </p:anim>
                                    <p:anim calcmode="lin" valueType="num">
                                      <p:cBhvr additive="base">
                                        <p:cTn id="95" dur="400" fill="hold"/>
                                        <p:tgtEl>
                                          <p:spTgt spid="18"/>
                                        </p:tgtEl>
                                        <p:attrNameLst>
                                          <p:attrName>ppt_h</p:attrName>
                                        </p:attrNameLst>
                                      </p:cBhvr>
                                      <p:tavLst>
                                        <p:tav tm="0">
                                          <p:val>
                                            <p:strVal val="#ppt_h*2.4"/>
                                          </p:val>
                                        </p:tav>
                                        <p:tav tm="100000">
                                          <p:val>
                                            <p:strVal val="#ppt_h"/>
                                          </p:val>
                                        </p:tav>
                                      </p:tavLst>
                                    </p:anim>
                                    <p:animEffect transition="in" filter="fade">
                                      <p:cBhvr>
                                        <p:cTn id="96" dur="400"/>
                                        <p:tgtEl>
                                          <p:spTgt spid="18"/>
                                        </p:tgtEl>
                                      </p:cBhvr>
                                    </p:animEffect>
                                  </p:childTnLst>
                                </p:cTn>
                              </p:par>
                              <p:par>
                                <p:cTn id="101" presetID="2" presetClass="entr" presetSubtype="1" fill="hold" grpId="0" nodeType="withEffect">
                                  <p:stCondLst>
                                    <p:cond delay="15100"/>
                                  </p:stCondLst>
                                  <p:childTnLst>
                                    <p:set>
                                      <p:cBhvr>
                                        <p:cTn id="98" dur="1" fill="hold">
                                          <p:stCondLst>
                                            <p:cond delay="0"/>
                                          </p:stCondLst>
                                        </p:cTn>
                                        <p:tgtEl>
                                          <p:spTgt spid="21"/>
                                        </p:tgtEl>
                                        <p:attrNameLst>
                                          <p:attrName>style.visibility</p:attrName>
                                        </p:attrNameLst>
                                      </p:cBhvr>
                                      <p:to>
                                        <p:strVal val="visible"/>
                                      </p:to>
                                    </p:set>
                                    <p:anim calcmode="lin" valueType="num">
                                      <p:cBhvr additive="base">
                                        <p:cTn id="99" dur="900" fill="hold"/>
                                        <p:tgtEl>
                                          <p:spTgt spid="21"/>
                                        </p:tgtEl>
                                        <p:attrNameLst>
                                          <p:attrName>ppt_x</p:attrName>
                                        </p:attrNameLst>
                                      </p:cBhvr>
                                      <p:tavLst>
                                        <p:tav tm="0">
                                          <p:val>
                                            <p:strVal val="#ppt_x"/>
                                          </p:val>
                                        </p:tav>
                                        <p:tav tm="100000">
                                          <p:val>
                                            <p:strVal val="#ppt_x"/>
                                          </p:val>
                                        </p:tav>
                                      </p:tavLst>
                                    </p:anim>
                                    <p:anim calcmode="lin" valueType="num">
                                      <p:cBhvr additive="base">
                                        <p:cTn id="100" dur="900" fill="hold"/>
                                        <p:tgtEl>
                                          <p:spTgt spid="21"/>
                                        </p:tgtEl>
                                        <p:attrNameLst>
                                          <p:attrName>ppt_y</p:attrName>
                                        </p:attrNameLst>
                                      </p:cBhvr>
                                      <p:tavLst>
                                        <p:tav tm="0">
                                          <p:val>
                                            <p:strVal val="0-#ppt_h/2"/>
                                          </p:val>
                                        </p:tav>
                                        <p:tav tm="100000">
                                          <p:val>
                                            <p:strVal val="#ppt_y"/>
                                          </p:val>
                                        </p:tav>
                                      </p:tavLst>
                                    </p:anim>
                                  </p:childTnLst>
                                </p:cTn>
                              </p:par>
                              <p:par>
                                <p:cTn id="104" presetID="10" presetClass="exit" presetSubtype="0" fill="hold" grpId="1" nodeType="withEffect">
                                  <p:stCondLst>
                                    <p:cond delay="15200"/>
                                  </p:stCondLst>
                                  <p:childTnLst>
                                    <p:animEffect transition="out" filter="fade">
                                      <p:cBhvr>
                                        <p:cTn id="102" dur="300"/>
                                        <p:tgtEl>
                                          <p:spTgt spid="8"/>
                                        </p:tgtEl>
                                      </p:cBhvr>
                                    </p:animEffect>
                                    <p:set>
                                      <p:cBhvr>
                                        <p:cTn id="103" dur="1" fill="hold">
                                          <p:stCondLst>
                                            <p:cond delay="299"/>
                                          </p:stCondLst>
                                        </p:cTn>
                                        <p:tgtEl>
                                          <p:spTgt spid="8"/>
                                        </p:tgtEl>
                                        <p:attrNameLst>
                                          <p:attrName>style.visibility</p:attrName>
                                        </p:attrNameLst>
                                      </p:cBhvr>
                                      <p:to>
                                        <p:strVal val="hidden"/>
                                      </p:to>
                                    </p:set>
                                  </p:childTnLst>
                                </p:cTn>
                              </p:par>
                              <p:par>
                                <p:cTn id="107" presetID="10" presetClass="entr" presetSubtype="0" fill="hold" grpId="0" nodeType="withEffect">
                                  <p:stCondLst>
                                    <p:cond delay="15200"/>
                                  </p:stCondLst>
                                  <p:childTnLst>
                                    <p:set>
                                      <p:cBhvr>
                                        <p:cTn id="105" dur="1" fill="hold">
                                          <p:stCondLst>
                                            <p:cond delay="0"/>
                                          </p:stCondLst>
                                        </p:cTn>
                                        <p:tgtEl>
                                          <p:spTgt spid="9"/>
                                        </p:tgtEl>
                                        <p:attrNameLst>
                                          <p:attrName>style.visibility</p:attrName>
                                        </p:attrNameLst>
                                      </p:cBhvr>
                                      <p:to>
                                        <p:strVal val="visible"/>
                                      </p:to>
                                    </p:set>
                                    <p:animEffect transition="in" filter="fade">
                                      <p:cBhvr>
                                        <p:cTn id="106" dur="300"/>
                                        <p:tgtEl>
                                          <p:spTgt spid="9"/>
                                        </p:tgtEl>
                                      </p:cBhvr>
                                    </p:animEffect>
                                  </p:childTnLst>
                                </p:cTn>
                              </p:par>
                              <p:par>
                                <p:cTn id="110" presetID="10" presetClass="exit" presetSubtype="0" fill="hold" grpId="2" nodeType="withEffect">
                                  <p:stCondLst>
                                    <p:cond delay="15200"/>
                                  </p:stCondLst>
                                  <p:childTnLst>
                                    <p:animEffect transition="out" filter="fade">
                                      <p:cBhvr>
                                        <p:cTn id="108" dur="300"/>
                                        <p:tgtEl>
                                          <p:spTgt spid="12"/>
                                        </p:tgtEl>
                                      </p:cBhvr>
                                    </p:animEffect>
                                    <p:set>
                                      <p:cBhvr>
                                        <p:cTn id="109" dur="1" fill="hold">
                                          <p:stCondLst>
                                            <p:cond delay="299"/>
                                          </p:stCondLst>
                                        </p:cTn>
                                        <p:tgtEl>
                                          <p:spTgt spid="12"/>
                                        </p:tgtEl>
                                        <p:attrNameLst>
                                          <p:attrName>style.visibility</p:attrName>
                                        </p:attrNameLst>
                                      </p:cBhvr>
                                      <p:to>
                                        <p:strVal val="hidden"/>
                                      </p:to>
                                    </p:set>
                                  </p:childTnLst>
                                </p:cTn>
                              </p:par>
                              <p:par>
                                <p:cTn id="113" presetID="10" presetClass="entr" presetSubtype="0" fill="hold" grpId="0" nodeType="withEffect">
                                  <p:stCondLst>
                                    <p:cond delay="15200"/>
                                  </p:stCondLst>
                                  <p:childTnLst>
                                    <p:set>
                                      <p:cBhvr>
                                        <p:cTn id="111" dur="1" fill="hold">
                                          <p:stCondLst>
                                            <p:cond delay="0"/>
                                          </p:stCondLst>
                                        </p:cTn>
                                        <p:tgtEl>
                                          <p:spTgt spid="13"/>
                                        </p:tgtEl>
                                        <p:attrNameLst>
                                          <p:attrName>style.visibility</p:attrName>
                                        </p:attrNameLst>
                                      </p:cBhvr>
                                      <p:to>
                                        <p:strVal val="visible"/>
                                      </p:to>
                                    </p:set>
                                    <p:animEffect transition="in" filter="fade">
                                      <p:cBhvr>
                                        <p:cTn id="112" dur="300"/>
                                        <p:tgtEl>
                                          <p:spTgt spid="13"/>
                                        </p:tgtEl>
                                      </p:cBhvr>
                                    </p:animEffect>
                                  </p:childTnLst>
                                </p:cTn>
                              </p:par>
                              <p:par>
                                <p:cTn id="118" presetID="53" presetClass="entr" presetSubtype="32" fill="hold" grpId="0" nodeType="withEffect">
                                  <p:stCondLst>
                                    <p:cond delay="15250"/>
                                  </p:stCondLst>
                                  <p:childTnLst>
                                    <p:set>
                                      <p:cBhvr>
                                        <p:cTn id="114" dur="1" fill="hold">
                                          <p:stCondLst>
                                            <p:cond delay="0"/>
                                          </p:stCondLst>
                                        </p:cTn>
                                        <p:tgtEl>
                                          <p:spTgt spid="19"/>
                                        </p:tgtEl>
                                        <p:attrNameLst>
                                          <p:attrName>style.visibility</p:attrName>
                                        </p:attrNameLst>
                                      </p:cBhvr>
                                      <p:to>
                                        <p:strVal val="visible"/>
                                      </p:to>
                                    </p:set>
                                    <p:anim calcmode="lin" valueType="num">
                                      <p:cBhvr additive="base">
                                        <p:cTn id="115" dur="400" fill="hold"/>
                                        <p:tgtEl>
                                          <p:spTgt spid="19"/>
                                        </p:tgtEl>
                                        <p:attrNameLst>
                                          <p:attrName>ppt_w</p:attrName>
                                        </p:attrNameLst>
                                      </p:cBhvr>
                                      <p:tavLst>
                                        <p:tav tm="0">
                                          <p:val>
                                            <p:strVal val="#ppt_w*2.4"/>
                                          </p:val>
                                        </p:tav>
                                        <p:tav tm="100000">
                                          <p:val>
                                            <p:strVal val="#ppt_w"/>
                                          </p:val>
                                        </p:tav>
                                      </p:tavLst>
                                    </p:anim>
                                    <p:anim calcmode="lin" valueType="num">
                                      <p:cBhvr additive="base">
                                        <p:cTn id="116" dur="400" fill="hold"/>
                                        <p:tgtEl>
                                          <p:spTgt spid="19"/>
                                        </p:tgtEl>
                                        <p:attrNameLst>
                                          <p:attrName>ppt_h</p:attrName>
                                        </p:attrNameLst>
                                      </p:cBhvr>
                                      <p:tavLst>
                                        <p:tav tm="0">
                                          <p:val>
                                            <p:strVal val="#ppt_h*2.4"/>
                                          </p:val>
                                        </p:tav>
                                        <p:tav tm="100000">
                                          <p:val>
                                            <p:strVal val="#ppt_h"/>
                                          </p:val>
                                        </p:tav>
                                      </p:tavLst>
                                    </p:anim>
                                    <p:animEffect transition="in" filter="fade">
                                      <p:cBhvr>
                                        <p:cTn id="117" dur="400"/>
                                        <p:tgtEl>
                                          <p:spTgt spid="19"/>
                                        </p:tgtEl>
                                      </p:cBhvr>
                                    </p:animEffect>
                                  </p:childTnLst>
                                </p:cTn>
                              </p:par>
                              <p:par>
                                <p:cTn id="122" presetID="2" presetClass="entr" presetSubtype="1" fill="hold" grpId="0" nodeType="withEffect">
                                  <p:stCondLst>
                                    <p:cond delay="15250"/>
                                  </p:stCondLst>
                                  <p:childTnLst>
                                    <p:set>
                                      <p:cBhvr>
                                        <p:cTn id="119" dur="1" fill="hold">
                                          <p:stCondLst>
                                            <p:cond delay="0"/>
                                          </p:stCondLst>
                                        </p:cTn>
                                        <p:tgtEl>
                                          <p:spTgt spid="22"/>
                                        </p:tgtEl>
                                        <p:attrNameLst>
                                          <p:attrName>style.visibility</p:attrName>
                                        </p:attrNameLst>
                                      </p:cBhvr>
                                      <p:to>
                                        <p:strVal val="visible"/>
                                      </p:to>
                                    </p:set>
                                    <p:anim calcmode="lin" valueType="num">
                                      <p:cBhvr additive="base">
                                        <p:cTn id="120" dur="900" fill="hold"/>
                                        <p:tgtEl>
                                          <p:spTgt spid="22"/>
                                        </p:tgtEl>
                                        <p:attrNameLst>
                                          <p:attrName>ppt_x</p:attrName>
                                        </p:attrNameLst>
                                      </p:cBhvr>
                                      <p:tavLst>
                                        <p:tav tm="0">
                                          <p:val>
                                            <p:strVal val="#ppt_x"/>
                                          </p:val>
                                        </p:tav>
                                        <p:tav tm="100000">
                                          <p:val>
                                            <p:strVal val="#ppt_x"/>
                                          </p:val>
                                        </p:tav>
                                      </p:tavLst>
                                    </p:anim>
                                    <p:anim calcmode="lin" valueType="num">
                                      <p:cBhvr additive="base">
                                        <p:cTn id="121" dur="900" fill="hold"/>
                                        <p:tgtEl>
                                          <p:spTgt spid="22"/>
                                        </p:tgtEl>
                                        <p:attrNameLst>
                                          <p:attrName>ppt_y</p:attrName>
                                        </p:attrNameLst>
                                      </p:cBhvr>
                                      <p:tavLst>
                                        <p:tav tm="0">
                                          <p:val>
                                            <p:strVal val="0-#ppt_h/2"/>
                                          </p:val>
                                        </p:tav>
                                        <p:tav tm="100000">
                                          <p:val>
                                            <p:strVal val="#ppt_y"/>
                                          </p:val>
                                        </p:tav>
                                      </p:tavLst>
                                    </p:anim>
                                  </p:childTnLst>
                                </p:cTn>
                              </p:par>
                              <p:par>
                                <p:cTn id="126" presetID="2" presetClass="entr" presetSubtype="1" fill="hold" grpId="0" nodeType="withEffect">
                                  <p:stCondLst>
                                    <p:cond delay="15400"/>
                                  </p:stCondLst>
                                  <p:childTnLst>
                                    <p:set>
                                      <p:cBhvr>
                                        <p:cTn id="123" dur="1" fill="hold">
                                          <p:stCondLst>
                                            <p:cond delay="0"/>
                                          </p:stCondLst>
                                        </p:cTn>
                                        <p:tgtEl>
                                          <p:spTgt spid="23"/>
                                        </p:tgtEl>
                                        <p:attrNameLst>
                                          <p:attrName>style.visibility</p:attrName>
                                        </p:attrNameLst>
                                      </p:cBhvr>
                                      <p:to>
                                        <p:strVal val="visible"/>
                                      </p:to>
                                    </p:set>
                                    <p:anim calcmode="lin" valueType="num">
                                      <p:cBhvr additive="base">
                                        <p:cTn id="124" dur="900" fill="hold"/>
                                        <p:tgtEl>
                                          <p:spTgt spid="23"/>
                                        </p:tgtEl>
                                        <p:attrNameLst>
                                          <p:attrName>ppt_x</p:attrName>
                                        </p:attrNameLst>
                                      </p:cBhvr>
                                      <p:tavLst>
                                        <p:tav tm="0">
                                          <p:val>
                                            <p:strVal val="#ppt_x"/>
                                          </p:val>
                                        </p:tav>
                                        <p:tav tm="100000">
                                          <p:val>
                                            <p:strVal val="#ppt_x"/>
                                          </p:val>
                                        </p:tav>
                                      </p:tavLst>
                                    </p:anim>
                                    <p:anim calcmode="lin" valueType="num">
                                      <p:cBhvr additive="base">
                                        <p:cTn id="125" dur="900" fill="hold"/>
                                        <p:tgtEl>
                                          <p:spTgt spid="23"/>
                                        </p:tgtEl>
                                        <p:attrNameLst>
                                          <p:attrName>ppt_y</p:attrName>
                                        </p:attrNameLst>
                                      </p:cBhvr>
                                      <p:tavLst>
                                        <p:tav tm="0">
                                          <p:val>
                                            <p:strVal val="0-#ppt_h/2"/>
                                          </p:val>
                                        </p:tav>
                                        <p:tav tm="100000">
                                          <p:val>
                                            <p:strVal val="#ppt_y"/>
                                          </p:val>
                                        </p:tav>
                                      </p:tavLst>
                                    </p:anim>
                                  </p:childTnLst>
                                </p:cTn>
                              </p:par>
                              <p:par>
                                <p:cTn id="131" presetID="53" presetClass="entr" presetSubtype="32" fill="hold" grpId="0" nodeType="withEffect">
                                  <p:stCondLst>
                                    <p:cond delay="15500"/>
                                  </p:stCondLst>
                                  <p:childTnLst>
                                    <p:set>
                                      <p:cBhvr>
                                        <p:cTn id="127" dur="1" fill="hold">
                                          <p:stCondLst>
                                            <p:cond delay="0"/>
                                          </p:stCondLst>
                                        </p:cTn>
                                        <p:tgtEl>
                                          <p:spTgt spid="20"/>
                                        </p:tgtEl>
                                        <p:attrNameLst>
                                          <p:attrName>style.visibility</p:attrName>
                                        </p:attrNameLst>
                                      </p:cBhvr>
                                      <p:to>
                                        <p:strVal val="visible"/>
                                      </p:to>
                                    </p:set>
                                    <p:anim calcmode="lin" valueType="num">
                                      <p:cBhvr additive="base">
                                        <p:cTn id="128" dur="400" fill="hold"/>
                                        <p:tgtEl>
                                          <p:spTgt spid="20"/>
                                        </p:tgtEl>
                                        <p:attrNameLst>
                                          <p:attrName>ppt_w</p:attrName>
                                        </p:attrNameLst>
                                      </p:cBhvr>
                                      <p:tavLst>
                                        <p:tav tm="0">
                                          <p:val>
                                            <p:strVal val="#ppt_w*2.4"/>
                                          </p:val>
                                        </p:tav>
                                        <p:tav tm="100000">
                                          <p:val>
                                            <p:strVal val="#ppt_w"/>
                                          </p:val>
                                        </p:tav>
                                      </p:tavLst>
                                    </p:anim>
                                    <p:anim calcmode="lin" valueType="num">
                                      <p:cBhvr additive="base">
                                        <p:cTn id="129" dur="400" fill="hold"/>
                                        <p:tgtEl>
                                          <p:spTgt spid="20"/>
                                        </p:tgtEl>
                                        <p:attrNameLst>
                                          <p:attrName>ppt_h</p:attrName>
                                        </p:attrNameLst>
                                      </p:cBhvr>
                                      <p:tavLst>
                                        <p:tav tm="0">
                                          <p:val>
                                            <p:strVal val="#ppt_h*2.4"/>
                                          </p:val>
                                        </p:tav>
                                        <p:tav tm="100000">
                                          <p:val>
                                            <p:strVal val="#ppt_h"/>
                                          </p:val>
                                        </p:tav>
                                      </p:tavLst>
                                    </p:anim>
                                    <p:animEffect transition="in" filter="fade">
                                      <p:cBhvr>
                                        <p:cTn id="130" dur="400"/>
                                        <p:tgtEl>
                                          <p:spTgt spid="20"/>
                                        </p:tgtEl>
                                      </p:cBhvr>
                                    </p:animEffect>
                                  </p:childTnLst>
                                </p:cTn>
                              </p:par>
                              <p:par>
                                <p:cTn id="135" presetID="2" presetClass="entr" presetSubtype="1" fill="hold" grpId="0" nodeType="withEffect">
                                  <p:stCondLst>
                                    <p:cond delay="15550"/>
                                  </p:stCondLst>
                                  <p:childTnLst>
                                    <p:set>
                                      <p:cBhvr>
                                        <p:cTn id="132" dur="1" fill="hold">
                                          <p:stCondLst>
                                            <p:cond delay="0"/>
                                          </p:stCondLst>
                                        </p:cTn>
                                        <p:tgtEl>
                                          <p:spTgt spid="24"/>
                                        </p:tgtEl>
                                        <p:attrNameLst>
                                          <p:attrName>style.visibility</p:attrName>
                                        </p:attrNameLst>
                                      </p:cBhvr>
                                      <p:to>
                                        <p:strVal val="visible"/>
                                      </p:to>
                                    </p:set>
                                    <p:anim calcmode="lin" valueType="num">
                                      <p:cBhvr additive="base">
                                        <p:cTn id="133" dur="900" fill="hold"/>
                                        <p:tgtEl>
                                          <p:spTgt spid="24"/>
                                        </p:tgtEl>
                                        <p:attrNameLst>
                                          <p:attrName>ppt_x</p:attrName>
                                        </p:attrNameLst>
                                      </p:cBhvr>
                                      <p:tavLst>
                                        <p:tav tm="0">
                                          <p:val>
                                            <p:strVal val="#ppt_x"/>
                                          </p:val>
                                        </p:tav>
                                        <p:tav tm="100000">
                                          <p:val>
                                            <p:strVal val="#ppt_x"/>
                                          </p:val>
                                        </p:tav>
                                      </p:tavLst>
                                    </p:anim>
                                    <p:anim calcmode="lin" valueType="num">
                                      <p:cBhvr additive="base">
                                        <p:cTn id="134" dur="900" fill="hold"/>
                                        <p:tgtEl>
                                          <p:spTgt spid="24"/>
                                        </p:tgtEl>
                                        <p:attrNameLst>
                                          <p:attrName>ppt_y</p:attrName>
                                        </p:attrNameLst>
                                      </p:cBhvr>
                                      <p:tavLst>
                                        <p:tav tm="0">
                                          <p:val>
                                            <p:strVal val="0-#ppt_h/2"/>
                                          </p:val>
                                        </p:tav>
                                        <p:tav tm="100000">
                                          <p:val>
                                            <p:strVal val="#ppt_y"/>
                                          </p:val>
                                        </p:tav>
                                      </p:tavLst>
                                    </p:anim>
                                  </p:childTnLst>
                                </p:cTn>
                              </p:par>
                              <p:par>
                                <p:cTn id="139" presetID="2" presetClass="entr" presetSubtype="1" fill="hold" grpId="0" nodeType="withEffect">
                                  <p:stCondLst>
                                    <p:cond delay="15700"/>
                                  </p:stCondLst>
                                  <p:childTnLst>
                                    <p:set>
                                      <p:cBhvr>
                                        <p:cTn id="136" dur="1" fill="hold">
                                          <p:stCondLst>
                                            <p:cond delay="0"/>
                                          </p:stCondLst>
                                        </p:cTn>
                                        <p:tgtEl>
                                          <p:spTgt spid="25"/>
                                        </p:tgtEl>
                                        <p:attrNameLst>
                                          <p:attrName>style.visibility</p:attrName>
                                        </p:attrNameLst>
                                      </p:cBhvr>
                                      <p:to>
                                        <p:strVal val="visible"/>
                                      </p:to>
                                    </p:set>
                                    <p:anim calcmode="lin" valueType="num">
                                      <p:cBhvr additive="base">
                                        <p:cTn id="137" dur="900" fill="hold"/>
                                        <p:tgtEl>
                                          <p:spTgt spid="25"/>
                                        </p:tgtEl>
                                        <p:attrNameLst>
                                          <p:attrName>ppt_x</p:attrName>
                                        </p:attrNameLst>
                                      </p:cBhvr>
                                      <p:tavLst>
                                        <p:tav tm="0">
                                          <p:val>
                                            <p:strVal val="#ppt_x"/>
                                          </p:val>
                                        </p:tav>
                                        <p:tav tm="100000">
                                          <p:val>
                                            <p:strVal val="#ppt_x"/>
                                          </p:val>
                                        </p:tav>
                                      </p:tavLst>
                                    </p:anim>
                                    <p:anim calcmode="lin" valueType="num">
                                      <p:cBhvr additive="base">
                                        <p:cTn id="138" dur="900" fill="hold"/>
                                        <p:tgtEl>
                                          <p:spTgt spid="25"/>
                                        </p:tgtEl>
                                        <p:attrNameLst>
                                          <p:attrName>ppt_y</p:attrName>
                                        </p:attrNameLst>
                                      </p:cBhvr>
                                      <p:tavLst>
                                        <p:tav tm="0">
                                          <p:val>
                                            <p:strVal val="0-#ppt_h/2"/>
                                          </p:val>
                                        </p:tav>
                                        <p:tav tm="100000">
                                          <p:val>
                                            <p:strVal val="#ppt_y"/>
                                          </p:val>
                                        </p:tav>
                                      </p:tavLst>
                                    </p:anim>
                                  </p:childTnLst>
                                </p:cTn>
                              </p:par>
                              <p:par>
                                <p:cTn id="141" presetID="0" presetClass="path" presetSubtype="0" fill="hold" grpId="1" nodeType="withEffect" autoRev="1" repeatCount="indefinite">
                                  <p:stCondLst>
                                    <p:cond delay="15700"/>
                                  </p:stCondLst>
                                  <p:childTnLst>
                                    <p:animMotion origin="layout" path="M 0 0 L 0 -0.012 E" pathEditMode="relative" ptsTypes="AA">
                                      <p:cBhvr>
                                        <p:cTn id="140" dur="300" fill="hold"/>
                                        <p:tgtEl>
                                          <p:spTgt spid="9"/>
                                        </p:tgtEl>
                                        <p:attrNameLst>
                                          <p:attrName>ppt_x</p:attrName>
                                          <p:attrName>ppt_y</p:attrName>
                                        </p:attrNameLst>
                                      </p:cBhvr>
                                    </p:animMotion>
                                  </p:childTnLst>
                                </p:cTn>
                              </p:par>
                              <p:par>
                                <p:cTn id="145" presetID="2" presetClass="entr" presetSubtype="1" fill="hold" grpId="0" nodeType="withEffect">
                                  <p:stCondLst>
                                    <p:cond delay="15850"/>
                                  </p:stCondLst>
                                  <p:childTnLst>
                                    <p:set>
                                      <p:cBhvr>
                                        <p:cTn id="142" dur="1" fill="hold">
                                          <p:stCondLst>
                                            <p:cond delay="0"/>
                                          </p:stCondLst>
                                        </p:cTn>
                                        <p:tgtEl>
                                          <p:spTgt spid="26"/>
                                        </p:tgtEl>
                                        <p:attrNameLst>
                                          <p:attrName>style.visibility</p:attrName>
                                        </p:attrNameLst>
                                      </p:cBhvr>
                                      <p:to>
                                        <p:strVal val="visible"/>
                                      </p:to>
                                    </p:set>
                                    <p:anim calcmode="lin" valueType="num">
                                      <p:cBhvr additive="base">
                                        <p:cTn id="143" dur="900" fill="hold"/>
                                        <p:tgtEl>
                                          <p:spTgt spid="26"/>
                                        </p:tgtEl>
                                        <p:attrNameLst>
                                          <p:attrName>ppt_x</p:attrName>
                                        </p:attrNameLst>
                                      </p:cBhvr>
                                      <p:tavLst>
                                        <p:tav tm="0">
                                          <p:val>
                                            <p:strVal val="#ppt_x"/>
                                          </p:val>
                                        </p:tav>
                                        <p:tav tm="100000">
                                          <p:val>
                                            <p:strVal val="#ppt_x"/>
                                          </p:val>
                                        </p:tav>
                                      </p:tavLst>
                                    </p:anim>
                                    <p:anim calcmode="lin" valueType="num">
                                      <p:cBhvr additive="base">
                                        <p:cTn id="144" dur="900" fill="hold"/>
                                        <p:tgtEl>
                                          <p:spTgt spid="26"/>
                                        </p:tgtEl>
                                        <p:attrNameLst>
                                          <p:attrName>ppt_y</p:attrName>
                                        </p:attrNameLst>
                                      </p:cBhvr>
                                      <p:tavLst>
                                        <p:tav tm="0">
                                          <p:val>
                                            <p:strVal val="0-#ppt_h/2"/>
                                          </p:val>
                                        </p:tav>
                                        <p:tav tm="100000">
                                          <p:val>
                                            <p:strVal val="#ppt_y"/>
                                          </p:val>
                                        </p:tav>
                                      </p:tavLst>
                                    </p:anim>
                                  </p:childTnLst>
                                </p:cTn>
                              </p:par>
                              <p:par>
                                <p:cTn id="147" presetID="0" presetClass="path" presetSubtype="0" fill="hold" grpId="1" nodeType="withEffect" autoRev="1" repeatCount="indefinite">
                                  <p:stCondLst>
                                    <p:cond delay="15850"/>
                                  </p:stCondLst>
                                  <p:childTnLst>
                                    <p:animMotion origin="layout" path="M 0 0 L 0 -0.012 E" pathEditMode="relative" ptsTypes="AA">
                                      <p:cBhvr>
                                        <p:cTn id="146" dur="3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animBg="1"/>
      <p:bldP spid="2" grpId="1" animBg="1"/>
      <p:bldP spid="27" grpId="0" animBg="1"/>
      <p:bldP spid="7" grpId="0" animBg="1"/>
      <p:bldP spid="7" grpId="1" animBg="1"/>
      <p:bldP spid="28" grpId="0" animBg="1"/>
      <p:bldP spid="10" grpId="0" animBg="1"/>
      <p:bldP spid="11" grpId="0" animBg="1"/>
      <p:bldP spid="11" grpId="1" animBg="1"/>
      <p:bldP spid="28" grpId="1" animBg="1"/>
      <p:bldP spid="12" grpId="0" animBg="1"/>
      <p:bldP spid="12" grpId="1" animBg="1"/>
      <p:bldP spid="29" grpId="0" animBg="1"/>
      <p:bldP spid="14" grpId="0" animBg="1"/>
      <p:bldP spid="15" grpId="0" animBg="1"/>
      <p:bldP spid="7" grpId="2" animBg="1"/>
      <p:bldP spid="8" grpId="0" animBg="1"/>
      <p:bldP spid="29" grpId="1" animBg="1"/>
      <p:bldP spid="15" grpId="1" animBg="1"/>
      <p:bldP spid="30" grpId="0" animBg="1"/>
      <p:bldP spid="16" grpId="0" animBg="1"/>
      <p:bldP spid="17" grpId="0" animBg="1"/>
      <p:bldP spid="30" grpId="1" animBg="1"/>
      <p:bldP spid="31" grpId="0" animBg="1"/>
      <p:bldP spid="14" grpId="1" animBg="1"/>
      <p:bldP spid="10" grpId="1" animBg="1"/>
      <p:bldP spid="18" grpId="0" animBg="1"/>
      <p:bldP spid="21" grpId="0" animBg="1"/>
      <p:bldP spid="8" grpId="1" animBg="1"/>
      <p:bldP spid="9" grpId="0" animBg="1"/>
      <p:bldP spid="12" grpId="2" animBg="1"/>
      <p:bldP spid="13" grpId="0" animBg="1"/>
      <p:bldP spid="19" grpId="0" animBg="1"/>
      <p:bldP spid="22" grpId="0" animBg="1"/>
      <p:bldP spid="23" grpId="0" animBg="1"/>
      <p:bldP spid="20" grpId="0" animBg="1"/>
      <p:bldP spid="24" grpId="0" animBg="1"/>
      <p:bldP spid="25" grpId="0" animBg="1"/>
      <p:bldP spid="9" grpId="1" animBg="1"/>
      <p:bldP spid="26" grpId="0" animBg="1"/>
      <p:bldP spid="1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  ·  THE HUSTLE</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 two friends find gold in the Pentagon’s “crumbs”</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 · MIAMI</a:t>
            </a:r>
            <a:endParaRPr lang="en-US" sz="1100" dirty="0"/>
          </a:p>
        </p:txBody>
      </p:sp>
      <p:sp>
        <p:nvSpPr>
          <p:cNvPr id="64" name="Broke and desperate circle"/>
          <p:cNvSpPr/>
          <p:nvPr/>
        </p:nvSpPr>
        <p:spPr>
          <a:xfrm>
            <a:off x="914400" y="2606040"/>
            <a:ext cx="566928" cy="566928"/>
          </a:xfrm>
          <a:prstGeom prst="ellipse">
            <a:avLst/>
          </a:prstGeom>
          <a:solidFill>
            <a:srgbClr val="3A3D44"/>
          </a:solidFill>
          <a:ln/>
        </p:spPr>
      </p:sp>
      <p:pic>
        <p:nvPicPr>
          <p:cNvPr id="65" name="Broke and desperate icon" descr="Broke and desperate">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Broke and desperate</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David, a massage therapist, fails selling bedsheets to care homes. His girlfriend is pregnant. He needs money fast.</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2 · AEY INC.</a:t>
            </a:r>
            <a:endParaRPr lang="en-US" sz="1100" dirty="0"/>
          </a:p>
        </p:txBody>
      </p:sp>
      <p:sp>
        <p:nvSpPr>
          <p:cNvPr id="70" name="The crumbs circle"/>
          <p:cNvSpPr/>
          <p:nvPr/>
        </p:nvSpPr>
        <p:spPr>
          <a:xfrm>
            <a:off x="3642284" y="2606040"/>
            <a:ext cx="566928" cy="566928"/>
          </a:xfrm>
          <a:prstGeom prst="ellipse">
            <a:avLst/>
          </a:prstGeom>
          <a:solidFill>
            <a:srgbClr val="3A3D44"/>
          </a:solidFill>
          <a:ln/>
        </p:spPr>
      </p:sp>
      <p:pic>
        <p:nvPicPr>
          <p:cNvPr id="71" name="The crumbs icon" descr="The crumbs">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crumbs</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Old friend Efraim bids online for small military contracts that big firms ignore. David joins him.</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3 · IRAQ</a:t>
            </a:r>
            <a:endParaRPr lang="en-US" sz="1100" dirty="0"/>
          </a:p>
        </p:txBody>
      </p:sp>
      <p:sp>
        <p:nvSpPr>
          <p:cNvPr id="76" name="The risky run circle"/>
          <p:cNvSpPr/>
          <p:nvPr/>
        </p:nvSpPr>
        <p:spPr>
          <a:xfrm>
            <a:off x="6370168" y="2606040"/>
            <a:ext cx="566928" cy="566928"/>
          </a:xfrm>
          <a:prstGeom prst="ellipse">
            <a:avLst/>
          </a:prstGeom>
          <a:solidFill>
            <a:srgbClr val="E5383B"/>
          </a:solidFill>
          <a:ln/>
        </p:spPr>
      </p:sp>
      <p:pic>
        <p:nvPicPr>
          <p:cNvPr id="77" name="The risky run icon" descr="The risky run">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risky run</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A stuck shipment of pistols is pushed through Jordan into Iraq with help from fixers. They get paid.</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4 · HIGH LIFE</a:t>
            </a:r>
            <a:endParaRPr lang="en-US" sz="1100" dirty="0"/>
          </a:p>
        </p:txBody>
      </p:sp>
      <p:sp>
        <p:nvSpPr>
          <p:cNvPr id="82" name="Easy money circle"/>
          <p:cNvSpPr/>
          <p:nvPr/>
        </p:nvSpPr>
        <p:spPr>
          <a:xfrm>
            <a:off x="9098051" y="2606040"/>
            <a:ext cx="566928" cy="566928"/>
          </a:xfrm>
          <a:prstGeom prst="ellipse">
            <a:avLst/>
          </a:prstGeom>
          <a:solidFill>
            <a:srgbClr val="3A3D44"/>
          </a:solidFill>
          <a:ln/>
        </p:spPr>
      </p:sp>
      <p:pic>
        <p:nvPicPr>
          <p:cNvPr id="83" name="Easy money icon" descr="Easy money">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Easy money</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Bigger contracts, a new office, new cars. David starts hiding the truth from his partner, Iz.</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“They don’t fight the war. They just sell to it.”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END OF ACT I  ·  WHAT IS HAPPENING HERE?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From legal bidding to grey deals: the enterprise model</a:t>
            </a:r>
            <a:endParaRPr lang="en-US" sz="3000" dirty="0"/>
          </a:p>
        </p:txBody>
      </p:sp>
      <p:sp>
        <p:nvSpPr>
          <p:cNvPr id="7" name="spectrum 1"/>
          <p:cNvSpPr/>
          <p:nvPr/>
        </p:nvSpPr>
        <p:spPr>
          <a:xfrm>
            <a:off x="548640" y="2148840"/>
            <a:ext cx="2218883" cy="292608"/>
          </a:xfrm>
          <a:prstGeom prst="rect">
            <a:avLst/>
          </a:prstGeom>
          <a:solidFill>
            <a:srgbClr val="4F8A5B"/>
          </a:solidFill>
          <a:ln/>
        </p:spPr>
      </p:sp>
      <p:sp>
        <p:nvSpPr>
          <p:cNvPr id="8" name="spectrum 2"/>
          <p:cNvSpPr/>
          <p:nvPr/>
        </p:nvSpPr>
        <p:spPr>
          <a:xfrm>
            <a:off x="2767523" y="2148840"/>
            <a:ext cx="2218883" cy="292608"/>
          </a:xfrm>
          <a:prstGeom prst="rect">
            <a:avLst/>
          </a:prstGeom>
          <a:solidFill>
            <a:srgbClr val="7E9A55"/>
          </a:solidFill>
          <a:ln/>
        </p:spPr>
      </p:sp>
      <p:sp>
        <p:nvSpPr>
          <p:cNvPr id="9" name="spectrum 3"/>
          <p:cNvSpPr/>
          <p:nvPr/>
        </p:nvSpPr>
        <p:spPr>
          <a:xfrm>
            <a:off x="4986406" y="2148840"/>
            <a:ext cx="2218883" cy="292608"/>
          </a:xfrm>
          <a:prstGeom prst="rect">
            <a:avLst/>
          </a:prstGeom>
          <a:solidFill>
            <a:srgbClr val="C9A227"/>
          </a:solidFill>
          <a:ln/>
        </p:spPr>
      </p:sp>
      <p:sp>
        <p:nvSpPr>
          <p:cNvPr id="10" name="spectrum 4"/>
          <p:cNvSpPr/>
          <p:nvPr/>
        </p:nvSpPr>
        <p:spPr>
          <a:xfrm>
            <a:off x="7205289" y="2148840"/>
            <a:ext cx="2218883" cy="292608"/>
          </a:xfrm>
          <a:prstGeom prst="rect">
            <a:avLst/>
          </a:prstGeom>
          <a:solidFill>
            <a:srgbClr val="D9772B"/>
          </a:solidFill>
          <a:ln/>
        </p:spPr>
      </p:sp>
      <p:sp>
        <p:nvSpPr>
          <p:cNvPr id="11" name="spectrum 5"/>
          <p:cNvSpPr/>
          <p:nvPr/>
        </p:nvSpPr>
        <p:spPr>
          <a:xfrm>
            <a:off x="9424172" y="2148840"/>
            <a:ext cx="2218883" cy="292608"/>
          </a:xfrm>
          <a:prstGeom prst="rect">
            <a:avLst/>
          </a:prstGeom>
          <a:solidFill>
            <a:srgbClr val="E5383B"/>
          </a:solidFill>
          <a:ln/>
        </p:spPr>
      </p:sp>
      <p:sp>
        <p:nvSpPr>
          <p:cNvPr id="12" name="Text 9"/>
          <p:cNvSpPr txBox="1"/>
          <p:nvPr/>
        </p:nvSpPr>
        <p:spPr>
          <a:xfrm>
            <a:off x="548640" y="1783080"/>
            <a:ext cx="2743200" cy="274320"/>
          </a:xfrm>
          <a:prstGeom prst="rect">
            <a:avLst/>
          </a:prstGeom>
          <a:noFill/>
          <a:ln/>
        </p:spPr>
        <p:txBody>
          <a:bodyPr wrap="square" lIns="0" tIns="0" rIns="0" bIns="0" rtlCol="0" anchor="ctr"/>
          <a:lstStyle/>
          <a:p>
            <a:pPr indent="0" marL="0">
              <a:buNone/>
            </a:pPr>
            <a:r>
              <a:rPr lang="en-US" sz="1100" b="1" dirty="0">
                <a:solidFill>
                  <a:srgbClr val="8FC79B"/>
                </a:solidFill>
                <a:latin typeface="Courier New" pitchFamily="34" charset="0"/>
                <a:ea typeface="Courier New" pitchFamily="34" charset="-122"/>
                <a:cs typeface="Courier New" pitchFamily="34" charset="-120"/>
              </a:rPr>
              <a:t>LEGAL BUSINESS</a:t>
            </a:r>
            <a:endParaRPr lang="en-US" sz="1100" dirty="0"/>
          </a:p>
        </p:txBody>
      </p:sp>
      <p:sp>
        <p:nvSpPr>
          <p:cNvPr id="13" name="Text 10"/>
          <p:cNvSpPr txBox="1"/>
          <p:nvPr/>
        </p:nvSpPr>
        <p:spPr>
          <a:xfrm>
            <a:off x="8899855" y="1783080"/>
            <a:ext cx="2743200" cy="274320"/>
          </a:xfrm>
          <a:prstGeom prst="rect">
            <a:avLst/>
          </a:prstGeom>
          <a:noFill/>
          <a:ln/>
        </p:spPr>
        <p:txBody>
          <a:bodyPr wrap="square" lIns="0" tIns="0" rIns="0" bIns="0" rtlCol="0" anchor="ctr"/>
          <a:lstStyle/>
          <a:p>
            <a:pPr algn="r" indent="0" marL="0">
              <a:buNone/>
            </a:pPr>
            <a:r>
              <a:rPr lang="en-US" sz="1100" b="1" dirty="0">
                <a:solidFill>
                  <a:srgbClr val="FF8A8C"/>
                </a:solidFill>
                <a:latin typeface="Courier New" pitchFamily="34" charset="0"/>
                <a:ea typeface="Courier New" pitchFamily="34" charset="-122"/>
                <a:cs typeface="Courier New" pitchFamily="34" charset="-120"/>
              </a:rPr>
              <a:t>ILLEGAL ENTERPRISE</a:t>
            </a:r>
            <a:endParaRPr lang="en-US" sz="1100" dirty="0"/>
          </a:p>
        </p:txBody>
      </p:sp>
      <p:sp>
        <p:nvSpPr>
          <p:cNvPr id="14" name="marker 1"/>
          <p:cNvSpPr/>
          <p:nvPr/>
        </p:nvSpPr>
        <p:spPr>
          <a:xfrm>
            <a:off x="1326465" y="2487168"/>
            <a:ext cx="219456" cy="182880"/>
          </a:xfrm>
          <a:prstGeom prst="triangle">
            <a:avLst/>
          </a:prstGeom>
          <a:solidFill>
            <a:schemeClr val="bg1"/>
          </a:solidFill>
          <a:ln/>
        </p:spPr>
      </p:sp>
      <p:sp>
        <p:nvSpPr>
          <p:cNvPr id="15" name="Text 12"/>
          <p:cNvSpPr txBox="1"/>
          <p:nvPr/>
        </p:nvSpPr>
        <p:spPr>
          <a:xfrm>
            <a:off x="548640" y="2697480"/>
            <a:ext cx="2560320" cy="320040"/>
          </a:xfrm>
          <a:prstGeom prst="rect">
            <a:avLst/>
          </a:prstGeom>
          <a:noFill/>
          <a:ln/>
        </p:spPr>
        <p:txBody>
          <a:bodyPr wrap="square" lIns="0" tIns="0" rIns="0" bIns="0" rtlCol="0" anchor="ctr"/>
          <a:lstStyle/>
          <a:p>
            <a:pPr algn="l" indent="0" marL="0">
              <a:buNone/>
            </a:pPr>
            <a:r>
              <a:rPr lang="en-US" sz="1300" b="1" dirty="0">
                <a:solidFill>
                  <a:schemeClr val="bg1"/>
                </a:solidFill>
              </a:rPr>
              <a:t>Bidding on “crumbs”</a:t>
            </a:r>
            <a:endParaRPr lang="en-US" sz="1300" dirty="0"/>
          </a:p>
        </p:txBody>
      </p:sp>
      <p:sp>
        <p:nvSpPr>
          <p:cNvPr id="16" name="marker 2"/>
          <p:cNvSpPr/>
          <p:nvPr/>
        </p:nvSpPr>
        <p:spPr>
          <a:xfrm>
            <a:off x="5431399" y="2487168"/>
            <a:ext cx="219456" cy="182880"/>
          </a:xfrm>
          <a:prstGeom prst="triangle">
            <a:avLst/>
          </a:prstGeom>
          <a:solidFill>
            <a:schemeClr val="bg1"/>
          </a:solidFill>
          <a:ln/>
        </p:spPr>
      </p:sp>
      <p:sp>
        <p:nvSpPr>
          <p:cNvPr id="17" name="Text 14"/>
          <p:cNvSpPr txBox="1"/>
          <p:nvPr/>
        </p:nvSpPr>
        <p:spPr>
          <a:xfrm>
            <a:off x="4260967" y="2697480"/>
            <a:ext cx="2560320" cy="320040"/>
          </a:xfrm>
          <a:prstGeom prst="rect">
            <a:avLst/>
          </a:prstGeom>
          <a:noFill/>
          <a:ln/>
        </p:spPr>
        <p:txBody>
          <a:bodyPr wrap="square" lIns="0" tIns="0" rIns="0" bIns="0" rtlCol="0" anchor="ctr"/>
          <a:lstStyle/>
          <a:p>
            <a:pPr algn="ctr" indent="0" marL="0">
              <a:buNone/>
            </a:pPr>
            <a:r>
              <a:rPr lang="en-US" sz="1300" b="1" dirty="0">
                <a:solidFill>
                  <a:schemeClr val="bg1"/>
                </a:solidFill>
              </a:rPr>
              <a:t>Fixers in Jordan</a:t>
            </a:r>
            <a:endParaRPr lang="en-US" sz="1300" dirty="0"/>
          </a:p>
        </p:txBody>
      </p:sp>
      <p:sp>
        <p:nvSpPr>
          <p:cNvPr id="18" name="marker 3"/>
          <p:cNvSpPr/>
          <p:nvPr/>
        </p:nvSpPr>
        <p:spPr>
          <a:xfrm>
            <a:off x="9980109" y="2487168"/>
            <a:ext cx="219456" cy="182880"/>
          </a:xfrm>
          <a:prstGeom prst="triangle">
            <a:avLst/>
          </a:prstGeom>
          <a:solidFill>
            <a:schemeClr val="bg1"/>
          </a:solidFill>
          <a:ln/>
        </p:spPr>
      </p:sp>
      <p:sp>
        <p:nvSpPr>
          <p:cNvPr id="19" name="Text 16"/>
          <p:cNvSpPr txBox="1"/>
          <p:nvPr/>
        </p:nvSpPr>
        <p:spPr>
          <a:xfrm>
            <a:off x="8809677" y="2697480"/>
            <a:ext cx="2560320" cy="320040"/>
          </a:xfrm>
          <a:prstGeom prst="rect">
            <a:avLst/>
          </a:prstGeom>
          <a:noFill/>
          <a:ln/>
        </p:spPr>
        <p:txBody>
          <a:bodyPr wrap="square" lIns="0" tIns="0" rIns="0" bIns="0" rtlCol="0" anchor="ctr"/>
          <a:lstStyle/>
          <a:p>
            <a:pPr algn="r" indent="0" marL="0">
              <a:buNone/>
            </a:pPr>
            <a:r>
              <a:rPr lang="en-US" sz="1300" b="1" dirty="0">
                <a:solidFill>
                  <a:schemeClr val="bg1"/>
                </a:solidFill>
              </a:rPr>
              <a:t>Repackaging banned ammo (Act III)</a:t>
            </a:r>
            <a:endParaRPr lang="en-US" sz="1300" dirty="0"/>
          </a:p>
        </p:txBody>
      </p:sp>
      <p:sp>
        <p:nvSpPr>
          <p:cNvPr id="20" name="Text 17"/>
          <p:cNvSpPr txBox="1"/>
          <p:nvPr/>
        </p:nvSpPr>
        <p:spPr>
          <a:xfrm>
            <a:off x="548640" y="3108960"/>
            <a:ext cx="11094415" cy="411480"/>
          </a:xfrm>
          <a:prstGeom prst="rect">
            <a:avLst/>
          </a:prstGeom>
          <a:noFill/>
          <a:ln/>
        </p:spPr>
        <p:txBody>
          <a:bodyPr wrap="square" lIns="0" tIns="0" rIns="0" bIns="0" rtlCol="0" anchor="ctr"/>
          <a:lstStyle/>
          <a:p>
            <a:pPr indent="0" marL="0">
              <a:buNone/>
            </a:pPr>
            <a:r>
              <a:rPr lang="en-US" sz="1400" i="1" dirty="0">
                <a:solidFill>
                  <a:srgbClr val="A9ADB5"/>
                </a:solidFill>
              </a:rPr>
              <a:t>Smith (1980): legal and illegal businesses sit on one spectrum and respond to the same market demand. AEY slides along it as profits grow.</a:t>
            </a:r>
            <a:endParaRPr lang="en-US" sz="1400" dirty="0"/>
          </a:p>
        </p:txBody>
      </p:sp>
      <p:sp>
        <p:nvSpPr>
          <p:cNvPr id="21" name="Strain / anomie"/>
          <p:cNvSpPr/>
          <p:nvPr/>
        </p:nvSpPr>
        <p:spPr>
          <a:xfrm>
            <a:off x="548640" y="3703320"/>
            <a:ext cx="3560978" cy="2194560"/>
          </a:xfrm>
          <a:prstGeom prst="rect">
            <a:avLst/>
          </a:prstGeom>
          <a:solidFill>
            <a:srgbClr val="1B1D22"/>
          </a:solidFill>
          <a:ln w="12700">
            <a:solidFill>
              <a:srgbClr val="33363D"/>
            </a:solidFill>
            <a:prstDash val="solid"/>
          </a:ln>
        </p:spPr>
      </p:sp>
      <p:sp>
        <p:nvSpPr>
          <p:cNvPr id="22" name="Text 19"/>
          <p:cNvSpPr txBox="1"/>
          <p:nvPr/>
        </p:nvSpPr>
        <p:spPr>
          <a:xfrm>
            <a:off x="77724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Strain / anomie</a:t>
            </a:r>
            <a:endParaRPr lang="en-US" sz="1600" dirty="0"/>
          </a:p>
          <a:p>
            <a:pPr indent="0" marL="0">
              <a:buNone/>
            </a:pPr>
            <a:r>
              <a:rPr lang="en-US" sz="1100" dirty="0">
                <a:solidFill>
                  <a:srgbClr val="A9ADB5"/>
                </a:solidFill>
              </a:rPr>
              <a:t>Merton (1938); Messner &amp; Rosenfeld (1994)</a:t>
            </a:r>
            <a:endParaRPr lang="en-US" sz="1600" dirty="0"/>
          </a:p>
        </p:txBody>
      </p:sp>
      <p:sp>
        <p:nvSpPr>
          <p:cNvPr id="23" name="Text 20"/>
          <p:cNvSpPr txBox="1"/>
          <p:nvPr/>
        </p:nvSpPr>
        <p:spPr>
          <a:xfrm>
            <a:off x="77724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Broke with a baby on the way, David “innovates”: legitimate goal, illegitimate means.</a:t>
            </a:r>
            <a:endParaRPr lang="en-US" sz="1500" dirty="0"/>
          </a:p>
        </p:txBody>
      </p:sp>
      <p:sp>
        <p:nvSpPr>
          <p:cNvPr id="24" name="Differential association"/>
          <p:cNvSpPr/>
          <p:nvPr/>
        </p:nvSpPr>
        <p:spPr>
          <a:xfrm>
            <a:off x="4274210" y="3703320"/>
            <a:ext cx="3560978" cy="2194560"/>
          </a:xfrm>
          <a:prstGeom prst="rect">
            <a:avLst/>
          </a:prstGeom>
          <a:solidFill>
            <a:srgbClr val="1B1D22"/>
          </a:solidFill>
          <a:ln w="12700">
            <a:solidFill>
              <a:srgbClr val="33363D"/>
            </a:solidFill>
            <a:prstDash val="solid"/>
          </a:ln>
        </p:spPr>
      </p:sp>
      <p:sp>
        <p:nvSpPr>
          <p:cNvPr id="25" name="Text 22"/>
          <p:cNvSpPr txBox="1"/>
          <p:nvPr/>
        </p:nvSpPr>
        <p:spPr>
          <a:xfrm>
            <a:off x="450281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Differential association</a:t>
            </a:r>
            <a:endParaRPr lang="en-US" sz="1600" dirty="0"/>
          </a:p>
          <a:p>
            <a:pPr indent="0" marL="0">
              <a:buNone/>
            </a:pPr>
            <a:r>
              <a:rPr lang="en-US" sz="1100" dirty="0">
                <a:solidFill>
                  <a:srgbClr val="A9ADB5"/>
                </a:solidFill>
              </a:rPr>
              <a:t>Sutherland (1940)</a:t>
            </a:r>
            <a:endParaRPr lang="en-US" sz="1600" dirty="0"/>
          </a:p>
        </p:txBody>
      </p:sp>
      <p:sp>
        <p:nvSpPr>
          <p:cNvPr id="26" name="Text 23"/>
          <p:cNvSpPr txBox="1"/>
          <p:nvPr/>
        </p:nvSpPr>
        <p:spPr>
          <a:xfrm>
            <a:off x="450281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David learns the methods and the excuses of the trade from Efraim.</a:t>
            </a:r>
            <a:endParaRPr lang="en-US" sz="1500" dirty="0"/>
          </a:p>
        </p:txBody>
      </p:sp>
      <p:sp>
        <p:nvSpPr>
          <p:cNvPr id="27" name="Rational choice"/>
          <p:cNvSpPr/>
          <p:nvPr/>
        </p:nvSpPr>
        <p:spPr>
          <a:xfrm>
            <a:off x="7999781" y="3703320"/>
            <a:ext cx="3560978" cy="2194560"/>
          </a:xfrm>
          <a:prstGeom prst="rect">
            <a:avLst/>
          </a:prstGeom>
          <a:solidFill>
            <a:srgbClr val="1B1D22"/>
          </a:solidFill>
          <a:ln w="12700">
            <a:solidFill>
              <a:srgbClr val="33363D"/>
            </a:solidFill>
            <a:prstDash val="solid"/>
          </a:ln>
        </p:spPr>
      </p:sp>
      <p:sp>
        <p:nvSpPr>
          <p:cNvPr id="28" name="Text 25"/>
          <p:cNvSpPr txBox="1"/>
          <p:nvPr/>
        </p:nvSpPr>
        <p:spPr>
          <a:xfrm>
            <a:off x="8228381"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Rational choice</a:t>
            </a:r>
            <a:endParaRPr lang="en-US" sz="1600" dirty="0"/>
          </a:p>
          <a:p>
            <a:pPr indent="0" marL="0">
              <a:buNone/>
            </a:pPr>
            <a:r>
              <a:rPr lang="en-US" sz="1100" dirty="0">
                <a:solidFill>
                  <a:srgbClr val="A9ADB5"/>
                </a:solidFill>
              </a:rPr>
              <a:t>Cornish &amp; Clarke (1986)</a:t>
            </a:r>
            <a:endParaRPr lang="en-US" sz="1600" dirty="0"/>
          </a:p>
        </p:txBody>
      </p:sp>
      <p:sp>
        <p:nvSpPr>
          <p:cNvPr id="29" name="Text 26"/>
          <p:cNvSpPr txBox="1"/>
          <p:nvPr/>
        </p:nvSpPr>
        <p:spPr>
          <a:xfrm>
            <a:off x="8228381"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Each step is a calculation: big reward, small chance of being caught.</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6" fill="hold">
                      <p:stCondLst>
                        <p:cond delay="indefinite"/>
                        <p:cond evt="onBegin" delay="0">
                          <p:tn val="2"/>
                        </p:cond>
                      </p:stCondLst>
                      <p:childTnLst>
                        <p:par>
                          <p:cTn id="127"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8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30" presetID="10" presetClass="entr" presetSubtype="0" fill="hold" grpId="0" nodeType="withEffect">
                                  <p:stCondLst>
                                    <p:cond delay="8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2" presetID="6" presetClass="emph" presetSubtype="0" fill="hold" grpId="1" nodeType="withEffect" autoRev="1" repeatCount="indefinite">
                                  <p:stCondLst>
                                    <p:cond delay="900"/>
                                  </p:stCondLst>
                                  <p:childTnLst>
                                    <p:animScale>
                                      <p:cBhvr>
                                        <p:cTn id="31" dur="800" fill="hold"/>
                                        <p:tgtEl>
                                          <p:spTgt spid="2"/>
                                        </p:tgtEl>
                                      </p:cBhvr>
                                      <p:by x="106000" y="106000"/>
                                    </p:animScale>
                                  </p:childTnLst>
                                </p:cTn>
                              </p:par>
                              <p:par>
                                <p:cTn id="35" presetID="22" presetClass="entr" presetSubtype="8" fill="hold" grpId="0" nodeType="withEffect">
                                  <p:stCondLst>
                                    <p:cond delay="100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450"/>
                                        <p:tgtEl>
                                          <p:spTgt spid="7"/>
                                        </p:tgtEl>
                                      </p:cBhvr>
                                    </p:animEffect>
                                  </p:childTnLst>
                                </p:cTn>
                              </p:par>
                              <p:par>
                                <p:cTn id="38" presetID="22" presetClass="entr" presetSubtype="8" fill="hold" grpId="0" nodeType="withEffect">
                                  <p:stCondLst>
                                    <p:cond delay="130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450"/>
                                        <p:tgtEl>
                                          <p:spTgt spid="8"/>
                                        </p:tgtEl>
                                      </p:cBhvr>
                                    </p:animEffect>
                                  </p:childTnLst>
                                </p:cTn>
                              </p:par>
                              <p:par>
                                <p:cTn id="41" presetID="22" presetClass="entr" presetSubtype="8" fill="hold" grpId="0" nodeType="withEffect">
                                  <p:stCondLst>
                                    <p:cond delay="160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450"/>
                                        <p:tgtEl>
                                          <p:spTgt spid="9"/>
                                        </p:tgtEl>
                                      </p:cBhvr>
                                    </p:animEffect>
                                  </p:childTnLst>
                                </p:cTn>
                              </p:par>
                              <p:par>
                                <p:cTn id="44" presetID="22" presetClass="entr" presetSubtype="8" fill="hold" grpId="0" nodeType="withEffect">
                                  <p:stCondLst>
                                    <p:cond delay="190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450"/>
                                        <p:tgtEl>
                                          <p:spTgt spid="10"/>
                                        </p:tgtEl>
                                      </p:cBhvr>
                                    </p:animEffect>
                                  </p:childTnLst>
                                </p:cTn>
                              </p:par>
                              <p:par>
                                <p:cTn id="47" presetID="22" presetClass="entr" presetSubtype="8" fill="hold" grpId="0" nodeType="withEffect">
                                  <p:stCondLst>
                                    <p:cond delay="220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450"/>
                                        <p:tgtEl>
                                          <p:spTgt spid="11"/>
                                        </p:tgtEl>
                                      </p:cBhvr>
                                    </p:animEffect>
                                  </p:childTnLst>
                                </p:cTn>
                              </p:par>
                              <p:par>
                                <p:cTn id="52" presetID="42" presetClass="entr" presetSubtype="0" fill="hold" grpId="0" nodeType="withEffect">
                                  <p:stCondLst>
                                    <p:cond delay="27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anim calcmode="lin" valueType="num">
                                      <p:cBhvr additive="base">
                                        <p:cTn id="50" dur="450" fill="hold"/>
                                        <p:tgtEl>
                                          <p:spTgt spid="14"/>
                                        </p:tgtEl>
                                        <p:attrNameLst>
                                          <p:attrName>ppt_x</p:attrName>
                                        </p:attrNameLst>
                                      </p:cBhvr>
                                      <p:tavLst>
                                        <p:tav tm="0">
                                          <p:val>
                                            <p:strVal val="#ppt_x"/>
                                          </p:val>
                                        </p:tav>
                                        <p:tav tm="100000">
                                          <p:val>
                                            <p:strVal val="#ppt_x"/>
                                          </p:val>
                                        </p:tav>
                                      </p:tavLst>
                                    </p:anim>
                                    <p:anim calcmode="lin" valueType="num">
                                      <p:cBhvr additive="base">
                                        <p:cTn id="51" dur="450" fill="hold"/>
                                        <p:tgtEl>
                                          <p:spTgt spid="14"/>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285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320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anim calcmode="lin" valueType="num">
                                      <p:cBhvr additive="base">
                                        <p:cTn id="60" dur="450" fill="hold"/>
                                        <p:tgtEl>
                                          <p:spTgt spid="16"/>
                                        </p:tgtEl>
                                        <p:attrNameLst>
                                          <p:attrName>ppt_x</p:attrName>
                                        </p:attrNameLst>
                                      </p:cBhvr>
                                      <p:tavLst>
                                        <p:tav tm="0">
                                          <p:val>
                                            <p:strVal val="#ppt_x"/>
                                          </p:val>
                                        </p:tav>
                                        <p:tav tm="100000">
                                          <p:val>
                                            <p:strVal val="#ppt_x"/>
                                          </p:val>
                                        </p:tav>
                                      </p:tavLst>
                                    </p:anim>
                                    <p:anim calcmode="lin" valueType="num">
                                      <p:cBhvr additive="base">
                                        <p:cTn id="61" dur="450" fill="hold"/>
                                        <p:tgtEl>
                                          <p:spTgt spid="16"/>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335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370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450"/>
                                        <p:tgtEl>
                                          <p:spTgt spid="18"/>
                                        </p:tgtEl>
                                      </p:cBhvr>
                                    </p:animEffect>
                                    <p:anim calcmode="lin" valueType="num">
                                      <p:cBhvr additive="base">
                                        <p:cTn id="70" dur="450" fill="hold"/>
                                        <p:tgtEl>
                                          <p:spTgt spid="18"/>
                                        </p:tgtEl>
                                        <p:attrNameLst>
                                          <p:attrName>ppt_x</p:attrName>
                                        </p:attrNameLst>
                                      </p:cBhvr>
                                      <p:tavLst>
                                        <p:tav tm="0">
                                          <p:val>
                                            <p:strVal val="#ppt_x"/>
                                          </p:val>
                                        </p:tav>
                                        <p:tav tm="100000">
                                          <p:val>
                                            <p:strVal val="#ppt_x"/>
                                          </p:val>
                                        </p:tav>
                                      </p:tavLst>
                                    </p:anim>
                                    <p:anim calcmode="lin" valueType="num">
                                      <p:cBhvr additive="base">
                                        <p:cTn id="71" dur="450" fill="hold"/>
                                        <p:tgtEl>
                                          <p:spTgt spid="18"/>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385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additive="base">
                                        <p:cTn id="75" dur="500" fill="hold"/>
                                        <p:tgtEl>
                                          <p:spTgt spid="19"/>
                                        </p:tgtEl>
                                        <p:attrNameLst>
                                          <p:attrName>ppt_x</p:attrName>
                                        </p:attrNameLst>
                                      </p:cBhvr>
                                      <p:tavLst>
                                        <p:tav tm="0">
                                          <p:val>
                                            <p:strVal val="#ppt_x"/>
                                          </p:val>
                                        </p:tav>
                                        <p:tav tm="100000">
                                          <p:val>
                                            <p:strVal val="#ppt_x"/>
                                          </p:val>
                                        </p:tav>
                                      </p:tavLst>
                                    </p:anim>
                                    <p:anim calcmode="lin" valueType="num">
                                      <p:cBhvr additive="base">
                                        <p:cTn id="76" dur="500" fill="hold"/>
                                        <p:tgtEl>
                                          <p:spTgt spid="19"/>
                                        </p:tgtEl>
                                        <p:attrNameLst>
                                          <p:attrName>ppt_y</p:attrName>
                                        </p:attrNameLst>
                                      </p:cBhvr>
                                      <p:tavLst>
                                        <p:tav tm="0">
                                          <p:val>
                                            <p:strVal val="#ppt_y+.06"/>
                                          </p:val>
                                        </p:tav>
                                        <p:tav tm="100000">
                                          <p:val>
                                            <p:strVal val="#ppt_y"/>
                                          </p:val>
                                        </p:tav>
                                      </p:tavLst>
                                    </p:anim>
                                  </p:childTnLst>
                                </p:cTn>
                              </p:par>
                              <p:par>
                                <p:cTn id="80" presetID="10" presetClass="entr" presetSubtype="0" fill="hold" grpId="0" nodeType="withEffect">
                                  <p:stCondLst>
                                    <p:cond delay="430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600"/>
                                        <p:tgtEl>
                                          <p:spTgt spid="20"/>
                                        </p:tgtEl>
                                      </p:cBhvr>
                                    </p:animEffect>
                                  </p:childTnLst>
                                </p:cTn>
                              </p:par>
                              <p:par>
                                <p:cTn id="85" presetID="42" presetClass="entr" presetSubtype="0" fill="hold" grpId="0" nodeType="withEffect">
                                  <p:stCondLst>
                                    <p:cond delay="47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700"/>
                                        <p:tgtEl>
                                          <p:spTgt spid="21"/>
                                        </p:tgtEl>
                                      </p:cBhvr>
                                    </p:animEffect>
                                    <p:anim calcmode="lin" valueType="num">
                                      <p:cBhvr additive="base">
                                        <p:cTn id="83" dur="700" fill="hold"/>
                                        <p:tgtEl>
                                          <p:spTgt spid="21"/>
                                        </p:tgtEl>
                                        <p:attrNameLst>
                                          <p:attrName>ppt_x</p:attrName>
                                        </p:attrNameLst>
                                      </p:cBhvr>
                                      <p:tavLst>
                                        <p:tav tm="0">
                                          <p:val>
                                            <p:strVal val="#ppt_x"/>
                                          </p:val>
                                        </p:tav>
                                        <p:tav tm="100000">
                                          <p:val>
                                            <p:strVal val="#ppt_x"/>
                                          </p:val>
                                        </p:tav>
                                      </p:tavLst>
                                    </p:anim>
                                    <p:anim calcmode="lin" valueType="num">
                                      <p:cBhvr additive="base">
                                        <p:cTn id="84" dur="700" fill="hold"/>
                                        <p:tgtEl>
                                          <p:spTgt spid="21"/>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47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700"/>
                                        <p:tgtEl>
                                          <p:spTgt spid="22"/>
                                        </p:tgtEl>
                                      </p:cBhvr>
                                    </p:animEffect>
                                    <p:anim calcmode="lin" valueType="num">
                                      <p:cBhvr additive="base">
                                        <p:cTn id="88" dur="700" fill="hold"/>
                                        <p:tgtEl>
                                          <p:spTgt spid="22"/>
                                        </p:tgtEl>
                                        <p:attrNameLst>
                                          <p:attrName>ppt_x</p:attrName>
                                        </p:attrNameLst>
                                      </p:cBhvr>
                                      <p:tavLst>
                                        <p:tav tm="0">
                                          <p:val>
                                            <p:strVal val="#ppt_x"/>
                                          </p:val>
                                        </p:tav>
                                        <p:tav tm="100000">
                                          <p:val>
                                            <p:strVal val="#ppt_x"/>
                                          </p:val>
                                        </p:tav>
                                      </p:tavLst>
                                    </p:anim>
                                    <p:anim calcmode="lin" valueType="num">
                                      <p:cBhvr additive="base">
                                        <p:cTn id="89" dur="700" fill="hold"/>
                                        <p:tgtEl>
                                          <p:spTgt spid="22"/>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470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700"/>
                                        <p:tgtEl>
                                          <p:spTgt spid="23"/>
                                        </p:tgtEl>
                                      </p:cBhvr>
                                    </p:animEffect>
                                    <p:anim calcmode="lin" valueType="num">
                                      <p:cBhvr additive="base">
                                        <p:cTn id="93" dur="700" fill="hold"/>
                                        <p:tgtEl>
                                          <p:spTgt spid="23"/>
                                        </p:tgtEl>
                                        <p:attrNameLst>
                                          <p:attrName>ppt_x</p:attrName>
                                        </p:attrNameLst>
                                      </p:cBhvr>
                                      <p:tavLst>
                                        <p:tav tm="0">
                                          <p:val>
                                            <p:strVal val="#ppt_x"/>
                                          </p:val>
                                        </p:tav>
                                        <p:tav tm="100000">
                                          <p:val>
                                            <p:strVal val="#ppt_x"/>
                                          </p:val>
                                        </p:tav>
                                      </p:tavLst>
                                    </p:anim>
                                    <p:anim calcmode="lin" valueType="num">
                                      <p:cBhvr additive="base">
                                        <p:cTn id="94" dur="700" fill="hold"/>
                                        <p:tgtEl>
                                          <p:spTgt spid="23"/>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510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700"/>
                                        <p:tgtEl>
                                          <p:spTgt spid="24"/>
                                        </p:tgtEl>
                                      </p:cBhvr>
                                    </p:animEffect>
                                    <p:anim calcmode="lin" valueType="num">
                                      <p:cBhvr additive="base">
                                        <p:cTn id="98" dur="700" fill="hold"/>
                                        <p:tgtEl>
                                          <p:spTgt spid="24"/>
                                        </p:tgtEl>
                                        <p:attrNameLst>
                                          <p:attrName>ppt_x</p:attrName>
                                        </p:attrNameLst>
                                      </p:cBhvr>
                                      <p:tavLst>
                                        <p:tav tm="0">
                                          <p:val>
                                            <p:strVal val="#ppt_x"/>
                                          </p:val>
                                        </p:tav>
                                        <p:tav tm="100000">
                                          <p:val>
                                            <p:strVal val="#ppt_x"/>
                                          </p:val>
                                        </p:tav>
                                      </p:tavLst>
                                    </p:anim>
                                    <p:anim calcmode="lin" valueType="num">
                                      <p:cBhvr additive="base">
                                        <p:cTn id="99" dur="700" fill="hold"/>
                                        <p:tgtEl>
                                          <p:spTgt spid="24"/>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510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700"/>
                                        <p:tgtEl>
                                          <p:spTgt spid="25"/>
                                        </p:tgtEl>
                                      </p:cBhvr>
                                    </p:animEffect>
                                    <p:anim calcmode="lin" valueType="num">
                                      <p:cBhvr additive="base">
                                        <p:cTn id="103" dur="700" fill="hold"/>
                                        <p:tgtEl>
                                          <p:spTgt spid="25"/>
                                        </p:tgtEl>
                                        <p:attrNameLst>
                                          <p:attrName>ppt_x</p:attrName>
                                        </p:attrNameLst>
                                      </p:cBhvr>
                                      <p:tavLst>
                                        <p:tav tm="0">
                                          <p:val>
                                            <p:strVal val="#ppt_x"/>
                                          </p:val>
                                        </p:tav>
                                        <p:tav tm="100000">
                                          <p:val>
                                            <p:strVal val="#ppt_x"/>
                                          </p:val>
                                        </p:tav>
                                      </p:tavLst>
                                    </p:anim>
                                    <p:anim calcmode="lin" valueType="num">
                                      <p:cBhvr additive="base">
                                        <p:cTn id="104" dur="700" fill="hold"/>
                                        <p:tgtEl>
                                          <p:spTgt spid="25"/>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51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700"/>
                                        <p:tgtEl>
                                          <p:spTgt spid="26"/>
                                        </p:tgtEl>
                                      </p:cBhvr>
                                    </p:animEffect>
                                    <p:anim calcmode="lin" valueType="num">
                                      <p:cBhvr additive="base">
                                        <p:cTn id="108" dur="700" fill="hold"/>
                                        <p:tgtEl>
                                          <p:spTgt spid="26"/>
                                        </p:tgtEl>
                                        <p:attrNameLst>
                                          <p:attrName>ppt_x</p:attrName>
                                        </p:attrNameLst>
                                      </p:cBhvr>
                                      <p:tavLst>
                                        <p:tav tm="0">
                                          <p:val>
                                            <p:strVal val="#ppt_x"/>
                                          </p:val>
                                        </p:tav>
                                        <p:tav tm="100000">
                                          <p:val>
                                            <p:strVal val="#ppt_x"/>
                                          </p:val>
                                        </p:tav>
                                      </p:tavLst>
                                    </p:anim>
                                    <p:anim calcmode="lin" valueType="num">
                                      <p:cBhvr additive="base">
                                        <p:cTn id="109" dur="700" fill="hold"/>
                                        <p:tgtEl>
                                          <p:spTgt spid="26"/>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550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700"/>
                                        <p:tgtEl>
                                          <p:spTgt spid="27"/>
                                        </p:tgtEl>
                                      </p:cBhvr>
                                    </p:animEffect>
                                    <p:anim calcmode="lin" valueType="num">
                                      <p:cBhvr additive="base">
                                        <p:cTn id="113" dur="700" fill="hold"/>
                                        <p:tgtEl>
                                          <p:spTgt spid="27"/>
                                        </p:tgtEl>
                                        <p:attrNameLst>
                                          <p:attrName>ppt_x</p:attrName>
                                        </p:attrNameLst>
                                      </p:cBhvr>
                                      <p:tavLst>
                                        <p:tav tm="0">
                                          <p:val>
                                            <p:strVal val="#ppt_x"/>
                                          </p:val>
                                        </p:tav>
                                        <p:tav tm="100000">
                                          <p:val>
                                            <p:strVal val="#ppt_x"/>
                                          </p:val>
                                        </p:tav>
                                      </p:tavLst>
                                    </p:anim>
                                    <p:anim calcmode="lin" valueType="num">
                                      <p:cBhvr additive="base">
                                        <p:cTn id="114" dur="700" fill="hold"/>
                                        <p:tgtEl>
                                          <p:spTgt spid="27"/>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550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700"/>
                                        <p:tgtEl>
                                          <p:spTgt spid="28"/>
                                        </p:tgtEl>
                                      </p:cBhvr>
                                    </p:animEffect>
                                    <p:anim calcmode="lin" valueType="num">
                                      <p:cBhvr additive="base">
                                        <p:cTn id="118" dur="700" fill="hold"/>
                                        <p:tgtEl>
                                          <p:spTgt spid="28"/>
                                        </p:tgtEl>
                                        <p:attrNameLst>
                                          <p:attrName>ppt_x</p:attrName>
                                        </p:attrNameLst>
                                      </p:cBhvr>
                                      <p:tavLst>
                                        <p:tav tm="0">
                                          <p:val>
                                            <p:strVal val="#ppt_x"/>
                                          </p:val>
                                        </p:tav>
                                        <p:tav tm="100000">
                                          <p:val>
                                            <p:strVal val="#ppt_x"/>
                                          </p:val>
                                        </p:tav>
                                      </p:tavLst>
                                    </p:anim>
                                    <p:anim calcmode="lin" valueType="num">
                                      <p:cBhvr additive="base">
                                        <p:cTn id="119" dur="700" fill="hold"/>
                                        <p:tgtEl>
                                          <p:spTgt spid="28"/>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550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700"/>
                                        <p:tgtEl>
                                          <p:spTgt spid="29"/>
                                        </p:tgtEl>
                                      </p:cBhvr>
                                    </p:animEffect>
                                    <p:anim calcmode="lin" valueType="num">
                                      <p:cBhvr additive="base">
                                        <p:cTn id="123" dur="700" fill="hold"/>
                                        <p:tgtEl>
                                          <p:spTgt spid="29"/>
                                        </p:tgtEl>
                                        <p:attrNameLst>
                                          <p:attrName>ppt_x</p:attrName>
                                        </p:attrNameLst>
                                      </p:cBhvr>
                                      <p:tavLst>
                                        <p:tav tm="0">
                                          <p:val>
                                            <p:strVal val="#ppt_x"/>
                                          </p:val>
                                        </p:tav>
                                        <p:tav tm="100000">
                                          <p:val>
                                            <p:strVal val="#ppt_x"/>
                                          </p:val>
                                        </p:tav>
                                      </p:tavLst>
                                    </p:anim>
                                    <p:anim calcmode="lin" valueType="num">
                                      <p:cBhvr additive="base">
                                        <p:cTn id="124" dur="700" fill="hold"/>
                                        <p:tgtEl>
                                          <p:spTgt spid="2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12" grpId="0" animBg="1"/>
      <p:bldP spid="13" grpId="0" animBg="1"/>
      <p:bldP spid="2" grpId="1" animBg="1"/>
      <p:bldP spid="7" grpId="0" animBg="1"/>
      <p:bldP spid="8" grpId="0" animBg="1"/>
      <p:bldP spid="9" grpId="0" animBg="1"/>
      <p:bldP spid="10" grpId="0" animBg="1"/>
      <p:bldP spid="11"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  ·  THE DEAL  ·  ▶ PLAYBACK</a:t>
            </a:r>
            <a:endParaRPr lang="en-US" sz="1300" dirty="0"/>
          </a:p>
        </p:txBody>
      </p:sp>
      <p:sp>
        <p:nvSpPr>
          <p:cNvPr id="4" name="cutscene act2"/>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bg">    </p:cNvPr>
          <p:cNvPicPr>
            <a:picLocks noChangeAspect="1"/>
          </p:cNvPicPr>
          <p:nvPr/>
        </p:nvPicPr>
        <p:blipFill>
          <a:blip r:embed="rId1"/>
          <a:stretch>
            <a:fillRect/>
          </a:stretch>
        </p:blipFill>
        <p:spPr>
          <a:xfrm>
            <a:off x="548640" y="868680"/>
            <a:ext cx="11094415" cy="5349240"/>
          </a:xfrm>
          <a:prstGeom prst="rect">
            <a:avLst/>
          </a:prstGeom>
        </p:spPr>
      </p:pic>
      <p:pic>
        <p:nvPicPr>
          <p:cNvPr id="7" name="david" descr="david">    </p:cNvPr>
          <p:cNvPicPr>
            <a:picLocks noChangeAspect="1"/>
          </p:cNvPicPr>
          <p:nvPr/>
        </p:nvPicPr>
        <p:blipFill>
          <a:blip r:embed="rId2"/>
          <a:stretch>
            <a:fillRect/>
          </a:stretch>
        </p:blipFill>
        <p:spPr>
          <a:xfrm>
            <a:off x="914400" y="2788920"/>
            <a:ext cx="1262743" cy="2651760"/>
          </a:xfrm>
          <a:prstGeom prst="rect">
            <a:avLst/>
          </a:prstGeom>
        </p:spPr>
      </p:pic>
      <p:pic>
        <p:nvPicPr>
          <p:cNvPr id="8" name="efraim" descr="efraim">    </p:cNvPr>
          <p:cNvPicPr>
            <a:picLocks noChangeAspect="1"/>
          </p:cNvPicPr>
          <p:nvPr/>
        </p:nvPicPr>
        <p:blipFill>
          <a:blip r:embed="rId3"/>
          <a:stretch>
            <a:fillRect/>
          </a:stretch>
        </p:blipFill>
        <p:spPr>
          <a:xfrm>
            <a:off x="2331720" y="2788920"/>
            <a:ext cx="1262743" cy="2651760"/>
          </a:xfrm>
          <a:prstGeom prst="rect">
            <a:avLst/>
          </a:prstGeom>
        </p:spPr>
      </p:pic>
      <p:pic>
        <p:nvPicPr>
          <p:cNvPr id="9" name="efraim cheer" descr="efraim cheer">    </p:cNvPr>
          <p:cNvPicPr>
            <a:picLocks noChangeAspect="1"/>
          </p:cNvPicPr>
          <p:nvPr/>
        </p:nvPicPr>
        <p:blipFill>
          <a:blip r:embed="rId4"/>
          <a:stretch>
            <a:fillRect/>
          </a:stretch>
        </p:blipFill>
        <p:spPr>
          <a:xfrm>
            <a:off x="2331720" y="2788920"/>
            <a:ext cx="1262743" cy="2651760"/>
          </a:xfrm>
          <a:prstGeom prst="rect">
            <a:avLst/>
          </a:prstGeom>
        </p:spPr>
      </p:pic>
      <p:pic>
        <p:nvPicPr>
          <p:cNvPr id="10" name="henry" descr="henry">    </p:cNvPr>
          <p:cNvPicPr>
            <a:picLocks noChangeAspect="1"/>
          </p:cNvPicPr>
          <p:nvPr/>
        </p:nvPicPr>
        <p:blipFill>
          <a:blip r:embed="rId5"/>
          <a:stretch>
            <a:fillRect/>
          </a:stretch>
        </p:blipFill>
        <p:spPr>
          <a:xfrm>
            <a:off x="9144000" y="2788920"/>
            <a:ext cx="1262743" cy="2651760"/>
          </a:xfrm>
          <a:prstGeom prst="rect">
            <a:avLst/>
          </a:prstGeom>
        </p:spPr>
      </p:pic>
      <p:pic>
        <p:nvPicPr>
          <p:cNvPr id="11" name="henry angry" descr="henry angry">    </p:cNvPr>
          <p:cNvPicPr>
            <a:picLocks noChangeAspect="1"/>
          </p:cNvPicPr>
          <p:nvPr/>
        </p:nvPicPr>
        <p:blipFill>
          <a:blip r:embed="rId6"/>
          <a:stretch>
            <a:fillRect/>
          </a:stretch>
        </p:blipFill>
        <p:spPr>
          <a:xfrm>
            <a:off x="9144000" y="2788920"/>
            <a:ext cx="1262743" cy="2651760"/>
          </a:xfrm>
          <a:prstGeom prst="rect">
            <a:avLst/>
          </a:prstGeom>
        </p:spPr>
      </p:pic>
      <p:pic>
        <p:nvPicPr>
          <p:cNvPr id="12" name="watch list" descr="watch list">    </p:cNvPr>
          <p:cNvPicPr>
            <a:picLocks noChangeAspect="1"/>
          </p:cNvPicPr>
          <p:nvPr/>
        </p:nvPicPr>
        <p:blipFill>
          <a:blip r:embed="rId7"/>
          <a:stretch>
            <a:fillRect/>
          </a:stretch>
        </p:blipFill>
        <p:spPr>
          <a:xfrm rot="-600000">
            <a:off x="8732520" y="2103120"/>
            <a:ext cx="2103120" cy="768096"/>
          </a:xfrm>
          <a:prstGeom prst="rect">
            <a:avLst/>
          </a:prstGeom>
        </p:spPr>
      </p:pic>
      <p:sp>
        <p:nvSpPr>
          <p:cNvPr id="13" name="henry says"/>
          <p:cNvSpPr/>
          <p:nvPr/>
        </p:nvSpPr>
        <p:spPr>
          <a:xfrm flipH="1">
            <a:off x="5760720" y="1280160"/>
            <a:ext cx="3108960" cy="1097280"/>
          </a:xfrm>
          <a:prstGeom prst="wedgeRoundRectCallout">
            <a:avLst/>
          </a:prstGeom>
          <a:solidFill>
            <a:srgbClr val="F4F1EA"/>
          </a:solidFill>
          <a:ln w="25400">
            <a:solidFill>
              <a:srgbClr val="0D0D0F"/>
            </a:solidFill>
          </a:ln>
        </p:spPr>
        <p:txBody>
          <a:bodyPr wrap="square" lIns="76200" tIns="76200" rIns="76200" bIns="76200" rtlCol="0" anchor="ctr"/>
          <a:lstStyle/>
          <a:p>
            <a:pPr algn="ctr" indent="0" marL="0">
              <a:buNone/>
            </a:pPr>
            <a:r>
              <a:rPr lang="en-US" sz="1500" b="1" dirty="0">
                <a:solidFill>
                  <a:srgbClr val="0D0D0F"/>
                </a:solidFill>
                <a:latin typeface="Calibri" pitchFamily="34" charset="0"/>
                <a:ea typeface="Calibri" pitchFamily="34" charset="-122"/>
                <a:cs typeface="Calibri" pitchFamily="34" charset="-120"/>
              </a:rPr>
              <a:t>I can’t sell to the US government. Your clean company can.</a:t>
            </a:r>
            <a:endParaRPr lang="en-US" sz="1500" dirty="0"/>
          </a:p>
        </p:txBody>
      </p:sp>
      <p:pic>
        <p:nvPicPr>
          <p:cNvPr id="14" name="crate a" descr="crate a">    </p:cNvPr>
          <p:cNvPicPr>
            <a:picLocks noChangeAspect="1"/>
          </p:cNvPicPr>
          <p:nvPr/>
        </p:nvPicPr>
        <p:blipFill>
          <a:blip r:embed="rId8"/>
          <a:stretch>
            <a:fillRect/>
          </a:stretch>
        </p:blipFill>
        <p:spPr>
          <a:xfrm>
            <a:off x="4251960" y="4224528"/>
            <a:ext cx="1417320" cy="1005840"/>
          </a:xfrm>
          <a:prstGeom prst="rect">
            <a:avLst/>
          </a:prstGeom>
        </p:spPr>
      </p:pic>
      <p:pic>
        <p:nvPicPr>
          <p:cNvPr id="15" name="crate b" descr="crate b">    </p:cNvPr>
          <p:cNvPicPr>
            <a:picLocks noChangeAspect="1"/>
          </p:cNvPicPr>
          <p:nvPr/>
        </p:nvPicPr>
        <p:blipFill>
          <a:blip r:embed="rId9"/>
          <a:stretch>
            <a:fillRect/>
          </a:stretch>
        </p:blipFill>
        <p:spPr>
          <a:xfrm>
            <a:off x="5760720" y="4224528"/>
            <a:ext cx="1417320" cy="1005840"/>
          </a:xfrm>
          <a:prstGeom prst="rect">
            <a:avLst/>
          </a:prstGeom>
        </p:spPr>
      </p:pic>
      <p:pic>
        <p:nvPicPr>
          <p:cNvPr id="16" name="crate c" descr="crate c">    </p:cNvPr>
          <p:cNvPicPr>
            <a:picLocks noChangeAspect="1"/>
          </p:cNvPicPr>
          <p:nvPr/>
        </p:nvPicPr>
        <p:blipFill>
          <a:blip r:embed="rId10"/>
          <a:stretch>
            <a:fillRect/>
          </a:stretch>
        </p:blipFill>
        <p:spPr>
          <a:xfrm>
            <a:off x="5010912" y="3255264"/>
            <a:ext cx="1417320" cy="1005840"/>
          </a:xfrm>
          <a:prstGeom prst="rect">
            <a:avLst/>
          </a:prstGeom>
        </p:spPr>
      </p:pic>
      <p:sp>
        <p:nvSpPr>
          <p:cNvPr id="17" name="rounds label"/>
          <p:cNvSpPr/>
          <p:nvPr/>
        </p:nvSpPr>
        <p:spPr>
          <a:xfrm>
            <a:off x="4114800" y="2798064"/>
            <a:ext cx="320040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500" b="1" dirty="0">
                <a:solidFill>
                  <a:srgbClr val="0D0D0F"/>
                </a:solidFill>
                <a:latin typeface="Courier New" pitchFamily="34" charset="0"/>
                <a:ea typeface="Courier New" pitchFamily="34" charset="-122"/>
                <a:cs typeface="Courier New" pitchFamily="34" charset="-120"/>
              </a:rPr>
              <a:t>≈ 100 MILLION ROUNDS</a:t>
            </a:r>
            <a:endParaRPr lang="en-US" sz="1500" dirty="0"/>
          </a:p>
        </p:txBody>
      </p:sp>
      <p:pic>
        <p:nvPicPr>
          <p:cNvPr id="18" name="contract" descr="contract">    </p:cNvPr>
          <p:cNvPicPr>
            <a:picLocks noChangeAspect="1"/>
          </p:cNvPicPr>
          <p:nvPr/>
        </p:nvPicPr>
        <p:blipFill>
          <a:blip r:embed="rId11"/>
          <a:stretch>
            <a:fillRect/>
          </a:stretch>
        </p:blipFill>
        <p:spPr>
          <a:xfrm>
            <a:off x="4983480" y="1051560"/>
            <a:ext cx="1463040" cy="1865376"/>
          </a:xfrm>
          <a:prstGeom prst="rect">
            <a:avLst/>
          </a:prstGeom>
        </p:spPr>
      </p:pic>
      <p:pic>
        <p:nvPicPr>
          <p:cNvPr id="19" name="awarded" descr="awarded">    </p:cNvPr>
          <p:cNvPicPr>
            <a:picLocks noChangeAspect="1"/>
          </p:cNvPicPr>
          <p:nvPr/>
        </p:nvPicPr>
        <p:blipFill>
          <a:blip r:embed="rId12"/>
          <a:stretch>
            <a:fillRect/>
          </a:stretch>
        </p:blipFill>
        <p:spPr>
          <a:xfrm rot="-600000">
            <a:off x="4343400" y="1783080"/>
            <a:ext cx="2743200" cy="1005840"/>
          </a:xfrm>
          <a:prstGeom prst="rect">
            <a:avLst/>
          </a:prstGeom>
        </p:spPr>
      </p:pic>
      <p:pic>
        <p:nvPicPr>
          <p:cNvPr id="20" name="scissors" descr="scissors">    </p:cNvPr>
          <p:cNvPicPr>
            <a:picLocks noChangeAspect="1"/>
          </p:cNvPicPr>
          <p:nvPr/>
        </p:nvPicPr>
        <p:blipFill>
          <a:blip r:embed="rId13"/>
          <a:stretch>
            <a:fillRect/>
          </a:stretch>
        </p:blipFill>
        <p:spPr>
          <a:xfrm>
            <a:off x="3749040" y="2148840"/>
            <a:ext cx="868680" cy="868680"/>
          </a:xfrm>
          <a:prstGeom prst="rect">
            <a:avLst/>
          </a:prstGeom>
        </p:spPr>
      </p:pic>
      <p:sp>
        <p:nvSpPr>
          <p:cNvPr id="21" name="cut line"/>
          <p:cNvSpPr/>
          <p:nvPr/>
        </p:nvSpPr>
        <p:spPr>
          <a:xfrm>
            <a:off x="3886200" y="2606040"/>
            <a:ext cx="5120640" cy="0"/>
          </a:xfrm>
          <a:prstGeom prst="line">
            <a:avLst/>
          </a:prstGeom>
          <a:noFill/>
          <a:ln w="50800">
            <a:solidFill>
              <a:srgbClr val="E5383B"/>
            </a:solidFill>
            <a:prstDash val="dash"/>
          </a:ln>
        </p:spPr>
      </p:sp>
      <p:sp>
        <p:nvSpPr>
          <p:cNvPr id="22" name="caption bar"/>
          <p:cNvSpPr/>
          <p:nvPr/>
        </p:nvSpPr>
        <p:spPr>
          <a:xfrm>
            <a:off x="548640" y="5650992"/>
            <a:ext cx="11094415" cy="566928"/>
          </a:xfrm>
          <a:prstGeom prst="rect">
            <a:avLst/>
          </a:prstGeom>
          <a:solidFill>
            <a:srgbClr val="000000">
              <a:alpha val="70000"/>
            </a:srgbClr>
          </a:solidFill>
          <a:ln/>
        </p:spPr>
      </p:sp>
      <p:sp>
        <p:nvSpPr>
          <p:cNvPr id="23" name="caption 1"/>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At an arms fair in Las Vegas, they meet Henry Girard, a dealer on a terrorist watch list.</a:t>
            </a:r>
            <a:endParaRPr lang="en-US" sz="1700" dirty="0"/>
          </a:p>
        </p:txBody>
      </p:sp>
      <p:sp>
        <p:nvSpPr>
          <p:cNvPr id="24" name="caption 2"/>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Henry can’t sell to the US government directly, but he has about 100 million rounds in Albania.</a:t>
            </a:r>
            <a:endParaRPr lang="en-US" sz="1700" dirty="0"/>
          </a:p>
        </p:txBody>
      </p:sp>
      <p:sp>
        <p:nvSpPr>
          <p:cNvPr id="25" name="caption 3"/>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With cheap supply, AEY underbids everyone and wins the Afghan army contract, worth about $300 million.</a:t>
            </a:r>
            <a:endParaRPr lang="en-US" sz="1700" dirty="0"/>
          </a:p>
        </p:txBody>
      </p:sp>
      <p:sp>
        <p:nvSpPr>
          <p:cNvPr id="26" name="caption 4"/>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Then Efraim plans to cut Henry out of his share.</a:t>
            </a:r>
            <a:endParaRPr lang="en-US" sz="17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126" fill="hold">
                      <p:stCondLst>
                        <p:cond delay="indefinite"/>
                        <p:cond evt="onBegin" delay="0">
                          <p:tn val="2"/>
                        </p:cond>
                      </p:stCondLst>
                      <p:childTnLst>
                        <p:par>
                          <p:cTn id="127"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900"/>
                                        <p:tgtEl>
                                          <p:spTgt spid="6"/>
                                        </p:tgtEl>
                                      </p:cBhvr>
                                    </p:animEffect>
                                  </p:childTnLst>
                                </p:cTn>
                              </p:par>
                              <p:par>
                                <p:cTn id="12" presetID="1" presetClass="entr" presetSubtype="0" fill="hold" grpId="0" nodeType="withEffect">
                                  <p:stCondLst>
                                    <p:cond delay="200"/>
                                  </p:stCondLst>
                                  <p:iterate type="lt">
                                    <p:tmAbs val="30"/>
                                  </p:iterate>
                                  <p:childTnLst>
                                    <p:set>
                                      <p:cBhvr>
                                        <p:cTn id="11" dur="1" fill="hold">
                                          <p:stCondLst>
                                            <p:cond delay="0"/>
                                          </p:stCondLst>
                                        </p:cTn>
                                        <p:tgtEl>
                                          <p:spTgt spid="3"/>
                                        </p:tgtEl>
                                        <p:attrNameLst>
                                          <p:attrName>style.visibility</p:attrName>
                                        </p:attrNameLst>
                                      </p:cBhvr>
                                      <p:to>
                                        <p:strVal val="visible"/>
                                      </p:to>
                                    </p:set>
                                  </p:childTnLst>
                                </p:cTn>
                              </p:par>
                              <p:par>
                                <p:cTn id="14" presetID="6" presetClass="emph" presetSubtype="0" fill="hold" grpId="1" nodeType="withEffect" autoRev="1" repeatCount="indefinite">
                                  <p:stCondLst>
                                    <p:cond delay="500"/>
                                  </p:stCondLst>
                                  <p:childTnLst>
                                    <p:animScale>
                                      <p:cBhvr>
                                        <p:cTn id="13" dur="650" fill="hold"/>
                                        <p:tgtEl>
                                          <p:spTgt spid="2"/>
                                        </p:tgtEl>
                                      </p:cBhvr>
                                      <p:by x="135000" y="135000"/>
                                    </p:animScale>
                                  </p:childTnLst>
                                </p:cTn>
                              </p:par>
                              <p:par>
                                <p:cTn id="17" presetID="10" presetClass="entr" presetSubtype="0" fill="hold" grpId="0" nodeType="withEffect">
                                  <p:stCondLst>
                                    <p:cond delay="6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20"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3" presetID="10" presetClass="entr" presetSubtype="0" fill="hold" grpId="0" nodeType="withEffect">
                                  <p:stCondLst>
                                    <p:cond delay="7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5" presetID="1" presetClass="entr" presetSubtype="0" fill="hold" grpId="0" nodeType="withEffect">
                                  <p:stCondLst>
                                    <p:cond delay="900"/>
                                  </p:stCondLst>
                                  <p:iterate type="lt">
                                    <p:tmAbs val="32"/>
                                  </p:iterate>
                                  <p:childTnLst>
                                    <p:set>
                                      <p:cBhvr>
                                        <p:cTn id="24" dur="1" fill="hold">
                                          <p:stCondLst>
                                            <p:cond delay="0"/>
                                          </p:stCondLst>
                                        </p:cTn>
                                        <p:tgtEl>
                                          <p:spTgt spid="23"/>
                                        </p:tgtEl>
                                        <p:attrNameLst>
                                          <p:attrName>style.visibility</p:attrName>
                                        </p:attrNameLst>
                                      </p:cBhvr>
                                      <p:to>
                                        <p:strVal val="visible"/>
                                      </p:to>
                                    </p:set>
                                  </p:childTnLst>
                                </p:cTn>
                              </p:par>
                              <p:par>
                                <p:cTn id="29" presetID="2" presetClass="entr" presetSubtype="2" fill="hold" grpId="0" nodeType="withEffect">
                                  <p:stCondLst>
                                    <p:cond delay="16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1800" fill="hold"/>
                                        <p:tgtEl>
                                          <p:spTgt spid="10"/>
                                        </p:tgtEl>
                                        <p:attrNameLst>
                                          <p:attrName>ppt_x</p:attrName>
                                        </p:attrNameLst>
                                      </p:cBhvr>
                                      <p:tavLst>
                                        <p:tav tm="0">
                                          <p:val>
                                            <p:strVal val="1+#ppt_w/2"/>
                                          </p:val>
                                        </p:tav>
                                        <p:tav tm="100000">
                                          <p:val>
                                            <p:strVal val="#ppt_x"/>
                                          </p:val>
                                        </p:tav>
                                      </p:tavLst>
                                    </p:anim>
                                    <p:anim calcmode="lin" valueType="num">
                                      <p:cBhvr additive="base">
                                        <p:cTn id="28" dur="1800" fill="hold"/>
                                        <p:tgtEl>
                                          <p:spTgt spid="10"/>
                                        </p:tgtEl>
                                        <p:attrNameLst>
                                          <p:attrName>ppt_y</p:attrName>
                                        </p:attrNameLst>
                                      </p:cBhvr>
                                      <p:tavLst>
                                        <p:tav tm="0">
                                          <p:val>
                                            <p:strVal val="#ppt_y"/>
                                          </p:val>
                                        </p:tav>
                                        <p:tav tm="100000">
                                          <p:val>
                                            <p:strVal val="#ppt_y"/>
                                          </p:val>
                                        </p:tav>
                                      </p:tavLst>
                                    </p:anim>
                                  </p:childTnLst>
                                </p:cTn>
                              </p:par>
                              <p:par>
                                <p:cTn id="31" presetID="0" presetClass="path" presetSubtype="0" fill="hold" grpId="1" nodeType="withEffect" autoRev="1" repeatCount="4000">
                                  <p:stCondLst>
                                    <p:cond delay="1600"/>
                                  </p:stCondLst>
                                  <p:childTnLst>
                                    <p:animMotion origin="layout" path="M 0 0 L 0 -0.012 E" pathEditMode="relative" ptsTypes="AA">
                                      <p:cBhvr>
                                        <p:cTn id="30" dur="225" fill="hold"/>
                                        <p:tgtEl>
                                          <p:spTgt spid="10"/>
                                        </p:tgtEl>
                                        <p:attrNameLst>
                                          <p:attrName>ppt_x</p:attrName>
                                          <p:attrName>ppt_y</p:attrName>
                                        </p:attrNameLst>
                                      </p:cBhvr>
                                    </p:animMotion>
                                  </p:childTnLst>
                                </p:cTn>
                              </p:par>
                              <p:par>
                                <p:cTn id="36" presetID="53" presetClass="entr" presetSubtype="32" fill="hold" grpId="0" nodeType="withEffect">
                                  <p:stCondLst>
                                    <p:cond delay="360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450" fill="hold"/>
                                        <p:tgtEl>
                                          <p:spTgt spid="12"/>
                                        </p:tgtEl>
                                        <p:attrNameLst>
                                          <p:attrName>ppt_w</p:attrName>
                                        </p:attrNameLst>
                                      </p:cBhvr>
                                      <p:tavLst>
                                        <p:tav tm="0">
                                          <p:val>
                                            <p:strVal val="#ppt_w*2.4"/>
                                          </p:val>
                                        </p:tav>
                                        <p:tav tm="100000">
                                          <p:val>
                                            <p:strVal val="#ppt_w"/>
                                          </p:val>
                                        </p:tav>
                                      </p:tavLst>
                                    </p:anim>
                                    <p:anim calcmode="lin" valueType="num">
                                      <p:cBhvr additive="base">
                                        <p:cTn id="34" dur="450" fill="hold"/>
                                        <p:tgtEl>
                                          <p:spTgt spid="12"/>
                                        </p:tgtEl>
                                        <p:attrNameLst>
                                          <p:attrName>ppt_h</p:attrName>
                                        </p:attrNameLst>
                                      </p:cBhvr>
                                      <p:tavLst>
                                        <p:tav tm="0">
                                          <p:val>
                                            <p:strVal val="#ppt_h*2.4"/>
                                          </p:val>
                                        </p:tav>
                                        <p:tav tm="100000">
                                          <p:val>
                                            <p:strVal val="#ppt_h"/>
                                          </p:val>
                                        </p:tav>
                                      </p:tavLst>
                                    </p:anim>
                                    <p:animEffect transition="in" filter="fade">
                                      <p:cBhvr>
                                        <p:cTn id="35" dur="450"/>
                                        <p:tgtEl>
                                          <p:spTgt spid="12"/>
                                        </p:tgtEl>
                                      </p:cBhvr>
                                    </p:animEffect>
                                  </p:childTnLst>
                                </p:cTn>
                              </p:par>
                              <p:par>
                                <p:cTn id="41" presetID="53" presetClass="entr" presetSubtype="16" fill="hold" grpId="0" nodeType="withEffect">
                                  <p:stCondLst>
                                    <p:cond delay="430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ppt_w</p:attrName>
                                        </p:attrNameLst>
                                      </p:cBhvr>
                                      <p:tavLst>
                                        <p:tav tm="0">
                                          <p:val>
                                            <p:strVal val="0"/>
                                          </p:val>
                                        </p:tav>
                                        <p:tav tm="100000">
                                          <p:val>
                                            <p:strVal val="#ppt_w"/>
                                          </p:val>
                                        </p:tav>
                                      </p:tavLst>
                                    </p:anim>
                                    <p:anim calcmode="lin" valueType="num">
                                      <p:cBhvr additive="base">
                                        <p:cTn id="39" dur="500" fill="hold"/>
                                        <p:tgtEl>
                                          <p:spTgt spid="13"/>
                                        </p:tgtEl>
                                        <p:attrNameLst>
                                          <p:attrName>ppt_h</p:attrName>
                                        </p:attrNameLst>
                                      </p:cBhvr>
                                      <p:tavLst>
                                        <p:tav tm="0">
                                          <p:val>
                                            <p:strVal val="0"/>
                                          </p:val>
                                        </p:tav>
                                        <p:tav tm="100000">
                                          <p:val>
                                            <p:strVal val="#ppt_h"/>
                                          </p:val>
                                        </p:tav>
                                      </p:tavLst>
                                    </p:anim>
                                    <p:animEffect transition="in" filter="fade">
                                      <p:cBhvr>
                                        <p:cTn id="40" dur="500"/>
                                        <p:tgtEl>
                                          <p:spTgt spid="13"/>
                                        </p:tgtEl>
                                      </p:cBhvr>
                                    </p:animEffect>
                                  </p:childTnLst>
                                </p:cTn>
                              </p:par>
                              <p:par>
                                <p:cTn id="44" presetID="10" presetClass="exit" presetSubtype="0" fill="hold" grpId="1" nodeType="withEffect">
                                  <p:stCondLst>
                                    <p:cond delay="5300"/>
                                  </p:stCondLst>
                                  <p:childTnLst>
                                    <p:animEffect transition="out" filter="fade">
                                      <p:cBhvr>
                                        <p:cTn id="42" dur="400"/>
                                        <p:tgtEl>
                                          <p:spTgt spid="23"/>
                                        </p:tgtEl>
                                      </p:cBhvr>
                                    </p:animEffect>
                                    <p:set>
                                      <p:cBhvr>
                                        <p:cTn id="43" dur="1" fill="hold">
                                          <p:stCondLst>
                                            <p:cond delay="399"/>
                                          </p:stCondLst>
                                        </p:cTn>
                                        <p:tgtEl>
                                          <p:spTgt spid="23"/>
                                        </p:tgtEl>
                                        <p:attrNameLst>
                                          <p:attrName>style.visibility</p:attrName>
                                        </p:attrNameLst>
                                      </p:cBhvr>
                                      <p:to>
                                        <p:strVal val="hidden"/>
                                      </p:to>
                                    </p:set>
                                  </p:childTnLst>
                                </p:cTn>
                              </p:par>
                              <p:par>
                                <p:cTn id="46" presetID="1" presetClass="entr" presetSubtype="0" fill="hold" grpId="0" nodeType="withEffect">
                                  <p:stCondLst>
                                    <p:cond delay="5500"/>
                                  </p:stCondLst>
                                  <p:iterate type="lt">
                                    <p:tmAbs val="32"/>
                                  </p:iterate>
                                  <p:childTnLst>
                                    <p:set>
                                      <p:cBhvr>
                                        <p:cTn id="45" dur="1" fill="hold">
                                          <p:stCondLst>
                                            <p:cond delay="0"/>
                                          </p:stCondLst>
                                        </p:cTn>
                                        <p:tgtEl>
                                          <p:spTgt spid="24"/>
                                        </p:tgtEl>
                                        <p:attrNameLst>
                                          <p:attrName>style.visibility</p:attrName>
                                        </p:attrNameLst>
                                      </p:cBhvr>
                                      <p:to>
                                        <p:strVal val="visible"/>
                                      </p:to>
                                    </p:set>
                                  </p:childTnLst>
                                </p:cTn>
                              </p:par>
                              <p:par>
                                <p:cTn id="49" presetID="10" presetClass="exit" presetSubtype="0" fill="hold" grpId="1" nodeType="withEffect">
                                  <p:stCondLst>
                                    <p:cond delay="5500"/>
                                  </p:stCondLst>
                                  <p:childTnLst>
                                    <p:animEffect transition="out" filter="fade">
                                      <p:cBhvr>
                                        <p:cTn id="47" dur="400"/>
                                        <p:tgtEl>
                                          <p:spTgt spid="12"/>
                                        </p:tgtEl>
                                      </p:cBhvr>
                                    </p:animEffect>
                                    <p:set>
                                      <p:cBhvr>
                                        <p:cTn id="48" dur="1" fill="hold">
                                          <p:stCondLst>
                                            <p:cond delay="399"/>
                                          </p:stCondLst>
                                        </p:cTn>
                                        <p:tgtEl>
                                          <p:spTgt spid="12"/>
                                        </p:tgtEl>
                                        <p:attrNameLst>
                                          <p:attrName>style.visibility</p:attrName>
                                        </p:attrNameLst>
                                      </p:cBhvr>
                                      <p:to>
                                        <p:strVal val="hidden"/>
                                      </p:to>
                                    </p:set>
                                  </p:childTnLst>
                                </p:cTn>
                              </p:par>
                              <p:par>
                                <p:cTn id="54" presetID="42" presetClass="entr" presetSubtype="0" fill="hold" grpId="0" nodeType="withEffect">
                                  <p:stCondLst>
                                    <p:cond delay="59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15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anim calcmode="lin" valueType="num">
                                      <p:cBhvr additive="base">
                                        <p:cTn id="57" dur="500" fill="hold"/>
                                        <p:tgtEl>
                                          <p:spTgt spid="15"/>
                                        </p:tgtEl>
                                        <p:attrNameLst>
                                          <p:attrName>ppt_x</p:attrName>
                                        </p:attrNameLst>
                                      </p:cBhvr>
                                      <p:tavLst>
                                        <p:tav tm="0">
                                          <p:val>
                                            <p:strVal val="#ppt_x"/>
                                          </p:val>
                                        </p:tav>
                                        <p:tav tm="100000">
                                          <p:val>
                                            <p:strVal val="#ppt_x"/>
                                          </p:val>
                                        </p:tav>
                                      </p:tavLst>
                                    </p:anim>
                                    <p:anim calcmode="lin" valueType="num">
                                      <p:cBhvr additive="base">
                                        <p:cTn id="58" dur="500" fill="hold"/>
                                        <p:tgtEl>
                                          <p:spTgt spid="15"/>
                                        </p:tgtEl>
                                        <p:attrNameLst>
                                          <p:attrName>ppt_y</p:attrName>
                                        </p:attrNameLst>
                                      </p:cBhvr>
                                      <p:tavLst>
                                        <p:tav tm="0">
                                          <p:val>
                                            <p:strVal val="#ppt_y+.06"/>
                                          </p:val>
                                        </p:tav>
                                        <p:tav tm="100000">
                                          <p:val>
                                            <p:strVal val="#ppt_y"/>
                                          </p:val>
                                        </p:tav>
                                      </p:tavLst>
                                    </p:anim>
                                  </p:childTnLst>
                                </p:cTn>
                              </p:par>
                              <p:par>
                                <p:cTn id="63" presetID="2" presetClass="entr" presetSubtype="1" fill="hold" grpId="0" nodeType="withEffect">
                                  <p:stCondLst>
                                    <p:cond delay="645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600" fill="hold"/>
                                        <p:tgtEl>
                                          <p:spTgt spid="16"/>
                                        </p:tgtEl>
                                        <p:attrNameLst>
                                          <p:attrName>ppt_x</p:attrName>
                                        </p:attrNameLst>
                                      </p:cBhvr>
                                      <p:tavLst>
                                        <p:tav tm="0">
                                          <p:val>
                                            <p:strVal val="#ppt_x"/>
                                          </p:val>
                                        </p:tav>
                                        <p:tav tm="100000">
                                          <p:val>
                                            <p:strVal val="#ppt_x"/>
                                          </p:val>
                                        </p:tav>
                                      </p:tavLst>
                                    </p:anim>
                                    <p:anim calcmode="lin" valueType="num">
                                      <p:cBhvr additive="base">
                                        <p:cTn id="62" dur="600" fill="hold"/>
                                        <p:tgtEl>
                                          <p:spTgt spid="16"/>
                                        </p:tgtEl>
                                        <p:attrNameLst>
                                          <p:attrName>ppt_y</p:attrName>
                                        </p:attrNameLst>
                                      </p:cBhvr>
                                      <p:tavLst>
                                        <p:tav tm="0">
                                          <p:val>
                                            <p:strVal val="0-#ppt_h/2"/>
                                          </p:val>
                                        </p:tav>
                                        <p:tav tm="100000">
                                          <p:val>
                                            <p:strVal val="#ppt_y"/>
                                          </p:val>
                                        </p:tav>
                                      </p:tavLst>
                                    </p:anim>
                                  </p:childTnLst>
                                </p:cTn>
                              </p:par>
                              <p:par>
                                <p:cTn id="68" presetID="53" presetClass="entr" presetSubtype="16" fill="hold" grpId="0" nodeType="withEffect">
                                  <p:stCondLst>
                                    <p:cond delay="710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ppt_w</p:attrName>
                                        </p:attrNameLst>
                                      </p:cBhvr>
                                      <p:tavLst>
                                        <p:tav tm="0">
                                          <p:val>
                                            <p:strVal val="0"/>
                                          </p:val>
                                        </p:tav>
                                        <p:tav tm="100000">
                                          <p:val>
                                            <p:strVal val="#ppt_w"/>
                                          </p:val>
                                        </p:tav>
                                      </p:tavLst>
                                    </p:anim>
                                    <p:anim calcmode="lin" valueType="num">
                                      <p:cBhvr additive="base">
                                        <p:cTn id="66" dur="500" fill="hold"/>
                                        <p:tgtEl>
                                          <p:spTgt spid="17"/>
                                        </p:tgtEl>
                                        <p:attrNameLst>
                                          <p:attrName>ppt_h</p:attrName>
                                        </p:attrNameLst>
                                      </p:cBhvr>
                                      <p:tavLst>
                                        <p:tav tm="0">
                                          <p:val>
                                            <p:strVal val="0"/>
                                          </p:val>
                                        </p:tav>
                                        <p:tav tm="100000">
                                          <p:val>
                                            <p:strVal val="#ppt_h"/>
                                          </p:val>
                                        </p:tav>
                                      </p:tavLst>
                                    </p:anim>
                                    <p:animEffect transition="in" filter="fade">
                                      <p:cBhvr>
                                        <p:cTn id="67" dur="500"/>
                                        <p:tgtEl>
                                          <p:spTgt spid="17"/>
                                        </p:tgtEl>
                                      </p:cBhvr>
                                    </p:animEffect>
                                  </p:childTnLst>
                                </p:cTn>
                              </p:par>
                              <p:par>
                                <p:cTn id="71" presetID="10" presetClass="exit" presetSubtype="0" fill="hold" grpId="1" nodeType="withEffect">
                                  <p:stCondLst>
                                    <p:cond delay="9900"/>
                                  </p:stCondLst>
                                  <p:childTnLst>
                                    <p:animEffect transition="out" filter="fade">
                                      <p:cBhvr>
                                        <p:cTn id="69" dur="400"/>
                                        <p:tgtEl>
                                          <p:spTgt spid="24"/>
                                        </p:tgtEl>
                                      </p:cBhvr>
                                    </p:animEffect>
                                    <p:set>
                                      <p:cBhvr>
                                        <p:cTn id="70" dur="1" fill="hold">
                                          <p:stCondLst>
                                            <p:cond delay="399"/>
                                          </p:stCondLst>
                                        </p:cTn>
                                        <p:tgtEl>
                                          <p:spTgt spid="24"/>
                                        </p:tgtEl>
                                        <p:attrNameLst>
                                          <p:attrName>style.visibility</p:attrName>
                                        </p:attrNameLst>
                                      </p:cBhvr>
                                      <p:to>
                                        <p:strVal val="hidden"/>
                                      </p:to>
                                    </p:set>
                                  </p:childTnLst>
                                </p:cTn>
                              </p:par>
                              <p:par>
                                <p:cTn id="74" presetID="10" presetClass="exit" presetSubtype="0" fill="hold" grpId="1" nodeType="withEffect">
                                  <p:stCondLst>
                                    <p:cond delay="9900"/>
                                  </p:stCondLst>
                                  <p:childTnLst>
                                    <p:animEffect transition="out" filter="fade">
                                      <p:cBhvr>
                                        <p:cTn id="72" dur="400"/>
                                        <p:tgtEl>
                                          <p:spTgt spid="13"/>
                                        </p:tgtEl>
                                      </p:cBhvr>
                                    </p:animEffect>
                                    <p:set>
                                      <p:cBhvr>
                                        <p:cTn id="73" dur="1" fill="hold">
                                          <p:stCondLst>
                                            <p:cond delay="399"/>
                                          </p:stCondLst>
                                        </p:cTn>
                                        <p:tgtEl>
                                          <p:spTgt spid="13"/>
                                        </p:tgtEl>
                                        <p:attrNameLst>
                                          <p:attrName>style.visibility</p:attrName>
                                        </p:attrNameLst>
                                      </p:cBhvr>
                                      <p:to>
                                        <p:strVal val="hidden"/>
                                      </p:to>
                                    </p:set>
                                  </p:childTnLst>
                                </p:cTn>
                              </p:par>
                              <p:par>
                                <p:cTn id="76" presetID="1" presetClass="entr" presetSubtype="0" fill="hold" grpId="0" nodeType="withEffect">
                                  <p:stCondLst>
                                    <p:cond delay="10100"/>
                                  </p:stCondLst>
                                  <p:iterate type="lt">
                                    <p:tmAbs val="32"/>
                                  </p:iterate>
                                  <p:childTnLst>
                                    <p:set>
                                      <p:cBhvr>
                                        <p:cTn id="75" dur="1" fill="hold">
                                          <p:stCondLst>
                                            <p:cond delay="0"/>
                                          </p:stCondLst>
                                        </p:cTn>
                                        <p:tgtEl>
                                          <p:spTgt spid="25"/>
                                        </p:tgtEl>
                                        <p:attrNameLst>
                                          <p:attrName>style.visibility</p:attrName>
                                        </p:attrNameLst>
                                      </p:cBhvr>
                                      <p:to>
                                        <p:strVal val="visible"/>
                                      </p:to>
                                    </p:set>
                                  </p:childTnLst>
                                </p:cTn>
                              </p:par>
                              <p:par>
                                <p:cTn id="79" presetID="10" presetClass="exit" presetSubtype="0" fill="hold" grpId="1" nodeType="withEffect">
                                  <p:stCondLst>
                                    <p:cond delay="10100"/>
                                  </p:stCondLst>
                                  <p:childTnLst>
                                    <p:animEffect transition="out" filter="fade">
                                      <p:cBhvr>
                                        <p:cTn id="77" dur="300"/>
                                        <p:tgtEl>
                                          <p:spTgt spid="17"/>
                                        </p:tgtEl>
                                      </p:cBhvr>
                                    </p:animEffect>
                                    <p:set>
                                      <p:cBhvr>
                                        <p:cTn id="78" dur="1" fill="hold">
                                          <p:stCondLst>
                                            <p:cond delay="299"/>
                                          </p:stCondLst>
                                        </p:cTn>
                                        <p:tgtEl>
                                          <p:spTgt spid="17"/>
                                        </p:tgtEl>
                                        <p:attrNameLst>
                                          <p:attrName>style.visibility</p:attrName>
                                        </p:attrNameLst>
                                      </p:cBhvr>
                                      <p:to>
                                        <p:strVal val="hidden"/>
                                      </p:to>
                                    </p:set>
                                  </p:childTnLst>
                                </p:cTn>
                              </p:par>
                              <p:par>
                                <p:cTn id="83" presetID="2" presetClass="entr" presetSubtype="1" fill="hold" grpId="0" nodeType="withEffect">
                                  <p:stCondLst>
                                    <p:cond delay="1030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800" fill="hold"/>
                                        <p:tgtEl>
                                          <p:spTgt spid="18"/>
                                        </p:tgtEl>
                                        <p:attrNameLst>
                                          <p:attrName>ppt_x</p:attrName>
                                        </p:attrNameLst>
                                      </p:cBhvr>
                                      <p:tavLst>
                                        <p:tav tm="0">
                                          <p:val>
                                            <p:strVal val="#ppt_x"/>
                                          </p:val>
                                        </p:tav>
                                        <p:tav tm="100000">
                                          <p:val>
                                            <p:strVal val="#ppt_x"/>
                                          </p:val>
                                        </p:tav>
                                      </p:tavLst>
                                    </p:anim>
                                    <p:anim calcmode="lin" valueType="num">
                                      <p:cBhvr additive="base">
                                        <p:cTn id="82" dur="800" fill="hold"/>
                                        <p:tgtEl>
                                          <p:spTgt spid="18"/>
                                        </p:tgtEl>
                                        <p:attrNameLst>
                                          <p:attrName>ppt_y</p:attrName>
                                        </p:attrNameLst>
                                      </p:cBhvr>
                                      <p:tavLst>
                                        <p:tav tm="0">
                                          <p:val>
                                            <p:strVal val="0-#ppt_h/2"/>
                                          </p:val>
                                        </p:tav>
                                        <p:tav tm="100000">
                                          <p:val>
                                            <p:strVal val="#ppt_y"/>
                                          </p:val>
                                        </p:tav>
                                      </p:tavLst>
                                    </p:anim>
                                  </p:childTnLst>
                                </p:cTn>
                              </p:par>
                              <p:par>
                                <p:cTn id="88" presetID="53" presetClass="entr" presetSubtype="32" fill="hold" grpId="0" nodeType="withEffect">
                                  <p:stCondLst>
                                    <p:cond delay="1130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450" fill="hold"/>
                                        <p:tgtEl>
                                          <p:spTgt spid="19"/>
                                        </p:tgtEl>
                                        <p:attrNameLst>
                                          <p:attrName>ppt_w</p:attrName>
                                        </p:attrNameLst>
                                      </p:cBhvr>
                                      <p:tavLst>
                                        <p:tav tm="0">
                                          <p:val>
                                            <p:strVal val="#ppt_w*2.4"/>
                                          </p:val>
                                        </p:tav>
                                        <p:tav tm="100000">
                                          <p:val>
                                            <p:strVal val="#ppt_w"/>
                                          </p:val>
                                        </p:tav>
                                      </p:tavLst>
                                    </p:anim>
                                    <p:anim calcmode="lin" valueType="num">
                                      <p:cBhvr additive="base">
                                        <p:cTn id="86" dur="450" fill="hold"/>
                                        <p:tgtEl>
                                          <p:spTgt spid="19"/>
                                        </p:tgtEl>
                                        <p:attrNameLst>
                                          <p:attrName>ppt_h</p:attrName>
                                        </p:attrNameLst>
                                      </p:cBhvr>
                                      <p:tavLst>
                                        <p:tav tm="0">
                                          <p:val>
                                            <p:strVal val="#ppt_h*2.4"/>
                                          </p:val>
                                        </p:tav>
                                        <p:tav tm="100000">
                                          <p:val>
                                            <p:strVal val="#ppt_h"/>
                                          </p:val>
                                        </p:tav>
                                      </p:tavLst>
                                    </p:anim>
                                    <p:animEffect transition="in" filter="fade">
                                      <p:cBhvr>
                                        <p:cTn id="87" dur="450"/>
                                        <p:tgtEl>
                                          <p:spTgt spid="19"/>
                                        </p:tgtEl>
                                      </p:cBhvr>
                                    </p:animEffect>
                                  </p:childTnLst>
                                </p:cTn>
                              </p:par>
                              <p:par>
                                <p:cTn id="91" presetID="10" presetClass="exit" presetSubtype="0" fill="hold" grpId="1" nodeType="withEffect">
                                  <p:stCondLst>
                                    <p:cond delay="11700"/>
                                  </p:stCondLst>
                                  <p:childTnLst>
                                    <p:animEffect transition="out" filter="fade">
                                      <p:cBhvr>
                                        <p:cTn id="89" dur="300"/>
                                        <p:tgtEl>
                                          <p:spTgt spid="8"/>
                                        </p:tgtEl>
                                      </p:cBhvr>
                                    </p:animEffect>
                                    <p:set>
                                      <p:cBhvr>
                                        <p:cTn id="90" dur="1" fill="hold">
                                          <p:stCondLst>
                                            <p:cond delay="299"/>
                                          </p:stCondLst>
                                        </p:cTn>
                                        <p:tgtEl>
                                          <p:spTgt spid="8"/>
                                        </p:tgtEl>
                                        <p:attrNameLst>
                                          <p:attrName>style.visibility</p:attrName>
                                        </p:attrNameLst>
                                      </p:cBhvr>
                                      <p:to>
                                        <p:strVal val="hidden"/>
                                      </p:to>
                                    </p:set>
                                  </p:childTnLst>
                                </p:cTn>
                              </p:par>
                              <p:par>
                                <p:cTn id="94" presetID="10" presetClass="entr" presetSubtype="0" fill="hold" grpId="0" nodeType="withEffect">
                                  <p:stCondLst>
                                    <p:cond delay="11700"/>
                                  </p:stCondLst>
                                  <p:childTnLst>
                                    <p:set>
                                      <p:cBhvr>
                                        <p:cTn id="92" dur="1" fill="hold">
                                          <p:stCondLst>
                                            <p:cond delay="0"/>
                                          </p:stCondLst>
                                        </p:cTn>
                                        <p:tgtEl>
                                          <p:spTgt spid="9"/>
                                        </p:tgtEl>
                                        <p:attrNameLst>
                                          <p:attrName>style.visibility</p:attrName>
                                        </p:attrNameLst>
                                      </p:cBhvr>
                                      <p:to>
                                        <p:strVal val="visible"/>
                                      </p:to>
                                    </p:set>
                                    <p:animEffect transition="in" filter="fade">
                                      <p:cBhvr>
                                        <p:cTn id="93" dur="300"/>
                                        <p:tgtEl>
                                          <p:spTgt spid="9"/>
                                        </p:tgtEl>
                                      </p:cBhvr>
                                    </p:animEffect>
                                  </p:childTnLst>
                                </p:cTn>
                              </p:par>
                              <p:par>
                                <p:cTn id="96" presetID="0" presetClass="path" presetSubtype="0" fill="hold" grpId="1" nodeType="withEffect" autoRev="1" repeatCount="8000">
                                  <p:stCondLst>
                                    <p:cond delay="12100"/>
                                  </p:stCondLst>
                                  <p:childTnLst>
                                    <p:animMotion origin="layout" path="M 0 0 L 0 -0.012 E" pathEditMode="relative" ptsTypes="AA">
                                      <p:cBhvr>
                                        <p:cTn id="95" dur="300" fill="hold"/>
                                        <p:tgtEl>
                                          <p:spTgt spid="9"/>
                                        </p:tgtEl>
                                        <p:attrNameLst>
                                          <p:attrName>ppt_x</p:attrName>
                                          <p:attrName>ppt_y</p:attrName>
                                        </p:attrNameLst>
                                      </p:cBhvr>
                                    </p:animMotion>
                                  </p:childTnLst>
                                </p:cTn>
                              </p:par>
                              <p:par>
                                <p:cTn id="99" presetID="10" presetClass="exit" presetSubtype="0" fill="hold" grpId="1" nodeType="withEffect">
                                  <p:stCondLst>
                                    <p:cond delay="14400"/>
                                  </p:stCondLst>
                                  <p:childTnLst>
                                    <p:animEffect transition="out" filter="fade">
                                      <p:cBhvr>
                                        <p:cTn id="97" dur="400"/>
                                        <p:tgtEl>
                                          <p:spTgt spid="25"/>
                                        </p:tgtEl>
                                      </p:cBhvr>
                                    </p:animEffect>
                                    <p:set>
                                      <p:cBhvr>
                                        <p:cTn id="98" dur="1" fill="hold">
                                          <p:stCondLst>
                                            <p:cond delay="399"/>
                                          </p:stCondLst>
                                        </p:cTn>
                                        <p:tgtEl>
                                          <p:spTgt spid="25"/>
                                        </p:tgtEl>
                                        <p:attrNameLst>
                                          <p:attrName>style.visibility</p:attrName>
                                        </p:attrNameLst>
                                      </p:cBhvr>
                                      <p:to>
                                        <p:strVal val="hidden"/>
                                      </p:to>
                                    </p:set>
                                  </p:childTnLst>
                                </p:cTn>
                              </p:par>
                              <p:par>
                                <p:cTn id="102" presetID="10" presetClass="exit" presetSubtype="0" fill="hold" grpId="1" nodeType="withEffect">
                                  <p:stCondLst>
                                    <p:cond delay="14500"/>
                                  </p:stCondLst>
                                  <p:childTnLst>
                                    <p:animEffect transition="out" filter="fade">
                                      <p:cBhvr>
                                        <p:cTn id="100" dur="400"/>
                                        <p:tgtEl>
                                          <p:spTgt spid="18"/>
                                        </p:tgtEl>
                                      </p:cBhvr>
                                    </p:animEffect>
                                    <p:set>
                                      <p:cBhvr>
                                        <p:cTn id="101" dur="1" fill="hold">
                                          <p:stCondLst>
                                            <p:cond delay="399"/>
                                          </p:stCondLst>
                                        </p:cTn>
                                        <p:tgtEl>
                                          <p:spTgt spid="18"/>
                                        </p:tgtEl>
                                        <p:attrNameLst>
                                          <p:attrName>style.visibility</p:attrName>
                                        </p:attrNameLst>
                                      </p:cBhvr>
                                      <p:to>
                                        <p:strVal val="hidden"/>
                                      </p:to>
                                    </p:set>
                                  </p:childTnLst>
                                </p:cTn>
                              </p:par>
                              <p:par>
                                <p:cTn id="105" presetID="10" presetClass="exit" presetSubtype="0" fill="hold" grpId="1" nodeType="withEffect">
                                  <p:stCondLst>
                                    <p:cond delay="14500"/>
                                  </p:stCondLst>
                                  <p:childTnLst>
                                    <p:animEffect transition="out" filter="fade">
                                      <p:cBhvr>
                                        <p:cTn id="103" dur="400"/>
                                        <p:tgtEl>
                                          <p:spTgt spid="19"/>
                                        </p:tgtEl>
                                      </p:cBhvr>
                                    </p:animEffect>
                                    <p:set>
                                      <p:cBhvr>
                                        <p:cTn id="104" dur="1" fill="hold">
                                          <p:stCondLst>
                                            <p:cond delay="399"/>
                                          </p:stCondLst>
                                        </p:cTn>
                                        <p:tgtEl>
                                          <p:spTgt spid="19"/>
                                        </p:tgtEl>
                                        <p:attrNameLst>
                                          <p:attrName>style.visibility</p:attrName>
                                        </p:attrNameLst>
                                      </p:cBhvr>
                                      <p:to>
                                        <p:strVal val="hidden"/>
                                      </p:to>
                                    </p:set>
                                  </p:childTnLst>
                                </p:cTn>
                              </p:par>
                              <p:par>
                                <p:cTn id="107" presetID="1" presetClass="entr" presetSubtype="0" fill="hold" grpId="0" nodeType="withEffect">
                                  <p:stCondLst>
                                    <p:cond delay="14600"/>
                                  </p:stCondLst>
                                  <p:iterate type="lt">
                                    <p:tmAbs val="32"/>
                                  </p:iterate>
                                  <p:childTnLst>
                                    <p:set>
                                      <p:cBhvr>
                                        <p:cTn id="106" dur="1" fill="hold">
                                          <p:stCondLst>
                                            <p:cond delay="0"/>
                                          </p:stCondLst>
                                        </p:cTn>
                                        <p:tgtEl>
                                          <p:spTgt spid="26"/>
                                        </p:tgtEl>
                                        <p:attrNameLst>
                                          <p:attrName>style.visibility</p:attrName>
                                        </p:attrNameLst>
                                      </p:cBhvr>
                                      <p:to>
                                        <p:strVal val="visible"/>
                                      </p:to>
                                    </p:set>
                                  </p:childTnLst>
                                </p:cTn>
                              </p:par>
                              <p:par>
                                <p:cTn id="112" presetID="53" presetClass="entr" presetSubtype="16" fill="hold" grpId="0" nodeType="withEffect">
                                  <p:stCondLst>
                                    <p:cond delay="14800"/>
                                  </p:stCondLst>
                                  <p:childTnLst>
                                    <p:set>
                                      <p:cBhvr>
                                        <p:cTn id="108" dur="1" fill="hold">
                                          <p:stCondLst>
                                            <p:cond delay="0"/>
                                          </p:stCondLst>
                                        </p:cTn>
                                        <p:tgtEl>
                                          <p:spTgt spid="20"/>
                                        </p:tgtEl>
                                        <p:attrNameLst>
                                          <p:attrName>style.visibility</p:attrName>
                                        </p:attrNameLst>
                                      </p:cBhvr>
                                      <p:to>
                                        <p:strVal val="visible"/>
                                      </p:to>
                                    </p:set>
                                    <p:anim calcmode="lin" valueType="num">
                                      <p:cBhvr additive="base">
                                        <p:cTn id="109" dur="400" fill="hold"/>
                                        <p:tgtEl>
                                          <p:spTgt spid="20"/>
                                        </p:tgtEl>
                                        <p:attrNameLst>
                                          <p:attrName>ppt_w</p:attrName>
                                        </p:attrNameLst>
                                      </p:cBhvr>
                                      <p:tavLst>
                                        <p:tav tm="0">
                                          <p:val>
                                            <p:strVal val="0"/>
                                          </p:val>
                                        </p:tav>
                                        <p:tav tm="100000">
                                          <p:val>
                                            <p:strVal val="#ppt_w"/>
                                          </p:val>
                                        </p:tav>
                                      </p:tavLst>
                                    </p:anim>
                                    <p:anim calcmode="lin" valueType="num">
                                      <p:cBhvr additive="base">
                                        <p:cTn id="110" dur="400" fill="hold"/>
                                        <p:tgtEl>
                                          <p:spTgt spid="20"/>
                                        </p:tgtEl>
                                        <p:attrNameLst>
                                          <p:attrName>ppt_h</p:attrName>
                                        </p:attrNameLst>
                                      </p:cBhvr>
                                      <p:tavLst>
                                        <p:tav tm="0">
                                          <p:val>
                                            <p:strVal val="0"/>
                                          </p:val>
                                        </p:tav>
                                        <p:tav tm="100000">
                                          <p:val>
                                            <p:strVal val="#ppt_h"/>
                                          </p:val>
                                        </p:tav>
                                      </p:tavLst>
                                    </p:anim>
                                    <p:animEffect transition="in" filter="fade">
                                      <p:cBhvr>
                                        <p:cTn id="111" dur="400"/>
                                        <p:tgtEl>
                                          <p:spTgt spid="20"/>
                                        </p:tgtEl>
                                      </p:cBhvr>
                                    </p:animEffect>
                                  </p:childTnLst>
                                </p:cTn>
                              </p:par>
                              <p:par>
                                <p:cTn id="114" presetID="32" presetClass="emph" presetSubtype="0" fill="hold" grpId="1" nodeType="withEffect" autoRev="1" repeatCount="8000">
                                  <p:stCondLst>
                                    <p:cond delay="15200"/>
                                  </p:stCondLst>
                                  <p:childTnLst>
                                    <p:animRot by="240000">
                                      <p:cBhvr>
                                        <p:cTn id="113" dur="120" fill="hold"/>
                                        <p:tgtEl>
                                          <p:spTgt spid="20"/>
                                        </p:tgtEl>
                                        <p:attrNameLst>
                                          <p:attrName>r</p:attrName>
                                        </p:attrNameLst>
                                      </p:cBhvr>
                                    </p:animRot>
                                  </p:childTnLst>
                                </p:cTn>
                              </p:par>
                              <p:par>
                                <p:cTn id="117" presetID="22" presetClass="entr" presetSubtype="8" fill="hold" grpId="0" nodeType="withEffect">
                                  <p:stCondLst>
                                    <p:cond delay="15300"/>
                                  </p:stCondLst>
                                  <p:childTnLst>
                                    <p:set>
                                      <p:cBhvr>
                                        <p:cTn id="115" dur="1" fill="hold">
                                          <p:stCondLst>
                                            <p:cond delay="0"/>
                                          </p:stCondLst>
                                        </p:cTn>
                                        <p:tgtEl>
                                          <p:spTgt spid="21"/>
                                        </p:tgtEl>
                                        <p:attrNameLst>
                                          <p:attrName>style.visibility</p:attrName>
                                        </p:attrNameLst>
                                      </p:cBhvr>
                                      <p:to>
                                        <p:strVal val="visible"/>
                                      </p:to>
                                    </p:set>
                                    <p:animEffect transition="in" filter="wipe(left)">
                                      <p:cBhvr>
                                        <p:cTn id="116" dur="900"/>
                                        <p:tgtEl>
                                          <p:spTgt spid="21"/>
                                        </p:tgtEl>
                                      </p:cBhvr>
                                    </p:animEffect>
                                  </p:childTnLst>
                                </p:cTn>
                              </p:par>
                              <p:par>
                                <p:cTn id="120" presetID="10" presetClass="exit" presetSubtype="0" fill="hold" grpId="2" nodeType="withEffect">
                                  <p:stCondLst>
                                    <p:cond delay="15900"/>
                                  </p:stCondLst>
                                  <p:childTnLst>
                                    <p:animEffect transition="out" filter="fade">
                                      <p:cBhvr>
                                        <p:cTn id="118" dur="300"/>
                                        <p:tgtEl>
                                          <p:spTgt spid="10"/>
                                        </p:tgtEl>
                                      </p:cBhvr>
                                    </p:animEffect>
                                    <p:set>
                                      <p:cBhvr>
                                        <p:cTn id="119" dur="1" fill="hold">
                                          <p:stCondLst>
                                            <p:cond delay="299"/>
                                          </p:stCondLst>
                                        </p:cTn>
                                        <p:tgtEl>
                                          <p:spTgt spid="10"/>
                                        </p:tgtEl>
                                        <p:attrNameLst>
                                          <p:attrName>style.visibility</p:attrName>
                                        </p:attrNameLst>
                                      </p:cBhvr>
                                      <p:to>
                                        <p:strVal val="hidden"/>
                                      </p:to>
                                    </p:set>
                                  </p:childTnLst>
                                </p:cTn>
                              </p:par>
                              <p:par>
                                <p:cTn id="123" presetID="10" presetClass="entr" presetSubtype="0" fill="hold" grpId="0" nodeType="withEffect">
                                  <p:stCondLst>
                                    <p:cond delay="15900"/>
                                  </p:stCondLst>
                                  <p:childTnLst>
                                    <p:set>
                                      <p:cBhvr>
                                        <p:cTn id="121" dur="1" fill="hold">
                                          <p:stCondLst>
                                            <p:cond delay="0"/>
                                          </p:stCondLst>
                                        </p:cTn>
                                        <p:tgtEl>
                                          <p:spTgt spid="11"/>
                                        </p:tgtEl>
                                        <p:attrNameLst>
                                          <p:attrName>style.visibility</p:attrName>
                                        </p:attrNameLst>
                                      </p:cBhvr>
                                      <p:to>
                                        <p:strVal val="visible"/>
                                      </p:to>
                                    </p:set>
                                    <p:animEffect transition="in" filter="fade">
                                      <p:cBhvr>
                                        <p:cTn id="122" dur="300"/>
                                        <p:tgtEl>
                                          <p:spTgt spid="11"/>
                                        </p:tgtEl>
                                      </p:cBhvr>
                                    </p:animEffect>
                                  </p:childTnLst>
                                </p:cTn>
                              </p:par>
                              <p:par>
                                <p:cTn id="125" presetID="32" presetClass="emph" presetSubtype="0" fill="hold" grpId="1" nodeType="withEffect" autoRev="1" repeatCount="8000">
                                  <p:stCondLst>
                                    <p:cond delay="16300"/>
                                  </p:stCondLst>
                                  <p:childTnLst>
                                    <p:animRot by="240000">
                                      <p:cBhvr>
                                        <p:cTn id="124" dur="9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animBg="1"/>
      <p:bldP spid="2" grpId="1" animBg="1"/>
      <p:bldP spid="22" grpId="0" animBg="1"/>
      <p:bldP spid="7" grpId="0" animBg="1"/>
      <p:bldP spid="8" grpId="0" animBg="1"/>
      <p:bldP spid="23" grpId="0" animBg="1"/>
      <p:bldP spid="10" grpId="0" animBg="1"/>
      <p:bldP spid="10" grpId="1" animBg="1"/>
      <p:bldP spid="12" grpId="0" animBg="1"/>
      <p:bldP spid="13" grpId="0" animBg="1"/>
      <p:bldP spid="23" grpId="1" animBg="1"/>
      <p:bldP spid="24" grpId="0" animBg="1"/>
      <p:bldP spid="12" grpId="1" animBg="1"/>
      <p:bldP spid="14" grpId="0" animBg="1"/>
      <p:bldP spid="15" grpId="0" animBg="1"/>
      <p:bldP spid="16" grpId="0" animBg="1"/>
      <p:bldP spid="17" grpId="0" animBg="1"/>
      <p:bldP spid="24" grpId="1" animBg="1"/>
      <p:bldP spid="13" grpId="1" animBg="1"/>
      <p:bldP spid="25" grpId="0" animBg="1"/>
      <p:bldP spid="17" grpId="1" animBg="1"/>
      <p:bldP spid="18" grpId="0" animBg="1"/>
      <p:bldP spid="19" grpId="0" animBg="1"/>
      <p:bldP spid="8" grpId="1" animBg="1"/>
      <p:bldP spid="9" grpId="0" animBg="1"/>
      <p:bldP spid="9" grpId="1" animBg="1"/>
      <p:bldP spid="25" grpId="1" animBg="1"/>
      <p:bldP spid="18" grpId="1" animBg="1"/>
      <p:bldP spid="19" grpId="1" animBg="1"/>
      <p:bldP spid="26" grpId="0" animBg="1"/>
      <p:bldP spid="20" grpId="0" animBg="1"/>
      <p:bldP spid="20" grpId="1" animBg="1"/>
      <p:bldP spid="21" grpId="0" animBg="1"/>
      <p:bldP spid="10" grpId="2" animBg="1"/>
      <p:bldP spid="11" grpId="0" animBg="1"/>
      <p:bldP spid="11"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  ·  THE DEAL</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II: a broker, a Balkan stockpile and a $300M contract</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5 · VEGAS</a:t>
            </a:r>
            <a:endParaRPr lang="en-US" sz="1100" dirty="0"/>
          </a:p>
        </p:txBody>
      </p:sp>
      <p:sp>
        <p:nvSpPr>
          <p:cNvPr id="64" name="The broker circle"/>
          <p:cNvSpPr/>
          <p:nvPr/>
        </p:nvSpPr>
        <p:spPr>
          <a:xfrm>
            <a:off x="914400" y="2606040"/>
            <a:ext cx="566928" cy="566928"/>
          </a:xfrm>
          <a:prstGeom prst="ellipse">
            <a:avLst/>
          </a:prstGeom>
          <a:solidFill>
            <a:srgbClr val="E5383B"/>
          </a:solidFill>
          <a:ln/>
        </p:spPr>
      </p:sp>
      <p:pic>
        <p:nvPicPr>
          <p:cNvPr id="65" name="The broker icon" descr="The broker">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broker</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At an arms fair they meet Henry Girard, a dealer on a terrorist watch list who cannot sell to the US directly.</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6 · ALBANIA</a:t>
            </a:r>
            <a:endParaRPr lang="en-US" sz="1100" dirty="0"/>
          </a:p>
        </p:txBody>
      </p:sp>
      <p:sp>
        <p:nvSpPr>
          <p:cNvPr id="70" name="The stockpile circle"/>
          <p:cNvSpPr/>
          <p:nvPr/>
        </p:nvSpPr>
        <p:spPr>
          <a:xfrm>
            <a:off x="3642284" y="2606040"/>
            <a:ext cx="566928" cy="566928"/>
          </a:xfrm>
          <a:prstGeom prst="ellipse">
            <a:avLst/>
          </a:prstGeom>
          <a:solidFill>
            <a:srgbClr val="3A3D44"/>
          </a:solidFill>
          <a:ln/>
        </p:spPr>
      </p:sp>
      <p:pic>
        <p:nvPicPr>
          <p:cNvPr id="71" name="The stockpile icon" descr="The stockpile">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stockpile</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Henry opens access to about 100 million rounds of old rifle ammunition in Albania.</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7 · THE BID</a:t>
            </a:r>
            <a:endParaRPr lang="en-US" sz="1100" dirty="0"/>
          </a:p>
        </p:txBody>
      </p:sp>
      <p:sp>
        <p:nvSpPr>
          <p:cNvPr id="76" name="The big one circle"/>
          <p:cNvSpPr/>
          <p:nvPr/>
        </p:nvSpPr>
        <p:spPr>
          <a:xfrm>
            <a:off x="6370168" y="2606040"/>
            <a:ext cx="566928" cy="566928"/>
          </a:xfrm>
          <a:prstGeom prst="ellipse">
            <a:avLst/>
          </a:prstGeom>
          <a:solidFill>
            <a:srgbClr val="8A6D1E"/>
          </a:solidFill>
          <a:ln/>
        </p:spPr>
      </p:sp>
      <p:pic>
        <p:nvPicPr>
          <p:cNvPr id="77" name="The big one icon" descr="The big one">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big one</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With cheap supply and a financier, AEY underbids everyone and wins the Afghan army contract.</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8 · THE SPLIT</a:t>
            </a:r>
            <a:endParaRPr lang="en-US" sz="1100" dirty="0"/>
          </a:p>
        </p:txBody>
      </p:sp>
      <p:sp>
        <p:nvSpPr>
          <p:cNvPr id="82" name="Who gets paid? circle"/>
          <p:cNvSpPr/>
          <p:nvPr/>
        </p:nvSpPr>
        <p:spPr>
          <a:xfrm>
            <a:off x="9098051" y="2606040"/>
            <a:ext cx="566928" cy="566928"/>
          </a:xfrm>
          <a:prstGeom prst="ellipse">
            <a:avLst/>
          </a:prstGeom>
          <a:solidFill>
            <a:srgbClr val="3A3D44"/>
          </a:solidFill>
          <a:ln/>
        </p:spPr>
      </p:sp>
      <p:pic>
        <p:nvPicPr>
          <p:cNvPr id="83" name="Who gets paid? icon" descr="Who gets paid?">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Who gets paid?</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Efraim plans to cut Henry out of his share. Tension between the partners grows.</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“Everybody in the chain takes a cut.”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7</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IS THIS ORGANIZED CRIME?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UN says yes. Abadinsky’s mafia model says mostly no</a:t>
            </a:r>
            <a:endParaRPr lang="en-US" sz="3000" dirty="0"/>
          </a:p>
        </p:txBody>
      </p:sp>
      <p:sp>
        <p:nvSpPr>
          <p:cNvPr id="7" name="untoc"/>
          <p:cNvSpPr/>
          <p:nvPr/>
        </p:nvSpPr>
        <p:spPr>
          <a:xfrm>
            <a:off x="548640" y="1691640"/>
            <a:ext cx="5387188" cy="4160520"/>
          </a:xfrm>
          <a:prstGeom prst="rect">
            <a:avLst/>
          </a:prstGeom>
          <a:solidFill>
            <a:srgbClr val="1B1D22"/>
          </a:solidFill>
          <a:ln w="19050">
            <a:solidFill>
              <a:srgbClr val="4F8A5B"/>
            </a:solidFill>
            <a:prstDash val="solid"/>
          </a:ln>
        </p:spPr>
      </p:sp>
      <p:sp>
        <p:nvSpPr>
          <p:cNvPr id="8" name="Text 5"/>
          <p:cNvSpPr txBox="1"/>
          <p:nvPr/>
        </p:nvSpPr>
        <p:spPr>
          <a:xfrm>
            <a:off x="822960" y="1828800"/>
            <a:ext cx="4838548" cy="292608"/>
          </a:xfrm>
          <a:prstGeom prst="rect">
            <a:avLst/>
          </a:prstGeom>
          <a:noFill/>
          <a:ln/>
        </p:spPr>
        <p:txBody>
          <a:bodyPr wrap="square" lIns="0" tIns="0" rIns="0" bIns="0" rtlCol="0" anchor="ctr"/>
          <a:lstStyle/>
          <a:p>
            <a:pPr indent="0" marL="0">
              <a:buNone/>
            </a:pPr>
            <a:r>
              <a:rPr lang="en-US" sz="1200" b="1" dirty="0">
                <a:solidFill>
                  <a:srgbClr val="8FC79B"/>
                </a:solidFill>
                <a:latin typeface="Courier New" pitchFamily="34" charset="0"/>
                <a:ea typeface="Courier New" pitchFamily="34" charset="-122"/>
                <a:cs typeface="Courier New" pitchFamily="34" charset="-120"/>
              </a:rPr>
              <a:t>UNTOC, ARTICLE 2 (UNODC, 2004)</a:t>
            </a:r>
            <a:endParaRPr lang="en-US" sz="1200" dirty="0"/>
          </a:p>
        </p:txBody>
      </p:sp>
      <p:sp>
        <p:nvSpPr>
          <p:cNvPr id="9" name="3+ persons in a structured group circle"/>
          <p:cNvSpPr/>
          <p:nvPr/>
        </p:nvSpPr>
        <p:spPr>
          <a:xfrm>
            <a:off x="822960" y="2313432"/>
            <a:ext cx="457200" cy="457200"/>
          </a:xfrm>
          <a:prstGeom prst="ellipse">
            <a:avLst/>
          </a:prstGeom>
          <a:solidFill>
            <a:srgbClr val="4F8A5B"/>
          </a:solidFill>
          <a:ln/>
        </p:spPr>
      </p:sp>
      <p:pic>
        <p:nvPicPr>
          <p:cNvPr id="10" name="3+ persons in a structured group icon" descr="3+ persons in a structured group">    </p:cNvPr>
          <p:cNvPicPr>
            <a:picLocks noChangeAspect="1"/>
          </p:cNvPicPr>
          <p:nvPr/>
        </p:nvPicPr>
        <p:blipFill>
          <a:blip r:embed="rId2"/>
          <a:stretch>
            <a:fillRect/>
          </a:stretch>
        </p:blipFill>
        <p:spPr>
          <a:xfrm>
            <a:off x="932688" y="2423160"/>
            <a:ext cx="237744" cy="237744"/>
          </a:xfrm>
          <a:prstGeom prst="rect">
            <a:avLst/>
          </a:prstGeom>
        </p:spPr>
      </p:pic>
      <p:sp>
        <p:nvSpPr>
          <p:cNvPr id="11" name="Text 7"/>
          <p:cNvSpPr txBox="1"/>
          <p:nvPr/>
        </p:nvSpPr>
        <p:spPr>
          <a:xfrm>
            <a:off x="1417320"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3+ persons in a structured group</a:t>
            </a:r>
            <a:endParaRPr lang="en-US" sz="1500" dirty="0"/>
          </a:p>
          <a:p>
            <a:pPr indent="0" marL="0">
              <a:buNone/>
            </a:pPr>
            <a:r>
              <a:rPr lang="en-US" sz="1300" dirty="0">
                <a:solidFill>
                  <a:srgbClr val="A9ADB5"/>
                </a:solidFill>
              </a:rPr>
              <a:t>Efraim, David, financier, Henry, suppliers</a:t>
            </a:r>
            <a:endParaRPr lang="en-US" sz="1500" dirty="0"/>
          </a:p>
        </p:txBody>
      </p:sp>
      <p:sp>
        <p:nvSpPr>
          <p:cNvPr id="12" name="Existing for a period of time circle"/>
          <p:cNvSpPr/>
          <p:nvPr/>
        </p:nvSpPr>
        <p:spPr>
          <a:xfrm>
            <a:off x="822960" y="3182112"/>
            <a:ext cx="457200" cy="457200"/>
          </a:xfrm>
          <a:prstGeom prst="ellipse">
            <a:avLst/>
          </a:prstGeom>
          <a:solidFill>
            <a:srgbClr val="4F8A5B"/>
          </a:solidFill>
          <a:ln/>
        </p:spPr>
      </p:sp>
      <p:pic>
        <p:nvPicPr>
          <p:cNvPr id="13" name="Existing for a period of time icon" descr="Existing for a period of time">    </p:cNvPr>
          <p:cNvPicPr>
            <a:picLocks noChangeAspect="1"/>
          </p:cNvPicPr>
          <p:nvPr/>
        </p:nvPicPr>
        <p:blipFill>
          <a:blip r:embed="rId3"/>
          <a:stretch>
            <a:fillRect/>
          </a:stretch>
        </p:blipFill>
        <p:spPr>
          <a:xfrm>
            <a:off x="932688" y="3291840"/>
            <a:ext cx="237744" cy="237744"/>
          </a:xfrm>
          <a:prstGeom prst="rect">
            <a:avLst/>
          </a:prstGeom>
        </p:spPr>
      </p:pic>
      <p:sp>
        <p:nvSpPr>
          <p:cNvPr id="14" name="Text 9"/>
          <p:cNvSpPr txBox="1"/>
          <p:nvPr/>
        </p:nvSpPr>
        <p:spPr>
          <a:xfrm>
            <a:off x="1417320"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Existing for a period of time</a:t>
            </a:r>
            <a:endParaRPr lang="en-US" sz="1500" dirty="0"/>
          </a:p>
          <a:p>
            <a:pPr indent="0" marL="0">
              <a:buNone/>
            </a:pPr>
            <a:r>
              <a:rPr lang="en-US" sz="1300" dirty="0">
                <a:solidFill>
                  <a:srgbClr val="A9ADB5"/>
                </a:solidFill>
              </a:rPr>
              <a:t>Several years of operation</a:t>
            </a:r>
            <a:endParaRPr lang="en-US" sz="1500" dirty="0"/>
          </a:p>
        </p:txBody>
      </p:sp>
      <p:sp>
        <p:nvSpPr>
          <p:cNvPr id="15" name="Committing serious crime circle"/>
          <p:cNvSpPr/>
          <p:nvPr/>
        </p:nvSpPr>
        <p:spPr>
          <a:xfrm>
            <a:off x="822960" y="4050792"/>
            <a:ext cx="457200" cy="457200"/>
          </a:xfrm>
          <a:prstGeom prst="ellipse">
            <a:avLst/>
          </a:prstGeom>
          <a:solidFill>
            <a:srgbClr val="4F8A5B"/>
          </a:solidFill>
          <a:ln/>
        </p:spPr>
      </p:sp>
      <p:pic>
        <p:nvPicPr>
          <p:cNvPr id="16" name="Committing serious crime icon" descr="Committing serious crime">    </p:cNvPr>
          <p:cNvPicPr>
            <a:picLocks noChangeAspect="1"/>
          </p:cNvPicPr>
          <p:nvPr/>
        </p:nvPicPr>
        <p:blipFill>
          <a:blip r:embed="rId4"/>
          <a:stretch>
            <a:fillRect/>
          </a:stretch>
        </p:blipFill>
        <p:spPr>
          <a:xfrm>
            <a:off x="932688" y="4160520"/>
            <a:ext cx="237744" cy="237744"/>
          </a:xfrm>
          <a:prstGeom prst="rect">
            <a:avLst/>
          </a:prstGeom>
        </p:spPr>
      </p:pic>
      <p:sp>
        <p:nvSpPr>
          <p:cNvPr id="17" name="Text 11"/>
          <p:cNvSpPr txBox="1"/>
          <p:nvPr/>
        </p:nvSpPr>
        <p:spPr>
          <a:xfrm>
            <a:off x="1417320"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Committing serious crime</a:t>
            </a:r>
            <a:endParaRPr lang="en-US" sz="1500" dirty="0"/>
          </a:p>
          <a:p>
            <a:pPr indent="0" marL="0">
              <a:buNone/>
            </a:pPr>
            <a:r>
              <a:rPr lang="en-US" sz="1300" dirty="0">
                <a:solidFill>
                  <a:srgbClr val="A9ADB5"/>
                </a:solidFill>
              </a:rPr>
              <a:t>Fraud, conspiracy, embargo breach</a:t>
            </a:r>
            <a:endParaRPr lang="en-US" sz="1500" dirty="0"/>
          </a:p>
        </p:txBody>
      </p:sp>
      <p:sp>
        <p:nvSpPr>
          <p:cNvPr id="18" name="For material benefit circle"/>
          <p:cNvSpPr/>
          <p:nvPr/>
        </p:nvSpPr>
        <p:spPr>
          <a:xfrm>
            <a:off x="822960" y="4919472"/>
            <a:ext cx="457200" cy="457200"/>
          </a:xfrm>
          <a:prstGeom prst="ellipse">
            <a:avLst/>
          </a:prstGeom>
          <a:solidFill>
            <a:srgbClr val="4F8A5B"/>
          </a:solidFill>
          <a:ln/>
        </p:spPr>
      </p:sp>
      <p:pic>
        <p:nvPicPr>
          <p:cNvPr id="19" name="For material benefit icon" descr="For material benefit">    </p:cNvPr>
          <p:cNvPicPr>
            <a:picLocks noChangeAspect="1"/>
          </p:cNvPicPr>
          <p:nvPr/>
        </p:nvPicPr>
        <p:blipFill>
          <a:blip r:embed="rId5"/>
          <a:stretch>
            <a:fillRect/>
          </a:stretch>
        </p:blipFill>
        <p:spPr>
          <a:xfrm>
            <a:off x="932688" y="5029200"/>
            <a:ext cx="237744" cy="237744"/>
          </a:xfrm>
          <a:prstGeom prst="rect">
            <a:avLst/>
          </a:prstGeom>
        </p:spPr>
      </p:pic>
      <p:sp>
        <p:nvSpPr>
          <p:cNvPr id="20" name="Text 13"/>
          <p:cNvSpPr txBox="1"/>
          <p:nvPr/>
        </p:nvSpPr>
        <p:spPr>
          <a:xfrm>
            <a:off x="1417320"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For material benefit</a:t>
            </a:r>
            <a:endParaRPr lang="en-US" sz="1500" dirty="0"/>
          </a:p>
          <a:p>
            <a:pPr indent="0" marL="0">
              <a:buNone/>
            </a:pPr>
            <a:r>
              <a:rPr lang="en-US" sz="1300" dirty="0">
                <a:solidFill>
                  <a:srgbClr val="A9ADB5"/>
                </a:solidFill>
              </a:rPr>
              <a:t>Millions in profit</a:t>
            </a:r>
            <a:endParaRPr lang="en-US" sz="1500" dirty="0"/>
          </a:p>
        </p:txBody>
      </p:sp>
      <p:sp>
        <p:nvSpPr>
          <p:cNvPr id="21" name="abadinsky"/>
          <p:cNvSpPr/>
          <p:nvPr/>
        </p:nvSpPr>
        <p:spPr>
          <a:xfrm>
            <a:off x="6255868" y="1691640"/>
            <a:ext cx="5387188" cy="4160520"/>
          </a:xfrm>
          <a:prstGeom prst="rect">
            <a:avLst/>
          </a:prstGeom>
          <a:solidFill>
            <a:srgbClr val="1B1D22"/>
          </a:solidFill>
          <a:ln w="19050">
            <a:solidFill>
              <a:srgbClr val="E5383B"/>
            </a:solidFill>
            <a:prstDash val="solid"/>
          </a:ln>
        </p:spPr>
      </p:sp>
      <p:sp>
        <p:nvSpPr>
          <p:cNvPr id="22" name="Text 15"/>
          <p:cNvSpPr txBox="1"/>
          <p:nvPr/>
        </p:nvSpPr>
        <p:spPr>
          <a:xfrm>
            <a:off x="6530188" y="1828800"/>
            <a:ext cx="4838548" cy="292608"/>
          </a:xfrm>
          <a:prstGeom prst="rect">
            <a:avLst/>
          </a:prstGeom>
          <a:noFill/>
          <a:ln/>
        </p:spPr>
        <p:txBody>
          <a:bodyPr wrap="square" lIns="0" tIns="0" rIns="0" bIns="0" rtlCol="0" anchor="ctr"/>
          <a:lstStyle/>
          <a:p>
            <a:pPr indent="0" marL="0">
              <a:buNone/>
            </a:pPr>
            <a:r>
              <a:rPr lang="en-US" sz="1200" b="1" dirty="0">
                <a:solidFill>
                  <a:srgbClr val="FF8A8C"/>
                </a:solidFill>
                <a:latin typeface="Courier New" pitchFamily="34" charset="0"/>
                <a:ea typeface="Courier New" pitchFamily="34" charset="-122"/>
                <a:cs typeface="Courier New" pitchFamily="34" charset="-120"/>
              </a:rPr>
              <a:t>ABADINSKY’S (2013) ATTRIBUTES</a:t>
            </a:r>
            <a:endParaRPr lang="en-US" sz="1200" dirty="0"/>
          </a:p>
        </p:txBody>
      </p:sp>
      <p:sp>
        <p:nvSpPr>
          <p:cNvPr id="23" name="Hierarchy and ranks circle"/>
          <p:cNvSpPr/>
          <p:nvPr/>
        </p:nvSpPr>
        <p:spPr>
          <a:xfrm>
            <a:off x="6530188" y="2313432"/>
            <a:ext cx="457200" cy="457200"/>
          </a:xfrm>
          <a:prstGeom prst="ellipse">
            <a:avLst/>
          </a:prstGeom>
          <a:solidFill>
            <a:srgbClr val="E5383B"/>
          </a:solidFill>
          <a:ln/>
        </p:spPr>
      </p:sp>
      <p:pic>
        <p:nvPicPr>
          <p:cNvPr id="24" name="Hierarchy and ranks icon" descr="Hierarchy and ranks">    </p:cNvPr>
          <p:cNvPicPr>
            <a:picLocks noChangeAspect="1"/>
          </p:cNvPicPr>
          <p:nvPr/>
        </p:nvPicPr>
        <p:blipFill>
          <a:blip r:embed="rId6"/>
          <a:stretch>
            <a:fillRect/>
          </a:stretch>
        </p:blipFill>
        <p:spPr>
          <a:xfrm>
            <a:off x="6639916" y="2423160"/>
            <a:ext cx="237744" cy="237744"/>
          </a:xfrm>
          <a:prstGeom prst="rect">
            <a:avLst/>
          </a:prstGeom>
        </p:spPr>
      </p:pic>
      <p:sp>
        <p:nvSpPr>
          <p:cNvPr id="25" name="Text 17"/>
          <p:cNvSpPr txBox="1"/>
          <p:nvPr/>
        </p:nvSpPr>
        <p:spPr>
          <a:xfrm>
            <a:off x="7124548"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Hierarchy and ranks</a:t>
            </a:r>
            <a:endParaRPr lang="en-US" sz="1500" dirty="0"/>
          </a:p>
          <a:p>
            <a:pPr indent="0" marL="0">
              <a:buNone/>
            </a:pPr>
            <a:r>
              <a:rPr lang="en-US" sz="1300" dirty="0">
                <a:solidFill>
                  <a:srgbClr val="A9ADB5"/>
                </a:solidFill>
              </a:rPr>
              <a:t>Does not fit</a:t>
            </a:r>
            <a:endParaRPr lang="en-US" sz="1500" dirty="0"/>
          </a:p>
        </p:txBody>
      </p:sp>
      <p:sp>
        <p:nvSpPr>
          <p:cNvPr id="26" name="Exclusive membership and rituals circle"/>
          <p:cNvSpPr/>
          <p:nvPr/>
        </p:nvSpPr>
        <p:spPr>
          <a:xfrm>
            <a:off x="6530188" y="3182112"/>
            <a:ext cx="457200" cy="457200"/>
          </a:xfrm>
          <a:prstGeom prst="ellipse">
            <a:avLst/>
          </a:prstGeom>
          <a:solidFill>
            <a:srgbClr val="E5383B"/>
          </a:solidFill>
          <a:ln/>
        </p:spPr>
      </p:sp>
      <p:pic>
        <p:nvPicPr>
          <p:cNvPr id="27" name="Exclusive membership and rituals icon" descr="Exclusive membership and rituals">    </p:cNvPr>
          <p:cNvPicPr>
            <a:picLocks noChangeAspect="1"/>
          </p:cNvPicPr>
          <p:nvPr/>
        </p:nvPicPr>
        <p:blipFill>
          <a:blip r:embed="rId7"/>
          <a:stretch>
            <a:fillRect/>
          </a:stretch>
        </p:blipFill>
        <p:spPr>
          <a:xfrm>
            <a:off x="6639916" y="3291840"/>
            <a:ext cx="237744" cy="237744"/>
          </a:xfrm>
          <a:prstGeom prst="rect">
            <a:avLst/>
          </a:prstGeom>
        </p:spPr>
      </p:pic>
      <p:sp>
        <p:nvSpPr>
          <p:cNvPr id="28" name="Text 19"/>
          <p:cNvSpPr txBox="1"/>
          <p:nvPr/>
        </p:nvSpPr>
        <p:spPr>
          <a:xfrm>
            <a:off x="7124548"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Exclusive membership and rituals</a:t>
            </a:r>
            <a:endParaRPr lang="en-US" sz="1500" dirty="0"/>
          </a:p>
          <a:p>
            <a:pPr indent="0" marL="0">
              <a:buNone/>
            </a:pPr>
            <a:r>
              <a:rPr lang="en-US" sz="1300" dirty="0">
                <a:solidFill>
                  <a:srgbClr val="A9ADB5"/>
                </a:solidFill>
              </a:rPr>
              <a:t>Does not fit</a:t>
            </a:r>
            <a:endParaRPr lang="en-US" sz="1500" dirty="0"/>
          </a:p>
        </p:txBody>
      </p:sp>
      <p:sp>
        <p:nvSpPr>
          <p:cNvPr id="29" name="Survives arrest of leaders circle"/>
          <p:cNvSpPr/>
          <p:nvPr/>
        </p:nvSpPr>
        <p:spPr>
          <a:xfrm>
            <a:off x="6530188" y="4050792"/>
            <a:ext cx="457200" cy="457200"/>
          </a:xfrm>
          <a:prstGeom prst="ellipse">
            <a:avLst/>
          </a:prstGeom>
          <a:solidFill>
            <a:srgbClr val="E5383B"/>
          </a:solidFill>
          <a:ln/>
        </p:spPr>
      </p:sp>
      <p:pic>
        <p:nvPicPr>
          <p:cNvPr id="30" name="Survives arrest of leaders icon" descr="Survives arrest of leaders">    </p:cNvPr>
          <p:cNvPicPr>
            <a:picLocks noChangeAspect="1"/>
          </p:cNvPicPr>
          <p:nvPr/>
        </p:nvPicPr>
        <p:blipFill>
          <a:blip r:embed="rId8"/>
          <a:stretch>
            <a:fillRect/>
          </a:stretch>
        </p:blipFill>
        <p:spPr>
          <a:xfrm>
            <a:off x="6639916" y="4160520"/>
            <a:ext cx="237744" cy="237744"/>
          </a:xfrm>
          <a:prstGeom prst="rect">
            <a:avLst/>
          </a:prstGeom>
        </p:spPr>
      </p:pic>
      <p:sp>
        <p:nvSpPr>
          <p:cNvPr id="31" name="Text 21"/>
          <p:cNvSpPr txBox="1"/>
          <p:nvPr/>
        </p:nvSpPr>
        <p:spPr>
          <a:xfrm>
            <a:off x="7124548"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Survives arrest of leaders</a:t>
            </a:r>
            <a:endParaRPr lang="en-US" sz="1500" dirty="0"/>
          </a:p>
          <a:p>
            <a:pPr indent="0" marL="0">
              <a:buNone/>
            </a:pPr>
            <a:r>
              <a:rPr lang="en-US" sz="1300" dirty="0">
                <a:solidFill>
                  <a:srgbClr val="A9ADB5"/>
                </a:solidFill>
              </a:rPr>
              <a:t>Does not fit</a:t>
            </a:r>
            <a:endParaRPr lang="en-US" sz="1500" dirty="0"/>
          </a:p>
        </p:txBody>
      </p:sp>
      <p:sp>
        <p:nvSpPr>
          <p:cNvPr id="32" name="Profit-driven, specialized roles circle"/>
          <p:cNvSpPr/>
          <p:nvPr/>
        </p:nvSpPr>
        <p:spPr>
          <a:xfrm>
            <a:off x="6530188" y="4919472"/>
            <a:ext cx="457200" cy="457200"/>
          </a:xfrm>
          <a:prstGeom prst="ellipse">
            <a:avLst/>
          </a:prstGeom>
          <a:solidFill>
            <a:srgbClr val="4F8A5B"/>
          </a:solidFill>
          <a:ln/>
        </p:spPr>
      </p:sp>
      <p:pic>
        <p:nvPicPr>
          <p:cNvPr id="33" name="Profit-driven, specialized roles icon" descr="Profit-driven, specialized roles">    </p:cNvPr>
          <p:cNvPicPr>
            <a:picLocks noChangeAspect="1"/>
          </p:cNvPicPr>
          <p:nvPr/>
        </p:nvPicPr>
        <p:blipFill>
          <a:blip r:embed="rId9"/>
          <a:stretch>
            <a:fillRect/>
          </a:stretch>
        </p:blipFill>
        <p:spPr>
          <a:xfrm>
            <a:off x="6639916" y="5029200"/>
            <a:ext cx="237744" cy="237744"/>
          </a:xfrm>
          <a:prstGeom prst="rect">
            <a:avLst/>
          </a:prstGeom>
        </p:spPr>
      </p:pic>
      <p:sp>
        <p:nvSpPr>
          <p:cNvPr id="34" name="Text 23"/>
          <p:cNvSpPr txBox="1"/>
          <p:nvPr/>
        </p:nvSpPr>
        <p:spPr>
          <a:xfrm>
            <a:off x="7124548"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Profit-driven, specialized roles</a:t>
            </a:r>
            <a:endParaRPr lang="en-US" sz="1500" dirty="0"/>
          </a:p>
          <a:p>
            <a:pPr indent="0" marL="0">
              <a:buNone/>
            </a:pPr>
            <a:r>
              <a:rPr lang="en-US" sz="1300" dirty="0">
                <a:solidFill>
                  <a:srgbClr val="A9ADB5"/>
                </a:solidFill>
              </a:rPr>
              <a:t>Fits</a:t>
            </a:r>
            <a:endParaRPr lang="en-US" sz="1500" dirty="0"/>
          </a:p>
        </p:txBody>
      </p:sp>
      <p:sp>
        <p:nvSpPr>
          <p:cNvPr id="35" name="subtitle"/>
          <p:cNvSpPr txBox="1"/>
          <p:nvPr/>
        </p:nvSpPr>
        <p:spPr>
          <a:xfrm>
            <a:off x="1005840" y="589788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Our verdict: organized white-collar crime, a legal company committing organized, transnational fraud</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3" fill="hold">
                      <p:stCondLst>
                        <p:cond delay="indefinite"/>
                        <p:cond evt="onBegin" delay="0">
                          <p:tn val="2"/>
                        </p:cond>
                      </p:stCondLst>
                      <p:childTnLst>
                        <p:par>
                          <p:cTn id="164"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31" presetID="53" presetClass="entr" presetSubtype="16"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600" fill="hold"/>
                                        <p:tgtEl>
                                          <p:spTgt spid="7"/>
                                        </p:tgtEl>
                                        <p:attrNameLst>
                                          <p:attrName>ppt_w</p:attrName>
                                        </p:attrNameLst>
                                      </p:cBhvr>
                                      <p:tavLst>
                                        <p:tav tm="0">
                                          <p:val>
                                            <p:strVal val="0"/>
                                          </p:val>
                                        </p:tav>
                                        <p:tav tm="100000">
                                          <p:val>
                                            <p:strVal val="#ppt_w"/>
                                          </p:val>
                                        </p:tav>
                                      </p:tavLst>
                                    </p:anim>
                                    <p:anim calcmode="lin" valueType="num">
                                      <p:cBhvr additive="base">
                                        <p:cTn id="29" dur="600" fill="hold"/>
                                        <p:tgtEl>
                                          <p:spTgt spid="7"/>
                                        </p:tgtEl>
                                        <p:attrNameLst>
                                          <p:attrName>ppt_h</p:attrName>
                                        </p:attrNameLst>
                                      </p:cBhvr>
                                      <p:tavLst>
                                        <p:tav tm="0">
                                          <p:val>
                                            <p:strVal val="0"/>
                                          </p:val>
                                        </p:tav>
                                        <p:tav tm="100000">
                                          <p:val>
                                            <p:strVal val="#ppt_h"/>
                                          </p:val>
                                        </p:tav>
                                      </p:tavLst>
                                    </p:anim>
                                    <p:animEffect transition="in" filter="fade">
                                      <p:cBhvr>
                                        <p:cTn id="30" dur="600"/>
                                        <p:tgtEl>
                                          <p:spTgt spid="7"/>
                                        </p:tgtEl>
                                      </p:cBhvr>
                                    </p:animEffect>
                                  </p:childTnLst>
                                </p:cTn>
                              </p:par>
                              <p:par>
                                <p:cTn id="33" presetID="1" presetClass="entr" presetSubtype="0" fill="hold" grpId="0" nodeType="withEffect">
                                  <p:stCondLst>
                                    <p:cond delay="1400"/>
                                  </p:stCondLst>
                                  <p:iterate type="lt">
                                    <p:tmAbs val="25"/>
                                  </p:iterate>
                                  <p:childTnLst>
                                    <p:set>
                                      <p:cBhvr>
                                        <p:cTn id="32" dur="1" fill="hold">
                                          <p:stCondLst>
                                            <p:cond delay="0"/>
                                          </p:stCondLst>
                                        </p:cTn>
                                        <p:tgtEl>
                                          <p:spTgt spid="8"/>
                                        </p:tgtEl>
                                        <p:attrNameLst>
                                          <p:attrName>style.visibility</p:attrName>
                                        </p:attrNameLst>
                                      </p:cBhvr>
                                      <p:to>
                                        <p:strVal val="visible"/>
                                      </p:to>
                                    </p:set>
                                  </p:childTnLst>
                                </p:cTn>
                              </p:par>
                              <p:par>
                                <p:cTn id="38" presetID="53" presetClass="entr" presetSubtype="32" fill="hold" grpId="0" nodeType="withEffect">
                                  <p:stCondLst>
                                    <p:cond delay="19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400" fill="hold"/>
                                        <p:tgtEl>
                                          <p:spTgt spid="9"/>
                                        </p:tgtEl>
                                        <p:attrNameLst>
                                          <p:attrName>ppt_w</p:attrName>
                                        </p:attrNameLst>
                                      </p:cBhvr>
                                      <p:tavLst>
                                        <p:tav tm="0">
                                          <p:val>
                                            <p:strVal val="#ppt_w*2.4"/>
                                          </p:val>
                                        </p:tav>
                                        <p:tav tm="100000">
                                          <p:val>
                                            <p:strVal val="#ppt_w"/>
                                          </p:val>
                                        </p:tav>
                                      </p:tavLst>
                                    </p:anim>
                                    <p:anim calcmode="lin" valueType="num">
                                      <p:cBhvr additive="base">
                                        <p:cTn id="36" dur="400" fill="hold"/>
                                        <p:tgtEl>
                                          <p:spTgt spid="9"/>
                                        </p:tgtEl>
                                        <p:attrNameLst>
                                          <p:attrName>ppt_h</p:attrName>
                                        </p:attrNameLst>
                                      </p:cBhvr>
                                      <p:tavLst>
                                        <p:tav tm="0">
                                          <p:val>
                                            <p:strVal val="#ppt_h*2.4"/>
                                          </p:val>
                                        </p:tav>
                                        <p:tav tm="100000">
                                          <p:val>
                                            <p:strVal val="#ppt_h"/>
                                          </p:val>
                                        </p:tav>
                                      </p:tavLst>
                                    </p:anim>
                                    <p:animEffect transition="in" filter="fade">
                                      <p:cBhvr>
                                        <p:cTn id="37" dur="400"/>
                                        <p:tgtEl>
                                          <p:spTgt spid="9"/>
                                        </p:tgtEl>
                                      </p:cBhvr>
                                    </p:animEffect>
                                  </p:childTnLst>
                                </p:cTn>
                              </p:par>
                              <p:par>
                                <p:cTn id="43" presetID="53" presetClass="entr" presetSubtype="32" fill="hold" grpId="0" nodeType="withEffect">
                                  <p:stCondLst>
                                    <p:cond delay="19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400" fill="hold"/>
                                        <p:tgtEl>
                                          <p:spTgt spid="10"/>
                                        </p:tgtEl>
                                        <p:attrNameLst>
                                          <p:attrName>ppt_w</p:attrName>
                                        </p:attrNameLst>
                                      </p:cBhvr>
                                      <p:tavLst>
                                        <p:tav tm="0">
                                          <p:val>
                                            <p:strVal val="#ppt_w*2.4"/>
                                          </p:val>
                                        </p:tav>
                                        <p:tav tm="100000">
                                          <p:val>
                                            <p:strVal val="#ppt_w"/>
                                          </p:val>
                                        </p:tav>
                                      </p:tavLst>
                                    </p:anim>
                                    <p:anim calcmode="lin" valueType="num">
                                      <p:cBhvr additive="base">
                                        <p:cTn id="41" dur="400" fill="hold"/>
                                        <p:tgtEl>
                                          <p:spTgt spid="10"/>
                                        </p:tgtEl>
                                        <p:attrNameLst>
                                          <p:attrName>ppt_h</p:attrName>
                                        </p:attrNameLst>
                                      </p:cBhvr>
                                      <p:tavLst>
                                        <p:tav tm="0">
                                          <p:val>
                                            <p:strVal val="#ppt_h*2.4"/>
                                          </p:val>
                                        </p:tav>
                                        <p:tav tm="100000">
                                          <p:val>
                                            <p:strVal val="#ppt_h"/>
                                          </p:val>
                                        </p:tav>
                                      </p:tavLst>
                                    </p:anim>
                                    <p:animEffect transition="in" filter="fade">
                                      <p:cBhvr>
                                        <p:cTn id="42" dur="400"/>
                                        <p:tgtEl>
                                          <p:spTgt spid="10"/>
                                        </p:tgtEl>
                                      </p:cBhvr>
                                    </p:animEffect>
                                  </p:childTnLst>
                                </p:cTn>
                              </p:par>
                              <p:par>
                                <p:cTn id="48" presetID="42" presetClass="entr" presetSubtype="0" fill="hold" grpId="0" nodeType="withEffect">
                                  <p:stCondLst>
                                    <p:cond delay="19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additive="base">
                                        <p:cTn id="46" dur="500" fill="hold"/>
                                        <p:tgtEl>
                                          <p:spTgt spid="11"/>
                                        </p:tgtEl>
                                        <p:attrNameLst>
                                          <p:attrName>ppt_x</p:attrName>
                                        </p:attrNameLst>
                                      </p:cBhvr>
                                      <p:tavLst>
                                        <p:tav tm="0">
                                          <p:val>
                                            <p:strVal val="#ppt_x"/>
                                          </p:val>
                                        </p:tav>
                                        <p:tav tm="100000">
                                          <p:val>
                                            <p:strVal val="#ppt_x"/>
                                          </p:val>
                                        </p:tav>
                                      </p:tavLst>
                                    </p:anim>
                                    <p:anim calcmode="lin" valueType="num">
                                      <p:cBhvr additive="base">
                                        <p:cTn id="47" dur="500" fill="hold"/>
                                        <p:tgtEl>
                                          <p:spTgt spid="11"/>
                                        </p:tgtEl>
                                        <p:attrNameLst>
                                          <p:attrName>ppt_y</p:attrName>
                                        </p:attrNameLst>
                                      </p:cBhvr>
                                      <p:tavLst>
                                        <p:tav tm="0">
                                          <p:val>
                                            <p:strVal val="#ppt_y+.06"/>
                                          </p:val>
                                        </p:tav>
                                        <p:tav tm="100000">
                                          <p:val>
                                            <p:strVal val="#ppt_y"/>
                                          </p:val>
                                        </p:tav>
                                      </p:tavLst>
                                    </p:anim>
                                  </p:childTnLst>
                                </p:cTn>
                              </p:par>
                              <p:par>
                                <p:cTn id="53" presetID="53" presetClass="entr" presetSubtype="32" fill="hold" grpId="0" nodeType="withEffect">
                                  <p:stCondLst>
                                    <p:cond delay="235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00" fill="hold"/>
                                        <p:tgtEl>
                                          <p:spTgt spid="12"/>
                                        </p:tgtEl>
                                        <p:attrNameLst>
                                          <p:attrName>ppt_w</p:attrName>
                                        </p:attrNameLst>
                                      </p:cBhvr>
                                      <p:tavLst>
                                        <p:tav tm="0">
                                          <p:val>
                                            <p:strVal val="#ppt_w*2.4"/>
                                          </p:val>
                                        </p:tav>
                                        <p:tav tm="100000">
                                          <p:val>
                                            <p:strVal val="#ppt_w"/>
                                          </p:val>
                                        </p:tav>
                                      </p:tavLst>
                                    </p:anim>
                                    <p:anim calcmode="lin" valueType="num">
                                      <p:cBhvr additive="base">
                                        <p:cTn id="51" dur="400" fill="hold"/>
                                        <p:tgtEl>
                                          <p:spTgt spid="12"/>
                                        </p:tgtEl>
                                        <p:attrNameLst>
                                          <p:attrName>ppt_h</p:attrName>
                                        </p:attrNameLst>
                                      </p:cBhvr>
                                      <p:tavLst>
                                        <p:tav tm="0">
                                          <p:val>
                                            <p:strVal val="#ppt_h*2.4"/>
                                          </p:val>
                                        </p:tav>
                                        <p:tav tm="100000">
                                          <p:val>
                                            <p:strVal val="#ppt_h"/>
                                          </p:val>
                                        </p:tav>
                                      </p:tavLst>
                                    </p:anim>
                                    <p:animEffect transition="in" filter="fade">
                                      <p:cBhvr>
                                        <p:cTn id="52" dur="400"/>
                                        <p:tgtEl>
                                          <p:spTgt spid="12"/>
                                        </p:tgtEl>
                                      </p:cBhvr>
                                    </p:animEffect>
                                  </p:childTnLst>
                                </p:cTn>
                              </p:par>
                              <p:par>
                                <p:cTn id="58" presetID="53" presetClass="entr" presetSubtype="32" fill="hold" grpId="0" nodeType="withEffect">
                                  <p:stCondLst>
                                    <p:cond delay="235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400" fill="hold"/>
                                        <p:tgtEl>
                                          <p:spTgt spid="13"/>
                                        </p:tgtEl>
                                        <p:attrNameLst>
                                          <p:attrName>ppt_w</p:attrName>
                                        </p:attrNameLst>
                                      </p:cBhvr>
                                      <p:tavLst>
                                        <p:tav tm="0">
                                          <p:val>
                                            <p:strVal val="#ppt_w*2.4"/>
                                          </p:val>
                                        </p:tav>
                                        <p:tav tm="100000">
                                          <p:val>
                                            <p:strVal val="#ppt_w"/>
                                          </p:val>
                                        </p:tav>
                                      </p:tavLst>
                                    </p:anim>
                                    <p:anim calcmode="lin" valueType="num">
                                      <p:cBhvr additive="base">
                                        <p:cTn id="56" dur="400" fill="hold"/>
                                        <p:tgtEl>
                                          <p:spTgt spid="13"/>
                                        </p:tgtEl>
                                        <p:attrNameLst>
                                          <p:attrName>ppt_h</p:attrName>
                                        </p:attrNameLst>
                                      </p:cBhvr>
                                      <p:tavLst>
                                        <p:tav tm="0">
                                          <p:val>
                                            <p:strVal val="#ppt_h*2.4"/>
                                          </p:val>
                                        </p:tav>
                                        <p:tav tm="100000">
                                          <p:val>
                                            <p:strVal val="#ppt_h"/>
                                          </p:val>
                                        </p:tav>
                                      </p:tavLst>
                                    </p:anim>
                                    <p:animEffect transition="in" filter="fade">
                                      <p:cBhvr>
                                        <p:cTn id="57" dur="400"/>
                                        <p:tgtEl>
                                          <p:spTgt spid="13"/>
                                        </p:tgtEl>
                                      </p:cBhvr>
                                    </p:animEffect>
                                  </p:childTnLst>
                                </p:cTn>
                              </p:par>
                              <p:par>
                                <p:cTn id="63" presetID="42" presetClass="entr" presetSubtype="0" fill="hold" grpId="0" nodeType="withEffect">
                                  <p:stCondLst>
                                    <p:cond delay="235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6"/>
                                          </p:val>
                                        </p:tav>
                                        <p:tav tm="100000">
                                          <p:val>
                                            <p:strVal val="#ppt_y"/>
                                          </p:val>
                                        </p:tav>
                                      </p:tavLst>
                                    </p:anim>
                                  </p:childTnLst>
                                </p:cTn>
                              </p:par>
                              <p:par>
                                <p:cTn id="68" presetID="53" presetClass="entr" presetSubtype="32" fill="hold" grpId="0" nodeType="withEffect">
                                  <p:stCondLst>
                                    <p:cond delay="280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400" fill="hold"/>
                                        <p:tgtEl>
                                          <p:spTgt spid="15"/>
                                        </p:tgtEl>
                                        <p:attrNameLst>
                                          <p:attrName>ppt_w</p:attrName>
                                        </p:attrNameLst>
                                      </p:cBhvr>
                                      <p:tavLst>
                                        <p:tav tm="0">
                                          <p:val>
                                            <p:strVal val="#ppt_w*2.4"/>
                                          </p:val>
                                        </p:tav>
                                        <p:tav tm="100000">
                                          <p:val>
                                            <p:strVal val="#ppt_w"/>
                                          </p:val>
                                        </p:tav>
                                      </p:tavLst>
                                    </p:anim>
                                    <p:anim calcmode="lin" valueType="num">
                                      <p:cBhvr additive="base">
                                        <p:cTn id="66" dur="400" fill="hold"/>
                                        <p:tgtEl>
                                          <p:spTgt spid="15"/>
                                        </p:tgtEl>
                                        <p:attrNameLst>
                                          <p:attrName>ppt_h</p:attrName>
                                        </p:attrNameLst>
                                      </p:cBhvr>
                                      <p:tavLst>
                                        <p:tav tm="0">
                                          <p:val>
                                            <p:strVal val="#ppt_h*2.4"/>
                                          </p:val>
                                        </p:tav>
                                        <p:tav tm="100000">
                                          <p:val>
                                            <p:strVal val="#ppt_h"/>
                                          </p:val>
                                        </p:tav>
                                      </p:tavLst>
                                    </p:anim>
                                    <p:animEffect transition="in" filter="fade">
                                      <p:cBhvr>
                                        <p:cTn id="67" dur="400"/>
                                        <p:tgtEl>
                                          <p:spTgt spid="15"/>
                                        </p:tgtEl>
                                      </p:cBhvr>
                                    </p:animEffect>
                                  </p:childTnLst>
                                </p:cTn>
                              </p:par>
                              <p:par>
                                <p:cTn id="73" presetID="53" presetClass="entr" presetSubtype="32" fill="hold" grpId="0" nodeType="withEffect">
                                  <p:stCondLst>
                                    <p:cond delay="28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400" fill="hold"/>
                                        <p:tgtEl>
                                          <p:spTgt spid="16"/>
                                        </p:tgtEl>
                                        <p:attrNameLst>
                                          <p:attrName>ppt_w</p:attrName>
                                        </p:attrNameLst>
                                      </p:cBhvr>
                                      <p:tavLst>
                                        <p:tav tm="0">
                                          <p:val>
                                            <p:strVal val="#ppt_w*2.4"/>
                                          </p:val>
                                        </p:tav>
                                        <p:tav tm="100000">
                                          <p:val>
                                            <p:strVal val="#ppt_w"/>
                                          </p:val>
                                        </p:tav>
                                      </p:tavLst>
                                    </p:anim>
                                    <p:anim calcmode="lin" valueType="num">
                                      <p:cBhvr additive="base">
                                        <p:cTn id="71" dur="400" fill="hold"/>
                                        <p:tgtEl>
                                          <p:spTgt spid="16"/>
                                        </p:tgtEl>
                                        <p:attrNameLst>
                                          <p:attrName>ppt_h</p:attrName>
                                        </p:attrNameLst>
                                      </p:cBhvr>
                                      <p:tavLst>
                                        <p:tav tm="0">
                                          <p:val>
                                            <p:strVal val="#ppt_h*2.4"/>
                                          </p:val>
                                        </p:tav>
                                        <p:tav tm="100000">
                                          <p:val>
                                            <p:strVal val="#ppt_h"/>
                                          </p:val>
                                        </p:tav>
                                      </p:tavLst>
                                    </p:anim>
                                    <p:animEffect transition="in" filter="fade">
                                      <p:cBhvr>
                                        <p:cTn id="72" dur="400"/>
                                        <p:tgtEl>
                                          <p:spTgt spid="16"/>
                                        </p:tgtEl>
                                      </p:cBhvr>
                                    </p:animEffect>
                                  </p:childTnLst>
                                </p:cTn>
                              </p:par>
                              <p:par>
                                <p:cTn id="78" presetID="42" presetClass="entr" presetSubtype="0" fill="hold" grpId="0" nodeType="withEffect">
                                  <p:stCondLst>
                                    <p:cond delay="280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anim calcmode="lin" valueType="num">
                                      <p:cBhvr additive="base">
                                        <p:cTn id="76" dur="500" fill="hold"/>
                                        <p:tgtEl>
                                          <p:spTgt spid="17"/>
                                        </p:tgtEl>
                                        <p:attrNameLst>
                                          <p:attrName>ppt_x</p:attrName>
                                        </p:attrNameLst>
                                      </p:cBhvr>
                                      <p:tavLst>
                                        <p:tav tm="0">
                                          <p:val>
                                            <p:strVal val="#ppt_x"/>
                                          </p:val>
                                        </p:tav>
                                        <p:tav tm="100000">
                                          <p:val>
                                            <p:strVal val="#ppt_x"/>
                                          </p:val>
                                        </p:tav>
                                      </p:tavLst>
                                    </p:anim>
                                    <p:anim calcmode="lin" valueType="num">
                                      <p:cBhvr additive="base">
                                        <p:cTn id="77" dur="500" fill="hold"/>
                                        <p:tgtEl>
                                          <p:spTgt spid="17"/>
                                        </p:tgtEl>
                                        <p:attrNameLst>
                                          <p:attrName>ppt_y</p:attrName>
                                        </p:attrNameLst>
                                      </p:cBhvr>
                                      <p:tavLst>
                                        <p:tav tm="0">
                                          <p:val>
                                            <p:strVal val="#ppt_y+.06"/>
                                          </p:val>
                                        </p:tav>
                                        <p:tav tm="100000">
                                          <p:val>
                                            <p:strVal val="#ppt_y"/>
                                          </p:val>
                                        </p:tav>
                                      </p:tavLst>
                                    </p:anim>
                                  </p:childTnLst>
                                </p:cTn>
                              </p:par>
                              <p:par>
                                <p:cTn id="83" presetID="53" presetClass="entr" presetSubtype="32" fill="hold" grpId="0" nodeType="withEffect">
                                  <p:stCondLst>
                                    <p:cond delay="325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400" fill="hold"/>
                                        <p:tgtEl>
                                          <p:spTgt spid="18"/>
                                        </p:tgtEl>
                                        <p:attrNameLst>
                                          <p:attrName>ppt_w</p:attrName>
                                        </p:attrNameLst>
                                      </p:cBhvr>
                                      <p:tavLst>
                                        <p:tav tm="0">
                                          <p:val>
                                            <p:strVal val="#ppt_w*2.4"/>
                                          </p:val>
                                        </p:tav>
                                        <p:tav tm="100000">
                                          <p:val>
                                            <p:strVal val="#ppt_w"/>
                                          </p:val>
                                        </p:tav>
                                      </p:tavLst>
                                    </p:anim>
                                    <p:anim calcmode="lin" valueType="num">
                                      <p:cBhvr additive="base">
                                        <p:cTn id="81" dur="400" fill="hold"/>
                                        <p:tgtEl>
                                          <p:spTgt spid="18"/>
                                        </p:tgtEl>
                                        <p:attrNameLst>
                                          <p:attrName>ppt_h</p:attrName>
                                        </p:attrNameLst>
                                      </p:cBhvr>
                                      <p:tavLst>
                                        <p:tav tm="0">
                                          <p:val>
                                            <p:strVal val="#ppt_h*2.4"/>
                                          </p:val>
                                        </p:tav>
                                        <p:tav tm="100000">
                                          <p:val>
                                            <p:strVal val="#ppt_h"/>
                                          </p:val>
                                        </p:tav>
                                      </p:tavLst>
                                    </p:anim>
                                    <p:animEffect transition="in" filter="fade">
                                      <p:cBhvr>
                                        <p:cTn id="82" dur="400"/>
                                        <p:tgtEl>
                                          <p:spTgt spid="18"/>
                                        </p:tgtEl>
                                      </p:cBhvr>
                                    </p:animEffect>
                                  </p:childTnLst>
                                </p:cTn>
                              </p:par>
                              <p:par>
                                <p:cTn id="88" presetID="53" presetClass="entr" presetSubtype="32" fill="hold" grpId="0" nodeType="withEffect">
                                  <p:stCondLst>
                                    <p:cond delay="325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400" fill="hold"/>
                                        <p:tgtEl>
                                          <p:spTgt spid="19"/>
                                        </p:tgtEl>
                                        <p:attrNameLst>
                                          <p:attrName>ppt_w</p:attrName>
                                        </p:attrNameLst>
                                      </p:cBhvr>
                                      <p:tavLst>
                                        <p:tav tm="0">
                                          <p:val>
                                            <p:strVal val="#ppt_w*2.4"/>
                                          </p:val>
                                        </p:tav>
                                        <p:tav tm="100000">
                                          <p:val>
                                            <p:strVal val="#ppt_w"/>
                                          </p:val>
                                        </p:tav>
                                      </p:tavLst>
                                    </p:anim>
                                    <p:anim calcmode="lin" valueType="num">
                                      <p:cBhvr additive="base">
                                        <p:cTn id="86" dur="400" fill="hold"/>
                                        <p:tgtEl>
                                          <p:spTgt spid="19"/>
                                        </p:tgtEl>
                                        <p:attrNameLst>
                                          <p:attrName>ppt_h</p:attrName>
                                        </p:attrNameLst>
                                      </p:cBhvr>
                                      <p:tavLst>
                                        <p:tav tm="0">
                                          <p:val>
                                            <p:strVal val="#ppt_h*2.4"/>
                                          </p:val>
                                        </p:tav>
                                        <p:tav tm="100000">
                                          <p:val>
                                            <p:strVal val="#ppt_h"/>
                                          </p:val>
                                        </p:tav>
                                      </p:tavLst>
                                    </p:anim>
                                    <p:animEffect transition="in" filter="fade">
                                      <p:cBhvr>
                                        <p:cTn id="87" dur="400"/>
                                        <p:tgtEl>
                                          <p:spTgt spid="19"/>
                                        </p:tgtEl>
                                      </p:cBhvr>
                                    </p:animEffect>
                                  </p:childTnLst>
                                </p:cTn>
                              </p:par>
                              <p:par>
                                <p:cTn id="93" presetID="42" presetClass="entr" presetSubtype="0" fill="hold" grpId="0" nodeType="withEffect">
                                  <p:stCondLst>
                                    <p:cond delay="325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ppt_y+.06"/>
                                          </p:val>
                                        </p:tav>
                                        <p:tav tm="100000">
                                          <p:val>
                                            <p:strVal val="#ppt_y"/>
                                          </p:val>
                                        </p:tav>
                                      </p:tavLst>
                                    </p:anim>
                                  </p:childTnLst>
                                </p:cTn>
                              </p:par>
                              <p:par>
                                <p:cTn id="98" presetID="53" presetClass="entr" presetSubtype="16" fill="hold" grpId="0" nodeType="withEffect">
                                  <p:stCondLst>
                                    <p:cond delay="330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600" fill="hold"/>
                                        <p:tgtEl>
                                          <p:spTgt spid="21"/>
                                        </p:tgtEl>
                                        <p:attrNameLst>
                                          <p:attrName>ppt_w</p:attrName>
                                        </p:attrNameLst>
                                      </p:cBhvr>
                                      <p:tavLst>
                                        <p:tav tm="0">
                                          <p:val>
                                            <p:strVal val="0"/>
                                          </p:val>
                                        </p:tav>
                                        <p:tav tm="100000">
                                          <p:val>
                                            <p:strVal val="#ppt_w"/>
                                          </p:val>
                                        </p:tav>
                                      </p:tavLst>
                                    </p:anim>
                                    <p:anim calcmode="lin" valueType="num">
                                      <p:cBhvr additive="base">
                                        <p:cTn id="96" dur="600" fill="hold"/>
                                        <p:tgtEl>
                                          <p:spTgt spid="21"/>
                                        </p:tgtEl>
                                        <p:attrNameLst>
                                          <p:attrName>ppt_h</p:attrName>
                                        </p:attrNameLst>
                                      </p:cBhvr>
                                      <p:tavLst>
                                        <p:tav tm="0">
                                          <p:val>
                                            <p:strVal val="0"/>
                                          </p:val>
                                        </p:tav>
                                        <p:tav tm="100000">
                                          <p:val>
                                            <p:strVal val="#ppt_h"/>
                                          </p:val>
                                        </p:tav>
                                      </p:tavLst>
                                    </p:anim>
                                    <p:animEffect transition="in" filter="fade">
                                      <p:cBhvr>
                                        <p:cTn id="97" dur="600"/>
                                        <p:tgtEl>
                                          <p:spTgt spid="21"/>
                                        </p:tgtEl>
                                      </p:cBhvr>
                                    </p:animEffect>
                                  </p:childTnLst>
                                </p:cTn>
                              </p:par>
                              <p:par>
                                <p:cTn id="100" presetID="1" presetClass="entr" presetSubtype="0" fill="hold" grpId="0" nodeType="withEffect">
                                  <p:stCondLst>
                                    <p:cond delay="3800"/>
                                  </p:stCondLst>
                                  <p:iterate type="lt">
                                    <p:tmAbs val="25"/>
                                  </p:iterate>
                                  <p:childTnLst>
                                    <p:set>
                                      <p:cBhvr>
                                        <p:cTn id="99" dur="1" fill="hold">
                                          <p:stCondLst>
                                            <p:cond delay="0"/>
                                          </p:stCondLst>
                                        </p:cTn>
                                        <p:tgtEl>
                                          <p:spTgt spid="22"/>
                                        </p:tgtEl>
                                        <p:attrNameLst>
                                          <p:attrName>style.visibility</p:attrName>
                                        </p:attrNameLst>
                                      </p:cBhvr>
                                      <p:to>
                                        <p:strVal val="visible"/>
                                      </p:to>
                                    </p:set>
                                  </p:childTnLst>
                                </p:cTn>
                              </p:par>
                              <p:par>
                                <p:cTn id="105" presetID="53" presetClass="entr" presetSubtype="32" fill="hold" grpId="0" nodeType="withEffect">
                                  <p:stCondLst>
                                    <p:cond delay="430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400" fill="hold"/>
                                        <p:tgtEl>
                                          <p:spTgt spid="23"/>
                                        </p:tgtEl>
                                        <p:attrNameLst>
                                          <p:attrName>ppt_w</p:attrName>
                                        </p:attrNameLst>
                                      </p:cBhvr>
                                      <p:tavLst>
                                        <p:tav tm="0">
                                          <p:val>
                                            <p:strVal val="#ppt_w*2.4"/>
                                          </p:val>
                                        </p:tav>
                                        <p:tav tm="100000">
                                          <p:val>
                                            <p:strVal val="#ppt_w"/>
                                          </p:val>
                                        </p:tav>
                                      </p:tavLst>
                                    </p:anim>
                                    <p:anim calcmode="lin" valueType="num">
                                      <p:cBhvr additive="base">
                                        <p:cTn id="103" dur="400" fill="hold"/>
                                        <p:tgtEl>
                                          <p:spTgt spid="23"/>
                                        </p:tgtEl>
                                        <p:attrNameLst>
                                          <p:attrName>ppt_h</p:attrName>
                                        </p:attrNameLst>
                                      </p:cBhvr>
                                      <p:tavLst>
                                        <p:tav tm="0">
                                          <p:val>
                                            <p:strVal val="#ppt_h*2.4"/>
                                          </p:val>
                                        </p:tav>
                                        <p:tav tm="100000">
                                          <p:val>
                                            <p:strVal val="#ppt_h"/>
                                          </p:val>
                                        </p:tav>
                                      </p:tavLst>
                                    </p:anim>
                                    <p:animEffect transition="in" filter="fade">
                                      <p:cBhvr>
                                        <p:cTn id="104" dur="400"/>
                                        <p:tgtEl>
                                          <p:spTgt spid="23"/>
                                        </p:tgtEl>
                                      </p:cBhvr>
                                    </p:animEffect>
                                  </p:childTnLst>
                                </p:cTn>
                              </p:par>
                              <p:par>
                                <p:cTn id="110" presetID="53" presetClass="entr" presetSubtype="32" fill="hold" grpId="0" nodeType="withEffect">
                                  <p:stCondLst>
                                    <p:cond delay="430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400" fill="hold"/>
                                        <p:tgtEl>
                                          <p:spTgt spid="24"/>
                                        </p:tgtEl>
                                        <p:attrNameLst>
                                          <p:attrName>ppt_w</p:attrName>
                                        </p:attrNameLst>
                                      </p:cBhvr>
                                      <p:tavLst>
                                        <p:tav tm="0">
                                          <p:val>
                                            <p:strVal val="#ppt_w*2.4"/>
                                          </p:val>
                                        </p:tav>
                                        <p:tav tm="100000">
                                          <p:val>
                                            <p:strVal val="#ppt_w"/>
                                          </p:val>
                                        </p:tav>
                                      </p:tavLst>
                                    </p:anim>
                                    <p:anim calcmode="lin" valueType="num">
                                      <p:cBhvr additive="base">
                                        <p:cTn id="108" dur="400" fill="hold"/>
                                        <p:tgtEl>
                                          <p:spTgt spid="24"/>
                                        </p:tgtEl>
                                        <p:attrNameLst>
                                          <p:attrName>ppt_h</p:attrName>
                                        </p:attrNameLst>
                                      </p:cBhvr>
                                      <p:tavLst>
                                        <p:tav tm="0">
                                          <p:val>
                                            <p:strVal val="#ppt_h*2.4"/>
                                          </p:val>
                                        </p:tav>
                                        <p:tav tm="100000">
                                          <p:val>
                                            <p:strVal val="#ppt_h"/>
                                          </p:val>
                                        </p:tav>
                                      </p:tavLst>
                                    </p:anim>
                                    <p:animEffect transition="in" filter="fade">
                                      <p:cBhvr>
                                        <p:cTn id="109" dur="400"/>
                                        <p:tgtEl>
                                          <p:spTgt spid="24"/>
                                        </p:tgtEl>
                                      </p:cBhvr>
                                    </p:animEffect>
                                  </p:childTnLst>
                                </p:cTn>
                              </p:par>
                              <p:par>
                                <p:cTn id="115" presetID="42" presetClass="entr" presetSubtype="0" fill="hold" grpId="0" nodeType="withEffect">
                                  <p:stCondLst>
                                    <p:cond delay="430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6"/>
                                          </p:val>
                                        </p:tav>
                                        <p:tav tm="100000">
                                          <p:val>
                                            <p:strVal val="#ppt_y"/>
                                          </p:val>
                                        </p:tav>
                                      </p:tavLst>
                                    </p:anim>
                                  </p:childTnLst>
                                </p:cTn>
                              </p:par>
                              <p:par>
                                <p:cTn id="120" presetID="53" presetClass="entr" presetSubtype="32" fill="hold" grpId="0" nodeType="withEffect">
                                  <p:stCondLst>
                                    <p:cond delay="475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400" fill="hold"/>
                                        <p:tgtEl>
                                          <p:spTgt spid="26"/>
                                        </p:tgtEl>
                                        <p:attrNameLst>
                                          <p:attrName>ppt_w</p:attrName>
                                        </p:attrNameLst>
                                      </p:cBhvr>
                                      <p:tavLst>
                                        <p:tav tm="0">
                                          <p:val>
                                            <p:strVal val="#ppt_w*2.4"/>
                                          </p:val>
                                        </p:tav>
                                        <p:tav tm="100000">
                                          <p:val>
                                            <p:strVal val="#ppt_w"/>
                                          </p:val>
                                        </p:tav>
                                      </p:tavLst>
                                    </p:anim>
                                    <p:anim calcmode="lin" valueType="num">
                                      <p:cBhvr additive="base">
                                        <p:cTn id="118" dur="400" fill="hold"/>
                                        <p:tgtEl>
                                          <p:spTgt spid="26"/>
                                        </p:tgtEl>
                                        <p:attrNameLst>
                                          <p:attrName>ppt_h</p:attrName>
                                        </p:attrNameLst>
                                      </p:cBhvr>
                                      <p:tavLst>
                                        <p:tav tm="0">
                                          <p:val>
                                            <p:strVal val="#ppt_h*2.4"/>
                                          </p:val>
                                        </p:tav>
                                        <p:tav tm="100000">
                                          <p:val>
                                            <p:strVal val="#ppt_h"/>
                                          </p:val>
                                        </p:tav>
                                      </p:tavLst>
                                    </p:anim>
                                    <p:animEffect transition="in" filter="fade">
                                      <p:cBhvr>
                                        <p:cTn id="119" dur="400"/>
                                        <p:tgtEl>
                                          <p:spTgt spid="26"/>
                                        </p:tgtEl>
                                      </p:cBhvr>
                                    </p:animEffect>
                                  </p:childTnLst>
                                </p:cTn>
                              </p:par>
                              <p:par>
                                <p:cTn id="125" presetID="53" presetClass="entr" presetSubtype="32" fill="hold" grpId="0" nodeType="withEffect">
                                  <p:stCondLst>
                                    <p:cond delay="475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400" fill="hold"/>
                                        <p:tgtEl>
                                          <p:spTgt spid="27"/>
                                        </p:tgtEl>
                                        <p:attrNameLst>
                                          <p:attrName>ppt_w</p:attrName>
                                        </p:attrNameLst>
                                      </p:cBhvr>
                                      <p:tavLst>
                                        <p:tav tm="0">
                                          <p:val>
                                            <p:strVal val="#ppt_w*2.4"/>
                                          </p:val>
                                        </p:tav>
                                        <p:tav tm="100000">
                                          <p:val>
                                            <p:strVal val="#ppt_w"/>
                                          </p:val>
                                        </p:tav>
                                      </p:tavLst>
                                    </p:anim>
                                    <p:anim calcmode="lin" valueType="num">
                                      <p:cBhvr additive="base">
                                        <p:cTn id="123" dur="400" fill="hold"/>
                                        <p:tgtEl>
                                          <p:spTgt spid="27"/>
                                        </p:tgtEl>
                                        <p:attrNameLst>
                                          <p:attrName>ppt_h</p:attrName>
                                        </p:attrNameLst>
                                      </p:cBhvr>
                                      <p:tavLst>
                                        <p:tav tm="0">
                                          <p:val>
                                            <p:strVal val="#ppt_h*2.4"/>
                                          </p:val>
                                        </p:tav>
                                        <p:tav tm="100000">
                                          <p:val>
                                            <p:strVal val="#ppt_h"/>
                                          </p:val>
                                        </p:tav>
                                      </p:tavLst>
                                    </p:anim>
                                    <p:animEffect transition="in" filter="fade">
                                      <p:cBhvr>
                                        <p:cTn id="124" dur="400"/>
                                        <p:tgtEl>
                                          <p:spTgt spid="27"/>
                                        </p:tgtEl>
                                      </p:cBhvr>
                                    </p:animEffect>
                                  </p:childTnLst>
                                </p:cTn>
                              </p:par>
                              <p:par>
                                <p:cTn id="130" presetID="42" presetClass="entr" presetSubtype="0" fill="hold" grpId="0" nodeType="withEffect">
                                  <p:stCondLst>
                                    <p:cond delay="475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additive="base">
                                        <p:cTn id="128" dur="500" fill="hold"/>
                                        <p:tgtEl>
                                          <p:spTgt spid="28"/>
                                        </p:tgtEl>
                                        <p:attrNameLst>
                                          <p:attrName>ppt_x</p:attrName>
                                        </p:attrNameLst>
                                      </p:cBhvr>
                                      <p:tavLst>
                                        <p:tav tm="0">
                                          <p:val>
                                            <p:strVal val="#ppt_x"/>
                                          </p:val>
                                        </p:tav>
                                        <p:tav tm="100000">
                                          <p:val>
                                            <p:strVal val="#ppt_x"/>
                                          </p:val>
                                        </p:tav>
                                      </p:tavLst>
                                    </p:anim>
                                    <p:anim calcmode="lin" valueType="num">
                                      <p:cBhvr additive="base">
                                        <p:cTn id="129" dur="500" fill="hold"/>
                                        <p:tgtEl>
                                          <p:spTgt spid="28"/>
                                        </p:tgtEl>
                                        <p:attrNameLst>
                                          <p:attrName>ppt_y</p:attrName>
                                        </p:attrNameLst>
                                      </p:cBhvr>
                                      <p:tavLst>
                                        <p:tav tm="0">
                                          <p:val>
                                            <p:strVal val="#ppt_y+.06"/>
                                          </p:val>
                                        </p:tav>
                                        <p:tav tm="100000">
                                          <p:val>
                                            <p:strVal val="#ppt_y"/>
                                          </p:val>
                                        </p:tav>
                                      </p:tavLst>
                                    </p:anim>
                                  </p:childTnLst>
                                </p:cTn>
                              </p:par>
                              <p:par>
                                <p:cTn id="135" presetID="53" presetClass="entr" presetSubtype="32" fill="hold" grpId="0" nodeType="withEffect">
                                  <p:stCondLst>
                                    <p:cond delay="520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400" fill="hold"/>
                                        <p:tgtEl>
                                          <p:spTgt spid="29"/>
                                        </p:tgtEl>
                                        <p:attrNameLst>
                                          <p:attrName>ppt_w</p:attrName>
                                        </p:attrNameLst>
                                      </p:cBhvr>
                                      <p:tavLst>
                                        <p:tav tm="0">
                                          <p:val>
                                            <p:strVal val="#ppt_w*2.4"/>
                                          </p:val>
                                        </p:tav>
                                        <p:tav tm="100000">
                                          <p:val>
                                            <p:strVal val="#ppt_w"/>
                                          </p:val>
                                        </p:tav>
                                      </p:tavLst>
                                    </p:anim>
                                    <p:anim calcmode="lin" valueType="num">
                                      <p:cBhvr additive="base">
                                        <p:cTn id="133" dur="400" fill="hold"/>
                                        <p:tgtEl>
                                          <p:spTgt spid="29"/>
                                        </p:tgtEl>
                                        <p:attrNameLst>
                                          <p:attrName>ppt_h</p:attrName>
                                        </p:attrNameLst>
                                      </p:cBhvr>
                                      <p:tavLst>
                                        <p:tav tm="0">
                                          <p:val>
                                            <p:strVal val="#ppt_h*2.4"/>
                                          </p:val>
                                        </p:tav>
                                        <p:tav tm="100000">
                                          <p:val>
                                            <p:strVal val="#ppt_h"/>
                                          </p:val>
                                        </p:tav>
                                      </p:tavLst>
                                    </p:anim>
                                    <p:animEffect transition="in" filter="fade">
                                      <p:cBhvr>
                                        <p:cTn id="134" dur="400"/>
                                        <p:tgtEl>
                                          <p:spTgt spid="29"/>
                                        </p:tgtEl>
                                      </p:cBhvr>
                                    </p:animEffect>
                                  </p:childTnLst>
                                </p:cTn>
                              </p:par>
                              <p:par>
                                <p:cTn id="140" presetID="53" presetClass="entr" presetSubtype="32" fill="hold" grpId="0" nodeType="withEffect">
                                  <p:stCondLst>
                                    <p:cond delay="520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400" fill="hold"/>
                                        <p:tgtEl>
                                          <p:spTgt spid="30"/>
                                        </p:tgtEl>
                                        <p:attrNameLst>
                                          <p:attrName>ppt_w</p:attrName>
                                        </p:attrNameLst>
                                      </p:cBhvr>
                                      <p:tavLst>
                                        <p:tav tm="0">
                                          <p:val>
                                            <p:strVal val="#ppt_w*2.4"/>
                                          </p:val>
                                        </p:tav>
                                        <p:tav tm="100000">
                                          <p:val>
                                            <p:strVal val="#ppt_w"/>
                                          </p:val>
                                        </p:tav>
                                      </p:tavLst>
                                    </p:anim>
                                    <p:anim calcmode="lin" valueType="num">
                                      <p:cBhvr additive="base">
                                        <p:cTn id="138" dur="400" fill="hold"/>
                                        <p:tgtEl>
                                          <p:spTgt spid="30"/>
                                        </p:tgtEl>
                                        <p:attrNameLst>
                                          <p:attrName>ppt_h</p:attrName>
                                        </p:attrNameLst>
                                      </p:cBhvr>
                                      <p:tavLst>
                                        <p:tav tm="0">
                                          <p:val>
                                            <p:strVal val="#ppt_h*2.4"/>
                                          </p:val>
                                        </p:tav>
                                        <p:tav tm="100000">
                                          <p:val>
                                            <p:strVal val="#ppt_h"/>
                                          </p:val>
                                        </p:tav>
                                      </p:tavLst>
                                    </p:anim>
                                    <p:animEffect transition="in" filter="fade">
                                      <p:cBhvr>
                                        <p:cTn id="139" dur="400"/>
                                        <p:tgtEl>
                                          <p:spTgt spid="30"/>
                                        </p:tgtEl>
                                      </p:cBhvr>
                                    </p:animEffect>
                                  </p:childTnLst>
                                </p:cTn>
                              </p:par>
                              <p:par>
                                <p:cTn id="145" presetID="42" presetClass="entr" presetSubtype="0" fill="hold" grpId="0" nodeType="withEffect">
                                  <p:stCondLst>
                                    <p:cond delay="520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additive="base">
                                        <p:cTn id="143" dur="500" fill="hold"/>
                                        <p:tgtEl>
                                          <p:spTgt spid="31"/>
                                        </p:tgtEl>
                                        <p:attrNameLst>
                                          <p:attrName>ppt_x</p:attrName>
                                        </p:attrNameLst>
                                      </p:cBhvr>
                                      <p:tavLst>
                                        <p:tav tm="0">
                                          <p:val>
                                            <p:strVal val="#ppt_x"/>
                                          </p:val>
                                        </p:tav>
                                        <p:tav tm="100000">
                                          <p:val>
                                            <p:strVal val="#ppt_x"/>
                                          </p:val>
                                        </p:tav>
                                      </p:tavLst>
                                    </p:anim>
                                    <p:anim calcmode="lin" valueType="num">
                                      <p:cBhvr additive="base">
                                        <p:cTn id="144" dur="500" fill="hold"/>
                                        <p:tgtEl>
                                          <p:spTgt spid="31"/>
                                        </p:tgtEl>
                                        <p:attrNameLst>
                                          <p:attrName>ppt_y</p:attrName>
                                        </p:attrNameLst>
                                      </p:cBhvr>
                                      <p:tavLst>
                                        <p:tav tm="0">
                                          <p:val>
                                            <p:strVal val="#ppt_y+.06"/>
                                          </p:val>
                                        </p:tav>
                                        <p:tav tm="100000">
                                          <p:val>
                                            <p:strVal val="#ppt_y"/>
                                          </p:val>
                                        </p:tav>
                                      </p:tavLst>
                                    </p:anim>
                                  </p:childTnLst>
                                </p:cTn>
                              </p:par>
                              <p:par>
                                <p:cTn id="150" presetID="53" presetClass="entr" presetSubtype="32" fill="hold" grpId="0" nodeType="withEffect">
                                  <p:stCondLst>
                                    <p:cond delay="5650"/>
                                  </p:stCondLst>
                                  <p:childTnLst>
                                    <p:set>
                                      <p:cBhvr>
                                        <p:cTn id="146" dur="1" fill="hold">
                                          <p:stCondLst>
                                            <p:cond delay="0"/>
                                          </p:stCondLst>
                                        </p:cTn>
                                        <p:tgtEl>
                                          <p:spTgt spid="32"/>
                                        </p:tgtEl>
                                        <p:attrNameLst>
                                          <p:attrName>style.visibility</p:attrName>
                                        </p:attrNameLst>
                                      </p:cBhvr>
                                      <p:to>
                                        <p:strVal val="visible"/>
                                      </p:to>
                                    </p:set>
                                    <p:anim calcmode="lin" valueType="num">
                                      <p:cBhvr additive="base">
                                        <p:cTn id="147" dur="400" fill="hold"/>
                                        <p:tgtEl>
                                          <p:spTgt spid="32"/>
                                        </p:tgtEl>
                                        <p:attrNameLst>
                                          <p:attrName>ppt_w</p:attrName>
                                        </p:attrNameLst>
                                      </p:cBhvr>
                                      <p:tavLst>
                                        <p:tav tm="0">
                                          <p:val>
                                            <p:strVal val="#ppt_w*2.4"/>
                                          </p:val>
                                        </p:tav>
                                        <p:tav tm="100000">
                                          <p:val>
                                            <p:strVal val="#ppt_w"/>
                                          </p:val>
                                        </p:tav>
                                      </p:tavLst>
                                    </p:anim>
                                    <p:anim calcmode="lin" valueType="num">
                                      <p:cBhvr additive="base">
                                        <p:cTn id="148" dur="400" fill="hold"/>
                                        <p:tgtEl>
                                          <p:spTgt spid="32"/>
                                        </p:tgtEl>
                                        <p:attrNameLst>
                                          <p:attrName>ppt_h</p:attrName>
                                        </p:attrNameLst>
                                      </p:cBhvr>
                                      <p:tavLst>
                                        <p:tav tm="0">
                                          <p:val>
                                            <p:strVal val="#ppt_h*2.4"/>
                                          </p:val>
                                        </p:tav>
                                        <p:tav tm="100000">
                                          <p:val>
                                            <p:strVal val="#ppt_h"/>
                                          </p:val>
                                        </p:tav>
                                      </p:tavLst>
                                    </p:anim>
                                    <p:animEffect transition="in" filter="fade">
                                      <p:cBhvr>
                                        <p:cTn id="149" dur="400"/>
                                        <p:tgtEl>
                                          <p:spTgt spid="32"/>
                                        </p:tgtEl>
                                      </p:cBhvr>
                                    </p:animEffect>
                                  </p:childTnLst>
                                </p:cTn>
                              </p:par>
                              <p:par>
                                <p:cTn id="155" presetID="53" presetClass="entr" presetSubtype="32" fill="hold" grpId="0" nodeType="withEffect">
                                  <p:stCondLst>
                                    <p:cond delay="5650"/>
                                  </p:stCondLst>
                                  <p:childTnLst>
                                    <p:set>
                                      <p:cBhvr>
                                        <p:cTn id="151" dur="1" fill="hold">
                                          <p:stCondLst>
                                            <p:cond delay="0"/>
                                          </p:stCondLst>
                                        </p:cTn>
                                        <p:tgtEl>
                                          <p:spTgt spid="33"/>
                                        </p:tgtEl>
                                        <p:attrNameLst>
                                          <p:attrName>style.visibility</p:attrName>
                                        </p:attrNameLst>
                                      </p:cBhvr>
                                      <p:to>
                                        <p:strVal val="visible"/>
                                      </p:to>
                                    </p:set>
                                    <p:anim calcmode="lin" valueType="num">
                                      <p:cBhvr additive="base">
                                        <p:cTn id="152" dur="400" fill="hold"/>
                                        <p:tgtEl>
                                          <p:spTgt spid="33"/>
                                        </p:tgtEl>
                                        <p:attrNameLst>
                                          <p:attrName>ppt_w</p:attrName>
                                        </p:attrNameLst>
                                      </p:cBhvr>
                                      <p:tavLst>
                                        <p:tav tm="0">
                                          <p:val>
                                            <p:strVal val="#ppt_w*2.4"/>
                                          </p:val>
                                        </p:tav>
                                        <p:tav tm="100000">
                                          <p:val>
                                            <p:strVal val="#ppt_w"/>
                                          </p:val>
                                        </p:tav>
                                      </p:tavLst>
                                    </p:anim>
                                    <p:anim calcmode="lin" valueType="num">
                                      <p:cBhvr additive="base">
                                        <p:cTn id="153" dur="400" fill="hold"/>
                                        <p:tgtEl>
                                          <p:spTgt spid="33"/>
                                        </p:tgtEl>
                                        <p:attrNameLst>
                                          <p:attrName>ppt_h</p:attrName>
                                        </p:attrNameLst>
                                      </p:cBhvr>
                                      <p:tavLst>
                                        <p:tav tm="0">
                                          <p:val>
                                            <p:strVal val="#ppt_h*2.4"/>
                                          </p:val>
                                        </p:tav>
                                        <p:tav tm="100000">
                                          <p:val>
                                            <p:strVal val="#ppt_h"/>
                                          </p:val>
                                        </p:tav>
                                      </p:tavLst>
                                    </p:anim>
                                    <p:animEffect transition="in" filter="fade">
                                      <p:cBhvr>
                                        <p:cTn id="154" dur="400"/>
                                        <p:tgtEl>
                                          <p:spTgt spid="33"/>
                                        </p:tgtEl>
                                      </p:cBhvr>
                                    </p:animEffect>
                                  </p:childTnLst>
                                </p:cTn>
                              </p:par>
                              <p:par>
                                <p:cTn id="160" presetID="42" presetClass="entr" presetSubtype="0" fill="hold" grpId="0" nodeType="withEffect">
                                  <p:stCondLst>
                                    <p:cond delay="565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additive="base">
                                        <p:cTn id="158" dur="500" fill="hold"/>
                                        <p:tgtEl>
                                          <p:spTgt spid="34"/>
                                        </p:tgtEl>
                                        <p:attrNameLst>
                                          <p:attrName>ppt_x</p:attrName>
                                        </p:attrNameLst>
                                      </p:cBhvr>
                                      <p:tavLst>
                                        <p:tav tm="0">
                                          <p:val>
                                            <p:strVal val="#ppt_x"/>
                                          </p:val>
                                        </p:tav>
                                        <p:tav tm="100000">
                                          <p:val>
                                            <p:strVal val="#ppt_x"/>
                                          </p:val>
                                        </p:tav>
                                      </p:tavLst>
                                    </p:anim>
                                    <p:anim calcmode="lin" valueType="num">
                                      <p:cBhvr additive="base">
                                        <p:cTn id="159" dur="500" fill="hold"/>
                                        <p:tgtEl>
                                          <p:spTgt spid="34"/>
                                        </p:tgtEl>
                                        <p:attrNameLst>
                                          <p:attrName>ppt_y</p:attrName>
                                        </p:attrNameLst>
                                      </p:cBhvr>
                                      <p:tavLst>
                                        <p:tav tm="0">
                                          <p:val>
                                            <p:strVal val="#ppt_y+.06"/>
                                          </p:val>
                                        </p:tav>
                                        <p:tav tm="100000">
                                          <p:val>
                                            <p:strVal val="#ppt_y"/>
                                          </p:val>
                                        </p:tav>
                                      </p:tavLst>
                                    </p:anim>
                                  </p:childTnLst>
                                </p:cTn>
                              </p:par>
                              <p:par>
                                <p:cTn id="162" presetID="1" presetClass="entr" presetSubtype="0" fill="hold" grpId="0" nodeType="withEffect">
                                  <p:stCondLst>
                                    <p:cond delay="5800"/>
                                  </p:stCondLst>
                                  <p:iterate type="lt">
                                    <p:tmAbs val="35"/>
                                  </p:iterate>
                                  <p:childTnLst>
                                    <p:set>
                                      <p:cBhvr>
                                        <p:cTn id="16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WHO HOLDS THE POWER?</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brokers in the middle held the power</a:t>
            </a:r>
            <a:endParaRPr lang="en-US" sz="3000" dirty="0"/>
          </a:p>
        </p:txBody>
      </p:sp>
      <p:sp>
        <p:nvSpPr>
          <p:cNvPr id="7" name="pent-aey"/>
          <p:cNvSpPr/>
          <p:nvPr/>
        </p:nvSpPr>
        <p:spPr>
          <a:xfrm>
            <a:off x="1572768" y="2761488"/>
            <a:ext cx="2743200" cy="1051560"/>
          </a:xfrm>
          <a:prstGeom prst="line">
            <a:avLst/>
          </a:prstGeom>
          <a:noFill/>
          <a:ln w="38100">
            <a:solidFill>
              <a:srgbClr val="FFD84D"/>
            </a:solidFill>
            <a:prstDash val="solid"/>
          </a:ln>
        </p:spPr>
      </p:sp>
      <p:sp>
        <p:nvSpPr>
          <p:cNvPr id="8" name="aey-henry"/>
          <p:cNvSpPr/>
          <p:nvPr/>
        </p:nvSpPr>
        <p:spPr>
          <a:xfrm flipV="1">
            <a:off x="4315968" y="2761488"/>
            <a:ext cx="2743200" cy="1051560"/>
          </a:xfrm>
          <a:prstGeom prst="line">
            <a:avLst/>
          </a:prstGeom>
          <a:noFill/>
          <a:ln w="38100">
            <a:solidFill>
              <a:srgbClr val="FFD84D"/>
            </a:solidFill>
            <a:prstDash val="solid"/>
          </a:ln>
        </p:spPr>
      </p:sp>
      <p:sp>
        <p:nvSpPr>
          <p:cNvPr id="9" name="henry-alb"/>
          <p:cNvSpPr/>
          <p:nvPr/>
        </p:nvSpPr>
        <p:spPr>
          <a:xfrm>
            <a:off x="7059168" y="2761488"/>
            <a:ext cx="914" cy="2194560"/>
          </a:xfrm>
          <a:prstGeom prst="line">
            <a:avLst/>
          </a:prstGeom>
          <a:noFill/>
          <a:ln w="19050">
            <a:solidFill>
              <a:srgbClr val="4A4E57"/>
            </a:solidFill>
            <a:prstDash val="solid"/>
          </a:ln>
        </p:spPr>
      </p:sp>
      <p:sp>
        <p:nvSpPr>
          <p:cNvPr id="10" name="fin-aey"/>
          <p:cNvSpPr/>
          <p:nvPr/>
        </p:nvSpPr>
        <p:spPr>
          <a:xfrm flipV="1">
            <a:off x="1572768" y="3813048"/>
            <a:ext cx="2743200" cy="1143000"/>
          </a:xfrm>
          <a:prstGeom prst="line">
            <a:avLst/>
          </a:prstGeom>
          <a:noFill/>
          <a:ln w="19050">
            <a:solidFill>
              <a:srgbClr val="4A4E57"/>
            </a:solidFill>
            <a:prstDash val="solid"/>
          </a:ln>
        </p:spPr>
      </p:sp>
      <p:sp>
        <p:nvSpPr>
          <p:cNvPr id="11" name="aey-alb"/>
          <p:cNvSpPr/>
          <p:nvPr/>
        </p:nvSpPr>
        <p:spPr>
          <a:xfrm>
            <a:off x="4315968" y="3813048"/>
            <a:ext cx="2743200" cy="1143000"/>
          </a:xfrm>
          <a:prstGeom prst="line">
            <a:avLst/>
          </a:prstGeom>
          <a:noFill/>
          <a:ln w="19050">
            <a:solidFill>
              <a:srgbClr val="4A4E57"/>
            </a:solidFill>
            <a:prstDash val="solid"/>
          </a:ln>
        </p:spPr>
      </p:sp>
      <p:sp>
        <p:nvSpPr>
          <p:cNvPr id="12" name="pent-afg"/>
          <p:cNvSpPr/>
          <p:nvPr/>
        </p:nvSpPr>
        <p:spPr>
          <a:xfrm flipV="1">
            <a:off x="1572768" y="1984248"/>
            <a:ext cx="2743200" cy="777240"/>
          </a:xfrm>
          <a:prstGeom prst="line">
            <a:avLst/>
          </a:prstGeom>
          <a:noFill/>
          <a:ln w="19050">
            <a:solidFill>
              <a:srgbClr val="4A4E57"/>
            </a:solidFill>
            <a:prstDash val="dash"/>
          </a:ln>
        </p:spPr>
      </p:sp>
      <p:sp>
        <p:nvSpPr>
          <p:cNvPr id="13" name="alb-afg"/>
          <p:cNvSpPr/>
          <p:nvPr/>
        </p:nvSpPr>
        <p:spPr>
          <a:xfrm>
            <a:off x="4315968" y="1984248"/>
            <a:ext cx="2743200" cy="2971800"/>
          </a:xfrm>
          <a:prstGeom prst="line">
            <a:avLst/>
          </a:prstGeom>
          <a:noFill/>
          <a:ln w="19050">
            <a:solidFill>
              <a:srgbClr val="4A4E57"/>
            </a:solidFill>
            <a:prstDash val="dash"/>
          </a:ln>
        </p:spPr>
      </p:sp>
      <p:sp>
        <p:nvSpPr>
          <p:cNvPr id="14" name="US Army circle"/>
          <p:cNvSpPr/>
          <p:nvPr/>
        </p:nvSpPr>
        <p:spPr>
          <a:xfrm>
            <a:off x="1188720" y="2377440"/>
            <a:ext cx="768096" cy="768096"/>
          </a:xfrm>
          <a:prstGeom prst="ellipse">
            <a:avLst/>
          </a:prstGeom>
          <a:solidFill>
            <a:srgbClr val="3A3D44"/>
          </a:solidFill>
          <a:ln/>
        </p:spPr>
      </p:sp>
      <p:pic>
        <p:nvPicPr>
          <p:cNvPr id="15" name="US Army icon" descr="US Army">    </p:cNvPr>
          <p:cNvPicPr>
            <a:picLocks noChangeAspect="1"/>
          </p:cNvPicPr>
          <p:nvPr/>
        </p:nvPicPr>
        <p:blipFill>
          <a:blip r:embed="rId2"/>
          <a:stretch>
            <a:fillRect/>
          </a:stretch>
        </p:blipFill>
        <p:spPr>
          <a:xfrm>
            <a:off x="1373063" y="2561783"/>
            <a:ext cx="399410" cy="399410"/>
          </a:xfrm>
          <a:prstGeom prst="rect">
            <a:avLst/>
          </a:prstGeom>
        </p:spPr>
      </p:pic>
      <p:sp>
        <p:nvSpPr>
          <p:cNvPr id="16" name="Text 12"/>
          <p:cNvSpPr txBox="1"/>
          <p:nvPr/>
        </p:nvSpPr>
        <p:spPr>
          <a:xfrm>
            <a:off x="4114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US Army</a:t>
            </a:r>
            <a:endParaRPr lang="en-US" sz="1300" dirty="0"/>
          </a:p>
          <a:p>
            <a:pPr algn="ctr" indent="0" marL="0">
              <a:buNone/>
            </a:pPr>
            <a:r>
              <a:rPr lang="en-US" sz="1100" dirty="0">
                <a:solidFill>
                  <a:srgbClr val="A9ADB5"/>
                </a:solidFill>
              </a:rPr>
              <a:t>Open online tenders</a:t>
            </a:r>
            <a:endParaRPr lang="en-US" sz="1300" dirty="0"/>
          </a:p>
        </p:txBody>
      </p:sp>
      <p:sp>
        <p:nvSpPr>
          <p:cNvPr id="17" name="AEY (Efraim + David) circle"/>
          <p:cNvSpPr/>
          <p:nvPr/>
        </p:nvSpPr>
        <p:spPr>
          <a:xfrm>
            <a:off x="3931920" y="3429000"/>
            <a:ext cx="768096" cy="768096"/>
          </a:xfrm>
          <a:prstGeom prst="ellipse">
            <a:avLst/>
          </a:prstGeom>
          <a:solidFill>
            <a:srgbClr val="E5383B"/>
          </a:solidFill>
          <a:ln/>
        </p:spPr>
      </p:sp>
      <p:pic>
        <p:nvPicPr>
          <p:cNvPr id="18" name="AEY (Efraim + David) icon" descr="AEY (Efraim + David)">    </p:cNvPr>
          <p:cNvPicPr>
            <a:picLocks noChangeAspect="1"/>
          </p:cNvPicPr>
          <p:nvPr/>
        </p:nvPicPr>
        <p:blipFill>
          <a:blip r:embed="rId3"/>
          <a:stretch>
            <a:fillRect/>
          </a:stretch>
        </p:blipFill>
        <p:spPr>
          <a:xfrm>
            <a:off x="4116263" y="3613343"/>
            <a:ext cx="399410" cy="399410"/>
          </a:xfrm>
          <a:prstGeom prst="rect">
            <a:avLst/>
          </a:prstGeom>
        </p:spPr>
      </p:pic>
      <p:sp>
        <p:nvSpPr>
          <p:cNvPr id="19" name="Text 14"/>
          <p:cNvSpPr txBox="1"/>
          <p:nvPr/>
        </p:nvSpPr>
        <p:spPr>
          <a:xfrm>
            <a:off x="3154680" y="4233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AEY (Efraim + David)</a:t>
            </a:r>
            <a:endParaRPr lang="en-US" sz="1300" dirty="0"/>
          </a:p>
          <a:p>
            <a:pPr algn="ctr" indent="0" marL="0">
              <a:buNone/>
            </a:pPr>
            <a:r>
              <a:rPr lang="en-US" sz="1100" b="1" dirty="0">
                <a:solidFill>
                  <a:srgbClr val="FF8A8C"/>
                </a:solidFill>
              </a:rPr>
              <a:t>BROKER · clean US name</a:t>
            </a:r>
            <a:endParaRPr lang="en-US" sz="1300" dirty="0"/>
          </a:p>
        </p:txBody>
      </p:sp>
      <p:sp>
        <p:nvSpPr>
          <p:cNvPr id="20" name="Henry Girard circle"/>
          <p:cNvSpPr/>
          <p:nvPr/>
        </p:nvSpPr>
        <p:spPr>
          <a:xfrm>
            <a:off x="6675120" y="2377440"/>
            <a:ext cx="768096" cy="768096"/>
          </a:xfrm>
          <a:prstGeom prst="ellipse">
            <a:avLst/>
          </a:prstGeom>
          <a:solidFill>
            <a:srgbClr val="E5383B"/>
          </a:solidFill>
          <a:ln/>
        </p:spPr>
      </p:sp>
      <p:pic>
        <p:nvPicPr>
          <p:cNvPr id="21" name="Henry Girard icon" descr="Henry Girard">    </p:cNvPr>
          <p:cNvPicPr>
            <a:picLocks noChangeAspect="1"/>
          </p:cNvPicPr>
          <p:nvPr/>
        </p:nvPicPr>
        <p:blipFill>
          <a:blip r:embed="rId4"/>
          <a:stretch>
            <a:fillRect/>
          </a:stretch>
        </p:blipFill>
        <p:spPr>
          <a:xfrm>
            <a:off x="6859463" y="2561783"/>
            <a:ext cx="399410" cy="399410"/>
          </a:xfrm>
          <a:prstGeom prst="rect">
            <a:avLst/>
          </a:prstGeom>
        </p:spPr>
      </p:pic>
      <p:sp>
        <p:nvSpPr>
          <p:cNvPr id="22" name="Text 16"/>
          <p:cNvSpPr txBox="1"/>
          <p:nvPr/>
        </p:nvSpPr>
        <p:spPr>
          <a:xfrm>
            <a:off x="58978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Henry Girard</a:t>
            </a:r>
            <a:endParaRPr lang="en-US" sz="1300" dirty="0"/>
          </a:p>
          <a:p>
            <a:pPr algn="ctr" indent="0" marL="0">
              <a:buNone/>
            </a:pPr>
            <a:r>
              <a:rPr lang="en-US" sz="1100" b="1" dirty="0">
                <a:solidFill>
                  <a:srgbClr val="FF8A8C"/>
                </a:solidFill>
              </a:rPr>
              <a:t>BROKER · watch-listed</a:t>
            </a:r>
            <a:endParaRPr lang="en-US" sz="1300" dirty="0"/>
          </a:p>
        </p:txBody>
      </p:sp>
      <p:sp>
        <p:nvSpPr>
          <p:cNvPr id="23" name="Albanian stockpile circle"/>
          <p:cNvSpPr/>
          <p:nvPr/>
        </p:nvSpPr>
        <p:spPr>
          <a:xfrm>
            <a:off x="6675120" y="4572000"/>
            <a:ext cx="768096" cy="768096"/>
          </a:xfrm>
          <a:prstGeom prst="ellipse">
            <a:avLst/>
          </a:prstGeom>
          <a:solidFill>
            <a:srgbClr val="3A3D44"/>
          </a:solidFill>
          <a:ln/>
        </p:spPr>
      </p:sp>
      <p:pic>
        <p:nvPicPr>
          <p:cNvPr id="24" name="Albanian stockpile icon" descr="Albanian stockpile">    </p:cNvPr>
          <p:cNvPicPr>
            <a:picLocks noChangeAspect="1"/>
          </p:cNvPicPr>
          <p:nvPr/>
        </p:nvPicPr>
        <p:blipFill>
          <a:blip r:embed="rId5"/>
          <a:stretch>
            <a:fillRect/>
          </a:stretch>
        </p:blipFill>
        <p:spPr>
          <a:xfrm>
            <a:off x="6859463" y="4756343"/>
            <a:ext cx="399410" cy="399410"/>
          </a:xfrm>
          <a:prstGeom prst="rect">
            <a:avLst/>
          </a:prstGeom>
        </p:spPr>
      </p:pic>
      <p:sp>
        <p:nvSpPr>
          <p:cNvPr id="25" name="Text 18"/>
          <p:cNvSpPr txBox="1"/>
          <p:nvPr/>
        </p:nvSpPr>
        <p:spPr>
          <a:xfrm>
            <a:off x="58978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Albanian stockpile</a:t>
            </a:r>
            <a:endParaRPr lang="en-US" sz="1300" dirty="0"/>
          </a:p>
          <a:p>
            <a:pPr algn="ctr" indent="0" marL="0">
              <a:buNone/>
            </a:pPr>
            <a:r>
              <a:rPr lang="en-US" sz="1100" dirty="0">
                <a:solidFill>
                  <a:srgbClr val="A9ADB5"/>
                </a:solidFill>
              </a:rPr>
              <a:t>Supply + officials</a:t>
            </a:r>
            <a:endParaRPr lang="en-US" sz="1300" dirty="0"/>
          </a:p>
        </p:txBody>
      </p:sp>
      <p:sp>
        <p:nvSpPr>
          <p:cNvPr id="26" name="Afghan army circle"/>
          <p:cNvSpPr/>
          <p:nvPr/>
        </p:nvSpPr>
        <p:spPr>
          <a:xfrm>
            <a:off x="3931920" y="1600200"/>
            <a:ext cx="768096" cy="768096"/>
          </a:xfrm>
          <a:prstGeom prst="ellipse">
            <a:avLst/>
          </a:prstGeom>
          <a:solidFill>
            <a:srgbClr val="3A3D44"/>
          </a:solidFill>
          <a:ln/>
        </p:spPr>
      </p:sp>
      <p:pic>
        <p:nvPicPr>
          <p:cNvPr id="27" name="Afghan army icon" descr="Afghan army">    </p:cNvPr>
          <p:cNvPicPr>
            <a:picLocks noChangeAspect="1"/>
          </p:cNvPicPr>
          <p:nvPr/>
        </p:nvPicPr>
        <p:blipFill>
          <a:blip r:embed="rId6"/>
          <a:stretch>
            <a:fillRect/>
          </a:stretch>
        </p:blipFill>
        <p:spPr>
          <a:xfrm>
            <a:off x="4116263" y="1784543"/>
            <a:ext cx="399410" cy="399410"/>
          </a:xfrm>
          <a:prstGeom prst="rect">
            <a:avLst/>
          </a:prstGeom>
        </p:spPr>
      </p:pic>
      <p:sp>
        <p:nvSpPr>
          <p:cNvPr id="28" name="Text 20"/>
          <p:cNvSpPr txBox="1"/>
          <p:nvPr/>
        </p:nvSpPr>
        <p:spPr>
          <a:xfrm>
            <a:off x="3154680" y="24048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Afghan army</a:t>
            </a:r>
            <a:endParaRPr lang="en-US" sz="1300" dirty="0"/>
          </a:p>
          <a:p>
            <a:pPr algn="ctr" indent="0" marL="0">
              <a:buNone/>
            </a:pPr>
            <a:r>
              <a:rPr lang="en-US" sz="1100" dirty="0">
                <a:solidFill>
                  <a:srgbClr val="A9ADB5"/>
                </a:solidFill>
              </a:rPr>
              <a:t>End user · victim</a:t>
            </a:r>
            <a:endParaRPr lang="en-US" sz="1300" dirty="0"/>
          </a:p>
        </p:txBody>
      </p:sp>
      <p:sp>
        <p:nvSpPr>
          <p:cNvPr id="29" name="Financier circle"/>
          <p:cNvSpPr/>
          <p:nvPr/>
        </p:nvSpPr>
        <p:spPr>
          <a:xfrm>
            <a:off x="1188720" y="4572000"/>
            <a:ext cx="768096" cy="768096"/>
          </a:xfrm>
          <a:prstGeom prst="ellipse">
            <a:avLst/>
          </a:prstGeom>
          <a:solidFill>
            <a:srgbClr val="3A3D44"/>
          </a:solidFill>
          <a:ln/>
        </p:spPr>
      </p:sp>
      <p:pic>
        <p:nvPicPr>
          <p:cNvPr id="30" name="Financier icon" descr="Financier">    </p:cNvPr>
          <p:cNvPicPr>
            <a:picLocks noChangeAspect="1"/>
          </p:cNvPicPr>
          <p:nvPr/>
        </p:nvPicPr>
        <p:blipFill>
          <a:blip r:embed="rId7"/>
          <a:stretch>
            <a:fillRect/>
          </a:stretch>
        </p:blipFill>
        <p:spPr>
          <a:xfrm>
            <a:off x="1373063" y="4756343"/>
            <a:ext cx="399410" cy="399410"/>
          </a:xfrm>
          <a:prstGeom prst="rect">
            <a:avLst/>
          </a:prstGeom>
        </p:spPr>
      </p:pic>
      <p:sp>
        <p:nvSpPr>
          <p:cNvPr id="31" name="Text 22"/>
          <p:cNvSpPr txBox="1"/>
          <p:nvPr/>
        </p:nvSpPr>
        <p:spPr>
          <a:xfrm>
            <a:off x="4114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Financier</a:t>
            </a:r>
            <a:endParaRPr lang="en-US" sz="1300" dirty="0"/>
          </a:p>
          <a:p>
            <a:pPr algn="ctr" indent="0" marL="0">
              <a:buNone/>
            </a:pPr>
            <a:r>
              <a:rPr lang="en-US" sz="1100" dirty="0">
                <a:solidFill>
                  <a:srgbClr val="A9ADB5"/>
                </a:solidFill>
              </a:rPr>
              <a:t>Funds the deal</a:t>
            </a:r>
            <a:endParaRPr lang="en-US" sz="1300" dirty="0"/>
          </a:p>
        </p:txBody>
      </p:sp>
      <p:sp>
        <p:nvSpPr>
          <p:cNvPr id="32" name="Network model"/>
          <p:cNvSpPr/>
          <p:nvPr/>
        </p:nvSpPr>
        <p:spPr>
          <a:xfrm>
            <a:off x="8732520" y="1691640"/>
            <a:ext cx="2910535" cy="1280160"/>
          </a:xfrm>
          <a:prstGeom prst="rect">
            <a:avLst/>
          </a:prstGeom>
          <a:solidFill>
            <a:srgbClr val="1B1D22"/>
          </a:solidFill>
          <a:ln w="12700">
            <a:solidFill>
              <a:srgbClr val="FFD84D"/>
            </a:solidFill>
            <a:prstDash val="solid"/>
          </a:ln>
        </p:spPr>
      </p:sp>
      <p:sp>
        <p:nvSpPr>
          <p:cNvPr id="33" name="Text 24"/>
          <p:cNvSpPr txBox="1"/>
          <p:nvPr/>
        </p:nvSpPr>
        <p:spPr>
          <a:xfrm>
            <a:off x="8915400" y="178308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Network model  </a:t>
            </a:r>
            <a:pPr indent="0" marL="0">
              <a:buNone/>
            </a:pPr>
            <a:r>
              <a:rPr lang="en-US" sz="1100" dirty="0">
                <a:solidFill>
                  <a:srgbClr val="A9ADB5"/>
                </a:solidFill>
              </a:rPr>
              <a:t>Morselli (2009)</a:t>
            </a:r>
            <a:endParaRPr lang="en-US" sz="1400" dirty="0"/>
          </a:p>
          <a:p>
            <a:pPr indent="0" marL="0">
              <a:buNone/>
            </a:pPr>
            <a:r>
              <a:rPr lang="en-US" sz="1300" dirty="0">
                <a:solidFill>
                  <a:schemeClr val="bg1"/>
                </a:solidFill>
              </a:rPr>
              <a:t>Power belongs to brokers who connect worlds that can’t reach each other.</a:t>
            </a:r>
            <a:endParaRPr lang="en-US" sz="1400" dirty="0"/>
          </a:p>
        </p:txBody>
      </p:sp>
      <p:sp>
        <p:nvSpPr>
          <p:cNvPr id="34" name="Patron–client"/>
          <p:cNvSpPr/>
          <p:nvPr/>
        </p:nvSpPr>
        <p:spPr>
          <a:xfrm>
            <a:off x="8732520" y="3108960"/>
            <a:ext cx="2910535" cy="1280160"/>
          </a:xfrm>
          <a:prstGeom prst="rect">
            <a:avLst/>
          </a:prstGeom>
          <a:solidFill>
            <a:srgbClr val="1B1D22"/>
          </a:solidFill>
          <a:ln w="12700">
            <a:solidFill>
              <a:srgbClr val="FFD84D"/>
            </a:solidFill>
            <a:prstDash val="solid"/>
          </a:ln>
        </p:spPr>
      </p:sp>
      <p:sp>
        <p:nvSpPr>
          <p:cNvPr id="35" name="Text 26"/>
          <p:cNvSpPr txBox="1"/>
          <p:nvPr/>
        </p:nvSpPr>
        <p:spPr>
          <a:xfrm>
            <a:off x="8915400" y="320040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Patron–client  </a:t>
            </a:r>
            <a:pPr indent="0" marL="0">
              <a:buNone/>
            </a:pPr>
            <a:r>
              <a:rPr lang="en-US" sz="1100" dirty="0">
                <a:solidFill>
                  <a:srgbClr val="A9ADB5"/>
                </a:solidFill>
              </a:rPr>
              <a:t>Albini (1971)</a:t>
            </a:r>
            <a:endParaRPr lang="en-US" sz="1400" dirty="0"/>
          </a:p>
          <a:p>
            <a:pPr indent="0" marL="0">
              <a:buNone/>
            </a:pPr>
            <a:r>
              <a:rPr lang="en-US" sz="1300" dirty="0">
                <a:solidFill>
                  <a:schemeClr val="bg1"/>
                </a:solidFill>
              </a:rPr>
              <a:t>Henry trades access to supply for a share of the profits.</a:t>
            </a:r>
            <a:endParaRPr lang="en-US" sz="1400" dirty="0"/>
          </a:p>
        </p:txBody>
      </p:sp>
      <p:sp>
        <p:nvSpPr>
          <p:cNvPr id="36" name="Hierarchical model"/>
          <p:cNvSpPr/>
          <p:nvPr/>
        </p:nvSpPr>
        <p:spPr>
          <a:xfrm>
            <a:off x="8732520" y="4526280"/>
            <a:ext cx="2910535" cy="1280160"/>
          </a:xfrm>
          <a:prstGeom prst="rect">
            <a:avLst/>
          </a:prstGeom>
          <a:solidFill>
            <a:srgbClr val="1B1D22"/>
          </a:solidFill>
          <a:ln w="12700">
            <a:solidFill>
              <a:srgbClr val="33363D"/>
            </a:solidFill>
            <a:prstDash val="solid"/>
          </a:ln>
        </p:spPr>
      </p:sp>
      <p:sp>
        <p:nvSpPr>
          <p:cNvPr id="37" name="Text 28"/>
          <p:cNvSpPr txBox="1"/>
          <p:nvPr/>
        </p:nvSpPr>
        <p:spPr>
          <a:xfrm>
            <a:off x="8915400" y="4617720"/>
            <a:ext cx="2544775" cy="1097280"/>
          </a:xfrm>
          <a:prstGeom prst="rect">
            <a:avLst/>
          </a:prstGeom>
          <a:noFill/>
          <a:ln/>
        </p:spPr>
        <p:txBody>
          <a:bodyPr wrap="square" lIns="0" tIns="0" rIns="0" bIns="0" rtlCol="0" anchor="ctr"/>
          <a:lstStyle/>
          <a:p>
            <a:pPr indent="0" marL="0">
              <a:buNone/>
            </a:pPr>
            <a:r>
              <a:rPr lang="en-US" sz="1400" b="1" dirty="0">
                <a:solidFill>
                  <a:srgbClr val="A9ADB5"/>
                </a:solidFill>
                <a:latin typeface="Bookman Old Style" pitchFamily="34" charset="0"/>
                <a:ea typeface="Bookman Old Style" pitchFamily="34" charset="-122"/>
                <a:cs typeface="Bookman Old Style" pitchFamily="34" charset="-120"/>
              </a:rPr>
              <a:t>Hierarchical model  </a:t>
            </a:r>
            <a:pPr indent="0" marL="0">
              <a:buNone/>
            </a:pPr>
            <a:r>
              <a:rPr lang="en-US" sz="1100" dirty="0">
                <a:solidFill>
                  <a:srgbClr val="A9ADB5"/>
                </a:solidFill>
              </a:rPr>
              <a:t>Cressey (1969)</a:t>
            </a:r>
            <a:endParaRPr lang="en-US" sz="1400" dirty="0"/>
          </a:p>
          <a:p>
            <a:pPr indent="0" marL="0">
              <a:buNone/>
            </a:pPr>
            <a:r>
              <a:rPr lang="en-US" sz="1300" dirty="0">
                <a:solidFill>
                  <a:schemeClr val="bg1"/>
                </a:solidFill>
              </a:rPr>
              <a:t>Does not fit: no ranks, no code, no “family”.</a:t>
            </a:r>
            <a:endParaRPr lang="en-US" sz="14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4" fill="hold">
                      <p:stCondLst>
                        <p:cond delay="indefinite"/>
                        <p:cond evt="onBegin" delay="0">
                          <p:tn val="2"/>
                        </p:cond>
                      </p:stCondLst>
                      <p:childTnLst>
                        <p:par>
                          <p:cTn id="165"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31" presetID="53" presetClass="entr" presetSubtype="16" fill="hold" grpId="0" nodeType="withEffect">
                                  <p:stCondLst>
                                    <p:cond delay="90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450" fill="hold"/>
                                        <p:tgtEl>
                                          <p:spTgt spid="14"/>
                                        </p:tgtEl>
                                        <p:attrNameLst>
                                          <p:attrName>ppt_w</p:attrName>
                                        </p:attrNameLst>
                                      </p:cBhvr>
                                      <p:tavLst>
                                        <p:tav tm="0">
                                          <p:val>
                                            <p:strVal val="0"/>
                                          </p:val>
                                        </p:tav>
                                        <p:tav tm="100000">
                                          <p:val>
                                            <p:strVal val="#ppt_w"/>
                                          </p:val>
                                        </p:tav>
                                      </p:tavLst>
                                    </p:anim>
                                    <p:anim calcmode="lin" valueType="num">
                                      <p:cBhvr additive="base">
                                        <p:cTn id="29" dur="450" fill="hold"/>
                                        <p:tgtEl>
                                          <p:spTgt spid="14"/>
                                        </p:tgtEl>
                                        <p:attrNameLst>
                                          <p:attrName>ppt_h</p:attrName>
                                        </p:attrNameLst>
                                      </p:cBhvr>
                                      <p:tavLst>
                                        <p:tav tm="0">
                                          <p:val>
                                            <p:strVal val="0"/>
                                          </p:val>
                                        </p:tav>
                                        <p:tav tm="100000">
                                          <p:val>
                                            <p:strVal val="#ppt_h"/>
                                          </p:val>
                                        </p:tav>
                                      </p:tavLst>
                                    </p:anim>
                                    <p:animEffect transition="in" filter="fade">
                                      <p:cBhvr>
                                        <p:cTn id="30" dur="450"/>
                                        <p:tgtEl>
                                          <p:spTgt spid="14"/>
                                        </p:tgtEl>
                                      </p:cBhvr>
                                    </p:animEffect>
                                  </p:childTnLst>
                                </p:cTn>
                              </p:par>
                              <p:par>
                                <p:cTn id="36" presetID="53" presetClass="entr" presetSubtype="16" fill="hold" grpId="0" nodeType="withEffect">
                                  <p:stCondLst>
                                    <p:cond delay="9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450" fill="hold"/>
                                        <p:tgtEl>
                                          <p:spTgt spid="15"/>
                                        </p:tgtEl>
                                        <p:attrNameLst>
                                          <p:attrName>ppt_w</p:attrName>
                                        </p:attrNameLst>
                                      </p:cBhvr>
                                      <p:tavLst>
                                        <p:tav tm="0">
                                          <p:val>
                                            <p:strVal val="0"/>
                                          </p:val>
                                        </p:tav>
                                        <p:tav tm="100000">
                                          <p:val>
                                            <p:strVal val="#ppt_w"/>
                                          </p:val>
                                        </p:tav>
                                      </p:tavLst>
                                    </p:anim>
                                    <p:anim calcmode="lin" valueType="num">
                                      <p:cBhvr additive="base">
                                        <p:cTn id="34" dur="450" fill="hold"/>
                                        <p:tgtEl>
                                          <p:spTgt spid="15"/>
                                        </p:tgtEl>
                                        <p:attrNameLst>
                                          <p:attrName>ppt_h</p:attrName>
                                        </p:attrNameLst>
                                      </p:cBhvr>
                                      <p:tavLst>
                                        <p:tav tm="0">
                                          <p:val>
                                            <p:strVal val="0"/>
                                          </p:val>
                                        </p:tav>
                                        <p:tav tm="100000">
                                          <p:val>
                                            <p:strVal val="#ppt_h"/>
                                          </p:val>
                                        </p:tav>
                                      </p:tavLst>
                                    </p:anim>
                                    <p:animEffect transition="in" filter="fade">
                                      <p:cBhvr>
                                        <p:cTn id="35" dur="450"/>
                                        <p:tgtEl>
                                          <p:spTgt spid="15"/>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44" presetID="53" presetClass="entr" presetSubtype="16" fill="hold" grpId="0" nodeType="withEffect">
                                  <p:stCondLst>
                                    <p:cond delay="115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450" fill="hold"/>
                                        <p:tgtEl>
                                          <p:spTgt spid="29"/>
                                        </p:tgtEl>
                                        <p:attrNameLst>
                                          <p:attrName>ppt_w</p:attrName>
                                        </p:attrNameLst>
                                      </p:cBhvr>
                                      <p:tavLst>
                                        <p:tav tm="0">
                                          <p:val>
                                            <p:strVal val="0"/>
                                          </p:val>
                                        </p:tav>
                                        <p:tav tm="100000">
                                          <p:val>
                                            <p:strVal val="#ppt_w"/>
                                          </p:val>
                                        </p:tav>
                                      </p:tavLst>
                                    </p:anim>
                                    <p:anim calcmode="lin" valueType="num">
                                      <p:cBhvr additive="base">
                                        <p:cTn id="42" dur="450" fill="hold"/>
                                        <p:tgtEl>
                                          <p:spTgt spid="29"/>
                                        </p:tgtEl>
                                        <p:attrNameLst>
                                          <p:attrName>ppt_h</p:attrName>
                                        </p:attrNameLst>
                                      </p:cBhvr>
                                      <p:tavLst>
                                        <p:tav tm="0">
                                          <p:val>
                                            <p:strVal val="0"/>
                                          </p:val>
                                        </p:tav>
                                        <p:tav tm="100000">
                                          <p:val>
                                            <p:strVal val="#ppt_h"/>
                                          </p:val>
                                        </p:tav>
                                      </p:tavLst>
                                    </p:anim>
                                    <p:animEffect transition="in" filter="fade">
                                      <p:cBhvr>
                                        <p:cTn id="43" dur="450"/>
                                        <p:tgtEl>
                                          <p:spTgt spid="29"/>
                                        </p:tgtEl>
                                      </p:cBhvr>
                                    </p:animEffect>
                                  </p:childTnLst>
                                </p:cTn>
                              </p:par>
                              <p:par>
                                <p:cTn id="49" presetID="53" presetClass="entr" presetSubtype="16" fill="hold" grpId="0" nodeType="withEffect">
                                  <p:stCondLst>
                                    <p:cond delay="1150"/>
                                  </p:stCondLst>
                                  <p:childTnLst>
                                    <p:set>
                                      <p:cBhvr>
                                        <p:cTn id="45" dur="1" fill="hold">
                                          <p:stCondLst>
                                            <p:cond delay="0"/>
                                          </p:stCondLst>
                                        </p:cTn>
                                        <p:tgtEl>
                                          <p:spTgt spid="30"/>
                                        </p:tgtEl>
                                        <p:attrNameLst>
                                          <p:attrName>style.visibility</p:attrName>
                                        </p:attrNameLst>
                                      </p:cBhvr>
                                      <p:to>
                                        <p:strVal val="visible"/>
                                      </p:to>
                                    </p:set>
                                    <p:anim calcmode="lin" valueType="num">
                                      <p:cBhvr additive="base">
                                        <p:cTn id="46" dur="450" fill="hold"/>
                                        <p:tgtEl>
                                          <p:spTgt spid="30"/>
                                        </p:tgtEl>
                                        <p:attrNameLst>
                                          <p:attrName>ppt_w</p:attrName>
                                        </p:attrNameLst>
                                      </p:cBhvr>
                                      <p:tavLst>
                                        <p:tav tm="0">
                                          <p:val>
                                            <p:strVal val="0"/>
                                          </p:val>
                                        </p:tav>
                                        <p:tav tm="100000">
                                          <p:val>
                                            <p:strVal val="#ppt_w"/>
                                          </p:val>
                                        </p:tav>
                                      </p:tavLst>
                                    </p:anim>
                                    <p:anim calcmode="lin" valueType="num">
                                      <p:cBhvr additive="base">
                                        <p:cTn id="47" dur="450" fill="hold"/>
                                        <p:tgtEl>
                                          <p:spTgt spid="30"/>
                                        </p:tgtEl>
                                        <p:attrNameLst>
                                          <p:attrName>ppt_h</p:attrName>
                                        </p:attrNameLst>
                                      </p:cBhvr>
                                      <p:tavLst>
                                        <p:tav tm="0">
                                          <p:val>
                                            <p:strVal val="0"/>
                                          </p:val>
                                        </p:tav>
                                        <p:tav tm="100000">
                                          <p:val>
                                            <p:strVal val="#ppt_h"/>
                                          </p:val>
                                        </p:tav>
                                      </p:tavLst>
                                    </p:anim>
                                    <p:animEffect transition="in" filter="fade">
                                      <p:cBhvr>
                                        <p:cTn id="48" dur="450"/>
                                        <p:tgtEl>
                                          <p:spTgt spid="30"/>
                                        </p:tgtEl>
                                      </p:cBhvr>
                                    </p:animEffect>
                                  </p:childTnLst>
                                </p:cTn>
                              </p:par>
                              <p:par>
                                <p:cTn id="52" presetID="10" presetClass="entr" presetSubtype="0" fill="hold" grpId="0" nodeType="withEffect">
                                  <p:stCondLst>
                                    <p:cond delay="135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7" presetID="53" presetClass="entr" presetSubtype="16" fill="hold" grpId="0" nodeType="withEffect">
                                  <p:stCondLst>
                                    <p:cond delay="140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450" fill="hold"/>
                                        <p:tgtEl>
                                          <p:spTgt spid="26"/>
                                        </p:tgtEl>
                                        <p:attrNameLst>
                                          <p:attrName>ppt_w</p:attrName>
                                        </p:attrNameLst>
                                      </p:cBhvr>
                                      <p:tavLst>
                                        <p:tav tm="0">
                                          <p:val>
                                            <p:strVal val="0"/>
                                          </p:val>
                                        </p:tav>
                                        <p:tav tm="100000">
                                          <p:val>
                                            <p:strVal val="#ppt_w"/>
                                          </p:val>
                                        </p:tav>
                                      </p:tavLst>
                                    </p:anim>
                                    <p:anim calcmode="lin" valueType="num">
                                      <p:cBhvr additive="base">
                                        <p:cTn id="55" dur="450" fill="hold"/>
                                        <p:tgtEl>
                                          <p:spTgt spid="26"/>
                                        </p:tgtEl>
                                        <p:attrNameLst>
                                          <p:attrName>ppt_h</p:attrName>
                                        </p:attrNameLst>
                                      </p:cBhvr>
                                      <p:tavLst>
                                        <p:tav tm="0">
                                          <p:val>
                                            <p:strVal val="0"/>
                                          </p:val>
                                        </p:tav>
                                        <p:tav tm="100000">
                                          <p:val>
                                            <p:strVal val="#ppt_h"/>
                                          </p:val>
                                        </p:tav>
                                      </p:tavLst>
                                    </p:anim>
                                    <p:animEffect transition="in" filter="fade">
                                      <p:cBhvr>
                                        <p:cTn id="56" dur="450"/>
                                        <p:tgtEl>
                                          <p:spTgt spid="26"/>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450" fill="hold"/>
                                        <p:tgtEl>
                                          <p:spTgt spid="27"/>
                                        </p:tgtEl>
                                        <p:attrNameLst>
                                          <p:attrName>ppt_w</p:attrName>
                                        </p:attrNameLst>
                                      </p:cBhvr>
                                      <p:tavLst>
                                        <p:tav tm="0">
                                          <p:val>
                                            <p:strVal val="0"/>
                                          </p:val>
                                        </p:tav>
                                        <p:tav tm="100000">
                                          <p:val>
                                            <p:strVal val="#ppt_w"/>
                                          </p:val>
                                        </p:tav>
                                      </p:tavLst>
                                    </p:anim>
                                    <p:anim calcmode="lin" valueType="num">
                                      <p:cBhvr additive="base">
                                        <p:cTn id="60" dur="450" fill="hold"/>
                                        <p:tgtEl>
                                          <p:spTgt spid="27"/>
                                        </p:tgtEl>
                                        <p:attrNameLst>
                                          <p:attrName>ppt_h</p:attrName>
                                        </p:attrNameLst>
                                      </p:cBhvr>
                                      <p:tavLst>
                                        <p:tav tm="0">
                                          <p:val>
                                            <p:strVal val="0"/>
                                          </p:val>
                                        </p:tav>
                                        <p:tav tm="100000">
                                          <p:val>
                                            <p:strVal val="#ppt_h"/>
                                          </p:val>
                                        </p:tav>
                                      </p:tavLst>
                                    </p:anim>
                                    <p:animEffect transition="in" filter="fade">
                                      <p:cBhvr>
                                        <p:cTn id="61" dur="450"/>
                                        <p:tgtEl>
                                          <p:spTgt spid="27"/>
                                        </p:tgtEl>
                                      </p:cBhvr>
                                    </p:animEffect>
                                  </p:childTnLst>
                                </p:cTn>
                              </p:par>
                              <p:par>
                                <p:cTn id="65" presetID="10" presetClass="entr" presetSubtype="0" fill="hold" grpId="0" nodeType="withEffect">
                                  <p:stCondLst>
                                    <p:cond delay="160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70" presetID="53" presetClass="entr" presetSubtype="16" fill="hold" grpId="0" nodeType="withEffect">
                                  <p:stCondLst>
                                    <p:cond delay="165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450" fill="hold"/>
                                        <p:tgtEl>
                                          <p:spTgt spid="17"/>
                                        </p:tgtEl>
                                        <p:attrNameLst>
                                          <p:attrName>ppt_w</p:attrName>
                                        </p:attrNameLst>
                                      </p:cBhvr>
                                      <p:tavLst>
                                        <p:tav tm="0">
                                          <p:val>
                                            <p:strVal val="0"/>
                                          </p:val>
                                        </p:tav>
                                        <p:tav tm="100000">
                                          <p:val>
                                            <p:strVal val="#ppt_w"/>
                                          </p:val>
                                        </p:tav>
                                      </p:tavLst>
                                    </p:anim>
                                    <p:anim calcmode="lin" valueType="num">
                                      <p:cBhvr additive="base">
                                        <p:cTn id="68" dur="450" fill="hold"/>
                                        <p:tgtEl>
                                          <p:spTgt spid="17"/>
                                        </p:tgtEl>
                                        <p:attrNameLst>
                                          <p:attrName>ppt_h</p:attrName>
                                        </p:attrNameLst>
                                      </p:cBhvr>
                                      <p:tavLst>
                                        <p:tav tm="0">
                                          <p:val>
                                            <p:strVal val="0"/>
                                          </p:val>
                                        </p:tav>
                                        <p:tav tm="100000">
                                          <p:val>
                                            <p:strVal val="#ppt_h"/>
                                          </p:val>
                                        </p:tav>
                                      </p:tavLst>
                                    </p:anim>
                                    <p:animEffect transition="in" filter="fade">
                                      <p:cBhvr>
                                        <p:cTn id="69" dur="450"/>
                                        <p:tgtEl>
                                          <p:spTgt spid="17"/>
                                        </p:tgtEl>
                                      </p:cBhvr>
                                    </p:animEffect>
                                  </p:childTnLst>
                                </p:cTn>
                              </p:par>
                              <p:par>
                                <p:cTn id="75" presetID="53" presetClass="entr" presetSubtype="16" fill="hold" grpId="0" nodeType="withEffect">
                                  <p:stCondLst>
                                    <p:cond delay="165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450" fill="hold"/>
                                        <p:tgtEl>
                                          <p:spTgt spid="18"/>
                                        </p:tgtEl>
                                        <p:attrNameLst>
                                          <p:attrName>ppt_w</p:attrName>
                                        </p:attrNameLst>
                                      </p:cBhvr>
                                      <p:tavLst>
                                        <p:tav tm="0">
                                          <p:val>
                                            <p:strVal val="0"/>
                                          </p:val>
                                        </p:tav>
                                        <p:tav tm="100000">
                                          <p:val>
                                            <p:strVal val="#ppt_w"/>
                                          </p:val>
                                        </p:tav>
                                      </p:tavLst>
                                    </p:anim>
                                    <p:anim calcmode="lin" valueType="num">
                                      <p:cBhvr additive="base">
                                        <p:cTn id="73" dur="450" fill="hold"/>
                                        <p:tgtEl>
                                          <p:spTgt spid="18"/>
                                        </p:tgtEl>
                                        <p:attrNameLst>
                                          <p:attrName>ppt_h</p:attrName>
                                        </p:attrNameLst>
                                      </p:cBhvr>
                                      <p:tavLst>
                                        <p:tav tm="0">
                                          <p:val>
                                            <p:strVal val="0"/>
                                          </p:val>
                                        </p:tav>
                                        <p:tav tm="100000">
                                          <p:val>
                                            <p:strVal val="#ppt_h"/>
                                          </p:val>
                                        </p:tav>
                                      </p:tavLst>
                                    </p:anim>
                                    <p:animEffect transition="in" filter="fade">
                                      <p:cBhvr>
                                        <p:cTn id="74" dur="450"/>
                                        <p:tgtEl>
                                          <p:spTgt spid="18"/>
                                        </p:tgtEl>
                                      </p:cBhvr>
                                    </p:animEffect>
                                  </p:childTnLst>
                                </p:cTn>
                              </p:par>
                              <p:par>
                                <p:cTn id="78" presetID="10" presetClass="entr" presetSubtype="0" fill="hold" grpId="0" nodeType="withEffect">
                                  <p:stCondLst>
                                    <p:cond delay="185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83" presetID="53" presetClass="entr" presetSubtype="16" fill="hold" grpId="0" nodeType="withEffect">
                                  <p:stCondLst>
                                    <p:cond delay="190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450" fill="hold"/>
                                        <p:tgtEl>
                                          <p:spTgt spid="20"/>
                                        </p:tgtEl>
                                        <p:attrNameLst>
                                          <p:attrName>ppt_w</p:attrName>
                                        </p:attrNameLst>
                                      </p:cBhvr>
                                      <p:tavLst>
                                        <p:tav tm="0">
                                          <p:val>
                                            <p:strVal val="0"/>
                                          </p:val>
                                        </p:tav>
                                        <p:tav tm="100000">
                                          <p:val>
                                            <p:strVal val="#ppt_w"/>
                                          </p:val>
                                        </p:tav>
                                      </p:tavLst>
                                    </p:anim>
                                    <p:anim calcmode="lin" valueType="num">
                                      <p:cBhvr additive="base">
                                        <p:cTn id="81" dur="450" fill="hold"/>
                                        <p:tgtEl>
                                          <p:spTgt spid="20"/>
                                        </p:tgtEl>
                                        <p:attrNameLst>
                                          <p:attrName>ppt_h</p:attrName>
                                        </p:attrNameLst>
                                      </p:cBhvr>
                                      <p:tavLst>
                                        <p:tav tm="0">
                                          <p:val>
                                            <p:strVal val="0"/>
                                          </p:val>
                                        </p:tav>
                                        <p:tav tm="100000">
                                          <p:val>
                                            <p:strVal val="#ppt_h"/>
                                          </p:val>
                                        </p:tav>
                                      </p:tavLst>
                                    </p:anim>
                                    <p:animEffect transition="in" filter="fade">
                                      <p:cBhvr>
                                        <p:cTn id="82" dur="450"/>
                                        <p:tgtEl>
                                          <p:spTgt spid="20"/>
                                        </p:tgtEl>
                                      </p:cBhvr>
                                    </p:animEffect>
                                  </p:childTnLst>
                                </p:cTn>
                              </p:par>
                              <p:par>
                                <p:cTn id="88" presetID="53" presetClass="entr" presetSubtype="16" fill="hold" grpId="0" nodeType="withEffect">
                                  <p:stCondLst>
                                    <p:cond delay="190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450" fill="hold"/>
                                        <p:tgtEl>
                                          <p:spTgt spid="21"/>
                                        </p:tgtEl>
                                        <p:attrNameLst>
                                          <p:attrName>ppt_w</p:attrName>
                                        </p:attrNameLst>
                                      </p:cBhvr>
                                      <p:tavLst>
                                        <p:tav tm="0">
                                          <p:val>
                                            <p:strVal val="0"/>
                                          </p:val>
                                        </p:tav>
                                        <p:tav tm="100000">
                                          <p:val>
                                            <p:strVal val="#ppt_w"/>
                                          </p:val>
                                        </p:tav>
                                      </p:tavLst>
                                    </p:anim>
                                    <p:anim calcmode="lin" valueType="num">
                                      <p:cBhvr additive="base">
                                        <p:cTn id="86" dur="450" fill="hold"/>
                                        <p:tgtEl>
                                          <p:spTgt spid="21"/>
                                        </p:tgtEl>
                                        <p:attrNameLst>
                                          <p:attrName>ppt_h</p:attrName>
                                        </p:attrNameLst>
                                      </p:cBhvr>
                                      <p:tavLst>
                                        <p:tav tm="0">
                                          <p:val>
                                            <p:strVal val="0"/>
                                          </p:val>
                                        </p:tav>
                                        <p:tav tm="100000">
                                          <p:val>
                                            <p:strVal val="#ppt_h"/>
                                          </p:val>
                                        </p:tav>
                                      </p:tavLst>
                                    </p:anim>
                                    <p:animEffect transition="in" filter="fade">
                                      <p:cBhvr>
                                        <p:cTn id="87" dur="450"/>
                                        <p:tgtEl>
                                          <p:spTgt spid="21"/>
                                        </p:tgtEl>
                                      </p:cBhvr>
                                    </p:animEffect>
                                  </p:childTnLst>
                                </p:cTn>
                              </p:par>
                              <p:par>
                                <p:cTn id="91" presetID="10" presetClass="entr" presetSubtype="0" fill="hold" grpId="0" nodeType="withEffect">
                                  <p:stCondLst>
                                    <p:cond delay="21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par>
                                <p:cTn id="96" presetID="53" presetClass="entr" presetSubtype="16" fill="hold" grpId="0" nodeType="withEffect">
                                  <p:stCondLst>
                                    <p:cond delay="215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50" fill="hold"/>
                                        <p:tgtEl>
                                          <p:spTgt spid="23"/>
                                        </p:tgtEl>
                                        <p:attrNameLst>
                                          <p:attrName>ppt_w</p:attrName>
                                        </p:attrNameLst>
                                      </p:cBhvr>
                                      <p:tavLst>
                                        <p:tav tm="0">
                                          <p:val>
                                            <p:strVal val="0"/>
                                          </p:val>
                                        </p:tav>
                                        <p:tav tm="100000">
                                          <p:val>
                                            <p:strVal val="#ppt_w"/>
                                          </p:val>
                                        </p:tav>
                                      </p:tavLst>
                                    </p:anim>
                                    <p:anim calcmode="lin" valueType="num">
                                      <p:cBhvr additive="base">
                                        <p:cTn id="94" dur="450" fill="hold"/>
                                        <p:tgtEl>
                                          <p:spTgt spid="23"/>
                                        </p:tgtEl>
                                        <p:attrNameLst>
                                          <p:attrName>ppt_h</p:attrName>
                                        </p:attrNameLst>
                                      </p:cBhvr>
                                      <p:tavLst>
                                        <p:tav tm="0">
                                          <p:val>
                                            <p:strVal val="0"/>
                                          </p:val>
                                        </p:tav>
                                        <p:tav tm="100000">
                                          <p:val>
                                            <p:strVal val="#ppt_h"/>
                                          </p:val>
                                        </p:tav>
                                      </p:tavLst>
                                    </p:anim>
                                    <p:animEffect transition="in" filter="fade">
                                      <p:cBhvr>
                                        <p:cTn id="95" dur="450"/>
                                        <p:tgtEl>
                                          <p:spTgt spid="23"/>
                                        </p:tgtEl>
                                      </p:cBhvr>
                                    </p:animEffect>
                                  </p:childTnLst>
                                </p:cTn>
                              </p:par>
                              <p:par>
                                <p:cTn id="101" presetID="53" presetClass="entr" presetSubtype="16" fill="hold" grpId="0" nodeType="withEffect">
                                  <p:stCondLst>
                                    <p:cond delay="215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450" fill="hold"/>
                                        <p:tgtEl>
                                          <p:spTgt spid="24"/>
                                        </p:tgtEl>
                                        <p:attrNameLst>
                                          <p:attrName>ppt_w</p:attrName>
                                        </p:attrNameLst>
                                      </p:cBhvr>
                                      <p:tavLst>
                                        <p:tav tm="0">
                                          <p:val>
                                            <p:strVal val="0"/>
                                          </p:val>
                                        </p:tav>
                                        <p:tav tm="100000">
                                          <p:val>
                                            <p:strVal val="#ppt_w"/>
                                          </p:val>
                                        </p:tav>
                                      </p:tavLst>
                                    </p:anim>
                                    <p:anim calcmode="lin" valueType="num">
                                      <p:cBhvr additive="base">
                                        <p:cTn id="99" dur="450" fill="hold"/>
                                        <p:tgtEl>
                                          <p:spTgt spid="24"/>
                                        </p:tgtEl>
                                        <p:attrNameLst>
                                          <p:attrName>ppt_h</p:attrName>
                                        </p:attrNameLst>
                                      </p:cBhvr>
                                      <p:tavLst>
                                        <p:tav tm="0">
                                          <p:val>
                                            <p:strVal val="0"/>
                                          </p:val>
                                        </p:tav>
                                        <p:tav tm="100000">
                                          <p:val>
                                            <p:strVal val="#ppt_h"/>
                                          </p:val>
                                        </p:tav>
                                      </p:tavLst>
                                    </p:anim>
                                    <p:animEffect transition="in" filter="fade">
                                      <p:cBhvr>
                                        <p:cTn id="100" dur="450"/>
                                        <p:tgtEl>
                                          <p:spTgt spid="24"/>
                                        </p:tgtEl>
                                      </p:cBhvr>
                                    </p:animEffect>
                                  </p:childTnLst>
                                </p:cTn>
                              </p:par>
                              <p:par>
                                <p:cTn id="104" presetID="10" presetClass="entr" presetSubtype="0" fill="hold" grpId="0" nodeType="withEffect">
                                  <p:stCondLst>
                                    <p:cond delay="235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par>
                                <p:cTn id="107" presetID="22" presetClass="entr" presetSubtype="8" fill="hold" grpId="0" nodeType="withEffect">
                                  <p:stCondLst>
                                    <p:cond delay="2600"/>
                                  </p:stCondLst>
                                  <p:childTnLst>
                                    <p:set>
                                      <p:cBhvr>
                                        <p:cTn id="105" dur="1" fill="hold">
                                          <p:stCondLst>
                                            <p:cond delay="0"/>
                                          </p:stCondLst>
                                        </p:cTn>
                                        <p:tgtEl>
                                          <p:spTgt spid="12"/>
                                        </p:tgtEl>
                                        <p:attrNameLst>
                                          <p:attrName>style.visibility</p:attrName>
                                        </p:attrNameLst>
                                      </p:cBhvr>
                                      <p:to>
                                        <p:strVal val="visible"/>
                                      </p:to>
                                    </p:set>
                                    <p:animEffect transition="in" filter="wipe(left)">
                                      <p:cBhvr>
                                        <p:cTn id="106" dur="600"/>
                                        <p:tgtEl>
                                          <p:spTgt spid="12"/>
                                        </p:tgtEl>
                                      </p:cBhvr>
                                    </p:animEffect>
                                  </p:childTnLst>
                                </p:cTn>
                              </p:par>
                              <p:par>
                                <p:cTn id="110" presetID="22" presetClass="entr" presetSubtype="8" fill="hold" grpId="0" nodeType="withEffect">
                                  <p:stCondLst>
                                    <p:cond delay="2850"/>
                                  </p:stCondLst>
                                  <p:childTnLst>
                                    <p:set>
                                      <p:cBhvr>
                                        <p:cTn id="108" dur="1" fill="hold">
                                          <p:stCondLst>
                                            <p:cond delay="0"/>
                                          </p:stCondLst>
                                        </p:cTn>
                                        <p:tgtEl>
                                          <p:spTgt spid="7"/>
                                        </p:tgtEl>
                                        <p:attrNameLst>
                                          <p:attrName>style.visibility</p:attrName>
                                        </p:attrNameLst>
                                      </p:cBhvr>
                                      <p:to>
                                        <p:strVal val="visible"/>
                                      </p:to>
                                    </p:set>
                                    <p:animEffect transition="in" filter="wipe(left)">
                                      <p:cBhvr>
                                        <p:cTn id="109" dur="600"/>
                                        <p:tgtEl>
                                          <p:spTgt spid="7"/>
                                        </p:tgtEl>
                                      </p:cBhvr>
                                    </p:animEffect>
                                  </p:childTnLst>
                                </p:cTn>
                              </p:par>
                              <p:par>
                                <p:cTn id="113" presetID="22" presetClass="entr" presetSubtype="8" fill="hold" grpId="0" nodeType="withEffect">
                                  <p:stCondLst>
                                    <p:cond delay="3100"/>
                                  </p:stCondLst>
                                  <p:childTnLst>
                                    <p:set>
                                      <p:cBhvr>
                                        <p:cTn id="111" dur="1" fill="hold">
                                          <p:stCondLst>
                                            <p:cond delay="0"/>
                                          </p:stCondLst>
                                        </p:cTn>
                                        <p:tgtEl>
                                          <p:spTgt spid="8"/>
                                        </p:tgtEl>
                                        <p:attrNameLst>
                                          <p:attrName>style.visibility</p:attrName>
                                        </p:attrNameLst>
                                      </p:cBhvr>
                                      <p:to>
                                        <p:strVal val="visible"/>
                                      </p:to>
                                    </p:set>
                                    <p:animEffect transition="in" filter="wipe(left)">
                                      <p:cBhvr>
                                        <p:cTn id="112" dur="600"/>
                                        <p:tgtEl>
                                          <p:spTgt spid="8"/>
                                        </p:tgtEl>
                                      </p:cBhvr>
                                    </p:animEffect>
                                  </p:childTnLst>
                                </p:cTn>
                              </p:par>
                              <p:par>
                                <p:cTn id="116" presetID="22" presetClass="entr" presetSubtype="8" fill="hold" grpId="0" nodeType="withEffect">
                                  <p:stCondLst>
                                    <p:cond delay="3350"/>
                                  </p:stCondLst>
                                  <p:childTnLst>
                                    <p:set>
                                      <p:cBhvr>
                                        <p:cTn id="114" dur="1" fill="hold">
                                          <p:stCondLst>
                                            <p:cond delay="0"/>
                                          </p:stCondLst>
                                        </p:cTn>
                                        <p:tgtEl>
                                          <p:spTgt spid="9"/>
                                        </p:tgtEl>
                                        <p:attrNameLst>
                                          <p:attrName>style.visibility</p:attrName>
                                        </p:attrNameLst>
                                      </p:cBhvr>
                                      <p:to>
                                        <p:strVal val="visible"/>
                                      </p:to>
                                    </p:set>
                                    <p:animEffect transition="in" filter="wipe(left)">
                                      <p:cBhvr>
                                        <p:cTn id="115" dur="600"/>
                                        <p:tgtEl>
                                          <p:spTgt spid="9"/>
                                        </p:tgtEl>
                                      </p:cBhvr>
                                    </p:animEffect>
                                  </p:childTnLst>
                                </p:cTn>
                              </p:par>
                              <p:par>
                                <p:cTn id="119" presetID="22" presetClass="entr" presetSubtype="8" fill="hold" grpId="0" nodeType="withEffect">
                                  <p:stCondLst>
                                    <p:cond delay="3600"/>
                                  </p:stCondLst>
                                  <p:childTnLst>
                                    <p:set>
                                      <p:cBhvr>
                                        <p:cTn id="117" dur="1" fill="hold">
                                          <p:stCondLst>
                                            <p:cond delay="0"/>
                                          </p:stCondLst>
                                        </p:cTn>
                                        <p:tgtEl>
                                          <p:spTgt spid="10"/>
                                        </p:tgtEl>
                                        <p:attrNameLst>
                                          <p:attrName>style.visibility</p:attrName>
                                        </p:attrNameLst>
                                      </p:cBhvr>
                                      <p:to>
                                        <p:strVal val="visible"/>
                                      </p:to>
                                    </p:set>
                                    <p:animEffect transition="in" filter="wipe(left)">
                                      <p:cBhvr>
                                        <p:cTn id="118" dur="600"/>
                                        <p:tgtEl>
                                          <p:spTgt spid="10"/>
                                        </p:tgtEl>
                                      </p:cBhvr>
                                    </p:animEffect>
                                  </p:childTnLst>
                                </p:cTn>
                              </p:par>
                              <p:par>
                                <p:cTn id="122" presetID="22" presetClass="entr" presetSubtype="8" fill="hold" grpId="0" nodeType="withEffect">
                                  <p:stCondLst>
                                    <p:cond delay="3850"/>
                                  </p:stCondLst>
                                  <p:childTnLst>
                                    <p:set>
                                      <p:cBhvr>
                                        <p:cTn id="120" dur="1" fill="hold">
                                          <p:stCondLst>
                                            <p:cond delay="0"/>
                                          </p:stCondLst>
                                        </p:cTn>
                                        <p:tgtEl>
                                          <p:spTgt spid="11"/>
                                        </p:tgtEl>
                                        <p:attrNameLst>
                                          <p:attrName>style.visibility</p:attrName>
                                        </p:attrNameLst>
                                      </p:cBhvr>
                                      <p:to>
                                        <p:strVal val="visible"/>
                                      </p:to>
                                    </p:set>
                                    <p:animEffect transition="in" filter="wipe(left)">
                                      <p:cBhvr>
                                        <p:cTn id="121" dur="600"/>
                                        <p:tgtEl>
                                          <p:spTgt spid="11"/>
                                        </p:tgtEl>
                                      </p:cBhvr>
                                    </p:animEffect>
                                  </p:childTnLst>
                                </p:cTn>
                              </p:par>
                              <p:par>
                                <p:cTn id="125" presetID="22" presetClass="entr" presetSubtype="8" fill="hold" grpId="0" nodeType="withEffect">
                                  <p:stCondLst>
                                    <p:cond delay="4100"/>
                                  </p:stCondLst>
                                  <p:childTnLst>
                                    <p:set>
                                      <p:cBhvr>
                                        <p:cTn id="123" dur="1" fill="hold">
                                          <p:stCondLst>
                                            <p:cond delay="0"/>
                                          </p:stCondLst>
                                        </p:cTn>
                                        <p:tgtEl>
                                          <p:spTgt spid="13"/>
                                        </p:tgtEl>
                                        <p:attrNameLst>
                                          <p:attrName>style.visibility</p:attrName>
                                        </p:attrNameLst>
                                      </p:cBhvr>
                                      <p:to>
                                        <p:strVal val="visible"/>
                                      </p:to>
                                    </p:set>
                                    <p:animEffect transition="in" filter="wipe(left)">
                                      <p:cBhvr>
                                        <p:cTn id="124" dur="600"/>
                                        <p:tgtEl>
                                          <p:spTgt spid="13"/>
                                        </p:tgtEl>
                                      </p:cBhvr>
                                    </p:animEffect>
                                  </p:childTnLst>
                                </p:cTn>
                              </p:par>
                              <p:par>
                                <p:cTn id="130" presetID="42" presetClass="entr" presetSubtype="0" fill="hold" grpId="0" nodeType="withEffect">
                                  <p:stCondLst>
                                    <p:cond delay="44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800"/>
                                        <p:tgtEl>
                                          <p:spTgt spid="32"/>
                                        </p:tgtEl>
                                      </p:cBhvr>
                                    </p:animEffect>
                                    <p:anim calcmode="lin" valueType="num">
                                      <p:cBhvr additive="base">
                                        <p:cTn id="128" dur="800" fill="hold"/>
                                        <p:tgtEl>
                                          <p:spTgt spid="32"/>
                                        </p:tgtEl>
                                        <p:attrNameLst>
                                          <p:attrName>ppt_x</p:attrName>
                                        </p:attrNameLst>
                                      </p:cBhvr>
                                      <p:tavLst>
                                        <p:tav tm="0">
                                          <p:val>
                                            <p:strVal val="#ppt_x+.35"/>
                                          </p:val>
                                        </p:tav>
                                        <p:tav tm="100000">
                                          <p:val>
                                            <p:strVal val="#ppt_x"/>
                                          </p:val>
                                        </p:tav>
                                      </p:tavLst>
                                    </p:anim>
                                    <p:anim calcmode="lin" valueType="num">
                                      <p:cBhvr additive="base">
                                        <p:cTn id="129" dur="800" fill="hold"/>
                                        <p:tgtEl>
                                          <p:spTgt spid="32"/>
                                        </p:tgtEl>
                                        <p:attrNameLst>
                                          <p:attrName>ppt_y</p:attrName>
                                        </p:attrNameLst>
                                      </p:cBhvr>
                                      <p:tavLst>
                                        <p:tav tm="0">
                                          <p:val>
                                            <p:strVal val="#ppt_y"/>
                                          </p:val>
                                        </p:tav>
                                        <p:tav tm="100000">
                                          <p:val>
                                            <p:strVal val="#ppt_y"/>
                                          </p:val>
                                        </p:tav>
                                      </p:tavLst>
                                    </p:anim>
                                  </p:childTnLst>
                                </p:cTn>
                              </p:par>
                              <p:par>
                                <p:cTn id="135" presetID="42" presetClass="entr" presetSubtype="0" fill="hold" grpId="0" nodeType="withEffect">
                                  <p:stCondLst>
                                    <p:cond delay="440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800"/>
                                        <p:tgtEl>
                                          <p:spTgt spid="33"/>
                                        </p:tgtEl>
                                      </p:cBhvr>
                                    </p:animEffect>
                                    <p:anim calcmode="lin" valueType="num">
                                      <p:cBhvr additive="base">
                                        <p:cTn id="133" dur="800" fill="hold"/>
                                        <p:tgtEl>
                                          <p:spTgt spid="33"/>
                                        </p:tgtEl>
                                        <p:attrNameLst>
                                          <p:attrName>ppt_x</p:attrName>
                                        </p:attrNameLst>
                                      </p:cBhvr>
                                      <p:tavLst>
                                        <p:tav tm="0">
                                          <p:val>
                                            <p:strVal val="#ppt_x+.35"/>
                                          </p:val>
                                        </p:tav>
                                        <p:tav tm="100000">
                                          <p:val>
                                            <p:strVal val="#ppt_x"/>
                                          </p:val>
                                        </p:tav>
                                      </p:tavLst>
                                    </p:anim>
                                    <p:anim calcmode="lin" valueType="num">
                                      <p:cBhvr additive="base">
                                        <p:cTn id="134" dur="800" fill="hold"/>
                                        <p:tgtEl>
                                          <p:spTgt spid="33"/>
                                        </p:tgtEl>
                                        <p:attrNameLst>
                                          <p:attrName>ppt_y</p:attrName>
                                        </p:attrNameLst>
                                      </p:cBhvr>
                                      <p:tavLst>
                                        <p:tav tm="0">
                                          <p:val>
                                            <p:strVal val="#ppt_y"/>
                                          </p:val>
                                        </p:tav>
                                        <p:tav tm="100000">
                                          <p:val>
                                            <p:strVal val="#ppt_y"/>
                                          </p:val>
                                        </p:tav>
                                      </p:tavLst>
                                    </p:anim>
                                  </p:childTnLst>
                                </p:cTn>
                              </p:par>
                              <p:par>
                                <p:cTn id="140" presetID="42" presetClass="entr" presetSubtype="0" fill="hold" grpId="0" nodeType="withEffect">
                                  <p:stCondLst>
                                    <p:cond delay="480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800"/>
                                        <p:tgtEl>
                                          <p:spTgt spid="34"/>
                                        </p:tgtEl>
                                      </p:cBhvr>
                                    </p:animEffect>
                                    <p:anim calcmode="lin" valueType="num">
                                      <p:cBhvr additive="base">
                                        <p:cTn id="138" dur="800" fill="hold"/>
                                        <p:tgtEl>
                                          <p:spTgt spid="34"/>
                                        </p:tgtEl>
                                        <p:attrNameLst>
                                          <p:attrName>ppt_x</p:attrName>
                                        </p:attrNameLst>
                                      </p:cBhvr>
                                      <p:tavLst>
                                        <p:tav tm="0">
                                          <p:val>
                                            <p:strVal val="#ppt_x+.35"/>
                                          </p:val>
                                        </p:tav>
                                        <p:tav tm="100000">
                                          <p:val>
                                            <p:strVal val="#ppt_x"/>
                                          </p:val>
                                        </p:tav>
                                      </p:tavLst>
                                    </p:anim>
                                    <p:anim calcmode="lin" valueType="num">
                                      <p:cBhvr additive="base">
                                        <p:cTn id="139" dur="800" fill="hold"/>
                                        <p:tgtEl>
                                          <p:spTgt spid="34"/>
                                        </p:tgtEl>
                                        <p:attrNameLst>
                                          <p:attrName>ppt_y</p:attrName>
                                        </p:attrNameLst>
                                      </p:cBhvr>
                                      <p:tavLst>
                                        <p:tav tm="0">
                                          <p:val>
                                            <p:strVal val="#ppt_y"/>
                                          </p:val>
                                        </p:tav>
                                        <p:tav tm="100000">
                                          <p:val>
                                            <p:strVal val="#ppt_y"/>
                                          </p:val>
                                        </p:tav>
                                      </p:tavLst>
                                    </p:anim>
                                  </p:childTnLst>
                                </p:cTn>
                              </p:par>
                              <p:par>
                                <p:cTn id="145" presetID="42" presetClass="entr" presetSubtype="0" fill="hold" grpId="0" nodeType="withEffect">
                                  <p:stCondLst>
                                    <p:cond delay="480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800"/>
                                        <p:tgtEl>
                                          <p:spTgt spid="35"/>
                                        </p:tgtEl>
                                      </p:cBhvr>
                                    </p:animEffect>
                                    <p:anim calcmode="lin" valueType="num">
                                      <p:cBhvr additive="base">
                                        <p:cTn id="143" dur="800" fill="hold"/>
                                        <p:tgtEl>
                                          <p:spTgt spid="35"/>
                                        </p:tgtEl>
                                        <p:attrNameLst>
                                          <p:attrName>ppt_x</p:attrName>
                                        </p:attrNameLst>
                                      </p:cBhvr>
                                      <p:tavLst>
                                        <p:tav tm="0">
                                          <p:val>
                                            <p:strVal val="#ppt_x+.35"/>
                                          </p:val>
                                        </p:tav>
                                        <p:tav tm="100000">
                                          <p:val>
                                            <p:strVal val="#ppt_x"/>
                                          </p:val>
                                        </p:tav>
                                      </p:tavLst>
                                    </p:anim>
                                    <p:anim calcmode="lin" valueType="num">
                                      <p:cBhvr additive="base">
                                        <p:cTn id="144" dur="800" fill="hold"/>
                                        <p:tgtEl>
                                          <p:spTgt spid="35"/>
                                        </p:tgtEl>
                                        <p:attrNameLst>
                                          <p:attrName>ppt_y</p:attrName>
                                        </p:attrNameLst>
                                      </p:cBhvr>
                                      <p:tavLst>
                                        <p:tav tm="0">
                                          <p:val>
                                            <p:strVal val="#ppt_y"/>
                                          </p:val>
                                        </p:tav>
                                        <p:tav tm="100000">
                                          <p:val>
                                            <p:strVal val="#ppt_y"/>
                                          </p:val>
                                        </p:tav>
                                      </p:tavLst>
                                    </p:anim>
                                  </p:childTnLst>
                                </p:cTn>
                              </p:par>
                              <p:par>
                                <p:cTn id="150" presetID="42" presetClass="entr" presetSubtype="0" fill="hold" grpId="0" nodeType="withEffect">
                                  <p:stCondLst>
                                    <p:cond delay="520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800"/>
                                        <p:tgtEl>
                                          <p:spTgt spid="36"/>
                                        </p:tgtEl>
                                      </p:cBhvr>
                                    </p:animEffect>
                                    <p:anim calcmode="lin" valueType="num">
                                      <p:cBhvr additive="base">
                                        <p:cTn id="148" dur="800" fill="hold"/>
                                        <p:tgtEl>
                                          <p:spTgt spid="36"/>
                                        </p:tgtEl>
                                        <p:attrNameLst>
                                          <p:attrName>ppt_x</p:attrName>
                                        </p:attrNameLst>
                                      </p:cBhvr>
                                      <p:tavLst>
                                        <p:tav tm="0">
                                          <p:val>
                                            <p:strVal val="#ppt_x+.35"/>
                                          </p:val>
                                        </p:tav>
                                        <p:tav tm="100000">
                                          <p:val>
                                            <p:strVal val="#ppt_x"/>
                                          </p:val>
                                        </p:tav>
                                      </p:tavLst>
                                    </p:anim>
                                    <p:anim calcmode="lin" valueType="num">
                                      <p:cBhvr additive="base">
                                        <p:cTn id="149" dur="800" fill="hold"/>
                                        <p:tgtEl>
                                          <p:spTgt spid="36"/>
                                        </p:tgtEl>
                                        <p:attrNameLst>
                                          <p:attrName>ppt_y</p:attrName>
                                        </p:attrNameLst>
                                      </p:cBhvr>
                                      <p:tavLst>
                                        <p:tav tm="0">
                                          <p:val>
                                            <p:strVal val="#ppt_y"/>
                                          </p:val>
                                        </p:tav>
                                        <p:tav tm="100000">
                                          <p:val>
                                            <p:strVal val="#ppt_y"/>
                                          </p:val>
                                        </p:tav>
                                      </p:tavLst>
                                    </p:anim>
                                  </p:childTnLst>
                                </p:cTn>
                              </p:par>
                              <p:par>
                                <p:cTn id="155" presetID="42" presetClass="entr" presetSubtype="0" fill="hold" grpId="0" nodeType="withEffect">
                                  <p:stCondLst>
                                    <p:cond delay="520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800"/>
                                        <p:tgtEl>
                                          <p:spTgt spid="37"/>
                                        </p:tgtEl>
                                      </p:cBhvr>
                                    </p:animEffect>
                                    <p:anim calcmode="lin" valueType="num">
                                      <p:cBhvr additive="base">
                                        <p:cTn id="153" dur="800" fill="hold"/>
                                        <p:tgtEl>
                                          <p:spTgt spid="37"/>
                                        </p:tgtEl>
                                        <p:attrNameLst>
                                          <p:attrName>ppt_x</p:attrName>
                                        </p:attrNameLst>
                                      </p:cBhvr>
                                      <p:tavLst>
                                        <p:tav tm="0">
                                          <p:val>
                                            <p:strVal val="#ppt_x+.35"/>
                                          </p:val>
                                        </p:tav>
                                        <p:tav tm="100000">
                                          <p:val>
                                            <p:strVal val="#ppt_x"/>
                                          </p:val>
                                        </p:tav>
                                      </p:tavLst>
                                    </p:anim>
                                    <p:anim calcmode="lin" valueType="num">
                                      <p:cBhvr additive="base">
                                        <p:cTn id="154" dur="800" fill="hold"/>
                                        <p:tgtEl>
                                          <p:spTgt spid="37"/>
                                        </p:tgtEl>
                                        <p:attrNameLst>
                                          <p:attrName>ppt_y</p:attrName>
                                        </p:attrNameLst>
                                      </p:cBhvr>
                                      <p:tavLst>
                                        <p:tav tm="0">
                                          <p:val>
                                            <p:strVal val="#ppt_y"/>
                                          </p:val>
                                        </p:tav>
                                        <p:tav tm="100000">
                                          <p:val>
                                            <p:strVal val="#ppt_y"/>
                                          </p:val>
                                        </p:tav>
                                      </p:tavLst>
                                    </p:anim>
                                  </p:childTnLst>
                                </p:cTn>
                              </p:par>
                              <p:par>
                                <p:cTn id="157" presetID="6" presetClass="emph" presetSubtype="0" fill="hold" grpId="1" nodeType="withEffect" autoRev="1" repeatCount="indefinite">
                                  <p:stCondLst>
                                    <p:cond delay="5800"/>
                                  </p:stCondLst>
                                  <p:childTnLst>
                                    <p:animScale>
                                      <p:cBhvr>
                                        <p:cTn id="156" dur="800" fill="hold"/>
                                        <p:tgtEl>
                                          <p:spTgt spid="17"/>
                                        </p:tgtEl>
                                      </p:cBhvr>
                                      <p:by x="112000" y="112000"/>
                                    </p:animScale>
                                  </p:childTnLst>
                                </p:cTn>
                              </p:par>
                              <p:par>
                                <p:cTn id="159" presetID="6" presetClass="emph" presetSubtype="0" fill="hold" grpId="1" nodeType="withEffect" autoRev="1" repeatCount="indefinite">
                                  <p:stCondLst>
                                    <p:cond delay="5800"/>
                                  </p:stCondLst>
                                  <p:childTnLst>
                                    <p:animScale>
                                      <p:cBhvr>
                                        <p:cTn id="158" dur="800" fill="hold"/>
                                        <p:tgtEl>
                                          <p:spTgt spid="18"/>
                                        </p:tgtEl>
                                      </p:cBhvr>
                                      <p:by x="112000" y="112000"/>
                                    </p:animScale>
                                  </p:childTnLst>
                                </p:cTn>
                              </p:par>
                              <p:par>
                                <p:cTn id="161" presetID="6" presetClass="emph" presetSubtype="0" fill="hold" grpId="1" nodeType="withEffect" autoRev="1" repeatCount="indefinite">
                                  <p:stCondLst>
                                    <p:cond delay="5800"/>
                                  </p:stCondLst>
                                  <p:childTnLst>
                                    <p:animScale>
                                      <p:cBhvr>
                                        <p:cTn id="160" dur="800" fill="hold"/>
                                        <p:tgtEl>
                                          <p:spTgt spid="20"/>
                                        </p:tgtEl>
                                      </p:cBhvr>
                                      <p:by x="112000" y="112000"/>
                                    </p:animScale>
                                  </p:childTnLst>
                                </p:cTn>
                              </p:par>
                              <p:par>
                                <p:cTn id="163" presetID="6" presetClass="emph" presetSubtype="0" fill="hold" grpId="1" nodeType="withEffect" autoRev="1" repeatCount="indefinite">
                                  <p:stCondLst>
                                    <p:cond delay="5800"/>
                                  </p:stCondLst>
                                  <p:childTnLst>
                                    <p:animScale>
                                      <p:cBhvr>
                                        <p:cTn id="162" dur="800" fill="hold"/>
                                        <p:tgtEl>
                                          <p:spTgt spid="21"/>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14" grpId="0" animBg="1"/>
      <p:bldP spid="15" grpId="0" animBg="1"/>
      <p:bldP spid="16" grpId="0" animBg="1"/>
      <p:bldP spid="29" grpId="0" animBg="1"/>
      <p:bldP spid="30" grpId="0" animBg="1"/>
      <p:bldP spid="31" grpId="0" animBg="1"/>
      <p:bldP spid="26" grpId="0" animBg="1"/>
      <p:bldP spid="27" grpId="0" animBg="1"/>
      <p:bldP spid="28" grpId="0" animBg="1"/>
      <p:bldP spid="17" grpId="0" animBg="1"/>
      <p:bldP spid="18" grpId="0" animBg="1"/>
      <p:bldP spid="19" grpId="0" animBg="1"/>
      <p:bldP spid="20" grpId="0" animBg="1"/>
      <p:bldP spid="21" grpId="0" animBg="1"/>
      <p:bldP spid="22" grpId="0" animBg="1"/>
      <p:bldP spid="23" grpId="0" animBg="1"/>
      <p:bldP spid="24" grpId="0" animBg="1"/>
      <p:bldP spid="25" grpId="0" animBg="1"/>
      <p:bldP spid="12" grpId="0" animBg="1"/>
      <p:bldP spid="7" grpId="0" animBg="1"/>
      <p:bldP spid="8" grpId="0" animBg="1"/>
      <p:bldP spid="9" grpId="0" animBg="1"/>
      <p:bldP spid="10" grpId="0" animBg="1"/>
      <p:bldP spid="11" grpId="0" animBg="1"/>
      <p:bldP spid="13" grpId="0" animBg="1"/>
      <p:bldP spid="32" grpId="0" animBg="1"/>
      <p:bldP spid="33" grpId="0" animBg="1"/>
      <p:bldP spid="34" grpId="0" animBg="1"/>
      <p:bldP spid="35" grpId="0" animBg="1"/>
      <p:bldP spid="36" grpId="0" animBg="1"/>
      <p:bldP spid="37" grpId="0" animBg="1"/>
      <p:bldP spid="17" grpId="1" animBg="1"/>
      <p:bldP spid="18" grpId="1" animBg="1"/>
      <p:bldP spid="20" grpId="1" animBg="1"/>
      <p:bldP spid="21"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WHERE IS THE CORRUPTION?</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Corruption = Monopoly + Discretion − Accountability</a:t>
            </a:r>
            <a:endParaRPr lang="en-US" sz="3000" dirty="0"/>
          </a:p>
        </p:txBody>
      </p:sp>
      <p:sp>
        <p:nvSpPr>
          <p:cNvPr id="7" name="Text 4"/>
          <p:cNvSpPr txBox="1"/>
          <p:nvPr/>
        </p:nvSpPr>
        <p:spPr>
          <a:xfrm>
            <a:off x="548640" y="1463040"/>
            <a:ext cx="11094415" cy="320040"/>
          </a:xfrm>
          <a:prstGeom prst="rect">
            <a:avLst/>
          </a:prstGeom>
          <a:noFill/>
          <a:ln/>
        </p:spPr>
        <p:txBody>
          <a:bodyPr wrap="square" lIns="0" tIns="0" rIns="0" bIns="0" rtlCol="0" anchor="ctr"/>
          <a:lstStyle/>
          <a:p>
            <a:pPr indent="0" marL="0">
              <a:buNone/>
            </a:pPr>
            <a:r>
              <a:rPr lang="en-US" sz="1400" i="1" dirty="0">
                <a:solidFill>
                  <a:srgbClr val="A9ADB5"/>
                </a:solidFill>
              </a:rPr>
              <a:t>Klitgaard (1988). Corruption: the abuse of entrusted power for private gain (Transparency International).</a:t>
            </a:r>
            <a:endParaRPr lang="en-US" sz="1400" dirty="0"/>
          </a:p>
        </p:txBody>
      </p:sp>
      <p:sp>
        <p:nvSpPr>
          <p:cNvPr id="8" name="MONOPOLY"/>
          <p:cNvSpPr/>
          <p:nvPr/>
        </p:nvSpPr>
        <p:spPr>
          <a:xfrm>
            <a:off x="548640" y="1965960"/>
            <a:ext cx="3560978" cy="2743200"/>
          </a:xfrm>
          <a:prstGeom prst="rect">
            <a:avLst/>
          </a:prstGeom>
          <a:solidFill>
            <a:srgbClr val="1B1D22"/>
          </a:solidFill>
          <a:ln w="12700">
            <a:solidFill>
              <a:srgbClr val="33363D"/>
            </a:solidFill>
            <a:prstDash val="solid"/>
          </a:ln>
        </p:spPr>
      </p:sp>
      <p:sp>
        <p:nvSpPr>
          <p:cNvPr id="9" name="Text 6"/>
          <p:cNvSpPr txBox="1"/>
          <p:nvPr/>
        </p:nvSpPr>
        <p:spPr>
          <a:xfrm>
            <a:off x="77724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M</a:t>
            </a:r>
            <a:endParaRPr lang="en-US" sz="5400" dirty="0"/>
          </a:p>
        </p:txBody>
      </p:sp>
      <p:sp>
        <p:nvSpPr>
          <p:cNvPr id="10" name="Text 7"/>
          <p:cNvSpPr txBox="1"/>
          <p:nvPr/>
        </p:nvSpPr>
        <p:spPr>
          <a:xfrm>
            <a:off x="164592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MONOPOLY</a:t>
            </a:r>
            <a:endParaRPr lang="en-US" sz="1300" dirty="0"/>
          </a:p>
        </p:txBody>
      </p:sp>
      <p:sp>
        <p:nvSpPr>
          <p:cNvPr id="11" name="Text 8"/>
          <p:cNvSpPr txBox="1"/>
          <p:nvPr/>
        </p:nvSpPr>
        <p:spPr>
          <a:xfrm>
            <a:off x="77724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Henry controls the only access to cheap Balkan ammunition, so everyone must pay him.</a:t>
            </a:r>
            <a:endParaRPr lang="en-US" sz="1500" dirty="0"/>
          </a:p>
        </p:txBody>
      </p:sp>
      <p:sp>
        <p:nvSpPr>
          <p:cNvPr id="12" name="DISCRETION"/>
          <p:cNvSpPr/>
          <p:nvPr/>
        </p:nvSpPr>
        <p:spPr>
          <a:xfrm>
            <a:off x="4274210" y="1965960"/>
            <a:ext cx="3560978" cy="2743200"/>
          </a:xfrm>
          <a:prstGeom prst="rect">
            <a:avLst/>
          </a:prstGeom>
          <a:solidFill>
            <a:srgbClr val="1B1D22"/>
          </a:solidFill>
          <a:ln w="12700">
            <a:solidFill>
              <a:srgbClr val="33363D"/>
            </a:solidFill>
            <a:prstDash val="solid"/>
          </a:ln>
        </p:spPr>
      </p:sp>
      <p:sp>
        <p:nvSpPr>
          <p:cNvPr id="13" name="Text 10"/>
          <p:cNvSpPr txBox="1"/>
          <p:nvPr/>
        </p:nvSpPr>
        <p:spPr>
          <a:xfrm>
            <a:off x="450281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D</a:t>
            </a:r>
            <a:endParaRPr lang="en-US" sz="5400" dirty="0"/>
          </a:p>
        </p:txBody>
      </p:sp>
      <p:sp>
        <p:nvSpPr>
          <p:cNvPr id="14" name="Text 11"/>
          <p:cNvSpPr txBox="1"/>
          <p:nvPr/>
        </p:nvSpPr>
        <p:spPr>
          <a:xfrm>
            <a:off x="537149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DISCRETION</a:t>
            </a:r>
            <a:endParaRPr lang="en-US" sz="1300" dirty="0"/>
          </a:p>
        </p:txBody>
      </p:sp>
      <p:sp>
        <p:nvSpPr>
          <p:cNvPr id="15" name="Text 12"/>
          <p:cNvSpPr txBox="1"/>
          <p:nvPr/>
        </p:nvSpPr>
        <p:spPr>
          <a:xfrm>
            <a:off x="450281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Officials, fixers and border agents in Jordan and Albania decide with little scrutiny; middlemen skim.</a:t>
            </a:r>
            <a:endParaRPr lang="en-US" sz="1500" dirty="0"/>
          </a:p>
        </p:txBody>
      </p:sp>
      <p:sp>
        <p:nvSpPr>
          <p:cNvPr id="16" name="LOW ACCOUNTABILITY"/>
          <p:cNvSpPr/>
          <p:nvPr/>
        </p:nvSpPr>
        <p:spPr>
          <a:xfrm>
            <a:off x="7999781" y="1965960"/>
            <a:ext cx="3560978" cy="2743200"/>
          </a:xfrm>
          <a:prstGeom prst="rect">
            <a:avLst/>
          </a:prstGeom>
          <a:solidFill>
            <a:srgbClr val="1B1D22"/>
          </a:solidFill>
          <a:ln w="12700">
            <a:solidFill>
              <a:srgbClr val="33363D"/>
            </a:solidFill>
            <a:prstDash val="solid"/>
          </a:ln>
        </p:spPr>
      </p:sp>
      <p:sp>
        <p:nvSpPr>
          <p:cNvPr id="17" name="Text 14"/>
          <p:cNvSpPr txBox="1"/>
          <p:nvPr/>
        </p:nvSpPr>
        <p:spPr>
          <a:xfrm>
            <a:off x="8228381" y="2103120"/>
            <a:ext cx="914400" cy="914400"/>
          </a:xfrm>
          <a:prstGeom prst="rect">
            <a:avLst/>
          </a:prstGeom>
          <a:noFill/>
          <a:ln/>
        </p:spPr>
        <p:txBody>
          <a:bodyPr wrap="square" lIns="0" tIns="0" rIns="0" bIns="0" rtlCol="0" anchor="ctr"/>
          <a:lstStyle/>
          <a:p>
            <a:pPr indent="0" marL="0">
              <a:buNone/>
            </a:pPr>
            <a:r>
              <a:rPr lang="en-US" sz="5400" b="1" dirty="0">
                <a:solidFill>
                  <a:srgbClr val="E5383B"/>
                </a:solidFill>
                <a:latin typeface="Bookman Old Style" pitchFamily="34" charset="0"/>
                <a:ea typeface="Bookman Old Style" pitchFamily="34" charset="-122"/>
                <a:cs typeface="Bookman Old Style" pitchFamily="34" charset="-120"/>
              </a:rPr>
              <a:t>A</a:t>
            </a:r>
            <a:endParaRPr lang="en-US" sz="5400" dirty="0"/>
          </a:p>
        </p:txBody>
      </p:sp>
      <p:sp>
        <p:nvSpPr>
          <p:cNvPr id="18" name="Text 15"/>
          <p:cNvSpPr txBox="1"/>
          <p:nvPr/>
        </p:nvSpPr>
        <p:spPr>
          <a:xfrm>
            <a:off x="9097061" y="2286000"/>
            <a:ext cx="2280818" cy="548640"/>
          </a:xfrm>
          <a:prstGeom prst="rect">
            <a:avLst/>
          </a:prstGeom>
          <a:noFill/>
          <a:ln/>
        </p:spPr>
        <p:txBody>
          <a:bodyPr wrap="square" lIns="0" tIns="0" rIns="0" bIns="0" rtlCol="0" anchor="ctr"/>
          <a:lstStyle/>
          <a:p>
            <a:pPr indent="0" marL="0">
              <a:buNone/>
            </a:pPr>
            <a:r>
              <a:rPr lang="en-US" sz="1300" b="1" dirty="0">
                <a:solidFill>
                  <a:srgbClr val="E5383B"/>
                </a:solidFill>
                <a:latin typeface="Courier New" pitchFamily="34" charset="0"/>
                <a:ea typeface="Courier New" pitchFamily="34" charset="-122"/>
                <a:cs typeface="Courier New" pitchFamily="34" charset="-120"/>
              </a:rPr>
              <a:t>LOW ACCOUNTABILITY</a:t>
            </a:r>
            <a:endParaRPr lang="en-US" sz="1300" dirty="0"/>
          </a:p>
        </p:txBody>
      </p:sp>
      <p:sp>
        <p:nvSpPr>
          <p:cNvPr id="19" name="Text 16"/>
          <p:cNvSpPr txBox="1"/>
          <p:nvPr/>
        </p:nvSpPr>
        <p:spPr>
          <a:xfrm>
            <a:off x="8228381"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Wartime urgency: a company run by a man in his early twenties passes the Pentagon’s vetting.</a:t>
            </a:r>
            <a:endParaRPr lang="en-US" sz="1500" dirty="0"/>
          </a:p>
        </p:txBody>
      </p:sp>
      <p:sp>
        <p:nvSpPr>
          <p:cNvPr id="20" name="state-corporate"/>
          <p:cNvSpPr/>
          <p:nvPr/>
        </p:nvSpPr>
        <p:spPr>
          <a:xfrm>
            <a:off x="548640" y="4892040"/>
            <a:ext cx="11094415" cy="1051560"/>
          </a:xfrm>
          <a:prstGeom prst="rect">
            <a:avLst/>
          </a:prstGeom>
          <a:solidFill>
            <a:srgbClr val="1B1D22"/>
          </a:solidFill>
          <a:ln w="19050">
            <a:solidFill>
              <a:srgbClr val="E5383B"/>
            </a:solidFill>
            <a:prstDash val="solid"/>
          </a:ln>
        </p:spPr>
      </p:sp>
      <p:sp>
        <p:nvSpPr>
          <p:cNvPr id="21" name="Text 18"/>
          <p:cNvSpPr txBox="1"/>
          <p:nvPr/>
        </p:nvSpPr>
        <p:spPr>
          <a:xfrm>
            <a:off x="822960" y="4892040"/>
            <a:ext cx="10545775" cy="1051560"/>
          </a:xfrm>
          <a:prstGeom prst="rect">
            <a:avLst/>
          </a:prstGeom>
          <a:noFill/>
          <a:ln/>
        </p:spPr>
        <p:txBody>
          <a:bodyPr wrap="square" lIns="0" tIns="0" rIns="0" bIns="0" rtlCol="0" anchor="ctr"/>
          <a:lstStyle/>
          <a:p>
            <a:pPr indent="0" marL="0">
              <a:buNone/>
            </a:pPr>
            <a:r>
              <a:rPr lang="en-US" sz="1500" b="1" dirty="0">
                <a:solidFill>
                  <a:srgbClr val="FF8A8C"/>
                </a:solidFill>
              </a:rPr>
              <a:t>State-corporate crime (Kramer et al., 2002): </a:t>
            </a:r>
            <a:pPr indent="0" marL="0">
              <a:buNone/>
            </a:pPr>
            <a:r>
              <a:rPr lang="en-US" sz="1500" dirty="0">
                <a:solidFill>
                  <a:schemeClr val="bg1"/>
                </a:solidFill>
              </a:rPr>
              <a:t>the harm grew from a government policy of outsourcing war logistics to the lowest bidder. The crime–terror nexus appears too: a watch-listed dealer simply borrows a clean company name.</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29" presetID="10"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34" presetID="42" presetClass="entr" presetSubtype="0" fill="hold" grpId="0" nodeType="withEffect">
                                  <p:stCondLst>
                                    <p:cond delay="13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00"/>
                                        <p:tgtEl>
                                          <p:spTgt spid="8"/>
                                        </p:tgtEl>
                                      </p:cBhvr>
                                    </p:animEffect>
                                    <p:anim calcmode="lin" valueType="num">
                                      <p:cBhvr additive="base">
                                        <p:cTn id="32" dur="700" fill="hold"/>
                                        <p:tgtEl>
                                          <p:spTgt spid="8"/>
                                        </p:tgtEl>
                                        <p:attrNameLst>
                                          <p:attrName>ppt_x</p:attrName>
                                        </p:attrNameLst>
                                      </p:cBhvr>
                                      <p:tavLst>
                                        <p:tav tm="0">
                                          <p:val>
                                            <p:strVal val="#ppt_x"/>
                                          </p:val>
                                        </p:tav>
                                        <p:tav tm="100000">
                                          <p:val>
                                            <p:strVal val="#ppt_x"/>
                                          </p:val>
                                        </p:tav>
                                      </p:tavLst>
                                    </p:anim>
                                    <p:anim calcmode="lin" valueType="num">
                                      <p:cBhvr additive="base">
                                        <p:cTn id="33" dur="700" fill="hold"/>
                                        <p:tgtEl>
                                          <p:spTgt spid="8"/>
                                        </p:tgtEl>
                                        <p:attrNameLst>
                                          <p:attrName>ppt_y</p:attrName>
                                        </p:attrNameLst>
                                      </p:cBhvr>
                                      <p:tavLst>
                                        <p:tav tm="0">
                                          <p:val>
                                            <p:strVal val="#ppt_y+.06"/>
                                          </p:val>
                                        </p:tav>
                                        <p:tav tm="100000">
                                          <p:val>
                                            <p:strVal val="#ppt_y"/>
                                          </p:val>
                                        </p:tav>
                                      </p:tavLst>
                                    </p:anim>
                                  </p:childTnLst>
                                </p:cTn>
                              </p:par>
                              <p:par>
                                <p:cTn id="39" presetID="53" presetClass="entr" presetSubtype="32" fill="hold" grpId="0" nodeType="withEffect">
                                  <p:stCondLst>
                                    <p:cond delay="150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450" fill="hold"/>
                                        <p:tgtEl>
                                          <p:spTgt spid="9"/>
                                        </p:tgtEl>
                                        <p:attrNameLst>
                                          <p:attrName>ppt_w</p:attrName>
                                        </p:attrNameLst>
                                      </p:cBhvr>
                                      <p:tavLst>
                                        <p:tav tm="0">
                                          <p:val>
                                            <p:strVal val="#ppt_w*2.4"/>
                                          </p:val>
                                        </p:tav>
                                        <p:tav tm="100000">
                                          <p:val>
                                            <p:strVal val="#ppt_w"/>
                                          </p:val>
                                        </p:tav>
                                      </p:tavLst>
                                    </p:anim>
                                    <p:anim calcmode="lin" valueType="num">
                                      <p:cBhvr additive="base">
                                        <p:cTn id="37" dur="450" fill="hold"/>
                                        <p:tgtEl>
                                          <p:spTgt spid="9"/>
                                        </p:tgtEl>
                                        <p:attrNameLst>
                                          <p:attrName>ppt_h</p:attrName>
                                        </p:attrNameLst>
                                      </p:cBhvr>
                                      <p:tavLst>
                                        <p:tav tm="0">
                                          <p:val>
                                            <p:strVal val="#ppt_h*2.4"/>
                                          </p:val>
                                        </p:tav>
                                        <p:tav tm="100000">
                                          <p:val>
                                            <p:strVal val="#ppt_h"/>
                                          </p:val>
                                        </p:tav>
                                      </p:tavLst>
                                    </p:anim>
                                    <p:animEffect transition="in" filter="fade">
                                      <p:cBhvr>
                                        <p:cTn id="38" dur="450"/>
                                        <p:tgtEl>
                                          <p:spTgt spid="9"/>
                                        </p:tgtEl>
                                      </p:cBhvr>
                                    </p:animEffect>
                                  </p:childTnLst>
                                </p:cTn>
                              </p:par>
                              <p:par>
                                <p:cTn id="44" presetID="42" presetClass="entr" presetSubtype="0" fill="hold" grpId="0" nodeType="withEffect">
                                  <p:stCondLst>
                                    <p:cond delay="16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anim calcmode="lin" valueType="num">
                                      <p:cBhvr additive="base">
                                        <p:cTn id="42" dur="600" fill="hold"/>
                                        <p:tgtEl>
                                          <p:spTgt spid="10"/>
                                        </p:tgtEl>
                                        <p:attrNameLst>
                                          <p:attrName>ppt_x</p:attrName>
                                        </p:attrNameLst>
                                      </p:cBhvr>
                                      <p:tavLst>
                                        <p:tav tm="0">
                                          <p:val>
                                            <p:strVal val="#ppt_x"/>
                                          </p:val>
                                        </p:tav>
                                        <p:tav tm="100000">
                                          <p:val>
                                            <p:strVal val="#ppt_x"/>
                                          </p:val>
                                        </p:tav>
                                      </p:tavLst>
                                    </p:anim>
                                    <p:anim calcmode="lin" valueType="num">
                                      <p:cBhvr additive="base">
                                        <p:cTn id="43" dur="600" fill="hold"/>
                                        <p:tgtEl>
                                          <p:spTgt spid="10"/>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16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600"/>
                                        <p:tgtEl>
                                          <p:spTgt spid="11"/>
                                        </p:tgtEl>
                                      </p:cBhvr>
                                    </p:animEffect>
                                    <p:anim calcmode="lin" valueType="num">
                                      <p:cBhvr additive="base">
                                        <p:cTn id="47" dur="600" fill="hold"/>
                                        <p:tgtEl>
                                          <p:spTgt spid="11"/>
                                        </p:tgtEl>
                                        <p:attrNameLst>
                                          <p:attrName>ppt_x</p:attrName>
                                        </p:attrNameLst>
                                      </p:cBhvr>
                                      <p:tavLst>
                                        <p:tav tm="0">
                                          <p:val>
                                            <p:strVal val="#ppt_x"/>
                                          </p:val>
                                        </p:tav>
                                        <p:tav tm="100000">
                                          <p:val>
                                            <p:strVal val="#ppt_x"/>
                                          </p:val>
                                        </p:tav>
                                      </p:tavLst>
                                    </p:anim>
                                    <p:anim calcmode="lin" valueType="num">
                                      <p:cBhvr additive="base">
                                        <p:cTn id="48" dur="600" fill="hold"/>
                                        <p:tgtEl>
                                          <p:spTgt spid="11"/>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190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700"/>
                                        <p:tgtEl>
                                          <p:spTgt spid="12"/>
                                        </p:tgtEl>
                                      </p:cBhvr>
                                    </p:animEffect>
                                    <p:anim calcmode="lin" valueType="num">
                                      <p:cBhvr additive="base">
                                        <p:cTn id="52" dur="700" fill="hold"/>
                                        <p:tgtEl>
                                          <p:spTgt spid="12"/>
                                        </p:tgtEl>
                                        <p:attrNameLst>
                                          <p:attrName>ppt_x</p:attrName>
                                        </p:attrNameLst>
                                      </p:cBhvr>
                                      <p:tavLst>
                                        <p:tav tm="0">
                                          <p:val>
                                            <p:strVal val="#ppt_x"/>
                                          </p:val>
                                        </p:tav>
                                        <p:tav tm="100000">
                                          <p:val>
                                            <p:strVal val="#ppt_x"/>
                                          </p:val>
                                        </p:tav>
                                      </p:tavLst>
                                    </p:anim>
                                    <p:anim calcmode="lin" valueType="num">
                                      <p:cBhvr additive="base">
                                        <p:cTn id="53" dur="700" fill="hold"/>
                                        <p:tgtEl>
                                          <p:spTgt spid="12"/>
                                        </p:tgtEl>
                                        <p:attrNameLst>
                                          <p:attrName>ppt_y</p:attrName>
                                        </p:attrNameLst>
                                      </p:cBhvr>
                                      <p:tavLst>
                                        <p:tav tm="0">
                                          <p:val>
                                            <p:strVal val="#ppt_y+.06"/>
                                          </p:val>
                                        </p:tav>
                                        <p:tav tm="100000">
                                          <p:val>
                                            <p:strVal val="#ppt_y"/>
                                          </p:val>
                                        </p:tav>
                                      </p:tavLst>
                                    </p:anim>
                                  </p:childTnLst>
                                </p:cTn>
                              </p:par>
                              <p:par>
                                <p:cTn id="59" presetID="53" presetClass="entr" presetSubtype="32" fill="hold" grpId="0" nodeType="withEffect">
                                  <p:stCondLst>
                                    <p:cond delay="210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450" fill="hold"/>
                                        <p:tgtEl>
                                          <p:spTgt spid="13"/>
                                        </p:tgtEl>
                                        <p:attrNameLst>
                                          <p:attrName>ppt_w</p:attrName>
                                        </p:attrNameLst>
                                      </p:cBhvr>
                                      <p:tavLst>
                                        <p:tav tm="0">
                                          <p:val>
                                            <p:strVal val="#ppt_w*2.4"/>
                                          </p:val>
                                        </p:tav>
                                        <p:tav tm="100000">
                                          <p:val>
                                            <p:strVal val="#ppt_w"/>
                                          </p:val>
                                        </p:tav>
                                      </p:tavLst>
                                    </p:anim>
                                    <p:anim calcmode="lin" valueType="num">
                                      <p:cBhvr additive="base">
                                        <p:cTn id="57" dur="450" fill="hold"/>
                                        <p:tgtEl>
                                          <p:spTgt spid="13"/>
                                        </p:tgtEl>
                                        <p:attrNameLst>
                                          <p:attrName>ppt_h</p:attrName>
                                        </p:attrNameLst>
                                      </p:cBhvr>
                                      <p:tavLst>
                                        <p:tav tm="0">
                                          <p:val>
                                            <p:strVal val="#ppt_h*2.4"/>
                                          </p:val>
                                        </p:tav>
                                        <p:tav tm="100000">
                                          <p:val>
                                            <p:strVal val="#ppt_h"/>
                                          </p:val>
                                        </p:tav>
                                      </p:tavLst>
                                    </p:anim>
                                    <p:animEffect transition="in" filter="fade">
                                      <p:cBhvr>
                                        <p:cTn id="58" dur="450"/>
                                        <p:tgtEl>
                                          <p:spTgt spid="13"/>
                                        </p:tgtEl>
                                      </p:cBhvr>
                                    </p:animEffect>
                                  </p:childTnLst>
                                </p:cTn>
                              </p:par>
                              <p:par>
                                <p:cTn id="64" presetID="42" presetClass="entr" presetSubtype="0" fill="hold" grpId="0" nodeType="withEffect">
                                  <p:stCondLst>
                                    <p:cond delay="220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additive="base">
                                        <p:cTn id="62" dur="600" fill="hold"/>
                                        <p:tgtEl>
                                          <p:spTgt spid="14"/>
                                        </p:tgtEl>
                                        <p:attrNameLst>
                                          <p:attrName>ppt_x</p:attrName>
                                        </p:attrNameLst>
                                      </p:cBhvr>
                                      <p:tavLst>
                                        <p:tav tm="0">
                                          <p:val>
                                            <p:strVal val="#ppt_x"/>
                                          </p:val>
                                        </p:tav>
                                        <p:tav tm="100000">
                                          <p:val>
                                            <p:strVal val="#ppt_x"/>
                                          </p:val>
                                        </p:tav>
                                      </p:tavLst>
                                    </p:anim>
                                    <p:anim calcmode="lin" valueType="num">
                                      <p:cBhvr additive="base">
                                        <p:cTn id="63" dur="600" fill="hold"/>
                                        <p:tgtEl>
                                          <p:spTgt spid="14"/>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220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600"/>
                                        <p:tgtEl>
                                          <p:spTgt spid="15"/>
                                        </p:tgtEl>
                                      </p:cBhvr>
                                    </p:animEffect>
                                    <p:anim calcmode="lin" valueType="num">
                                      <p:cBhvr additive="base">
                                        <p:cTn id="67" dur="600" fill="hold"/>
                                        <p:tgtEl>
                                          <p:spTgt spid="15"/>
                                        </p:tgtEl>
                                        <p:attrNameLst>
                                          <p:attrName>ppt_x</p:attrName>
                                        </p:attrNameLst>
                                      </p:cBhvr>
                                      <p:tavLst>
                                        <p:tav tm="0">
                                          <p:val>
                                            <p:strVal val="#ppt_x"/>
                                          </p:val>
                                        </p:tav>
                                        <p:tav tm="100000">
                                          <p:val>
                                            <p:strVal val="#ppt_x"/>
                                          </p:val>
                                        </p:tav>
                                      </p:tavLst>
                                    </p:anim>
                                    <p:anim calcmode="lin" valueType="num">
                                      <p:cBhvr additive="base">
                                        <p:cTn id="68" dur="600" fill="hold"/>
                                        <p:tgtEl>
                                          <p:spTgt spid="15"/>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250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700"/>
                                        <p:tgtEl>
                                          <p:spTgt spid="16"/>
                                        </p:tgtEl>
                                      </p:cBhvr>
                                    </p:animEffect>
                                    <p:anim calcmode="lin" valueType="num">
                                      <p:cBhvr additive="base">
                                        <p:cTn id="72" dur="700" fill="hold"/>
                                        <p:tgtEl>
                                          <p:spTgt spid="16"/>
                                        </p:tgtEl>
                                        <p:attrNameLst>
                                          <p:attrName>ppt_x</p:attrName>
                                        </p:attrNameLst>
                                      </p:cBhvr>
                                      <p:tavLst>
                                        <p:tav tm="0">
                                          <p:val>
                                            <p:strVal val="#ppt_x"/>
                                          </p:val>
                                        </p:tav>
                                        <p:tav tm="100000">
                                          <p:val>
                                            <p:strVal val="#ppt_x"/>
                                          </p:val>
                                        </p:tav>
                                      </p:tavLst>
                                    </p:anim>
                                    <p:anim calcmode="lin" valueType="num">
                                      <p:cBhvr additive="base">
                                        <p:cTn id="73" dur="700" fill="hold"/>
                                        <p:tgtEl>
                                          <p:spTgt spid="16"/>
                                        </p:tgtEl>
                                        <p:attrNameLst>
                                          <p:attrName>ppt_y</p:attrName>
                                        </p:attrNameLst>
                                      </p:cBhvr>
                                      <p:tavLst>
                                        <p:tav tm="0">
                                          <p:val>
                                            <p:strVal val="#ppt_y+.06"/>
                                          </p:val>
                                        </p:tav>
                                        <p:tav tm="100000">
                                          <p:val>
                                            <p:strVal val="#ppt_y"/>
                                          </p:val>
                                        </p:tav>
                                      </p:tavLst>
                                    </p:anim>
                                  </p:childTnLst>
                                </p:cTn>
                              </p:par>
                              <p:par>
                                <p:cTn id="79" presetID="53" presetClass="entr" presetSubtype="32" fill="hold" grpId="0" nodeType="withEffect">
                                  <p:stCondLst>
                                    <p:cond delay="270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450" fill="hold"/>
                                        <p:tgtEl>
                                          <p:spTgt spid="17"/>
                                        </p:tgtEl>
                                        <p:attrNameLst>
                                          <p:attrName>ppt_w</p:attrName>
                                        </p:attrNameLst>
                                      </p:cBhvr>
                                      <p:tavLst>
                                        <p:tav tm="0">
                                          <p:val>
                                            <p:strVal val="#ppt_w*2.4"/>
                                          </p:val>
                                        </p:tav>
                                        <p:tav tm="100000">
                                          <p:val>
                                            <p:strVal val="#ppt_w"/>
                                          </p:val>
                                        </p:tav>
                                      </p:tavLst>
                                    </p:anim>
                                    <p:anim calcmode="lin" valueType="num">
                                      <p:cBhvr additive="base">
                                        <p:cTn id="77" dur="450" fill="hold"/>
                                        <p:tgtEl>
                                          <p:spTgt spid="17"/>
                                        </p:tgtEl>
                                        <p:attrNameLst>
                                          <p:attrName>ppt_h</p:attrName>
                                        </p:attrNameLst>
                                      </p:cBhvr>
                                      <p:tavLst>
                                        <p:tav tm="0">
                                          <p:val>
                                            <p:strVal val="#ppt_h*2.4"/>
                                          </p:val>
                                        </p:tav>
                                        <p:tav tm="100000">
                                          <p:val>
                                            <p:strVal val="#ppt_h"/>
                                          </p:val>
                                        </p:tav>
                                      </p:tavLst>
                                    </p:anim>
                                    <p:animEffect transition="in" filter="fade">
                                      <p:cBhvr>
                                        <p:cTn id="78" dur="450"/>
                                        <p:tgtEl>
                                          <p:spTgt spid="17"/>
                                        </p:tgtEl>
                                      </p:cBhvr>
                                    </p:animEffect>
                                  </p:childTnLst>
                                </p:cTn>
                              </p:par>
                              <p:par>
                                <p:cTn id="84" presetID="42" presetClass="entr" presetSubtype="0" fill="hold" grpId="0" nodeType="withEffect">
                                  <p:stCondLst>
                                    <p:cond delay="280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600"/>
                                        <p:tgtEl>
                                          <p:spTgt spid="18"/>
                                        </p:tgtEl>
                                      </p:cBhvr>
                                    </p:animEffect>
                                    <p:anim calcmode="lin" valueType="num">
                                      <p:cBhvr additive="base">
                                        <p:cTn id="82" dur="600" fill="hold"/>
                                        <p:tgtEl>
                                          <p:spTgt spid="18"/>
                                        </p:tgtEl>
                                        <p:attrNameLst>
                                          <p:attrName>ppt_x</p:attrName>
                                        </p:attrNameLst>
                                      </p:cBhvr>
                                      <p:tavLst>
                                        <p:tav tm="0">
                                          <p:val>
                                            <p:strVal val="#ppt_x"/>
                                          </p:val>
                                        </p:tav>
                                        <p:tav tm="100000">
                                          <p:val>
                                            <p:strVal val="#ppt_x"/>
                                          </p:val>
                                        </p:tav>
                                      </p:tavLst>
                                    </p:anim>
                                    <p:anim calcmode="lin" valueType="num">
                                      <p:cBhvr additive="base">
                                        <p:cTn id="83" dur="600" fill="hold"/>
                                        <p:tgtEl>
                                          <p:spTgt spid="18"/>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2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600"/>
                                        <p:tgtEl>
                                          <p:spTgt spid="19"/>
                                        </p:tgtEl>
                                      </p:cBhvr>
                                    </p:animEffect>
                                    <p:anim calcmode="lin" valueType="num">
                                      <p:cBhvr additive="base">
                                        <p:cTn id="87" dur="600" fill="hold"/>
                                        <p:tgtEl>
                                          <p:spTgt spid="19"/>
                                        </p:tgtEl>
                                        <p:attrNameLst>
                                          <p:attrName>ppt_x</p:attrName>
                                        </p:attrNameLst>
                                      </p:cBhvr>
                                      <p:tavLst>
                                        <p:tav tm="0">
                                          <p:val>
                                            <p:strVal val="#ppt_x"/>
                                          </p:val>
                                        </p:tav>
                                        <p:tav tm="100000">
                                          <p:val>
                                            <p:strVal val="#ppt_x"/>
                                          </p:val>
                                        </p:tav>
                                      </p:tavLst>
                                    </p:anim>
                                    <p:anim calcmode="lin" valueType="num">
                                      <p:cBhvr additive="base">
                                        <p:cTn id="88" dur="600" fill="hold"/>
                                        <p:tgtEl>
                                          <p:spTgt spid="19"/>
                                        </p:tgtEl>
                                        <p:attrNameLst>
                                          <p:attrName>ppt_y</p:attrName>
                                        </p:attrNameLst>
                                      </p:cBhvr>
                                      <p:tavLst>
                                        <p:tav tm="0">
                                          <p:val>
                                            <p:strVal val="#ppt_y+.06"/>
                                          </p:val>
                                        </p:tav>
                                        <p:tav tm="100000">
                                          <p:val>
                                            <p:strVal val="#ppt_y"/>
                                          </p:val>
                                        </p:tav>
                                      </p:tavLst>
                                    </p:anim>
                                  </p:childTnLst>
                                </p:cTn>
                              </p:par>
                              <p:par>
                                <p:cTn id="92" presetID="22" presetClass="entr" presetSubtype="8" fill="hold" grpId="0" nodeType="withEffect">
                                  <p:stCondLst>
                                    <p:cond delay="3600"/>
                                  </p:stCondLst>
                                  <p:childTnLst>
                                    <p:set>
                                      <p:cBhvr>
                                        <p:cTn id="90" dur="1" fill="hold">
                                          <p:stCondLst>
                                            <p:cond delay="0"/>
                                          </p:stCondLst>
                                        </p:cTn>
                                        <p:tgtEl>
                                          <p:spTgt spid="20"/>
                                        </p:tgtEl>
                                        <p:attrNameLst>
                                          <p:attrName>style.visibility</p:attrName>
                                        </p:attrNameLst>
                                      </p:cBhvr>
                                      <p:to>
                                        <p:strVal val="visible"/>
                                      </p:to>
                                    </p:set>
                                    <p:animEffect transition="in" filter="wipe(left)">
                                      <p:cBhvr>
                                        <p:cTn id="91" dur="900"/>
                                        <p:tgtEl>
                                          <p:spTgt spid="20"/>
                                        </p:tgtEl>
                                      </p:cBhvr>
                                    </p:animEffect>
                                  </p:childTnLst>
                                </p:cTn>
                              </p:par>
                              <p:par>
                                <p:cTn id="95" presetID="10" presetClass="entr" presetSubtype="0" fill="hold" grpId="0" nodeType="withEffect">
                                  <p:stCondLst>
                                    <p:cond delay="410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7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III  ·  THE FALL  ·  ▶ PLAYBACK</a:t>
            </a:r>
            <a:endParaRPr lang="en-US" sz="1300" dirty="0"/>
          </a:p>
        </p:txBody>
      </p:sp>
      <p:sp>
        <p:nvSpPr>
          <p:cNvPr id="4" name="cutscene act3"/>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bg">    </p:cNvPr>
          <p:cNvPicPr>
            <a:picLocks noChangeAspect="1"/>
          </p:cNvPicPr>
          <p:nvPr/>
        </p:nvPicPr>
        <p:blipFill>
          <a:blip r:embed="rId1"/>
          <a:stretch>
            <a:fillRect/>
          </a:stretch>
        </p:blipFill>
        <p:spPr>
          <a:xfrm>
            <a:off x="548640" y="868680"/>
            <a:ext cx="11094415" cy="5349240"/>
          </a:xfrm>
          <a:prstGeom prst="rect">
            <a:avLst/>
          </a:prstGeom>
        </p:spPr>
      </p:pic>
      <p:pic>
        <p:nvPicPr>
          <p:cNvPr id="7" name="david" descr="david">    </p:cNvPr>
          <p:cNvPicPr>
            <a:picLocks noChangeAspect="1"/>
          </p:cNvPicPr>
          <p:nvPr/>
        </p:nvPicPr>
        <p:blipFill>
          <a:blip r:embed="rId2"/>
          <a:stretch>
            <a:fillRect/>
          </a:stretch>
        </p:blipFill>
        <p:spPr>
          <a:xfrm>
            <a:off x="1097280" y="2788920"/>
            <a:ext cx="1262743" cy="2651760"/>
          </a:xfrm>
          <a:prstGeom prst="rect">
            <a:avLst/>
          </a:prstGeom>
        </p:spPr>
      </p:pic>
      <p:pic>
        <p:nvPicPr>
          <p:cNvPr id="8" name="david shock" descr="david shock">    </p:cNvPr>
          <p:cNvPicPr>
            <a:picLocks noChangeAspect="1"/>
          </p:cNvPicPr>
          <p:nvPr/>
        </p:nvPicPr>
        <p:blipFill>
          <a:blip r:embed="rId3"/>
          <a:stretch>
            <a:fillRect/>
          </a:stretch>
        </p:blipFill>
        <p:spPr>
          <a:xfrm>
            <a:off x="1097280" y="2788920"/>
            <a:ext cx="1262743" cy="2651760"/>
          </a:xfrm>
          <a:prstGeom prst="rect">
            <a:avLst/>
          </a:prstGeom>
        </p:spPr>
      </p:pic>
      <p:pic>
        <p:nvPicPr>
          <p:cNvPr id="9" name="david sad" descr="david sad">    </p:cNvPr>
          <p:cNvPicPr>
            <a:picLocks noChangeAspect="1"/>
          </p:cNvPicPr>
          <p:nvPr/>
        </p:nvPicPr>
        <p:blipFill>
          <a:blip r:embed="rId4"/>
          <a:stretch>
            <a:fillRect/>
          </a:stretch>
        </p:blipFill>
        <p:spPr>
          <a:xfrm>
            <a:off x="1097280" y="2788920"/>
            <a:ext cx="1262743" cy="2651760"/>
          </a:xfrm>
          <a:prstGeom prst="rect">
            <a:avLst/>
          </a:prstGeom>
        </p:spPr>
      </p:pic>
      <p:pic>
        <p:nvPicPr>
          <p:cNvPr id="10" name="efraim" descr="efraim">    </p:cNvPr>
          <p:cNvPicPr>
            <a:picLocks noChangeAspect="1"/>
          </p:cNvPicPr>
          <p:nvPr/>
        </p:nvPicPr>
        <p:blipFill>
          <a:blip r:embed="rId5"/>
          <a:stretch>
            <a:fillRect/>
          </a:stretch>
        </p:blipFill>
        <p:spPr>
          <a:xfrm>
            <a:off x="9509760" y="2788920"/>
            <a:ext cx="1262743" cy="2651760"/>
          </a:xfrm>
          <a:prstGeom prst="rect">
            <a:avLst/>
          </a:prstGeom>
        </p:spPr>
      </p:pic>
      <p:pic>
        <p:nvPicPr>
          <p:cNvPr id="11" name="efraim grin" descr="efraim grin">    </p:cNvPr>
          <p:cNvPicPr>
            <a:picLocks noChangeAspect="1"/>
          </p:cNvPicPr>
          <p:nvPr/>
        </p:nvPicPr>
        <p:blipFill>
          <a:blip r:embed="rId6"/>
          <a:stretch>
            <a:fillRect/>
          </a:stretch>
        </p:blipFill>
        <p:spPr>
          <a:xfrm>
            <a:off x="9509760" y="2788920"/>
            <a:ext cx="1262743" cy="2651760"/>
          </a:xfrm>
          <a:prstGeom prst="rect">
            <a:avLst/>
          </a:prstGeom>
        </p:spPr>
      </p:pic>
      <p:pic>
        <p:nvPicPr>
          <p:cNvPr id="12" name="efraim jailed" descr="efraim jailed">    </p:cNvPr>
          <p:cNvPicPr>
            <a:picLocks noChangeAspect="1"/>
          </p:cNvPicPr>
          <p:nvPr/>
        </p:nvPicPr>
        <p:blipFill>
          <a:blip r:embed="rId7"/>
          <a:stretch>
            <a:fillRect/>
          </a:stretch>
        </p:blipFill>
        <p:spPr>
          <a:xfrm>
            <a:off x="9509760" y="2788920"/>
            <a:ext cx="1262743" cy="2651760"/>
          </a:xfrm>
          <a:prstGeom prst="rect">
            <a:avLst/>
          </a:prstGeom>
        </p:spPr>
      </p:pic>
      <p:pic>
        <p:nvPicPr>
          <p:cNvPr id="13" name="china crate" descr="china crate">    </p:cNvPr>
          <p:cNvPicPr>
            <a:picLocks noChangeAspect="1"/>
          </p:cNvPicPr>
          <p:nvPr/>
        </p:nvPicPr>
        <p:blipFill>
          <a:blip r:embed="rId8"/>
          <a:stretch>
            <a:fillRect/>
          </a:stretch>
        </p:blipFill>
        <p:spPr>
          <a:xfrm>
            <a:off x="4526280" y="3611880"/>
            <a:ext cx="2377440" cy="1682496"/>
          </a:xfrm>
          <a:prstGeom prst="rect">
            <a:avLst/>
          </a:prstGeom>
        </p:spPr>
      </p:pic>
      <p:pic>
        <p:nvPicPr>
          <p:cNvPr id="14" name="magnifier" descr="magnifier">    </p:cNvPr>
          <p:cNvPicPr>
            <a:picLocks noChangeAspect="1"/>
          </p:cNvPicPr>
          <p:nvPr/>
        </p:nvPicPr>
        <p:blipFill>
          <a:blip r:embed="rId9"/>
          <a:stretch>
            <a:fillRect/>
          </a:stretch>
        </p:blipFill>
        <p:spPr>
          <a:xfrm>
            <a:off x="6172200" y="3017520"/>
            <a:ext cx="1188720" cy="1188720"/>
          </a:xfrm>
          <a:prstGeom prst="rect">
            <a:avLst/>
          </a:prstGeom>
        </p:spPr>
      </p:pic>
      <p:pic>
        <p:nvPicPr>
          <p:cNvPr id="15" name="bang" descr="bang">    </p:cNvPr>
          <p:cNvPicPr>
            <a:picLocks noChangeAspect="1"/>
          </p:cNvPicPr>
          <p:nvPr/>
        </p:nvPicPr>
        <p:blipFill>
          <a:blip r:embed="rId10"/>
          <a:stretch>
            <a:fillRect/>
          </a:stretch>
        </p:blipFill>
        <p:spPr>
          <a:xfrm>
            <a:off x="2240280" y="2148840"/>
            <a:ext cx="731520" cy="978408"/>
          </a:xfrm>
          <a:prstGeom prst="rect">
            <a:avLst/>
          </a:prstGeom>
        </p:spPr>
      </p:pic>
      <p:pic>
        <p:nvPicPr>
          <p:cNvPr id="16" name="box 0" descr="box 0">    </p:cNvPr>
          <p:cNvPicPr>
            <a:picLocks noChangeAspect="1"/>
          </p:cNvPicPr>
          <p:nvPr/>
        </p:nvPicPr>
        <p:blipFill>
          <a:blip r:embed="rId11"/>
          <a:stretch>
            <a:fillRect/>
          </a:stretch>
        </p:blipFill>
        <p:spPr>
          <a:xfrm>
            <a:off x="4297680" y="4251960"/>
            <a:ext cx="1371600" cy="1024128"/>
          </a:xfrm>
          <a:prstGeom prst="rect">
            <a:avLst/>
          </a:prstGeom>
        </p:spPr>
      </p:pic>
      <p:pic>
        <p:nvPicPr>
          <p:cNvPr id="17" name="box 1" descr="box 1">    </p:cNvPr>
          <p:cNvPicPr>
            <a:picLocks noChangeAspect="1"/>
          </p:cNvPicPr>
          <p:nvPr/>
        </p:nvPicPr>
        <p:blipFill>
          <a:blip r:embed="rId12"/>
          <a:stretch>
            <a:fillRect/>
          </a:stretch>
        </p:blipFill>
        <p:spPr>
          <a:xfrm>
            <a:off x="5806440" y="4251960"/>
            <a:ext cx="1371600" cy="1024128"/>
          </a:xfrm>
          <a:prstGeom prst="rect">
            <a:avLst/>
          </a:prstGeom>
        </p:spPr>
      </p:pic>
      <p:pic>
        <p:nvPicPr>
          <p:cNvPr id="18" name="box 2" descr="box 2">    </p:cNvPr>
          <p:cNvPicPr>
            <a:picLocks noChangeAspect="1"/>
          </p:cNvPicPr>
          <p:nvPr/>
        </p:nvPicPr>
        <p:blipFill>
          <a:blip r:embed="rId13"/>
          <a:stretch>
            <a:fillRect/>
          </a:stretch>
        </p:blipFill>
        <p:spPr>
          <a:xfrm>
            <a:off x="5047488" y="3291840"/>
            <a:ext cx="1371600" cy="1024128"/>
          </a:xfrm>
          <a:prstGeom prst="rect">
            <a:avLst/>
          </a:prstGeom>
        </p:spPr>
      </p:pic>
      <p:pic>
        <p:nvPicPr>
          <p:cNvPr id="19" name="crack" descr="crack">    </p:cNvPr>
          <p:cNvPicPr>
            <a:picLocks noChangeAspect="1"/>
          </p:cNvPicPr>
          <p:nvPr/>
        </p:nvPicPr>
        <p:blipFill>
          <a:blip r:embed="rId14"/>
          <a:stretch>
            <a:fillRect/>
          </a:stretch>
        </p:blipFill>
        <p:spPr>
          <a:xfrm>
            <a:off x="5806440" y="1188720"/>
            <a:ext cx="502920" cy="4206240"/>
          </a:xfrm>
          <a:prstGeom prst="rect">
            <a:avLst/>
          </a:prstGeom>
        </p:spPr>
      </p:pic>
      <p:pic>
        <p:nvPicPr>
          <p:cNvPr id="20" name="cash" descr="cash">    </p:cNvPr>
          <p:cNvPicPr>
            <a:picLocks noChangeAspect="1"/>
          </p:cNvPicPr>
          <p:nvPr/>
        </p:nvPicPr>
        <p:blipFill>
          <a:blip r:embed="rId15"/>
          <a:stretch>
            <a:fillRect/>
          </a:stretch>
        </p:blipFill>
        <p:spPr>
          <a:xfrm>
            <a:off x="8138160" y="4526280"/>
            <a:ext cx="1097280" cy="758952"/>
          </a:xfrm>
          <a:prstGeom prst="rect">
            <a:avLst/>
          </a:prstGeom>
        </p:spPr>
      </p:pic>
      <p:pic>
        <p:nvPicPr>
          <p:cNvPr id="21" name="gavel" descr="gavel">    </p:cNvPr>
          <p:cNvPicPr>
            <a:picLocks noChangeAspect="1"/>
          </p:cNvPicPr>
          <p:nvPr/>
        </p:nvPicPr>
        <p:blipFill>
          <a:blip r:embed="rId16"/>
          <a:stretch>
            <a:fillRect/>
          </a:stretch>
        </p:blipFill>
        <p:spPr>
          <a:xfrm>
            <a:off x="5257800" y="1234440"/>
            <a:ext cx="1600200" cy="1463040"/>
          </a:xfrm>
          <a:prstGeom prst="rect">
            <a:avLst/>
          </a:prstGeom>
        </p:spPr>
      </p:pic>
      <p:pic>
        <p:nvPicPr>
          <p:cNvPr id="22" name="bars" descr="bars">    </p:cNvPr>
          <p:cNvPicPr>
            <a:picLocks noChangeAspect="1"/>
          </p:cNvPicPr>
          <p:nvPr/>
        </p:nvPicPr>
        <p:blipFill>
          <a:blip r:embed="rId17"/>
          <a:stretch>
            <a:fillRect/>
          </a:stretch>
        </p:blipFill>
        <p:spPr>
          <a:xfrm>
            <a:off x="9235440" y="2606040"/>
            <a:ext cx="1828800" cy="2514600"/>
          </a:xfrm>
          <a:prstGeom prst="rect">
            <a:avLst/>
          </a:prstGeom>
        </p:spPr>
      </p:pic>
      <p:pic>
        <p:nvPicPr>
          <p:cNvPr id="23" name="four years" descr="four years">    </p:cNvPr>
          <p:cNvPicPr>
            <a:picLocks noChangeAspect="1"/>
          </p:cNvPicPr>
          <p:nvPr/>
        </p:nvPicPr>
        <p:blipFill>
          <a:blip r:embed="rId18"/>
          <a:stretch>
            <a:fillRect/>
          </a:stretch>
        </p:blipFill>
        <p:spPr>
          <a:xfrm rot="-480000">
            <a:off x="8915400" y="1874520"/>
            <a:ext cx="2286000" cy="822960"/>
          </a:xfrm>
          <a:prstGeom prst="rect">
            <a:avLst/>
          </a:prstGeom>
        </p:spPr>
      </p:pic>
      <p:pic>
        <p:nvPicPr>
          <p:cNvPr id="24" name="house" descr="house">    </p:cNvPr>
          <p:cNvPicPr>
            <a:picLocks noChangeAspect="1"/>
          </p:cNvPicPr>
          <p:nvPr/>
        </p:nvPicPr>
        <p:blipFill>
          <a:blip r:embed="rId19"/>
          <a:stretch>
            <a:fillRect/>
          </a:stretch>
        </p:blipFill>
        <p:spPr>
          <a:xfrm>
            <a:off x="2606040" y="3611880"/>
            <a:ext cx="1508760" cy="1371600"/>
          </a:xfrm>
          <a:prstGeom prst="rect">
            <a:avLst/>
          </a:prstGeom>
        </p:spPr>
      </p:pic>
      <p:pic>
        <p:nvPicPr>
          <p:cNvPr id="25" name="seven months" descr="seven months">    </p:cNvPr>
          <p:cNvPicPr>
            <a:picLocks noChangeAspect="1"/>
          </p:cNvPicPr>
          <p:nvPr/>
        </p:nvPicPr>
        <p:blipFill>
          <a:blip r:embed="rId20"/>
          <a:stretch>
            <a:fillRect/>
          </a:stretch>
        </p:blipFill>
        <p:spPr>
          <a:xfrm rot="480000">
            <a:off x="2103120" y="1874520"/>
            <a:ext cx="2377440" cy="841248"/>
          </a:xfrm>
          <a:prstGeom prst="rect">
            <a:avLst/>
          </a:prstGeom>
        </p:spPr>
      </p:pic>
      <p:sp>
        <p:nvSpPr>
          <p:cNvPr id="26" name="caption bar"/>
          <p:cNvSpPr/>
          <p:nvPr/>
        </p:nvSpPr>
        <p:spPr>
          <a:xfrm>
            <a:off x="548640" y="5650992"/>
            <a:ext cx="11094415" cy="566928"/>
          </a:xfrm>
          <a:prstGeom prst="rect">
            <a:avLst/>
          </a:prstGeom>
          <a:solidFill>
            <a:srgbClr val="000000">
              <a:alpha val="70000"/>
            </a:srgbClr>
          </a:solidFill>
          <a:ln/>
        </p:spPr>
      </p:sp>
      <p:sp>
        <p:nvSpPr>
          <p:cNvPr id="27" name="caption 1"/>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David discovers the ammunition is Chinese-made, banned under a US arms embargo.</a:t>
            </a:r>
            <a:endParaRPr lang="en-US" sz="1700" dirty="0"/>
          </a:p>
        </p:txBody>
      </p:sp>
      <p:sp>
        <p:nvSpPr>
          <p:cNvPr id="28" name="caption 2"/>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Instead of reporting it, they repack the rounds to hide the Chinese markings.</a:t>
            </a:r>
            <a:endParaRPr lang="en-US" sz="1700" dirty="0"/>
          </a:p>
        </p:txBody>
      </p:sp>
      <p:sp>
        <p:nvSpPr>
          <p:cNvPr id="29" name="caption 3"/>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Threats in Albania, unpaid money and a broken friendship.</a:t>
            </a:r>
            <a:endParaRPr lang="en-US" sz="1700" dirty="0"/>
          </a:p>
        </p:txBody>
      </p:sp>
      <p:sp>
        <p:nvSpPr>
          <p:cNvPr id="30" name="caption 4"/>
          <p:cNvSpPr txBox="1"/>
          <p:nvPr/>
        </p:nvSpPr>
        <p:spPr>
          <a:xfrm>
            <a:off x="822960" y="5650992"/>
            <a:ext cx="10545775" cy="566928"/>
          </a:xfrm>
          <a:prstGeom prst="rect">
            <a:avLst/>
          </a:prstGeom>
          <a:noFill/>
          <a:ln/>
        </p:spPr>
        <p:txBody>
          <a:bodyPr wrap="square" lIns="0" tIns="0" rIns="0" bIns="0" rtlCol="0" anchor="ctr"/>
          <a:lstStyle/>
          <a:p>
            <a:pPr algn="ctr" indent="0" marL="0">
              <a:buNone/>
            </a:pPr>
            <a:r>
              <a:rPr lang="en-US" sz="1700" i="1" dirty="0">
                <a:solidFill>
                  <a:srgbClr val="FFD84D"/>
                </a:solidFill>
              </a:rPr>
              <a:t>Federal prosecution: Efraim gets 4 years in prison; David, 7 months of house arrest.</a:t>
            </a:r>
            <a:endParaRPr lang="en-US" sz="17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153" fill="hold">
                      <p:stCondLst>
                        <p:cond delay="indefinite"/>
                        <p:cond evt="onBegin" delay="0">
                          <p:tn val="2"/>
                        </p:cond>
                      </p:stCondLst>
                      <p:childTnLst>
                        <p:par>
                          <p:cTn id="154"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900"/>
                                        <p:tgtEl>
                                          <p:spTgt spid="6"/>
                                        </p:tgtEl>
                                      </p:cBhvr>
                                    </p:animEffect>
                                  </p:childTnLst>
                                </p:cTn>
                              </p:par>
                              <p:par>
                                <p:cTn id="12" presetID="1" presetClass="entr" presetSubtype="0" fill="hold" grpId="0" nodeType="withEffect">
                                  <p:stCondLst>
                                    <p:cond delay="200"/>
                                  </p:stCondLst>
                                  <p:iterate type="lt">
                                    <p:tmAbs val="30"/>
                                  </p:iterate>
                                  <p:childTnLst>
                                    <p:set>
                                      <p:cBhvr>
                                        <p:cTn id="11" dur="1" fill="hold">
                                          <p:stCondLst>
                                            <p:cond delay="0"/>
                                          </p:stCondLst>
                                        </p:cTn>
                                        <p:tgtEl>
                                          <p:spTgt spid="3"/>
                                        </p:tgtEl>
                                        <p:attrNameLst>
                                          <p:attrName>style.visibility</p:attrName>
                                        </p:attrNameLst>
                                      </p:cBhvr>
                                      <p:to>
                                        <p:strVal val="visible"/>
                                      </p:to>
                                    </p:set>
                                  </p:childTnLst>
                                </p:cTn>
                              </p:par>
                              <p:par>
                                <p:cTn id="14" presetID="6" presetClass="emph" presetSubtype="0" fill="hold" grpId="1" nodeType="withEffect" autoRev="1" repeatCount="indefinite">
                                  <p:stCondLst>
                                    <p:cond delay="500"/>
                                  </p:stCondLst>
                                  <p:childTnLst>
                                    <p:animScale>
                                      <p:cBhvr>
                                        <p:cTn id="13" dur="650" fill="hold"/>
                                        <p:tgtEl>
                                          <p:spTgt spid="2"/>
                                        </p:tgtEl>
                                      </p:cBhvr>
                                      <p:by x="135000" y="135000"/>
                                    </p:animScale>
                                  </p:childTnLst>
                                </p:cTn>
                              </p:par>
                              <p:par>
                                <p:cTn id="17" presetID="10" presetClass="entr" presetSubtype="0" fill="hold" grpId="0" nodeType="withEffect">
                                  <p:stCondLst>
                                    <p:cond delay="60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20" presetID="10"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3" presetID="10" presetClass="entr" presetSubtype="0" fill="hold" grpId="0" nodeType="withEffect">
                                  <p:stCondLst>
                                    <p:cond delay="7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5" presetID="1" presetClass="entr" presetSubtype="0" fill="hold" grpId="0" nodeType="withEffect">
                                  <p:stCondLst>
                                    <p:cond delay="900"/>
                                  </p:stCondLst>
                                  <p:iterate type="lt">
                                    <p:tmAbs val="32"/>
                                  </p:iterate>
                                  <p:childTnLst>
                                    <p:set>
                                      <p:cBhvr>
                                        <p:cTn id="24" dur="1" fill="hold">
                                          <p:stCondLst>
                                            <p:cond delay="0"/>
                                          </p:stCondLst>
                                        </p:cTn>
                                        <p:tgtEl>
                                          <p:spTgt spid="27"/>
                                        </p:tgtEl>
                                        <p:attrNameLst>
                                          <p:attrName>style.visibility</p:attrName>
                                        </p:attrNameLst>
                                      </p:cBhvr>
                                      <p:to>
                                        <p:strVal val="visible"/>
                                      </p:to>
                                    </p:set>
                                  </p:childTnLst>
                                </p:cTn>
                              </p:par>
                              <p:par>
                                <p:cTn id="30" presetID="53" presetClass="entr" presetSubtype="16" fill="hold" grpId="0" nodeType="withEffect">
                                  <p:stCondLst>
                                    <p:cond delay="130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600" fill="hold"/>
                                        <p:tgtEl>
                                          <p:spTgt spid="13"/>
                                        </p:tgtEl>
                                        <p:attrNameLst>
                                          <p:attrName>ppt_w</p:attrName>
                                        </p:attrNameLst>
                                      </p:cBhvr>
                                      <p:tavLst>
                                        <p:tav tm="0">
                                          <p:val>
                                            <p:strVal val="0"/>
                                          </p:val>
                                        </p:tav>
                                        <p:tav tm="100000">
                                          <p:val>
                                            <p:strVal val="#ppt_w"/>
                                          </p:val>
                                        </p:tav>
                                      </p:tavLst>
                                    </p:anim>
                                    <p:anim calcmode="lin" valueType="num">
                                      <p:cBhvr additive="base">
                                        <p:cTn id="28" dur="600" fill="hold"/>
                                        <p:tgtEl>
                                          <p:spTgt spid="13"/>
                                        </p:tgtEl>
                                        <p:attrNameLst>
                                          <p:attrName>ppt_h</p:attrName>
                                        </p:attrNameLst>
                                      </p:cBhvr>
                                      <p:tavLst>
                                        <p:tav tm="0">
                                          <p:val>
                                            <p:strVal val="0"/>
                                          </p:val>
                                        </p:tav>
                                        <p:tav tm="100000">
                                          <p:val>
                                            <p:strVal val="#ppt_h"/>
                                          </p:val>
                                        </p:tav>
                                      </p:tavLst>
                                    </p:anim>
                                    <p:animEffect transition="in" filter="fade">
                                      <p:cBhvr>
                                        <p:cTn id="29" dur="600"/>
                                        <p:tgtEl>
                                          <p:spTgt spid="13"/>
                                        </p:tgtEl>
                                      </p:cBhvr>
                                    </p:animEffect>
                                  </p:childTnLst>
                                </p:cTn>
                              </p:par>
                              <p:par>
                                <p:cTn id="35" presetID="42" presetClass="entr" presetSubtype="0" fill="hold" grpId="0" nodeType="withEffect">
                                  <p:stCondLst>
                                    <p:cond delay="23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700"/>
                                        <p:tgtEl>
                                          <p:spTgt spid="14"/>
                                        </p:tgtEl>
                                      </p:cBhvr>
                                    </p:animEffect>
                                    <p:anim calcmode="lin" valueType="num">
                                      <p:cBhvr additive="base">
                                        <p:cTn id="33" dur="700" fill="hold"/>
                                        <p:tgtEl>
                                          <p:spTgt spid="14"/>
                                        </p:tgtEl>
                                        <p:attrNameLst>
                                          <p:attrName>ppt_x</p:attrName>
                                        </p:attrNameLst>
                                      </p:cBhvr>
                                      <p:tavLst>
                                        <p:tav tm="0">
                                          <p:val>
                                            <p:strVal val="#ppt_x-.05"/>
                                          </p:val>
                                        </p:tav>
                                        <p:tav tm="100000">
                                          <p:val>
                                            <p:strVal val="#ppt_x"/>
                                          </p:val>
                                        </p:tav>
                                      </p:tavLst>
                                    </p:anim>
                                    <p:anim calcmode="lin" valueType="num">
                                      <p:cBhvr additive="base">
                                        <p:cTn id="34" dur="700" fill="hold"/>
                                        <p:tgtEl>
                                          <p:spTgt spid="14"/>
                                        </p:tgtEl>
                                        <p:attrNameLst>
                                          <p:attrName>ppt_y</p:attrName>
                                        </p:attrNameLst>
                                      </p:cBhvr>
                                      <p:tavLst>
                                        <p:tav tm="0">
                                          <p:val>
                                            <p:strVal val="#ppt_y"/>
                                          </p:val>
                                        </p:tav>
                                        <p:tav tm="100000">
                                          <p:val>
                                            <p:strVal val="#ppt_y"/>
                                          </p:val>
                                        </p:tav>
                                      </p:tavLst>
                                    </p:anim>
                                  </p:childTnLst>
                                </p:cTn>
                              </p:par>
                              <p:par>
                                <p:cTn id="37" presetID="0" presetClass="path" presetSubtype="0" fill="hold" grpId="1" nodeType="withEffect" autoRev="1" repeatCount="4000">
                                  <p:stCondLst>
                                    <p:cond delay="3000"/>
                                  </p:stCondLst>
                                  <p:childTnLst>
                                    <p:animMotion origin="layout" path="M 0 0 L 0 -0.012 E" pathEditMode="relative" ptsTypes="AA">
                                      <p:cBhvr>
                                        <p:cTn id="36" dur="300" fill="hold"/>
                                        <p:tgtEl>
                                          <p:spTgt spid="14"/>
                                        </p:tgtEl>
                                        <p:attrNameLst>
                                          <p:attrName>ppt_x</p:attrName>
                                          <p:attrName>ppt_y</p:attrName>
                                        </p:attrNameLst>
                                      </p:cBhvr>
                                    </p:animMotion>
                                  </p:childTnLst>
                                </p:cTn>
                              </p:par>
                              <p:par>
                                <p:cTn id="40" presetID="10" presetClass="exit" presetSubtype="0" fill="hold" grpId="1" nodeType="withEffect">
                                  <p:stCondLst>
                                    <p:cond delay="3200"/>
                                  </p:stCondLst>
                                  <p:childTnLst>
                                    <p:animEffect transition="out" filter="fade">
                                      <p:cBhvr>
                                        <p:cTn id="38" dur="250"/>
                                        <p:tgtEl>
                                          <p:spTgt spid="7"/>
                                        </p:tgtEl>
                                      </p:cBhvr>
                                    </p:animEffect>
                                    <p:set>
                                      <p:cBhvr>
                                        <p:cTn id="39" dur="1" fill="hold">
                                          <p:stCondLst>
                                            <p:cond delay="249"/>
                                          </p:stCondLst>
                                        </p:cTn>
                                        <p:tgtEl>
                                          <p:spTgt spid="7"/>
                                        </p:tgtEl>
                                        <p:attrNameLst>
                                          <p:attrName>style.visibility</p:attrName>
                                        </p:attrNameLst>
                                      </p:cBhvr>
                                      <p:to>
                                        <p:strVal val="hidden"/>
                                      </p:to>
                                    </p:set>
                                  </p:childTnLst>
                                </p:cTn>
                              </p:par>
                              <p:par>
                                <p:cTn id="43" presetID="10" presetClass="entr" presetSubtype="0" fill="hold" grpId="0" nodeType="withEffect">
                                  <p:stCondLst>
                                    <p:cond delay="320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250"/>
                                        <p:tgtEl>
                                          <p:spTgt spid="8"/>
                                        </p:tgtEl>
                                      </p:cBhvr>
                                    </p:animEffect>
                                  </p:childTnLst>
                                </p:cTn>
                              </p:par>
                              <p:par>
                                <p:cTn id="48" presetID="53" presetClass="entr" presetSubtype="32" fill="hold" grpId="0" nodeType="withEffect">
                                  <p:stCondLst>
                                    <p:cond delay="33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400" fill="hold"/>
                                        <p:tgtEl>
                                          <p:spTgt spid="15"/>
                                        </p:tgtEl>
                                        <p:attrNameLst>
                                          <p:attrName>ppt_w</p:attrName>
                                        </p:attrNameLst>
                                      </p:cBhvr>
                                      <p:tavLst>
                                        <p:tav tm="0">
                                          <p:val>
                                            <p:strVal val="#ppt_w*2.4"/>
                                          </p:val>
                                        </p:tav>
                                        <p:tav tm="100000">
                                          <p:val>
                                            <p:strVal val="#ppt_w"/>
                                          </p:val>
                                        </p:tav>
                                      </p:tavLst>
                                    </p:anim>
                                    <p:anim calcmode="lin" valueType="num">
                                      <p:cBhvr additive="base">
                                        <p:cTn id="46" dur="400" fill="hold"/>
                                        <p:tgtEl>
                                          <p:spTgt spid="15"/>
                                        </p:tgtEl>
                                        <p:attrNameLst>
                                          <p:attrName>ppt_h</p:attrName>
                                        </p:attrNameLst>
                                      </p:cBhvr>
                                      <p:tavLst>
                                        <p:tav tm="0">
                                          <p:val>
                                            <p:strVal val="#ppt_h*2.4"/>
                                          </p:val>
                                        </p:tav>
                                        <p:tav tm="100000">
                                          <p:val>
                                            <p:strVal val="#ppt_h"/>
                                          </p:val>
                                        </p:tav>
                                      </p:tavLst>
                                    </p:anim>
                                    <p:animEffect transition="in" filter="fade">
                                      <p:cBhvr>
                                        <p:cTn id="47" dur="400"/>
                                        <p:tgtEl>
                                          <p:spTgt spid="15"/>
                                        </p:tgtEl>
                                      </p:cBhvr>
                                    </p:animEffect>
                                  </p:childTnLst>
                                </p:cTn>
                              </p:par>
                              <p:par>
                                <p:cTn id="50" presetID="32" presetClass="emph" presetSubtype="0" fill="hold" grpId="1" nodeType="withEffect" autoRev="1" repeatCount="8000">
                                  <p:stCondLst>
                                    <p:cond delay="3800"/>
                                  </p:stCondLst>
                                  <p:childTnLst>
                                    <p:animRot by="240000">
                                      <p:cBhvr>
                                        <p:cTn id="49" dur="100" fill="hold"/>
                                        <p:tgtEl>
                                          <p:spTgt spid="15"/>
                                        </p:tgtEl>
                                        <p:attrNameLst>
                                          <p:attrName>r</p:attrName>
                                        </p:attrNameLst>
                                      </p:cBhvr>
                                    </p:animRot>
                                  </p:childTnLst>
                                </p:cTn>
                              </p:par>
                              <p:par>
                                <p:cTn id="53" presetID="10" presetClass="exit" presetSubtype="0" fill="hold" grpId="1" nodeType="withEffect">
                                  <p:stCondLst>
                                    <p:cond delay="5300"/>
                                  </p:stCondLst>
                                  <p:childTnLst>
                                    <p:animEffect transition="out" filter="fade">
                                      <p:cBhvr>
                                        <p:cTn id="51" dur="400"/>
                                        <p:tgtEl>
                                          <p:spTgt spid="27"/>
                                        </p:tgtEl>
                                      </p:cBhvr>
                                    </p:animEffect>
                                    <p:set>
                                      <p:cBhvr>
                                        <p:cTn id="52" dur="1" fill="hold">
                                          <p:stCondLst>
                                            <p:cond delay="399"/>
                                          </p:stCondLst>
                                        </p:cTn>
                                        <p:tgtEl>
                                          <p:spTgt spid="27"/>
                                        </p:tgtEl>
                                        <p:attrNameLst>
                                          <p:attrName>style.visibility</p:attrName>
                                        </p:attrNameLst>
                                      </p:cBhvr>
                                      <p:to>
                                        <p:strVal val="hidden"/>
                                      </p:to>
                                    </p:set>
                                  </p:childTnLst>
                                </p:cTn>
                              </p:par>
                              <p:par>
                                <p:cTn id="55" presetID="1" presetClass="entr" presetSubtype="0" fill="hold" grpId="0" nodeType="withEffect">
                                  <p:stCondLst>
                                    <p:cond delay="5500"/>
                                  </p:stCondLst>
                                  <p:iterate type="lt">
                                    <p:tmAbs val="32"/>
                                  </p:iterate>
                                  <p:childTnLst>
                                    <p:set>
                                      <p:cBhvr>
                                        <p:cTn id="54" dur="1" fill="hold">
                                          <p:stCondLst>
                                            <p:cond delay="0"/>
                                          </p:stCondLst>
                                        </p:cTn>
                                        <p:tgtEl>
                                          <p:spTgt spid="28"/>
                                        </p:tgtEl>
                                        <p:attrNameLst>
                                          <p:attrName>style.visibility</p:attrName>
                                        </p:attrNameLst>
                                      </p:cBhvr>
                                      <p:to>
                                        <p:strVal val="visible"/>
                                      </p:to>
                                    </p:set>
                                  </p:childTnLst>
                                </p:cTn>
                              </p:par>
                              <p:par>
                                <p:cTn id="58" presetID="10" presetClass="exit" presetSubtype="0" fill="hold" grpId="2" nodeType="withEffect">
                                  <p:stCondLst>
                                    <p:cond delay="5500"/>
                                  </p:stCondLst>
                                  <p:childTnLst>
                                    <p:animEffect transition="out" filter="fade">
                                      <p:cBhvr>
                                        <p:cTn id="56" dur="300"/>
                                        <p:tgtEl>
                                          <p:spTgt spid="15"/>
                                        </p:tgtEl>
                                      </p:cBhvr>
                                    </p:animEffect>
                                    <p:set>
                                      <p:cBhvr>
                                        <p:cTn id="57" dur="1" fill="hold">
                                          <p:stCondLst>
                                            <p:cond delay="299"/>
                                          </p:stCondLst>
                                        </p:cTn>
                                        <p:tgtEl>
                                          <p:spTgt spid="15"/>
                                        </p:tgtEl>
                                        <p:attrNameLst>
                                          <p:attrName>style.visibility</p:attrName>
                                        </p:attrNameLst>
                                      </p:cBhvr>
                                      <p:to>
                                        <p:strVal val="hidden"/>
                                      </p:to>
                                    </p:set>
                                  </p:childTnLst>
                                </p:cTn>
                              </p:par>
                              <p:par>
                                <p:cTn id="61" presetID="10" presetClass="exit" presetSubtype="0" fill="hold" grpId="2" nodeType="withEffect">
                                  <p:stCondLst>
                                    <p:cond delay="5500"/>
                                  </p:stCondLst>
                                  <p:childTnLst>
                                    <p:animEffect transition="out" filter="fade">
                                      <p:cBhvr>
                                        <p:cTn id="59" dur="300"/>
                                        <p:tgtEl>
                                          <p:spTgt spid="14"/>
                                        </p:tgtEl>
                                      </p:cBhvr>
                                    </p:animEffect>
                                    <p:set>
                                      <p:cBhvr>
                                        <p:cTn id="60" dur="1" fill="hold">
                                          <p:stCondLst>
                                            <p:cond delay="299"/>
                                          </p:stCondLst>
                                        </p:cTn>
                                        <p:tgtEl>
                                          <p:spTgt spid="14"/>
                                        </p:tgtEl>
                                        <p:attrNameLst>
                                          <p:attrName>style.visibility</p:attrName>
                                        </p:attrNameLst>
                                      </p:cBhvr>
                                      <p:to>
                                        <p:strVal val="hidden"/>
                                      </p:to>
                                    </p:set>
                                  </p:childTnLst>
                                </p:cTn>
                              </p:par>
                              <p:par>
                                <p:cTn id="64" presetID="22" presetClass="exit" presetSubtype="8" fill="hold" grpId="1" nodeType="withEffect">
                                  <p:stCondLst>
                                    <p:cond delay="5900"/>
                                  </p:stCondLst>
                                  <p:childTnLst>
                                    <p:animEffect transition="out" filter="wipe(left)">
                                      <p:cBhvr>
                                        <p:cTn id="62" dur="900"/>
                                        <p:tgtEl>
                                          <p:spTgt spid="13"/>
                                        </p:tgtEl>
                                      </p:cBhvr>
                                    </p:animEffect>
                                    <p:set>
                                      <p:cBhvr>
                                        <p:cTn id="63" dur="1" fill="hold">
                                          <p:stCondLst>
                                            <p:cond delay="899"/>
                                          </p:stCondLst>
                                        </p:cTn>
                                        <p:tgtEl>
                                          <p:spTgt spid="13"/>
                                        </p:tgtEl>
                                        <p:attrNameLst>
                                          <p:attrName>style.visibility</p:attrName>
                                        </p:attrNameLst>
                                      </p:cBhvr>
                                      <p:to>
                                        <p:strVal val="hidden"/>
                                      </p:to>
                                    </p:set>
                                  </p:childTnLst>
                                </p:cTn>
                              </p:par>
                              <p:par>
                                <p:cTn id="68" presetID="2" presetClass="entr" presetSubtype="1" fill="hold" grpId="0" nodeType="withEffect">
                                  <p:stCondLst>
                                    <p:cond delay="6500"/>
                                  </p:stCondLst>
                                  <p:childTnLst>
                                    <p:set>
                                      <p:cBhvr>
                                        <p:cTn id="65" dur="1" fill="hold">
                                          <p:stCondLst>
                                            <p:cond delay="0"/>
                                          </p:stCondLst>
                                        </p:cTn>
                                        <p:tgtEl>
                                          <p:spTgt spid="16"/>
                                        </p:tgtEl>
                                        <p:attrNameLst>
                                          <p:attrName>style.visibility</p:attrName>
                                        </p:attrNameLst>
                                      </p:cBhvr>
                                      <p:to>
                                        <p:strVal val="visible"/>
                                      </p:to>
                                    </p:se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0-#ppt_h/2"/>
                                          </p:val>
                                        </p:tav>
                                        <p:tav tm="100000">
                                          <p:val>
                                            <p:strVal val="#ppt_y"/>
                                          </p:val>
                                        </p:tav>
                                      </p:tavLst>
                                    </p:anim>
                                  </p:childTnLst>
                                </p:cTn>
                              </p:par>
                              <p:par>
                                <p:cTn id="72" presetID="2" presetClass="entr" presetSubtype="1" fill="hold" grpId="0" nodeType="withEffect">
                                  <p:stCondLst>
                                    <p:cond delay="678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600" fill="hold"/>
                                        <p:tgtEl>
                                          <p:spTgt spid="17"/>
                                        </p:tgtEl>
                                        <p:attrNameLst>
                                          <p:attrName>ppt_x</p:attrName>
                                        </p:attrNameLst>
                                      </p:cBhvr>
                                      <p:tavLst>
                                        <p:tav tm="0">
                                          <p:val>
                                            <p:strVal val="#ppt_x"/>
                                          </p:val>
                                        </p:tav>
                                        <p:tav tm="100000">
                                          <p:val>
                                            <p:strVal val="#ppt_x"/>
                                          </p:val>
                                        </p:tav>
                                      </p:tavLst>
                                    </p:anim>
                                    <p:anim calcmode="lin" valueType="num">
                                      <p:cBhvr additive="base">
                                        <p:cTn id="71" dur="600" fill="hold"/>
                                        <p:tgtEl>
                                          <p:spTgt spid="17"/>
                                        </p:tgtEl>
                                        <p:attrNameLst>
                                          <p:attrName>ppt_y</p:attrName>
                                        </p:attrNameLst>
                                      </p:cBhvr>
                                      <p:tavLst>
                                        <p:tav tm="0">
                                          <p:val>
                                            <p:strVal val="0-#ppt_h/2"/>
                                          </p:val>
                                        </p:tav>
                                        <p:tav tm="100000">
                                          <p:val>
                                            <p:strVal val="#ppt_y"/>
                                          </p:val>
                                        </p:tav>
                                      </p:tavLst>
                                    </p:anim>
                                  </p:childTnLst>
                                </p:cTn>
                              </p:par>
                              <p:par>
                                <p:cTn id="76" presetID="2" presetClass="entr" presetSubtype="1" fill="hold" grpId="0" nodeType="withEffect">
                                  <p:stCondLst>
                                    <p:cond delay="706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600" fill="hold"/>
                                        <p:tgtEl>
                                          <p:spTgt spid="18"/>
                                        </p:tgtEl>
                                        <p:attrNameLst>
                                          <p:attrName>ppt_x</p:attrName>
                                        </p:attrNameLst>
                                      </p:cBhvr>
                                      <p:tavLst>
                                        <p:tav tm="0">
                                          <p:val>
                                            <p:strVal val="#ppt_x"/>
                                          </p:val>
                                        </p:tav>
                                        <p:tav tm="100000">
                                          <p:val>
                                            <p:strVal val="#ppt_x"/>
                                          </p:val>
                                        </p:tav>
                                      </p:tavLst>
                                    </p:anim>
                                    <p:anim calcmode="lin" valueType="num">
                                      <p:cBhvr additive="base">
                                        <p:cTn id="75" dur="600" fill="hold"/>
                                        <p:tgtEl>
                                          <p:spTgt spid="18"/>
                                        </p:tgtEl>
                                        <p:attrNameLst>
                                          <p:attrName>ppt_y</p:attrName>
                                        </p:attrNameLst>
                                      </p:cBhvr>
                                      <p:tavLst>
                                        <p:tav tm="0">
                                          <p:val>
                                            <p:strVal val="0-#ppt_h/2"/>
                                          </p:val>
                                        </p:tav>
                                        <p:tav tm="100000">
                                          <p:val>
                                            <p:strVal val="#ppt_y"/>
                                          </p:val>
                                        </p:tav>
                                      </p:tavLst>
                                    </p:anim>
                                  </p:childTnLst>
                                </p:cTn>
                              </p:par>
                              <p:par>
                                <p:cTn id="79" presetID="10" presetClass="exit" presetSubtype="0" fill="hold" grpId="1" nodeType="withEffect">
                                  <p:stCondLst>
                                    <p:cond delay="9900"/>
                                  </p:stCondLst>
                                  <p:childTnLst>
                                    <p:animEffect transition="out" filter="fade">
                                      <p:cBhvr>
                                        <p:cTn id="77" dur="400"/>
                                        <p:tgtEl>
                                          <p:spTgt spid="28"/>
                                        </p:tgtEl>
                                      </p:cBhvr>
                                    </p:animEffect>
                                    <p:set>
                                      <p:cBhvr>
                                        <p:cTn id="78" dur="1" fill="hold">
                                          <p:stCondLst>
                                            <p:cond delay="399"/>
                                          </p:stCondLst>
                                        </p:cTn>
                                        <p:tgtEl>
                                          <p:spTgt spid="28"/>
                                        </p:tgtEl>
                                        <p:attrNameLst>
                                          <p:attrName>style.visibility</p:attrName>
                                        </p:attrNameLst>
                                      </p:cBhvr>
                                      <p:to>
                                        <p:strVal val="hidden"/>
                                      </p:to>
                                    </p:set>
                                  </p:childTnLst>
                                </p:cTn>
                              </p:par>
                              <p:par>
                                <p:cTn id="82" presetID="10" presetClass="exit" presetSubtype="0" fill="hold" grpId="1" nodeType="withEffect">
                                  <p:stCondLst>
                                    <p:cond delay="10000"/>
                                  </p:stCondLst>
                                  <p:childTnLst>
                                    <p:animEffect transition="out" filter="fade">
                                      <p:cBhvr>
                                        <p:cTn id="80" dur="300"/>
                                        <p:tgtEl>
                                          <p:spTgt spid="16"/>
                                        </p:tgtEl>
                                      </p:cBhvr>
                                    </p:animEffect>
                                    <p:set>
                                      <p:cBhvr>
                                        <p:cTn id="81" dur="1" fill="hold">
                                          <p:stCondLst>
                                            <p:cond delay="299"/>
                                          </p:stCondLst>
                                        </p:cTn>
                                        <p:tgtEl>
                                          <p:spTgt spid="16"/>
                                        </p:tgtEl>
                                        <p:attrNameLst>
                                          <p:attrName>style.visibility</p:attrName>
                                        </p:attrNameLst>
                                      </p:cBhvr>
                                      <p:to>
                                        <p:strVal val="hidden"/>
                                      </p:to>
                                    </p:set>
                                  </p:childTnLst>
                                </p:cTn>
                              </p:par>
                              <p:par>
                                <p:cTn id="85" presetID="10" presetClass="exit" presetSubtype="0" fill="hold" grpId="1" nodeType="withEffect">
                                  <p:stCondLst>
                                    <p:cond delay="10000"/>
                                  </p:stCondLst>
                                  <p:childTnLst>
                                    <p:animEffect transition="out" filter="fade">
                                      <p:cBhvr>
                                        <p:cTn id="83" dur="300"/>
                                        <p:tgtEl>
                                          <p:spTgt spid="17"/>
                                        </p:tgtEl>
                                      </p:cBhvr>
                                    </p:animEffect>
                                    <p:set>
                                      <p:cBhvr>
                                        <p:cTn id="84" dur="1" fill="hold">
                                          <p:stCondLst>
                                            <p:cond delay="299"/>
                                          </p:stCondLst>
                                        </p:cTn>
                                        <p:tgtEl>
                                          <p:spTgt spid="17"/>
                                        </p:tgtEl>
                                        <p:attrNameLst>
                                          <p:attrName>style.visibility</p:attrName>
                                        </p:attrNameLst>
                                      </p:cBhvr>
                                      <p:to>
                                        <p:strVal val="hidden"/>
                                      </p:to>
                                    </p:set>
                                  </p:childTnLst>
                                </p:cTn>
                              </p:par>
                              <p:par>
                                <p:cTn id="88" presetID="10" presetClass="exit" presetSubtype="0" fill="hold" grpId="1" nodeType="withEffect">
                                  <p:stCondLst>
                                    <p:cond delay="10000"/>
                                  </p:stCondLst>
                                  <p:childTnLst>
                                    <p:animEffect transition="out" filter="fade">
                                      <p:cBhvr>
                                        <p:cTn id="86" dur="300"/>
                                        <p:tgtEl>
                                          <p:spTgt spid="18"/>
                                        </p:tgtEl>
                                      </p:cBhvr>
                                    </p:animEffect>
                                    <p:set>
                                      <p:cBhvr>
                                        <p:cTn id="87" dur="1" fill="hold">
                                          <p:stCondLst>
                                            <p:cond delay="299"/>
                                          </p:stCondLst>
                                        </p:cTn>
                                        <p:tgtEl>
                                          <p:spTgt spid="18"/>
                                        </p:tgtEl>
                                        <p:attrNameLst>
                                          <p:attrName>style.visibility</p:attrName>
                                        </p:attrNameLst>
                                      </p:cBhvr>
                                      <p:to>
                                        <p:strVal val="hidden"/>
                                      </p:to>
                                    </p:set>
                                  </p:childTnLst>
                                </p:cTn>
                              </p:par>
                              <p:par>
                                <p:cTn id="90" presetID="1" presetClass="entr" presetSubtype="0" fill="hold" grpId="0" nodeType="withEffect">
                                  <p:stCondLst>
                                    <p:cond delay="10100"/>
                                  </p:stCondLst>
                                  <p:iterate type="lt">
                                    <p:tmAbs val="32"/>
                                  </p:iterate>
                                  <p:childTnLst>
                                    <p:set>
                                      <p:cBhvr>
                                        <p:cTn id="89" dur="1" fill="hold">
                                          <p:stCondLst>
                                            <p:cond delay="0"/>
                                          </p:stCondLst>
                                        </p:cTn>
                                        <p:tgtEl>
                                          <p:spTgt spid="29"/>
                                        </p:tgtEl>
                                        <p:attrNameLst>
                                          <p:attrName>style.visibility</p:attrName>
                                        </p:attrNameLst>
                                      </p:cBhvr>
                                      <p:to>
                                        <p:strVal val="visible"/>
                                      </p:to>
                                    </p:set>
                                  </p:childTnLst>
                                </p:cTn>
                              </p:par>
                              <p:par>
                                <p:cTn id="93" presetID="22" presetClass="entr" presetSubtype="1" fill="hold" grpId="0" nodeType="withEffect">
                                  <p:stCondLst>
                                    <p:cond delay="10300"/>
                                  </p:stCondLst>
                                  <p:childTnLst>
                                    <p:set>
                                      <p:cBhvr>
                                        <p:cTn id="91" dur="1" fill="hold">
                                          <p:stCondLst>
                                            <p:cond delay="0"/>
                                          </p:stCondLst>
                                        </p:cTn>
                                        <p:tgtEl>
                                          <p:spTgt spid="19"/>
                                        </p:tgtEl>
                                        <p:attrNameLst>
                                          <p:attrName>style.visibility</p:attrName>
                                        </p:attrNameLst>
                                      </p:cBhvr>
                                      <p:to>
                                        <p:strVal val="visible"/>
                                      </p:to>
                                    </p:set>
                                    <p:animEffect transition="in" filter="wipe(down)">
                                      <p:cBhvr>
                                        <p:cTn id="92" dur="1000"/>
                                        <p:tgtEl>
                                          <p:spTgt spid="19"/>
                                        </p:tgtEl>
                                      </p:cBhvr>
                                    </p:animEffect>
                                  </p:childTnLst>
                                </p:cTn>
                              </p:par>
                              <p:par>
                                <p:cTn id="96" presetID="10" presetClass="exit" presetSubtype="0" fill="hold" grpId="1" nodeType="withEffect">
                                  <p:stCondLst>
                                    <p:cond delay="10500"/>
                                  </p:stCondLst>
                                  <p:childTnLst>
                                    <p:animEffect transition="out" filter="fade">
                                      <p:cBhvr>
                                        <p:cTn id="94" dur="300"/>
                                        <p:tgtEl>
                                          <p:spTgt spid="8"/>
                                        </p:tgtEl>
                                      </p:cBhvr>
                                    </p:animEffect>
                                    <p:set>
                                      <p:cBhvr>
                                        <p:cTn id="95" dur="1" fill="hold">
                                          <p:stCondLst>
                                            <p:cond delay="299"/>
                                          </p:stCondLst>
                                        </p:cTn>
                                        <p:tgtEl>
                                          <p:spTgt spid="8"/>
                                        </p:tgtEl>
                                        <p:attrNameLst>
                                          <p:attrName>style.visibility</p:attrName>
                                        </p:attrNameLst>
                                      </p:cBhvr>
                                      <p:to>
                                        <p:strVal val="hidden"/>
                                      </p:to>
                                    </p:set>
                                  </p:childTnLst>
                                </p:cTn>
                              </p:par>
                              <p:par>
                                <p:cTn id="99" presetID="10" presetClass="entr" presetSubtype="0" fill="hold" grpId="0" nodeType="withEffect">
                                  <p:stCondLst>
                                    <p:cond delay="10500"/>
                                  </p:stCondLst>
                                  <p:childTnLst>
                                    <p:set>
                                      <p:cBhvr>
                                        <p:cTn id="97" dur="1" fill="hold">
                                          <p:stCondLst>
                                            <p:cond delay="0"/>
                                          </p:stCondLst>
                                        </p:cTn>
                                        <p:tgtEl>
                                          <p:spTgt spid="9"/>
                                        </p:tgtEl>
                                        <p:attrNameLst>
                                          <p:attrName>style.visibility</p:attrName>
                                        </p:attrNameLst>
                                      </p:cBhvr>
                                      <p:to>
                                        <p:strVal val="visible"/>
                                      </p:to>
                                    </p:set>
                                    <p:animEffect transition="in" filter="fade">
                                      <p:cBhvr>
                                        <p:cTn id="98" dur="300"/>
                                        <p:tgtEl>
                                          <p:spTgt spid="9"/>
                                        </p:tgtEl>
                                      </p:cBhvr>
                                    </p:animEffect>
                                  </p:childTnLst>
                                </p:cTn>
                              </p:par>
                              <p:par>
                                <p:cTn id="102" presetID="10" presetClass="exit" presetSubtype="0" fill="hold" grpId="1" nodeType="withEffect">
                                  <p:stCondLst>
                                    <p:cond delay="10900"/>
                                  </p:stCondLst>
                                  <p:childTnLst>
                                    <p:animEffect transition="out" filter="fade">
                                      <p:cBhvr>
                                        <p:cTn id="100" dur="300"/>
                                        <p:tgtEl>
                                          <p:spTgt spid="10"/>
                                        </p:tgtEl>
                                      </p:cBhvr>
                                    </p:animEffect>
                                    <p:set>
                                      <p:cBhvr>
                                        <p:cTn id="101" dur="1" fill="hold">
                                          <p:stCondLst>
                                            <p:cond delay="299"/>
                                          </p:stCondLst>
                                        </p:cTn>
                                        <p:tgtEl>
                                          <p:spTgt spid="10"/>
                                        </p:tgtEl>
                                        <p:attrNameLst>
                                          <p:attrName>style.visibility</p:attrName>
                                        </p:attrNameLst>
                                      </p:cBhvr>
                                      <p:to>
                                        <p:strVal val="hidden"/>
                                      </p:to>
                                    </p:set>
                                  </p:childTnLst>
                                </p:cTn>
                              </p:par>
                              <p:par>
                                <p:cTn id="105" presetID="10" presetClass="entr" presetSubtype="0" fill="hold" grpId="0" nodeType="withEffect">
                                  <p:stCondLst>
                                    <p:cond delay="10900"/>
                                  </p:stCondLst>
                                  <p:childTnLst>
                                    <p:set>
                                      <p:cBhvr>
                                        <p:cTn id="103" dur="1" fill="hold">
                                          <p:stCondLst>
                                            <p:cond delay="0"/>
                                          </p:stCondLst>
                                        </p:cTn>
                                        <p:tgtEl>
                                          <p:spTgt spid="11"/>
                                        </p:tgtEl>
                                        <p:attrNameLst>
                                          <p:attrName>style.visibility</p:attrName>
                                        </p:attrNameLst>
                                      </p:cBhvr>
                                      <p:to>
                                        <p:strVal val="visible"/>
                                      </p:to>
                                    </p:set>
                                    <p:animEffect transition="in" filter="fade">
                                      <p:cBhvr>
                                        <p:cTn id="104" dur="300"/>
                                        <p:tgtEl>
                                          <p:spTgt spid="11"/>
                                        </p:tgtEl>
                                      </p:cBhvr>
                                    </p:animEffect>
                                  </p:childTnLst>
                                </p:cTn>
                              </p:par>
                              <p:par>
                                <p:cTn id="110" presetID="53" presetClass="entr" presetSubtype="32" fill="hold" grpId="0" nodeType="withEffect">
                                  <p:stCondLst>
                                    <p:cond delay="11200"/>
                                  </p:stCondLst>
                                  <p:childTnLst>
                                    <p:set>
                                      <p:cBhvr>
                                        <p:cTn id="106" dur="1" fill="hold">
                                          <p:stCondLst>
                                            <p:cond delay="0"/>
                                          </p:stCondLst>
                                        </p:cTn>
                                        <p:tgtEl>
                                          <p:spTgt spid="20"/>
                                        </p:tgtEl>
                                        <p:attrNameLst>
                                          <p:attrName>style.visibility</p:attrName>
                                        </p:attrNameLst>
                                      </p:cBhvr>
                                      <p:to>
                                        <p:strVal val="visible"/>
                                      </p:to>
                                    </p:set>
                                    <p:anim calcmode="lin" valueType="num">
                                      <p:cBhvr additive="base">
                                        <p:cTn id="107" dur="400" fill="hold"/>
                                        <p:tgtEl>
                                          <p:spTgt spid="20"/>
                                        </p:tgtEl>
                                        <p:attrNameLst>
                                          <p:attrName>ppt_w</p:attrName>
                                        </p:attrNameLst>
                                      </p:cBhvr>
                                      <p:tavLst>
                                        <p:tav tm="0">
                                          <p:val>
                                            <p:strVal val="#ppt_w*2.4"/>
                                          </p:val>
                                        </p:tav>
                                        <p:tav tm="100000">
                                          <p:val>
                                            <p:strVal val="#ppt_w"/>
                                          </p:val>
                                        </p:tav>
                                      </p:tavLst>
                                    </p:anim>
                                    <p:anim calcmode="lin" valueType="num">
                                      <p:cBhvr additive="base">
                                        <p:cTn id="108" dur="400" fill="hold"/>
                                        <p:tgtEl>
                                          <p:spTgt spid="20"/>
                                        </p:tgtEl>
                                        <p:attrNameLst>
                                          <p:attrName>ppt_h</p:attrName>
                                        </p:attrNameLst>
                                      </p:cBhvr>
                                      <p:tavLst>
                                        <p:tav tm="0">
                                          <p:val>
                                            <p:strVal val="#ppt_h*2.4"/>
                                          </p:val>
                                        </p:tav>
                                        <p:tav tm="100000">
                                          <p:val>
                                            <p:strVal val="#ppt_h"/>
                                          </p:val>
                                        </p:tav>
                                      </p:tavLst>
                                    </p:anim>
                                    <p:animEffect transition="in" filter="fade">
                                      <p:cBhvr>
                                        <p:cTn id="109" dur="400"/>
                                        <p:tgtEl>
                                          <p:spTgt spid="20"/>
                                        </p:tgtEl>
                                      </p:cBhvr>
                                    </p:animEffect>
                                  </p:childTnLst>
                                </p:cTn>
                              </p:par>
                              <p:par>
                                <p:cTn id="113" presetID="10" presetClass="exit" presetSubtype="0" fill="hold" grpId="1" nodeType="withEffect">
                                  <p:stCondLst>
                                    <p:cond delay="14400"/>
                                  </p:stCondLst>
                                  <p:childTnLst>
                                    <p:animEffect transition="out" filter="fade">
                                      <p:cBhvr>
                                        <p:cTn id="111" dur="400"/>
                                        <p:tgtEl>
                                          <p:spTgt spid="29"/>
                                        </p:tgtEl>
                                      </p:cBhvr>
                                    </p:animEffect>
                                    <p:set>
                                      <p:cBhvr>
                                        <p:cTn id="112" dur="1" fill="hold">
                                          <p:stCondLst>
                                            <p:cond delay="399"/>
                                          </p:stCondLst>
                                        </p:cTn>
                                        <p:tgtEl>
                                          <p:spTgt spid="29"/>
                                        </p:tgtEl>
                                        <p:attrNameLst>
                                          <p:attrName>style.visibility</p:attrName>
                                        </p:attrNameLst>
                                      </p:cBhvr>
                                      <p:to>
                                        <p:strVal val="hidden"/>
                                      </p:to>
                                    </p:set>
                                  </p:childTnLst>
                                </p:cTn>
                              </p:par>
                              <p:par>
                                <p:cTn id="116" presetID="10" presetClass="exit" presetSubtype="0" fill="hold" grpId="1" nodeType="withEffect">
                                  <p:stCondLst>
                                    <p:cond delay="14500"/>
                                  </p:stCondLst>
                                  <p:childTnLst>
                                    <p:animEffect transition="out" filter="fade">
                                      <p:cBhvr>
                                        <p:cTn id="114" dur="400"/>
                                        <p:tgtEl>
                                          <p:spTgt spid="19"/>
                                        </p:tgtEl>
                                      </p:cBhvr>
                                    </p:animEffect>
                                    <p:set>
                                      <p:cBhvr>
                                        <p:cTn id="115" dur="1" fill="hold">
                                          <p:stCondLst>
                                            <p:cond delay="399"/>
                                          </p:stCondLst>
                                        </p:cTn>
                                        <p:tgtEl>
                                          <p:spTgt spid="19"/>
                                        </p:tgtEl>
                                        <p:attrNameLst>
                                          <p:attrName>style.visibility</p:attrName>
                                        </p:attrNameLst>
                                      </p:cBhvr>
                                      <p:to>
                                        <p:strVal val="hidden"/>
                                      </p:to>
                                    </p:set>
                                  </p:childTnLst>
                                </p:cTn>
                              </p:par>
                              <p:par>
                                <p:cTn id="119" presetID="10" presetClass="exit" presetSubtype="0" fill="hold" grpId="1" nodeType="withEffect">
                                  <p:stCondLst>
                                    <p:cond delay="14500"/>
                                  </p:stCondLst>
                                  <p:childTnLst>
                                    <p:animEffect transition="out" filter="fade">
                                      <p:cBhvr>
                                        <p:cTn id="117" dur="300"/>
                                        <p:tgtEl>
                                          <p:spTgt spid="20"/>
                                        </p:tgtEl>
                                      </p:cBhvr>
                                    </p:animEffect>
                                    <p:set>
                                      <p:cBhvr>
                                        <p:cTn id="118" dur="1" fill="hold">
                                          <p:stCondLst>
                                            <p:cond delay="299"/>
                                          </p:stCondLst>
                                        </p:cTn>
                                        <p:tgtEl>
                                          <p:spTgt spid="20"/>
                                        </p:tgtEl>
                                        <p:attrNameLst>
                                          <p:attrName>style.visibility</p:attrName>
                                        </p:attrNameLst>
                                      </p:cBhvr>
                                      <p:to>
                                        <p:strVal val="hidden"/>
                                      </p:to>
                                    </p:set>
                                  </p:childTnLst>
                                </p:cTn>
                              </p:par>
                              <p:par>
                                <p:cTn id="121" presetID="1" presetClass="entr" presetSubtype="0" fill="hold" grpId="0" nodeType="withEffect">
                                  <p:stCondLst>
                                    <p:cond delay="14600"/>
                                  </p:stCondLst>
                                  <p:iterate type="lt">
                                    <p:tmAbs val="32"/>
                                  </p:iterate>
                                  <p:childTnLst>
                                    <p:set>
                                      <p:cBhvr>
                                        <p:cTn id="120" dur="1" fill="hold">
                                          <p:stCondLst>
                                            <p:cond delay="0"/>
                                          </p:stCondLst>
                                        </p:cTn>
                                        <p:tgtEl>
                                          <p:spTgt spid="30"/>
                                        </p:tgtEl>
                                        <p:attrNameLst>
                                          <p:attrName>style.visibility</p:attrName>
                                        </p:attrNameLst>
                                      </p:cBhvr>
                                      <p:to>
                                        <p:strVal val="visible"/>
                                      </p:to>
                                    </p:set>
                                  </p:childTnLst>
                                </p:cTn>
                              </p:par>
                              <p:par>
                                <p:cTn id="125" presetID="2" presetClass="entr" presetSubtype="1" fill="hold" grpId="0" nodeType="withEffect">
                                  <p:stCondLst>
                                    <p:cond delay="14800"/>
                                  </p:stCondLst>
                                  <p:childTnLst>
                                    <p:set>
                                      <p:cBhvr>
                                        <p:cTn id="122" dur="1" fill="hold">
                                          <p:stCondLst>
                                            <p:cond delay="0"/>
                                          </p:stCondLst>
                                        </p:cTn>
                                        <p:tgtEl>
                                          <p:spTgt spid="21"/>
                                        </p:tgtEl>
                                        <p:attrNameLst>
                                          <p:attrName>style.visibility</p:attrName>
                                        </p:attrNameLst>
                                      </p:cBhvr>
                                      <p:to>
                                        <p:strVal val="visible"/>
                                      </p:to>
                                    </p:set>
                                    <p:anim calcmode="lin" valueType="num">
                                      <p:cBhvr additive="base">
                                        <p:cTn id="123" dur="600" fill="hold"/>
                                        <p:tgtEl>
                                          <p:spTgt spid="21"/>
                                        </p:tgtEl>
                                        <p:attrNameLst>
                                          <p:attrName>ppt_x</p:attrName>
                                        </p:attrNameLst>
                                      </p:cBhvr>
                                      <p:tavLst>
                                        <p:tav tm="0">
                                          <p:val>
                                            <p:strVal val="#ppt_x"/>
                                          </p:val>
                                        </p:tav>
                                        <p:tav tm="100000">
                                          <p:val>
                                            <p:strVal val="#ppt_x"/>
                                          </p:val>
                                        </p:tav>
                                      </p:tavLst>
                                    </p:anim>
                                    <p:anim calcmode="lin" valueType="num">
                                      <p:cBhvr additive="base">
                                        <p:cTn id="124" dur="600" fill="hold"/>
                                        <p:tgtEl>
                                          <p:spTgt spid="21"/>
                                        </p:tgtEl>
                                        <p:attrNameLst>
                                          <p:attrName>ppt_y</p:attrName>
                                        </p:attrNameLst>
                                      </p:cBhvr>
                                      <p:tavLst>
                                        <p:tav tm="0">
                                          <p:val>
                                            <p:strVal val="0-#ppt_h/2"/>
                                          </p:val>
                                        </p:tav>
                                        <p:tav tm="100000">
                                          <p:val>
                                            <p:strVal val="#ppt_y"/>
                                          </p:val>
                                        </p:tav>
                                      </p:tavLst>
                                    </p:anim>
                                  </p:childTnLst>
                                </p:cTn>
                              </p:par>
                              <p:par>
                                <p:cTn id="127" presetID="32" presetClass="emph" presetSubtype="0" fill="hold" grpId="1" nodeType="withEffect" autoRev="1" repeatCount="4000">
                                  <p:stCondLst>
                                    <p:cond delay="15400"/>
                                  </p:stCondLst>
                                  <p:childTnLst>
                                    <p:animRot by="-1500000">
                                      <p:cBhvr>
                                        <p:cTn id="126" dur="150" fill="hold"/>
                                        <p:tgtEl>
                                          <p:spTgt spid="21"/>
                                        </p:tgtEl>
                                        <p:attrNameLst>
                                          <p:attrName>r</p:attrName>
                                        </p:attrNameLst>
                                      </p:cBhvr>
                                    </p:animRot>
                                  </p:childTnLst>
                                </p:cTn>
                              </p:par>
                              <p:par>
                                <p:cTn id="130" presetID="10" presetClass="exit" presetSubtype="0" fill="hold" grpId="1" nodeType="withEffect">
                                  <p:stCondLst>
                                    <p:cond delay="15800"/>
                                  </p:stCondLst>
                                  <p:childTnLst>
                                    <p:animEffect transition="out" filter="fade">
                                      <p:cBhvr>
                                        <p:cTn id="128" dur="300"/>
                                        <p:tgtEl>
                                          <p:spTgt spid="11"/>
                                        </p:tgtEl>
                                      </p:cBhvr>
                                    </p:animEffect>
                                    <p:set>
                                      <p:cBhvr>
                                        <p:cTn id="129" dur="1" fill="hold">
                                          <p:stCondLst>
                                            <p:cond delay="299"/>
                                          </p:stCondLst>
                                        </p:cTn>
                                        <p:tgtEl>
                                          <p:spTgt spid="11"/>
                                        </p:tgtEl>
                                        <p:attrNameLst>
                                          <p:attrName>style.visibility</p:attrName>
                                        </p:attrNameLst>
                                      </p:cBhvr>
                                      <p:to>
                                        <p:strVal val="hidden"/>
                                      </p:to>
                                    </p:set>
                                  </p:childTnLst>
                                </p:cTn>
                              </p:par>
                              <p:par>
                                <p:cTn id="133" presetID="10" presetClass="entr" presetSubtype="0" fill="hold" grpId="0" nodeType="withEffect">
                                  <p:stCondLst>
                                    <p:cond delay="158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300"/>
                                        <p:tgtEl>
                                          <p:spTgt spid="12"/>
                                        </p:tgtEl>
                                      </p:cBhvr>
                                    </p:animEffect>
                                  </p:childTnLst>
                                </p:cTn>
                              </p:par>
                              <p:par>
                                <p:cTn id="137" presetID="2" presetClass="entr" presetSubtype="1" fill="hold" grpId="0" nodeType="withEffect">
                                  <p:stCondLst>
                                    <p:cond delay="15900"/>
                                  </p:stCondLst>
                                  <p:childTnLst>
                                    <p:set>
                                      <p:cBhvr>
                                        <p:cTn id="134" dur="1" fill="hold">
                                          <p:stCondLst>
                                            <p:cond delay="0"/>
                                          </p:stCondLst>
                                        </p:cTn>
                                        <p:tgtEl>
                                          <p:spTgt spid="22"/>
                                        </p:tgtEl>
                                        <p:attrNameLst>
                                          <p:attrName>style.visibility</p:attrName>
                                        </p:attrNameLst>
                                      </p:cBhvr>
                                      <p:to>
                                        <p:strVal val="visible"/>
                                      </p:to>
                                    </p:set>
                                    <p:anim calcmode="lin" valueType="num">
                                      <p:cBhvr additive="base">
                                        <p:cTn id="135" dur="500" fill="hold"/>
                                        <p:tgtEl>
                                          <p:spTgt spid="22"/>
                                        </p:tgtEl>
                                        <p:attrNameLst>
                                          <p:attrName>ppt_x</p:attrName>
                                        </p:attrNameLst>
                                      </p:cBhvr>
                                      <p:tavLst>
                                        <p:tav tm="0">
                                          <p:val>
                                            <p:strVal val="#ppt_x"/>
                                          </p:val>
                                        </p:tav>
                                        <p:tav tm="100000">
                                          <p:val>
                                            <p:strVal val="#ppt_x"/>
                                          </p:val>
                                        </p:tav>
                                      </p:tavLst>
                                    </p:anim>
                                    <p:anim calcmode="lin" valueType="num">
                                      <p:cBhvr additive="base">
                                        <p:cTn id="136" dur="500" fill="hold"/>
                                        <p:tgtEl>
                                          <p:spTgt spid="22"/>
                                        </p:tgtEl>
                                        <p:attrNameLst>
                                          <p:attrName>ppt_y</p:attrName>
                                        </p:attrNameLst>
                                      </p:cBhvr>
                                      <p:tavLst>
                                        <p:tav tm="0">
                                          <p:val>
                                            <p:strVal val="0-#ppt_h/2"/>
                                          </p:val>
                                        </p:tav>
                                        <p:tav tm="100000">
                                          <p:val>
                                            <p:strVal val="#ppt_y"/>
                                          </p:val>
                                        </p:tav>
                                      </p:tavLst>
                                    </p:anim>
                                  </p:childTnLst>
                                </p:cTn>
                              </p:par>
                              <p:par>
                                <p:cTn id="142" presetID="53" presetClass="entr" presetSubtype="32" fill="hold" grpId="0" nodeType="withEffect">
                                  <p:stCondLst>
                                    <p:cond delay="16500"/>
                                  </p:stCondLst>
                                  <p:childTnLst>
                                    <p:set>
                                      <p:cBhvr>
                                        <p:cTn id="138" dur="1" fill="hold">
                                          <p:stCondLst>
                                            <p:cond delay="0"/>
                                          </p:stCondLst>
                                        </p:cTn>
                                        <p:tgtEl>
                                          <p:spTgt spid="23"/>
                                        </p:tgtEl>
                                        <p:attrNameLst>
                                          <p:attrName>style.visibility</p:attrName>
                                        </p:attrNameLst>
                                      </p:cBhvr>
                                      <p:to>
                                        <p:strVal val="visible"/>
                                      </p:to>
                                    </p:set>
                                    <p:anim calcmode="lin" valueType="num">
                                      <p:cBhvr additive="base">
                                        <p:cTn id="139" dur="450" fill="hold"/>
                                        <p:tgtEl>
                                          <p:spTgt spid="23"/>
                                        </p:tgtEl>
                                        <p:attrNameLst>
                                          <p:attrName>ppt_w</p:attrName>
                                        </p:attrNameLst>
                                      </p:cBhvr>
                                      <p:tavLst>
                                        <p:tav tm="0">
                                          <p:val>
                                            <p:strVal val="#ppt_w*2.4"/>
                                          </p:val>
                                        </p:tav>
                                        <p:tav tm="100000">
                                          <p:val>
                                            <p:strVal val="#ppt_w"/>
                                          </p:val>
                                        </p:tav>
                                      </p:tavLst>
                                    </p:anim>
                                    <p:anim calcmode="lin" valueType="num">
                                      <p:cBhvr additive="base">
                                        <p:cTn id="140" dur="450" fill="hold"/>
                                        <p:tgtEl>
                                          <p:spTgt spid="23"/>
                                        </p:tgtEl>
                                        <p:attrNameLst>
                                          <p:attrName>ppt_h</p:attrName>
                                        </p:attrNameLst>
                                      </p:cBhvr>
                                      <p:tavLst>
                                        <p:tav tm="0">
                                          <p:val>
                                            <p:strVal val="#ppt_h*2.4"/>
                                          </p:val>
                                        </p:tav>
                                        <p:tav tm="100000">
                                          <p:val>
                                            <p:strVal val="#ppt_h"/>
                                          </p:val>
                                        </p:tav>
                                      </p:tavLst>
                                    </p:anim>
                                    <p:animEffect transition="in" filter="fade">
                                      <p:cBhvr>
                                        <p:cTn id="141" dur="450"/>
                                        <p:tgtEl>
                                          <p:spTgt spid="23"/>
                                        </p:tgtEl>
                                      </p:cBhvr>
                                    </p:animEffect>
                                  </p:childTnLst>
                                </p:cTn>
                              </p:par>
                              <p:par>
                                <p:cTn id="147" presetID="53" presetClass="entr" presetSubtype="16" fill="hold" grpId="0" nodeType="withEffect">
                                  <p:stCondLst>
                                    <p:cond delay="17000"/>
                                  </p:stCondLst>
                                  <p:childTnLst>
                                    <p:set>
                                      <p:cBhvr>
                                        <p:cTn id="143" dur="1" fill="hold">
                                          <p:stCondLst>
                                            <p:cond delay="0"/>
                                          </p:stCondLst>
                                        </p:cTn>
                                        <p:tgtEl>
                                          <p:spTgt spid="24"/>
                                        </p:tgtEl>
                                        <p:attrNameLst>
                                          <p:attrName>style.visibility</p:attrName>
                                        </p:attrNameLst>
                                      </p:cBhvr>
                                      <p:to>
                                        <p:strVal val="visible"/>
                                      </p:to>
                                    </p:set>
                                    <p:anim calcmode="lin" valueType="num">
                                      <p:cBhvr additive="base">
                                        <p:cTn id="144" dur="500" fill="hold"/>
                                        <p:tgtEl>
                                          <p:spTgt spid="24"/>
                                        </p:tgtEl>
                                        <p:attrNameLst>
                                          <p:attrName>ppt_w</p:attrName>
                                        </p:attrNameLst>
                                      </p:cBhvr>
                                      <p:tavLst>
                                        <p:tav tm="0">
                                          <p:val>
                                            <p:strVal val="0"/>
                                          </p:val>
                                        </p:tav>
                                        <p:tav tm="100000">
                                          <p:val>
                                            <p:strVal val="#ppt_w"/>
                                          </p:val>
                                        </p:tav>
                                      </p:tavLst>
                                    </p:anim>
                                    <p:anim calcmode="lin" valueType="num">
                                      <p:cBhvr additive="base">
                                        <p:cTn id="145" dur="500" fill="hold"/>
                                        <p:tgtEl>
                                          <p:spTgt spid="24"/>
                                        </p:tgtEl>
                                        <p:attrNameLst>
                                          <p:attrName>ppt_h</p:attrName>
                                        </p:attrNameLst>
                                      </p:cBhvr>
                                      <p:tavLst>
                                        <p:tav tm="0">
                                          <p:val>
                                            <p:strVal val="0"/>
                                          </p:val>
                                        </p:tav>
                                        <p:tav tm="100000">
                                          <p:val>
                                            <p:strVal val="#ppt_h"/>
                                          </p:val>
                                        </p:tav>
                                      </p:tavLst>
                                    </p:anim>
                                    <p:animEffect transition="in" filter="fade">
                                      <p:cBhvr>
                                        <p:cTn id="146" dur="500"/>
                                        <p:tgtEl>
                                          <p:spTgt spid="24"/>
                                        </p:tgtEl>
                                      </p:cBhvr>
                                    </p:animEffect>
                                  </p:childTnLst>
                                </p:cTn>
                              </p:par>
                              <p:par>
                                <p:cTn id="152" presetID="53" presetClass="entr" presetSubtype="32" fill="hold" grpId="0" nodeType="withEffect">
                                  <p:stCondLst>
                                    <p:cond delay="17500"/>
                                  </p:stCondLst>
                                  <p:childTnLst>
                                    <p:set>
                                      <p:cBhvr>
                                        <p:cTn id="148" dur="1" fill="hold">
                                          <p:stCondLst>
                                            <p:cond delay="0"/>
                                          </p:stCondLst>
                                        </p:cTn>
                                        <p:tgtEl>
                                          <p:spTgt spid="25"/>
                                        </p:tgtEl>
                                        <p:attrNameLst>
                                          <p:attrName>style.visibility</p:attrName>
                                        </p:attrNameLst>
                                      </p:cBhvr>
                                      <p:to>
                                        <p:strVal val="visible"/>
                                      </p:to>
                                    </p:set>
                                    <p:anim calcmode="lin" valueType="num">
                                      <p:cBhvr additive="base">
                                        <p:cTn id="149" dur="450" fill="hold"/>
                                        <p:tgtEl>
                                          <p:spTgt spid="25"/>
                                        </p:tgtEl>
                                        <p:attrNameLst>
                                          <p:attrName>ppt_w</p:attrName>
                                        </p:attrNameLst>
                                      </p:cBhvr>
                                      <p:tavLst>
                                        <p:tav tm="0">
                                          <p:val>
                                            <p:strVal val="#ppt_w*2.4"/>
                                          </p:val>
                                        </p:tav>
                                        <p:tav tm="100000">
                                          <p:val>
                                            <p:strVal val="#ppt_w"/>
                                          </p:val>
                                        </p:tav>
                                      </p:tavLst>
                                    </p:anim>
                                    <p:anim calcmode="lin" valueType="num">
                                      <p:cBhvr additive="base">
                                        <p:cTn id="150" dur="450" fill="hold"/>
                                        <p:tgtEl>
                                          <p:spTgt spid="25"/>
                                        </p:tgtEl>
                                        <p:attrNameLst>
                                          <p:attrName>ppt_h</p:attrName>
                                        </p:attrNameLst>
                                      </p:cBhvr>
                                      <p:tavLst>
                                        <p:tav tm="0">
                                          <p:val>
                                            <p:strVal val="#ppt_h*2.4"/>
                                          </p:val>
                                        </p:tav>
                                        <p:tav tm="100000">
                                          <p:val>
                                            <p:strVal val="#ppt_h"/>
                                          </p:val>
                                        </p:tav>
                                      </p:tavLst>
                                    </p:anim>
                                    <p:animEffect transition="in" filter="fade">
                                      <p:cBhvr>
                                        <p:cTn id="151"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animBg="1"/>
      <p:bldP spid="2" grpId="1" animBg="1"/>
      <p:bldP spid="26" grpId="0" animBg="1"/>
      <p:bldP spid="7" grpId="0" animBg="1"/>
      <p:bldP spid="10" grpId="0" animBg="1"/>
      <p:bldP spid="27" grpId="0" animBg="1"/>
      <p:bldP spid="13" grpId="0" animBg="1"/>
      <p:bldP spid="14" grpId="0" animBg="1"/>
      <p:bldP spid="14" grpId="1" animBg="1"/>
      <p:bldP spid="7" grpId="1" animBg="1"/>
      <p:bldP spid="8" grpId="0" animBg="1"/>
      <p:bldP spid="15" grpId="0" animBg="1"/>
      <p:bldP spid="15" grpId="1" animBg="1"/>
      <p:bldP spid="27" grpId="1" animBg="1"/>
      <p:bldP spid="28" grpId="0" animBg="1"/>
      <p:bldP spid="15" grpId="2" animBg="1"/>
      <p:bldP spid="14" grpId="2" animBg="1"/>
      <p:bldP spid="13" grpId="1" animBg="1"/>
      <p:bldP spid="16" grpId="0" animBg="1"/>
      <p:bldP spid="17" grpId="0" animBg="1"/>
      <p:bldP spid="18" grpId="0" animBg="1"/>
      <p:bldP spid="28" grpId="1" animBg="1"/>
      <p:bldP spid="16" grpId="1" animBg="1"/>
      <p:bldP spid="17" grpId="1" animBg="1"/>
      <p:bldP spid="18" grpId="1" animBg="1"/>
      <p:bldP spid="29" grpId="0" animBg="1"/>
      <p:bldP spid="19" grpId="0" animBg="1"/>
      <p:bldP spid="8" grpId="1" animBg="1"/>
      <p:bldP spid="9" grpId="0" animBg="1"/>
      <p:bldP spid="10" grpId="1" animBg="1"/>
      <p:bldP spid="11" grpId="0" animBg="1"/>
      <p:bldP spid="20" grpId="0" animBg="1"/>
      <p:bldP spid="29" grpId="1" animBg="1"/>
      <p:bldP spid="19" grpId="1" animBg="1"/>
      <p:bldP spid="20" grpId="1" animBg="1"/>
      <p:bldP spid="30" grpId="0" animBg="1"/>
      <p:bldP spid="21" grpId="0" animBg="1"/>
      <p:bldP spid="21" grpId="1" animBg="1"/>
      <p:bldP spid="11" grpId="1" animBg="1"/>
      <p:bldP spid="12" grpId="0" animBg="1"/>
      <p:bldP spid="22" grpId="0" animBg="1"/>
      <p:bldP spid="23" grpId="0" animBg="1"/>
      <p:bldP spid="24"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III  ·  THE FALL</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III: banned bullets, betrayal and a federal courtroom</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9 · DISCOVERY</a:t>
            </a:r>
            <a:endParaRPr lang="en-US" sz="1100" dirty="0"/>
          </a:p>
        </p:txBody>
      </p:sp>
      <p:sp>
        <p:nvSpPr>
          <p:cNvPr id="64" name="Made in China circle"/>
          <p:cNvSpPr/>
          <p:nvPr/>
        </p:nvSpPr>
        <p:spPr>
          <a:xfrm>
            <a:off x="914400" y="2606040"/>
            <a:ext cx="566928" cy="566928"/>
          </a:xfrm>
          <a:prstGeom prst="ellipse">
            <a:avLst/>
          </a:prstGeom>
          <a:solidFill>
            <a:srgbClr val="E5383B"/>
          </a:solidFill>
          <a:ln/>
        </p:spPr>
      </p:sp>
      <p:pic>
        <p:nvPicPr>
          <p:cNvPr id="65" name="Made in China icon" descr="Made in China">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Made in China</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The ammunition is Chinese-made, banned under a US arms embargo and by the contract itself.</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10 · COVER-UP</a:t>
            </a:r>
            <a:endParaRPr lang="en-US" sz="1100" dirty="0"/>
          </a:p>
        </p:txBody>
      </p:sp>
      <p:sp>
        <p:nvSpPr>
          <p:cNvPr id="70" name="Repackaging circle"/>
          <p:cNvSpPr/>
          <p:nvPr/>
        </p:nvSpPr>
        <p:spPr>
          <a:xfrm>
            <a:off x="3642284" y="2606040"/>
            <a:ext cx="566928" cy="566928"/>
          </a:xfrm>
          <a:prstGeom prst="ellipse">
            <a:avLst/>
          </a:prstGeom>
          <a:solidFill>
            <a:srgbClr val="E5383B"/>
          </a:solidFill>
          <a:ln/>
        </p:spPr>
      </p:sp>
      <p:pic>
        <p:nvPicPr>
          <p:cNvPr id="71" name="Repackaging icon" descr="Repackaging">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Repackaging</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Instead of reporting it, they have the rounds repacked to remove Chinese markings.</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11 · BETRAYAL</a:t>
            </a:r>
            <a:endParaRPr lang="en-US" sz="1100" dirty="0"/>
          </a:p>
        </p:txBody>
      </p:sp>
      <p:sp>
        <p:nvSpPr>
          <p:cNvPr id="76" name="Partners turn circle"/>
          <p:cNvSpPr/>
          <p:nvPr/>
        </p:nvSpPr>
        <p:spPr>
          <a:xfrm>
            <a:off x="6370168" y="2606040"/>
            <a:ext cx="566928" cy="566928"/>
          </a:xfrm>
          <a:prstGeom prst="ellipse">
            <a:avLst/>
          </a:prstGeom>
          <a:solidFill>
            <a:srgbClr val="3A3D44"/>
          </a:solidFill>
          <a:ln/>
        </p:spPr>
      </p:sp>
      <p:pic>
        <p:nvPicPr>
          <p:cNvPr id="77" name="Partners turn icon" descr="Partners turn">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Partners turn</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David is threatened in Albania, and Efraim cheats him. The friendship collapses.</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12 · VERDICT</a:t>
            </a:r>
            <a:endParaRPr lang="en-US" sz="1100" dirty="0"/>
          </a:p>
        </p:txBody>
      </p:sp>
      <p:sp>
        <p:nvSpPr>
          <p:cNvPr id="82" name="Real sentences circle"/>
          <p:cNvSpPr/>
          <p:nvPr/>
        </p:nvSpPr>
        <p:spPr>
          <a:xfrm>
            <a:off x="9098051" y="2606040"/>
            <a:ext cx="566928" cy="566928"/>
          </a:xfrm>
          <a:prstGeom prst="ellipse">
            <a:avLst/>
          </a:prstGeom>
          <a:solidFill>
            <a:srgbClr val="8A6D1E"/>
          </a:solidFill>
          <a:ln/>
        </p:spPr>
      </p:sp>
      <p:pic>
        <p:nvPicPr>
          <p:cNvPr id="83" name="Real sentences icon" descr="Real sentences">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Real sentences</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Efraim: 4 years in prison. David cooperates: 7 months of house arrest.</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The real case: exposed by journalists in 2008, prosecuted for fraud and conspiracy</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12</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III  ·  HOW DID THEY JUSTIFY IT?</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Neutralization: how offenders silence their conscience</a:t>
            </a:r>
            <a:endParaRPr lang="en-US" sz="3000" dirty="0"/>
          </a:p>
        </p:txBody>
      </p:sp>
      <p:sp>
        <p:nvSpPr>
          <p:cNvPr id="7" name="Text 4"/>
          <p:cNvSpPr txBox="1"/>
          <p:nvPr/>
        </p:nvSpPr>
        <p:spPr>
          <a:xfrm>
            <a:off x="548640" y="1463040"/>
            <a:ext cx="11094415" cy="502920"/>
          </a:xfrm>
          <a:prstGeom prst="rect">
            <a:avLst/>
          </a:prstGeom>
          <a:noFill/>
          <a:ln/>
        </p:spPr>
        <p:txBody>
          <a:bodyPr wrap="square" lIns="0" tIns="0" rIns="0" bIns="0" rtlCol="0" anchor="ctr"/>
          <a:lstStyle/>
          <a:p>
            <a:pPr indent="0" marL="0">
              <a:buNone/>
            </a:pPr>
            <a:r>
              <a:rPr lang="en-US" sz="1500" i="1" dirty="0">
                <a:solidFill>
                  <a:srgbClr val="A9ADB5"/>
                </a:solidFill>
              </a:rPr>
              <a:t>Sykes &amp; Matza (1957): offenders know the rules, but use excuses to switch them off. In the film, every excuse sounds like normal business talk.</a:t>
            </a:r>
            <a:endParaRPr lang="en-US" sz="1500" dirty="0"/>
          </a:p>
        </p:txBody>
      </p:sp>
      <p:sp>
        <p:nvSpPr>
          <p:cNvPr id="8" name="Denial of injury"/>
          <p:cNvSpPr/>
          <p:nvPr/>
        </p:nvSpPr>
        <p:spPr>
          <a:xfrm>
            <a:off x="548640" y="2148840"/>
            <a:ext cx="5455768" cy="1600200"/>
          </a:xfrm>
          <a:prstGeom prst="rect">
            <a:avLst/>
          </a:prstGeom>
          <a:solidFill>
            <a:srgbClr val="1B1D22"/>
          </a:solidFill>
          <a:ln w="12700">
            <a:solidFill>
              <a:srgbClr val="33363D"/>
            </a:solidFill>
            <a:prstDash val="solid"/>
          </a:ln>
        </p:spPr>
      </p:sp>
      <p:sp>
        <p:nvSpPr>
          <p:cNvPr id="9" name="Text 6"/>
          <p:cNvSpPr txBox="1"/>
          <p:nvPr/>
        </p:nvSpPr>
        <p:spPr>
          <a:xfrm>
            <a:off x="822960"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INJURY</a:t>
            </a:r>
            <a:endParaRPr lang="en-US" sz="1200" dirty="0"/>
          </a:p>
        </p:txBody>
      </p:sp>
      <p:sp>
        <p:nvSpPr>
          <p:cNvPr id="10" name="Text 7"/>
          <p:cNvSpPr txBox="1"/>
          <p:nvPr/>
        </p:nvSpPr>
        <p:spPr>
          <a:xfrm>
            <a:off x="822960"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troops still get bullets that work. Who is harmed?”</a:t>
            </a:r>
            <a:endParaRPr lang="en-US" sz="2000" dirty="0"/>
          </a:p>
        </p:txBody>
      </p:sp>
      <p:sp>
        <p:nvSpPr>
          <p:cNvPr id="11" name="Condemnation of the condemners"/>
          <p:cNvSpPr/>
          <p:nvPr/>
        </p:nvSpPr>
        <p:spPr>
          <a:xfrm>
            <a:off x="6187288" y="2148840"/>
            <a:ext cx="5455768" cy="1600200"/>
          </a:xfrm>
          <a:prstGeom prst="rect">
            <a:avLst/>
          </a:prstGeom>
          <a:solidFill>
            <a:srgbClr val="1B1D22"/>
          </a:solidFill>
          <a:ln w="12700">
            <a:solidFill>
              <a:srgbClr val="33363D"/>
            </a:solidFill>
            <a:prstDash val="solid"/>
          </a:ln>
        </p:spPr>
      </p:sp>
      <p:sp>
        <p:nvSpPr>
          <p:cNvPr id="12" name="Text 9"/>
          <p:cNvSpPr txBox="1"/>
          <p:nvPr/>
        </p:nvSpPr>
        <p:spPr>
          <a:xfrm>
            <a:off x="6461608"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CONDEMNATION OF THE CONDEMNERS</a:t>
            </a:r>
            <a:endParaRPr lang="en-US" sz="1200" dirty="0"/>
          </a:p>
        </p:txBody>
      </p:sp>
      <p:sp>
        <p:nvSpPr>
          <p:cNvPr id="13" name="Text 10"/>
          <p:cNvSpPr txBox="1"/>
          <p:nvPr/>
        </p:nvSpPr>
        <p:spPr>
          <a:xfrm>
            <a:off x="6461608"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government buys from shady sources too.”</a:t>
            </a:r>
            <a:endParaRPr lang="en-US" sz="2000" dirty="0"/>
          </a:p>
        </p:txBody>
      </p:sp>
      <p:sp>
        <p:nvSpPr>
          <p:cNvPr id="14" name="Denial of responsibility"/>
          <p:cNvSpPr/>
          <p:nvPr/>
        </p:nvSpPr>
        <p:spPr>
          <a:xfrm>
            <a:off x="548640" y="3931920"/>
            <a:ext cx="5455768" cy="1600200"/>
          </a:xfrm>
          <a:prstGeom prst="rect">
            <a:avLst/>
          </a:prstGeom>
          <a:solidFill>
            <a:srgbClr val="1B1D22"/>
          </a:solidFill>
          <a:ln w="12700">
            <a:solidFill>
              <a:srgbClr val="33363D"/>
            </a:solidFill>
            <a:prstDash val="solid"/>
          </a:ln>
        </p:spPr>
      </p:sp>
      <p:sp>
        <p:nvSpPr>
          <p:cNvPr id="15" name="Text 12"/>
          <p:cNvSpPr txBox="1"/>
          <p:nvPr/>
        </p:nvSpPr>
        <p:spPr>
          <a:xfrm>
            <a:off x="822960"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RESPONSIBILITY</a:t>
            </a:r>
            <a:endParaRPr lang="en-US" sz="1200" dirty="0"/>
          </a:p>
        </p:txBody>
      </p:sp>
      <p:sp>
        <p:nvSpPr>
          <p:cNvPr id="16" name="Text 13"/>
          <p:cNvSpPr txBox="1"/>
          <p:nvPr/>
        </p:nvSpPr>
        <p:spPr>
          <a:xfrm>
            <a:off x="822960"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“We didn’t make the bullets. We just moved them.”</a:t>
            </a:r>
            <a:endParaRPr lang="en-US" sz="2000" dirty="0"/>
          </a:p>
        </p:txBody>
      </p:sp>
      <p:sp>
        <p:nvSpPr>
          <p:cNvPr id="17" name="Appeal to higher loyalties"/>
          <p:cNvSpPr/>
          <p:nvPr/>
        </p:nvSpPr>
        <p:spPr>
          <a:xfrm>
            <a:off x="6187288" y="3931920"/>
            <a:ext cx="5455768" cy="1600200"/>
          </a:xfrm>
          <a:prstGeom prst="rect">
            <a:avLst/>
          </a:prstGeom>
          <a:solidFill>
            <a:srgbClr val="1B1D22"/>
          </a:solidFill>
          <a:ln w="12700">
            <a:solidFill>
              <a:srgbClr val="33363D"/>
            </a:solidFill>
            <a:prstDash val="solid"/>
          </a:ln>
        </p:spPr>
      </p:sp>
      <p:sp>
        <p:nvSpPr>
          <p:cNvPr id="18" name="Text 15"/>
          <p:cNvSpPr txBox="1"/>
          <p:nvPr/>
        </p:nvSpPr>
        <p:spPr>
          <a:xfrm>
            <a:off x="6461608"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APPEAL TO HIGHER LOYALTIES</a:t>
            </a:r>
            <a:endParaRPr lang="en-US" sz="1200" dirty="0"/>
          </a:p>
        </p:txBody>
      </p:sp>
      <p:sp>
        <p:nvSpPr>
          <p:cNvPr id="19" name="Text 16"/>
          <p:cNvSpPr txBox="1"/>
          <p:nvPr/>
        </p:nvSpPr>
        <p:spPr>
          <a:xfrm>
            <a:off x="6461608"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“I’m doing this for my family.”</a:t>
            </a:r>
            <a:endParaRPr lang="en-US" sz="2000" dirty="0"/>
          </a:p>
        </p:txBody>
      </p:sp>
      <p:sp>
        <p:nvSpPr>
          <p:cNvPr id="20" name="Text 17"/>
          <p:cNvSpPr txBox="1"/>
          <p:nvPr/>
        </p:nvSpPr>
        <p:spPr>
          <a:xfrm>
            <a:off x="548640" y="5760720"/>
            <a:ext cx="11094415" cy="274320"/>
          </a:xfrm>
          <a:prstGeom prst="rect">
            <a:avLst/>
          </a:prstGeom>
          <a:noFill/>
          <a:ln/>
        </p:spPr>
        <p:txBody>
          <a:bodyPr wrap="square" lIns="0" tIns="0" rIns="0" bIns="0" rtlCol="0" anchor="ctr"/>
          <a:lstStyle/>
          <a:p>
            <a:pPr indent="0" marL="0">
              <a:buNone/>
            </a:pPr>
            <a:r>
              <a:rPr lang="en-US" sz="1100" i="1" dirty="0">
                <a:solidFill>
                  <a:srgbClr val="6E727A"/>
                </a:solidFill>
              </a:rPr>
              <a:t>Quotes paraphrase the characters’ attitudes; they are not verbatim lines.</a:t>
            </a:r>
            <a:endParaRPr lang="en-US" sz="11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4"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29" presetID="10"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34" presetID="42" presetClass="entr" presetSubtype="0" fill="hold" grpId="0" nodeType="withEffect">
                                  <p:stCondLst>
                                    <p:cond delay="14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p:tgtEl>
                                          <p:spTgt spid="8"/>
                                        </p:tgtEl>
                                      </p:cBhvr>
                                    </p:animEffect>
                                    <p:anim calcmode="lin" valueType="num">
                                      <p:cBhvr additive="base">
                                        <p:cTn id="32" dur="600" fill="hold"/>
                                        <p:tgtEl>
                                          <p:spTgt spid="8"/>
                                        </p:tgtEl>
                                        <p:attrNameLst>
                                          <p:attrName>ppt_x</p:attrName>
                                        </p:attrNameLst>
                                      </p:cBhvr>
                                      <p:tavLst>
                                        <p:tav tm="0">
                                          <p:val>
                                            <p:strVal val="#ppt_x"/>
                                          </p:val>
                                        </p:tav>
                                        <p:tav tm="100000">
                                          <p:val>
                                            <p:strVal val="#ppt_x"/>
                                          </p:val>
                                        </p:tav>
                                      </p:tavLst>
                                    </p:anim>
                                    <p:anim calcmode="lin" valueType="num">
                                      <p:cBhvr additive="base">
                                        <p:cTn id="33" dur="600" fill="hold"/>
                                        <p:tgtEl>
                                          <p:spTgt spid="8"/>
                                        </p:tgtEl>
                                        <p:attrNameLst>
                                          <p:attrName>ppt_y</p:attrName>
                                        </p:attrNameLst>
                                      </p:cBhvr>
                                      <p:tavLst>
                                        <p:tav tm="0">
                                          <p:val>
                                            <p:strVal val="#ppt_y+.06"/>
                                          </p:val>
                                        </p:tav>
                                        <p:tav tm="100000">
                                          <p:val>
                                            <p:strVal val="#ppt_y"/>
                                          </p:val>
                                        </p:tav>
                                      </p:tavLst>
                                    </p:anim>
                                  </p:childTnLst>
                                </p:cTn>
                              </p:par>
                              <p:par>
                                <p:cTn id="37" presetID="10" presetClass="entr" presetSubtype="0" fill="hold" grpId="0" nodeType="withEffect">
                                  <p:stCondLst>
                                    <p:cond delay="160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400"/>
                                        <p:tgtEl>
                                          <p:spTgt spid="9"/>
                                        </p:tgtEl>
                                      </p:cBhvr>
                                    </p:animEffect>
                                  </p:childTnLst>
                                </p:cTn>
                              </p:par>
                              <p:par>
                                <p:cTn id="39" presetID="1" presetClass="entr" presetSubtype="0" fill="hold" grpId="0" nodeType="withEffect">
                                  <p:stCondLst>
                                    <p:cond delay="1900"/>
                                  </p:stCondLst>
                                  <p:iterate type="lt">
                                    <p:tmAbs val="28"/>
                                  </p:iterate>
                                  <p:childTnLst>
                                    <p:set>
                                      <p:cBhvr>
                                        <p:cTn id="38" dur="1" fill="hold">
                                          <p:stCondLst>
                                            <p:cond delay="0"/>
                                          </p:stCondLst>
                                        </p:cTn>
                                        <p:tgtEl>
                                          <p:spTgt spid="10"/>
                                        </p:tgtEl>
                                        <p:attrNameLst>
                                          <p:attrName>style.visibility</p:attrName>
                                        </p:attrNameLst>
                                      </p:cBhvr>
                                      <p:to>
                                        <p:strVal val="visible"/>
                                      </p:to>
                                    </p:set>
                                  </p:childTnLst>
                                </p:cTn>
                              </p:par>
                              <p:par>
                                <p:cTn id="44" presetID="42" presetClass="entr" presetSubtype="0" fill="hold" grpId="0" nodeType="withEffect">
                                  <p:stCondLst>
                                    <p:cond delay="31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additive="base">
                                        <p:cTn id="42" dur="600" fill="hold"/>
                                        <p:tgtEl>
                                          <p:spTgt spid="11"/>
                                        </p:tgtEl>
                                        <p:attrNameLst>
                                          <p:attrName>ppt_x</p:attrName>
                                        </p:attrNameLst>
                                      </p:cBhvr>
                                      <p:tavLst>
                                        <p:tav tm="0">
                                          <p:val>
                                            <p:strVal val="#ppt_x"/>
                                          </p:val>
                                        </p:tav>
                                        <p:tav tm="100000">
                                          <p:val>
                                            <p:strVal val="#ppt_x"/>
                                          </p:val>
                                        </p:tav>
                                      </p:tavLst>
                                    </p:anim>
                                    <p:anim calcmode="lin" valueType="num">
                                      <p:cBhvr additive="base">
                                        <p:cTn id="43" dur="600" fill="hold"/>
                                        <p:tgtEl>
                                          <p:spTgt spid="11"/>
                                        </p:tgtEl>
                                        <p:attrNameLst>
                                          <p:attrName>ppt_y</p:attrName>
                                        </p:attrNameLst>
                                      </p:cBhvr>
                                      <p:tavLst>
                                        <p:tav tm="0">
                                          <p:val>
                                            <p:strVal val="#ppt_y+.06"/>
                                          </p:val>
                                        </p:tav>
                                        <p:tav tm="100000">
                                          <p:val>
                                            <p:strVal val="#ppt_y"/>
                                          </p:val>
                                        </p:tav>
                                      </p:tavLst>
                                    </p:anim>
                                  </p:childTnLst>
                                </p:cTn>
                              </p:par>
                              <p:par>
                                <p:cTn id="47" presetID="10" presetClass="entr" presetSubtype="0" fill="hold" grpId="0" nodeType="withEffect">
                                  <p:stCondLst>
                                    <p:cond delay="330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childTnLst>
                                </p:cTn>
                              </p:par>
                              <p:par>
                                <p:cTn id="49" presetID="1" presetClass="entr" presetSubtype="0" fill="hold" grpId="0" nodeType="withEffect">
                                  <p:stCondLst>
                                    <p:cond delay="3600"/>
                                  </p:stCondLst>
                                  <p:iterate type="lt">
                                    <p:tmAbs val="28"/>
                                  </p:iterate>
                                  <p:childTnLst>
                                    <p:set>
                                      <p:cBhvr>
                                        <p:cTn id="48" dur="1" fill="hold">
                                          <p:stCondLst>
                                            <p:cond delay="0"/>
                                          </p:stCondLst>
                                        </p:cTn>
                                        <p:tgtEl>
                                          <p:spTgt spid="13"/>
                                        </p:tgtEl>
                                        <p:attrNameLst>
                                          <p:attrName>style.visibility</p:attrName>
                                        </p:attrNameLst>
                                      </p:cBhvr>
                                      <p:to>
                                        <p:strVal val="visible"/>
                                      </p:to>
                                    </p:set>
                                  </p:childTnLst>
                                </p:cTn>
                              </p:par>
                              <p:par>
                                <p:cTn id="54" presetID="42" presetClass="entr" presetSubtype="0" fill="hold" grpId="0" nodeType="withEffect">
                                  <p:stCondLst>
                                    <p:cond delay="48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anim calcmode="lin" valueType="num">
                                      <p:cBhvr additive="base">
                                        <p:cTn id="52" dur="600" fill="hold"/>
                                        <p:tgtEl>
                                          <p:spTgt spid="14"/>
                                        </p:tgtEl>
                                        <p:attrNameLst>
                                          <p:attrName>ppt_x</p:attrName>
                                        </p:attrNameLst>
                                      </p:cBhvr>
                                      <p:tavLst>
                                        <p:tav tm="0">
                                          <p:val>
                                            <p:strVal val="#ppt_x"/>
                                          </p:val>
                                        </p:tav>
                                        <p:tav tm="100000">
                                          <p:val>
                                            <p:strVal val="#ppt_x"/>
                                          </p:val>
                                        </p:tav>
                                      </p:tavLst>
                                    </p:anim>
                                    <p:anim calcmode="lin" valueType="num">
                                      <p:cBhvr additive="base">
                                        <p:cTn id="53" dur="600" fill="hold"/>
                                        <p:tgtEl>
                                          <p:spTgt spid="14"/>
                                        </p:tgtEl>
                                        <p:attrNameLst>
                                          <p:attrName>ppt_y</p:attrName>
                                        </p:attrNameLst>
                                      </p:cBhvr>
                                      <p:tavLst>
                                        <p:tav tm="0">
                                          <p:val>
                                            <p:strVal val="#ppt_y+.06"/>
                                          </p:val>
                                        </p:tav>
                                        <p:tav tm="100000">
                                          <p:val>
                                            <p:strVal val="#ppt_y"/>
                                          </p:val>
                                        </p:tav>
                                      </p:tavLst>
                                    </p:anim>
                                  </p:childTnLst>
                                </p:cTn>
                              </p:par>
                              <p:par>
                                <p:cTn id="57" presetID="10" presetClass="entr" presetSubtype="0" fill="hold" grpId="0" nodeType="withEffect">
                                  <p:stCondLst>
                                    <p:cond delay="500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00"/>
                                        <p:tgtEl>
                                          <p:spTgt spid="15"/>
                                        </p:tgtEl>
                                      </p:cBhvr>
                                    </p:animEffect>
                                  </p:childTnLst>
                                </p:cTn>
                              </p:par>
                              <p:par>
                                <p:cTn id="59" presetID="1" presetClass="entr" presetSubtype="0" fill="hold" grpId="0" nodeType="withEffect">
                                  <p:stCondLst>
                                    <p:cond delay="5300"/>
                                  </p:stCondLst>
                                  <p:iterate type="lt">
                                    <p:tmAbs val="28"/>
                                  </p:iterate>
                                  <p:childTnLst>
                                    <p:set>
                                      <p:cBhvr>
                                        <p:cTn id="58" dur="1" fill="hold">
                                          <p:stCondLst>
                                            <p:cond delay="0"/>
                                          </p:stCondLst>
                                        </p:cTn>
                                        <p:tgtEl>
                                          <p:spTgt spid="16"/>
                                        </p:tgtEl>
                                        <p:attrNameLst>
                                          <p:attrName>style.visibility</p:attrName>
                                        </p:attrNameLst>
                                      </p:cBhvr>
                                      <p:to>
                                        <p:strVal val="visible"/>
                                      </p:to>
                                    </p:set>
                                  </p:childTnLst>
                                </p:cTn>
                              </p:par>
                              <p:par>
                                <p:cTn id="64" presetID="42" presetClass="entr" presetSubtype="0" fill="hold" grpId="0" nodeType="withEffect">
                                  <p:stCondLst>
                                    <p:cond delay="65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600"/>
                                        <p:tgtEl>
                                          <p:spTgt spid="17"/>
                                        </p:tgtEl>
                                      </p:cBhvr>
                                    </p:animEffect>
                                    <p:anim calcmode="lin" valueType="num">
                                      <p:cBhvr additive="base">
                                        <p:cTn id="62" dur="600" fill="hold"/>
                                        <p:tgtEl>
                                          <p:spTgt spid="17"/>
                                        </p:tgtEl>
                                        <p:attrNameLst>
                                          <p:attrName>ppt_x</p:attrName>
                                        </p:attrNameLst>
                                      </p:cBhvr>
                                      <p:tavLst>
                                        <p:tav tm="0">
                                          <p:val>
                                            <p:strVal val="#ppt_x"/>
                                          </p:val>
                                        </p:tav>
                                        <p:tav tm="100000">
                                          <p:val>
                                            <p:strVal val="#ppt_x"/>
                                          </p:val>
                                        </p:tav>
                                      </p:tavLst>
                                    </p:anim>
                                    <p:anim calcmode="lin" valueType="num">
                                      <p:cBhvr additive="base">
                                        <p:cTn id="63" dur="600" fill="hold"/>
                                        <p:tgtEl>
                                          <p:spTgt spid="17"/>
                                        </p:tgtEl>
                                        <p:attrNameLst>
                                          <p:attrName>ppt_y</p:attrName>
                                        </p:attrNameLst>
                                      </p:cBhvr>
                                      <p:tavLst>
                                        <p:tav tm="0">
                                          <p:val>
                                            <p:strVal val="#ppt_y+.06"/>
                                          </p:val>
                                        </p:tav>
                                        <p:tav tm="100000">
                                          <p:val>
                                            <p:strVal val="#ppt_y"/>
                                          </p:val>
                                        </p:tav>
                                      </p:tavLst>
                                    </p:anim>
                                  </p:childTnLst>
                                </p:cTn>
                              </p:par>
                              <p:par>
                                <p:cTn id="67" presetID="10" presetClass="entr" presetSubtype="0" fill="hold" grpId="0" nodeType="withEffect">
                                  <p:stCondLst>
                                    <p:cond delay="670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400"/>
                                        <p:tgtEl>
                                          <p:spTgt spid="18"/>
                                        </p:tgtEl>
                                      </p:cBhvr>
                                    </p:animEffect>
                                  </p:childTnLst>
                                </p:cTn>
                              </p:par>
                              <p:par>
                                <p:cTn id="69" presetID="1" presetClass="entr" presetSubtype="0" fill="hold" grpId="0" nodeType="withEffect">
                                  <p:stCondLst>
                                    <p:cond delay="7000"/>
                                  </p:stCondLst>
                                  <p:iterate type="lt">
                                    <p:tmAbs val="28"/>
                                  </p:iterate>
                                  <p:childTnLst>
                                    <p:set>
                                      <p:cBhvr>
                                        <p:cTn id="68" dur="1" fill="hold">
                                          <p:stCondLst>
                                            <p:cond delay="0"/>
                                          </p:stCondLst>
                                        </p:cTn>
                                        <p:tgtEl>
                                          <p:spTgt spid="19"/>
                                        </p:tgtEl>
                                        <p:attrNameLst>
                                          <p:attrName>style.visibility</p:attrName>
                                        </p:attrNameLst>
                                      </p:cBhvr>
                                      <p:to>
                                        <p:strVal val="visible"/>
                                      </p:to>
                                    </p:set>
                                  </p:childTnLst>
                                </p:cTn>
                              </p:par>
                              <p:par>
                                <p:cTn id="72" presetID="10" presetClass="entr" presetSubtype="0" fill="hold" grpId="0" nodeType="withEffect">
                                  <p:stCondLst>
                                    <p:cond delay="840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CRITICS’ VERDICT  ·  OUR RATINGS</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Accurate in substance, exaggerated in style</a:t>
            </a:r>
            <a:endParaRPr lang="en-US" sz="3000" dirty="0"/>
          </a:p>
        </p:txBody>
      </p:sp>
      <p:sp>
        <p:nvSpPr>
          <p:cNvPr id="5" name="Conceptual accuracy"/>
          <p:cNvSpPr/>
          <p:nvPr/>
        </p:nvSpPr>
        <p:spPr>
          <a:xfrm>
            <a:off x="548640" y="1783080"/>
            <a:ext cx="11094415" cy="896112"/>
          </a:xfrm>
          <a:prstGeom prst="rect">
            <a:avLst/>
          </a:prstGeom>
          <a:solidFill>
            <a:srgbClr val="1B1D22"/>
          </a:solidFill>
          <a:ln w="12700">
            <a:solidFill>
              <a:srgbClr val="33363D"/>
            </a:solidFill>
            <a:prstDash val="solid"/>
          </a:ln>
        </p:spPr>
      </p:sp>
      <p:sp>
        <p:nvSpPr>
          <p:cNvPr id="6" name="Text 4"/>
          <p:cNvSpPr txBox="1"/>
          <p:nvPr/>
        </p:nvSpPr>
        <p:spPr>
          <a:xfrm>
            <a:off x="822960" y="1783080"/>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Conceptual accuracy</a:t>
            </a:r>
            <a:endParaRPr lang="en-US" sz="1700" dirty="0"/>
          </a:p>
        </p:txBody>
      </p:sp>
      <p:pic>
        <p:nvPicPr>
          <p:cNvPr id="7" name="Conceptual accuracy star 1" descr="filled star">    </p:cNvPr>
          <p:cNvPicPr>
            <a:picLocks noChangeAspect="1"/>
          </p:cNvPicPr>
          <p:nvPr/>
        </p:nvPicPr>
        <p:blipFill>
          <a:blip r:embed="rId1"/>
          <a:stretch>
            <a:fillRect/>
          </a:stretch>
        </p:blipFill>
        <p:spPr>
          <a:xfrm>
            <a:off x="3840480" y="2029968"/>
            <a:ext cx="384048" cy="384048"/>
          </a:xfrm>
          <a:prstGeom prst="rect">
            <a:avLst/>
          </a:prstGeom>
        </p:spPr>
      </p:pic>
      <p:pic>
        <p:nvPicPr>
          <p:cNvPr id="8" name="Conceptual accuracy star 2" descr="filled star">    </p:cNvPr>
          <p:cNvPicPr>
            <a:picLocks noChangeAspect="1"/>
          </p:cNvPicPr>
          <p:nvPr/>
        </p:nvPicPr>
        <p:blipFill>
          <a:blip r:embed="rId2"/>
          <a:stretch>
            <a:fillRect/>
          </a:stretch>
        </p:blipFill>
        <p:spPr>
          <a:xfrm>
            <a:off x="4279392" y="2029968"/>
            <a:ext cx="384048" cy="384048"/>
          </a:xfrm>
          <a:prstGeom prst="rect">
            <a:avLst/>
          </a:prstGeom>
        </p:spPr>
      </p:pic>
      <p:pic>
        <p:nvPicPr>
          <p:cNvPr id="9" name="Conceptual accuracy star 3" descr="filled star">    </p:cNvPr>
          <p:cNvPicPr>
            <a:picLocks noChangeAspect="1"/>
          </p:cNvPicPr>
          <p:nvPr/>
        </p:nvPicPr>
        <p:blipFill>
          <a:blip r:embed="rId3"/>
          <a:stretch>
            <a:fillRect/>
          </a:stretch>
        </p:blipFill>
        <p:spPr>
          <a:xfrm>
            <a:off x="4718304" y="2029968"/>
            <a:ext cx="384048" cy="384048"/>
          </a:xfrm>
          <a:prstGeom prst="rect">
            <a:avLst/>
          </a:prstGeom>
        </p:spPr>
      </p:pic>
      <p:pic>
        <p:nvPicPr>
          <p:cNvPr id="10" name="Conceptual accuracy star 4" descr="filled star">    </p:cNvPr>
          <p:cNvPicPr>
            <a:picLocks noChangeAspect="1"/>
          </p:cNvPicPr>
          <p:nvPr/>
        </p:nvPicPr>
        <p:blipFill>
          <a:blip r:embed="rId4"/>
          <a:stretch>
            <a:fillRect/>
          </a:stretch>
        </p:blipFill>
        <p:spPr>
          <a:xfrm>
            <a:off x="5157216" y="2029968"/>
            <a:ext cx="384048" cy="384048"/>
          </a:xfrm>
          <a:prstGeom prst="rect">
            <a:avLst/>
          </a:prstGeom>
        </p:spPr>
      </p:pic>
      <p:pic>
        <p:nvPicPr>
          <p:cNvPr id="11" name="Conceptual accuracy star 5" descr="empty star">    </p:cNvPr>
          <p:cNvPicPr>
            <a:picLocks noChangeAspect="1"/>
          </p:cNvPicPr>
          <p:nvPr/>
        </p:nvPicPr>
        <p:blipFill>
          <a:blip r:embed="rId5"/>
          <a:stretch>
            <a:fillRect/>
          </a:stretch>
        </p:blipFill>
        <p:spPr>
          <a:xfrm>
            <a:off x="5596128" y="2029968"/>
            <a:ext cx="384048" cy="384048"/>
          </a:xfrm>
          <a:prstGeom prst="rect">
            <a:avLst/>
          </a:prstGeom>
        </p:spPr>
      </p:pic>
      <p:sp>
        <p:nvSpPr>
          <p:cNvPr id="12" name="Text 5"/>
          <p:cNvSpPr txBox="1"/>
          <p:nvPr/>
        </p:nvSpPr>
        <p:spPr>
          <a:xfrm>
            <a:off x="6126480" y="1783080"/>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13" name="Text 6"/>
          <p:cNvSpPr txBox="1"/>
          <p:nvPr/>
        </p:nvSpPr>
        <p:spPr>
          <a:xfrm>
            <a:off x="6903720" y="1783080"/>
            <a:ext cx="4510735" cy="896112"/>
          </a:xfrm>
          <a:prstGeom prst="rect">
            <a:avLst/>
          </a:prstGeom>
          <a:noFill/>
          <a:ln/>
        </p:spPr>
        <p:txBody>
          <a:bodyPr wrap="square" lIns="0" tIns="0" rIns="0" bIns="0" rtlCol="0" anchor="ctr"/>
          <a:lstStyle/>
          <a:p>
            <a:pPr indent="0" marL="0">
              <a:buNone/>
            </a:pPr>
            <a:r>
              <a:rPr lang="en-US" sz="1500" dirty="0">
                <a:solidFill>
                  <a:srgbClr val="D9D6CF"/>
                </a:solidFill>
              </a:rPr>
              <a:t>Fits UNTOC, enterprise and network models closely</a:t>
            </a:r>
            <a:endParaRPr lang="en-US" sz="1500" dirty="0"/>
          </a:p>
        </p:txBody>
      </p:sp>
      <p:sp>
        <p:nvSpPr>
          <p:cNvPr id="14" name="Factual accuracy"/>
          <p:cNvSpPr/>
          <p:nvPr/>
        </p:nvSpPr>
        <p:spPr>
          <a:xfrm>
            <a:off x="548640" y="2807208"/>
            <a:ext cx="11094415" cy="896112"/>
          </a:xfrm>
          <a:prstGeom prst="rect">
            <a:avLst/>
          </a:prstGeom>
          <a:solidFill>
            <a:srgbClr val="1B1D22"/>
          </a:solidFill>
          <a:ln w="12700">
            <a:solidFill>
              <a:srgbClr val="33363D"/>
            </a:solidFill>
            <a:prstDash val="solid"/>
          </a:ln>
        </p:spPr>
      </p:sp>
      <p:sp>
        <p:nvSpPr>
          <p:cNvPr id="15" name="Text 8"/>
          <p:cNvSpPr txBox="1"/>
          <p:nvPr/>
        </p:nvSpPr>
        <p:spPr>
          <a:xfrm>
            <a:off x="822960" y="2807208"/>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Factual accuracy</a:t>
            </a:r>
            <a:endParaRPr lang="en-US" sz="1700" dirty="0"/>
          </a:p>
        </p:txBody>
      </p:sp>
      <p:pic>
        <p:nvPicPr>
          <p:cNvPr id="16" name="Factual accuracy star 1" descr="filled star">    </p:cNvPr>
          <p:cNvPicPr>
            <a:picLocks noChangeAspect="1"/>
          </p:cNvPicPr>
          <p:nvPr/>
        </p:nvPicPr>
        <p:blipFill>
          <a:blip r:embed="rId6"/>
          <a:stretch>
            <a:fillRect/>
          </a:stretch>
        </p:blipFill>
        <p:spPr>
          <a:xfrm>
            <a:off x="3840480" y="3054096"/>
            <a:ext cx="384048" cy="384048"/>
          </a:xfrm>
          <a:prstGeom prst="rect">
            <a:avLst/>
          </a:prstGeom>
        </p:spPr>
      </p:pic>
      <p:pic>
        <p:nvPicPr>
          <p:cNvPr id="17" name="Factual accuracy star 2" descr="filled star">    </p:cNvPr>
          <p:cNvPicPr>
            <a:picLocks noChangeAspect="1"/>
          </p:cNvPicPr>
          <p:nvPr/>
        </p:nvPicPr>
        <p:blipFill>
          <a:blip r:embed="rId7"/>
          <a:stretch>
            <a:fillRect/>
          </a:stretch>
        </p:blipFill>
        <p:spPr>
          <a:xfrm>
            <a:off x="4279392" y="3054096"/>
            <a:ext cx="384048" cy="384048"/>
          </a:xfrm>
          <a:prstGeom prst="rect">
            <a:avLst/>
          </a:prstGeom>
        </p:spPr>
      </p:pic>
      <p:pic>
        <p:nvPicPr>
          <p:cNvPr id="18" name="Factual accuracy star 3" descr="filled star">    </p:cNvPr>
          <p:cNvPicPr>
            <a:picLocks noChangeAspect="1"/>
          </p:cNvPicPr>
          <p:nvPr/>
        </p:nvPicPr>
        <p:blipFill>
          <a:blip r:embed="rId8"/>
          <a:stretch>
            <a:fillRect/>
          </a:stretch>
        </p:blipFill>
        <p:spPr>
          <a:xfrm>
            <a:off x="4718304" y="3054096"/>
            <a:ext cx="384048" cy="384048"/>
          </a:xfrm>
          <a:prstGeom prst="rect">
            <a:avLst/>
          </a:prstGeom>
        </p:spPr>
      </p:pic>
      <p:pic>
        <p:nvPicPr>
          <p:cNvPr id="19" name="Factual accuracy star 4" descr="filled star">    </p:cNvPr>
          <p:cNvPicPr>
            <a:picLocks noChangeAspect="1"/>
          </p:cNvPicPr>
          <p:nvPr/>
        </p:nvPicPr>
        <p:blipFill>
          <a:blip r:embed="rId9"/>
          <a:stretch>
            <a:fillRect/>
          </a:stretch>
        </p:blipFill>
        <p:spPr>
          <a:xfrm>
            <a:off x="5157216" y="3054096"/>
            <a:ext cx="384048" cy="384048"/>
          </a:xfrm>
          <a:prstGeom prst="rect">
            <a:avLst/>
          </a:prstGeom>
        </p:spPr>
      </p:pic>
      <p:pic>
        <p:nvPicPr>
          <p:cNvPr id="20" name="Factual accuracy star 5" descr="empty star">    </p:cNvPr>
          <p:cNvPicPr>
            <a:picLocks noChangeAspect="1"/>
          </p:cNvPicPr>
          <p:nvPr/>
        </p:nvPicPr>
        <p:blipFill>
          <a:blip r:embed="rId10"/>
          <a:stretch>
            <a:fillRect/>
          </a:stretch>
        </p:blipFill>
        <p:spPr>
          <a:xfrm>
            <a:off x="5596128" y="3054096"/>
            <a:ext cx="384048" cy="384048"/>
          </a:xfrm>
          <a:prstGeom prst="rect">
            <a:avLst/>
          </a:prstGeom>
        </p:spPr>
      </p:pic>
      <p:sp>
        <p:nvSpPr>
          <p:cNvPr id="21" name="Text 9"/>
          <p:cNvSpPr txBox="1"/>
          <p:nvPr/>
        </p:nvSpPr>
        <p:spPr>
          <a:xfrm>
            <a:off x="6126480" y="2807208"/>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22" name="Text 10"/>
          <p:cNvSpPr txBox="1"/>
          <p:nvPr/>
        </p:nvSpPr>
        <p:spPr>
          <a:xfrm>
            <a:off x="6903720" y="2807208"/>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Contract, repackaging and sentences are true</a:t>
            </a:r>
            <a:endParaRPr lang="en-US" sz="1500" dirty="0"/>
          </a:p>
        </p:txBody>
      </p:sp>
      <p:sp>
        <p:nvSpPr>
          <p:cNvPr id="23" name="Realism of tone"/>
          <p:cNvSpPr/>
          <p:nvPr/>
        </p:nvSpPr>
        <p:spPr>
          <a:xfrm>
            <a:off x="548640" y="3831336"/>
            <a:ext cx="11094415" cy="896112"/>
          </a:xfrm>
          <a:prstGeom prst="rect">
            <a:avLst/>
          </a:prstGeom>
          <a:solidFill>
            <a:srgbClr val="1B1D22"/>
          </a:solidFill>
          <a:ln w="12700">
            <a:solidFill>
              <a:srgbClr val="33363D"/>
            </a:solidFill>
            <a:prstDash val="solid"/>
          </a:ln>
        </p:spPr>
      </p:sp>
      <p:sp>
        <p:nvSpPr>
          <p:cNvPr id="24" name="Text 12"/>
          <p:cNvSpPr txBox="1"/>
          <p:nvPr/>
        </p:nvSpPr>
        <p:spPr>
          <a:xfrm>
            <a:off x="822960" y="3831336"/>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Realism of tone</a:t>
            </a:r>
            <a:endParaRPr lang="en-US" sz="1700" dirty="0"/>
          </a:p>
        </p:txBody>
      </p:sp>
      <p:pic>
        <p:nvPicPr>
          <p:cNvPr id="25" name="Realism of tone star 1" descr="filled star">    </p:cNvPr>
          <p:cNvPicPr>
            <a:picLocks noChangeAspect="1"/>
          </p:cNvPicPr>
          <p:nvPr/>
        </p:nvPicPr>
        <p:blipFill>
          <a:blip r:embed="rId11"/>
          <a:stretch>
            <a:fillRect/>
          </a:stretch>
        </p:blipFill>
        <p:spPr>
          <a:xfrm>
            <a:off x="3840480" y="4078224"/>
            <a:ext cx="384048" cy="384048"/>
          </a:xfrm>
          <a:prstGeom prst="rect">
            <a:avLst/>
          </a:prstGeom>
        </p:spPr>
      </p:pic>
      <p:pic>
        <p:nvPicPr>
          <p:cNvPr id="26" name="Realism of tone star 2" descr="filled star">    </p:cNvPr>
          <p:cNvPicPr>
            <a:picLocks noChangeAspect="1"/>
          </p:cNvPicPr>
          <p:nvPr/>
        </p:nvPicPr>
        <p:blipFill>
          <a:blip r:embed="rId12"/>
          <a:stretch>
            <a:fillRect/>
          </a:stretch>
        </p:blipFill>
        <p:spPr>
          <a:xfrm>
            <a:off x="4279392" y="4078224"/>
            <a:ext cx="384048" cy="384048"/>
          </a:xfrm>
          <a:prstGeom prst="rect">
            <a:avLst/>
          </a:prstGeom>
        </p:spPr>
      </p:pic>
      <p:pic>
        <p:nvPicPr>
          <p:cNvPr id="27" name="Realism of tone star 3" descr="empty star">    </p:cNvPr>
          <p:cNvPicPr>
            <a:picLocks noChangeAspect="1"/>
          </p:cNvPicPr>
          <p:nvPr/>
        </p:nvPicPr>
        <p:blipFill>
          <a:blip r:embed="rId13"/>
          <a:stretch>
            <a:fillRect/>
          </a:stretch>
        </p:blipFill>
        <p:spPr>
          <a:xfrm>
            <a:off x="4718304" y="4078224"/>
            <a:ext cx="384048" cy="384048"/>
          </a:xfrm>
          <a:prstGeom prst="rect">
            <a:avLst/>
          </a:prstGeom>
        </p:spPr>
      </p:pic>
      <p:pic>
        <p:nvPicPr>
          <p:cNvPr id="28" name="Realism of tone star 4" descr="empty star">    </p:cNvPr>
          <p:cNvPicPr>
            <a:picLocks noChangeAspect="1"/>
          </p:cNvPicPr>
          <p:nvPr/>
        </p:nvPicPr>
        <p:blipFill>
          <a:blip r:embed="rId14"/>
          <a:stretch>
            <a:fillRect/>
          </a:stretch>
        </p:blipFill>
        <p:spPr>
          <a:xfrm>
            <a:off x="5157216" y="4078224"/>
            <a:ext cx="384048" cy="384048"/>
          </a:xfrm>
          <a:prstGeom prst="rect">
            <a:avLst/>
          </a:prstGeom>
        </p:spPr>
      </p:pic>
      <p:pic>
        <p:nvPicPr>
          <p:cNvPr id="29" name="Realism of tone star 5" descr="empty star">    </p:cNvPr>
          <p:cNvPicPr>
            <a:picLocks noChangeAspect="1"/>
          </p:cNvPicPr>
          <p:nvPr/>
        </p:nvPicPr>
        <p:blipFill>
          <a:blip r:embed="rId15"/>
          <a:stretch>
            <a:fillRect/>
          </a:stretch>
        </p:blipFill>
        <p:spPr>
          <a:xfrm>
            <a:off x="5596128" y="4078224"/>
            <a:ext cx="384048" cy="384048"/>
          </a:xfrm>
          <a:prstGeom prst="rect">
            <a:avLst/>
          </a:prstGeom>
        </p:spPr>
      </p:pic>
      <p:sp>
        <p:nvSpPr>
          <p:cNvPr id="30" name="Text 13"/>
          <p:cNvSpPr txBox="1"/>
          <p:nvPr/>
        </p:nvSpPr>
        <p:spPr>
          <a:xfrm>
            <a:off x="6126480" y="3831336"/>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31" name="Text 14"/>
          <p:cNvSpPr txBox="1"/>
          <p:nvPr/>
        </p:nvSpPr>
        <p:spPr>
          <a:xfrm>
            <a:off x="6903720" y="3831336"/>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Comedy glamorizes fraud; threats in Albania invented</a:t>
            </a:r>
            <a:endParaRPr lang="en-US" sz="1500" dirty="0"/>
          </a:p>
        </p:txBody>
      </p:sp>
      <p:sp>
        <p:nvSpPr>
          <p:cNvPr id="32" name="Systemic insight"/>
          <p:cNvSpPr/>
          <p:nvPr/>
        </p:nvSpPr>
        <p:spPr>
          <a:xfrm>
            <a:off x="548640" y="4855464"/>
            <a:ext cx="11094415" cy="896112"/>
          </a:xfrm>
          <a:prstGeom prst="rect">
            <a:avLst/>
          </a:prstGeom>
          <a:solidFill>
            <a:srgbClr val="1B1D22"/>
          </a:solidFill>
          <a:ln w="12700">
            <a:solidFill>
              <a:srgbClr val="33363D"/>
            </a:solidFill>
            <a:prstDash val="solid"/>
          </a:ln>
        </p:spPr>
      </p:sp>
      <p:sp>
        <p:nvSpPr>
          <p:cNvPr id="33" name="Text 16"/>
          <p:cNvSpPr txBox="1"/>
          <p:nvPr/>
        </p:nvSpPr>
        <p:spPr>
          <a:xfrm>
            <a:off x="822960" y="4855464"/>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Systemic insight</a:t>
            </a:r>
            <a:endParaRPr lang="en-US" sz="1700" dirty="0"/>
          </a:p>
        </p:txBody>
      </p:sp>
      <p:pic>
        <p:nvPicPr>
          <p:cNvPr id="34" name="Systemic insight star 1" descr="filled star">    </p:cNvPr>
          <p:cNvPicPr>
            <a:picLocks noChangeAspect="1"/>
          </p:cNvPicPr>
          <p:nvPr/>
        </p:nvPicPr>
        <p:blipFill>
          <a:blip r:embed="rId16"/>
          <a:stretch>
            <a:fillRect/>
          </a:stretch>
        </p:blipFill>
        <p:spPr>
          <a:xfrm>
            <a:off x="3840480" y="5102352"/>
            <a:ext cx="384048" cy="384048"/>
          </a:xfrm>
          <a:prstGeom prst="rect">
            <a:avLst/>
          </a:prstGeom>
        </p:spPr>
      </p:pic>
      <p:pic>
        <p:nvPicPr>
          <p:cNvPr id="35" name="Systemic insight star 2" descr="filled star">    </p:cNvPr>
          <p:cNvPicPr>
            <a:picLocks noChangeAspect="1"/>
          </p:cNvPicPr>
          <p:nvPr/>
        </p:nvPicPr>
        <p:blipFill>
          <a:blip r:embed="rId17"/>
          <a:stretch>
            <a:fillRect/>
          </a:stretch>
        </p:blipFill>
        <p:spPr>
          <a:xfrm>
            <a:off x="4279392" y="5102352"/>
            <a:ext cx="384048" cy="384048"/>
          </a:xfrm>
          <a:prstGeom prst="rect">
            <a:avLst/>
          </a:prstGeom>
        </p:spPr>
      </p:pic>
      <p:pic>
        <p:nvPicPr>
          <p:cNvPr id="36" name="Systemic insight star 3" descr="empty star">    </p:cNvPr>
          <p:cNvPicPr>
            <a:picLocks noChangeAspect="1"/>
          </p:cNvPicPr>
          <p:nvPr/>
        </p:nvPicPr>
        <p:blipFill>
          <a:blip r:embed="rId18"/>
          <a:stretch>
            <a:fillRect/>
          </a:stretch>
        </p:blipFill>
        <p:spPr>
          <a:xfrm>
            <a:off x="4718304" y="5102352"/>
            <a:ext cx="384048" cy="384048"/>
          </a:xfrm>
          <a:prstGeom prst="rect">
            <a:avLst/>
          </a:prstGeom>
        </p:spPr>
      </p:pic>
      <p:pic>
        <p:nvPicPr>
          <p:cNvPr id="37" name="Systemic insight star 4" descr="empty star">    </p:cNvPr>
          <p:cNvPicPr>
            <a:picLocks noChangeAspect="1"/>
          </p:cNvPicPr>
          <p:nvPr/>
        </p:nvPicPr>
        <p:blipFill>
          <a:blip r:embed="rId19"/>
          <a:stretch>
            <a:fillRect/>
          </a:stretch>
        </p:blipFill>
        <p:spPr>
          <a:xfrm>
            <a:off x="5157216" y="5102352"/>
            <a:ext cx="384048" cy="384048"/>
          </a:xfrm>
          <a:prstGeom prst="rect">
            <a:avLst/>
          </a:prstGeom>
        </p:spPr>
      </p:pic>
      <p:pic>
        <p:nvPicPr>
          <p:cNvPr id="38" name="Systemic insight star 5" descr="empty star">    </p:cNvPr>
          <p:cNvPicPr>
            <a:picLocks noChangeAspect="1"/>
          </p:cNvPicPr>
          <p:nvPr/>
        </p:nvPicPr>
        <p:blipFill>
          <a:blip r:embed="rId20"/>
          <a:stretch>
            <a:fillRect/>
          </a:stretch>
        </p:blipFill>
        <p:spPr>
          <a:xfrm>
            <a:off x="5596128" y="5102352"/>
            <a:ext cx="384048" cy="384048"/>
          </a:xfrm>
          <a:prstGeom prst="rect">
            <a:avLst/>
          </a:prstGeom>
        </p:spPr>
      </p:pic>
      <p:sp>
        <p:nvSpPr>
          <p:cNvPr id="39" name="Text 17"/>
          <p:cNvSpPr txBox="1"/>
          <p:nvPr/>
        </p:nvSpPr>
        <p:spPr>
          <a:xfrm>
            <a:off x="6126480" y="4855464"/>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40" name="Text 18"/>
          <p:cNvSpPr txBox="1"/>
          <p:nvPr/>
        </p:nvSpPr>
        <p:spPr>
          <a:xfrm>
            <a:off x="6903720" y="4855464"/>
            <a:ext cx="4510735" cy="896112"/>
          </a:xfrm>
          <a:prstGeom prst="rect">
            <a:avLst/>
          </a:prstGeom>
          <a:noFill/>
          <a:ln/>
        </p:spPr>
        <p:txBody>
          <a:bodyPr wrap="square" lIns="0" tIns="0" rIns="0" bIns="0" rtlCol="0" anchor="ctr"/>
          <a:lstStyle/>
          <a:p>
            <a:pPr indent="0" marL="0">
              <a:buNone/>
            </a:pPr>
            <a:r>
              <a:rPr lang="en-US" sz="1500" dirty="0">
                <a:solidFill>
                  <a:srgbClr val="D9D6CF"/>
                </a:solidFill>
              </a:rPr>
              <a:t>Blames two men; skips state failure and Gërdec (26 killed)</a:t>
            </a:r>
            <a:endParaRPr lang="en-US" sz="1500" dirty="0"/>
          </a:p>
        </p:txBody>
      </p:sp>
      <p:sp>
        <p:nvSpPr>
          <p:cNvPr id="41" name="Text 19"/>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6E727A"/>
                </a:solidFill>
              </a:rPr>
              <a:t>Ratings are the group’s assessment. Sources: Lawson (2015); Al Jazeera (2008). Henry Girard is a composite inspired by broker Heinrich Thomet.</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76" fill="hold">
                      <p:stCondLst>
                        <p:cond delay="indefinite"/>
                        <p:cond evt="onBegin" delay="0">
                          <p:tn val="2"/>
                        </p:cond>
                      </p:stCondLst>
                      <p:childTnLst>
                        <p:par>
                          <p:cTn id="177"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ppt_x</p:attrName>
                                        </p:attrNameLst>
                                      </p:cBhvr>
                                      <p:tavLst>
                                        <p:tav tm="0">
                                          <p:val>
                                            <p:strVal val="#ppt_x-.05"/>
                                          </p:val>
                                        </p:tav>
                                        <p:tav tm="100000">
                                          <p:val>
                                            <p:strVal val="#ppt_x"/>
                                          </p:val>
                                        </p:tav>
                                      </p:tavLst>
                                    </p:anim>
                                    <p:anim calcmode="lin" valueType="num">
                                      <p:cBhvr additive="base">
                                        <p:cTn id="20" dur="600" fill="hold"/>
                                        <p:tgtEl>
                                          <p:spTgt spid="5"/>
                                        </p:tgtEl>
                                        <p:attrNameLst>
                                          <p:attrName>ppt_y</p:attrName>
                                        </p:attrNameLst>
                                      </p:cBhvr>
                                      <p:tavLst>
                                        <p:tav tm="0">
                                          <p:val>
                                            <p:strVal val="#ppt_y"/>
                                          </p:val>
                                        </p:tav>
                                        <p:tav tm="100000">
                                          <p:val>
                                            <p:strVal val="#ppt_y"/>
                                          </p:val>
                                        </p:tav>
                                      </p:tavLst>
                                    </p:anim>
                                  </p:childTnLst>
                                </p:cTn>
                              </p:par>
                              <p:par>
                                <p:cTn id="26" presetID="53" presetClass="entr" presetSubtype="32" fill="hold" grpId="0" nodeType="withEffect">
                                  <p:stCondLst>
                                    <p:cond delay="1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350" fill="hold"/>
                                        <p:tgtEl>
                                          <p:spTgt spid="7"/>
                                        </p:tgtEl>
                                        <p:attrNameLst>
                                          <p:attrName>ppt_w</p:attrName>
                                        </p:attrNameLst>
                                      </p:cBhvr>
                                      <p:tavLst>
                                        <p:tav tm="0">
                                          <p:val>
                                            <p:strVal val="#ppt_w*2.4"/>
                                          </p:val>
                                        </p:tav>
                                        <p:tav tm="100000">
                                          <p:val>
                                            <p:strVal val="#ppt_w"/>
                                          </p:val>
                                        </p:tav>
                                      </p:tavLst>
                                    </p:anim>
                                    <p:anim calcmode="lin" valueType="num">
                                      <p:cBhvr additive="base">
                                        <p:cTn id="24" dur="350" fill="hold"/>
                                        <p:tgtEl>
                                          <p:spTgt spid="7"/>
                                        </p:tgtEl>
                                        <p:attrNameLst>
                                          <p:attrName>ppt_h</p:attrName>
                                        </p:attrNameLst>
                                      </p:cBhvr>
                                      <p:tavLst>
                                        <p:tav tm="0">
                                          <p:val>
                                            <p:strVal val="#ppt_h*2.4"/>
                                          </p:val>
                                        </p:tav>
                                        <p:tav tm="100000">
                                          <p:val>
                                            <p:strVal val="#ppt_h"/>
                                          </p:val>
                                        </p:tav>
                                      </p:tavLst>
                                    </p:anim>
                                    <p:animEffect transition="in" filter="fade">
                                      <p:cBhvr>
                                        <p:cTn id="25" dur="350"/>
                                        <p:tgtEl>
                                          <p:spTgt spid="7"/>
                                        </p:tgtEl>
                                      </p:cBhvr>
                                    </p:animEffect>
                                  </p:childTnLst>
                                </p:cTn>
                              </p:par>
                              <p:par>
                                <p:cTn id="29" presetID="10" presetClass="entr" presetSubtype="0" fill="hold" grpId="0" nodeType="withEffect">
                                  <p:stCondLst>
                                    <p:cond delay="12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childTnLst>
                                </p:cTn>
                              </p:par>
                              <p:par>
                                <p:cTn id="32" presetID="10" presetClass="entr" presetSubtype="0" fill="hold" grpId="0" nodeType="withEffect">
                                  <p:stCondLst>
                                    <p:cond delay="12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5" presetID="10" presetClass="entr" presetSubtype="0" fill="hold" grpId="0" nodeType="withEffect">
                                  <p:stCondLst>
                                    <p:cond delay="12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40" presetID="53" presetClass="entr" presetSubtype="32" fill="hold" grpId="0" nodeType="withEffect">
                                  <p:stCondLst>
                                    <p:cond delay="129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350" fill="hold"/>
                                        <p:tgtEl>
                                          <p:spTgt spid="8"/>
                                        </p:tgtEl>
                                        <p:attrNameLst>
                                          <p:attrName>ppt_w</p:attrName>
                                        </p:attrNameLst>
                                      </p:cBhvr>
                                      <p:tavLst>
                                        <p:tav tm="0">
                                          <p:val>
                                            <p:strVal val="#ppt_w*2.4"/>
                                          </p:val>
                                        </p:tav>
                                        <p:tav tm="100000">
                                          <p:val>
                                            <p:strVal val="#ppt_w"/>
                                          </p:val>
                                        </p:tav>
                                      </p:tavLst>
                                    </p:anim>
                                    <p:anim calcmode="lin" valueType="num">
                                      <p:cBhvr additive="base">
                                        <p:cTn id="38" dur="350" fill="hold"/>
                                        <p:tgtEl>
                                          <p:spTgt spid="8"/>
                                        </p:tgtEl>
                                        <p:attrNameLst>
                                          <p:attrName>ppt_h</p:attrName>
                                        </p:attrNameLst>
                                      </p:cBhvr>
                                      <p:tavLst>
                                        <p:tav tm="0">
                                          <p:val>
                                            <p:strVal val="#ppt_h*2.4"/>
                                          </p:val>
                                        </p:tav>
                                        <p:tav tm="100000">
                                          <p:val>
                                            <p:strVal val="#ppt_h"/>
                                          </p:val>
                                        </p:tav>
                                      </p:tavLst>
                                    </p:anim>
                                    <p:animEffect transition="in" filter="fade">
                                      <p:cBhvr>
                                        <p:cTn id="39" dur="350"/>
                                        <p:tgtEl>
                                          <p:spTgt spid="8"/>
                                        </p:tgtEl>
                                      </p:cBhvr>
                                    </p:animEffect>
                                  </p:childTnLst>
                                </p:cTn>
                              </p:par>
                              <p:par>
                                <p:cTn id="45" presetID="53" presetClass="entr" presetSubtype="32" fill="hold" grpId="0" nodeType="withEffect">
                                  <p:stCondLst>
                                    <p:cond delay="138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350" fill="hold"/>
                                        <p:tgtEl>
                                          <p:spTgt spid="9"/>
                                        </p:tgtEl>
                                        <p:attrNameLst>
                                          <p:attrName>ppt_w</p:attrName>
                                        </p:attrNameLst>
                                      </p:cBhvr>
                                      <p:tavLst>
                                        <p:tav tm="0">
                                          <p:val>
                                            <p:strVal val="#ppt_w*2.4"/>
                                          </p:val>
                                        </p:tav>
                                        <p:tav tm="100000">
                                          <p:val>
                                            <p:strVal val="#ppt_w"/>
                                          </p:val>
                                        </p:tav>
                                      </p:tavLst>
                                    </p:anim>
                                    <p:anim calcmode="lin" valueType="num">
                                      <p:cBhvr additive="base">
                                        <p:cTn id="43" dur="350" fill="hold"/>
                                        <p:tgtEl>
                                          <p:spTgt spid="9"/>
                                        </p:tgtEl>
                                        <p:attrNameLst>
                                          <p:attrName>ppt_h</p:attrName>
                                        </p:attrNameLst>
                                      </p:cBhvr>
                                      <p:tavLst>
                                        <p:tav tm="0">
                                          <p:val>
                                            <p:strVal val="#ppt_h*2.4"/>
                                          </p:val>
                                        </p:tav>
                                        <p:tav tm="100000">
                                          <p:val>
                                            <p:strVal val="#ppt_h"/>
                                          </p:val>
                                        </p:tav>
                                      </p:tavLst>
                                    </p:anim>
                                    <p:animEffect transition="in" filter="fade">
                                      <p:cBhvr>
                                        <p:cTn id="44" dur="350"/>
                                        <p:tgtEl>
                                          <p:spTgt spid="9"/>
                                        </p:tgtEl>
                                      </p:cBhvr>
                                    </p:animEffect>
                                  </p:childTnLst>
                                </p:cTn>
                              </p:par>
                              <p:par>
                                <p:cTn id="50" presetID="53" presetClass="entr" presetSubtype="32" fill="hold" grpId="0" nodeType="withEffect">
                                  <p:stCondLst>
                                    <p:cond delay="147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350" fill="hold"/>
                                        <p:tgtEl>
                                          <p:spTgt spid="10"/>
                                        </p:tgtEl>
                                        <p:attrNameLst>
                                          <p:attrName>ppt_w</p:attrName>
                                        </p:attrNameLst>
                                      </p:cBhvr>
                                      <p:tavLst>
                                        <p:tav tm="0">
                                          <p:val>
                                            <p:strVal val="#ppt_w*2.4"/>
                                          </p:val>
                                        </p:tav>
                                        <p:tav tm="100000">
                                          <p:val>
                                            <p:strVal val="#ppt_w"/>
                                          </p:val>
                                        </p:tav>
                                      </p:tavLst>
                                    </p:anim>
                                    <p:anim calcmode="lin" valueType="num">
                                      <p:cBhvr additive="base">
                                        <p:cTn id="48" dur="350" fill="hold"/>
                                        <p:tgtEl>
                                          <p:spTgt spid="10"/>
                                        </p:tgtEl>
                                        <p:attrNameLst>
                                          <p:attrName>ppt_h</p:attrName>
                                        </p:attrNameLst>
                                      </p:cBhvr>
                                      <p:tavLst>
                                        <p:tav tm="0">
                                          <p:val>
                                            <p:strVal val="#ppt_h*2.4"/>
                                          </p:val>
                                        </p:tav>
                                        <p:tav tm="100000">
                                          <p:val>
                                            <p:strVal val="#ppt_h"/>
                                          </p:val>
                                        </p:tav>
                                      </p:tavLst>
                                    </p:anim>
                                    <p:animEffect transition="in" filter="fade">
                                      <p:cBhvr>
                                        <p:cTn id="49" dur="350"/>
                                        <p:tgtEl>
                                          <p:spTgt spid="10"/>
                                        </p:tgtEl>
                                      </p:cBhvr>
                                    </p:animEffect>
                                  </p:childTnLst>
                                </p:cTn>
                              </p:par>
                              <p:par>
                                <p:cTn id="55" presetID="53" presetClass="entr" presetSubtype="32" fill="hold" grpId="0" nodeType="withEffect">
                                  <p:stCondLst>
                                    <p:cond delay="156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350" fill="hold"/>
                                        <p:tgtEl>
                                          <p:spTgt spid="11"/>
                                        </p:tgtEl>
                                        <p:attrNameLst>
                                          <p:attrName>ppt_w</p:attrName>
                                        </p:attrNameLst>
                                      </p:cBhvr>
                                      <p:tavLst>
                                        <p:tav tm="0">
                                          <p:val>
                                            <p:strVal val="#ppt_w*2.4"/>
                                          </p:val>
                                        </p:tav>
                                        <p:tav tm="100000">
                                          <p:val>
                                            <p:strVal val="#ppt_w"/>
                                          </p:val>
                                        </p:tav>
                                      </p:tavLst>
                                    </p:anim>
                                    <p:anim calcmode="lin" valueType="num">
                                      <p:cBhvr additive="base">
                                        <p:cTn id="53" dur="350" fill="hold"/>
                                        <p:tgtEl>
                                          <p:spTgt spid="11"/>
                                        </p:tgtEl>
                                        <p:attrNameLst>
                                          <p:attrName>ppt_h</p:attrName>
                                        </p:attrNameLst>
                                      </p:cBhvr>
                                      <p:tavLst>
                                        <p:tav tm="0">
                                          <p:val>
                                            <p:strVal val="#ppt_h*2.4"/>
                                          </p:val>
                                        </p:tav>
                                        <p:tav tm="100000">
                                          <p:val>
                                            <p:strVal val="#ppt_h"/>
                                          </p:val>
                                        </p:tav>
                                      </p:tavLst>
                                    </p:anim>
                                    <p:animEffect transition="in" filter="fade">
                                      <p:cBhvr>
                                        <p:cTn id="54" dur="350"/>
                                        <p:tgtEl>
                                          <p:spTgt spid="11"/>
                                        </p:tgtEl>
                                      </p:cBhvr>
                                    </p:animEffect>
                                  </p:childTnLst>
                                </p:cTn>
                              </p:par>
                              <p:par>
                                <p:cTn id="60" presetID="42" presetClass="entr" presetSubtype="0" fill="hold" grpId="0" nodeType="withEffect">
                                  <p:stCondLst>
                                    <p:cond delay="18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fill="hold"/>
                                        <p:tgtEl>
                                          <p:spTgt spid="14"/>
                                        </p:tgtEl>
                                        <p:attrNameLst>
                                          <p:attrName>ppt_x</p:attrName>
                                        </p:attrNameLst>
                                      </p:cBhvr>
                                      <p:tavLst>
                                        <p:tav tm="0">
                                          <p:val>
                                            <p:strVal val="#ppt_x-.05"/>
                                          </p:val>
                                        </p:tav>
                                        <p:tav tm="100000">
                                          <p:val>
                                            <p:strVal val="#ppt_x"/>
                                          </p:val>
                                        </p:tav>
                                      </p:tavLst>
                                    </p:anim>
                                    <p:anim calcmode="lin" valueType="num">
                                      <p:cBhvr additive="base">
                                        <p:cTn id="59" dur="600" fill="hold"/>
                                        <p:tgtEl>
                                          <p:spTgt spid="14"/>
                                        </p:tgtEl>
                                        <p:attrNameLst>
                                          <p:attrName>ppt_y</p:attrName>
                                        </p:attrNameLst>
                                      </p:cBhvr>
                                      <p:tavLst>
                                        <p:tav tm="0">
                                          <p:val>
                                            <p:strVal val="#ppt_y"/>
                                          </p:val>
                                        </p:tav>
                                        <p:tav tm="100000">
                                          <p:val>
                                            <p:strVal val="#ppt_y"/>
                                          </p:val>
                                        </p:tav>
                                      </p:tavLst>
                                    </p:anim>
                                  </p:childTnLst>
                                </p:cTn>
                              </p:par>
                              <p:par>
                                <p:cTn id="65" presetID="53" presetClass="entr" presetSubtype="32" fill="hold" grpId="0" nodeType="withEffect">
                                  <p:stCondLst>
                                    <p:cond delay="210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350" fill="hold"/>
                                        <p:tgtEl>
                                          <p:spTgt spid="16"/>
                                        </p:tgtEl>
                                        <p:attrNameLst>
                                          <p:attrName>ppt_w</p:attrName>
                                        </p:attrNameLst>
                                      </p:cBhvr>
                                      <p:tavLst>
                                        <p:tav tm="0">
                                          <p:val>
                                            <p:strVal val="#ppt_w*2.4"/>
                                          </p:val>
                                        </p:tav>
                                        <p:tav tm="100000">
                                          <p:val>
                                            <p:strVal val="#ppt_w"/>
                                          </p:val>
                                        </p:tav>
                                      </p:tavLst>
                                    </p:anim>
                                    <p:anim calcmode="lin" valueType="num">
                                      <p:cBhvr additive="base">
                                        <p:cTn id="63" dur="350" fill="hold"/>
                                        <p:tgtEl>
                                          <p:spTgt spid="16"/>
                                        </p:tgtEl>
                                        <p:attrNameLst>
                                          <p:attrName>ppt_h</p:attrName>
                                        </p:attrNameLst>
                                      </p:cBhvr>
                                      <p:tavLst>
                                        <p:tav tm="0">
                                          <p:val>
                                            <p:strVal val="#ppt_h*2.4"/>
                                          </p:val>
                                        </p:tav>
                                        <p:tav tm="100000">
                                          <p:val>
                                            <p:strVal val="#ppt_h"/>
                                          </p:val>
                                        </p:tav>
                                      </p:tavLst>
                                    </p:anim>
                                    <p:animEffect transition="in" filter="fade">
                                      <p:cBhvr>
                                        <p:cTn id="64" dur="350"/>
                                        <p:tgtEl>
                                          <p:spTgt spid="16"/>
                                        </p:tgtEl>
                                      </p:cBhvr>
                                    </p:animEffect>
                                  </p:childTnLst>
                                </p:cTn>
                              </p:par>
                              <p:par>
                                <p:cTn id="68" presetID="10" presetClass="entr" presetSubtype="0" fill="hold" grpId="0" nodeType="withEffect">
                                  <p:stCondLst>
                                    <p:cond delay="21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childTnLst>
                                </p:cTn>
                              </p:par>
                              <p:par>
                                <p:cTn id="71" presetID="10" presetClass="entr" presetSubtype="0" fill="hold" grpId="0" nodeType="withEffect">
                                  <p:stCondLst>
                                    <p:cond delay="210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600"/>
                                        <p:tgtEl>
                                          <p:spTgt spid="21"/>
                                        </p:tgtEl>
                                      </p:cBhvr>
                                    </p:animEffect>
                                  </p:childTnLst>
                                </p:cTn>
                              </p:par>
                              <p:par>
                                <p:cTn id="74" presetID="10" presetClass="entr" presetSubtype="0" fill="hold" grpId="0" nodeType="withEffect">
                                  <p:stCondLst>
                                    <p:cond delay="21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par>
                                <p:cTn id="79" presetID="53" presetClass="entr" presetSubtype="32" fill="hold" grpId="0" nodeType="withEffect">
                                  <p:stCondLst>
                                    <p:cond delay="219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350" fill="hold"/>
                                        <p:tgtEl>
                                          <p:spTgt spid="17"/>
                                        </p:tgtEl>
                                        <p:attrNameLst>
                                          <p:attrName>ppt_w</p:attrName>
                                        </p:attrNameLst>
                                      </p:cBhvr>
                                      <p:tavLst>
                                        <p:tav tm="0">
                                          <p:val>
                                            <p:strVal val="#ppt_w*2.4"/>
                                          </p:val>
                                        </p:tav>
                                        <p:tav tm="100000">
                                          <p:val>
                                            <p:strVal val="#ppt_w"/>
                                          </p:val>
                                        </p:tav>
                                      </p:tavLst>
                                    </p:anim>
                                    <p:anim calcmode="lin" valueType="num">
                                      <p:cBhvr additive="base">
                                        <p:cTn id="77" dur="350" fill="hold"/>
                                        <p:tgtEl>
                                          <p:spTgt spid="17"/>
                                        </p:tgtEl>
                                        <p:attrNameLst>
                                          <p:attrName>ppt_h</p:attrName>
                                        </p:attrNameLst>
                                      </p:cBhvr>
                                      <p:tavLst>
                                        <p:tav tm="0">
                                          <p:val>
                                            <p:strVal val="#ppt_h*2.4"/>
                                          </p:val>
                                        </p:tav>
                                        <p:tav tm="100000">
                                          <p:val>
                                            <p:strVal val="#ppt_h"/>
                                          </p:val>
                                        </p:tav>
                                      </p:tavLst>
                                    </p:anim>
                                    <p:animEffect transition="in" filter="fade">
                                      <p:cBhvr>
                                        <p:cTn id="78" dur="350"/>
                                        <p:tgtEl>
                                          <p:spTgt spid="17"/>
                                        </p:tgtEl>
                                      </p:cBhvr>
                                    </p:animEffect>
                                  </p:childTnLst>
                                </p:cTn>
                              </p:par>
                              <p:par>
                                <p:cTn id="84" presetID="53" presetClass="entr" presetSubtype="32" fill="hold" grpId="0" nodeType="withEffect">
                                  <p:stCondLst>
                                    <p:cond delay="228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350" fill="hold"/>
                                        <p:tgtEl>
                                          <p:spTgt spid="18"/>
                                        </p:tgtEl>
                                        <p:attrNameLst>
                                          <p:attrName>ppt_w</p:attrName>
                                        </p:attrNameLst>
                                      </p:cBhvr>
                                      <p:tavLst>
                                        <p:tav tm="0">
                                          <p:val>
                                            <p:strVal val="#ppt_w*2.4"/>
                                          </p:val>
                                        </p:tav>
                                        <p:tav tm="100000">
                                          <p:val>
                                            <p:strVal val="#ppt_w"/>
                                          </p:val>
                                        </p:tav>
                                      </p:tavLst>
                                    </p:anim>
                                    <p:anim calcmode="lin" valueType="num">
                                      <p:cBhvr additive="base">
                                        <p:cTn id="82" dur="350" fill="hold"/>
                                        <p:tgtEl>
                                          <p:spTgt spid="18"/>
                                        </p:tgtEl>
                                        <p:attrNameLst>
                                          <p:attrName>ppt_h</p:attrName>
                                        </p:attrNameLst>
                                      </p:cBhvr>
                                      <p:tavLst>
                                        <p:tav tm="0">
                                          <p:val>
                                            <p:strVal val="#ppt_h*2.4"/>
                                          </p:val>
                                        </p:tav>
                                        <p:tav tm="100000">
                                          <p:val>
                                            <p:strVal val="#ppt_h"/>
                                          </p:val>
                                        </p:tav>
                                      </p:tavLst>
                                    </p:anim>
                                    <p:animEffect transition="in" filter="fade">
                                      <p:cBhvr>
                                        <p:cTn id="83" dur="350"/>
                                        <p:tgtEl>
                                          <p:spTgt spid="18"/>
                                        </p:tgtEl>
                                      </p:cBhvr>
                                    </p:animEffect>
                                  </p:childTnLst>
                                </p:cTn>
                              </p:par>
                              <p:par>
                                <p:cTn id="89" presetID="53" presetClass="entr" presetSubtype="32" fill="hold" grpId="0" nodeType="withEffect">
                                  <p:stCondLst>
                                    <p:cond delay="2370"/>
                                  </p:stCondLst>
                                  <p:childTnLst>
                                    <p:set>
                                      <p:cBhvr>
                                        <p:cTn id="85" dur="1" fill="hold">
                                          <p:stCondLst>
                                            <p:cond delay="0"/>
                                          </p:stCondLst>
                                        </p:cTn>
                                        <p:tgtEl>
                                          <p:spTgt spid="19"/>
                                        </p:tgtEl>
                                        <p:attrNameLst>
                                          <p:attrName>style.visibility</p:attrName>
                                        </p:attrNameLst>
                                      </p:cBhvr>
                                      <p:to>
                                        <p:strVal val="visible"/>
                                      </p:to>
                                    </p:set>
                                    <p:anim calcmode="lin" valueType="num">
                                      <p:cBhvr additive="base">
                                        <p:cTn id="86" dur="350" fill="hold"/>
                                        <p:tgtEl>
                                          <p:spTgt spid="19"/>
                                        </p:tgtEl>
                                        <p:attrNameLst>
                                          <p:attrName>ppt_w</p:attrName>
                                        </p:attrNameLst>
                                      </p:cBhvr>
                                      <p:tavLst>
                                        <p:tav tm="0">
                                          <p:val>
                                            <p:strVal val="#ppt_w*2.4"/>
                                          </p:val>
                                        </p:tav>
                                        <p:tav tm="100000">
                                          <p:val>
                                            <p:strVal val="#ppt_w"/>
                                          </p:val>
                                        </p:tav>
                                      </p:tavLst>
                                    </p:anim>
                                    <p:anim calcmode="lin" valueType="num">
                                      <p:cBhvr additive="base">
                                        <p:cTn id="87" dur="350" fill="hold"/>
                                        <p:tgtEl>
                                          <p:spTgt spid="19"/>
                                        </p:tgtEl>
                                        <p:attrNameLst>
                                          <p:attrName>ppt_h</p:attrName>
                                        </p:attrNameLst>
                                      </p:cBhvr>
                                      <p:tavLst>
                                        <p:tav tm="0">
                                          <p:val>
                                            <p:strVal val="#ppt_h*2.4"/>
                                          </p:val>
                                        </p:tav>
                                        <p:tav tm="100000">
                                          <p:val>
                                            <p:strVal val="#ppt_h"/>
                                          </p:val>
                                        </p:tav>
                                      </p:tavLst>
                                    </p:anim>
                                    <p:animEffect transition="in" filter="fade">
                                      <p:cBhvr>
                                        <p:cTn id="88" dur="350"/>
                                        <p:tgtEl>
                                          <p:spTgt spid="19"/>
                                        </p:tgtEl>
                                      </p:cBhvr>
                                    </p:animEffect>
                                  </p:childTnLst>
                                </p:cTn>
                              </p:par>
                              <p:par>
                                <p:cTn id="94" presetID="53" presetClass="entr" presetSubtype="32" fill="hold" grpId="0" nodeType="withEffect">
                                  <p:stCondLst>
                                    <p:cond delay="246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350" fill="hold"/>
                                        <p:tgtEl>
                                          <p:spTgt spid="20"/>
                                        </p:tgtEl>
                                        <p:attrNameLst>
                                          <p:attrName>ppt_w</p:attrName>
                                        </p:attrNameLst>
                                      </p:cBhvr>
                                      <p:tavLst>
                                        <p:tav tm="0">
                                          <p:val>
                                            <p:strVal val="#ppt_w*2.4"/>
                                          </p:val>
                                        </p:tav>
                                        <p:tav tm="100000">
                                          <p:val>
                                            <p:strVal val="#ppt_w"/>
                                          </p:val>
                                        </p:tav>
                                      </p:tavLst>
                                    </p:anim>
                                    <p:anim calcmode="lin" valueType="num">
                                      <p:cBhvr additive="base">
                                        <p:cTn id="92" dur="350" fill="hold"/>
                                        <p:tgtEl>
                                          <p:spTgt spid="20"/>
                                        </p:tgtEl>
                                        <p:attrNameLst>
                                          <p:attrName>ppt_h</p:attrName>
                                        </p:attrNameLst>
                                      </p:cBhvr>
                                      <p:tavLst>
                                        <p:tav tm="0">
                                          <p:val>
                                            <p:strVal val="#ppt_h*2.4"/>
                                          </p:val>
                                        </p:tav>
                                        <p:tav tm="100000">
                                          <p:val>
                                            <p:strVal val="#ppt_h"/>
                                          </p:val>
                                        </p:tav>
                                      </p:tavLst>
                                    </p:anim>
                                    <p:animEffect transition="in" filter="fade">
                                      <p:cBhvr>
                                        <p:cTn id="93" dur="350"/>
                                        <p:tgtEl>
                                          <p:spTgt spid="20"/>
                                        </p:tgtEl>
                                      </p:cBhvr>
                                    </p:animEffect>
                                  </p:childTnLst>
                                </p:cTn>
                              </p:par>
                              <p:par>
                                <p:cTn id="99" presetID="42" presetClass="entr" presetSubtype="0" fill="hold" grpId="0" nodeType="withEffect">
                                  <p:stCondLst>
                                    <p:cond delay="270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600"/>
                                        <p:tgtEl>
                                          <p:spTgt spid="23"/>
                                        </p:tgtEl>
                                      </p:cBhvr>
                                    </p:animEffect>
                                    <p:anim calcmode="lin" valueType="num">
                                      <p:cBhvr additive="base">
                                        <p:cTn id="97" dur="600" fill="hold"/>
                                        <p:tgtEl>
                                          <p:spTgt spid="23"/>
                                        </p:tgtEl>
                                        <p:attrNameLst>
                                          <p:attrName>ppt_x</p:attrName>
                                        </p:attrNameLst>
                                      </p:cBhvr>
                                      <p:tavLst>
                                        <p:tav tm="0">
                                          <p:val>
                                            <p:strVal val="#ppt_x-.05"/>
                                          </p:val>
                                        </p:tav>
                                        <p:tav tm="100000">
                                          <p:val>
                                            <p:strVal val="#ppt_x"/>
                                          </p:val>
                                        </p:tav>
                                      </p:tavLst>
                                    </p:anim>
                                    <p:anim calcmode="lin" valueType="num">
                                      <p:cBhvr additive="base">
                                        <p:cTn id="98" dur="600" fill="hold"/>
                                        <p:tgtEl>
                                          <p:spTgt spid="23"/>
                                        </p:tgtEl>
                                        <p:attrNameLst>
                                          <p:attrName>ppt_y</p:attrName>
                                        </p:attrNameLst>
                                      </p:cBhvr>
                                      <p:tavLst>
                                        <p:tav tm="0">
                                          <p:val>
                                            <p:strVal val="#ppt_y"/>
                                          </p:val>
                                        </p:tav>
                                        <p:tav tm="100000">
                                          <p:val>
                                            <p:strVal val="#ppt_y"/>
                                          </p:val>
                                        </p:tav>
                                      </p:tavLst>
                                    </p:anim>
                                  </p:childTnLst>
                                </p:cTn>
                              </p:par>
                              <p:par>
                                <p:cTn id="104" presetID="53" presetClass="entr" presetSubtype="32" fill="hold" grpId="0" nodeType="withEffect">
                                  <p:stCondLst>
                                    <p:cond delay="3000"/>
                                  </p:stCondLst>
                                  <p:childTnLst>
                                    <p:set>
                                      <p:cBhvr>
                                        <p:cTn id="100" dur="1" fill="hold">
                                          <p:stCondLst>
                                            <p:cond delay="0"/>
                                          </p:stCondLst>
                                        </p:cTn>
                                        <p:tgtEl>
                                          <p:spTgt spid="25"/>
                                        </p:tgtEl>
                                        <p:attrNameLst>
                                          <p:attrName>style.visibility</p:attrName>
                                        </p:attrNameLst>
                                      </p:cBhvr>
                                      <p:to>
                                        <p:strVal val="visible"/>
                                      </p:to>
                                    </p:set>
                                    <p:anim calcmode="lin" valueType="num">
                                      <p:cBhvr additive="base">
                                        <p:cTn id="101" dur="350" fill="hold"/>
                                        <p:tgtEl>
                                          <p:spTgt spid="25"/>
                                        </p:tgtEl>
                                        <p:attrNameLst>
                                          <p:attrName>ppt_w</p:attrName>
                                        </p:attrNameLst>
                                      </p:cBhvr>
                                      <p:tavLst>
                                        <p:tav tm="0">
                                          <p:val>
                                            <p:strVal val="#ppt_w*2.4"/>
                                          </p:val>
                                        </p:tav>
                                        <p:tav tm="100000">
                                          <p:val>
                                            <p:strVal val="#ppt_w"/>
                                          </p:val>
                                        </p:tav>
                                      </p:tavLst>
                                    </p:anim>
                                    <p:anim calcmode="lin" valueType="num">
                                      <p:cBhvr additive="base">
                                        <p:cTn id="102" dur="350" fill="hold"/>
                                        <p:tgtEl>
                                          <p:spTgt spid="25"/>
                                        </p:tgtEl>
                                        <p:attrNameLst>
                                          <p:attrName>ppt_h</p:attrName>
                                        </p:attrNameLst>
                                      </p:cBhvr>
                                      <p:tavLst>
                                        <p:tav tm="0">
                                          <p:val>
                                            <p:strVal val="#ppt_h*2.4"/>
                                          </p:val>
                                        </p:tav>
                                        <p:tav tm="100000">
                                          <p:val>
                                            <p:strVal val="#ppt_h"/>
                                          </p:val>
                                        </p:tav>
                                      </p:tavLst>
                                    </p:anim>
                                    <p:animEffect transition="in" filter="fade">
                                      <p:cBhvr>
                                        <p:cTn id="103" dur="350"/>
                                        <p:tgtEl>
                                          <p:spTgt spid="25"/>
                                        </p:tgtEl>
                                      </p:cBhvr>
                                    </p:animEffect>
                                  </p:childTnLst>
                                </p:cTn>
                              </p:par>
                              <p:par>
                                <p:cTn id="107" presetID="10" presetClass="entr" presetSubtype="0" fill="hold" grpId="0" nodeType="withEffect">
                                  <p:stCondLst>
                                    <p:cond delay="300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childTnLst>
                                </p:cTn>
                              </p:par>
                              <p:par>
                                <p:cTn id="110" presetID="10" presetClass="entr" presetSubtype="0" fill="hold" grpId="0" nodeType="withEffect">
                                  <p:stCondLst>
                                    <p:cond delay="300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600"/>
                                        <p:tgtEl>
                                          <p:spTgt spid="30"/>
                                        </p:tgtEl>
                                      </p:cBhvr>
                                    </p:animEffect>
                                  </p:childTnLst>
                                </p:cTn>
                              </p:par>
                              <p:par>
                                <p:cTn id="113" presetID="10" presetClass="entr" presetSubtype="0" fill="hold" grpId="0" nodeType="withEffect">
                                  <p:stCondLst>
                                    <p:cond delay="300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600"/>
                                        <p:tgtEl>
                                          <p:spTgt spid="31"/>
                                        </p:tgtEl>
                                      </p:cBhvr>
                                    </p:animEffect>
                                  </p:childTnLst>
                                </p:cTn>
                              </p:par>
                              <p:par>
                                <p:cTn id="118" presetID="53" presetClass="entr" presetSubtype="32" fill="hold" grpId="0" nodeType="withEffect">
                                  <p:stCondLst>
                                    <p:cond delay="3090"/>
                                  </p:stCondLst>
                                  <p:childTnLst>
                                    <p:set>
                                      <p:cBhvr>
                                        <p:cTn id="114" dur="1" fill="hold">
                                          <p:stCondLst>
                                            <p:cond delay="0"/>
                                          </p:stCondLst>
                                        </p:cTn>
                                        <p:tgtEl>
                                          <p:spTgt spid="26"/>
                                        </p:tgtEl>
                                        <p:attrNameLst>
                                          <p:attrName>style.visibility</p:attrName>
                                        </p:attrNameLst>
                                      </p:cBhvr>
                                      <p:to>
                                        <p:strVal val="visible"/>
                                      </p:to>
                                    </p:set>
                                    <p:anim calcmode="lin" valueType="num">
                                      <p:cBhvr additive="base">
                                        <p:cTn id="115" dur="350" fill="hold"/>
                                        <p:tgtEl>
                                          <p:spTgt spid="26"/>
                                        </p:tgtEl>
                                        <p:attrNameLst>
                                          <p:attrName>ppt_w</p:attrName>
                                        </p:attrNameLst>
                                      </p:cBhvr>
                                      <p:tavLst>
                                        <p:tav tm="0">
                                          <p:val>
                                            <p:strVal val="#ppt_w*2.4"/>
                                          </p:val>
                                        </p:tav>
                                        <p:tav tm="100000">
                                          <p:val>
                                            <p:strVal val="#ppt_w"/>
                                          </p:val>
                                        </p:tav>
                                      </p:tavLst>
                                    </p:anim>
                                    <p:anim calcmode="lin" valueType="num">
                                      <p:cBhvr additive="base">
                                        <p:cTn id="116" dur="350" fill="hold"/>
                                        <p:tgtEl>
                                          <p:spTgt spid="26"/>
                                        </p:tgtEl>
                                        <p:attrNameLst>
                                          <p:attrName>ppt_h</p:attrName>
                                        </p:attrNameLst>
                                      </p:cBhvr>
                                      <p:tavLst>
                                        <p:tav tm="0">
                                          <p:val>
                                            <p:strVal val="#ppt_h*2.4"/>
                                          </p:val>
                                        </p:tav>
                                        <p:tav tm="100000">
                                          <p:val>
                                            <p:strVal val="#ppt_h"/>
                                          </p:val>
                                        </p:tav>
                                      </p:tavLst>
                                    </p:anim>
                                    <p:animEffect transition="in" filter="fade">
                                      <p:cBhvr>
                                        <p:cTn id="117" dur="350"/>
                                        <p:tgtEl>
                                          <p:spTgt spid="26"/>
                                        </p:tgtEl>
                                      </p:cBhvr>
                                    </p:animEffect>
                                  </p:childTnLst>
                                </p:cTn>
                              </p:par>
                              <p:par>
                                <p:cTn id="123" presetID="53" presetClass="entr" presetSubtype="32" fill="hold" grpId="0" nodeType="withEffect">
                                  <p:stCondLst>
                                    <p:cond delay="3180"/>
                                  </p:stCondLst>
                                  <p:childTnLst>
                                    <p:set>
                                      <p:cBhvr>
                                        <p:cTn id="119" dur="1" fill="hold">
                                          <p:stCondLst>
                                            <p:cond delay="0"/>
                                          </p:stCondLst>
                                        </p:cTn>
                                        <p:tgtEl>
                                          <p:spTgt spid="27"/>
                                        </p:tgtEl>
                                        <p:attrNameLst>
                                          <p:attrName>style.visibility</p:attrName>
                                        </p:attrNameLst>
                                      </p:cBhvr>
                                      <p:to>
                                        <p:strVal val="visible"/>
                                      </p:to>
                                    </p:set>
                                    <p:anim calcmode="lin" valueType="num">
                                      <p:cBhvr additive="base">
                                        <p:cTn id="120" dur="350" fill="hold"/>
                                        <p:tgtEl>
                                          <p:spTgt spid="27"/>
                                        </p:tgtEl>
                                        <p:attrNameLst>
                                          <p:attrName>ppt_w</p:attrName>
                                        </p:attrNameLst>
                                      </p:cBhvr>
                                      <p:tavLst>
                                        <p:tav tm="0">
                                          <p:val>
                                            <p:strVal val="#ppt_w*2.4"/>
                                          </p:val>
                                        </p:tav>
                                        <p:tav tm="100000">
                                          <p:val>
                                            <p:strVal val="#ppt_w"/>
                                          </p:val>
                                        </p:tav>
                                      </p:tavLst>
                                    </p:anim>
                                    <p:anim calcmode="lin" valueType="num">
                                      <p:cBhvr additive="base">
                                        <p:cTn id="121" dur="350" fill="hold"/>
                                        <p:tgtEl>
                                          <p:spTgt spid="27"/>
                                        </p:tgtEl>
                                        <p:attrNameLst>
                                          <p:attrName>ppt_h</p:attrName>
                                        </p:attrNameLst>
                                      </p:cBhvr>
                                      <p:tavLst>
                                        <p:tav tm="0">
                                          <p:val>
                                            <p:strVal val="#ppt_h*2.4"/>
                                          </p:val>
                                        </p:tav>
                                        <p:tav tm="100000">
                                          <p:val>
                                            <p:strVal val="#ppt_h"/>
                                          </p:val>
                                        </p:tav>
                                      </p:tavLst>
                                    </p:anim>
                                    <p:animEffect transition="in" filter="fade">
                                      <p:cBhvr>
                                        <p:cTn id="122" dur="350"/>
                                        <p:tgtEl>
                                          <p:spTgt spid="27"/>
                                        </p:tgtEl>
                                      </p:cBhvr>
                                    </p:animEffect>
                                  </p:childTnLst>
                                </p:cTn>
                              </p:par>
                              <p:par>
                                <p:cTn id="128" presetID="53" presetClass="entr" presetSubtype="32" fill="hold" grpId="0" nodeType="withEffect">
                                  <p:stCondLst>
                                    <p:cond delay="3270"/>
                                  </p:stCondLst>
                                  <p:childTnLst>
                                    <p:set>
                                      <p:cBhvr>
                                        <p:cTn id="124" dur="1" fill="hold">
                                          <p:stCondLst>
                                            <p:cond delay="0"/>
                                          </p:stCondLst>
                                        </p:cTn>
                                        <p:tgtEl>
                                          <p:spTgt spid="28"/>
                                        </p:tgtEl>
                                        <p:attrNameLst>
                                          <p:attrName>style.visibility</p:attrName>
                                        </p:attrNameLst>
                                      </p:cBhvr>
                                      <p:to>
                                        <p:strVal val="visible"/>
                                      </p:to>
                                    </p:set>
                                    <p:anim calcmode="lin" valueType="num">
                                      <p:cBhvr additive="base">
                                        <p:cTn id="125" dur="350" fill="hold"/>
                                        <p:tgtEl>
                                          <p:spTgt spid="28"/>
                                        </p:tgtEl>
                                        <p:attrNameLst>
                                          <p:attrName>ppt_w</p:attrName>
                                        </p:attrNameLst>
                                      </p:cBhvr>
                                      <p:tavLst>
                                        <p:tav tm="0">
                                          <p:val>
                                            <p:strVal val="#ppt_w*2.4"/>
                                          </p:val>
                                        </p:tav>
                                        <p:tav tm="100000">
                                          <p:val>
                                            <p:strVal val="#ppt_w"/>
                                          </p:val>
                                        </p:tav>
                                      </p:tavLst>
                                    </p:anim>
                                    <p:anim calcmode="lin" valueType="num">
                                      <p:cBhvr additive="base">
                                        <p:cTn id="126" dur="350" fill="hold"/>
                                        <p:tgtEl>
                                          <p:spTgt spid="28"/>
                                        </p:tgtEl>
                                        <p:attrNameLst>
                                          <p:attrName>ppt_h</p:attrName>
                                        </p:attrNameLst>
                                      </p:cBhvr>
                                      <p:tavLst>
                                        <p:tav tm="0">
                                          <p:val>
                                            <p:strVal val="#ppt_h*2.4"/>
                                          </p:val>
                                        </p:tav>
                                        <p:tav tm="100000">
                                          <p:val>
                                            <p:strVal val="#ppt_h"/>
                                          </p:val>
                                        </p:tav>
                                      </p:tavLst>
                                    </p:anim>
                                    <p:animEffect transition="in" filter="fade">
                                      <p:cBhvr>
                                        <p:cTn id="127" dur="350"/>
                                        <p:tgtEl>
                                          <p:spTgt spid="28"/>
                                        </p:tgtEl>
                                      </p:cBhvr>
                                    </p:animEffect>
                                  </p:childTnLst>
                                </p:cTn>
                              </p:par>
                              <p:par>
                                <p:cTn id="133" presetID="53" presetClass="entr" presetSubtype="32" fill="hold" grpId="0" nodeType="withEffect">
                                  <p:stCondLst>
                                    <p:cond delay="3360"/>
                                  </p:stCondLst>
                                  <p:childTnLst>
                                    <p:set>
                                      <p:cBhvr>
                                        <p:cTn id="129" dur="1" fill="hold">
                                          <p:stCondLst>
                                            <p:cond delay="0"/>
                                          </p:stCondLst>
                                        </p:cTn>
                                        <p:tgtEl>
                                          <p:spTgt spid="29"/>
                                        </p:tgtEl>
                                        <p:attrNameLst>
                                          <p:attrName>style.visibility</p:attrName>
                                        </p:attrNameLst>
                                      </p:cBhvr>
                                      <p:to>
                                        <p:strVal val="visible"/>
                                      </p:to>
                                    </p:set>
                                    <p:anim calcmode="lin" valueType="num">
                                      <p:cBhvr additive="base">
                                        <p:cTn id="130" dur="350" fill="hold"/>
                                        <p:tgtEl>
                                          <p:spTgt spid="29"/>
                                        </p:tgtEl>
                                        <p:attrNameLst>
                                          <p:attrName>ppt_w</p:attrName>
                                        </p:attrNameLst>
                                      </p:cBhvr>
                                      <p:tavLst>
                                        <p:tav tm="0">
                                          <p:val>
                                            <p:strVal val="#ppt_w*2.4"/>
                                          </p:val>
                                        </p:tav>
                                        <p:tav tm="100000">
                                          <p:val>
                                            <p:strVal val="#ppt_w"/>
                                          </p:val>
                                        </p:tav>
                                      </p:tavLst>
                                    </p:anim>
                                    <p:anim calcmode="lin" valueType="num">
                                      <p:cBhvr additive="base">
                                        <p:cTn id="131" dur="350" fill="hold"/>
                                        <p:tgtEl>
                                          <p:spTgt spid="29"/>
                                        </p:tgtEl>
                                        <p:attrNameLst>
                                          <p:attrName>ppt_h</p:attrName>
                                        </p:attrNameLst>
                                      </p:cBhvr>
                                      <p:tavLst>
                                        <p:tav tm="0">
                                          <p:val>
                                            <p:strVal val="#ppt_h*2.4"/>
                                          </p:val>
                                        </p:tav>
                                        <p:tav tm="100000">
                                          <p:val>
                                            <p:strVal val="#ppt_h"/>
                                          </p:val>
                                        </p:tav>
                                      </p:tavLst>
                                    </p:anim>
                                    <p:animEffect transition="in" filter="fade">
                                      <p:cBhvr>
                                        <p:cTn id="132" dur="350"/>
                                        <p:tgtEl>
                                          <p:spTgt spid="29"/>
                                        </p:tgtEl>
                                      </p:cBhvr>
                                    </p:animEffect>
                                  </p:childTnLst>
                                </p:cTn>
                              </p:par>
                              <p:par>
                                <p:cTn id="138" presetID="42" presetClass="entr" presetSubtype="0" fill="hold" grpId="0" nodeType="withEffect">
                                  <p:stCondLst>
                                    <p:cond delay="360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600"/>
                                        <p:tgtEl>
                                          <p:spTgt spid="32"/>
                                        </p:tgtEl>
                                      </p:cBhvr>
                                    </p:animEffect>
                                    <p:anim calcmode="lin" valueType="num">
                                      <p:cBhvr additive="base">
                                        <p:cTn id="136" dur="600" fill="hold"/>
                                        <p:tgtEl>
                                          <p:spTgt spid="32"/>
                                        </p:tgtEl>
                                        <p:attrNameLst>
                                          <p:attrName>ppt_x</p:attrName>
                                        </p:attrNameLst>
                                      </p:cBhvr>
                                      <p:tavLst>
                                        <p:tav tm="0">
                                          <p:val>
                                            <p:strVal val="#ppt_x-.05"/>
                                          </p:val>
                                        </p:tav>
                                        <p:tav tm="100000">
                                          <p:val>
                                            <p:strVal val="#ppt_x"/>
                                          </p:val>
                                        </p:tav>
                                      </p:tavLst>
                                    </p:anim>
                                    <p:anim calcmode="lin" valueType="num">
                                      <p:cBhvr additive="base">
                                        <p:cTn id="137" dur="600" fill="hold"/>
                                        <p:tgtEl>
                                          <p:spTgt spid="32"/>
                                        </p:tgtEl>
                                        <p:attrNameLst>
                                          <p:attrName>ppt_y</p:attrName>
                                        </p:attrNameLst>
                                      </p:cBhvr>
                                      <p:tavLst>
                                        <p:tav tm="0">
                                          <p:val>
                                            <p:strVal val="#ppt_y"/>
                                          </p:val>
                                        </p:tav>
                                        <p:tav tm="100000">
                                          <p:val>
                                            <p:strVal val="#ppt_y"/>
                                          </p:val>
                                        </p:tav>
                                      </p:tavLst>
                                    </p:anim>
                                  </p:childTnLst>
                                </p:cTn>
                              </p:par>
                              <p:par>
                                <p:cTn id="143" presetID="53" presetClass="entr" presetSubtype="32" fill="hold" grpId="0" nodeType="withEffect">
                                  <p:stCondLst>
                                    <p:cond delay="3900"/>
                                  </p:stCondLst>
                                  <p:childTnLst>
                                    <p:set>
                                      <p:cBhvr>
                                        <p:cTn id="139" dur="1" fill="hold">
                                          <p:stCondLst>
                                            <p:cond delay="0"/>
                                          </p:stCondLst>
                                        </p:cTn>
                                        <p:tgtEl>
                                          <p:spTgt spid="34"/>
                                        </p:tgtEl>
                                        <p:attrNameLst>
                                          <p:attrName>style.visibility</p:attrName>
                                        </p:attrNameLst>
                                      </p:cBhvr>
                                      <p:to>
                                        <p:strVal val="visible"/>
                                      </p:to>
                                    </p:set>
                                    <p:anim calcmode="lin" valueType="num">
                                      <p:cBhvr additive="base">
                                        <p:cTn id="140" dur="350" fill="hold"/>
                                        <p:tgtEl>
                                          <p:spTgt spid="34"/>
                                        </p:tgtEl>
                                        <p:attrNameLst>
                                          <p:attrName>ppt_w</p:attrName>
                                        </p:attrNameLst>
                                      </p:cBhvr>
                                      <p:tavLst>
                                        <p:tav tm="0">
                                          <p:val>
                                            <p:strVal val="#ppt_w*2.4"/>
                                          </p:val>
                                        </p:tav>
                                        <p:tav tm="100000">
                                          <p:val>
                                            <p:strVal val="#ppt_w"/>
                                          </p:val>
                                        </p:tav>
                                      </p:tavLst>
                                    </p:anim>
                                    <p:anim calcmode="lin" valueType="num">
                                      <p:cBhvr additive="base">
                                        <p:cTn id="141" dur="350" fill="hold"/>
                                        <p:tgtEl>
                                          <p:spTgt spid="34"/>
                                        </p:tgtEl>
                                        <p:attrNameLst>
                                          <p:attrName>ppt_h</p:attrName>
                                        </p:attrNameLst>
                                      </p:cBhvr>
                                      <p:tavLst>
                                        <p:tav tm="0">
                                          <p:val>
                                            <p:strVal val="#ppt_h*2.4"/>
                                          </p:val>
                                        </p:tav>
                                        <p:tav tm="100000">
                                          <p:val>
                                            <p:strVal val="#ppt_h"/>
                                          </p:val>
                                        </p:tav>
                                      </p:tavLst>
                                    </p:anim>
                                    <p:animEffect transition="in" filter="fade">
                                      <p:cBhvr>
                                        <p:cTn id="142" dur="350"/>
                                        <p:tgtEl>
                                          <p:spTgt spid="34"/>
                                        </p:tgtEl>
                                      </p:cBhvr>
                                    </p:animEffect>
                                  </p:childTnLst>
                                </p:cTn>
                              </p:par>
                              <p:par>
                                <p:cTn id="146" presetID="10" presetClass="entr" presetSubtype="0" fill="hold" grpId="0" nodeType="withEffect">
                                  <p:stCondLst>
                                    <p:cond delay="390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600"/>
                                        <p:tgtEl>
                                          <p:spTgt spid="33"/>
                                        </p:tgtEl>
                                      </p:cBhvr>
                                    </p:animEffect>
                                  </p:childTnLst>
                                </p:cTn>
                              </p:par>
                              <p:par>
                                <p:cTn id="149" presetID="10" presetClass="entr" presetSubtype="0" fill="hold" grpId="0" nodeType="withEffect">
                                  <p:stCondLst>
                                    <p:cond delay="3900"/>
                                  </p:stCondLst>
                                  <p:childTnLst>
                                    <p:set>
                                      <p:cBhvr>
                                        <p:cTn id="147" dur="1" fill="hold">
                                          <p:stCondLst>
                                            <p:cond delay="0"/>
                                          </p:stCondLst>
                                        </p:cTn>
                                        <p:tgtEl>
                                          <p:spTgt spid="39"/>
                                        </p:tgtEl>
                                        <p:attrNameLst>
                                          <p:attrName>style.visibility</p:attrName>
                                        </p:attrNameLst>
                                      </p:cBhvr>
                                      <p:to>
                                        <p:strVal val="visible"/>
                                      </p:to>
                                    </p:set>
                                    <p:animEffect transition="in" filter="fade">
                                      <p:cBhvr>
                                        <p:cTn id="148" dur="600"/>
                                        <p:tgtEl>
                                          <p:spTgt spid="39"/>
                                        </p:tgtEl>
                                      </p:cBhvr>
                                    </p:animEffect>
                                  </p:childTnLst>
                                </p:cTn>
                              </p:par>
                              <p:par>
                                <p:cTn id="152" presetID="10" presetClass="entr" presetSubtype="0" fill="hold" grpId="0" nodeType="withEffect">
                                  <p:stCondLst>
                                    <p:cond delay="390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600"/>
                                        <p:tgtEl>
                                          <p:spTgt spid="40"/>
                                        </p:tgtEl>
                                      </p:cBhvr>
                                    </p:animEffect>
                                  </p:childTnLst>
                                </p:cTn>
                              </p:par>
                              <p:par>
                                <p:cTn id="157" presetID="53" presetClass="entr" presetSubtype="32" fill="hold" grpId="0" nodeType="withEffect">
                                  <p:stCondLst>
                                    <p:cond delay="3990"/>
                                  </p:stCondLst>
                                  <p:childTnLst>
                                    <p:set>
                                      <p:cBhvr>
                                        <p:cTn id="153" dur="1" fill="hold">
                                          <p:stCondLst>
                                            <p:cond delay="0"/>
                                          </p:stCondLst>
                                        </p:cTn>
                                        <p:tgtEl>
                                          <p:spTgt spid="35"/>
                                        </p:tgtEl>
                                        <p:attrNameLst>
                                          <p:attrName>style.visibility</p:attrName>
                                        </p:attrNameLst>
                                      </p:cBhvr>
                                      <p:to>
                                        <p:strVal val="visible"/>
                                      </p:to>
                                    </p:set>
                                    <p:anim calcmode="lin" valueType="num">
                                      <p:cBhvr additive="base">
                                        <p:cTn id="154" dur="350" fill="hold"/>
                                        <p:tgtEl>
                                          <p:spTgt spid="35"/>
                                        </p:tgtEl>
                                        <p:attrNameLst>
                                          <p:attrName>ppt_w</p:attrName>
                                        </p:attrNameLst>
                                      </p:cBhvr>
                                      <p:tavLst>
                                        <p:tav tm="0">
                                          <p:val>
                                            <p:strVal val="#ppt_w*2.4"/>
                                          </p:val>
                                        </p:tav>
                                        <p:tav tm="100000">
                                          <p:val>
                                            <p:strVal val="#ppt_w"/>
                                          </p:val>
                                        </p:tav>
                                      </p:tavLst>
                                    </p:anim>
                                    <p:anim calcmode="lin" valueType="num">
                                      <p:cBhvr additive="base">
                                        <p:cTn id="155" dur="350" fill="hold"/>
                                        <p:tgtEl>
                                          <p:spTgt spid="35"/>
                                        </p:tgtEl>
                                        <p:attrNameLst>
                                          <p:attrName>ppt_h</p:attrName>
                                        </p:attrNameLst>
                                      </p:cBhvr>
                                      <p:tavLst>
                                        <p:tav tm="0">
                                          <p:val>
                                            <p:strVal val="#ppt_h*2.4"/>
                                          </p:val>
                                        </p:tav>
                                        <p:tav tm="100000">
                                          <p:val>
                                            <p:strVal val="#ppt_h"/>
                                          </p:val>
                                        </p:tav>
                                      </p:tavLst>
                                    </p:anim>
                                    <p:animEffect transition="in" filter="fade">
                                      <p:cBhvr>
                                        <p:cTn id="156" dur="350"/>
                                        <p:tgtEl>
                                          <p:spTgt spid="35"/>
                                        </p:tgtEl>
                                      </p:cBhvr>
                                    </p:animEffect>
                                  </p:childTnLst>
                                </p:cTn>
                              </p:par>
                              <p:par>
                                <p:cTn id="162" presetID="53" presetClass="entr" presetSubtype="32" fill="hold" grpId="0" nodeType="withEffect">
                                  <p:stCondLst>
                                    <p:cond delay="4080"/>
                                  </p:stCondLst>
                                  <p:childTnLst>
                                    <p:set>
                                      <p:cBhvr>
                                        <p:cTn id="158" dur="1" fill="hold">
                                          <p:stCondLst>
                                            <p:cond delay="0"/>
                                          </p:stCondLst>
                                        </p:cTn>
                                        <p:tgtEl>
                                          <p:spTgt spid="36"/>
                                        </p:tgtEl>
                                        <p:attrNameLst>
                                          <p:attrName>style.visibility</p:attrName>
                                        </p:attrNameLst>
                                      </p:cBhvr>
                                      <p:to>
                                        <p:strVal val="visible"/>
                                      </p:to>
                                    </p:set>
                                    <p:anim calcmode="lin" valueType="num">
                                      <p:cBhvr additive="base">
                                        <p:cTn id="159" dur="350" fill="hold"/>
                                        <p:tgtEl>
                                          <p:spTgt spid="36"/>
                                        </p:tgtEl>
                                        <p:attrNameLst>
                                          <p:attrName>ppt_w</p:attrName>
                                        </p:attrNameLst>
                                      </p:cBhvr>
                                      <p:tavLst>
                                        <p:tav tm="0">
                                          <p:val>
                                            <p:strVal val="#ppt_w*2.4"/>
                                          </p:val>
                                        </p:tav>
                                        <p:tav tm="100000">
                                          <p:val>
                                            <p:strVal val="#ppt_w"/>
                                          </p:val>
                                        </p:tav>
                                      </p:tavLst>
                                    </p:anim>
                                    <p:anim calcmode="lin" valueType="num">
                                      <p:cBhvr additive="base">
                                        <p:cTn id="160" dur="350" fill="hold"/>
                                        <p:tgtEl>
                                          <p:spTgt spid="36"/>
                                        </p:tgtEl>
                                        <p:attrNameLst>
                                          <p:attrName>ppt_h</p:attrName>
                                        </p:attrNameLst>
                                      </p:cBhvr>
                                      <p:tavLst>
                                        <p:tav tm="0">
                                          <p:val>
                                            <p:strVal val="#ppt_h*2.4"/>
                                          </p:val>
                                        </p:tav>
                                        <p:tav tm="100000">
                                          <p:val>
                                            <p:strVal val="#ppt_h"/>
                                          </p:val>
                                        </p:tav>
                                      </p:tavLst>
                                    </p:anim>
                                    <p:animEffect transition="in" filter="fade">
                                      <p:cBhvr>
                                        <p:cTn id="161" dur="350"/>
                                        <p:tgtEl>
                                          <p:spTgt spid="36"/>
                                        </p:tgtEl>
                                      </p:cBhvr>
                                    </p:animEffect>
                                  </p:childTnLst>
                                </p:cTn>
                              </p:par>
                              <p:par>
                                <p:cTn id="167" presetID="53" presetClass="entr" presetSubtype="32" fill="hold" grpId="0" nodeType="withEffect">
                                  <p:stCondLst>
                                    <p:cond delay="4170"/>
                                  </p:stCondLst>
                                  <p:childTnLst>
                                    <p:set>
                                      <p:cBhvr>
                                        <p:cTn id="163" dur="1" fill="hold">
                                          <p:stCondLst>
                                            <p:cond delay="0"/>
                                          </p:stCondLst>
                                        </p:cTn>
                                        <p:tgtEl>
                                          <p:spTgt spid="37"/>
                                        </p:tgtEl>
                                        <p:attrNameLst>
                                          <p:attrName>style.visibility</p:attrName>
                                        </p:attrNameLst>
                                      </p:cBhvr>
                                      <p:to>
                                        <p:strVal val="visible"/>
                                      </p:to>
                                    </p:set>
                                    <p:anim calcmode="lin" valueType="num">
                                      <p:cBhvr additive="base">
                                        <p:cTn id="164" dur="350" fill="hold"/>
                                        <p:tgtEl>
                                          <p:spTgt spid="37"/>
                                        </p:tgtEl>
                                        <p:attrNameLst>
                                          <p:attrName>ppt_w</p:attrName>
                                        </p:attrNameLst>
                                      </p:cBhvr>
                                      <p:tavLst>
                                        <p:tav tm="0">
                                          <p:val>
                                            <p:strVal val="#ppt_w*2.4"/>
                                          </p:val>
                                        </p:tav>
                                        <p:tav tm="100000">
                                          <p:val>
                                            <p:strVal val="#ppt_w"/>
                                          </p:val>
                                        </p:tav>
                                      </p:tavLst>
                                    </p:anim>
                                    <p:anim calcmode="lin" valueType="num">
                                      <p:cBhvr additive="base">
                                        <p:cTn id="165" dur="350" fill="hold"/>
                                        <p:tgtEl>
                                          <p:spTgt spid="37"/>
                                        </p:tgtEl>
                                        <p:attrNameLst>
                                          <p:attrName>ppt_h</p:attrName>
                                        </p:attrNameLst>
                                      </p:cBhvr>
                                      <p:tavLst>
                                        <p:tav tm="0">
                                          <p:val>
                                            <p:strVal val="#ppt_h*2.4"/>
                                          </p:val>
                                        </p:tav>
                                        <p:tav tm="100000">
                                          <p:val>
                                            <p:strVal val="#ppt_h"/>
                                          </p:val>
                                        </p:tav>
                                      </p:tavLst>
                                    </p:anim>
                                    <p:animEffect transition="in" filter="fade">
                                      <p:cBhvr>
                                        <p:cTn id="166" dur="350"/>
                                        <p:tgtEl>
                                          <p:spTgt spid="37"/>
                                        </p:tgtEl>
                                      </p:cBhvr>
                                    </p:animEffect>
                                  </p:childTnLst>
                                </p:cTn>
                              </p:par>
                              <p:par>
                                <p:cTn id="172" presetID="53" presetClass="entr" presetSubtype="32" fill="hold" grpId="0" nodeType="withEffect">
                                  <p:stCondLst>
                                    <p:cond delay="4260"/>
                                  </p:stCondLst>
                                  <p:childTnLst>
                                    <p:set>
                                      <p:cBhvr>
                                        <p:cTn id="168" dur="1" fill="hold">
                                          <p:stCondLst>
                                            <p:cond delay="0"/>
                                          </p:stCondLst>
                                        </p:cTn>
                                        <p:tgtEl>
                                          <p:spTgt spid="38"/>
                                        </p:tgtEl>
                                        <p:attrNameLst>
                                          <p:attrName>style.visibility</p:attrName>
                                        </p:attrNameLst>
                                      </p:cBhvr>
                                      <p:to>
                                        <p:strVal val="visible"/>
                                      </p:to>
                                    </p:set>
                                    <p:anim calcmode="lin" valueType="num">
                                      <p:cBhvr additive="base">
                                        <p:cTn id="169" dur="350" fill="hold"/>
                                        <p:tgtEl>
                                          <p:spTgt spid="38"/>
                                        </p:tgtEl>
                                        <p:attrNameLst>
                                          <p:attrName>ppt_w</p:attrName>
                                        </p:attrNameLst>
                                      </p:cBhvr>
                                      <p:tavLst>
                                        <p:tav tm="0">
                                          <p:val>
                                            <p:strVal val="#ppt_w*2.4"/>
                                          </p:val>
                                        </p:tav>
                                        <p:tav tm="100000">
                                          <p:val>
                                            <p:strVal val="#ppt_w"/>
                                          </p:val>
                                        </p:tav>
                                      </p:tavLst>
                                    </p:anim>
                                    <p:anim calcmode="lin" valueType="num">
                                      <p:cBhvr additive="base">
                                        <p:cTn id="170" dur="350" fill="hold"/>
                                        <p:tgtEl>
                                          <p:spTgt spid="38"/>
                                        </p:tgtEl>
                                        <p:attrNameLst>
                                          <p:attrName>ppt_h</p:attrName>
                                        </p:attrNameLst>
                                      </p:cBhvr>
                                      <p:tavLst>
                                        <p:tav tm="0">
                                          <p:val>
                                            <p:strVal val="#ppt_h*2.4"/>
                                          </p:val>
                                        </p:tav>
                                        <p:tav tm="100000">
                                          <p:val>
                                            <p:strVal val="#ppt_h"/>
                                          </p:val>
                                        </p:tav>
                                      </p:tavLst>
                                    </p:anim>
                                    <p:animEffect transition="in" filter="fade">
                                      <p:cBhvr>
                                        <p:cTn id="171" dur="350"/>
                                        <p:tgtEl>
                                          <p:spTgt spid="38"/>
                                        </p:tgtEl>
                                      </p:cBhvr>
                                    </p:animEffect>
                                  </p:childTnLst>
                                </p:cTn>
                              </p:par>
                              <p:par>
                                <p:cTn id="175" presetID="10" presetClass="entr" presetSubtype="0" fill="hold" grpId="0" nodeType="withEffect">
                                  <p:stCondLst>
                                    <p:cond delay="460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4"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7" grpId="0" animBg="1"/>
      <p:bldP spid="6" grpId="0" animBg="1"/>
      <p:bldP spid="12" grpId="0" animBg="1"/>
      <p:bldP spid="13" grpId="0" animBg="1"/>
      <p:bldP spid="8" grpId="0" animBg="1"/>
      <p:bldP spid="9" grpId="0" animBg="1"/>
      <p:bldP spid="10" grpId="0" animBg="1"/>
      <p:bldP spid="11" grpId="0" animBg="1"/>
      <p:bldP spid="14" grpId="0" animBg="1"/>
      <p:bldP spid="16" grpId="0" animBg="1"/>
      <p:bldP spid="15" grpId="0" animBg="1"/>
      <p:bldP spid="21" grpId="0" animBg="1"/>
      <p:bldP spid="22" grpId="0" animBg="1"/>
      <p:bldP spid="17" grpId="0" animBg="1"/>
      <p:bldP spid="18" grpId="0" animBg="1"/>
      <p:bldP spid="19" grpId="0" animBg="1"/>
      <p:bldP spid="20" grpId="0" animBg="1"/>
      <p:bldP spid="23" grpId="0" animBg="1"/>
      <p:bldP spid="25" grpId="0" animBg="1"/>
      <p:bldP spid="24" grpId="0" animBg="1"/>
      <p:bldP spid="30" grpId="0" animBg="1"/>
      <p:bldP spid="31" grpId="0" animBg="1"/>
      <p:bldP spid="26" grpId="0" animBg="1"/>
      <p:bldP spid="27" grpId="0" animBg="1"/>
      <p:bldP spid="28" grpId="0" animBg="1"/>
      <p:bldP spid="29" grpId="0" animBg="1"/>
      <p:bldP spid="32" grpId="0" animBg="1"/>
      <p:bldP spid="34" grpId="0" animBg="1"/>
      <p:bldP spid="33" grpId="0" animBg="1"/>
      <p:bldP spid="39" grpId="0" animBg="1"/>
      <p:bldP spid="40" grpId="0" animBg="1"/>
      <p:bldP spid="35" grpId="0" animBg="1"/>
      <p:bldP spid="36" grpId="0" animBg="1"/>
      <p:bldP spid="37" grpId="0" animBg="1"/>
      <p:bldP spid="38" grpId="0" animBg="1"/>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rec dot"/>
          <p:cNvSpPr/>
          <p:nvPr/>
        </p:nvSpPr>
        <p:spPr>
          <a:xfrm>
            <a:off x="548640" y="475488"/>
            <a:ext cx="182880" cy="182880"/>
          </a:xfrm>
          <a:prstGeom prst="ellipse">
            <a:avLst/>
          </a:prstGeom>
          <a:solidFill>
            <a:srgbClr val="E5383B"/>
          </a:solidFill>
          <a:ln/>
        </p:spPr>
      </p:sp>
      <p:sp>
        <p:nvSpPr>
          <p:cNvPr id="3" name="Text 1"/>
          <p:cNvSpPr txBox="1"/>
          <p:nvPr/>
        </p:nvSpPr>
        <p:spPr>
          <a:xfrm>
            <a:off x="841248" y="411480"/>
            <a:ext cx="54864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FINAL CUT</a:t>
            </a:r>
            <a:endParaRPr lang="en-US" sz="1300" dirty="0"/>
          </a:p>
        </p:txBody>
      </p:sp>
      <p:sp>
        <p:nvSpPr>
          <p:cNvPr id="4" name="Text 2"/>
          <p:cNvSpPr txBox="1"/>
          <p:nvPr/>
        </p:nvSpPr>
        <p:spPr>
          <a:xfrm>
            <a:off x="548640" y="914400"/>
            <a:ext cx="7315200" cy="1920240"/>
          </a:xfrm>
          <a:prstGeom prst="rect">
            <a:avLst/>
          </a:prstGeom>
          <a:noFill/>
          <a:ln/>
        </p:spPr>
        <p:txBody>
          <a:bodyPr wrap="square" lIns="0" tIns="0" rIns="0" bIns="0" rtlCol="0" anchor="t"/>
          <a:lstStyle/>
          <a:p>
            <a:pPr indent="0" marL="0">
              <a:buNone/>
            </a:pPr>
            <a:r>
              <a:rPr lang="en-US" sz="2800" b="1" dirty="0">
                <a:solidFill>
                  <a:schemeClr val="bg1"/>
                </a:solidFill>
                <a:latin typeface="Bookman Old Style" pitchFamily="34" charset="0"/>
                <a:ea typeface="Bookman Old Style" pitchFamily="34" charset="-122"/>
                <a:cs typeface="Bookman Old Style" pitchFamily="34" charset="-120"/>
              </a:rPr>
              <a:t>Organized crime doesn’t always carry guns. </a:t>
            </a:r>
            <a:pPr indent="0" marL="0">
              <a:buNone/>
            </a:pPr>
            <a:r>
              <a:rPr lang="en-US" sz="2800" b="1" i="1" dirty="0">
                <a:solidFill>
                  <a:srgbClr val="FFD84D"/>
                </a:solidFill>
                <a:latin typeface="Bookman Old Style" pitchFamily="34" charset="0"/>
                <a:ea typeface="Bookman Old Style" pitchFamily="34" charset="-122"/>
                <a:cs typeface="Bookman Old Style" pitchFamily="34" charset="-120"/>
              </a:rPr>
              <a:t>Sometimes it sells them, with a government contract.</a:t>
            </a:r>
            <a:endParaRPr lang="en-US" sz="2800" dirty="0"/>
          </a:p>
        </p:txBody>
      </p:sp>
      <p:sp>
        <p:nvSpPr>
          <p:cNvPr id="5" name="The answer"/>
          <p:cNvSpPr/>
          <p:nvPr/>
        </p:nvSpPr>
        <p:spPr>
          <a:xfrm>
            <a:off x="548640" y="3063240"/>
            <a:ext cx="7315200" cy="1188720"/>
          </a:xfrm>
          <a:prstGeom prst="rect">
            <a:avLst/>
          </a:prstGeom>
          <a:solidFill>
            <a:srgbClr val="1B1D22"/>
          </a:solidFill>
          <a:ln w="12700">
            <a:solidFill>
              <a:srgbClr val="FFD84D"/>
            </a:solidFill>
            <a:prstDash val="solid"/>
          </a:ln>
        </p:spPr>
      </p:sp>
      <p:sp>
        <p:nvSpPr>
          <p:cNvPr id="6" name="Text 4"/>
          <p:cNvSpPr txBox="1"/>
          <p:nvPr/>
        </p:nvSpPr>
        <p:spPr>
          <a:xfrm>
            <a:off x="822960" y="315468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D84D"/>
                </a:solidFill>
                <a:latin typeface="Courier New" pitchFamily="34" charset="0"/>
                <a:ea typeface="Courier New" pitchFamily="34" charset="-122"/>
                <a:cs typeface="Courier New" pitchFamily="34" charset="-120"/>
              </a:rPr>
              <a:t>THE ANSWER</a:t>
            </a:r>
            <a:endParaRPr lang="en-US" sz="1200" dirty="0"/>
          </a:p>
          <a:p>
            <a:pPr indent="0" marL="0">
              <a:spcAft>
                <a:spcPts val="300"/>
              </a:spcAft>
              <a:buNone/>
            </a:pPr>
            <a:r>
              <a:rPr lang="en-US" sz="1500" dirty="0">
                <a:solidFill>
                  <a:schemeClr val="bg1"/>
                </a:solidFill>
              </a:rPr>
              <a:t>AEY is organized crime under the UN definition, but not the mafia: it is organized white-collar crime.</a:t>
            </a:r>
            <a:endParaRPr lang="en-US" sz="1200" dirty="0"/>
          </a:p>
        </p:txBody>
      </p:sp>
      <p:sp>
        <p:nvSpPr>
          <p:cNvPr id="7" name="The lesson for Bangladesh"/>
          <p:cNvSpPr/>
          <p:nvPr/>
        </p:nvSpPr>
        <p:spPr>
          <a:xfrm>
            <a:off x="548640" y="4389120"/>
            <a:ext cx="7315200" cy="1188720"/>
          </a:xfrm>
          <a:prstGeom prst="rect">
            <a:avLst/>
          </a:prstGeom>
          <a:solidFill>
            <a:srgbClr val="1B1D22"/>
          </a:solidFill>
          <a:ln w="12700">
            <a:solidFill>
              <a:srgbClr val="E5383B"/>
            </a:solidFill>
            <a:prstDash val="solid"/>
          </a:ln>
        </p:spPr>
      </p:sp>
      <p:sp>
        <p:nvSpPr>
          <p:cNvPr id="8" name="Text 6"/>
          <p:cNvSpPr txBox="1"/>
          <p:nvPr/>
        </p:nvSpPr>
        <p:spPr>
          <a:xfrm>
            <a:off x="822960" y="448056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8A8C"/>
                </a:solidFill>
                <a:latin typeface="Courier New" pitchFamily="34" charset="0"/>
                <a:ea typeface="Courier New" pitchFamily="34" charset="-122"/>
                <a:cs typeface="Courier New" pitchFamily="34" charset="-120"/>
              </a:rPr>
              <a:t>THE LESSON FOR BANGLADESH</a:t>
            </a:r>
            <a:endParaRPr lang="en-US" sz="1200" dirty="0"/>
          </a:p>
          <a:p>
            <a:pPr indent="0" marL="0">
              <a:spcAft>
                <a:spcPts val="300"/>
              </a:spcAft>
              <a:buNone/>
            </a:pPr>
            <a:r>
              <a:rPr lang="en-US" sz="1500" dirty="0">
                <a:solidFill>
                  <a:schemeClr val="bg1"/>
                </a:solidFill>
              </a:rPr>
              <a:t>Big procurement relies on middlemen too. Vet contractors, disclose real owners, check where goods come from.</a:t>
            </a:r>
            <a:endParaRPr lang="en-US" sz="1200" dirty="0"/>
          </a:p>
        </p:txBody>
      </p:sp>
      <p:sp>
        <p:nvSpPr>
          <p:cNvPr id="9" name="Text 7"/>
          <p:cNvSpPr txBox="1"/>
          <p:nvPr/>
        </p:nvSpPr>
        <p:spPr>
          <a:xfrm>
            <a:off x="8503920" y="914400"/>
            <a:ext cx="3139135" cy="320040"/>
          </a:xfrm>
          <a:prstGeom prst="rect">
            <a:avLst/>
          </a:prstGeom>
          <a:noFill/>
          <a:ln/>
        </p:spPr>
        <p:txBody>
          <a:bodyPr wrap="square" lIns="0" tIns="0" rIns="0" bIns="0" rtlCol="0" anchor="ctr"/>
          <a:lstStyle/>
          <a:p>
            <a:pPr algn="ctr" indent="0" marL="0">
              <a:buNone/>
            </a:pPr>
            <a:r>
              <a:rPr lang="en-US" sz="1300" b="1" spc="400" kern="0" dirty="0">
                <a:solidFill>
                  <a:srgbClr val="A9ADB5"/>
                </a:solidFill>
                <a:latin typeface="Courier New" pitchFamily="34" charset="0"/>
                <a:ea typeface="Courier New" pitchFamily="34" charset="-122"/>
                <a:cs typeface="Courier New" pitchFamily="34" charset="-120"/>
              </a:rPr>
              <a:t>CREDITS</a:t>
            </a:r>
            <a:endParaRPr lang="en-US" sz="1300" dirty="0"/>
          </a:p>
        </p:txBody>
      </p:sp>
      <p:sp>
        <p:nvSpPr>
          <p:cNvPr id="10" name="Text 8"/>
          <p:cNvSpPr txBox="1"/>
          <p:nvPr/>
        </p:nvSpPr>
        <p:spPr>
          <a:xfrm>
            <a:off x="8503920" y="137160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OPENING &amp; TRAILER  ·  ROLL 27</a:t>
            </a:r>
            <a:endParaRPr lang="en-US" sz="1000" dirty="0"/>
          </a:p>
          <a:p>
            <a:pPr algn="ctr" indent="0" marL="0">
              <a:buNone/>
            </a:pPr>
            <a:r>
              <a:rPr lang="en-US" sz="1400" b="1" dirty="0">
                <a:solidFill>
                  <a:schemeClr val="bg1"/>
                </a:solidFill>
              </a:rPr>
              <a:t>Minhaz Ahamed Khan Nabin</a:t>
            </a:r>
            <a:endParaRPr lang="en-US" sz="1000" dirty="0"/>
          </a:p>
        </p:txBody>
      </p:sp>
      <p:sp>
        <p:nvSpPr>
          <p:cNvPr id="11" name="Text 9"/>
          <p:cNvSpPr txBox="1"/>
          <p:nvPr/>
        </p:nvSpPr>
        <p:spPr>
          <a:xfrm>
            <a:off x="8503920" y="1975104"/>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  ·  ROLL 08</a:t>
            </a:r>
            <a:endParaRPr lang="en-US" sz="1000" dirty="0"/>
          </a:p>
          <a:p>
            <a:pPr algn="ctr" indent="0" marL="0">
              <a:buNone/>
            </a:pPr>
            <a:r>
              <a:rPr lang="en-US" sz="1400" b="1" dirty="0">
                <a:solidFill>
                  <a:schemeClr val="bg1"/>
                </a:solidFill>
              </a:rPr>
              <a:t>Jesmin Naher Sweety</a:t>
            </a:r>
            <a:endParaRPr lang="en-US" sz="1000" dirty="0"/>
          </a:p>
        </p:txBody>
      </p:sp>
      <p:sp>
        <p:nvSpPr>
          <p:cNvPr id="12" name="Text 10"/>
          <p:cNvSpPr txBox="1"/>
          <p:nvPr/>
        </p:nvSpPr>
        <p:spPr>
          <a:xfrm>
            <a:off x="8503920" y="2578608"/>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DEFINITIONS  ·  ROLL 37</a:t>
            </a:r>
            <a:endParaRPr lang="en-US" sz="1000" dirty="0"/>
          </a:p>
          <a:p>
            <a:pPr algn="ctr" indent="0" marL="0">
              <a:buNone/>
            </a:pPr>
            <a:r>
              <a:rPr lang="en-US" sz="1400" b="1" dirty="0">
                <a:solidFill>
                  <a:schemeClr val="bg1"/>
                </a:solidFill>
              </a:rPr>
              <a:t>Md. Abir Mahmud Jakaria</a:t>
            </a:r>
            <a:endParaRPr lang="en-US" sz="1000" dirty="0"/>
          </a:p>
        </p:txBody>
      </p:sp>
      <p:sp>
        <p:nvSpPr>
          <p:cNvPr id="13" name="Text 11"/>
          <p:cNvSpPr txBox="1"/>
          <p:nvPr/>
        </p:nvSpPr>
        <p:spPr>
          <a:xfrm>
            <a:off x="8503920" y="3182112"/>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NETWORK &amp; CORRUPTION  ·  ROLL 33</a:t>
            </a:r>
            <a:endParaRPr lang="en-US" sz="1000" dirty="0"/>
          </a:p>
          <a:p>
            <a:pPr algn="ctr" indent="0" marL="0">
              <a:buNone/>
            </a:pPr>
            <a:r>
              <a:rPr lang="en-US" sz="1400" b="1" dirty="0">
                <a:solidFill>
                  <a:schemeClr val="bg1"/>
                </a:solidFill>
              </a:rPr>
              <a:t>Imran Mridha</a:t>
            </a:r>
            <a:endParaRPr lang="en-US" sz="1000" dirty="0"/>
          </a:p>
        </p:txBody>
      </p:sp>
      <p:sp>
        <p:nvSpPr>
          <p:cNvPr id="14" name="Text 12"/>
          <p:cNvSpPr txBox="1"/>
          <p:nvPr/>
        </p:nvSpPr>
        <p:spPr>
          <a:xfrm>
            <a:off x="8503920" y="3785616"/>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III  ·  ROLL 24</a:t>
            </a:r>
            <a:endParaRPr lang="en-US" sz="1000" dirty="0"/>
          </a:p>
          <a:p>
            <a:pPr algn="ctr" indent="0" marL="0">
              <a:buNone/>
            </a:pPr>
            <a:r>
              <a:rPr lang="en-US" sz="1400" b="1" dirty="0">
                <a:solidFill>
                  <a:schemeClr val="bg1"/>
                </a:solidFill>
              </a:rPr>
              <a:t>Ahnaf Akif</a:t>
            </a:r>
            <a:endParaRPr lang="en-US" sz="1000" dirty="0"/>
          </a:p>
        </p:txBody>
      </p:sp>
      <p:sp>
        <p:nvSpPr>
          <p:cNvPr id="15" name="Text 13"/>
          <p:cNvSpPr txBox="1"/>
          <p:nvPr/>
        </p:nvSpPr>
        <p:spPr>
          <a:xfrm>
            <a:off x="8503920" y="438912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VERDICT &amp; FINAL CUT  ·  ROLL 21</a:t>
            </a:r>
            <a:endParaRPr lang="en-US" sz="1000" dirty="0"/>
          </a:p>
          <a:p>
            <a:pPr algn="ctr" indent="0" marL="0">
              <a:buNone/>
            </a:pPr>
            <a:r>
              <a:rPr lang="en-US" sz="1400" b="1" dirty="0">
                <a:solidFill>
                  <a:schemeClr val="bg1"/>
                </a:solidFill>
              </a:rPr>
              <a:t>Nishit Kumer</a:t>
            </a:r>
            <a:endParaRPr lang="en-US" sz="1000" dirty="0"/>
          </a:p>
        </p:txBody>
      </p:sp>
      <p:sp>
        <p:nvSpPr>
          <p:cNvPr id="16" name="Text 14"/>
          <p:cNvSpPr txBox="1"/>
          <p:nvPr/>
        </p:nvSpPr>
        <p:spPr>
          <a:xfrm>
            <a:off x="548640" y="5715000"/>
            <a:ext cx="7315200" cy="502920"/>
          </a:xfrm>
          <a:prstGeom prst="rect">
            <a:avLst/>
          </a:prstGeom>
          <a:noFill/>
          <a:ln/>
        </p:spPr>
        <p:txBody>
          <a:bodyPr wrap="square" lIns="0" tIns="0" rIns="0" bIns="0" rtlCol="0" anchor="ctr"/>
          <a:lstStyle/>
          <a:p>
            <a:pPr indent="0" marL="0">
              <a:buNone/>
            </a:pPr>
            <a:r>
              <a:rPr lang="en-US" sz="2400" b="1" dirty="0">
                <a:solidFill>
                  <a:schemeClr val="bg1"/>
                </a:solidFill>
                <a:latin typeface="Bookman Old Style" pitchFamily="34" charset="0"/>
                <a:ea typeface="Bookman Old Style" pitchFamily="34" charset="-122"/>
                <a:cs typeface="Bookman Old Style" pitchFamily="34" charset="-120"/>
              </a:rPr>
              <a:t>Thank you  ·  </a:t>
            </a:r>
            <a:pPr indent="0" marL="0">
              <a:buNone/>
            </a:pPr>
            <a:r>
              <a:rPr lang="en-US" sz="2400" i="1" dirty="0">
                <a:solidFill>
                  <a:srgbClr val="FFD84D"/>
                </a:solidFill>
                <a:latin typeface="Bookman Old Style" pitchFamily="34" charset="0"/>
                <a:ea typeface="Bookman Old Style" pitchFamily="34" charset="-122"/>
                <a:cs typeface="Bookman Old Style" pitchFamily="34" charset="-120"/>
              </a:rPr>
              <a:t>Questions?</a:t>
            </a:r>
            <a:endParaRPr lang="en-US" sz="2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74" fill="hold">
                      <p:stCondLst>
                        <p:cond delay="indefinite"/>
                        <p:cond evt="onBegin" delay="0">
                          <p:tn val="2"/>
                        </p:cond>
                      </p:stCondLst>
                      <p:childTnLst>
                        <p:par>
                          <p:cTn id="7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1" presetID="6" presetClass="emph" presetSubtype="0" fill="hold" grpId="1" nodeType="withEffect" autoRev="1" repeatCount="indefinite">
                                  <p:stCondLst>
                                    <p:cond delay="500"/>
                                  </p:stCondLst>
                                  <p:childTnLst>
                                    <p:animScale>
                                      <p:cBhvr>
                                        <p:cTn id="10" dur="650" fill="hold"/>
                                        <p:tgtEl>
                                          <p:spTgt spid="2"/>
                                        </p:tgtEl>
                                      </p:cBhvr>
                                      <p:by x="135000" y="135000"/>
                                    </p:animScale>
                                  </p:childTnLst>
                                </p:cTn>
                              </p:par>
                              <p:par>
                                <p:cTn id="13" presetID="1" presetClass="entr" presetSubtype="0" fill="hold" grpId="0" nodeType="withEffect">
                                  <p:stCondLst>
                                    <p:cond delay="700"/>
                                  </p:stCondLst>
                                  <p:iterate type="lt">
                                    <p:tmAbs val="32"/>
                                  </p:iterate>
                                  <p:childTnLst>
                                    <p:set>
                                      <p:cBhvr>
                                        <p:cTn id="12" dur="1" fill="hold">
                                          <p:stCondLst>
                                            <p:cond delay="0"/>
                                          </p:stCondLst>
                                        </p:cTn>
                                        <p:tgtEl>
                                          <p:spTgt spid="4"/>
                                        </p:tgtEl>
                                        <p:attrNameLst>
                                          <p:attrName>style.visibility</p:attrName>
                                        </p:attrNameLst>
                                      </p:cBhvr>
                                      <p:to>
                                        <p:strVal val="visible"/>
                                      </p:to>
                                    </p:set>
                                  </p:childTnLst>
                                </p:cTn>
                              </p:par>
                              <p:par>
                                <p:cTn id="18" presetID="42" presetClass="entr" presetSubtype="0" fill="hold" grpId="0" nodeType="withEffect">
                                  <p:stCondLst>
                                    <p:cond delay="4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43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700"/>
                                        <p:tgtEl>
                                          <p:spTgt spid="6"/>
                                        </p:tgtEl>
                                      </p:cBhvr>
                                    </p:animEffect>
                                    <p:anim calcmode="lin" valueType="num">
                                      <p:cBhvr additive="base">
                                        <p:cTn id="21" dur="700" fill="hold"/>
                                        <p:tgtEl>
                                          <p:spTgt spid="6"/>
                                        </p:tgtEl>
                                        <p:attrNameLst>
                                          <p:attrName>ppt_x</p:attrName>
                                        </p:attrNameLst>
                                      </p:cBhvr>
                                      <p:tavLst>
                                        <p:tav tm="0">
                                          <p:val>
                                            <p:strVal val="#ppt_x"/>
                                          </p:val>
                                        </p:tav>
                                        <p:tav tm="100000">
                                          <p:val>
                                            <p:strVal val="#ppt_x"/>
                                          </p:val>
                                        </p:tav>
                                      </p:tavLst>
                                    </p:anim>
                                    <p:anim calcmode="lin" valueType="num">
                                      <p:cBhvr additive="base">
                                        <p:cTn id="22" dur="70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49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00"/>
                                        <p:tgtEl>
                                          <p:spTgt spid="7"/>
                                        </p:tgtEl>
                                      </p:cBhvr>
                                    </p:animEffect>
                                    <p:anim calcmode="lin" valueType="num">
                                      <p:cBhvr additive="base">
                                        <p:cTn id="26" dur="700" fill="hold"/>
                                        <p:tgtEl>
                                          <p:spTgt spid="7"/>
                                        </p:tgtEl>
                                        <p:attrNameLst>
                                          <p:attrName>ppt_x</p:attrName>
                                        </p:attrNameLst>
                                      </p:cBhvr>
                                      <p:tavLst>
                                        <p:tav tm="0">
                                          <p:val>
                                            <p:strVal val="#ppt_x"/>
                                          </p:val>
                                        </p:tav>
                                        <p:tav tm="100000">
                                          <p:val>
                                            <p:strVal val="#ppt_x"/>
                                          </p:val>
                                        </p:tav>
                                      </p:tavLst>
                                    </p:anim>
                                    <p:anim calcmode="lin" valueType="num">
                                      <p:cBhvr additive="base">
                                        <p:cTn id="27" dur="700" fill="hold"/>
                                        <p:tgtEl>
                                          <p:spTgt spid="7"/>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4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700"/>
                                        <p:tgtEl>
                                          <p:spTgt spid="8"/>
                                        </p:tgtEl>
                                      </p:cBhvr>
                                    </p:animEffect>
                                    <p:anim calcmode="lin" valueType="num">
                                      <p:cBhvr additive="base">
                                        <p:cTn id="31" dur="700" fill="hold"/>
                                        <p:tgtEl>
                                          <p:spTgt spid="8"/>
                                        </p:tgtEl>
                                        <p:attrNameLst>
                                          <p:attrName>ppt_x</p:attrName>
                                        </p:attrNameLst>
                                      </p:cBhvr>
                                      <p:tavLst>
                                        <p:tav tm="0">
                                          <p:val>
                                            <p:strVal val="#ppt_x"/>
                                          </p:val>
                                        </p:tav>
                                        <p:tav tm="100000">
                                          <p:val>
                                            <p:strVal val="#ppt_x"/>
                                          </p:val>
                                        </p:tav>
                                      </p:tavLst>
                                    </p:anim>
                                    <p:anim calcmode="lin" valueType="num">
                                      <p:cBhvr additive="base">
                                        <p:cTn id="32" dur="700" fill="hold"/>
                                        <p:tgtEl>
                                          <p:spTgt spid="8"/>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56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41" presetID="42" presetClass="entr" presetSubtype="0" fill="hold" grpId="0" nodeType="withEffect">
                                  <p:stCondLst>
                                    <p:cond delay="59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700"/>
                                        <p:tgtEl>
                                          <p:spTgt spid="10"/>
                                        </p:tgtEl>
                                      </p:cBhvr>
                                    </p:animEffect>
                                    <p:anim calcmode="lin" valueType="num">
                                      <p:cBhvr additive="base">
                                        <p:cTn id="39" dur="700" fill="hold"/>
                                        <p:tgtEl>
                                          <p:spTgt spid="10"/>
                                        </p:tgtEl>
                                        <p:attrNameLst>
                                          <p:attrName>ppt_x</p:attrName>
                                        </p:attrNameLst>
                                      </p:cBhvr>
                                      <p:tavLst>
                                        <p:tav tm="0">
                                          <p:val>
                                            <p:strVal val="#ppt_x"/>
                                          </p:val>
                                        </p:tav>
                                        <p:tav tm="100000">
                                          <p:val>
                                            <p:strVal val="#ppt_x"/>
                                          </p:val>
                                        </p:tav>
                                      </p:tavLst>
                                    </p:anim>
                                    <p:anim calcmode="lin" valueType="num">
                                      <p:cBhvr additive="base">
                                        <p:cTn id="40" dur="700" fill="hold"/>
                                        <p:tgtEl>
                                          <p:spTgt spid="10"/>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625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700"/>
                                        <p:tgtEl>
                                          <p:spTgt spid="11"/>
                                        </p:tgtEl>
                                      </p:cBhvr>
                                    </p:animEffect>
                                    <p:anim calcmode="lin" valueType="num">
                                      <p:cBhvr additive="base">
                                        <p:cTn id="44" dur="700" fill="hold"/>
                                        <p:tgtEl>
                                          <p:spTgt spid="11"/>
                                        </p:tgtEl>
                                        <p:attrNameLst>
                                          <p:attrName>ppt_x</p:attrName>
                                        </p:attrNameLst>
                                      </p:cBhvr>
                                      <p:tavLst>
                                        <p:tav tm="0">
                                          <p:val>
                                            <p:strVal val="#ppt_x"/>
                                          </p:val>
                                        </p:tav>
                                        <p:tav tm="100000">
                                          <p:val>
                                            <p:strVal val="#ppt_x"/>
                                          </p:val>
                                        </p:tav>
                                      </p:tavLst>
                                    </p:anim>
                                    <p:anim calcmode="lin" valueType="num">
                                      <p:cBhvr additive="base">
                                        <p:cTn id="45" dur="700" fill="hold"/>
                                        <p:tgtEl>
                                          <p:spTgt spid="11"/>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660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700"/>
                                        <p:tgtEl>
                                          <p:spTgt spid="12"/>
                                        </p:tgtEl>
                                      </p:cBhvr>
                                    </p:animEffect>
                                    <p:anim calcmode="lin" valueType="num">
                                      <p:cBhvr additive="base">
                                        <p:cTn id="49" dur="700" fill="hold"/>
                                        <p:tgtEl>
                                          <p:spTgt spid="12"/>
                                        </p:tgtEl>
                                        <p:attrNameLst>
                                          <p:attrName>ppt_x</p:attrName>
                                        </p:attrNameLst>
                                      </p:cBhvr>
                                      <p:tavLst>
                                        <p:tav tm="0">
                                          <p:val>
                                            <p:strVal val="#ppt_x"/>
                                          </p:val>
                                        </p:tav>
                                        <p:tav tm="100000">
                                          <p:val>
                                            <p:strVal val="#ppt_x"/>
                                          </p:val>
                                        </p:tav>
                                      </p:tavLst>
                                    </p:anim>
                                    <p:anim calcmode="lin" valueType="num">
                                      <p:cBhvr additive="base">
                                        <p:cTn id="50" dur="700" fill="hold"/>
                                        <p:tgtEl>
                                          <p:spTgt spid="12"/>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695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700"/>
                                        <p:tgtEl>
                                          <p:spTgt spid="13"/>
                                        </p:tgtEl>
                                      </p:cBhvr>
                                    </p:animEffect>
                                    <p:anim calcmode="lin" valueType="num">
                                      <p:cBhvr additive="base">
                                        <p:cTn id="54" dur="700" fill="hold"/>
                                        <p:tgtEl>
                                          <p:spTgt spid="13"/>
                                        </p:tgtEl>
                                        <p:attrNameLst>
                                          <p:attrName>ppt_x</p:attrName>
                                        </p:attrNameLst>
                                      </p:cBhvr>
                                      <p:tavLst>
                                        <p:tav tm="0">
                                          <p:val>
                                            <p:strVal val="#ppt_x"/>
                                          </p:val>
                                        </p:tav>
                                        <p:tav tm="100000">
                                          <p:val>
                                            <p:strVal val="#ppt_x"/>
                                          </p:val>
                                        </p:tav>
                                      </p:tavLst>
                                    </p:anim>
                                    <p:anim calcmode="lin" valueType="num">
                                      <p:cBhvr additive="base">
                                        <p:cTn id="55" dur="700" fill="hold"/>
                                        <p:tgtEl>
                                          <p:spTgt spid="13"/>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730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00"/>
                                        <p:tgtEl>
                                          <p:spTgt spid="14"/>
                                        </p:tgtEl>
                                      </p:cBhvr>
                                    </p:animEffect>
                                    <p:anim calcmode="lin" valueType="num">
                                      <p:cBhvr additive="base">
                                        <p:cTn id="59" dur="700" fill="hold"/>
                                        <p:tgtEl>
                                          <p:spTgt spid="14"/>
                                        </p:tgtEl>
                                        <p:attrNameLst>
                                          <p:attrName>ppt_x</p:attrName>
                                        </p:attrNameLst>
                                      </p:cBhvr>
                                      <p:tavLst>
                                        <p:tav tm="0">
                                          <p:val>
                                            <p:strVal val="#ppt_x"/>
                                          </p:val>
                                        </p:tav>
                                        <p:tav tm="100000">
                                          <p:val>
                                            <p:strVal val="#ppt_x"/>
                                          </p:val>
                                        </p:tav>
                                      </p:tavLst>
                                    </p:anim>
                                    <p:anim calcmode="lin" valueType="num">
                                      <p:cBhvr additive="base">
                                        <p:cTn id="60" dur="700" fill="hold"/>
                                        <p:tgtEl>
                                          <p:spTgt spid="14"/>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765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700"/>
                                        <p:tgtEl>
                                          <p:spTgt spid="15"/>
                                        </p:tgtEl>
                                      </p:cBhvr>
                                    </p:animEffect>
                                    <p:anim calcmode="lin" valueType="num">
                                      <p:cBhvr additive="base">
                                        <p:cTn id="64" dur="700" fill="hold"/>
                                        <p:tgtEl>
                                          <p:spTgt spid="15"/>
                                        </p:tgtEl>
                                        <p:attrNameLst>
                                          <p:attrName>ppt_x</p:attrName>
                                        </p:attrNameLst>
                                      </p:cBhvr>
                                      <p:tavLst>
                                        <p:tav tm="0">
                                          <p:val>
                                            <p:strVal val="#ppt_x"/>
                                          </p:val>
                                        </p:tav>
                                        <p:tav tm="100000">
                                          <p:val>
                                            <p:strVal val="#ppt_x"/>
                                          </p:val>
                                        </p:tav>
                                      </p:tavLst>
                                    </p:anim>
                                    <p:anim calcmode="lin" valueType="num">
                                      <p:cBhvr additive="base">
                                        <p:cTn id="65" dur="700" fill="hold"/>
                                        <p:tgtEl>
                                          <p:spTgt spid="15"/>
                                        </p:tgtEl>
                                        <p:attrNameLst>
                                          <p:attrName>ppt_y</p:attrName>
                                        </p:attrNameLst>
                                      </p:cBhvr>
                                      <p:tavLst>
                                        <p:tav tm="0">
                                          <p:val>
                                            <p:strVal val="#ppt_y+.06"/>
                                          </p:val>
                                        </p:tav>
                                        <p:tav tm="100000">
                                          <p:val>
                                            <p:strVal val="#ppt_y"/>
                                          </p:val>
                                        </p:tav>
                                      </p:tavLst>
                                    </p:anim>
                                  </p:childTnLst>
                                </p:cTn>
                              </p:par>
                              <p:par>
                                <p:cTn id="71" presetID="53" presetClass="entr" presetSubtype="16" fill="hold" grpId="0" nodeType="withEffect">
                                  <p:stCondLst>
                                    <p:cond delay="830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700" fill="hold"/>
                                        <p:tgtEl>
                                          <p:spTgt spid="16"/>
                                        </p:tgtEl>
                                        <p:attrNameLst>
                                          <p:attrName>ppt_w</p:attrName>
                                        </p:attrNameLst>
                                      </p:cBhvr>
                                      <p:tavLst>
                                        <p:tav tm="0">
                                          <p:val>
                                            <p:strVal val="0"/>
                                          </p:val>
                                        </p:tav>
                                        <p:tav tm="100000">
                                          <p:val>
                                            <p:strVal val="#ppt_w"/>
                                          </p:val>
                                        </p:tav>
                                      </p:tavLst>
                                    </p:anim>
                                    <p:anim calcmode="lin" valueType="num">
                                      <p:cBhvr additive="base">
                                        <p:cTn id="69" dur="700" fill="hold"/>
                                        <p:tgtEl>
                                          <p:spTgt spid="16"/>
                                        </p:tgtEl>
                                        <p:attrNameLst>
                                          <p:attrName>ppt_h</p:attrName>
                                        </p:attrNameLst>
                                      </p:cBhvr>
                                      <p:tavLst>
                                        <p:tav tm="0">
                                          <p:val>
                                            <p:strVal val="0"/>
                                          </p:val>
                                        </p:tav>
                                        <p:tav tm="100000">
                                          <p:val>
                                            <p:strVal val="#ppt_h"/>
                                          </p:val>
                                        </p:tav>
                                      </p:tavLst>
                                    </p:anim>
                                    <p:animEffect transition="in" filter="fade">
                                      <p:cBhvr>
                                        <p:cTn id="70" dur="700"/>
                                        <p:tgtEl>
                                          <p:spTgt spid="16"/>
                                        </p:tgtEl>
                                      </p:cBhvr>
                                    </p:animEffect>
                                  </p:childTnLst>
                                </p:cTn>
                              </p:par>
                              <p:par>
                                <p:cTn id="73" presetID="6" presetClass="emph" presetSubtype="0" fill="hold" grpId="1" nodeType="withEffect" autoRev="1" repeatCount="indefinite">
                                  <p:stCondLst>
                                    <p:cond delay="9100"/>
                                  </p:stCondLst>
                                  <p:childTnLst>
                                    <p:animScale>
                                      <p:cBhvr>
                                        <p:cTn id="72" dur="1000"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 grpId="1"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6" grpId="1" animBg="1"/>
    </p:bldLst>
  </p:timing>
</p:sld>
</file>

<file path=ppt/theme/theme1.xml><?xml version="1.0" encoding="utf-8"?>
<a:theme xmlns:a="http://schemas.openxmlformats.org/drawingml/2006/main" name="War Dogs Directors Cut">
  <a:themeElements>
    <a:clrScheme name="War Dogs Directors Cut">
      <a:dk1>
        <a:srgbClr val="0D0D0F"/>
      </a:dk1>
      <a:lt1>
        <a:srgbClr val="FFFFFF"/>
      </a:lt1>
      <a:dk2>
        <a:srgbClr val="0B0B0C"/>
      </a:dk2>
      <a:lt2>
        <a:srgbClr val="ECE8E1"/>
      </a:lt2>
      <a:accent1>
        <a:srgbClr val="FFD84D"/>
      </a:accent1>
      <a:accent2>
        <a:srgbClr val="E5383B"/>
      </a:accent2>
      <a:accent3>
        <a:srgbClr val="7FB7BE"/>
      </a:accent3>
      <a:accent4>
        <a:srgbClr val="A3A3A3"/>
      </a:accent4>
      <a:accent5>
        <a:srgbClr val="2A2C31"/>
      </a:accent5>
      <a:accent6>
        <a:srgbClr val="C9B98F"/>
      </a:accent6>
      <a:hlink>
        <a:srgbClr val="FFD84D"/>
      </a:hlink>
      <a:folHlink>
        <a:srgbClr val="7FB7BE"/>
      </a:folHlink>
    </a:clrScheme>
    <a:fontScheme name="War Dogs Directors Cut">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 Dogs: A Criminologist’s Director’s Cut – Group 6</dc:title>
  <dc:subject>MCCJ 527 Organized Crime and Corruption</dc:subject>
  <dc:creator>PptxGenJS</dc:creator>
  <cp:lastModifiedBy>PptxGenJS</cp:lastModifiedBy>
  <cp:revision>1</cp:revision>
  <dcterms:created xsi:type="dcterms:W3CDTF">2026-10-30T16:34:24Z</dcterms:created>
  <dcterms:modified xsi:type="dcterms:W3CDTF">2026-10-30T16:34:24Z</dcterms:modified>
</cp:coreProperties>
</file>