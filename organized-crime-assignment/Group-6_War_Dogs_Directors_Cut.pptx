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46cea7-d38d-3eec-3f76-48955487b106}">
          <p14:sldIdLst>
            <p14:sldId id="256"/>
            <p14:sldId id="257"/>
          </p14:sldIdLst>
        </p14:section>
        <p14:section name="Act I: The Hustle" id="{f4adbda5-f8e9-0853-6f0f-e9161c4a0fa6}">
          <p14:sldIdLst>
            <p14:sldId id="258"/>
            <p14:sldId id="259"/>
          </p14:sldIdLst>
        </p14:section>
        <p14:section name="Act II: The Deal" id="{d0814543-e063-66b4-6817-92d652a92acb}">
          <p14:sldIdLst>
            <p14:sldId id="260"/>
            <p14:sldId id="261"/>
            <p14:sldId id="262"/>
            <p14:sldId id="263"/>
          </p14:sldIdLst>
        </p14:section>
        <p14:section name="Act III: The Fall" id="{067cc49d-a6e5-2468-c9e9-46851aa7ccf2}">
          <p14:sldIdLst>
            <p14:sldId id="264"/>
            <p14:sldId id="265"/>
          </p14:sldIdLst>
        </p14:section>
        <p14:section name="Verdict and Credits" id="{7e04db23-6fec-f236-67fb-5f533392a05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[Dim the lights if you can. Speak like a movie trailer.] In a world where wars are fought with contracts... two young men from Miami... win almost 300 million dollars to arm an army they will never meet.
[Normal voice.] Good morning. We are Group 6, and today we present War Dogs, the 2016 film. But we are not going to review it like movie critics. We are going to show you a criminologist's director's cut.
We will play the story in three acts: the Hustle, the Deal and the Fall. And at key moments, we will press pause, and explain the organized crime and corruption concepts hiding inside the scene. Our one big question: is this really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First, the trailer facts. War Dogs was directed by Todd Phillips, the director of The Hangover, and released by Warner Bros. in 2016. It stars Jonah Hill as Efraim Diveroli and Miles Teller as David Packouz, with Ana de Armas and Bradley Cooper. It is a comedy, but it is based on a true story, first reported by journalist Guy Lawson in Rolling Stone.
[Right panel.] Here is our thesis: organized crime doesn't always carry guns. Sometimes it sells them, with a government contract. The real company, AEY, won a contract worth 298 million dollars from the Pentagon in 2007.
Let's press play on Act One. Sweety, roll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 you, Nabin. Act One: the Hustle. [Move across the film strip.]
Scene one: David is a broke massage therapist in Miami. His bedsheet business has failed, and his girlfriend is pregnant. He needs money, fast.
Scene two: he meets his old friend Efraim, whose company AEY bids online for the "crumbs" of military procurement: small contracts the big defence companies ignore. David joins him.
Scene three: a shipment of pistols gets stuck in Jordan, so they fly out, use local fixers and drive it into Iraq. It works, and they get paid.
Scene four: the money flows. New office, new cars. And David starts lying to his partner about what he really does.
[Pause.] Now let's freeze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[Freeze-frame.] What is happening in Act One?
[Spectrum.] Dwight Smith's enterprise model says legal and illegal business sit on one spectrum, driven by the same market demand. Watch AEY move along it: from legal bidding on crumbs, to grey deals with fixers in Jordan, and later, in Act Three, to outright fraud.
[Bottom cards.] Three theories explain why. Strain theory: David is broke with a baby coming. In Merton's terms he "innovates": he keeps the goal of wealth but uses illegitimate means. Differential association: he learns both the methods and the excuses from Efraim. And rational choice: every step is a calculation, a big reward against a small chance of being caught.
Press play. Jakaria,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 you, Sweety. Act Two: the Deal.
Scene five: at an arms fair in Las Vegas, they meet Henry Girard, played by Bradley Cooper. Henry is on a terrorist watch list, so he cannot sell to the US government directly. He needs a front.
Scene six: Henry has access to about 100 million rounds of old rifle ammunition sitting in Albania.
Scene seven: with this cheap supply and a financier behind them, AEY underbids everyone and wins the Afghan army contract, worth around 300 million dollars.
Scene eight: Efraim, greedy as ever, starts planning to cut Henry out of his share.
So let's pause again. Is this group actually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[Freeze-frame.] Is AEY organized crime? It depends on the definition.
[Left.] The UN Convention against Transnational Organized Crime says an organized criminal group is three or more persons, structured, existing over time, committing serious crime for material benefit. AEY ticks every box: Efraim, David, their financier, Henry and the suppliers, operating for years, committing fraud and conspiracy for millions.
[Right.] But Abadinsky's classic attributes describe the mafia: hierarchy, exclusive membership, rituals, and an organization that survives when its leaders are arrested. AEY had none of that. It collapsed the moment the founders were charged.
[Bottom.] So our verdict: AEY is organized white-collar crime. A legal company, committing organized and transnational fraud. Imran will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[Freeze-frame.] Who holds the power in this deal? Look at the network. [Trace the yellow lines.]
On one side is the US Army, buying through open online tenders. On the other is a stockpile in Albania. They can't connect directly. In the middle sit two brokers: AEY, with a clean American name, and Henry, who has the supply but is on a terrorist watch list.
[Right cards.] This is exactly Morselli's network model: power belongs to the brokers who connect separate worlds. Albini's patron–client model fits too: Henry trades access to supply for a share of the profits.
But Cressey's hierarchical model does not fit at all. There is no boss, no ranks, no family. Next, the corruption that made it all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[Freeze-frame.] Where is the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[Bottom.] This is state-corporate crime: the harm came from a government policy of outsourcing war to the lowest bidder. And we also see the crime–terror nexus: a watch-listed dealer simply borrows a clean company's name.
Akif, Act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 you, Imran. Act Three: the Fall.
Scene nine: David discovers the ammunition was made in China, which is banned under a US arms embargo, and by the contract itself.
Scene ten: instead of reporting it, they have the rounds repacked to remove the Chinese markings. This really happened.
Scene eleven: David is threatened in Albania, Efraim cheats him out of his money, and their friendship collapses.
Scene twelve: the federal government steps in. In real life, the case was exposed by journalists in 2008. Efraim was sentenced to four years in prison, and David, who cooperated, to seven months of house arrest.
[Pause.] One last freeze-frame. How did they justify all this to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[Freeze-frame.] How do two ordinary young men commit fraud on this scale without feeling like criminals? Sykes and Matza call it techniques of neutralization. Offenders know the rules, but use excuses to switch their conscience off.
[Read each yellow line like a subtitle.]
Denial of injury: "The troops still get bullets that work. Who is harmed?"
Condemnation of the condemners: "The government buys from shady sources too."
Denial of responsibility: "We didn't make the bullets, we just moved them."
Appeal to higher loyalties: "I'm doing this for my family."
These are our paraphrases of the characters' attitudes, not exact lines. And notice: every excuse sounds like normal business talk. That is exactly what makes white-collar crime so hard to see.
Nishit will give the critics'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So what is our critics' verdict? Accurate in substance, exaggerated in style.
[Go row by row.] Conceptual accuracy: four stars. The film fits the UN definition, the enterprise model and the network model very closely.
Factual accuracy: four stars. The contract, the repackaging and the sentences are all true. Henry Girard is a composite character, inspired by a real Swiss broker.
But realism of tone: only two stars. The comedy glamorizes the money and makes fraud look harmless, and the threats in Albania were invented.
And systemic insight: two stars. The film blames two young men, but skips the failure of the system, and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here is our final cut. [Read slowly.] Organized crime doesn't always carry guns. Sometimes it sells them, with a government contract.
The answer to our big question: AEY is organized crime under the UN definition, but it is not the mafia. It is organized white-collar crime, best explained by the enterprise and network models.
And a lesson for Bangladesh. Our own large procurement projects also depend on middlemen and intermediaries. Vetting contractors, disclosing who really owns a company, and checking where goods come from are not just paperwork. They are crime prevention.
[Point to the credits.] That's a wrap from Group 6. Thank you, and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EE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USE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AN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USE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2.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jector watermark" descr="preencoded.png">    </p:cNvPr>
          <p:cNvPicPr>
            <a:picLocks noChangeAspect="1"/>
          </p:cNvPicPr>
          <p:nvPr/>
        </p:nvPicPr>
        <p:blipFill>
          <a:blip r:embed="rId1"/>
          <a:stretch>
            <a:fillRect/>
          </a:stretch>
        </p:blipFill>
        <p:spPr>
          <a:xfrm>
            <a:off x="7223760" y="822960"/>
            <a:ext cx="4937760" cy="4937760"/>
          </a:xfrm>
          <a:prstGeom prst="rect">
            <a:avLst/>
          </a:prstGeom>
        </p:spPr>
      </p:pic>
      <p:sp>
        <p:nvSpPr>
          <p:cNvPr id="3" name="rec dot"/>
          <p:cNvSpPr/>
          <p:nvPr/>
        </p:nvSpPr>
        <p:spPr>
          <a:xfrm>
            <a:off x="548640" y="1298448"/>
            <a:ext cx="182880" cy="182880"/>
          </a:xfrm>
          <a:prstGeom prst="ellipse">
            <a:avLst/>
          </a:prstGeom>
          <a:solidFill>
            <a:srgbClr val="E5383B"/>
          </a:solidFill>
          <a:ln/>
        </p:spPr>
      </p:sp>
      <p:sp>
        <p:nvSpPr>
          <p:cNvPr id="4" name="Text 1"/>
          <p:cNvSpPr txBox="1"/>
          <p:nvPr/>
        </p:nvSpPr>
        <p:spPr>
          <a:xfrm>
            <a:off x="841248" y="1234440"/>
            <a:ext cx="91440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NOW SHOWING  ·  MCCJ 527 ORGANIZED CRIME AND CORRUPTION</a:t>
            </a:r>
            <a:endParaRPr lang="en-US" sz="1300" dirty="0"/>
          </a:p>
        </p:txBody>
      </p:sp>
      <p:sp>
        <p:nvSpPr>
          <p:cNvPr id="5" name="Text 2"/>
          <p:cNvSpPr txBox="1"/>
          <p:nvPr/>
        </p:nvSpPr>
        <p:spPr>
          <a:xfrm>
            <a:off x="548640" y="1783080"/>
            <a:ext cx="8686800" cy="1325880"/>
          </a:xfrm>
          <a:prstGeom prst="rect">
            <a:avLst/>
          </a:prstGeom>
          <a:noFill/>
          <a:ln/>
        </p:spPr>
        <p:txBody>
          <a:bodyPr wrap="square" lIns="0" tIns="0" rIns="0" bIns="0" rtlCol="0" anchor="ctr"/>
          <a:lstStyle/>
          <a:p>
            <a:pPr indent="0" marL="0">
              <a:buNone/>
            </a:pPr>
            <a:r>
              <a:rPr lang="en-US" sz="8000" b="1" spc="600" kern="0" dirty="0">
                <a:solidFill>
                  <a:schemeClr val="bg1"/>
                </a:solidFill>
                <a:latin typeface="Bookman Old Style" pitchFamily="34" charset="0"/>
                <a:ea typeface="Bookman Old Style" pitchFamily="34" charset="-122"/>
                <a:cs typeface="Bookman Old Style" pitchFamily="34" charset="-120"/>
              </a:rPr>
              <a:t>WAR DOGS</a:t>
            </a:r>
            <a:endParaRPr lang="en-US" sz="8000" dirty="0"/>
          </a:p>
        </p:txBody>
      </p:sp>
      <p:sp>
        <p:nvSpPr>
          <p:cNvPr id="6" name="Text 3"/>
          <p:cNvSpPr txBox="1"/>
          <p:nvPr/>
        </p:nvSpPr>
        <p:spPr>
          <a:xfrm>
            <a:off x="548640" y="3108960"/>
            <a:ext cx="8686800" cy="640080"/>
          </a:xfrm>
          <a:prstGeom prst="rect">
            <a:avLst/>
          </a:prstGeom>
          <a:noFill/>
          <a:ln/>
        </p:spPr>
        <p:txBody>
          <a:bodyPr wrap="square" lIns="0" tIns="0" rIns="0" bIns="0" rtlCol="0" anchor="ctr"/>
          <a:lstStyle/>
          <a:p>
            <a:pPr indent="0" marL="0">
              <a:buNone/>
            </a:pPr>
            <a:r>
              <a:rPr lang="en-US" sz="3000" i="1" dirty="0">
                <a:solidFill>
                  <a:srgbClr val="FFD84D"/>
                </a:solidFill>
                <a:latin typeface="Bookman Old Style" pitchFamily="34" charset="0"/>
                <a:ea typeface="Bookman Old Style" pitchFamily="34" charset="-122"/>
                <a:cs typeface="Bookman Old Style" pitchFamily="34" charset="-120"/>
              </a:rPr>
              <a:t>A Criminologist’s Director’s Cut</a:t>
            </a:r>
            <a:endParaRPr lang="en-US" sz="3000" dirty="0"/>
          </a:p>
        </p:txBody>
      </p:sp>
      <p:sp>
        <p:nvSpPr>
          <p:cNvPr id="7" name="Text 4"/>
          <p:cNvSpPr txBox="1"/>
          <p:nvPr/>
        </p:nvSpPr>
        <p:spPr>
          <a:xfrm>
            <a:off x="548640" y="3840480"/>
            <a:ext cx="8229600" cy="411480"/>
          </a:xfrm>
          <a:prstGeom prst="rect">
            <a:avLst/>
          </a:prstGeom>
          <a:noFill/>
          <a:ln/>
        </p:spPr>
        <p:txBody>
          <a:bodyPr wrap="square" lIns="0" tIns="0" rIns="0" bIns="0" rtlCol="0" anchor="ctr"/>
          <a:lstStyle/>
          <a:p>
            <a:pPr indent="0" marL="0">
              <a:buNone/>
            </a:pPr>
            <a:r>
              <a:rPr lang="en-US" sz="1800" dirty="0">
                <a:solidFill>
                  <a:srgbClr val="D9D6CF"/>
                </a:solidFill>
              </a:rPr>
              <a:t>Three acts. Five crimes. One question: is this organized crime?</a:t>
            </a:r>
            <a:endParaRPr lang="en-US" sz="1800" dirty="0"/>
          </a:p>
        </p:txBody>
      </p:sp>
      <p:sp>
        <p:nvSpPr>
          <p:cNvPr id="8" name="Text 5"/>
          <p:cNvSpPr txBox="1"/>
          <p:nvPr/>
        </p:nvSpPr>
        <p:spPr>
          <a:xfrm>
            <a:off x="548640" y="4480560"/>
            <a:ext cx="8229600" cy="2011680"/>
          </a:xfrm>
          <a:prstGeom prst="rect">
            <a:avLst/>
          </a:prstGeom>
          <a:noFill/>
          <a:ln/>
        </p:spPr>
        <p:txBody>
          <a:bodyPr wrap="square" lIns="0" tIns="0" rIns="0" bIns="0" rtlCol="0" anchor="t"/>
          <a:lstStyle/>
          <a:p>
            <a:pPr indent="0" marL="0">
              <a:spcAft>
                <a:spcPts val="400"/>
              </a:spcAft>
              <a:buNone/>
            </a:pPr>
            <a:r>
              <a:rPr lang="en-US" sz="1100" b="1" spc="200" kern="0" dirty="0">
                <a:solidFill>
                  <a:srgbClr val="A9ADB5"/>
                </a:solidFill>
                <a:latin typeface="Courier New" pitchFamily="34" charset="0"/>
                <a:ea typeface="Courier New" pitchFamily="34" charset="-122"/>
                <a:cs typeface="Courier New" pitchFamily="34" charset="-120"/>
              </a:rPr>
              <a:t>PRESENTED BY GROUP 6</a:t>
            </a:r>
            <a:endParaRPr lang="en-US" sz="1100" dirty="0"/>
          </a:p>
          <a:p>
            <a:pPr indent="0" marL="0">
              <a:spcAft>
                <a:spcPts val="400"/>
              </a:spcAft>
              <a:buNone/>
            </a:pPr>
            <a:r>
              <a:rPr lang="en-US" sz="1300" dirty="0">
                <a:solidFill>
                  <a:schemeClr val="bg1"/>
                </a:solidFill>
              </a:rPr>
              <a:t>27  Minhaz Ahamed Khan Nabin   ·   08  Jesmin Naher Sweety</a:t>
            </a:r>
            <a:endParaRPr lang="en-US" sz="1100" dirty="0"/>
          </a:p>
          <a:p>
            <a:pPr indent="0" marL="0">
              <a:spcAft>
                <a:spcPts val="400"/>
              </a:spcAft>
              <a:buNone/>
            </a:pPr>
            <a:r>
              <a:rPr lang="en-US" sz="1300" dirty="0">
                <a:solidFill>
                  <a:schemeClr val="bg1"/>
                </a:solidFill>
              </a:rPr>
              <a:t>37  Md. Abir Mahmud Jakaria   ·   33  Imran Mridha</a:t>
            </a:r>
            <a:endParaRPr lang="en-US" sz="1100" dirty="0"/>
          </a:p>
          <a:p>
            <a:pPr indent="0" marL="0">
              <a:spcAft>
                <a:spcPts val="400"/>
              </a:spcAft>
              <a:buNone/>
            </a:pPr>
            <a:r>
              <a:rPr lang="en-US" sz="1300" dirty="0">
                <a:solidFill>
                  <a:schemeClr val="bg1"/>
                </a:solidFill>
              </a:rPr>
              <a:t>24  Ahnaf Akif   ·   21  Nishit Kumer</a:t>
            </a:r>
            <a:endParaRPr lang="en-US" sz="1100" dirty="0"/>
          </a:p>
          <a:p>
            <a:pPr indent="0" marL="0">
              <a:spcAft>
                <a:spcPts val="400"/>
              </a:spcAft>
              <a:buNone/>
            </a:pPr>
            <a:r>
              <a:rPr lang="en-US" sz="1300" dirty="0">
                <a:solidFill>
                  <a:srgbClr val="A9ADB5"/>
                </a:solidFill>
              </a:rPr>
              <a:t>Department of Criminology, University of Dhaka</a:t>
            </a:r>
            <a:endParaRPr lang="en-US" sz="1100" dirty="0"/>
          </a:p>
          <a:p>
            <a:pPr indent="0" marL="0">
              <a:spcAft>
                <a:spcPts val="400"/>
              </a:spcAft>
              <a:buNone/>
            </a:pPr>
            <a:r>
              <a:rPr lang="en-US" sz="1200" i="1" dirty="0">
                <a:solidFill>
                  <a:srgbClr val="A9ADB5"/>
                </a:solidFill>
              </a:rPr>
              <a:t>Submitted to: Md. Rezaul Karim Shohag, Assistant Professor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TRAILER  ·  BEFORE WE PRESS PLAY</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 buddy comedy that hides a real organized fraud</a:t>
            </a:r>
            <a:endParaRPr lang="en-US" sz="3000" dirty="0"/>
          </a:p>
        </p:txBody>
      </p:sp>
      <p:sp>
        <p:nvSpPr>
          <p:cNvPr id="5" name="Text 3"/>
          <p:cNvSpPr txBox="1"/>
          <p:nvPr/>
        </p:nvSpPr>
        <p:spPr>
          <a:xfrm>
            <a:off x="548640" y="1737360"/>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DIRECTOR</a:t>
            </a:r>
            <a:endParaRPr lang="en-US" sz="1200" dirty="0"/>
          </a:p>
        </p:txBody>
      </p:sp>
      <p:sp>
        <p:nvSpPr>
          <p:cNvPr id="6" name="Text 4"/>
          <p:cNvSpPr txBox="1"/>
          <p:nvPr/>
        </p:nvSpPr>
        <p:spPr>
          <a:xfrm>
            <a:off x="2514600" y="1737360"/>
            <a:ext cx="4572000" cy="603504"/>
          </a:xfrm>
          <a:prstGeom prst="rect">
            <a:avLst/>
          </a:prstGeom>
          <a:noFill/>
          <a:ln/>
        </p:spPr>
        <p:txBody>
          <a:bodyPr wrap="square" lIns="0" tIns="0" rIns="0" bIns="0" rtlCol="0" anchor="ctr"/>
          <a:lstStyle/>
          <a:p>
            <a:pPr indent="0" marL="0">
              <a:buNone/>
            </a:pPr>
            <a:r>
              <a:rPr lang="en-US" sz="1600" dirty="0">
                <a:solidFill>
                  <a:schemeClr val="bg1"/>
                </a:solidFill>
              </a:rPr>
              <a:t>Todd Phillips</a:t>
            </a:r>
            <a:endParaRPr lang="en-US" sz="1600" dirty="0"/>
          </a:p>
        </p:txBody>
      </p:sp>
      <p:sp>
        <p:nvSpPr>
          <p:cNvPr id="7" name="Shape 5"/>
          <p:cNvSpPr/>
          <p:nvPr/>
        </p:nvSpPr>
        <p:spPr>
          <a:xfrm>
            <a:off x="548640" y="2395728"/>
            <a:ext cx="6537960" cy="0"/>
          </a:xfrm>
          <a:prstGeom prst="line">
            <a:avLst/>
          </a:prstGeom>
          <a:noFill/>
          <a:ln w="12700">
            <a:solidFill>
              <a:srgbClr val="33363D"/>
            </a:solidFill>
            <a:prstDash val="solid"/>
          </a:ln>
        </p:spPr>
      </p:sp>
      <p:sp>
        <p:nvSpPr>
          <p:cNvPr id="8" name="Text 6"/>
          <p:cNvSpPr txBox="1"/>
          <p:nvPr/>
        </p:nvSpPr>
        <p:spPr>
          <a:xfrm>
            <a:off x="548640" y="2450592"/>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YEAR · STUDIO</a:t>
            </a:r>
            <a:endParaRPr lang="en-US" sz="1200" dirty="0"/>
          </a:p>
        </p:txBody>
      </p:sp>
      <p:sp>
        <p:nvSpPr>
          <p:cNvPr id="9" name="Text 7"/>
          <p:cNvSpPr txBox="1"/>
          <p:nvPr/>
        </p:nvSpPr>
        <p:spPr>
          <a:xfrm>
            <a:off x="2514600" y="2450592"/>
            <a:ext cx="4572000" cy="603504"/>
          </a:xfrm>
          <a:prstGeom prst="rect">
            <a:avLst/>
          </a:prstGeom>
          <a:noFill/>
          <a:ln/>
        </p:spPr>
        <p:txBody>
          <a:bodyPr wrap="square" lIns="0" tIns="0" rIns="0" bIns="0" rtlCol="0" anchor="ctr"/>
          <a:lstStyle/>
          <a:p>
            <a:pPr indent="0" marL="0">
              <a:buNone/>
            </a:pPr>
            <a:r>
              <a:rPr lang="en-US" sz="1600" dirty="0">
                <a:solidFill>
                  <a:schemeClr val="bg1"/>
                </a:solidFill>
              </a:rPr>
              <a:t>2016 · Warner Bros.</a:t>
            </a:r>
            <a:endParaRPr lang="en-US" sz="1600" dirty="0"/>
          </a:p>
        </p:txBody>
      </p:sp>
      <p:sp>
        <p:nvSpPr>
          <p:cNvPr id="10" name="Shape 8"/>
          <p:cNvSpPr/>
          <p:nvPr/>
        </p:nvSpPr>
        <p:spPr>
          <a:xfrm>
            <a:off x="548640" y="3108960"/>
            <a:ext cx="6537960" cy="0"/>
          </a:xfrm>
          <a:prstGeom prst="line">
            <a:avLst/>
          </a:prstGeom>
          <a:noFill/>
          <a:ln w="12700">
            <a:solidFill>
              <a:srgbClr val="33363D"/>
            </a:solidFill>
            <a:prstDash val="solid"/>
          </a:ln>
        </p:spPr>
      </p:sp>
      <p:sp>
        <p:nvSpPr>
          <p:cNvPr id="11" name="Text 9"/>
          <p:cNvSpPr txBox="1"/>
          <p:nvPr/>
        </p:nvSpPr>
        <p:spPr>
          <a:xfrm>
            <a:off x="548640" y="3163824"/>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GENRE</a:t>
            </a:r>
            <a:endParaRPr lang="en-US" sz="1200" dirty="0"/>
          </a:p>
        </p:txBody>
      </p:sp>
      <p:sp>
        <p:nvSpPr>
          <p:cNvPr id="12" name="Text 10"/>
          <p:cNvSpPr txBox="1"/>
          <p:nvPr/>
        </p:nvSpPr>
        <p:spPr>
          <a:xfrm>
            <a:off x="2514600" y="3163824"/>
            <a:ext cx="4572000" cy="603504"/>
          </a:xfrm>
          <a:prstGeom prst="rect">
            <a:avLst/>
          </a:prstGeom>
          <a:noFill/>
          <a:ln/>
        </p:spPr>
        <p:txBody>
          <a:bodyPr wrap="square" lIns="0" tIns="0" rIns="0" bIns="0" rtlCol="0" anchor="ctr"/>
          <a:lstStyle/>
          <a:p>
            <a:pPr indent="0" marL="0">
              <a:buNone/>
            </a:pPr>
            <a:r>
              <a:rPr lang="en-US" sz="1600" dirty="0">
                <a:solidFill>
                  <a:schemeClr val="bg1"/>
                </a:solidFill>
              </a:rPr>
              <a:t>Crime comedy-drama (based on true events)</a:t>
            </a:r>
            <a:endParaRPr lang="en-US" sz="1600" dirty="0"/>
          </a:p>
        </p:txBody>
      </p:sp>
      <p:sp>
        <p:nvSpPr>
          <p:cNvPr id="13" name="Shape 11"/>
          <p:cNvSpPr/>
          <p:nvPr/>
        </p:nvSpPr>
        <p:spPr>
          <a:xfrm>
            <a:off x="548640" y="3822192"/>
            <a:ext cx="6537960" cy="0"/>
          </a:xfrm>
          <a:prstGeom prst="line">
            <a:avLst/>
          </a:prstGeom>
          <a:noFill/>
          <a:ln w="12700">
            <a:solidFill>
              <a:srgbClr val="33363D"/>
            </a:solidFill>
            <a:prstDash val="solid"/>
          </a:ln>
        </p:spPr>
      </p:sp>
      <p:sp>
        <p:nvSpPr>
          <p:cNvPr id="14" name="Text 12"/>
          <p:cNvSpPr txBox="1"/>
          <p:nvPr/>
        </p:nvSpPr>
        <p:spPr>
          <a:xfrm>
            <a:off x="548640" y="3877056"/>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STARRING</a:t>
            </a:r>
            <a:endParaRPr lang="en-US" sz="1200" dirty="0"/>
          </a:p>
        </p:txBody>
      </p:sp>
      <p:sp>
        <p:nvSpPr>
          <p:cNvPr id="15" name="Text 13"/>
          <p:cNvSpPr txBox="1"/>
          <p:nvPr/>
        </p:nvSpPr>
        <p:spPr>
          <a:xfrm>
            <a:off x="2514600" y="3877056"/>
            <a:ext cx="4572000" cy="603504"/>
          </a:xfrm>
          <a:prstGeom prst="rect">
            <a:avLst/>
          </a:prstGeom>
          <a:noFill/>
          <a:ln/>
        </p:spPr>
        <p:txBody>
          <a:bodyPr wrap="square" lIns="0" tIns="0" rIns="0" bIns="0" rtlCol="0" anchor="ctr"/>
          <a:lstStyle/>
          <a:p>
            <a:pPr indent="0" marL="0">
              <a:buNone/>
            </a:pPr>
            <a:r>
              <a:rPr lang="en-US" sz="1600" dirty="0">
                <a:solidFill>
                  <a:schemeClr val="bg1"/>
                </a:solidFill>
              </a:rPr>
              <a:t>Jonah Hill · Miles Teller · Ana de Armas · Bradley Cooper</a:t>
            </a:r>
            <a:endParaRPr lang="en-US" sz="1600" dirty="0"/>
          </a:p>
        </p:txBody>
      </p:sp>
      <p:sp>
        <p:nvSpPr>
          <p:cNvPr id="16" name="Shape 14"/>
          <p:cNvSpPr/>
          <p:nvPr/>
        </p:nvSpPr>
        <p:spPr>
          <a:xfrm>
            <a:off x="548640" y="4535424"/>
            <a:ext cx="6537960" cy="0"/>
          </a:xfrm>
          <a:prstGeom prst="line">
            <a:avLst/>
          </a:prstGeom>
          <a:noFill/>
          <a:ln w="12700">
            <a:solidFill>
              <a:srgbClr val="33363D"/>
            </a:solidFill>
            <a:prstDash val="solid"/>
          </a:ln>
        </p:spPr>
      </p:sp>
      <p:sp>
        <p:nvSpPr>
          <p:cNvPr id="17" name="Text 15"/>
          <p:cNvSpPr txBox="1"/>
          <p:nvPr/>
        </p:nvSpPr>
        <p:spPr>
          <a:xfrm>
            <a:off x="548640" y="4590288"/>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SOURCE</a:t>
            </a:r>
            <a:endParaRPr lang="en-US" sz="1200" dirty="0"/>
          </a:p>
        </p:txBody>
      </p:sp>
      <p:sp>
        <p:nvSpPr>
          <p:cNvPr id="18" name="Text 16"/>
          <p:cNvSpPr txBox="1"/>
          <p:nvPr/>
        </p:nvSpPr>
        <p:spPr>
          <a:xfrm>
            <a:off x="2514600" y="4590288"/>
            <a:ext cx="4572000" cy="603504"/>
          </a:xfrm>
          <a:prstGeom prst="rect">
            <a:avLst/>
          </a:prstGeom>
          <a:noFill/>
          <a:ln/>
        </p:spPr>
        <p:txBody>
          <a:bodyPr wrap="square" lIns="0" tIns="0" rIns="0" bIns="0" rtlCol="0" anchor="ctr"/>
          <a:lstStyle/>
          <a:p>
            <a:pPr indent="0" marL="0">
              <a:buNone/>
            </a:pPr>
            <a:r>
              <a:rPr lang="en-US" sz="1600" dirty="0">
                <a:solidFill>
                  <a:schemeClr val="bg1"/>
                </a:solidFill>
              </a:rPr>
              <a:t>Guy Lawson, Rolling Stone (2011); Arms and the Dudes (2015)</a:t>
            </a:r>
            <a:endParaRPr lang="en-US" sz="1600" dirty="0"/>
          </a:p>
        </p:txBody>
      </p:sp>
      <p:sp>
        <p:nvSpPr>
          <p:cNvPr id="19" name="Shape 17"/>
          <p:cNvSpPr/>
          <p:nvPr/>
        </p:nvSpPr>
        <p:spPr>
          <a:xfrm>
            <a:off x="548640" y="5248656"/>
            <a:ext cx="6537960" cy="0"/>
          </a:xfrm>
          <a:prstGeom prst="line">
            <a:avLst/>
          </a:prstGeom>
          <a:noFill/>
          <a:ln w="12700">
            <a:solidFill>
              <a:srgbClr val="33363D"/>
            </a:solidFill>
            <a:prstDash val="solid"/>
          </a:ln>
        </p:spPr>
      </p:sp>
      <p:sp>
        <p:nvSpPr>
          <p:cNvPr id="20" name="thesis"/>
          <p:cNvSpPr/>
          <p:nvPr/>
        </p:nvSpPr>
        <p:spPr>
          <a:xfrm>
            <a:off x="7543800" y="1737360"/>
            <a:ext cx="4099255" cy="4023360"/>
          </a:xfrm>
          <a:prstGeom prst="rect">
            <a:avLst/>
          </a:prstGeom>
          <a:solidFill>
            <a:srgbClr val="1B1D22"/>
          </a:solidFill>
          <a:ln w="19050">
            <a:solidFill>
              <a:srgbClr val="FFD84D"/>
            </a:solidFill>
            <a:prstDash val="solid"/>
          </a:ln>
        </p:spPr>
      </p:sp>
      <p:sp>
        <p:nvSpPr>
          <p:cNvPr id="21" name="Text 19"/>
          <p:cNvSpPr txBox="1"/>
          <p:nvPr/>
        </p:nvSpPr>
        <p:spPr>
          <a:xfrm>
            <a:off x="7863840" y="1920240"/>
            <a:ext cx="3459175" cy="274320"/>
          </a:xfrm>
          <a:prstGeom prst="rect">
            <a:avLst/>
          </a:prstGeom>
          <a:noFill/>
          <a:ln/>
        </p:spPr>
        <p:txBody>
          <a:bodyPr wrap="square" lIns="0" tIns="0" rIns="0" bIns="0" rtlCol="0" anchor="ctr"/>
          <a:lstStyle/>
          <a:p>
            <a:pPr indent="0" marL="0">
              <a:buNone/>
            </a:pPr>
            <a:r>
              <a:rPr lang="en-US" sz="1200" b="1" spc="200" kern="0" dirty="0">
                <a:solidFill>
                  <a:srgbClr val="FFD84D"/>
                </a:solidFill>
                <a:latin typeface="Courier New" pitchFamily="34" charset="0"/>
                <a:ea typeface="Courier New" pitchFamily="34" charset="-122"/>
                <a:cs typeface="Courier New" pitchFamily="34" charset="-120"/>
              </a:rPr>
              <a:t>OUR THESIS</a:t>
            </a:r>
            <a:endParaRPr lang="en-US" sz="1200" dirty="0"/>
          </a:p>
        </p:txBody>
      </p:sp>
      <p:sp>
        <p:nvSpPr>
          <p:cNvPr id="22" name="Text 20"/>
          <p:cNvSpPr txBox="1"/>
          <p:nvPr/>
        </p:nvSpPr>
        <p:spPr>
          <a:xfrm>
            <a:off x="7863840" y="2286000"/>
            <a:ext cx="3459175" cy="1920240"/>
          </a:xfrm>
          <a:prstGeom prst="rect">
            <a:avLst/>
          </a:prstGeom>
          <a:noFill/>
          <a:ln/>
        </p:spPr>
        <p:txBody>
          <a:bodyPr wrap="square" lIns="0" tIns="0" rIns="0" bIns="0" rtlCol="0" anchor="t"/>
          <a:lstStyle/>
          <a:p>
            <a:pPr indent="0" marL="0">
              <a:buNone/>
            </a:pPr>
            <a:r>
              <a:rPr lang="en-US" sz="2000" b="1" dirty="0">
                <a:solidFill>
                  <a:schemeClr val="bg1"/>
                </a:solidFill>
                <a:latin typeface="Bookman Old Style" pitchFamily="34" charset="0"/>
                <a:ea typeface="Bookman Old Style" pitchFamily="34" charset="-122"/>
                <a:cs typeface="Bookman Old Style" pitchFamily="34" charset="-120"/>
              </a:rPr>
              <a:t>Organized crime doesn’t always carry guns. Sometimes it sells them, with a government contract.</a:t>
            </a:r>
            <a:endParaRPr lang="en-US" sz="2000" dirty="0"/>
          </a:p>
        </p:txBody>
      </p:sp>
      <p:sp>
        <p:nvSpPr>
          <p:cNvPr id="23" name="Text 21"/>
          <p:cNvSpPr txBox="1"/>
          <p:nvPr/>
        </p:nvSpPr>
        <p:spPr>
          <a:xfrm>
            <a:off x="7863840" y="4480560"/>
            <a:ext cx="3459175" cy="1005840"/>
          </a:xfrm>
          <a:prstGeom prst="rect">
            <a:avLst/>
          </a:prstGeom>
          <a:noFill/>
          <a:ln/>
        </p:spPr>
        <p:txBody>
          <a:bodyPr wrap="square" lIns="0" tIns="0" rIns="0" bIns="0" rtlCol="0" anchor="ctr"/>
          <a:lstStyle/>
          <a:p>
            <a:pPr indent="0" marL="0">
              <a:buNone/>
            </a:pPr>
            <a:r>
              <a:rPr lang="en-US" sz="3200" b="1" dirty="0">
                <a:solidFill>
                  <a:srgbClr val="FFD84D"/>
                </a:solidFill>
                <a:latin typeface="Bookman Old Style" pitchFamily="34" charset="0"/>
                <a:ea typeface="Bookman Old Style" pitchFamily="34" charset="-122"/>
                <a:cs typeface="Bookman Old Style" pitchFamily="34" charset="-120"/>
              </a:rPr>
              <a:t>$298M</a:t>
            </a:r>
            <a:pPr indent="0" marL="0">
              <a:buNone/>
            </a:pPr>
            <a:r>
              <a:rPr lang="en-US" sz="1300" dirty="0">
                <a:solidFill>
                  <a:srgbClr val="D9D6CF"/>
                </a:solidFill>
              </a:rPr>
              <a:t>   real Pentagon contract won by AEY Inc., 2007</a:t>
            </a:r>
            <a:endParaRPr lang="en-US" sz="3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 two friends find gold in the Pentagon’s “crumbs”</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 · MIAMI</a:t>
            </a:r>
            <a:endParaRPr lang="en-US" sz="1100" dirty="0"/>
          </a:p>
        </p:txBody>
      </p:sp>
      <p:sp>
        <p:nvSpPr>
          <p:cNvPr id="64" name="Broke and desperate circle"/>
          <p:cNvSpPr/>
          <p:nvPr/>
        </p:nvSpPr>
        <p:spPr>
          <a:xfrm>
            <a:off x="914400" y="2606040"/>
            <a:ext cx="566928" cy="566928"/>
          </a:xfrm>
          <a:prstGeom prst="ellipse">
            <a:avLst/>
          </a:prstGeom>
          <a:solidFill>
            <a:srgbClr val="3A3D44"/>
          </a:solidFill>
          <a:ln/>
        </p:spPr>
      </p:sp>
      <p:pic>
        <p:nvPicPr>
          <p:cNvPr id="65" name="Broke and desperate icon" descr="Broke and desperate">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Broke and desperate</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a massage therapist, fails selling bedsheets to care homes. His girlfriend is pregnant. He needs money fast.</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2 · AEY INC.</a:t>
            </a:r>
            <a:endParaRPr lang="en-US" sz="1100" dirty="0"/>
          </a:p>
        </p:txBody>
      </p:sp>
      <p:sp>
        <p:nvSpPr>
          <p:cNvPr id="70" name="The crumbs circle"/>
          <p:cNvSpPr/>
          <p:nvPr/>
        </p:nvSpPr>
        <p:spPr>
          <a:xfrm>
            <a:off x="3642284" y="2606040"/>
            <a:ext cx="566928" cy="566928"/>
          </a:xfrm>
          <a:prstGeom prst="ellipse">
            <a:avLst/>
          </a:prstGeom>
          <a:solidFill>
            <a:srgbClr val="3A3D44"/>
          </a:solidFill>
          <a:ln/>
        </p:spPr>
      </p:sp>
      <p:pic>
        <p:nvPicPr>
          <p:cNvPr id="71" name="The crumbs icon" descr="The crumbs">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crumbs</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Old friend Efraim bids online for small military contracts that big firms ignore. David joins him.</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3 · IRAQ</a:t>
            </a:r>
            <a:endParaRPr lang="en-US" sz="1100" dirty="0"/>
          </a:p>
        </p:txBody>
      </p:sp>
      <p:sp>
        <p:nvSpPr>
          <p:cNvPr id="76" name="The risky run circle"/>
          <p:cNvSpPr/>
          <p:nvPr/>
        </p:nvSpPr>
        <p:spPr>
          <a:xfrm>
            <a:off x="6370168" y="2606040"/>
            <a:ext cx="566928" cy="566928"/>
          </a:xfrm>
          <a:prstGeom prst="ellipse">
            <a:avLst/>
          </a:prstGeom>
          <a:solidFill>
            <a:srgbClr val="E5383B"/>
          </a:solidFill>
          <a:ln/>
        </p:spPr>
      </p:sp>
      <p:pic>
        <p:nvPicPr>
          <p:cNvPr id="77" name="The risky run icon" descr="The risky ru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risky run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 stuck shipment of pistols is pushed through Jordan into Iraq with help from fixers. They get paid.</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4 · HIGH LIFE</a:t>
            </a:r>
            <a:endParaRPr lang="en-US" sz="1100" dirty="0"/>
          </a:p>
        </p:txBody>
      </p:sp>
      <p:sp>
        <p:nvSpPr>
          <p:cNvPr id="82" name="Easy money circle"/>
          <p:cNvSpPr/>
          <p:nvPr/>
        </p:nvSpPr>
        <p:spPr>
          <a:xfrm>
            <a:off x="9098051" y="2606040"/>
            <a:ext cx="566928" cy="566928"/>
          </a:xfrm>
          <a:prstGeom prst="ellipse">
            <a:avLst/>
          </a:prstGeom>
          <a:solidFill>
            <a:srgbClr val="3A3D44"/>
          </a:solidFill>
          <a:ln/>
        </p:spPr>
      </p:sp>
      <p:pic>
        <p:nvPicPr>
          <p:cNvPr id="83" name="Easy money icon" descr="Easy money">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Easy money</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Bigger contracts, a new office, new cars. David starts hiding the truth from his partner, Iz.</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“They don’t fight the war. They just sell to it.”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END OF ACT I  ·  WHAT IS HAPPENING HERE?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From legal bidding to grey deals: the enterprise model</a:t>
            </a:r>
            <a:endParaRPr lang="en-US" sz="3000" dirty="0"/>
          </a:p>
        </p:txBody>
      </p:sp>
      <p:sp>
        <p:nvSpPr>
          <p:cNvPr id="7" name="spectrum 1"/>
          <p:cNvSpPr/>
          <p:nvPr/>
        </p:nvSpPr>
        <p:spPr>
          <a:xfrm>
            <a:off x="548640" y="2148840"/>
            <a:ext cx="2218883" cy="292608"/>
          </a:xfrm>
          <a:prstGeom prst="rect">
            <a:avLst/>
          </a:prstGeom>
          <a:solidFill>
            <a:srgbClr val="4F8A5B"/>
          </a:solidFill>
          <a:ln/>
        </p:spPr>
      </p:sp>
      <p:sp>
        <p:nvSpPr>
          <p:cNvPr id="8" name="spectrum 2"/>
          <p:cNvSpPr/>
          <p:nvPr/>
        </p:nvSpPr>
        <p:spPr>
          <a:xfrm>
            <a:off x="2767523" y="2148840"/>
            <a:ext cx="2218883" cy="292608"/>
          </a:xfrm>
          <a:prstGeom prst="rect">
            <a:avLst/>
          </a:prstGeom>
          <a:solidFill>
            <a:srgbClr val="7E9A55"/>
          </a:solidFill>
          <a:ln/>
        </p:spPr>
      </p:sp>
      <p:sp>
        <p:nvSpPr>
          <p:cNvPr id="9" name="spectrum 3"/>
          <p:cNvSpPr/>
          <p:nvPr/>
        </p:nvSpPr>
        <p:spPr>
          <a:xfrm>
            <a:off x="4986406" y="2148840"/>
            <a:ext cx="2218883" cy="292608"/>
          </a:xfrm>
          <a:prstGeom prst="rect">
            <a:avLst/>
          </a:prstGeom>
          <a:solidFill>
            <a:srgbClr val="C9A227"/>
          </a:solidFill>
          <a:ln/>
        </p:spPr>
      </p:sp>
      <p:sp>
        <p:nvSpPr>
          <p:cNvPr id="10" name="spectrum 4"/>
          <p:cNvSpPr/>
          <p:nvPr/>
        </p:nvSpPr>
        <p:spPr>
          <a:xfrm>
            <a:off x="7205289" y="2148840"/>
            <a:ext cx="2218883" cy="292608"/>
          </a:xfrm>
          <a:prstGeom prst="rect">
            <a:avLst/>
          </a:prstGeom>
          <a:solidFill>
            <a:srgbClr val="D9772B"/>
          </a:solidFill>
          <a:ln/>
        </p:spPr>
      </p:sp>
      <p:sp>
        <p:nvSpPr>
          <p:cNvPr id="11" name="spectrum 5"/>
          <p:cNvSpPr/>
          <p:nvPr/>
        </p:nvSpPr>
        <p:spPr>
          <a:xfrm>
            <a:off x="9424172" y="2148840"/>
            <a:ext cx="2218883" cy="292608"/>
          </a:xfrm>
          <a:prstGeom prst="rect">
            <a:avLst/>
          </a:prstGeom>
          <a:solidFill>
            <a:srgbClr val="E5383B"/>
          </a:solidFill>
          <a:ln/>
        </p:spPr>
      </p:sp>
      <p:sp>
        <p:nvSpPr>
          <p:cNvPr id="12" name="Text 9"/>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dirty="0">
                <a:solidFill>
                  <a:srgbClr val="8FC79B"/>
                </a:solidFill>
                <a:latin typeface="Courier New" pitchFamily="34" charset="0"/>
                <a:ea typeface="Courier New" pitchFamily="34" charset="-122"/>
                <a:cs typeface="Courier New" pitchFamily="34" charset="-120"/>
              </a:rPr>
              <a:t>LEGAL BUSINESS</a:t>
            </a:r>
            <a:endParaRPr lang="en-US" sz="1100" dirty="0"/>
          </a:p>
        </p:txBody>
      </p:sp>
      <p:sp>
        <p:nvSpPr>
          <p:cNvPr id="13" name="Text 10"/>
          <p:cNvSpPr txBox="1"/>
          <p:nvPr/>
        </p:nvSpPr>
        <p:spPr>
          <a:xfrm>
            <a:off x="8899855" y="1783080"/>
            <a:ext cx="2743200" cy="274320"/>
          </a:xfrm>
          <a:prstGeom prst="rect">
            <a:avLst/>
          </a:prstGeom>
          <a:noFill/>
          <a:ln/>
        </p:spPr>
        <p:txBody>
          <a:bodyPr wrap="square" lIns="0" tIns="0" rIns="0" bIns="0" rtlCol="0" anchor="ctr"/>
          <a:lstStyle/>
          <a:p>
            <a:pPr algn="r" indent="0" marL="0">
              <a:buNone/>
            </a:pPr>
            <a:r>
              <a:rPr lang="en-US" sz="1100" b="1" dirty="0">
                <a:solidFill>
                  <a:srgbClr val="FF8A8C"/>
                </a:solidFill>
                <a:latin typeface="Courier New" pitchFamily="34" charset="0"/>
                <a:ea typeface="Courier New" pitchFamily="34" charset="-122"/>
                <a:cs typeface="Courier New" pitchFamily="34" charset="-120"/>
              </a:rPr>
              <a:t>ILLEGAL ENTERPRISE</a:t>
            </a:r>
            <a:endParaRPr lang="en-US" sz="1100" dirty="0"/>
          </a:p>
        </p:txBody>
      </p:sp>
      <p:sp>
        <p:nvSpPr>
          <p:cNvPr id="14" name="marker 1"/>
          <p:cNvSpPr/>
          <p:nvPr/>
        </p:nvSpPr>
        <p:spPr>
          <a:xfrm>
            <a:off x="1326465" y="2487168"/>
            <a:ext cx="219456" cy="182880"/>
          </a:xfrm>
          <a:prstGeom prst="triangle">
            <a:avLst/>
          </a:prstGeom>
          <a:solidFill>
            <a:schemeClr val="bg1"/>
          </a:solidFill>
          <a:ln/>
        </p:spPr>
      </p:sp>
      <p:sp>
        <p:nvSpPr>
          <p:cNvPr id="15" name="Text 12"/>
          <p:cNvSpPr txBox="1"/>
          <p:nvPr/>
        </p:nvSpPr>
        <p:spPr>
          <a:xfrm>
            <a:off x="548640" y="2697480"/>
            <a:ext cx="2560320" cy="320040"/>
          </a:xfrm>
          <a:prstGeom prst="rect">
            <a:avLst/>
          </a:prstGeom>
          <a:noFill/>
          <a:ln/>
        </p:spPr>
        <p:txBody>
          <a:bodyPr wrap="square" lIns="0" tIns="0" rIns="0" bIns="0" rtlCol="0" anchor="ctr"/>
          <a:lstStyle/>
          <a:p>
            <a:pPr algn="l" indent="0" marL="0">
              <a:buNone/>
            </a:pPr>
            <a:r>
              <a:rPr lang="en-US" sz="1300" b="1" dirty="0">
                <a:solidFill>
                  <a:schemeClr val="bg1"/>
                </a:solidFill>
              </a:rPr>
              <a:t>Bidding on “crumbs”</a:t>
            </a:r>
            <a:endParaRPr lang="en-US" sz="1300" dirty="0"/>
          </a:p>
        </p:txBody>
      </p:sp>
      <p:sp>
        <p:nvSpPr>
          <p:cNvPr id="16" name="marker 2"/>
          <p:cNvSpPr/>
          <p:nvPr/>
        </p:nvSpPr>
        <p:spPr>
          <a:xfrm>
            <a:off x="5431399" y="2487168"/>
            <a:ext cx="219456" cy="182880"/>
          </a:xfrm>
          <a:prstGeom prst="triangle">
            <a:avLst/>
          </a:prstGeom>
          <a:solidFill>
            <a:schemeClr val="bg1"/>
          </a:solidFill>
          <a:ln/>
        </p:spPr>
      </p:sp>
      <p:sp>
        <p:nvSpPr>
          <p:cNvPr id="17" name="Text 14"/>
          <p:cNvSpPr txBox="1"/>
          <p:nvPr/>
        </p:nvSpPr>
        <p:spPr>
          <a:xfrm>
            <a:off x="4260967" y="2697480"/>
            <a:ext cx="2560320" cy="320040"/>
          </a:xfrm>
          <a:prstGeom prst="rect">
            <a:avLst/>
          </a:prstGeom>
          <a:noFill/>
          <a:ln/>
        </p:spPr>
        <p:txBody>
          <a:bodyPr wrap="square" lIns="0" tIns="0" rIns="0" bIns="0" rtlCol="0" anchor="ctr"/>
          <a:lstStyle/>
          <a:p>
            <a:pPr algn="ctr" indent="0" marL="0">
              <a:buNone/>
            </a:pPr>
            <a:r>
              <a:rPr lang="en-US" sz="1300" b="1" dirty="0">
                <a:solidFill>
                  <a:schemeClr val="bg1"/>
                </a:solidFill>
              </a:rPr>
              <a:t>Fixers in Jordan</a:t>
            </a:r>
            <a:endParaRPr lang="en-US" sz="1300" dirty="0"/>
          </a:p>
        </p:txBody>
      </p:sp>
      <p:sp>
        <p:nvSpPr>
          <p:cNvPr id="18" name="marker 3"/>
          <p:cNvSpPr/>
          <p:nvPr/>
        </p:nvSpPr>
        <p:spPr>
          <a:xfrm>
            <a:off x="9980109" y="2487168"/>
            <a:ext cx="219456" cy="182880"/>
          </a:xfrm>
          <a:prstGeom prst="triangle">
            <a:avLst/>
          </a:prstGeom>
          <a:solidFill>
            <a:schemeClr val="bg1"/>
          </a:solidFill>
          <a:ln/>
        </p:spPr>
      </p:sp>
      <p:sp>
        <p:nvSpPr>
          <p:cNvPr id="19" name="Text 16"/>
          <p:cNvSpPr txBox="1"/>
          <p:nvPr/>
        </p:nvSpPr>
        <p:spPr>
          <a:xfrm>
            <a:off x="8809677" y="2697480"/>
            <a:ext cx="2560320" cy="320040"/>
          </a:xfrm>
          <a:prstGeom prst="rect">
            <a:avLst/>
          </a:prstGeom>
          <a:noFill/>
          <a:ln/>
        </p:spPr>
        <p:txBody>
          <a:bodyPr wrap="square" lIns="0" tIns="0" rIns="0" bIns="0" rtlCol="0" anchor="ctr"/>
          <a:lstStyle/>
          <a:p>
            <a:pPr algn="r" indent="0" marL="0">
              <a:buNone/>
            </a:pPr>
            <a:r>
              <a:rPr lang="en-US" sz="1300" b="1" dirty="0">
                <a:solidFill>
                  <a:schemeClr val="bg1"/>
                </a:solidFill>
              </a:rPr>
              <a:t>Repackaging banned ammo (Act III)</a:t>
            </a:r>
            <a:endParaRPr lang="en-US" sz="1300" dirty="0"/>
          </a:p>
        </p:txBody>
      </p:sp>
      <p:sp>
        <p:nvSpPr>
          <p:cNvPr id="20" name="Text 17"/>
          <p:cNvSpPr txBox="1"/>
          <p:nvPr/>
        </p:nvSpPr>
        <p:spPr>
          <a:xfrm>
            <a:off x="548640" y="3108960"/>
            <a:ext cx="11094415" cy="411480"/>
          </a:xfrm>
          <a:prstGeom prst="rect">
            <a:avLst/>
          </a:prstGeom>
          <a:noFill/>
          <a:ln/>
        </p:spPr>
        <p:txBody>
          <a:bodyPr wrap="square" lIns="0" tIns="0" rIns="0" bIns="0" rtlCol="0" anchor="ctr"/>
          <a:lstStyle/>
          <a:p>
            <a:pPr indent="0" marL="0">
              <a:buNone/>
            </a:pPr>
            <a:r>
              <a:rPr lang="en-US" sz="1400" i="1" dirty="0">
                <a:solidFill>
                  <a:srgbClr val="A9ADB5"/>
                </a:solidFill>
              </a:rPr>
              <a:t>Smith (1980): legal and illegal businesses sit on one spectrum and respond to the same market demand. AEY slides along it as profits grow.</a:t>
            </a:r>
            <a:endParaRPr lang="en-US" sz="1400" dirty="0"/>
          </a:p>
        </p:txBody>
      </p:sp>
      <p:sp>
        <p:nvSpPr>
          <p:cNvPr id="21" name="Strain / anomie"/>
          <p:cNvSpPr/>
          <p:nvPr/>
        </p:nvSpPr>
        <p:spPr>
          <a:xfrm>
            <a:off x="548640" y="3703320"/>
            <a:ext cx="3560978" cy="2194560"/>
          </a:xfrm>
          <a:prstGeom prst="rect">
            <a:avLst/>
          </a:prstGeom>
          <a:solidFill>
            <a:srgbClr val="1B1D22"/>
          </a:solidFill>
          <a:ln w="12700">
            <a:solidFill>
              <a:srgbClr val="33363D"/>
            </a:solidFill>
            <a:prstDash val="solid"/>
          </a:ln>
        </p:spPr>
      </p:sp>
      <p:sp>
        <p:nvSpPr>
          <p:cNvPr id="22" name="Text 19"/>
          <p:cNvSpPr txBox="1"/>
          <p:nvPr/>
        </p:nvSpPr>
        <p:spPr>
          <a:xfrm>
            <a:off x="77724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Strain / anomie</a:t>
            </a:r>
            <a:endParaRPr lang="en-US" sz="1600" dirty="0"/>
          </a:p>
          <a:p>
            <a:pPr indent="0" marL="0">
              <a:buNone/>
            </a:pPr>
            <a:r>
              <a:rPr lang="en-US" sz="1100" dirty="0">
                <a:solidFill>
                  <a:srgbClr val="A9ADB5"/>
                </a:solidFill>
              </a:rPr>
              <a:t>Merton (1938); Messner &amp; Rosenfeld (1994)</a:t>
            </a:r>
            <a:endParaRPr lang="en-US" sz="1600" dirty="0"/>
          </a:p>
        </p:txBody>
      </p:sp>
      <p:sp>
        <p:nvSpPr>
          <p:cNvPr id="23" name="Text 20"/>
          <p:cNvSpPr txBox="1"/>
          <p:nvPr/>
        </p:nvSpPr>
        <p:spPr>
          <a:xfrm>
            <a:off x="77724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Broke with a baby on the way, David “innovates”: legitimate goal, illegitimate means.</a:t>
            </a:r>
            <a:endParaRPr lang="en-US" sz="1500" dirty="0"/>
          </a:p>
        </p:txBody>
      </p:sp>
      <p:sp>
        <p:nvSpPr>
          <p:cNvPr id="24" name="Differential association"/>
          <p:cNvSpPr/>
          <p:nvPr/>
        </p:nvSpPr>
        <p:spPr>
          <a:xfrm>
            <a:off x="4274210" y="3703320"/>
            <a:ext cx="3560978" cy="2194560"/>
          </a:xfrm>
          <a:prstGeom prst="rect">
            <a:avLst/>
          </a:prstGeom>
          <a:solidFill>
            <a:srgbClr val="1B1D22"/>
          </a:solidFill>
          <a:ln w="12700">
            <a:solidFill>
              <a:srgbClr val="33363D"/>
            </a:solidFill>
            <a:prstDash val="solid"/>
          </a:ln>
        </p:spPr>
      </p:sp>
      <p:sp>
        <p:nvSpPr>
          <p:cNvPr id="25" name="Text 22"/>
          <p:cNvSpPr txBox="1"/>
          <p:nvPr/>
        </p:nvSpPr>
        <p:spPr>
          <a:xfrm>
            <a:off x="450281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Differential association</a:t>
            </a:r>
            <a:endParaRPr lang="en-US" sz="1600" dirty="0"/>
          </a:p>
          <a:p>
            <a:pPr indent="0" marL="0">
              <a:buNone/>
            </a:pPr>
            <a:r>
              <a:rPr lang="en-US" sz="1100" dirty="0">
                <a:solidFill>
                  <a:srgbClr val="A9ADB5"/>
                </a:solidFill>
              </a:rPr>
              <a:t>Sutherland (1940)</a:t>
            </a:r>
            <a:endParaRPr lang="en-US" sz="1600" dirty="0"/>
          </a:p>
        </p:txBody>
      </p:sp>
      <p:sp>
        <p:nvSpPr>
          <p:cNvPr id="26" name="Text 23"/>
          <p:cNvSpPr txBox="1"/>
          <p:nvPr/>
        </p:nvSpPr>
        <p:spPr>
          <a:xfrm>
            <a:off x="450281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David learns the methods and the excuses of the trade from Efraim.</a:t>
            </a:r>
            <a:endParaRPr lang="en-US" sz="1500" dirty="0"/>
          </a:p>
        </p:txBody>
      </p:sp>
      <p:sp>
        <p:nvSpPr>
          <p:cNvPr id="27" name="Rational choice"/>
          <p:cNvSpPr/>
          <p:nvPr/>
        </p:nvSpPr>
        <p:spPr>
          <a:xfrm>
            <a:off x="7999781" y="3703320"/>
            <a:ext cx="3560978" cy="2194560"/>
          </a:xfrm>
          <a:prstGeom prst="rect">
            <a:avLst/>
          </a:prstGeom>
          <a:solidFill>
            <a:srgbClr val="1B1D22"/>
          </a:solidFill>
          <a:ln w="12700">
            <a:solidFill>
              <a:srgbClr val="33363D"/>
            </a:solidFill>
            <a:prstDash val="solid"/>
          </a:ln>
        </p:spPr>
      </p:sp>
      <p:sp>
        <p:nvSpPr>
          <p:cNvPr id="28" name="Text 25"/>
          <p:cNvSpPr txBox="1"/>
          <p:nvPr/>
        </p:nvSpPr>
        <p:spPr>
          <a:xfrm>
            <a:off x="8228381"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Rational choice</a:t>
            </a:r>
            <a:endParaRPr lang="en-US" sz="1600" dirty="0"/>
          </a:p>
          <a:p>
            <a:pPr indent="0" marL="0">
              <a:buNone/>
            </a:pPr>
            <a:r>
              <a:rPr lang="en-US" sz="1100" dirty="0">
                <a:solidFill>
                  <a:srgbClr val="A9ADB5"/>
                </a:solidFill>
              </a:rPr>
              <a:t>Cornish &amp; Clarke (1986)</a:t>
            </a:r>
            <a:endParaRPr lang="en-US" sz="1600" dirty="0"/>
          </a:p>
        </p:txBody>
      </p:sp>
      <p:sp>
        <p:nvSpPr>
          <p:cNvPr id="29" name="Text 26"/>
          <p:cNvSpPr txBox="1"/>
          <p:nvPr/>
        </p:nvSpPr>
        <p:spPr>
          <a:xfrm>
            <a:off x="8228381"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Each step is a calculation: big reward, small chance of being caught.</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 a broker, a Balkan stockpile and a $300M contract</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5 · VEGAS</a:t>
            </a:r>
            <a:endParaRPr lang="en-US" sz="1100" dirty="0"/>
          </a:p>
        </p:txBody>
      </p:sp>
      <p:sp>
        <p:nvSpPr>
          <p:cNvPr id="64" name="The broker circle"/>
          <p:cNvSpPr/>
          <p:nvPr/>
        </p:nvSpPr>
        <p:spPr>
          <a:xfrm>
            <a:off x="914400" y="2606040"/>
            <a:ext cx="566928" cy="566928"/>
          </a:xfrm>
          <a:prstGeom prst="ellipse">
            <a:avLst/>
          </a:prstGeom>
          <a:solidFill>
            <a:srgbClr val="E5383B"/>
          </a:solidFill>
          <a:ln/>
        </p:spPr>
      </p:sp>
      <p:pic>
        <p:nvPicPr>
          <p:cNvPr id="65" name="The broker icon" descr="The broker">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broker</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At an arms fair they meet Henry Girard, a dealer on a terrorist watch list who cannot sell to the US directly.</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6 · ALBANIA</a:t>
            </a:r>
            <a:endParaRPr lang="en-US" sz="1100" dirty="0"/>
          </a:p>
        </p:txBody>
      </p:sp>
      <p:sp>
        <p:nvSpPr>
          <p:cNvPr id="70" name="The stockpile circle"/>
          <p:cNvSpPr/>
          <p:nvPr/>
        </p:nvSpPr>
        <p:spPr>
          <a:xfrm>
            <a:off x="3642284" y="2606040"/>
            <a:ext cx="566928" cy="566928"/>
          </a:xfrm>
          <a:prstGeom prst="ellipse">
            <a:avLst/>
          </a:prstGeom>
          <a:solidFill>
            <a:srgbClr val="3A3D44"/>
          </a:solidFill>
          <a:ln/>
        </p:spPr>
      </p:sp>
      <p:pic>
        <p:nvPicPr>
          <p:cNvPr id="71" name="The stockpile icon" descr="The stockpile">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stockpile</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Henry opens access to about 100 million rounds of old rifle ammunition in Albania.</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7 · THE BID</a:t>
            </a:r>
            <a:endParaRPr lang="en-US" sz="1100" dirty="0"/>
          </a:p>
        </p:txBody>
      </p:sp>
      <p:sp>
        <p:nvSpPr>
          <p:cNvPr id="76" name="The big one circle"/>
          <p:cNvSpPr/>
          <p:nvPr/>
        </p:nvSpPr>
        <p:spPr>
          <a:xfrm>
            <a:off x="6370168" y="2606040"/>
            <a:ext cx="566928" cy="566928"/>
          </a:xfrm>
          <a:prstGeom prst="ellipse">
            <a:avLst/>
          </a:prstGeom>
          <a:solidFill>
            <a:srgbClr val="8A6D1E"/>
          </a:solidFill>
          <a:ln/>
        </p:spPr>
      </p:sp>
      <p:pic>
        <p:nvPicPr>
          <p:cNvPr id="77" name="The big one icon" descr="The big one">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big one</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With cheap supply and a financier, AEY underbids everyone and wins the Afghan army contract.</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8 · THE SPLIT</a:t>
            </a:r>
            <a:endParaRPr lang="en-US" sz="1100" dirty="0"/>
          </a:p>
        </p:txBody>
      </p:sp>
      <p:sp>
        <p:nvSpPr>
          <p:cNvPr id="82" name="Who gets paid? circle"/>
          <p:cNvSpPr/>
          <p:nvPr/>
        </p:nvSpPr>
        <p:spPr>
          <a:xfrm>
            <a:off x="9098051" y="2606040"/>
            <a:ext cx="566928" cy="566928"/>
          </a:xfrm>
          <a:prstGeom prst="ellipse">
            <a:avLst/>
          </a:prstGeom>
          <a:solidFill>
            <a:srgbClr val="3A3D44"/>
          </a:solidFill>
          <a:ln/>
        </p:spPr>
      </p:sp>
      <p:pic>
        <p:nvPicPr>
          <p:cNvPr id="83" name="Who gets paid? icon" descr="Who gets paid?">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Who gets paid?</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plans to cut Henry out of his share. Tension between the partners grows.</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“Everybody in the chain takes a cut.”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IS THIS ORGANIZED CRIME?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UN says yes. Abadinsky’s mafia model says mostly no</a:t>
            </a:r>
            <a:endParaRPr lang="en-US" sz="3000" dirty="0"/>
          </a:p>
        </p:txBody>
      </p:sp>
      <p:sp>
        <p:nvSpPr>
          <p:cNvPr id="7" name="untoc"/>
          <p:cNvSpPr/>
          <p:nvPr/>
        </p:nvSpPr>
        <p:spPr>
          <a:xfrm>
            <a:off x="548640" y="1691640"/>
            <a:ext cx="5387188" cy="4160520"/>
          </a:xfrm>
          <a:prstGeom prst="rect">
            <a:avLst/>
          </a:prstGeom>
          <a:solidFill>
            <a:srgbClr val="1B1D22"/>
          </a:solidFill>
          <a:ln w="19050">
            <a:solidFill>
              <a:srgbClr val="4F8A5B"/>
            </a:solidFill>
            <a:prstDash val="solid"/>
          </a:ln>
        </p:spPr>
      </p:sp>
      <p:sp>
        <p:nvSpPr>
          <p:cNvPr id="8" name="Text 5"/>
          <p:cNvSpPr txBox="1"/>
          <p:nvPr/>
        </p:nvSpPr>
        <p:spPr>
          <a:xfrm>
            <a:off x="822960" y="1828800"/>
            <a:ext cx="4838548" cy="292608"/>
          </a:xfrm>
          <a:prstGeom prst="rect">
            <a:avLst/>
          </a:prstGeom>
          <a:noFill/>
          <a:ln/>
        </p:spPr>
        <p:txBody>
          <a:bodyPr wrap="square" lIns="0" tIns="0" rIns="0" bIns="0" rtlCol="0" anchor="ctr"/>
          <a:lstStyle/>
          <a:p>
            <a:pPr indent="0" marL="0">
              <a:buNone/>
            </a:pPr>
            <a:r>
              <a:rPr lang="en-US" sz="1200" b="1" dirty="0">
                <a:solidFill>
                  <a:srgbClr val="8FC79B"/>
                </a:solidFill>
                <a:latin typeface="Courier New" pitchFamily="34" charset="0"/>
                <a:ea typeface="Courier New" pitchFamily="34" charset="-122"/>
                <a:cs typeface="Courier New" pitchFamily="34" charset="-120"/>
              </a:rPr>
              <a:t>UNTOC, ARTICLE 2 (UNODC, 2004)</a:t>
            </a:r>
            <a:endParaRPr lang="en-US" sz="1200" dirty="0"/>
          </a:p>
        </p:txBody>
      </p:sp>
      <p:sp>
        <p:nvSpPr>
          <p:cNvPr id="9" name="3+ persons in a structured group circle"/>
          <p:cNvSpPr/>
          <p:nvPr/>
        </p:nvSpPr>
        <p:spPr>
          <a:xfrm>
            <a:off x="822960" y="2313432"/>
            <a:ext cx="457200" cy="457200"/>
          </a:xfrm>
          <a:prstGeom prst="ellipse">
            <a:avLst/>
          </a:prstGeom>
          <a:solidFill>
            <a:srgbClr val="4F8A5B"/>
          </a:solidFill>
          <a:ln/>
        </p:spPr>
      </p:sp>
      <p:pic>
        <p:nvPicPr>
          <p:cNvPr id="10" name="3+ persons in a structured group icon" descr="3+ persons in a structured group">    </p:cNvPr>
          <p:cNvPicPr>
            <a:picLocks noChangeAspect="1"/>
          </p:cNvPicPr>
          <p:nvPr/>
        </p:nvPicPr>
        <p:blipFill>
          <a:blip r:embed="rId2"/>
          <a:stretch>
            <a:fillRect/>
          </a:stretch>
        </p:blipFill>
        <p:spPr>
          <a:xfrm>
            <a:off x="932688" y="2423160"/>
            <a:ext cx="237744" cy="237744"/>
          </a:xfrm>
          <a:prstGeom prst="rect">
            <a:avLst/>
          </a:prstGeom>
        </p:spPr>
      </p:pic>
      <p:sp>
        <p:nvSpPr>
          <p:cNvPr id="11" name="Text 7"/>
          <p:cNvSpPr txBox="1"/>
          <p:nvPr/>
        </p:nvSpPr>
        <p:spPr>
          <a:xfrm>
            <a:off x="1417320"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3+ persons in a structured group</a:t>
            </a:r>
            <a:endParaRPr lang="en-US" sz="1500" dirty="0"/>
          </a:p>
          <a:p>
            <a:pPr indent="0" marL="0">
              <a:buNone/>
            </a:pPr>
            <a:r>
              <a:rPr lang="en-US" sz="1300" dirty="0">
                <a:solidFill>
                  <a:srgbClr val="A9ADB5"/>
                </a:solidFill>
              </a:rPr>
              <a:t>Efraim, David, financier, Henry, suppliers</a:t>
            </a:r>
            <a:endParaRPr lang="en-US" sz="1500" dirty="0"/>
          </a:p>
        </p:txBody>
      </p:sp>
      <p:sp>
        <p:nvSpPr>
          <p:cNvPr id="12" name="Existing for a period of time circle"/>
          <p:cNvSpPr/>
          <p:nvPr/>
        </p:nvSpPr>
        <p:spPr>
          <a:xfrm>
            <a:off x="822960" y="3182112"/>
            <a:ext cx="457200" cy="457200"/>
          </a:xfrm>
          <a:prstGeom prst="ellipse">
            <a:avLst/>
          </a:prstGeom>
          <a:solidFill>
            <a:srgbClr val="4F8A5B"/>
          </a:solidFill>
          <a:ln/>
        </p:spPr>
      </p:sp>
      <p:pic>
        <p:nvPicPr>
          <p:cNvPr id="13" name="Existing for a period of time icon" descr="Existing for a period of time">    </p:cNvPr>
          <p:cNvPicPr>
            <a:picLocks noChangeAspect="1"/>
          </p:cNvPicPr>
          <p:nvPr/>
        </p:nvPicPr>
        <p:blipFill>
          <a:blip r:embed="rId3"/>
          <a:stretch>
            <a:fillRect/>
          </a:stretch>
        </p:blipFill>
        <p:spPr>
          <a:xfrm>
            <a:off x="932688" y="3291840"/>
            <a:ext cx="237744" cy="237744"/>
          </a:xfrm>
          <a:prstGeom prst="rect">
            <a:avLst/>
          </a:prstGeom>
        </p:spPr>
      </p:pic>
      <p:sp>
        <p:nvSpPr>
          <p:cNvPr id="14" name="Text 9"/>
          <p:cNvSpPr txBox="1"/>
          <p:nvPr/>
        </p:nvSpPr>
        <p:spPr>
          <a:xfrm>
            <a:off x="1417320"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Existing for a period of time</a:t>
            </a:r>
            <a:endParaRPr lang="en-US" sz="1500" dirty="0"/>
          </a:p>
          <a:p>
            <a:pPr indent="0" marL="0">
              <a:buNone/>
            </a:pPr>
            <a:r>
              <a:rPr lang="en-US" sz="1300" dirty="0">
                <a:solidFill>
                  <a:srgbClr val="A9ADB5"/>
                </a:solidFill>
              </a:rPr>
              <a:t>Several years of operation</a:t>
            </a:r>
            <a:endParaRPr lang="en-US" sz="1500" dirty="0"/>
          </a:p>
        </p:txBody>
      </p:sp>
      <p:sp>
        <p:nvSpPr>
          <p:cNvPr id="15" name="Committing serious crime circle"/>
          <p:cNvSpPr/>
          <p:nvPr/>
        </p:nvSpPr>
        <p:spPr>
          <a:xfrm>
            <a:off x="822960" y="4050792"/>
            <a:ext cx="457200" cy="457200"/>
          </a:xfrm>
          <a:prstGeom prst="ellipse">
            <a:avLst/>
          </a:prstGeom>
          <a:solidFill>
            <a:srgbClr val="4F8A5B"/>
          </a:solidFill>
          <a:ln/>
        </p:spPr>
      </p:sp>
      <p:pic>
        <p:nvPicPr>
          <p:cNvPr id="16" name="Committing serious crime icon" descr="Committing serious crime">    </p:cNvPr>
          <p:cNvPicPr>
            <a:picLocks noChangeAspect="1"/>
          </p:cNvPicPr>
          <p:nvPr/>
        </p:nvPicPr>
        <p:blipFill>
          <a:blip r:embed="rId4"/>
          <a:stretch>
            <a:fillRect/>
          </a:stretch>
        </p:blipFill>
        <p:spPr>
          <a:xfrm>
            <a:off x="932688" y="4160520"/>
            <a:ext cx="237744" cy="237744"/>
          </a:xfrm>
          <a:prstGeom prst="rect">
            <a:avLst/>
          </a:prstGeom>
        </p:spPr>
      </p:pic>
      <p:sp>
        <p:nvSpPr>
          <p:cNvPr id="17" name="Text 11"/>
          <p:cNvSpPr txBox="1"/>
          <p:nvPr/>
        </p:nvSpPr>
        <p:spPr>
          <a:xfrm>
            <a:off x="1417320"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Committing serious crime</a:t>
            </a:r>
            <a:endParaRPr lang="en-US" sz="1500" dirty="0"/>
          </a:p>
          <a:p>
            <a:pPr indent="0" marL="0">
              <a:buNone/>
            </a:pPr>
            <a:r>
              <a:rPr lang="en-US" sz="1300" dirty="0">
                <a:solidFill>
                  <a:srgbClr val="A9ADB5"/>
                </a:solidFill>
              </a:rPr>
              <a:t>Fraud, conspiracy, embargo breach</a:t>
            </a:r>
            <a:endParaRPr lang="en-US" sz="1500" dirty="0"/>
          </a:p>
        </p:txBody>
      </p:sp>
      <p:sp>
        <p:nvSpPr>
          <p:cNvPr id="18" name="For material benefit circle"/>
          <p:cNvSpPr/>
          <p:nvPr/>
        </p:nvSpPr>
        <p:spPr>
          <a:xfrm>
            <a:off x="822960" y="4919472"/>
            <a:ext cx="457200" cy="457200"/>
          </a:xfrm>
          <a:prstGeom prst="ellipse">
            <a:avLst/>
          </a:prstGeom>
          <a:solidFill>
            <a:srgbClr val="4F8A5B"/>
          </a:solidFill>
          <a:ln/>
        </p:spPr>
      </p:sp>
      <p:pic>
        <p:nvPicPr>
          <p:cNvPr id="19" name="For material benefit icon" descr="For material benefit">    </p:cNvPr>
          <p:cNvPicPr>
            <a:picLocks noChangeAspect="1"/>
          </p:cNvPicPr>
          <p:nvPr/>
        </p:nvPicPr>
        <p:blipFill>
          <a:blip r:embed="rId5"/>
          <a:stretch>
            <a:fillRect/>
          </a:stretch>
        </p:blipFill>
        <p:spPr>
          <a:xfrm>
            <a:off x="932688" y="5029200"/>
            <a:ext cx="237744" cy="237744"/>
          </a:xfrm>
          <a:prstGeom prst="rect">
            <a:avLst/>
          </a:prstGeom>
        </p:spPr>
      </p:pic>
      <p:sp>
        <p:nvSpPr>
          <p:cNvPr id="20" name="Text 13"/>
          <p:cNvSpPr txBox="1"/>
          <p:nvPr/>
        </p:nvSpPr>
        <p:spPr>
          <a:xfrm>
            <a:off x="1417320"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For material benefit</a:t>
            </a:r>
            <a:endParaRPr lang="en-US" sz="1500" dirty="0"/>
          </a:p>
          <a:p>
            <a:pPr indent="0" marL="0">
              <a:buNone/>
            </a:pPr>
            <a:r>
              <a:rPr lang="en-US" sz="1300" dirty="0">
                <a:solidFill>
                  <a:srgbClr val="A9ADB5"/>
                </a:solidFill>
              </a:rPr>
              <a:t>Millions in profit</a:t>
            </a:r>
            <a:endParaRPr lang="en-US" sz="1500" dirty="0"/>
          </a:p>
        </p:txBody>
      </p:sp>
      <p:sp>
        <p:nvSpPr>
          <p:cNvPr id="21" name="abadinsky"/>
          <p:cNvSpPr/>
          <p:nvPr/>
        </p:nvSpPr>
        <p:spPr>
          <a:xfrm>
            <a:off x="6255868" y="1691640"/>
            <a:ext cx="5387188" cy="4160520"/>
          </a:xfrm>
          <a:prstGeom prst="rect">
            <a:avLst/>
          </a:prstGeom>
          <a:solidFill>
            <a:srgbClr val="1B1D22"/>
          </a:solidFill>
          <a:ln w="19050">
            <a:solidFill>
              <a:srgbClr val="E5383B"/>
            </a:solidFill>
            <a:prstDash val="solid"/>
          </a:ln>
        </p:spPr>
      </p:sp>
      <p:sp>
        <p:nvSpPr>
          <p:cNvPr id="22" name="Text 15"/>
          <p:cNvSpPr txBox="1"/>
          <p:nvPr/>
        </p:nvSpPr>
        <p:spPr>
          <a:xfrm>
            <a:off x="6530188" y="1828800"/>
            <a:ext cx="4838548" cy="292608"/>
          </a:xfrm>
          <a:prstGeom prst="rect">
            <a:avLst/>
          </a:prstGeom>
          <a:noFill/>
          <a:ln/>
        </p:spPr>
        <p:txBody>
          <a:bodyPr wrap="square" lIns="0" tIns="0" rIns="0" bIns="0" rtlCol="0" anchor="ctr"/>
          <a:lstStyle/>
          <a:p>
            <a:pPr indent="0" marL="0">
              <a:buNone/>
            </a:pPr>
            <a:r>
              <a:rPr lang="en-US" sz="1200" b="1" dirty="0">
                <a:solidFill>
                  <a:srgbClr val="FF8A8C"/>
                </a:solidFill>
                <a:latin typeface="Courier New" pitchFamily="34" charset="0"/>
                <a:ea typeface="Courier New" pitchFamily="34" charset="-122"/>
                <a:cs typeface="Courier New" pitchFamily="34" charset="-120"/>
              </a:rPr>
              <a:t>ABADINSKY’S (2013) ATTRIBUTES</a:t>
            </a:r>
            <a:endParaRPr lang="en-US" sz="1200" dirty="0"/>
          </a:p>
        </p:txBody>
      </p:sp>
      <p:sp>
        <p:nvSpPr>
          <p:cNvPr id="23" name="Hierarchy and ranks circle"/>
          <p:cNvSpPr/>
          <p:nvPr/>
        </p:nvSpPr>
        <p:spPr>
          <a:xfrm>
            <a:off x="6530188" y="2313432"/>
            <a:ext cx="457200" cy="457200"/>
          </a:xfrm>
          <a:prstGeom prst="ellipse">
            <a:avLst/>
          </a:prstGeom>
          <a:solidFill>
            <a:srgbClr val="E5383B"/>
          </a:solidFill>
          <a:ln/>
        </p:spPr>
      </p:sp>
      <p:pic>
        <p:nvPicPr>
          <p:cNvPr id="24" name="Hierarchy and ranks icon" descr="Hierarchy and ranks">    </p:cNvPr>
          <p:cNvPicPr>
            <a:picLocks noChangeAspect="1"/>
          </p:cNvPicPr>
          <p:nvPr/>
        </p:nvPicPr>
        <p:blipFill>
          <a:blip r:embed="rId6"/>
          <a:stretch>
            <a:fillRect/>
          </a:stretch>
        </p:blipFill>
        <p:spPr>
          <a:xfrm>
            <a:off x="6639916" y="2423160"/>
            <a:ext cx="237744" cy="237744"/>
          </a:xfrm>
          <a:prstGeom prst="rect">
            <a:avLst/>
          </a:prstGeom>
        </p:spPr>
      </p:pic>
      <p:sp>
        <p:nvSpPr>
          <p:cNvPr id="25" name="Text 17"/>
          <p:cNvSpPr txBox="1"/>
          <p:nvPr/>
        </p:nvSpPr>
        <p:spPr>
          <a:xfrm>
            <a:off x="7124548"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Hierarchy and ranks</a:t>
            </a:r>
            <a:endParaRPr lang="en-US" sz="1500" dirty="0"/>
          </a:p>
          <a:p>
            <a:pPr indent="0" marL="0">
              <a:buNone/>
            </a:pPr>
            <a:r>
              <a:rPr lang="en-US" sz="1300" dirty="0">
                <a:solidFill>
                  <a:srgbClr val="A9ADB5"/>
                </a:solidFill>
              </a:rPr>
              <a:t>Does not fit</a:t>
            </a:r>
            <a:endParaRPr lang="en-US" sz="1500" dirty="0"/>
          </a:p>
        </p:txBody>
      </p:sp>
      <p:sp>
        <p:nvSpPr>
          <p:cNvPr id="26" name="Exclusive membership and rituals circle"/>
          <p:cNvSpPr/>
          <p:nvPr/>
        </p:nvSpPr>
        <p:spPr>
          <a:xfrm>
            <a:off x="6530188" y="3182112"/>
            <a:ext cx="457200" cy="457200"/>
          </a:xfrm>
          <a:prstGeom prst="ellipse">
            <a:avLst/>
          </a:prstGeom>
          <a:solidFill>
            <a:srgbClr val="E5383B"/>
          </a:solidFill>
          <a:ln/>
        </p:spPr>
      </p:sp>
      <p:pic>
        <p:nvPicPr>
          <p:cNvPr id="27" name="Exclusive membership and rituals icon" descr="Exclusive membership and rituals">    </p:cNvPr>
          <p:cNvPicPr>
            <a:picLocks noChangeAspect="1"/>
          </p:cNvPicPr>
          <p:nvPr/>
        </p:nvPicPr>
        <p:blipFill>
          <a:blip r:embed="rId7"/>
          <a:stretch>
            <a:fillRect/>
          </a:stretch>
        </p:blipFill>
        <p:spPr>
          <a:xfrm>
            <a:off x="6639916" y="3291840"/>
            <a:ext cx="237744" cy="237744"/>
          </a:xfrm>
          <a:prstGeom prst="rect">
            <a:avLst/>
          </a:prstGeom>
        </p:spPr>
      </p:pic>
      <p:sp>
        <p:nvSpPr>
          <p:cNvPr id="28" name="Text 19"/>
          <p:cNvSpPr txBox="1"/>
          <p:nvPr/>
        </p:nvSpPr>
        <p:spPr>
          <a:xfrm>
            <a:off x="7124548"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Exclusive membership and rituals</a:t>
            </a:r>
            <a:endParaRPr lang="en-US" sz="1500" dirty="0"/>
          </a:p>
          <a:p>
            <a:pPr indent="0" marL="0">
              <a:buNone/>
            </a:pPr>
            <a:r>
              <a:rPr lang="en-US" sz="1300" dirty="0">
                <a:solidFill>
                  <a:srgbClr val="A9ADB5"/>
                </a:solidFill>
              </a:rPr>
              <a:t>Does not fit</a:t>
            </a:r>
            <a:endParaRPr lang="en-US" sz="1500" dirty="0"/>
          </a:p>
        </p:txBody>
      </p:sp>
      <p:sp>
        <p:nvSpPr>
          <p:cNvPr id="29" name="Survives arrest of leaders circle"/>
          <p:cNvSpPr/>
          <p:nvPr/>
        </p:nvSpPr>
        <p:spPr>
          <a:xfrm>
            <a:off x="6530188" y="4050792"/>
            <a:ext cx="457200" cy="457200"/>
          </a:xfrm>
          <a:prstGeom prst="ellipse">
            <a:avLst/>
          </a:prstGeom>
          <a:solidFill>
            <a:srgbClr val="E5383B"/>
          </a:solidFill>
          <a:ln/>
        </p:spPr>
      </p:sp>
      <p:pic>
        <p:nvPicPr>
          <p:cNvPr id="30" name="Survives arrest of leaders icon" descr="Survives arrest of leaders">    </p:cNvPr>
          <p:cNvPicPr>
            <a:picLocks noChangeAspect="1"/>
          </p:cNvPicPr>
          <p:nvPr/>
        </p:nvPicPr>
        <p:blipFill>
          <a:blip r:embed="rId8"/>
          <a:stretch>
            <a:fillRect/>
          </a:stretch>
        </p:blipFill>
        <p:spPr>
          <a:xfrm>
            <a:off x="6639916" y="4160520"/>
            <a:ext cx="237744" cy="237744"/>
          </a:xfrm>
          <a:prstGeom prst="rect">
            <a:avLst/>
          </a:prstGeom>
        </p:spPr>
      </p:pic>
      <p:sp>
        <p:nvSpPr>
          <p:cNvPr id="31" name="Text 21"/>
          <p:cNvSpPr txBox="1"/>
          <p:nvPr/>
        </p:nvSpPr>
        <p:spPr>
          <a:xfrm>
            <a:off x="7124548"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Survives arrest of leaders</a:t>
            </a:r>
            <a:endParaRPr lang="en-US" sz="1500" dirty="0"/>
          </a:p>
          <a:p>
            <a:pPr indent="0" marL="0">
              <a:buNone/>
            </a:pPr>
            <a:r>
              <a:rPr lang="en-US" sz="1300" dirty="0">
                <a:solidFill>
                  <a:srgbClr val="A9ADB5"/>
                </a:solidFill>
              </a:rPr>
              <a:t>Does not fit</a:t>
            </a:r>
            <a:endParaRPr lang="en-US" sz="1500" dirty="0"/>
          </a:p>
        </p:txBody>
      </p:sp>
      <p:sp>
        <p:nvSpPr>
          <p:cNvPr id="32" name="Profit-driven, specialized roles circle"/>
          <p:cNvSpPr/>
          <p:nvPr/>
        </p:nvSpPr>
        <p:spPr>
          <a:xfrm>
            <a:off x="6530188" y="4919472"/>
            <a:ext cx="457200" cy="457200"/>
          </a:xfrm>
          <a:prstGeom prst="ellipse">
            <a:avLst/>
          </a:prstGeom>
          <a:solidFill>
            <a:srgbClr val="4F8A5B"/>
          </a:solidFill>
          <a:ln/>
        </p:spPr>
      </p:sp>
      <p:pic>
        <p:nvPicPr>
          <p:cNvPr id="33" name="Profit-driven, specialized roles icon" descr="Profit-driven, specialized roles">    </p:cNvPr>
          <p:cNvPicPr>
            <a:picLocks noChangeAspect="1"/>
          </p:cNvPicPr>
          <p:nvPr/>
        </p:nvPicPr>
        <p:blipFill>
          <a:blip r:embed="rId9"/>
          <a:stretch>
            <a:fillRect/>
          </a:stretch>
        </p:blipFill>
        <p:spPr>
          <a:xfrm>
            <a:off x="6639916" y="5029200"/>
            <a:ext cx="237744" cy="237744"/>
          </a:xfrm>
          <a:prstGeom prst="rect">
            <a:avLst/>
          </a:prstGeom>
        </p:spPr>
      </p:pic>
      <p:sp>
        <p:nvSpPr>
          <p:cNvPr id="34" name="Text 23"/>
          <p:cNvSpPr txBox="1"/>
          <p:nvPr/>
        </p:nvSpPr>
        <p:spPr>
          <a:xfrm>
            <a:off x="7124548"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Profit-driven, specialized roles</a:t>
            </a:r>
            <a:endParaRPr lang="en-US" sz="1500" dirty="0"/>
          </a:p>
          <a:p>
            <a:pPr indent="0" marL="0">
              <a:buNone/>
            </a:pPr>
            <a:r>
              <a:rPr lang="en-US" sz="1300" dirty="0">
                <a:solidFill>
                  <a:srgbClr val="A9ADB5"/>
                </a:solidFill>
              </a:rPr>
              <a:t>Fits</a:t>
            </a:r>
            <a:endParaRPr lang="en-US" sz="1500" dirty="0"/>
          </a:p>
        </p:txBody>
      </p:sp>
      <p:sp>
        <p:nvSpPr>
          <p:cNvPr id="35" name="subtitle"/>
          <p:cNvSpPr txBox="1"/>
          <p:nvPr/>
        </p:nvSpPr>
        <p:spPr>
          <a:xfrm>
            <a:off x="1005840" y="589788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Our verdict: organized white-collar crime, a legal company committing organized, transnational fraud</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WHO HOLDS THE POWER?</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brokers in the middle held the power</a:t>
            </a:r>
            <a:endParaRPr lang="en-US" sz="3000" dirty="0"/>
          </a:p>
        </p:txBody>
      </p:sp>
      <p:sp>
        <p:nvSpPr>
          <p:cNvPr id="7" name="pent-aey"/>
          <p:cNvSpPr/>
          <p:nvPr/>
        </p:nvSpPr>
        <p:spPr>
          <a:xfrm>
            <a:off x="1572768" y="2761488"/>
            <a:ext cx="2743200" cy="1051560"/>
          </a:xfrm>
          <a:prstGeom prst="line">
            <a:avLst/>
          </a:prstGeom>
          <a:noFill/>
          <a:ln w="38100">
            <a:solidFill>
              <a:srgbClr val="FFD84D"/>
            </a:solidFill>
            <a:prstDash val="solid"/>
          </a:ln>
        </p:spPr>
      </p:sp>
      <p:sp>
        <p:nvSpPr>
          <p:cNvPr id="8" name="aey-henry"/>
          <p:cNvSpPr/>
          <p:nvPr/>
        </p:nvSpPr>
        <p:spPr>
          <a:xfrm flipV="1">
            <a:off x="4315968" y="2761488"/>
            <a:ext cx="2743200" cy="1051560"/>
          </a:xfrm>
          <a:prstGeom prst="line">
            <a:avLst/>
          </a:prstGeom>
          <a:noFill/>
          <a:ln w="38100">
            <a:solidFill>
              <a:srgbClr val="FFD84D"/>
            </a:solidFill>
            <a:prstDash val="solid"/>
          </a:ln>
        </p:spPr>
      </p:sp>
      <p:sp>
        <p:nvSpPr>
          <p:cNvPr id="9" name="henry-alb"/>
          <p:cNvSpPr/>
          <p:nvPr/>
        </p:nvSpPr>
        <p:spPr>
          <a:xfrm>
            <a:off x="7059168" y="2761488"/>
            <a:ext cx="914" cy="2194560"/>
          </a:xfrm>
          <a:prstGeom prst="line">
            <a:avLst/>
          </a:prstGeom>
          <a:noFill/>
          <a:ln w="19050">
            <a:solidFill>
              <a:srgbClr val="4A4E57"/>
            </a:solidFill>
            <a:prstDash val="solid"/>
          </a:ln>
        </p:spPr>
      </p:sp>
      <p:sp>
        <p:nvSpPr>
          <p:cNvPr id="10" name="fin-aey"/>
          <p:cNvSpPr/>
          <p:nvPr/>
        </p:nvSpPr>
        <p:spPr>
          <a:xfrm flipV="1">
            <a:off x="1572768" y="3813048"/>
            <a:ext cx="2743200" cy="1143000"/>
          </a:xfrm>
          <a:prstGeom prst="line">
            <a:avLst/>
          </a:prstGeom>
          <a:noFill/>
          <a:ln w="19050">
            <a:solidFill>
              <a:srgbClr val="4A4E57"/>
            </a:solidFill>
            <a:prstDash val="solid"/>
          </a:ln>
        </p:spPr>
      </p:sp>
      <p:sp>
        <p:nvSpPr>
          <p:cNvPr id="11" name="aey-alb"/>
          <p:cNvSpPr/>
          <p:nvPr/>
        </p:nvSpPr>
        <p:spPr>
          <a:xfrm>
            <a:off x="4315968" y="3813048"/>
            <a:ext cx="2743200" cy="1143000"/>
          </a:xfrm>
          <a:prstGeom prst="line">
            <a:avLst/>
          </a:prstGeom>
          <a:noFill/>
          <a:ln w="19050">
            <a:solidFill>
              <a:srgbClr val="4A4E57"/>
            </a:solidFill>
            <a:prstDash val="solid"/>
          </a:ln>
        </p:spPr>
      </p:sp>
      <p:sp>
        <p:nvSpPr>
          <p:cNvPr id="12" name="pent-afg"/>
          <p:cNvSpPr/>
          <p:nvPr/>
        </p:nvSpPr>
        <p:spPr>
          <a:xfrm flipV="1">
            <a:off x="1572768" y="1984248"/>
            <a:ext cx="2743200" cy="777240"/>
          </a:xfrm>
          <a:prstGeom prst="line">
            <a:avLst/>
          </a:prstGeom>
          <a:noFill/>
          <a:ln w="19050">
            <a:solidFill>
              <a:srgbClr val="4A4E57"/>
            </a:solidFill>
            <a:prstDash val="dash"/>
          </a:ln>
        </p:spPr>
      </p:sp>
      <p:sp>
        <p:nvSpPr>
          <p:cNvPr id="13" name="alb-afg"/>
          <p:cNvSpPr/>
          <p:nvPr/>
        </p:nvSpPr>
        <p:spPr>
          <a:xfrm>
            <a:off x="4315968" y="1984248"/>
            <a:ext cx="2743200" cy="2971800"/>
          </a:xfrm>
          <a:prstGeom prst="line">
            <a:avLst/>
          </a:prstGeom>
          <a:noFill/>
          <a:ln w="19050">
            <a:solidFill>
              <a:srgbClr val="4A4E57"/>
            </a:solidFill>
            <a:prstDash val="dash"/>
          </a:ln>
        </p:spPr>
      </p:sp>
      <p:sp>
        <p:nvSpPr>
          <p:cNvPr id="14" name="US Army circle"/>
          <p:cNvSpPr/>
          <p:nvPr/>
        </p:nvSpPr>
        <p:spPr>
          <a:xfrm>
            <a:off x="1188720" y="2377440"/>
            <a:ext cx="768096" cy="768096"/>
          </a:xfrm>
          <a:prstGeom prst="ellipse">
            <a:avLst/>
          </a:prstGeom>
          <a:solidFill>
            <a:srgbClr val="3A3D44"/>
          </a:solidFill>
          <a:ln/>
        </p:spPr>
      </p:sp>
      <p:pic>
        <p:nvPicPr>
          <p:cNvPr id="15" name="US Army icon" descr="US Army">    </p:cNvPr>
          <p:cNvPicPr>
            <a:picLocks noChangeAspect="1"/>
          </p:cNvPicPr>
          <p:nvPr/>
        </p:nvPicPr>
        <p:blipFill>
          <a:blip r:embed="rId2"/>
          <a:stretch>
            <a:fillRect/>
          </a:stretch>
        </p:blipFill>
        <p:spPr>
          <a:xfrm>
            <a:off x="1373063" y="2561783"/>
            <a:ext cx="399410" cy="399410"/>
          </a:xfrm>
          <a:prstGeom prst="rect">
            <a:avLst/>
          </a:prstGeom>
        </p:spPr>
      </p:pic>
      <p:sp>
        <p:nvSpPr>
          <p:cNvPr id="16" name="Text 12"/>
          <p:cNvSpPr txBox="1"/>
          <p:nvPr/>
        </p:nvSpPr>
        <p:spPr>
          <a:xfrm>
            <a:off x="4114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US Army</a:t>
            </a:r>
            <a:endParaRPr lang="en-US" sz="1300" dirty="0"/>
          </a:p>
          <a:p>
            <a:pPr algn="ctr" indent="0" marL="0">
              <a:buNone/>
            </a:pPr>
            <a:r>
              <a:rPr lang="en-US" sz="1100" dirty="0">
                <a:solidFill>
                  <a:srgbClr val="A9ADB5"/>
                </a:solidFill>
              </a:rPr>
              <a:t>Open online tenders</a:t>
            </a:r>
            <a:endParaRPr lang="en-US" sz="1300" dirty="0"/>
          </a:p>
        </p:txBody>
      </p:sp>
      <p:sp>
        <p:nvSpPr>
          <p:cNvPr id="17" name="AEY (Efraim + David) circle"/>
          <p:cNvSpPr/>
          <p:nvPr/>
        </p:nvSpPr>
        <p:spPr>
          <a:xfrm>
            <a:off x="3931920" y="3429000"/>
            <a:ext cx="768096" cy="768096"/>
          </a:xfrm>
          <a:prstGeom prst="ellipse">
            <a:avLst/>
          </a:prstGeom>
          <a:solidFill>
            <a:srgbClr val="E5383B"/>
          </a:solidFill>
          <a:ln/>
        </p:spPr>
      </p:sp>
      <p:pic>
        <p:nvPicPr>
          <p:cNvPr id="18" name="AEY (Efraim + David) icon" descr="AEY (Efraim + David)">    </p:cNvPr>
          <p:cNvPicPr>
            <a:picLocks noChangeAspect="1"/>
          </p:cNvPicPr>
          <p:nvPr/>
        </p:nvPicPr>
        <p:blipFill>
          <a:blip r:embed="rId3"/>
          <a:stretch>
            <a:fillRect/>
          </a:stretch>
        </p:blipFill>
        <p:spPr>
          <a:xfrm>
            <a:off x="4116263" y="3613343"/>
            <a:ext cx="399410" cy="399410"/>
          </a:xfrm>
          <a:prstGeom prst="rect">
            <a:avLst/>
          </a:prstGeom>
        </p:spPr>
      </p:pic>
      <p:sp>
        <p:nvSpPr>
          <p:cNvPr id="19" name="Text 14"/>
          <p:cNvSpPr txBox="1"/>
          <p:nvPr/>
        </p:nvSpPr>
        <p:spPr>
          <a:xfrm>
            <a:off x="3154680" y="4233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AEY (Efraim + David)</a:t>
            </a:r>
            <a:endParaRPr lang="en-US" sz="1300" dirty="0"/>
          </a:p>
          <a:p>
            <a:pPr algn="ctr" indent="0" marL="0">
              <a:buNone/>
            </a:pPr>
            <a:r>
              <a:rPr lang="en-US" sz="1100" b="1" dirty="0">
                <a:solidFill>
                  <a:srgbClr val="FF8A8C"/>
                </a:solidFill>
              </a:rPr>
              <a:t>BROKER · clean US name</a:t>
            </a:r>
            <a:endParaRPr lang="en-US" sz="1300" dirty="0"/>
          </a:p>
        </p:txBody>
      </p:sp>
      <p:sp>
        <p:nvSpPr>
          <p:cNvPr id="20" name="Henry Girard circle"/>
          <p:cNvSpPr/>
          <p:nvPr/>
        </p:nvSpPr>
        <p:spPr>
          <a:xfrm>
            <a:off x="6675120" y="2377440"/>
            <a:ext cx="768096" cy="768096"/>
          </a:xfrm>
          <a:prstGeom prst="ellipse">
            <a:avLst/>
          </a:prstGeom>
          <a:solidFill>
            <a:srgbClr val="E5383B"/>
          </a:solidFill>
          <a:ln/>
        </p:spPr>
      </p:sp>
      <p:pic>
        <p:nvPicPr>
          <p:cNvPr id="21" name="Henry Girard icon" descr="Henry Girard">    </p:cNvPr>
          <p:cNvPicPr>
            <a:picLocks noChangeAspect="1"/>
          </p:cNvPicPr>
          <p:nvPr/>
        </p:nvPicPr>
        <p:blipFill>
          <a:blip r:embed="rId4"/>
          <a:stretch>
            <a:fillRect/>
          </a:stretch>
        </p:blipFill>
        <p:spPr>
          <a:xfrm>
            <a:off x="6859463" y="2561783"/>
            <a:ext cx="399410" cy="399410"/>
          </a:xfrm>
          <a:prstGeom prst="rect">
            <a:avLst/>
          </a:prstGeom>
        </p:spPr>
      </p:pic>
      <p:sp>
        <p:nvSpPr>
          <p:cNvPr id="22" name="Text 16"/>
          <p:cNvSpPr txBox="1"/>
          <p:nvPr/>
        </p:nvSpPr>
        <p:spPr>
          <a:xfrm>
            <a:off x="58978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Henry Girard</a:t>
            </a:r>
            <a:endParaRPr lang="en-US" sz="1300" dirty="0"/>
          </a:p>
          <a:p>
            <a:pPr algn="ctr" indent="0" marL="0">
              <a:buNone/>
            </a:pPr>
            <a:r>
              <a:rPr lang="en-US" sz="1100" b="1" dirty="0">
                <a:solidFill>
                  <a:srgbClr val="FF8A8C"/>
                </a:solidFill>
              </a:rPr>
              <a:t>BROKER · watch-listed</a:t>
            </a:r>
            <a:endParaRPr lang="en-US" sz="1300" dirty="0"/>
          </a:p>
        </p:txBody>
      </p:sp>
      <p:sp>
        <p:nvSpPr>
          <p:cNvPr id="23" name="Albanian stockpile circle"/>
          <p:cNvSpPr/>
          <p:nvPr/>
        </p:nvSpPr>
        <p:spPr>
          <a:xfrm>
            <a:off x="6675120" y="4572000"/>
            <a:ext cx="768096" cy="768096"/>
          </a:xfrm>
          <a:prstGeom prst="ellipse">
            <a:avLst/>
          </a:prstGeom>
          <a:solidFill>
            <a:srgbClr val="3A3D44"/>
          </a:solidFill>
          <a:ln/>
        </p:spPr>
      </p:sp>
      <p:pic>
        <p:nvPicPr>
          <p:cNvPr id="24" name="Albanian stockpile icon" descr="Albanian stockpile">    </p:cNvPr>
          <p:cNvPicPr>
            <a:picLocks noChangeAspect="1"/>
          </p:cNvPicPr>
          <p:nvPr/>
        </p:nvPicPr>
        <p:blipFill>
          <a:blip r:embed="rId5"/>
          <a:stretch>
            <a:fillRect/>
          </a:stretch>
        </p:blipFill>
        <p:spPr>
          <a:xfrm>
            <a:off x="6859463" y="4756343"/>
            <a:ext cx="399410" cy="399410"/>
          </a:xfrm>
          <a:prstGeom prst="rect">
            <a:avLst/>
          </a:prstGeom>
        </p:spPr>
      </p:pic>
      <p:sp>
        <p:nvSpPr>
          <p:cNvPr id="25" name="Text 18"/>
          <p:cNvSpPr txBox="1"/>
          <p:nvPr/>
        </p:nvSpPr>
        <p:spPr>
          <a:xfrm>
            <a:off x="58978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Albanian stockpile</a:t>
            </a:r>
            <a:endParaRPr lang="en-US" sz="1300" dirty="0"/>
          </a:p>
          <a:p>
            <a:pPr algn="ctr" indent="0" marL="0">
              <a:buNone/>
            </a:pPr>
            <a:r>
              <a:rPr lang="en-US" sz="1100" dirty="0">
                <a:solidFill>
                  <a:srgbClr val="A9ADB5"/>
                </a:solidFill>
              </a:rPr>
              <a:t>Supply + officials</a:t>
            </a:r>
            <a:endParaRPr lang="en-US" sz="1300" dirty="0"/>
          </a:p>
        </p:txBody>
      </p:sp>
      <p:sp>
        <p:nvSpPr>
          <p:cNvPr id="26" name="Afghan army circle"/>
          <p:cNvSpPr/>
          <p:nvPr/>
        </p:nvSpPr>
        <p:spPr>
          <a:xfrm>
            <a:off x="3931920" y="1600200"/>
            <a:ext cx="768096" cy="768096"/>
          </a:xfrm>
          <a:prstGeom prst="ellipse">
            <a:avLst/>
          </a:prstGeom>
          <a:solidFill>
            <a:srgbClr val="3A3D44"/>
          </a:solidFill>
          <a:ln/>
        </p:spPr>
      </p:sp>
      <p:pic>
        <p:nvPicPr>
          <p:cNvPr id="27" name="Afghan army icon" descr="Afghan army">    </p:cNvPr>
          <p:cNvPicPr>
            <a:picLocks noChangeAspect="1"/>
          </p:cNvPicPr>
          <p:nvPr/>
        </p:nvPicPr>
        <p:blipFill>
          <a:blip r:embed="rId6"/>
          <a:stretch>
            <a:fillRect/>
          </a:stretch>
        </p:blipFill>
        <p:spPr>
          <a:xfrm>
            <a:off x="4116263" y="1784543"/>
            <a:ext cx="399410" cy="399410"/>
          </a:xfrm>
          <a:prstGeom prst="rect">
            <a:avLst/>
          </a:prstGeom>
        </p:spPr>
      </p:pic>
      <p:sp>
        <p:nvSpPr>
          <p:cNvPr id="28" name="Text 20"/>
          <p:cNvSpPr txBox="1"/>
          <p:nvPr/>
        </p:nvSpPr>
        <p:spPr>
          <a:xfrm>
            <a:off x="3154680" y="24048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Afghan army</a:t>
            </a:r>
            <a:endParaRPr lang="en-US" sz="1300" dirty="0"/>
          </a:p>
          <a:p>
            <a:pPr algn="ctr" indent="0" marL="0">
              <a:buNone/>
            </a:pPr>
            <a:r>
              <a:rPr lang="en-US" sz="1100" dirty="0">
                <a:solidFill>
                  <a:srgbClr val="A9ADB5"/>
                </a:solidFill>
              </a:rPr>
              <a:t>End user · victim</a:t>
            </a:r>
            <a:endParaRPr lang="en-US" sz="1300" dirty="0"/>
          </a:p>
        </p:txBody>
      </p:sp>
      <p:sp>
        <p:nvSpPr>
          <p:cNvPr id="29" name="Financier circle"/>
          <p:cNvSpPr/>
          <p:nvPr/>
        </p:nvSpPr>
        <p:spPr>
          <a:xfrm>
            <a:off x="1188720" y="4572000"/>
            <a:ext cx="768096" cy="768096"/>
          </a:xfrm>
          <a:prstGeom prst="ellipse">
            <a:avLst/>
          </a:prstGeom>
          <a:solidFill>
            <a:srgbClr val="3A3D44"/>
          </a:solidFill>
          <a:ln/>
        </p:spPr>
      </p:sp>
      <p:pic>
        <p:nvPicPr>
          <p:cNvPr id="30" name="Financier icon" descr="Financier">    </p:cNvPr>
          <p:cNvPicPr>
            <a:picLocks noChangeAspect="1"/>
          </p:cNvPicPr>
          <p:nvPr/>
        </p:nvPicPr>
        <p:blipFill>
          <a:blip r:embed="rId7"/>
          <a:stretch>
            <a:fillRect/>
          </a:stretch>
        </p:blipFill>
        <p:spPr>
          <a:xfrm>
            <a:off x="1373063" y="4756343"/>
            <a:ext cx="399410" cy="399410"/>
          </a:xfrm>
          <a:prstGeom prst="rect">
            <a:avLst/>
          </a:prstGeom>
        </p:spPr>
      </p:pic>
      <p:sp>
        <p:nvSpPr>
          <p:cNvPr id="31" name="Text 22"/>
          <p:cNvSpPr txBox="1"/>
          <p:nvPr/>
        </p:nvSpPr>
        <p:spPr>
          <a:xfrm>
            <a:off x="4114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Financier</a:t>
            </a:r>
            <a:endParaRPr lang="en-US" sz="1300" dirty="0"/>
          </a:p>
          <a:p>
            <a:pPr algn="ctr" indent="0" marL="0">
              <a:buNone/>
            </a:pPr>
            <a:r>
              <a:rPr lang="en-US" sz="1100" dirty="0">
                <a:solidFill>
                  <a:srgbClr val="A9ADB5"/>
                </a:solidFill>
              </a:rPr>
              <a:t>Funds the deal</a:t>
            </a:r>
            <a:endParaRPr lang="en-US" sz="1300" dirty="0"/>
          </a:p>
        </p:txBody>
      </p:sp>
      <p:sp>
        <p:nvSpPr>
          <p:cNvPr id="32" name="Network model"/>
          <p:cNvSpPr/>
          <p:nvPr/>
        </p:nvSpPr>
        <p:spPr>
          <a:xfrm>
            <a:off x="8732520" y="1691640"/>
            <a:ext cx="2910535" cy="1280160"/>
          </a:xfrm>
          <a:prstGeom prst="rect">
            <a:avLst/>
          </a:prstGeom>
          <a:solidFill>
            <a:srgbClr val="1B1D22"/>
          </a:solidFill>
          <a:ln w="12700">
            <a:solidFill>
              <a:srgbClr val="FFD84D"/>
            </a:solidFill>
            <a:prstDash val="solid"/>
          </a:ln>
        </p:spPr>
      </p:sp>
      <p:sp>
        <p:nvSpPr>
          <p:cNvPr id="33" name="Text 24"/>
          <p:cNvSpPr txBox="1"/>
          <p:nvPr/>
        </p:nvSpPr>
        <p:spPr>
          <a:xfrm>
            <a:off x="8915400" y="178308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Network model  </a:t>
            </a:r>
            <a:pPr indent="0" marL="0">
              <a:buNone/>
            </a:pPr>
            <a:r>
              <a:rPr lang="en-US" sz="1100" dirty="0">
                <a:solidFill>
                  <a:srgbClr val="A9ADB5"/>
                </a:solidFill>
              </a:rPr>
              <a:t>Morselli (2009)</a:t>
            </a:r>
            <a:endParaRPr lang="en-US" sz="1400" dirty="0"/>
          </a:p>
          <a:p>
            <a:pPr indent="0" marL="0">
              <a:buNone/>
            </a:pPr>
            <a:r>
              <a:rPr lang="en-US" sz="1300" dirty="0">
                <a:solidFill>
                  <a:schemeClr val="bg1"/>
                </a:solidFill>
              </a:rPr>
              <a:t>Power belongs to brokers who connect worlds that can’t reach each other.</a:t>
            </a:r>
            <a:endParaRPr lang="en-US" sz="1400" dirty="0"/>
          </a:p>
        </p:txBody>
      </p:sp>
      <p:sp>
        <p:nvSpPr>
          <p:cNvPr id="34" name="Patron–client"/>
          <p:cNvSpPr/>
          <p:nvPr/>
        </p:nvSpPr>
        <p:spPr>
          <a:xfrm>
            <a:off x="8732520" y="3108960"/>
            <a:ext cx="2910535" cy="1280160"/>
          </a:xfrm>
          <a:prstGeom prst="rect">
            <a:avLst/>
          </a:prstGeom>
          <a:solidFill>
            <a:srgbClr val="1B1D22"/>
          </a:solidFill>
          <a:ln w="12700">
            <a:solidFill>
              <a:srgbClr val="FFD84D"/>
            </a:solidFill>
            <a:prstDash val="solid"/>
          </a:ln>
        </p:spPr>
      </p:sp>
      <p:sp>
        <p:nvSpPr>
          <p:cNvPr id="35" name="Text 26"/>
          <p:cNvSpPr txBox="1"/>
          <p:nvPr/>
        </p:nvSpPr>
        <p:spPr>
          <a:xfrm>
            <a:off x="8915400" y="320040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Patron–client  </a:t>
            </a:r>
            <a:pPr indent="0" marL="0">
              <a:buNone/>
            </a:pPr>
            <a:r>
              <a:rPr lang="en-US" sz="1100" dirty="0">
                <a:solidFill>
                  <a:srgbClr val="A9ADB5"/>
                </a:solidFill>
              </a:rPr>
              <a:t>Albini (1971)</a:t>
            </a:r>
            <a:endParaRPr lang="en-US" sz="1400" dirty="0"/>
          </a:p>
          <a:p>
            <a:pPr indent="0" marL="0">
              <a:buNone/>
            </a:pPr>
            <a:r>
              <a:rPr lang="en-US" sz="1300" dirty="0">
                <a:solidFill>
                  <a:schemeClr val="bg1"/>
                </a:solidFill>
              </a:rPr>
              <a:t>Henry trades access to supply for a share of the profits.</a:t>
            </a:r>
            <a:endParaRPr lang="en-US" sz="1400" dirty="0"/>
          </a:p>
        </p:txBody>
      </p:sp>
      <p:sp>
        <p:nvSpPr>
          <p:cNvPr id="36" name="Hierarchical model"/>
          <p:cNvSpPr/>
          <p:nvPr/>
        </p:nvSpPr>
        <p:spPr>
          <a:xfrm>
            <a:off x="8732520" y="4526280"/>
            <a:ext cx="2910535" cy="1280160"/>
          </a:xfrm>
          <a:prstGeom prst="rect">
            <a:avLst/>
          </a:prstGeom>
          <a:solidFill>
            <a:srgbClr val="1B1D22"/>
          </a:solidFill>
          <a:ln w="12700">
            <a:solidFill>
              <a:srgbClr val="33363D"/>
            </a:solidFill>
            <a:prstDash val="solid"/>
          </a:ln>
        </p:spPr>
      </p:sp>
      <p:sp>
        <p:nvSpPr>
          <p:cNvPr id="37" name="Text 28"/>
          <p:cNvSpPr txBox="1"/>
          <p:nvPr/>
        </p:nvSpPr>
        <p:spPr>
          <a:xfrm>
            <a:off x="8915400" y="4617720"/>
            <a:ext cx="2544775" cy="1097280"/>
          </a:xfrm>
          <a:prstGeom prst="rect">
            <a:avLst/>
          </a:prstGeom>
          <a:noFill/>
          <a:ln/>
        </p:spPr>
        <p:txBody>
          <a:bodyPr wrap="square" lIns="0" tIns="0" rIns="0" bIns="0" rtlCol="0" anchor="ctr"/>
          <a:lstStyle/>
          <a:p>
            <a:pPr indent="0" marL="0">
              <a:buNone/>
            </a:pPr>
            <a:r>
              <a:rPr lang="en-US" sz="1400" b="1" dirty="0">
                <a:solidFill>
                  <a:srgbClr val="A9ADB5"/>
                </a:solidFill>
                <a:latin typeface="Bookman Old Style" pitchFamily="34" charset="0"/>
                <a:ea typeface="Bookman Old Style" pitchFamily="34" charset="-122"/>
                <a:cs typeface="Bookman Old Style" pitchFamily="34" charset="-120"/>
              </a:rPr>
              <a:t>Hierarchical model  </a:t>
            </a:r>
            <a:pPr indent="0" marL="0">
              <a:buNone/>
            </a:pPr>
            <a:r>
              <a:rPr lang="en-US" sz="1100" dirty="0">
                <a:solidFill>
                  <a:srgbClr val="A9ADB5"/>
                </a:solidFill>
              </a:rPr>
              <a:t>Cressey (1969)</a:t>
            </a:r>
            <a:endParaRPr lang="en-US" sz="1400" dirty="0"/>
          </a:p>
          <a:p>
            <a:pPr indent="0" marL="0">
              <a:buNone/>
            </a:pPr>
            <a:r>
              <a:rPr lang="en-US" sz="1300" dirty="0">
                <a:solidFill>
                  <a:schemeClr val="bg1"/>
                </a:solidFill>
              </a:rPr>
              <a:t>Does not fit: no ranks, no code, no “family”.</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WHERE IS THE CORRUPTION?</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Corruption = Monopoly + Discretion − Accountability</a:t>
            </a:r>
            <a:endParaRPr lang="en-US" sz="3000" dirty="0"/>
          </a:p>
        </p:txBody>
      </p:sp>
      <p:sp>
        <p:nvSpPr>
          <p:cNvPr id="7" name="Text 4"/>
          <p:cNvSpPr txBox="1"/>
          <p:nvPr/>
        </p:nvSpPr>
        <p:spPr>
          <a:xfrm>
            <a:off x="548640" y="1463040"/>
            <a:ext cx="11094415" cy="320040"/>
          </a:xfrm>
          <a:prstGeom prst="rect">
            <a:avLst/>
          </a:prstGeom>
          <a:noFill/>
          <a:ln/>
        </p:spPr>
        <p:txBody>
          <a:bodyPr wrap="square" lIns="0" tIns="0" rIns="0" bIns="0" rtlCol="0" anchor="ctr"/>
          <a:lstStyle/>
          <a:p>
            <a:pPr indent="0" marL="0">
              <a:buNone/>
            </a:pPr>
            <a:r>
              <a:rPr lang="en-US" sz="1400" i="1" dirty="0">
                <a:solidFill>
                  <a:srgbClr val="A9ADB5"/>
                </a:solidFill>
              </a:rPr>
              <a:t>Klitgaard (1988). Corruption: the abuse of entrusted power for private gain (Transparency International).</a:t>
            </a:r>
            <a:endParaRPr lang="en-US" sz="1400" dirty="0"/>
          </a:p>
        </p:txBody>
      </p:sp>
      <p:sp>
        <p:nvSpPr>
          <p:cNvPr id="8" name="MONOPOLY"/>
          <p:cNvSpPr/>
          <p:nvPr/>
        </p:nvSpPr>
        <p:spPr>
          <a:xfrm>
            <a:off x="548640" y="1965960"/>
            <a:ext cx="3560978" cy="2743200"/>
          </a:xfrm>
          <a:prstGeom prst="rect">
            <a:avLst/>
          </a:prstGeom>
          <a:solidFill>
            <a:srgbClr val="1B1D22"/>
          </a:solidFill>
          <a:ln w="12700">
            <a:solidFill>
              <a:srgbClr val="33363D"/>
            </a:solidFill>
            <a:prstDash val="solid"/>
          </a:ln>
        </p:spPr>
      </p:sp>
      <p:sp>
        <p:nvSpPr>
          <p:cNvPr id="9" name="Text 6"/>
          <p:cNvSpPr txBox="1"/>
          <p:nvPr/>
        </p:nvSpPr>
        <p:spPr>
          <a:xfrm>
            <a:off x="77724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M</a:t>
            </a:r>
            <a:endParaRPr lang="en-US" sz="5400" dirty="0"/>
          </a:p>
        </p:txBody>
      </p:sp>
      <p:sp>
        <p:nvSpPr>
          <p:cNvPr id="10" name="Text 7"/>
          <p:cNvSpPr txBox="1"/>
          <p:nvPr/>
        </p:nvSpPr>
        <p:spPr>
          <a:xfrm>
            <a:off x="164592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MONOPOLY</a:t>
            </a:r>
            <a:endParaRPr lang="en-US" sz="1300" dirty="0"/>
          </a:p>
        </p:txBody>
      </p:sp>
      <p:sp>
        <p:nvSpPr>
          <p:cNvPr id="11" name="Text 8"/>
          <p:cNvSpPr txBox="1"/>
          <p:nvPr/>
        </p:nvSpPr>
        <p:spPr>
          <a:xfrm>
            <a:off x="77724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Henry controls the only access to cheap Balkan ammunition, so everyone must pay him.</a:t>
            </a:r>
            <a:endParaRPr lang="en-US" sz="1500" dirty="0"/>
          </a:p>
        </p:txBody>
      </p:sp>
      <p:sp>
        <p:nvSpPr>
          <p:cNvPr id="12" name="DISCRETION"/>
          <p:cNvSpPr/>
          <p:nvPr/>
        </p:nvSpPr>
        <p:spPr>
          <a:xfrm>
            <a:off x="4274210" y="1965960"/>
            <a:ext cx="3560978" cy="2743200"/>
          </a:xfrm>
          <a:prstGeom prst="rect">
            <a:avLst/>
          </a:prstGeom>
          <a:solidFill>
            <a:srgbClr val="1B1D22"/>
          </a:solidFill>
          <a:ln w="12700">
            <a:solidFill>
              <a:srgbClr val="33363D"/>
            </a:solidFill>
            <a:prstDash val="solid"/>
          </a:ln>
        </p:spPr>
      </p:sp>
      <p:sp>
        <p:nvSpPr>
          <p:cNvPr id="13" name="Text 10"/>
          <p:cNvSpPr txBox="1"/>
          <p:nvPr/>
        </p:nvSpPr>
        <p:spPr>
          <a:xfrm>
            <a:off x="450281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D</a:t>
            </a:r>
            <a:endParaRPr lang="en-US" sz="5400" dirty="0"/>
          </a:p>
        </p:txBody>
      </p:sp>
      <p:sp>
        <p:nvSpPr>
          <p:cNvPr id="14" name="Text 11"/>
          <p:cNvSpPr txBox="1"/>
          <p:nvPr/>
        </p:nvSpPr>
        <p:spPr>
          <a:xfrm>
            <a:off x="537149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DISCRETION</a:t>
            </a:r>
            <a:endParaRPr lang="en-US" sz="1300" dirty="0"/>
          </a:p>
        </p:txBody>
      </p:sp>
      <p:sp>
        <p:nvSpPr>
          <p:cNvPr id="15" name="Text 12"/>
          <p:cNvSpPr txBox="1"/>
          <p:nvPr/>
        </p:nvSpPr>
        <p:spPr>
          <a:xfrm>
            <a:off x="450281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Officials, fixers and border agents in Jordan and Albania decide with little scrutiny; middlemen skim.</a:t>
            </a:r>
            <a:endParaRPr lang="en-US" sz="1500" dirty="0"/>
          </a:p>
        </p:txBody>
      </p:sp>
      <p:sp>
        <p:nvSpPr>
          <p:cNvPr id="16" name="LOW ACCOUNTABILITY"/>
          <p:cNvSpPr/>
          <p:nvPr/>
        </p:nvSpPr>
        <p:spPr>
          <a:xfrm>
            <a:off x="7999781" y="1965960"/>
            <a:ext cx="3560978" cy="2743200"/>
          </a:xfrm>
          <a:prstGeom prst="rect">
            <a:avLst/>
          </a:prstGeom>
          <a:solidFill>
            <a:srgbClr val="1B1D22"/>
          </a:solidFill>
          <a:ln w="12700">
            <a:solidFill>
              <a:srgbClr val="33363D"/>
            </a:solidFill>
            <a:prstDash val="solid"/>
          </a:ln>
        </p:spPr>
      </p:sp>
      <p:sp>
        <p:nvSpPr>
          <p:cNvPr id="17" name="Text 14"/>
          <p:cNvSpPr txBox="1"/>
          <p:nvPr/>
        </p:nvSpPr>
        <p:spPr>
          <a:xfrm>
            <a:off x="8228381" y="2103120"/>
            <a:ext cx="914400" cy="914400"/>
          </a:xfrm>
          <a:prstGeom prst="rect">
            <a:avLst/>
          </a:prstGeom>
          <a:noFill/>
          <a:ln/>
        </p:spPr>
        <p:txBody>
          <a:bodyPr wrap="square" lIns="0" tIns="0" rIns="0" bIns="0" rtlCol="0" anchor="ctr"/>
          <a:lstStyle/>
          <a:p>
            <a:pPr indent="0" marL="0">
              <a:buNone/>
            </a:pPr>
            <a:r>
              <a:rPr lang="en-US" sz="5400" b="1" dirty="0">
                <a:solidFill>
                  <a:srgbClr val="E5383B"/>
                </a:solidFill>
                <a:latin typeface="Bookman Old Style" pitchFamily="34" charset="0"/>
                <a:ea typeface="Bookman Old Style" pitchFamily="34" charset="-122"/>
                <a:cs typeface="Bookman Old Style" pitchFamily="34" charset="-120"/>
              </a:rPr>
              <a:t>A</a:t>
            </a:r>
            <a:endParaRPr lang="en-US" sz="5400" dirty="0"/>
          </a:p>
        </p:txBody>
      </p:sp>
      <p:sp>
        <p:nvSpPr>
          <p:cNvPr id="18" name="Text 15"/>
          <p:cNvSpPr txBox="1"/>
          <p:nvPr/>
        </p:nvSpPr>
        <p:spPr>
          <a:xfrm>
            <a:off x="9097061" y="2286000"/>
            <a:ext cx="2280818" cy="548640"/>
          </a:xfrm>
          <a:prstGeom prst="rect">
            <a:avLst/>
          </a:prstGeom>
          <a:noFill/>
          <a:ln/>
        </p:spPr>
        <p:txBody>
          <a:bodyPr wrap="square" lIns="0" tIns="0" rIns="0" bIns="0" rtlCol="0" anchor="ctr"/>
          <a:lstStyle/>
          <a:p>
            <a:pPr indent="0" marL="0">
              <a:buNone/>
            </a:pPr>
            <a:r>
              <a:rPr lang="en-US" sz="1300" b="1" dirty="0">
                <a:solidFill>
                  <a:srgbClr val="E5383B"/>
                </a:solidFill>
                <a:latin typeface="Courier New" pitchFamily="34" charset="0"/>
                <a:ea typeface="Courier New" pitchFamily="34" charset="-122"/>
                <a:cs typeface="Courier New" pitchFamily="34" charset="-120"/>
              </a:rPr>
              <a:t>LOW ACCOUNTABILITY</a:t>
            </a:r>
            <a:endParaRPr lang="en-US" sz="1300" dirty="0"/>
          </a:p>
        </p:txBody>
      </p:sp>
      <p:sp>
        <p:nvSpPr>
          <p:cNvPr id="19" name="Text 16"/>
          <p:cNvSpPr txBox="1"/>
          <p:nvPr/>
        </p:nvSpPr>
        <p:spPr>
          <a:xfrm>
            <a:off x="8228381"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Wartime urgency: a company run by a man in his early twenties passes the Pentagon’s vetting.</a:t>
            </a:r>
            <a:endParaRPr lang="en-US" sz="1500" dirty="0"/>
          </a:p>
        </p:txBody>
      </p:sp>
      <p:sp>
        <p:nvSpPr>
          <p:cNvPr id="20" name="state-corporate"/>
          <p:cNvSpPr/>
          <p:nvPr/>
        </p:nvSpPr>
        <p:spPr>
          <a:xfrm>
            <a:off x="548640" y="4892040"/>
            <a:ext cx="11094415" cy="1051560"/>
          </a:xfrm>
          <a:prstGeom prst="rect">
            <a:avLst/>
          </a:prstGeom>
          <a:solidFill>
            <a:srgbClr val="1B1D22"/>
          </a:solidFill>
          <a:ln w="19050">
            <a:solidFill>
              <a:srgbClr val="E5383B"/>
            </a:solidFill>
            <a:prstDash val="solid"/>
          </a:ln>
        </p:spPr>
      </p:sp>
      <p:sp>
        <p:nvSpPr>
          <p:cNvPr id="21" name="Text 18"/>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FF8A8C"/>
                </a:solidFill>
              </a:rPr>
              <a:t>State-corporate crime (Kramer et al., 2002): </a:t>
            </a:r>
            <a:pPr indent="0" marL="0">
              <a:buNone/>
            </a:pPr>
            <a:r>
              <a:rPr lang="en-US" sz="1500" dirty="0">
                <a:solidFill>
                  <a:schemeClr val="bg1"/>
                </a:solidFill>
              </a:rPr>
              <a:t>the harm grew from a government policy of outsourcing war logistics to the lowest bidder. The crime–terror nexus appears too: a watch-listed dealer simply borrows a clean company name.</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III: banned bullets, betrayal and a federal courtroom</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9 · DISCOVERY</a:t>
            </a:r>
            <a:endParaRPr lang="en-US" sz="1100" dirty="0"/>
          </a:p>
        </p:txBody>
      </p:sp>
      <p:sp>
        <p:nvSpPr>
          <p:cNvPr id="64" name="Made in China circle"/>
          <p:cNvSpPr/>
          <p:nvPr/>
        </p:nvSpPr>
        <p:spPr>
          <a:xfrm>
            <a:off x="914400" y="2606040"/>
            <a:ext cx="566928" cy="566928"/>
          </a:xfrm>
          <a:prstGeom prst="ellipse">
            <a:avLst/>
          </a:prstGeom>
          <a:solidFill>
            <a:srgbClr val="E5383B"/>
          </a:solidFill>
          <a:ln/>
        </p:spPr>
      </p:sp>
      <p:pic>
        <p:nvPicPr>
          <p:cNvPr id="65" name="Made in China icon" descr="Made in China">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Made in China</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The ammunition is Chinese-made, banned under a US arms embargo and by the contract itself.</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10 · COVER-UP</a:t>
            </a:r>
            <a:endParaRPr lang="en-US" sz="1100" dirty="0"/>
          </a:p>
        </p:txBody>
      </p:sp>
      <p:sp>
        <p:nvSpPr>
          <p:cNvPr id="70" name="Repackaging circle"/>
          <p:cNvSpPr/>
          <p:nvPr/>
        </p:nvSpPr>
        <p:spPr>
          <a:xfrm>
            <a:off x="3642284" y="2606040"/>
            <a:ext cx="566928" cy="566928"/>
          </a:xfrm>
          <a:prstGeom prst="ellipse">
            <a:avLst/>
          </a:prstGeom>
          <a:solidFill>
            <a:srgbClr val="E5383B"/>
          </a:solidFill>
          <a:ln/>
        </p:spPr>
      </p:sp>
      <p:pic>
        <p:nvPicPr>
          <p:cNvPr id="71" name="Repackaging icon" descr="Repackaging">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Repackaging</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Instead of reporting it, they have the rounds repacked to remove Chinese markings.</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11 · BETRAYAL</a:t>
            </a:r>
            <a:endParaRPr lang="en-US" sz="1100" dirty="0"/>
          </a:p>
        </p:txBody>
      </p:sp>
      <p:sp>
        <p:nvSpPr>
          <p:cNvPr id="76" name="Partners turn circle"/>
          <p:cNvSpPr/>
          <p:nvPr/>
        </p:nvSpPr>
        <p:spPr>
          <a:xfrm>
            <a:off x="6370168" y="2606040"/>
            <a:ext cx="566928" cy="566928"/>
          </a:xfrm>
          <a:prstGeom prst="ellipse">
            <a:avLst/>
          </a:prstGeom>
          <a:solidFill>
            <a:srgbClr val="3A3D44"/>
          </a:solidFill>
          <a:ln/>
        </p:spPr>
      </p:sp>
      <p:pic>
        <p:nvPicPr>
          <p:cNvPr id="77" name="Partners turn icon" descr="Partners tur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Partners turn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is threatened in Albania, and Efraim cheats him. The friendship collapses.</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12 · VERDICT</a:t>
            </a:r>
            <a:endParaRPr lang="en-US" sz="1100" dirty="0"/>
          </a:p>
        </p:txBody>
      </p:sp>
      <p:sp>
        <p:nvSpPr>
          <p:cNvPr id="82" name="Real sentences circle"/>
          <p:cNvSpPr/>
          <p:nvPr/>
        </p:nvSpPr>
        <p:spPr>
          <a:xfrm>
            <a:off x="9098051" y="2606040"/>
            <a:ext cx="566928" cy="566928"/>
          </a:xfrm>
          <a:prstGeom prst="ellipse">
            <a:avLst/>
          </a:prstGeom>
          <a:solidFill>
            <a:srgbClr val="8A6D1E"/>
          </a:solidFill>
          <a:ln/>
        </p:spPr>
      </p:sp>
      <p:pic>
        <p:nvPicPr>
          <p:cNvPr id="83" name="Real sentences icon" descr="Real sentences">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Real sentences</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4 years in prison. David cooperates: 7 months of house arrest.</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 real case: exposed by journalists in 2008, prosecuted for fraud and conspiracy</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III  ·  HOW DID THEY JUSTIFY IT?</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Neutralization: how offenders silence their conscience</a:t>
            </a:r>
            <a:endParaRPr lang="en-US" sz="3000" dirty="0"/>
          </a:p>
        </p:txBody>
      </p:sp>
      <p:sp>
        <p:nvSpPr>
          <p:cNvPr id="7" name="Text 4"/>
          <p:cNvSpPr txBox="1"/>
          <p:nvPr/>
        </p:nvSpPr>
        <p:spPr>
          <a:xfrm>
            <a:off x="548640" y="1463040"/>
            <a:ext cx="11094415" cy="502920"/>
          </a:xfrm>
          <a:prstGeom prst="rect">
            <a:avLst/>
          </a:prstGeom>
          <a:noFill/>
          <a:ln/>
        </p:spPr>
        <p:txBody>
          <a:bodyPr wrap="square" lIns="0" tIns="0" rIns="0" bIns="0" rtlCol="0" anchor="ctr"/>
          <a:lstStyle/>
          <a:p>
            <a:pPr indent="0" marL="0">
              <a:buNone/>
            </a:pPr>
            <a:r>
              <a:rPr lang="en-US" sz="1500" i="1" dirty="0">
                <a:solidFill>
                  <a:srgbClr val="A9ADB5"/>
                </a:solidFill>
              </a:rPr>
              <a:t>Sykes &amp; Matza (1957): offenders know the rules, but use excuses to switch them off. In the film, every excuse sounds like normal business talk.</a:t>
            </a:r>
            <a:endParaRPr lang="en-US" sz="1500" dirty="0"/>
          </a:p>
        </p:txBody>
      </p:sp>
      <p:sp>
        <p:nvSpPr>
          <p:cNvPr id="8" name="Denial of injury"/>
          <p:cNvSpPr/>
          <p:nvPr/>
        </p:nvSpPr>
        <p:spPr>
          <a:xfrm>
            <a:off x="548640" y="2148840"/>
            <a:ext cx="5455768" cy="1600200"/>
          </a:xfrm>
          <a:prstGeom prst="rect">
            <a:avLst/>
          </a:prstGeom>
          <a:solidFill>
            <a:srgbClr val="1B1D22"/>
          </a:solidFill>
          <a:ln w="12700">
            <a:solidFill>
              <a:srgbClr val="33363D"/>
            </a:solidFill>
            <a:prstDash val="solid"/>
          </a:ln>
        </p:spPr>
      </p:sp>
      <p:sp>
        <p:nvSpPr>
          <p:cNvPr id="9" name="Text 6"/>
          <p:cNvSpPr txBox="1"/>
          <p:nvPr/>
        </p:nvSpPr>
        <p:spPr>
          <a:xfrm>
            <a:off x="822960"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INJURY</a:t>
            </a:r>
            <a:endParaRPr lang="en-US" sz="1200" dirty="0"/>
          </a:p>
        </p:txBody>
      </p:sp>
      <p:sp>
        <p:nvSpPr>
          <p:cNvPr id="10" name="Text 7"/>
          <p:cNvSpPr txBox="1"/>
          <p:nvPr/>
        </p:nvSpPr>
        <p:spPr>
          <a:xfrm>
            <a:off x="822960"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troops still get bullets that work. Who is harmed?”</a:t>
            </a:r>
            <a:endParaRPr lang="en-US" sz="2000" dirty="0"/>
          </a:p>
        </p:txBody>
      </p:sp>
      <p:sp>
        <p:nvSpPr>
          <p:cNvPr id="11" name="Condemnation of the condemners"/>
          <p:cNvSpPr/>
          <p:nvPr/>
        </p:nvSpPr>
        <p:spPr>
          <a:xfrm>
            <a:off x="6187288" y="2148840"/>
            <a:ext cx="5455768" cy="1600200"/>
          </a:xfrm>
          <a:prstGeom prst="rect">
            <a:avLst/>
          </a:prstGeom>
          <a:solidFill>
            <a:srgbClr val="1B1D22"/>
          </a:solidFill>
          <a:ln w="12700">
            <a:solidFill>
              <a:srgbClr val="33363D"/>
            </a:solidFill>
            <a:prstDash val="solid"/>
          </a:ln>
        </p:spPr>
      </p:sp>
      <p:sp>
        <p:nvSpPr>
          <p:cNvPr id="12" name="Text 9"/>
          <p:cNvSpPr txBox="1"/>
          <p:nvPr/>
        </p:nvSpPr>
        <p:spPr>
          <a:xfrm>
            <a:off x="6461608"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CONDEMNATION OF THE CONDEMNERS</a:t>
            </a:r>
            <a:endParaRPr lang="en-US" sz="1200" dirty="0"/>
          </a:p>
        </p:txBody>
      </p:sp>
      <p:sp>
        <p:nvSpPr>
          <p:cNvPr id="13" name="Text 10"/>
          <p:cNvSpPr txBox="1"/>
          <p:nvPr/>
        </p:nvSpPr>
        <p:spPr>
          <a:xfrm>
            <a:off x="6461608"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government buys from shady sources too.”</a:t>
            </a:r>
            <a:endParaRPr lang="en-US" sz="2000" dirty="0"/>
          </a:p>
        </p:txBody>
      </p:sp>
      <p:sp>
        <p:nvSpPr>
          <p:cNvPr id="14" name="Denial of responsibility"/>
          <p:cNvSpPr/>
          <p:nvPr/>
        </p:nvSpPr>
        <p:spPr>
          <a:xfrm>
            <a:off x="548640" y="3931920"/>
            <a:ext cx="5455768" cy="1600200"/>
          </a:xfrm>
          <a:prstGeom prst="rect">
            <a:avLst/>
          </a:prstGeom>
          <a:solidFill>
            <a:srgbClr val="1B1D22"/>
          </a:solidFill>
          <a:ln w="12700">
            <a:solidFill>
              <a:srgbClr val="33363D"/>
            </a:solidFill>
            <a:prstDash val="solid"/>
          </a:ln>
        </p:spPr>
      </p:sp>
      <p:sp>
        <p:nvSpPr>
          <p:cNvPr id="15" name="Text 12"/>
          <p:cNvSpPr txBox="1"/>
          <p:nvPr/>
        </p:nvSpPr>
        <p:spPr>
          <a:xfrm>
            <a:off x="822960"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RESPONSIBILITY</a:t>
            </a:r>
            <a:endParaRPr lang="en-US" sz="1200" dirty="0"/>
          </a:p>
        </p:txBody>
      </p:sp>
      <p:sp>
        <p:nvSpPr>
          <p:cNvPr id="16" name="Text 13"/>
          <p:cNvSpPr txBox="1"/>
          <p:nvPr/>
        </p:nvSpPr>
        <p:spPr>
          <a:xfrm>
            <a:off x="822960"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“We didn’t make the bullets. We just moved them.”</a:t>
            </a:r>
            <a:endParaRPr lang="en-US" sz="2000" dirty="0"/>
          </a:p>
        </p:txBody>
      </p:sp>
      <p:sp>
        <p:nvSpPr>
          <p:cNvPr id="17" name="Appeal to higher loyalties"/>
          <p:cNvSpPr/>
          <p:nvPr/>
        </p:nvSpPr>
        <p:spPr>
          <a:xfrm>
            <a:off x="6187288" y="3931920"/>
            <a:ext cx="5455768" cy="1600200"/>
          </a:xfrm>
          <a:prstGeom prst="rect">
            <a:avLst/>
          </a:prstGeom>
          <a:solidFill>
            <a:srgbClr val="1B1D22"/>
          </a:solidFill>
          <a:ln w="12700">
            <a:solidFill>
              <a:srgbClr val="33363D"/>
            </a:solidFill>
            <a:prstDash val="solid"/>
          </a:ln>
        </p:spPr>
      </p:sp>
      <p:sp>
        <p:nvSpPr>
          <p:cNvPr id="18" name="Text 15"/>
          <p:cNvSpPr txBox="1"/>
          <p:nvPr/>
        </p:nvSpPr>
        <p:spPr>
          <a:xfrm>
            <a:off x="6461608"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APPEAL TO HIGHER LOYALTIES</a:t>
            </a:r>
            <a:endParaRPr lang="en-US" sz="1200" dirty="0"/>
          </a:p>
        </p:txBody>
      </p:sp>
      <p:sp>
        <p:nvSpPr>
          <p:cNvPr id="19" name="Text 16"/>
          <p:cNvSpPr txBox="1"/>
          <p:nvPr/>
        </p:nvSpPr>
        <p:spPr>
          <a:xfrm>
            <a:off x="6461608"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“I’m doing this for my family.”</a:t>
            </a:r>
            <a:endParaRPr lang="en-US" sz="2000" dirty="0"/>
          </a:p>
        </p:txBody>
      </p:sp>
      <p:sp>
        <p:nvSpPr>
          <p:cNvPr id="20" name="Text 17"/>
          <p:cNvSpPr txBox="1"/>
          <p:nvPr/>
        </p:nvSpPr>
        <p:spPr>
          <a:xfrm>
            <a:off x="548640" y="5760720"/>
            <a:ext cx="11094415" cy="274320"/>
          </a:xfrm>
          <a:prstGeom prst="rect">
            <a:avLst/>
          </a:prstGeom>
          <a:noFill/>
          <a:ln/>
        </p:spPr>
        <p:txBody>
          <a:bodyPr wrap="square" lIns="0" tIns="0" rIns="0" bIns="0" rtlCol="0" anchor="ctr"/>
          <a:lstStyle/>
          <a:p>
            <a:pPr indent="0" marL="0">
              <a:buNone/>
            </a:pPr>
            <a:r>
              <a:rPr lang="en-US" sz="1100" i="1" dirty="0">
                <a:solidFill>
                  <a:srgbClr val="6E727A"/>
                </a:solidFill>
              </a:rPr>
              <a:t>Quotes paraphrase the characters’ attitudes; they are not verbatim lines.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CRITICS’ VERDICT  ·  OUR RATINGS</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Accurate in substance, exaggerated in style</a:t>
            </a:r>
            <a:endParaRPr lang="en-US" sz="3000" dirty="0"/>
          </a:p>
        </p:txBody>
      </p:sp>
      <p:sp>
        <p:nvSpPr>
          <p:cNvPr id="5" name="Conceptual accuracy"/>
          <p:cNvSpPr/>
          <p:nvPr/>
        </p:nvSpPr>
        <p:spPr>
          <a:xfrm>
            <a:off x="548640" y="1783080"/>
            <a:ext cx="11094415" cy="896112"/>
          </a:xfrm>
          <a:prstGeom prst="rect">
            <a:avLst/>
          </a:prstGeom>
          <a:solidFill>
            <a:srgbClr val="1B1D22"/>
          </a:solidFill>
          <a:ln w="12700">
            <a:solidFill>
              <a:srgbClr val="33363D"/>
            </a:solidFill>
            <a:prstDash val="solid"/>
          </a:ln>
        </p:spPr>
      </p:sp>
      <p:sp>
        <p:nvSpPr>
          <p:cNvPr id="6" name="Text 4"/>
          <p:cNvSpPr txBox="1"/>
          <p:nvPr/>
        </p:nvSpPr>
        <p:spPr>
          <a:xfrm>
            <a:off x="822960" y="1783080"/>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Conceptual accuracy</a:t>
            </a:r>
            <a:endParaRPr lang="en-US" sz="1700" dirty="0"/>
          </a:p>
        </p:txBody>
      </p:sp>
      <p:pic>
        <p:nvPicPr>
          <p:cNvPr id="7" name="Conceptual accuracy star 1" descr="filled star">    </p:cNvPr>
          <p:cNvPicPr>
            <a:picLocks noChangeAspect="1"/>
          </p:cNvPicPr>
          <p:nvPr/>
        </p:nvPicPr>
        <p:blipFill>
          <a:blip r:embed="rId1"/>
          <a:stretch>
            <a:fillRect/>
          </a:stretch>
        </p:blipFill>
        <p:spPr>
          <a:xfrm>
            <a:off x="3840480" y="2029968"/>
            <a:ext cx="384048" cy="384048"/>
          </a:xfrm>
          <a:prstGeom prst="rect">
            <a:avLst/>
          </a:prstGeom>
        </p:spPr>
      </p:pic>
      <p:pic>
        <p:nvPicPr>
          <p:cNvPr id="8" name="Conceptual accuracy star 2" descr="filled star">    </p:cNvPr>
          <p:cNvPicPr>
            <a:picLocks noChangeAspect="1"/>
          </p:cNvPicPr>
          <p:nvPr/>
        </p:nvPicPr>
        <p:blipFill>
          <a:blip r:embed="rId2"/>
          <a:stretch>
            <a:fillRect/>
          </a:stretch>
        </p:blipFill>
        <p:spPr>
          <a:xfrm>
            <a:off x="4279392" y="2029968"/>
            <a:ext cx="384048" cy="384048"/>
          </a:xfrm>
          <a:prstGeom prst="rect">
            <a:avLst/>
          </a:prstGeom>
        </p:spPr>
      </p:pic>
      <p:pic>
        <p:nvPicPr>
          <p:cNvPr id="9" name="Conceptual accuracy star 3" descr="filled star">    </p:cNvPr>
          <p:cNvPicPr>
            <a:picLocks noChangeAspect="1"/>
          </p:cNvPicPr>
          <p:nvPr/>
        </p:nvPicPr>
        <p:blipFill>
          <a:blip r:embed="rId3"/>
          <a:stretch>
            <a:fillRect/>
          </a:stretch>
        </p:blipFill>
        <p:spPr>
          <a:xfrm>
            <a:off x="4718304" y="2029968"/>
            <a:ext cx="384048" cy="384048"/>
          </a:xfrm>
          <a:prstGeom prst="rect">
            <a:avLst/>
          </a:prstGeom>
        </p:spPr>
      </p:pic>
      <p:pic>
        <p:nvPicPr>
          <p:cNvPr id="10" name="Conceptual accuracy star 4" descr="filled star">    </p:cNvPr>
          <p:cNvPicPr>
            <a:picLocks noChangeAspect="1"/>
          </p:cNvPicPr>
          <p:nvPr/>
        </p:nvPicPr>
        <p:blipFill>
          <a:blip r:embed="rId4"/>
          <a:stretch>
            <a:fillRect/>
          </a:stretch>
        </p:blipFill>
        <p:spPr>
          <a:xfrm>
            <a:off x="5157216" y="2029968"/>
            <a:ext cx="384048" cy="384048"/>
          </a:xfrm>
          <a:prstGeom prst="rect">
            <a:avLst/>
          </a:prstGeom>
        </p:spPr>
      </p:pic>
      <p:pic>
        <p:nvPicPr>
          <p:cNvPr id="11" name="Conceptual accuracy star 5" descr="empty star">    </p:cNvPr>
          <p:cNvPicPr>
            <a:picLocks noChangeAspect="1"/>
          </p:cNvPicPr>
          <p:nvPr/>
        </p:nvPicPr>
        <p:blipFill>
          <a:blip r:embed="rId5"/>
          <a:stretch>
            <a:fillRect/>
          </a:stretch>
        </p:blipFill>
        <p:spPr>
          <a:xfrm>
            <a:off x="5596128" y="2029968"/>
            <a:ext cx="384048" cy="384048"/>
          </a:xfrm>
          <a:prstGeom prst="rect">
            <a:avLst/>
          </a:prstGeom>
        </p:spPr>
      </p:pic>
      <p:sp>
        <p:nvSpPr>
          <p:cNvPr id="12" name="Text 5"/>
          <p:cNvSpPr txBox="1"/>
          <p:nvPr/>
        </p:nvSpPr>
        <p:spPr>
          <a:xfrm>
            <a:off x="6126480" y="1783080"/>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13" name="Text 6"/>
          <p:cNvSpPr txBox="1"/>
          <p:nvPr/>
        </p:nvSpPr>
        <p:spPr>
          <a:xfrm>
            <a:off x="6903720" y="1783080"/>
            <a:ext cx="4510735" cy="896112"/>
          </a:xfrm>
          <a:prstGeom prst="rect">
            <a:avLst/>
          </a:prstGeom>
          <a:noFill/>
          <a:ln/>
        </p:spPr>
        <p:txBody>
          <a:bodyPr wrap="square" lIns="0" tIns="0" rIns="0" bIns="0" rtlCol="0" anchor="ctr"/>
          <a:lstStyle/>
          <a:p>
            <a:pPr indent="0" marL="0">
              <a:buNone/>
            </a:pPr>
            <a:r>
              <a:rPr lang="en-US" sz="1500" dirty="0">
                <a:solidFill>
                  <a:srgbClr val="D9D6CF"/>
                </a:solidFill>
              </a:rPr>
              <a:t>Fits UNTOC, enterprise and network models closely</a:t>
            </a:r>
            <a:endParaRPr lang="en-US" sz="1500" dirty="0"/>
          </a:p>
        </p:txBody>
      </p:sp>
      <p:sp>
        <p:nvSpPr>
          <p:cNvPr id="14" name="Factual accuracy"/>
          <p:cNvSpPr/>
          <p:nvPr/>
        </p:nvSpPr>
        <p:spPr>
          <a:xfrm>
            <a:off x="548640" y="2807208"/>
            <a:ext cx="11094415" cy="896112"/>
          </a:xfrm>
          <a:prstGeom prst="rect">
            <a:avLst/>
          </a:prstGeom>
          <a:solidFill>
            <a:srgbClr val="1B1D22"/>
          </a:solidFill>
          <a:ln w="12700">
            <a:solidFill>
              <a:srgbClr val="33363D"/>
            </a:solidFill>
            <a:prstDash val="solid"/>
          </a:ln>
        </p:spPr>
      </p:sp>
      <p:sp>
        <p:nvSpPr>
          <p:cNvPr id="15" name="Text 8"/>
          <p:cNvSpPr txBox="1"/>
          <p:nvPr/>
        </p:nvSpPr>
        <p:spPr>
          <a:xfrm>
            <a:off x="822960" y="2807208"/>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Factual accuracy</a:t>
            </a:r>
            <a:endParaRPr lang="en-US" sz="1700" dirty="0"/>
          </a:p>
        </p:txBody>
      </p:sp>
      <p:pic>
        <p:nvPicPr>
          <p:cNvPr id="16" name="Factual accuracy star 1" descr="filled star">    </p:cNvPr>
          <p:cNvPicPr>
            <a:picLocks noChangeAspect="1"/>
          </p:cNvPicPr>
          <p:nvPr/>
        </p:nvPicPr>
        <p:blipFill>
          <a:blip r:embed="rId6"/>
          <a:stretch>
            <a:fillRect/>
          </a:stretch>
        </p:blipFill>
        <p:spPr>
          <a:xfrm>
            <a:off x="3840480" y="3054096"/>
            <a:ext cx="384048" cy="384048"/>
          </a:xfrm>
          <a:prstGeom prst="rect">
            <a:avLst/>
          </a:prstGeom>
        </p:spPr>
      </p:pic>
      <p:pic>
        <p:nvPicPr>
          <p:cNvPr id="17" name="Factual accuracy star 2" descr="filled star">    </p:cNvPr>
          <p:cNvPicPr>
            <a:picLocks noChangeAspect="1"/>
          </p:cNvPicPr>
          <p:nvPr/>
        </p:nvPicPr>
        <p:blipFill>
          <a:blip r:embed="rId7"/>
          <a:stretch>
            <a:fillRect/>
          </a:stretch>
        </p:blipFill>
        <p:spPr>
          <a:xfrm>
            <a:off x="4279392" y="3054096"/>
            <a:ext cx="384048" cy="384048"/>
          </a:xfrm>
          <a:prstGeom prst="rect">
            <a:avLst/>
          </a:prstGeom>
        </p:spPr>
      </p:pic>
      <p:pic>
        <p:nvPicPr>
          <p:cNvPr id="18" name="Factual accuracy star 3" descr="filled star">    </p:cNvPr>
          <p:cNvPicPr>
            <a:picLocks noChangeAspect="1"/>
          </p:cNvPicPr>
          <p:nvPr/>
        </p:nvPicPr>
        <p:blipFill>
          <a:blip r:embed="rId8"/>
          <a:stretch>
            <a:fillRect/>
          </a:stretch>
        </p:blipFill>
        <p:spPr>
          <a:xfrm>
            <a:off x="4718304" y="3054096"/>
            <a:ext cx="384048" cy="384048"/>
          </a:xfrm>
          <a:prstGeom prst="rect">
            <a:avLst/>
          </a:prstGeom>
        </p:spPr>
      </p:pic>
      <p:pic>
        <p:nvPicPr>
          <p:cNvPr id="19" name="Factual accuracy star 4" descr="filled star">    </p:cNvPr>
          <p:cNvPicPr>
            <a:picLocks noChangeAspect="1"/>
          </p:cNvPicPr>
          <p:nvPr/>
        </p:nvPicPr>
        <p:blipFill>
          <a:blip r:embed="rId9"/>
          <a:stretch>
            <a:fillRect/>
          </a:stretch>
        </p:blipFill>
        <p:spPr>
          <a:xfrm>
            <a:off x="5157216" y="3054096"/>
            <a:ext cx="384048" cy="384048"/>
          </a:xfrm>
          <a:prstGeom prst="rect">
            <a:avLst/>
          </a:prstGeom>
        </p:spPr>
      </p:pic>
      <p:pic>
        <p:nvPicPr>
          <p:cNvPr id="20" name="Factual accuracy star 5" descr="empty star">    </p:cNvPr>
          <p:cNvPicPr>
            <a:picLocks noChangeAspect="1"/>
          </p:cNvPicPr>
          <p:nvPr/>
        </p:nvPicPr>
        <p:blipFill>
          <a:blip r:embed="rId10"/>
          <a:stretch>
            <a:fillRect/>
          </a:stretch>
        </p:blipFill>
        <p:spPr>
          <a:xfrm>
            <a:off x="5596128" y="3054096"/>
            <a:ext cx="384048" cy="384048"/>
          </a:xfrm>
          <a:prstGeom prst="rect">
            <a:avLst/>
          </a:prstGeom>
        </p:spPr>
      </p:pic>
      <p:sp>
        <p:nvSpPr>
          <p:cNvPr id="21" name="Text 9"/>
          <p:cNvSpPr txBox="1"/>
          <p:nvPr/>
        </p:nvSpPr>
        <p:spPr>
          <a:xfrm>
            <a:off x="6126480" y="2807208"/>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22" name="Text 10"/>
          <p:cNvSpPr txBox="1"/>
          <p:nvPr/>
        </p:nvSpPr>
        <p:spPr>
          <a:xfrm>
            <a:off x="6903720" y="2807208"/>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Contract, repackaging and sentences are true</a:t>
            </a:r>
            <a:endParaRPr lang="en-US" sz="1500" dirty="0"/>
          </a:p>
        </p:txBody>
      </p:sp>
      <p:sp>
        <p:nvSpPr>
          <p:cNvPr id="23" name="Realism of tone"/>
          <p:cNvSpPr/>
          <p:nvPr/>
        </p:nvSpPr>
        <p:spPr>
          <a:xfrm>
            <a:off x="548640" y="3831336"/>
            <a:ext cx="11094415" cy="896112"/>
          </a:xfrm>
          <a:prstGeom prst="rect">
            <a:avLst/>
          </a:prstGeom>
          <a:solidFill>
            <a:srgbClr val="1B1D22"/>
          </a:solidFill>
          <a:ln w="12700">
            <a:solidFill>
              <a:srgbClr val="33363D"/>
            </a:solidFill>
            <a:prstDash val="solid"/>
          </a:ln>
        </p:spPr>
      </p:sp>
      <p:sp>
        <p:nvSpPr>
          <p:cNvPr id="24" name="Text 12"/>
          <p:cNvSpPr txBox="1"/>
          <p:nvPr/>
        </p:nvSpPr>
        <p:spPr>
          <a:xfrm>
            <a:off x="822960" y="3831336"/>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Realism of tone</a:t>
            </a:r>
            <a:endParaRPr lang="en-US" sz="1700" dirty="0"/>
          </a:p>
        </p:txBody>
      </p:sp>
      <p:pic>
        <p:nvPicPr>
          <p:cNvPr id="25" name="Realism of tone star 1" descr="filled star">    </p:cNvPr>
          <p:cNvPicPr>
            <a:picLocks noChangeAspect="1"/>
          </p:cNvPicPr>
          <p:nvPr/>
        </p:nvPicPr>
        <p:blipFill>
          <a:blip r:embed="rId11"/>
          <a:stretch>
            <a:fillRect/>
          </a:stretch>
        </p:blipFill>
        <p:spPr>
          <a:xfrm>
            <a:off x="3840480" y="4078224"/>
            <a:ext cx="384048" cy="384048"/>
          </a:xfrm>
          <a:prstGeom prst="rect">
            <a:avLst/>
          </a:prstGeom>
        </p:spPr>
      </p:pic>
      <p:pic>
        <p:nvPicPr>
          <p:cNvPr id="26" name="Realism of tone star 2" descr="filled star">    </p:cNvPr>
          <p:cNvPicPr>
            <a:picLocks noChangeAspect="1"/>
          </p:cNvPicPr>
          <p:nvPr/>
        </p:nvPicPr>
        <p:blipFill>
          <a:blip r:embed="rId12"/>
          <a:stretch>
            <a:fillRect/>
          </a:stretch>
        </p:blipFill>
        <p:spPr>
          <a:xfrm>
            <a:off x="4279392" y="4078224"/>
            <a:ext cx="384048" cy="384048"/>
          </a:xfrm>
          <a:prstGeom prst="rect">
            <a:avLst/>
          </a:prstGeom>
        </p:spPr>
      </p:pic>
      <p:pic>
        <p:nvPicPr>
          <p:cNvPr id="27" name="Realism of tone star 3" descr="empty star">    </p:cNvPr>
          <p:cNvPicPr>
            <a:picLocks noChangeAspect="1"/>
          </p:cNvPicPr>
          <p:nvPr/>
        </p:nvPicPr>
        <p:blipFill>
          <a:blip r:embed="rId13"/>
          <a:stretch>
            <a:fillRect/>
          </a:stretch>
        </p:blipFill>
        <p:spPr>
          <a:xfrm>
            <a:off x="4718304" y="4078224"/>
            <a:ext cx="384048" cy="384048"/>
          </a:xfrm>
          <a:prstGeom prst="rect">
            <a:avLst/>
          </a:prstGeom>
        </p:spPr>
      </p:pic>
      <p:pic>
        <p:nvPicPr>
          <p:cNvPr id="28" name="Realism of tone star 4" descr="empty star">    </p:cNvPr>
          <p:cNvPicPr>
            <a:picLocks noChangeAspect="1"/>
          </p:cNvPicPr>
          <p:nvPr/>
        </p:nvPicPr>
        <p:blipFill>
          <a:blip r:embed="rId14"/>
          <a:stretch>
            <a:fillRect/>
          </a:stretch>
        </p:blipFill>
        <p:spPr>
          <a:xfrm>
            <a:off x="5157216" y="4078224"/>
            <a:ext cx="384048" cy="384048"/>
          </a:xfrm>
          <a:prstGeom prst="rect">
            <a:avLst/>
          </a:prstGeom>
        </p:spPr>
      </p:pic>
      <p:pic>
        <p:nvPicPr>
          <p:cNvPr id="29" name="Realism of tone star 5" descr="empty star">    </p:cNvPr>
          <p:cNvPicPr>
            <a:picLocks noChangeAspect="1"/>
          </p:cNvPicPr>
          <p:nvPr/>
        </p:nvPicPr>
        <p:blipFill>
          <a:blip r:embed="rId15"/>
          <a:stretch>
            <a:fillRect/>
          </a:stretch>
        </p:blipFill>
        <p:spPr>
          <a:xfrm>
            <a:off x="5596128" y="4078224"/>
            <a:ext cx="384048" cy="384048"/>
          </a:xfrm>
          <a:prstGeom prst="rect">
            <a:avLst/>
          </a:prstGeom>
        </p:spPr>
      </p:pic>
      <p:sp>
        <p:nvSpPr>
          <p:cNvPr id="30" name="Text 13"/>
          <p:cNvSpPr txBox="1"/>
          <p:nvPr/>
        </p:nvSpPr>
        <p:spPr>
          <a:xfrm>
            <a:off x="6126480" y="3831336"/>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31" name="Text 14"/>
          <p:cNvSpPr txBox="1"/>
          <p:nvPr/>
        </p:nvSpPr>
        <p:spPr>
          <a:xfrm>
            <a:off x="6903720" y="3831336"/>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Comedy glamorizes fraud; threats in Albania invented</a:t>
            </a:r>
            <a:endParaRPr lang="en-US" sz="1500" dirty="0"/>
          </a:p>
        </p:txBody>
      </p:sp>
      <p:sp>
        <p:nvSpPr>
          <p:cNvPr id="32" name="Systemic insight"/>
          <p:cNvSpPr/>
          <p:nvPr/>
        </p:nvSpPr>
        <p:spPr>
          <a:xfrm>
            <a:off x="548640" y="4855464"/>
            <a:ext cx="11094415" cy="896112"/>
          </a:xfrm>
          <a:prstGeom prst="rect">
            <a:avLst/>
          </a:prstGeom>
          <a:solidFill>
            <a:srgbClr val="1B1D22"/>
          </a:solidFill>
          <a:ln w="12700">
            <a:solidFill>
              <a:srgbClr val="33363D"/>
            </a:solidFill>
            <a:prstDash val="solid"/>
          </a:ln>
        </p:spPr>
      </p:sp>
      <p:sp>
        <p:nvSpPr>
          <p:cNvPr id="33" name="Text 16"/>
          <p:cNvSpPr txBox="1"/>
          <p:nvPr/>
        </p:nvSpPr>
        <p:spPr>
          <a:xfrm>
            <a:off x="822960" y="4855464"/>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Systemic insight</a:t>
            </a:r>
            <a:endParaRPr lang="en-US" sz="1700" dirty="0"/>
          </a:p>
        </p:txBody>
      </p:sp>
      <p:pic>
        <p:nvPicPr>
          <p:cNvPr id="34" name="Systemic insight star 1" descr="filled star">    </p:cNvPr>
          <p:cNvPicPr>
            <a:picLocks noChangeAspect="1"/>
          </p:cNvPicPr>
          <p:nvPr/>
        </p:nvPicPr>
        <p:blipFill>
          <a:blip r:embed="rId16"/>
          <a:stretch>
            <a:fillRect/>
          </a:stretch>
        </p:blipFill>
        <p:spPr>
          <a:xfrm>
            <a:off x="3840480" y="5102352"/>
            <a:ext cx="384048" cy="384048"/>
          </a:xfrm>
          <a:prstGeom prst="rect">
            <a:avLst/>
          </a:prstGeom>
        </p:spPr>
      </p:pic>
      <p:pic>
        <p:nvPicPr>
          <p:cNvPr id="35" name="Systemic insight star 2" descr="filled star">    </p:cNvPr>
          <p:cNvPicPr>
            <a:picLocks noChangeAspect="1"/>
          </p:cNvPicPr>
          <p:nvPr/>
        </p:nvPicPr>
        <p:blipFill>
          <a:blip r:embed="rId17"/>
          <a:stretch>
            <a:fillRect/>
          </a:stretch>
        </p:blipFill>
        <p:spPr>
          <a:xfrm>
            <a:off x="4279392" y="5102352"/>
            <a:ext cx="384048" cy="384048"/>
          </a:xfrm>
          <a:prstGeom prst="rect">
            <a:avLst/>
          </a:prstGeom>
        </p:spPr>
      </p:pic>
      <p:pic>
        <p:nvPicPr>
          <p:cNvPr id="36" name="Systemic insight star 3" descr="empty star">    </p:cNvPr>
          <p:cNvPicPr>
            <a:picLocks noChangeAspect="1"/>
          </p:cNvPicPr>
          <p:nvPr/>
        </p:nvPicPr>
        <p:blipFill>
          <a:blip r:embed="rId18"/>
          <a:stretch>
            <a:fillRect/>
          </a:stretch>
        </p:blipFill>
        <p:spPr>
          <a:xfrm>
            <a:off x="4718304" y="5102352"/>
            <a:ext cx="384048" cy="384048"/>
          </a:xfrm>
          <a:prstGeom prst="rect">
            <a:avLst/>
          </a:prstGeom>
        </p:spPr>
      </p:pic>
      <p:pic>
        <p:nvPicPr>
          <p:cNvPr id="37" name="Systemic insight star 4" descr="empty star">    </p:cNvPr>
          <p:cNvPicPr>
            <a:picLocks noChangeAspect="1"/>
          </p:cNvPicPr>
          <p:nvPr/>
        </p:nvPicPr>
        <p:blipFill>
          <a:blip r:embed="rId19"/>
          <a:stretch>
            <a:fillRect/>
          </a:stretch>
        </p:blipFill>
        <p:spPr>
          <a:xfrm>
            <a:off x="5157216" y="5102352"/>
            <a:ext cx="384048" cy="384048"/>
          </a:xfrm>
          <a:prstGeom prst="rect">
            <a:avLst/>
          </a:prstGeom>
        </p:spPr>
      </p:pic>
      <p:pic>
        <p:nvPicPr>
          <p:cNvPr id="38" name="Systemic insight star 5" descr="empty star">    </p:cNvPr>
          <p:cNvPicPr>
            <a:picLocks noChangeAspect="1"/>
          </p:cNvPicPr>
          <p:nvPr/>
        </p:nvPicPr>
        <p:blipFill>
          <a:blip r:embed="rId20"/>
          <a:stretch>
            <a:fillRect/>
          </a:stretch>
        </p:blipFill>
        <p:spPr>
          <a:xfrm>
            <a:off x="5596128" y="5102352"/>
            <a:ext cx="384048" cy="384048"/>
          </a:xfrm>
          <a:prstGeom prst="rect">
            <a:avLst/>
          </a:prstGeom>
        </p:spPr>
      </p:pic>
      <p:sp>
        <p:nvSpPr>
          <p:cNvPr id="39" name="Text 17"/>
          <p:cNvSpPr txBox="1"/>
          <p:nvPr/>
        </p:nvSpPr>
        <p:spPr>
          <a:xfrm>
            <a:off x="6126480" y="4855464"/>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40" name="Text 18"/>
          <p:cNvSpPr txBox="1"/>
          <p:nvPr/>
        </p:nvSpPr>
        <p:spPr>
          <a:xfrm>
            <a:off x="6903720" y="4855464"/>
            <a:ext cx="4510735" cy="896112"/>
          </a:xfrm>
          <a:prstGeom prst="rect">
            <a:avLst/>
          </a:prstGeom>
          <a:noFill/>
          <a:ln/>
        </p:spPr>
        <p:txBody>
          <a:bodyPr wrap="square" lIns="0" tIns="0" rIns="0" bIns="0" rtlCol="0" anchor="ctr"/>
          <a:lstStyle/>
          <a:p>
            <a:pPr indent="0" marL="0">
              <a:buNone/>
            </a:pPr>
            <a:r>
              <a:rPr lang="en-US" sz="1500" dirty="0">
                <a:solidFill>
                  <a:srgbClr val="D9D6CF"/>
                </a:solidFill>
              </a:rPr>
              <a:t>Blames two men; skips state failure and Gërdec (26 killed)</a:t>
            </a:r>
            <a:endParaRPr lang="en-US" sz="1500" dirty="0"/>
          </a:p>
        </p:txBody>
      </p:sp>
      <p:sp>
        <p:nvSpPr>
          <p:cNvPr id="41" name="Text 19"/>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6E727A"/>
                </a:solidFill>
              </a:rPr>
              <a:t>Ratings are the group’s assessment. Sources: Lawson (2015); Al Jazeera (2008). Henry Girard is a composite inspired by broker Heinrich Thomet.</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c dot"/>
          <p:cNvSpPr/>
          <p:nvPr/>
        </p:nvSpPr>
        <p:spPr>
          <a:xfrm>
            <a:off x="548640" y="475488"/>
            <a:ext cx="182880" cy="182880"/>
          </a:xfrm>
          <a:prstGeom prst="ellipse">
            <a:avLst/>
          </a:prstGeom>
          <a:solidFill>
            <a:srgbClr val="E5383B"/>
          </a:solidFill>
          <a:ln/>
        </p:spPr>
      </p:sp>
      <p:sp>
        <p:nvSpPr>
          <p:cNvPr id="3" name="Text 1"/>
          <p:cNvSpPr txBox="1"/>
          <p:nvPr/>
        </p:nvSpPr>
        <p:spPr>
          <a:xfrm>
            <a:off x="841248" y="411480"/>
            <a:ext cx="54864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FINAL CUT</a:t>
            </a:r>
            <a:endParaRPr lang="en-US" sz="1300" dirty="0"/>
          </a:p>
        </p:txBody>
      </p:sp>
      <p:sp>
        <p:nvSpPr>
          <p:cNvPr id="4" name="Text 2"/>
          <p:cNvSpPr txBox="1"/>
          <p:nvPr/>
        </p:nvSpPr>
        <p:spPr>
          <a:xfrm>
            <a:off x="548640" y="914400"/>
            <a:ext cx="7315200" cy="1920240"/>
          </a:xfrm>
          <a:prstGeom prst="rect">
            <a:avLst/>
          </a:prstGeom>
          <a:noFill/>
          <a:ln/>
        </p:spPr>
        <p:txBody>
          <a:bodyPr wrap="square" lIns="0" tIns="0" rIns="0" bIns="0" rtlCol="0" anchor="t"/>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Organized crime doesn’t always carry guns. </a:t>
            </a:r>
            <a:pPr indent="0" marL="0">
              <a:buNone/>
            </a:pPr>
            <a:r>
              <a:rPr lang="en-US" sz="2800" b="1" i="1" dirty="0">
                <a:solidFill>
                  <a:srgbClr val="FFD84D"/>
                </a:solidFill>
                <a:latin typeface="Bookman Old Style" pitchFamily="34" charset="0"/>
                <a:ea typeface="Bookman Old Style" pitchFamily="34" charset="-122"/>
                <a:cs typeface="Bookman Old Style" pitchFamily="34" charset="-120"/>
              </a:rPr>
              <a:t>Sometimes it sells them, with a government contract.</a:t>
            </a:r>
            <a:endParaRPr lang="en-US" sz="2800" dirty="0"/>
          </a:p>
        </p:txBody>
      </p:sp>
      <p:sp>
        <p:nvSpPr>
          <p:cNvPr id="5" name="The answer"/>
          <p:cNvSpPr/>
          <p:nvPr/>
        </p:nvSpPr>
        <p:spPr>
          <a:xfrm>
            <a:off x="548640" y="3063240"/>
            <a:ext cx="7315200" cy="1188720"/>
          </a:xfrm>
          <a:prstGeom prst="rect">
            <a:avLst/>
          </a:prstGeom>
          <a:solidFill>
            <a:srgbClr val="1B1D22"/>
          </a:solidFill>
          <a:ln w="12700">
            <a:solidFill>
              <a:srgbClr val="FFD84D"/>
            </a:solidFill>
            <a:prstDash val="solid"/>
          </a:ln>
        </p:spPr>
      </p:sp>
      <p:sp>
        <p:nvSpPr>
          <p:cNvPr id="6" name="Text 4"/>
          <p:cNvSpPr txBox="1"/>
          <p:nvPr/>
        </p:nvSpPr>
        <p:spPr>
          <a:xfrm>
            <a:off x="822960" y="315468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D84D"/>
                </a:solidFill>
                <a:latin typeface="Courier New" pitchFamily="34" charset="0"/>
                <a:ea typeface="Courier New" pitchFamily="34" charset="-122"/>
                <a:cs typeface="Courier New" pitchFamily="34" charset="-120"/>
              </a:rPr>
              <a:t>THE ANSWER</a:t>
            </a:r>
            <a:endParaRPr lang="en-US" sz="1200" dirty="0"/>
          </a:p>
          <a:p>
            <a:pPr indent="0" marL="0">
              <a:spcAft>
                <a:spcPts val="300"/>
              </a:spcAft>
              <a:buNone/>
            </a:pPr>
            <a:r>
              <a:rPr lang="en-US" sz="1500" dirty="0">
                <a:solidFill>
                  <a:schemeClr val="bg1"/>
                </a:solidFill>
              </a:rPr>
              <a:t>AEY is organized crime under the UN definition, but not the mafia: it is organized white-collar crime.</a:t>
            </a:r>
            <a:endParaRPr lang="en-US" sz="1200" dirty="0"/>
          </a:p>
        </p:txBody>
      </p:sp>
      <p:sp>
        <p:nvSpPr>
          <p:cNvPr id="7" name="The lesson for Bangladesh"/>
          <p:cNvSpPr/>
          <p:nvPr/>
        </p:nvSpPr>
        <p:spPr>
          <a:xfrm>
            <a:off x="548640" y="4389120"/>
            <a:ext cx="7315200" cy="1188720"/>
          </a:xfrm>
          <a:prstGeom prst="rect">
            <a:avLst/>
          </a:prstGeom>
          <a:solidFill>
            <a:srgbClr val="1B1D22"/>
          </a:solidFill>
          <a:ln w="12700">
            <a:solidFill>
              <a:srgbClr val="E5383B"/>
            </a:solidFill>
            <a:prstDash val="solid"/>
          </a:ln>
        </p:spPr>
      </p:sp>
      <p:sp>
        <p:nvSpPr>
          <p:cNvPr id="8" name="Text 6"/>
          <p:cNvSpPr txBox="1"/>
          <p:nvPr/>
        </p:nvSpPr>
        <p:spPr>
          <a:xfrm>
            <a:off x="822960" y="448056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8A8C"/>
                </a:solidFill>
                <a:latin typeface="Courier New" pitchFamily="34" charset="0"/>
                <a:ea typeface="Courier New" pitchFamily="34" charset="-122"/>
                <a:cs typeface="Courier New" pitchFamily="34" charset="-120"/>
              </a:rPr>
              <a:t>THE LESSON FOR BANGLADESH</a:t>
            </a:r>
            <a:endParaRPr lang="en-US" sz="1200" dirty="0"/>
          </a:p>
          <a:p>
            <a:pPr indent="0" marL="0">
              <a:spcAft>
                <a:spcPts val="300"/>
              </a:spcAft>
              <a:buNone/>
            </a:pPr>
            <a:r>
              <a:rPr lang="en-US" sz="1500" dirty="0">
                <a:solidFill>
                  <a:schemeClr val="bg1"/>
                </a:solidFill>
              </a:rPr>
              <a:t>Big procurement relies on middlemen too. Vet contractors, disclose real owners, check where goods come from.</a:t>
            </a:r>
            <a:endParaRPr lang="en-US" sz="1200" dirty="0"/>
          </a:p>
        </p:txBody>
      </p:sp>
      <p:sp>
        <p:nvSpPr>
          <p:cNvPr id="9" name="Text 7"/>
          <p:cNvSpPr txBox="1"/>
          <p:nvPr/>
        </p:nvSpPr>
        <p:spPr>
          <a:xfrm>
            <a:off x="8503920" y="914400"/>
            <a:ext cx="3139135" cy="320040"/>
          </a:xfrm>
          <a:prstGeom prst="rect">
            <a:avLst/>
          </a:prstGeom>
          <a:noFill/>
          <a:ln/>
        </p:spPr>
        <p:txBody>
          <a:bodyPr wrap="square" lIns="0" tIns="0" rIns="0" bIns="0" rtlCol="0" anchor="ctr"/>
          <a:lstStyle/>
          <a:p>
            <a:pPr algn="ctr" indent="0" marL="0">
              <a:buNone/>
            </a:pPr>
            <a:r>
              <a:rPr lang="en-US" sz="1300" b="1" spc="400" kern="0" dirty="0">
                <a:solidFill>
                  <a:srgbClr val="A9ADB5"/>
                </a:solidFill>
                <a:latin typeface="Courier New" pitchFamily="34" charset="0"/>
                <a:ea typeface="Courier New" pitchFamily="34" charset="-122"/>
                <a:cs typeface="Courier New" pitchFamily="34" charset="-120"/>
              </a:rPr>
              <a:t>CREDITS</a:t>
            </a:r>
            <a:endParaRPr lang="en-US" sz="1300" dirty="0"/>
          </a:p>
        </p:txBody>
      </p:sp>
      <p:sp>
        <p:nvSpPr>
          <p:cNvPr id="10" name="Text 8"/>
          <p:cNvSpPr txBox="1"/>
          <p:nvPr/>
        </p:nvSpPr>
        <p:spPr>
          <a:xfrm>
            <a:off x="8503920" y="137160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OPENING &amp; TRAILER  ·  ROLL 27</a:t>
            </a:r>
            <a:endParaRPr lang="en-US" sz="1000" dirty="0"/>
          </a:p>
          <a:p>
            <a:pPr algn="ctr" indent="0" marL="0">
              <a:buNone/>
            </a:pPr>
            <a:r>
              <a:rPr lang="en-US" sz="1400" b="1" dirty="0">
                <a:solidFill>
                  <a:schemeClr val="bg1"/>
                </a:solidFill>
              </a:rPr>
              <a:t>Minhaz Ahamed Khan Nabin</a:t>
            </a:r>
            <a:endParaRPr lang="en-US" sz="1000" dirty="0"/>
          </a:p>
        </p:txBody>
      </p:sp>
      <p:sp>
        <p:nvSpPr>
          <p:cNvPr id="11" name="Text 9"/>
          <p:cNvSpPr txBox="1"/>
          <p:nvPr/>
        </p:nvSpPr>
        <p:spPr>
          <a:xfrm>
            <a:off x="8503920" y="1975104"/>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  ·  ROLL 08</a:t>
            </a:r>
            <a:endParaRPr lang="en-US" sz="1000" dirty="0"/>
          </a:p>
          <a:p>
            <a:pPr algn="ctr" indent="0" marL="0">
              <a:buNone/>
            </a:pPr>
            <a:r>
              <a:rPr lang="en-US" sz="1400" b="1" dirty="0">
                <a:solidFill>
                  <a:schemeClr val="bg1"/>
                </a:solidFill>
              </a:rPr>
              <a:t>Jesmin Naher Sweety</a:t>
            </a:r>
            <a:endParaRPr lang="en-US" sz="1000" dirty="0"/>
          </a:p>
        </p:txBody>
      </p:sp>
      <p:sp>
        <p:nvSpPr>
          <p:cNvPr id="12" name="Text 10"/>
          <p:cNvSpPr txBox="1"/>
          <p:nvPr/>
        </p:nvSpPr>
        <p:spPr>
          <a:xfrm>
            <a:off x="8503920" y="2578608"/>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DEFINITIONS  ·  ROLL 37</a:t>
            </a:r>
            <a:endParaRPr lang="en-US" sz="1000" dirty="0"/>
          </a:p>
          <a:p>
            <a:pPr algn="ctr" indent="0" marL="0">
              <a:buNone/>
            </a:pPr>
            <a:r>
              <a:rPr lang="en-US" sz="1400" b="1" dirty="0">
                <a:solidFill>
                  <a:schemeClr val="bg1"/>
                </a:solidFill>
              </a:rPr>
              <a:t>Md. Abir Mahmud Jakaria</a:t>
            </a:r>
            <a:endParaRPr lang="en-US" sz="1000" dirty="0"/>
          </a:p>
        </p:txBody>
      </p:sp>
      <p:sp>
        <p:nvSpPr>
          <p:cNvPr id="13" name="Text 11"/>
          <p:cNvSpPr txBox="1"/>
          <p:nvPr/>
        </p:nvSpPr>
        <p:spPr>
          <a:xfrm>
            <a:off x="8503920" y="3182112"/>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NETWORK &amp; CORRUPTION  ·  ROLL 33</a:t>
            </a:r>
            <a:endParaRPr lang="en-US" sz="1000" dirty="0"/>
          </a:p>
          <a:p>
            <a:pPr algn="ctr" indent="0" marL="0">
              <a:buNone/>
            </a:pPr>
            <a:r>
              <a:rPr lang="en-US" sz="1400" b="1" dirty="0">
                <a:solidFill>
                  <a:schemeClr val="bg1"/>
                </a:solidFill>
              </a:rPr>
              <a:t>Imran Mridha</a:t>
            </a:r>
            <a:endParaRPr lang="en-US" sz="1000" dirty="0"/>
          </a:p>
        </p:txBody>
      </p:sp>
      <p:sp>
        <p:nvSpPr>
          <p:cNvPr id="14" name="Text 12"/>
          <p:cNvSpPr txBox="1"/>
          <p:nvPr/>
        </p:nvSpPr>
        <p:spPr>
          <a:xfrm>
            <a:off x="8503920" y="3785616"/>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III  ·  ROLL 24</a:t>
            </a:r>
            <a:endParaRPr lang="en-US" sz="1000" dirty="0"/>
          </a:p>
          <a:p>
            <a:pPr algn="ctr" indent="0" marL="0">
              <a:buNone/>
            </a:pPr>
            <a:r>
              <a:rPr lang="en-US" sz="1400" b="1" dirty="0">
                <a:solidFill>
                  <a:schemeClr val="bg1"/>
                </a:solidFill>
              </a:rPr>
              <a:t>Ahnaf Akif</a:t>
            </a:r>
            <a:endParaRPr lang="en-US" sz="1000" dirty="0"/>
          </a:p>
        </p:txBody>
      </p:sp>
      <p:sp>
        <p:nvSpPr>
          <p:cNvPr id="15" name="Text 13"/>
          <p:cNvSpPr txBox="1"/>
          <p:nvPr/>
        </p:nvSpPr>
        <p:spPr>
          <a:xfrm>
            <a:off x="8503920" y="438912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VERDICT &amp; FINAL CUT  ·  ROLL 21</a:t>
            </a:r>
            <a:endParaRPr lang="en-US" sz="1000" dirty="0"/>
          </a:p>
          <a:p>
            <a:pPr algn="ctr" indent="0" marL="0">
              <a:buNone/>
            </a:pPr>
            <a:r>
              <a:rPr lang="en-US" sz="1400" b="1" dirty="0">
                <a:solidFill>
                  <a:schemeClr val="bg1"/>
                </a:solidFill>
              </a:rPr>
              <a:t>Nishit Kumer</a:t>
            </a:r>
            <a:endParaRPr lang="en-US" sz="1000" dirty="0"/>
          </a:p>
        </p:txBody>
      </p:sp>
      <p:sp>
        <p:nvSpPr>
          <p:cNvPr id="16" name="Text 14"/>
          <p:cNvSpPr txBox="1"/>
          <p:nvPr/>
        </p:nvSpPr>
        <p:spPr>
          <a:xfrm>
            <a:off x="548640" y="5715000"/>
            <a:ext cx="7315200" cy="502920"/>
          </a:xfrm>
          <a:prstGeom prst="rect">
            <a:avLst/>
          </a:prstGeom>
          <a:noFill/>
          <a:ln/>
        </p:spPr>
        <p:txBody>
          <a:bodyPr wrap="square" lIns="0" tIns="0" rIns="0" bIns="0" rtlCol="0" anchor="ctr"/>
          <a:lstStyle/>
          <a:p>
            <a:pPr indent="0" marL="0">
              <a:buNone/>
            </a:pPr>
            <a:r>
              <a:rPr lang="en-US" sz="2400" b="1" dirty="0">
                <a:solidFill>
                  <a:schemeClr val="bg1"/>
                </a:solidFill>
                <a:latin typeface="Bookman Old Style" pitchFamily="34" charset="0"/>
                <a:ea typeface="Bookman Old Style" pitchFamily="34" charset="-122"/>
                <a:cs typeface="Bookman Old Style" pitchFamily="34" charset="-120"/>
              </a:rPr>
              <a:t>Thank you  ·  </a:t>
            </a:r>
            <a:pPr indent="0" marL="0">
              <a:buNone/>
            </a:pPr>
            <a:r>
              <a:rPr lang="en-US" sz="2400" i="1" dirty="0">
                <a:solidFill>
                  <a:srgbClr val="FFD84D"/>
                </a:solidFill>
                <a:latin typeface="Bookman Old Style" pitchFamily="34" charset="0"/>
                <a:ea typeface="Bookman Old Style" pitchFamily="34" charset="-122"/>
                <a:cs typeface="Bookman Old Style" pitchFamily="34" charset="-120"/>
              </a:rPr>
              <a:t>Questions?</a:t>
            </a:r>
            <a:endParaRPr lang="en-US" sz="2400" dirty="0"/>
          </a:p>
        </p:txBody>
      </p:sp>
    </p:spTree>
  </p:cSld>
  <p:clrMapOvr>
    <a:masterClrMapping/>
  </p:clrMapOvr>
</p:sld>
</file>

<file path=ppt/theme/theme1.xml><?xml version="1.0" encoding="utf-8"?>
<a:theme xmlns:a="http://schemas.openxmlformats.org/drawingml/2006/main" name="War Dogs Directors Cut">
  <a:themeElements>
    <a:clrScheme name="War Dogs Directors Cut">
      <a:dk1>
        <a:srgbClr val="0D0D0F"/>
      </a:dk1>
      <a:lt1>
        <a:srgbClr val="FFFFFF"/>
      </a:lt1>
      <a:dk2>
        <a:srgbClr val="0B0B0C"/>
      </a:dk2>
      <a:lt2>
        <a:srgbClr val="ECE8E1"/>
      </a:lt2>
      <a:accent1>
        <a:srgbClr val="FFD84D"/>
      </a:accent1>
      <a:accent2>
        <a:srgbClr val="E5383B"/>
      </a:accent2>
      <a:accent3>
        <a:srgbClr val="7FB7BE"/>
      </a:accent3>
      <a:accent4>
        <a:srgbClr val="A3A3A3"/>
      </a:accent4>
      <a:accent5>
        <a:srgbClr val="2A2C31"/>
      </a:accent5>
      <a:accent6>
        <a:srgbClr val="C9B98F"/>
      </a:accent6>
      <a:hlink>
        <a:srgbClr val="FFD84D"/>
      </a:hlink>
      <a:folHlink>
        <a:srgbClr val="7FB7BE"/>
      </a:folHlink>
    </a:clrScheme>
    <a:fontScheme name="War Dogs Directors Cut">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A Criminologist’s Director’s Cut – Group 6</dc:title>
  <dc:subject>MCCJ 527 Organized Crime and Corruption</dc:subject>
  <dc:creator>PptxGenJS</dc:creator>
  <cp:lastModifiedBy>PptxGenJS</cp:lastModifiedBy>
  <cp:revision>1</cp:revision>
  <dcterms:created xsi:type="dcterms:W3CDTF">2026-10-22T09:22:28Z</dcterms:created>
  <dcterms:modified xsi:type="dcterms:W3CDTF">2026-10-22T09:22:28Z</dcterms:modified>
</cp:coreProperties>
</file>