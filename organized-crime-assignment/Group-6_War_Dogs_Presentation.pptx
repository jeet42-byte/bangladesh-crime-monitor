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Film" id="{db236420-468e-3deb-a59a-af877dfdb2af}">
          <p14:sldIdLst>
            <p14:sldId id="256"/>
            <p14:sldId id="257"/>
          </p14:sldIdLst>
        </p14:section>
        <p14:section name="Plot and Reality" id="{5a14f21f-2724-8feb-d147-052c93aed80e}">
          <p14:sldIdLst>
            <p14:sldId id="258"/>
            <p14:sldId id="259"/>
          </p14:sldIdLst>
        </p14:section>
        <p14:section name="Concepts" id="{fc73ad50-172b-7b76-480f-4cbcd07598ca}">
          <p14:sldIdLst>
            <p14:sldId id="260"/>
            <p14:sldId id="261"/>
          </p14:sldIdLst>
        </p14:section>
        <p14:section name="Models and Theories" id="{9a43dfd3-e564-fcb7-3a55-8dd01f7a8292}">
          <p14:sldIdLst>
            <p14:sldId id="262"/>
            <p14:sldId id="263"/>
            <p14:sldId id="264"/>
            <p14:sldId id="265"/>
          </p14:sldIdLst>
        </p14:section>
        <p14:section name="Evaluation" id="{7c9ec017-ba3c-e965-fb0e-6f6cceb0cdb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[Hold up a phone or point at the screen.] What does a gangster look like? Most of us picture The Godfather: a dark suit, a family, guns and loyalty.
Now imagine two young men in polo shirts in Miami, sitting at a laptop, bidding on US Army contracts on a public website. Within a few years, they win a contract worth almost 300 million dollars to arm the Afghan National Army, and then end up in federal court.
Good morning. We are Group 6, and our film is War Dogs, from 2016. Our argument today is simple: organized crime does not always carry guns. Sometimes it sells them, with a government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Some quick facts. War Dogs was directed by Todd Phillips, the director of The Hangover, and released by Warner Bros. in August 2016. It stars Jonah Hill as Efraim Diveroli and Miles Teller as David Packouz, with Bradley Cooper as a mysterious arms broker.
It is a crime comedy, but it is based on a true story, first reported by journalist Guy Lawson in Rolling Stone and later in his book, Arms and the Dudes.
[Right panel.] The central theme is the grey zone where business, the state and crime overlap. The title itself means people who profit from war without ever fighting. And the real contract was worth 298 million dollars.
[Member 2] will take you through the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Thank you, [Member 1]. Here is the plot in five moves.
One: David, a broke massage therapist, joins his childhood friend Efraim's company, AEY. They bid on the "crumbs" of military procurement: small contracts the big firms ignore.
Two: a shipment of pistols gets stuck in Jordan, so they fly out, use local fixers and drive it into Iraq. The money starts flowing.
Three: they meet Henry Girard, an arms broker on a terrorist watch list, who gives them access to 100 million rounds in Albania. They win the Afghan contract.
Four: the ammunition turns out to be Chinese-made, which is banned. Instead of reporting it, they repackage it to hide its origin.
Five: greed and betrayal destroy the partnership. Efraim gets four years in prison, and David seven months of house arrest.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So how much of this is true? More than you might think.
[Left side.] AEY really did win a 298-million-dollar contract in 2007 to supply the Afghan National Army. Chinese-made rounds really were repackaged to look Albanian. And the sentences are accurate: four years in prison for Efraim, and seven months of house arrest for David after he cooperated.
[Right side.] But some things were changed for drama. Henry Girard is a composite character, inspired by a Swiss broker named Heinrich Thomet. The scary kidnapping-style scenes in Albania did not happen as shown. And the film leaves out something serious: in 2008, an explosion at an ammunition depot in Gërdec, Albania, killed 26 people.
Now [Member 3] will ask the key question: is this actually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Thank you, [Member 2]. Is AEY really organized crime? Let us test it against the United Nations Convention against Transnational Organized Crime, Article 2. [Go down the checklist.]
A structured group of three or more persons: yes. Efraim, David, their financier Ralph, Henry and the Albanian suppliers.
Existing for a period of time: yes, several years.
Acting together to commit serious crime: yes. Fraud against the US government, conspiracy and breaching an arms embargo.
For financial benefit: clearly, yes.
So by the UN definition, AEY is an organized criminal group.
[Right panel.] Three more concepts help us: white-collar crime, crime by respectable people at work; corruption, the abuse of entrusted power for private gain; and state-corporate crime, harm that comes from business and government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But if we use a criminological definition, the picture changes. Abadinsky lists eight attributes of organized crime. [Point at the grid.]
AEY was profit-driven and members had specialized roles, so those fit. Violence, bribery and monopoly only partly fit. But AEY had no hierarchy, no exclusive membership, no code, and it collapsed as soon as its leaders were arrested.
[Right panel.] So we classify AEY as organized white-collar crime: a legal, registered company that used legitimate channels to commit organized, transnational fraud.
And this matters. Because AEY did not look like a criminal organization, nobody checked it closely. [Member 4] will now explain which models describe how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Thank you, [Member 3]. Our course covers four models of how organized crime is structured. [Go row by row.]
The hierarchical model of Cressey sees organized crime as a mafia-style bureaucracy. That fits poorly: AEY had no ranks and no code.
The patron–client model of Albini fits partly: Henry acts as a patron who controls access to the Albanian supply in return for a share.
But the strongest fits are the enterprise model and the network model. Smith's enterprise model says legal and illegal business sit on one spectrum and respond to the same market. AEY started legally and slid into fraud as Pentagon demand grew. And Morselli's network model says brokers who connect separate worlds hold the power. Let me show you what that network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This is the network behind the deal. [Trace the orange lines.]
On one side is the US Army, buying through open online tenders. On the other side is a depot in Albania full of old ammunition. These two worlds could not connect directly. In the middle are the brokers: AEY, with its clean American identity, and Henry, who has the supply but is on a terrorist watch list. Ralph supplies the money, and at the end of the chain are Afghan soldiers, who become the victims of decades-old ammunition.
[Right panel.] This is exactly what Morselli calls brokerage: power belongs to whoever connects worlds that cannot reach each other. And Henry's role shows the crime–terror nexus: someone barred from legal trade simply borrows a clean name.
[Member 5] will explain why they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Thank you, [Member 4]. So why did two ordinary young men commit fraud on this scale? Four theories from our course help explain it.
Rational choice theory: when they found the ammunition was Chinese, they weighed a contract worth hundreds of millions against a small chance of getting caught. They chose the money.
Strain and institutional anomie: David is broke, with a baby on the way. In Merton's terms, he "innovates". And Messner and Rosenfeld would point out how money overrides family: he keeps lying to Iz.
Differential association: David learns both the techniques and the excuses from Efraim.
And techniques of neutralization: "the troops still get working bullets", and "the government buys from shady sources too". They never see themselves as criminals.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But this was not only about two individuals. The system made it possible. Robert Klitgaard gives us a simple formula: corruption equals monopoly, plus discretion, minus accountability.
[Point to each box.] Monopoly: brokers like Henry control the only access to cheap stockpiles. Discretion: contracting officers and foreign officials make decisions with little scrutiny, and fixers move shipments through Jordan. And accountability is low: in wartime urgency, a company run by a man in his early twenties passes the Pentagon's vetting.
[Bottom line.] This is what criminologists call state-corporate crime. The harm came from a government policy of outsourcing war to the lowest bidder, not just from two rogue young men.
[Member 6] will give our final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Thank you, [Member 5]. So, is the film accurate or exaggerated? Our answer: accurate in substance, exaggerated in style.
[Left.] Its strengths: it breaks the mafia stereotype and shows crime as a business, with a website and invoices. It matches the enterprise and network models closely. Its characters never see themselves as criminals, which is very realistic. And the core facts are true.
[Right.] But it has weaknesses. As a comedy, it glamorizes the money and makes fraud look harmless. Some characters and dangers are invented. Most importantly, it blames two individuals and underplays the system that allowed the fraud. And it leaves out real victims, including the 26 people killed in the Gërdec explosion in Albania.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To conclude. [Read the headline slowly.] Organized crime doesn't always carry guns. Sometimes it sells them, with a government contract.
War Dogs shows that AEY meets the United Nations definition of an organized criminal group, even though it looks nothing like the mafia. The enterprise and network models explain it best, and Klitgaard's formula shows how a weak system made it possible.
And there is a lesson for Bangladesh too. Our large public procurement projects also rely on intermediaries. Vetting contractors, disclosing who really owns a company, and checking where goods come from are not bureaucracy; they are crime prevention.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6400800" cy="201168"/>
          </a:xfrm>
          <a:prstGeom prst="rect">
            <a:avLst/>
          </a:prstGeom>
          <a:noFill/>
          <a:ln/>
        </p:spPr>
        <p:txBody>
          <a:bodyPr wrap="square" lIns="0" tIns="0" rIns="0" bIns="0" rtlCol="0" anchor="ctr"/>
          <a:lstStyle/>
          <a:p>
            <a:pPr indent="0" marL="0">
              <a:buNone/>
            </a:pPr>
            <a:r>
              <a:rPr lang="en-US" sz="900" b="1" dirty="0">
                <a:solidFill>
                  <a:srgbClr val="8A8574"/>
                </a:solidFill>
                <a:latin typeface="Courier New" pitchFamily="34" charset="0"/>
                <a:ea typeface="Courier New" pitchFamily="34" charset="-122"/>
                <a:cs typeface="Courier New" pitchFamily="34" charset="-120"/>
              </a:rPr>
              <a:t>MCCJ 527  //  GROUP 6  //  WAR DOGS (2016)</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7589520" y="822960"/>
            <a:ext cx="4754880" cy="4754880"/>
          </a:xfrm>
          <a:prstGeom prst="rect">
            <a:avLst/>
          </a:prstGeom>
        </p:spPr>
      </p:pic>
      <p:sp>
        <p:nvSpPr>
          <p:cNvPr id="3" name="crate label"/>
          <p:cNvSpPr txBox="1"/>
          <p:nvPr/>
        </p:nvSpPr>
        <p:spPr>
          <a:xfrm>
            <a:off x="548640" y="1097280"/>
            <a:ext cx="5788152" cy="292608"/>
          </a:xfrm>
          <a:prstGeom prst="rect">
            <a:avLst/>
          </a:prstGeom>
          <a:noFill/>
          <a:ln w="19050">
            <a:solidFill>
              <a:srgbClr val="C9A227"/>
            </a:solidFill>
            <a:prstDash val="dash"/>
          </a:ln>
        </p:spPr>
        <p:txBody>
          <a:bodyPr wrap="square" lIns="0" tIns="0" rIns="0" bIns="0" rtlCol="0" anchor="ctr"/>
          <a:lstStyle/>
          <a:p>
            <a:pPr algn="ctr" indent="0" marL="0">
              <a:buNone/>
            </a:pPr>
            <a:r>
              <a:rPr lang="en-US" sz="1200" b="1" spc="200" kern="0" dirty="0">
                <a:solidFill>
                  <a:srgbClr val="C9A227"/>
                </a:solidFill>
                <a:latin typeface="Courier New" pitchFamily="34" charset="0"/>
                <a:ea typeface="Courier New" pitchFamily="34" charset="-122"/>
                <a:cs typeface="Courier New" pitchFamily="34" charset="-120"/>
              </a:rPr>
              <a:t>MCCJ 527 // ORGANIZED CRIME AND CORRUPTION</a:t>
            </a:r>
            <a:endParaRPr lang="en-US" sz="1200" dirty="0"/>
          </a:p>
        </p:txBody>
      </p:sp>
      <p:sp>
        <p:nvSpPr>
          <p:cNvPr id="4" name="Text 1"/>
          <p:cNvSpPr txBox="1"/>
          <p:nvPr/>
        </p:nvSpPr>
        <p:spPr>
          <a:xfrm>
            <a:off x="548640" y="1691640"/>
            <a:ext cx="8229600" cy="1371600"/>
          </a:xfrm>
          <a:prstGeom prst="rect">
            <a:avLst/>
          </a:prstGeom>
          <a:noFill/>
          <a:ln/>
        </p:spPr>
        <p:txBody>
          <a:bodyPr wrap="square" lIns="0" tIns="0" rIns="0" bIns="0" rtlCol="0" anchor="ctr"/>
          <a:lstStyle/>
          <a:p>
            <a:pPr indent="0" marL="0">
              <a:buNone/>
            </a:pPr>
            <a:r>
              <a:rPr lang="en-US" sz="8800" b="1" spc="400" kern="0" dirty="0">
                <a:solidFill>
                  <a:schemeClr val="bg1"/>
                </a:solidFill>
                <a:latin typeface="Arial Black" pitchFamily="34" charset="0"/>
                <a:ea typeface="Arial Black" pitchFamily="34" charset="-122"/>
                <a:cs typeface="Arial Black" pitchFamily="34" charset="-120"/>
              </a:rPr>
              <a:t>WAR DOGS</a:t>
            </a:r>
            <a:endParaRPr lang="en-US" sz="8800" dirty="0"/>
          </a:p>
        </p:txBody>
      </p:sp>
      <p:sp>
        <p:nvSpPr>
          <p:cNvPr id="5" name="Text 2"/>
          <p:cNvSpPr txBox="1"/>
          <p:nvPr/>
        </p:nvSpPr>
        <p:spPr>
          <a:xfrm>
            <a:off x="548640" y="3108960"/>
            <a:ext cx="8229600" cy="548640"/>
          </a:xfrm>
          <a:prstGeom prst="rect">
            <a:avLst/>
          </a:prstGeom>
          <a:noFill/>
          <a:ln/>
        </p:spPr>
        <p:txBody>
          <a:bodyPr wrap="square" lIns="0" tIns="0" rIns="0" bIns="0" rtlCol="0" anchor="ctr"/>
          <a:lstStyle/>
          <a:p>
            <a:pPr indent="0" marL="0">
              <a:buNone/>
            </a:pPr>
            <a:r>
              <a:rPr lang="en-US" sz="2800" dirty="0">
                <a:solidFill>
                  <a:srgbClr val="E9E3D2"/>
                </a:solidFill>
              </a:rPr>
              <a:t>When organized crime </a:t>
            </a:r>
            <a:pPr indent="0" marL="0">
              <a:buNone/>
            </a:pPr>
            <a:r>
              <a:rPr lang="en-US" sz="2800" b="1" dirty="0">
                <a:solidFill>
                  <a:srgbClr val="F4B23E"/>
                </a:solidFill>
              </a:rPr>
              <a:t>wears a polo shirt</a:t>
            </a:r>
            <a:endParaRPr lang="en-US" sz="2800" dirty="0"/>
          </a:p>
        </p:txBody>
      </p:sp>
      <p:sp>
        <p:nvSpPr>
          <p:cNvPr id="6" name="Text 3"/>
          <p:cNvSpPr txBox="1"/>
          <p:nvPr/>
        </p:nvSpPr>
        <p:spPr>
          <a:xfrm>
            <a:off x="548640" y="3703320"/>
            <a:ext cx="7315200" cy="457200"/>
          </a:xfrm>
          <a:prstGeom prst="rect">
            <a:avLst/>
          </a:prstGeom>
          <a:noFill/>
          <a:ln/>
        </p:spPr>
        <p:txBody>
          <a:bodyPr wrap="square" lIns="0" tIns="0" rIns="0" bIns="0" rtlCol="0" anchor="ctr"/>
          <a:lstStyle/>
          <a:p>
            <a:pPr indent="0" marL="0">
              <a:buNone/>
            </a:pPr>
            <a:r>
              <a:rPr lang="en-US" sz="1600" i="1" dirty="0">
                <a:solidFill>
                  <a:srgbClr val="BDB59C"/>
                </a:solidFill>
              </a:rPr>
              <a:t>A movie review of War Dogs (2016) through the lens of organized crime and corruption</a:t>
            </a:r>
            <a:endParaRPr lang="en-US" sz="1600" dirty="0"/>
          </a:p>
        </p:txBody>
      </p:sp>
      <p:sp>
        <p:nvSpPr>
          <p:cNvPr id="7" name="Text 4"/>
          <p:cNvSpPr txBox="1"/>
          <p:nvPr/>
        </p:nvSpPr>
        <p:spPr>
          <a:xfrm>
            <a:off x="548640" y="4754880"/>
            <a:ext cx="8229600" cy="1005840"/>
          </a:xfrm>
          <a:prstGeom prst="rect">
            <a:avLst/>
          </a:prstGeom>
          <a:noFill/>
          <a:ln/>
        </p:spPr>
        <p:txBody>
          <a:bodyPr wrap="square" lIns="0" tIns="0" rIns="0" bIns="0" rtlCol="0" anchor="t"/>
          <a:lstStyle/>
          <a:p>
            <a:pPr indent="0" marL="0">
              <a:spcAft>
                <a:spcPts val="400"/>
              </a:spcAft>
              <a:buNone/>
            </a:pPr>
            <a:r>
              <a:rPr lang="en-US" sz="1400" b="1" spc="200" kern="0" dirty="0">
                <a:solidFill>
                  <a:srgbClr val="F4B23E"/>
                </a:solidFill>
                <a:latin typeface="Courier New" pitchFamily="34" charset="0"/>
                <a:ea typeface="Courier New" pitchFamily="34" charset="-122"/>
                <a:cs typeface="Courier New" pitchFamily="34" charset="-120"/>
              </a:rPr>
              <a:t>GROUP 6</a:t>
            </a:r>
            <a:endParaRPr lang="en-US" sz="1400" dirty="0"/>
          </a:p>
          <a:p>
            <a:pPr indent="0" marL="0">
              <a:spcAft>
                <a:spcPts val="400"/>
              </a:spcAft>
              <a:buNone/>
            </a:pPr>
            <a:r>
              <a:rPr lang="en-US" sz="1400" dirty="0">
                <a:solidFill>
                  <a:schemeClr val="bg1"/>
                </a:solidFill>
              </a:rPr>
              <a:t>Roll 27  ·  Roll 8  ·  Roll 37  ·  Roll 33  ·  Roll 24  ·  Roll 21</a:t>
            </a:r>
            <a:endParaRPr lang="en-US" sz="1400" dirty="0"/>
          </a:p>
          <a:p>
            <a:pPr indent="0" marL="0">
              <a:spcAft>
                <a:spcPts val="400"/>
              </a:spcAft>
              <a:buNone/>
            </a:pPr>
            <a:r>
              <a:rPr lang="en-US" sz="1400" dirty="0">
                <a:solidFill>
                  <a:srgbClr val="BDB59C"/>
                </a:solidFill>
              </a:rPr>
              <a:t>[Names]  |  Department of Criminology, University of Dhaka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ate label"/>
          <p:cNvSpPr txBox="1"/>
          <p:nvPr/>
        </p:nvSpPr>
        <p:spPr>
          <a:xfrm>
            <a:off x="548640" y="292608"/>
            <a:ext cx="2715768"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01 // THE FILM</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War Dogs at a glance: a true story told as a dark comedy</a:t>
            </a:r>
            <a:endParaRPr lang="en-US" sz="2800" dirty="0"/>
          </a:p>
        </p:txBody>
      </p:sp>
      <p:sp>
        <p:nvSpPr>
          <p:cNvPr id="4" name="Text 2"/>
          <p:cNvSpPr txBox="1"/>
          <p:nvPr/>
        </p:nvSpPr>
        <p:spPr>
          <a:xfrm>
            <a:off x="548640" y="1645920"/>
            <a:ext cx="1737360" cy="640080"/>
          </a:xfrm>
          <a:prstGeom prst="rect">
            <a:avLst/>
          </a:prstGeom>
          <a:noFill/>
          <a:ln/>
        </p:spPr>
        <p:txBody>
          <a:bodyPr wrap="square" lIns="0" tIns="0" rIns="0" bIns="0" rtlCol="0" anchor="ctr"/>
          <a:lstStyle/>
          <a:p>
            <a:pPr indent="0" marL="0">
              <a:buNone/>
            </a:pPr>
            <a:r>
              <a:rPr lang="en-US" sz="1300" b="1" dirty="0">
                <a:solidFill>
                  <a:srgbClr val="5B6B3A"/>
                </a:solidFill>
                <a:latin typeface="Courier New" pitchFamily="34" charset="0"/>
                <a:ea typeface="Courier New" pitchFamily="34" charset="-122"/>
                <a:cs typeface="Courier New" pitchFamily="34" charset="-120"/>
              </a:rPr>
              <a:t>DIRECTOR</a:t>
            </a:r>
            <a:endParaRPr lang="en-US" sz="1300" dirty="0"/>
          </a:p>
        </p:txBody>
      </p:sp>
      <p:sp>
        <p:nvSpPr>
          <p:cNvPr id="5" name="Text 3"/>
          <p:cNvSpPr txBox="1"/>
          <p:nvPr/>
        </p:nvSpPr>
        <p:spPr>
          <a:xfrm>
            <a:off x="2331720" y="1645920"/>
            <a:ext cx="4846320" cy="640080"/>
          </a:xfrm>
          <a:prstGeom prst="rect">
            <a:avLst/>
          </a:prstGeom>
          <a:noFill/>
          <a:ln/>
        </p:spPr>
        <p:txBody>
          <a:bodyPr wrap="square" lIns="0" tIns="0" rIns="0" bIns="0" rtlCol="0" anchor="ctr"/>
          <a:lstStyle/>
          <a:p>
            <a:pPr indent="0" marL="0">
              <a:buNone/>
            </a:pPr>
            <a:r>
              <a:rPr lang="en-US" sz="1500" dirty="0">
                <a:solidFill>
                  <a:srgbClr val="23281C"/>
                </a:solidFill>
              </a:rPr>
              <a:t>Todd Phillips</a:t>
            </a:r>
            <a:endParaRPr lang="en-US" sz="1500" dirty="0"/>
          </a:p>
        </p:txBody>
      </p:sp>
      <p:sp>
        <p:nvSpPr>
          <p:cNvPr id="6" name="Shape 4"/>
          <p:cNvSpPr/>
          <p:nvPr/>
        </p:nvSpPr>
        <p:spPr>
          <a:xfrm>
            <a:off x="548640" y="2340864"/>
            <a:ext cx="6629400" cy="0"/>
          </a:xfrm>
          <a:prstGeom prst="line">
            <a:avLst/>
          </a:prstGeom>
          <a:noFill/>
          <a:ln w="12700">
            <a:solidFill>
              <a:srgbClr val="CFC6AE"/>
            </a:solidFill>
            <a:prstDash val="solid"/>
          </a:ln>
        </p:spPr>
      </p:sp>
      <p:sp>
        <p:nvSpPr>
          <p:cNvPr id="7" name="Text 5"/>
          <p:cNvSpPr txBox="1"/>
          <p:nvPr/>
        </p:nvSpPr>
        <p:spPr>
          <a:xfrm>
            <a:off x="548640" y="2395728"/>
            <a:ext cx="1737360" cy="640080"/>
          </a:xfrm>
          <a:prstGeom prst="rect">
            <a:avLst/>
          </a:prstGeom>
          <a:noFill/>
          <a:ln/>
        </p:spPr>
        <p:txBody>
          <a:bodyPr wrap="square" lIns="0" tIns="0" rIns="0" bIns="0" rtlCol="0" anchor="ctr"/>
          <a:lstStyle/>
          <a:p>
            <a:pPr indent="0" marL="0">
              <a:buNone/>
            </a:pPr>
            <a:r>
              <a:rPr lang="en-US" sz="1300" b="1" dirty="0">
                <a:solidFill>
                  <a:srgbClr val="5B6B3A"/>
                </a:solidFill>
                <a:latin typeface="Courier New" pitchFamily="34" charset="0"/>
                <a:ea typeface="Courier New" pitchFamily="34" charset="-122"/>
                <a:cs typeface="Courier New" pitchFamily="34" charset="-120"/>
              </a:rPr>
              <a:t>RELEASED</a:t>
            </a:r>
            <a:endParaRPr lang="en-US" sz="1300" dirty="0"/>
          </a:p>
        </p:txBody>
      </p:sp>
      <p:sp>
        <p:nvSpPr>
          <p:cNvPr id="8" name="Text 6"/>
          <p:cNvSpPr txBox="1"/>
          <p:nvPr/>
        </p:nvSpPr>
        <p:spPr>
          <a:xfrm>
            <a:off x="2331720" y="2395728"/>
            <a:ext cx="4846320" cy="640080"/>
          </a:xfrm>
          <a:prstGeom prst="rect">
            <a:avLst/>
          </a:prstGeom>
          <a:noFill/>
          <a:ln/>
        </p:spPr>
        <p:txBody>
          <a:bodyPr wrap="square" lIns="0" tIns="0" rIns="0" bIns="0" rtlCol="0" anchor="ctr"/>
          <a:lstStyle/>
          <a:p>
            <a:pPr indent="0" marL="0">
              <a:buNone/>
            </a:pPr>
            <a:r>
              <a:rPr lang="en-US" sz="1500" dirty="0">
                <a:solidFill>
                  <a:srgbClr val="23281C"/>
                </a:solidFill>
              </a:rPr>
              <a:t>August 2016, Warner Bros.</a:t>
            </a:r>
            <a:endParaRPr lang="en-US" sz="1500" dirty="0"/>
          </a:p>
        </p:txBody>
      </p:sp>
      <p:sp>
        <p:nvSpPr>
          <p:cNvPr id="9" name="Shape 7"/>
          <p:cNvSpPr/>
          <p:nvPr/>
        </p:nvSpPr>
        <p:spPr>
          <a:xfrm>
            <a:off x="548640" y="3090672"/>
            <a:ext cx="6629400" cy="0"/>
          </a:xfrm>
          <a:prstGeom prst="line">
            <a:avLst/>
          </a:prstGeom>
          <a:noFill/>
          <a:ln w="12700">
            <a:solidFill>
              <a:srgbClr val="CFC6AE"/>
            </a:solidFill>
            <a:prstDash val="solid"/>
          </a:ln>
        </p:spPr>
      </p:sp>
      <p:sp>
        <p:nvSpPr>
          <p:cNvPr id="10" name="Text 8"/>
          <p:cNvSpPr txBox="1"/>
          <p:nvPr/>
        </p:nvSpPr>
        <p:spPr>
          <a:xfrm>
            <a:off x="548640" y="3145536"/>
            <a:ext cx="1737360" cy="640080"/>
          </a:xfrm>
          <a:prstGeom prst="rect">
            <a:avLst/>
          </a:prstGeom>
          <a:noFill/>
          <a:ln/>
        </p:spPr>
        <p:txBody>
          <a:bodyPr wrap="square" lIns="0" tIns="0" rIns="0" bIns="0" rtlCol="0" anchor="ctr"/>
          <a:lstStyle/>
          <a:p>
            <a:pPr indent="0" marL="0">
              <a:buNone/>
            </a:pPr>
            <a:r>
              <a:rPr lang="en-US" sz="1300" b="1" dirty="0">
                <a:solidFill>
                  <a:srgbClr val="5B6B3A"/>
                </a:solidFill>
                <a:latin typeface="Courier New" pitchFamily="34" charset="0"/>
                <a:ea typeface="Courier New" pitchFamily="34" charset="-122"/>
                <a:cs typeface="Courier New" pitchFamily="34" charset="-120"/>
              </a:rPr>
              <a:t>GENRE</a:t>
            </a:r>
            <a:endParaRPr lang="en-US" sz="1300" dirty="0"/>
          </a:p>
        </p:txBody>
      </p:sp>
      <p:sp>
        <p:nvSpPr>
          <p:cNvPr id="11" name="Text 9"/>
          <p:cNvSpPr txBox="1"/>
          <p:nvPr/>
        </p:nvSpPr>
        <p:spPr>
          <a:xfrm>
            <a:off x="2331720" y="3145536"/>
            <a:ext cx="4846320" cy="640080"/>
          </a:xfrm>
          <a:prstGeom prst="rect">
            <a:avLst/>
          </a:prstGeom>
          <a:noFill/>
          <a:ln/>
        </p:spPr>
        <p:txBody>
          <a:bodyPr wrap="square" lIns="0" tIns="0" rIns="0" bIns="0" rtlCol="0" anchor="ctr"/>
          <a:lstStyle/>
          <a:p>
            <a:pPr indent="0" marL="0">
              <a:buNone/>
            </a:pPr>
            <a:r>
              <a:rPr lang="en-US" sz="1500" dirty="0">
                <a:solidFill>
                  <a:srgbClr val="23281C"/>
                </a:solidFill>
              </a:rPr>
              <a:t>Crime comedy-drama, biographical</a:t>
            </a:r>
            <a:endParaRPr lang="en-US" sz="1500" dirty="0"/>
          </a:p>
        </p:txBody>
      </p:sp>
      <p:sp>
        <p:nvSpPr>
          <p:cNvPr id="12" name="Shape 10"/>
          <p:cNvSpPr/>
          <p:nvPr/>
        </p:nvSpPr>
        <p:spPr>
          <a:xfrm>
            <a:off x="548640" y="3840480"/>
            <a:ext cx="6629400" cy="0"/>
          </a:xfrm>
          <a:prstGeom prst="line">
            <a:avLst/>
          </a:prstGeom>
          <a:noFill/>
          <a:ln w="12700">
            <a:solidFill>
              <a:srgbClr val="CFC6AE"/>
            </a:solidFill>
            <a:prstDash val="solid"/>
          </a:ln>
        </p:spPr>
      </p:sp>
      <p:sp>
        <p:nvSpPr>
          <p:cNvPr id="13" name="Text 11"/>
          <p:cNvSpPr txBox="1"/>
          <p:nvPr/>
        </p:nvSpPr>
        <p:spPr>
          <a:xfrm>
            <a:off x="548640" y="3895344"/>
            <a:ext cx="1737360" cy="640080"/>
          </a:xfrm>
          <a:prstGeom prst="rect">
            <a:avLst/>
          </a:prstGeom>
          <a:noFill/>
          <a:ln/>
        </p:spPr>
        <p:txBody>
          <a:bodyPr wrap="square" lIns="0" tIns="0" rIns="0" bIns="0" rtlCol="0" anchor="ctr"/>
          <a:lstStyle/>
          <a:p>
            <a:pPr indent="0" marL="0">
              <a:buNone/>
            </a:pPr>
            <a:r>
              <a:rPr lang="en-US" sz="1300" b="1" dirty="0">
                <a:solidFill>
                  <a:srgbClr val="5B6B3A"/>
                </a:solidFill>
                <a:latin typeface="Courier New" pitchFamily="34" charset="0"/>
                <a:ea typeface="Courier New" pitchFamily="34" charset="-122"/>
                <a:cs typeface="Courier New" pitchFamily="34" charset="-120"/>
              </a:rPr>
              <a:t>MAIN CAST</a:t>
            </a:r>
            <a:endParaRPr lang="en-US" sz="1300" dirty="0"/>
          </a:p>
        </p:txBody>
      </p:sp>
      <p:sp>
        <p:nvSpPr>
          <p:cNvPr id="14" name="Text 12"/>
          <p:cNvSpPr txBox="1"/>
          <p:nvPr/>
        </p:nvSpPr>
        <p:spPr>
          <a:xfrm>
            <a:off x="2331720" y="3895344"/>
            <a:ext cx="4846320" cy="640080"/>
          </a:xfrm>
          <a:prstGeom prst="rect">
            <a:avLst/>
          </a:prstGeom>
          <a:noFill/>
          <a:ln/>
        </p:spPr>
        <p:txBody>
          <a:bodyPr wrap="square" lIns="0" tIns="0" rIns="0" bIns="0" rtlCol="0" anchor="ctr"/>
          <a:lstStyle/>
          <a:p>
            <a:pPr indent="0" marL="0">
              <a:buNone/>
            </a:pPr>
            <a:r>
              <a:rPr lang="en-US" sz="1500" dirty="0">
                <a:solidFill>
                  <a:srgbClr val="23281C"/>
                </a:solidFill>
              </a:rPr>
              <a:t>Jonah Hill (Efraim Diveroli), Miles Teller (David Packouz), Ana de Armas (Iz), Bradley Cooper (Henry Girard)</a:t>
            </a:r>
            <a:endParaRPr lang="en-US" sz="1500" dirty="0"/>
          </a:p>
        </p:txBody>
      </p:sp>
      <p:sp>
        <p:nvSpPr>
          <p:cNvPr id="15" name="Shape 13"/>
          <p:cNvSpPr/>
          <p:nvPr/>
        </p:nvSpPr>
        <p:spPr>
          <a:xfrm>
            <a:off x="548640" y="4590288"/>
            <a:ext cx="6629400" cy="0"/>
          </a:xfrm>
          <a:prstGeom prst="line">
            <a:avLst/>
          </a:prstGeom>
          <a:noFill/>
          <a:ln w="12700">
            <a:solidFill>
              <a:srgbClr val="CFC6AE"/>
            </a:solidFill>
            <a:prstDash val="solid"/>
          </a:ln>
        </p:spPr>
      </p:sp>
      <p:sp>
        <p:nvSpPr>
          <p:cNvPr id="16" name="Text 14"/>
          <p:cNvSpPr txBox="1"/>
          <p:nvPr/>
        </p:nvSpPr>
        <p:spPr>
          <a:xfrm>
            <a:off x="548640" y="4645152"/>
            <a:ext cx="1737360" cy="640080"/>
          </a:xfrm>
          <a:prstGeom prst="rect">
            <a:avLst/>
          </a:prstGeom>
          <a:noFill/>
          <a:ln/>
        </p:spPr>
        <p:txBody>
          <a:bodyPr wrap="square" lIns="0" tIns="0" rIns="0" bIns="0" rtlCol="0" anchor="ctr"/>
          <a:lstStyle/>
          <a:p>
            <a:pPr indent="0" marL="0">
              <a:buNone/>
            </a:pPr>
            <a:r>
              <a:rPr lang="en-US" sz="1300" b="1" dirty="0">
                <a:solidFill>
                  <a:srgbClr val="5B6B3A"/>
                </a:solidFill>
                <a:latin typeface="Courier New" pitchFamily="34" charset="0"/>
                <a:ea typeface="Courier New" pitchFamily="34" charset="-122"/>
                <a:cs typeface="Courier New" pitchFamily="34" charset="-120"/>
              </a:rPr>
              <a:t>BASED ON</a:t>
            </a:r>
            <a:endParaRPr lang="en-US" sz="1300" dirty="0"/>
          </a:p>
        </p:txBody>
      </p:sp>
      <p:sp>
        <p:nvSpPr>
          <p:cNvPr id="17" name="Text 15"/>
          <p:cNvSpPr txBox="1"/>
          <p:nvPr/>
        </p:nvSpPr>
        <p:spPr>
          <a:xfrm>
            <a:off x="2331720" y="4645152"/>
            <a:ext cx="4846320" cy="640080"/>
          </a:xfrm>
          <a:prstGeom prst="rect">
            <a:avLst/>
          </a:prstGeom>
          <a:noFill/>
          <a:ln/>
        </p:spPr>
        <p:txBody>
          <a:bodyPr wrap="square" lIns="0" tIns="0" rIns="0" bIns="0" rtlCol="0" anchor="ctr"/>
          <a:lstStyle/>
          <a:p>
            <a:pPr indent="0" marL="0">
              <a:buNone/>
            </a:pPr>
            <a:r>
              <a:rPr lang="en-US" sz="1500" dirty="0">
                <a:solidFill>
                  <a:srgbClr val="23281C"/>
                </a:solidFill>
              </a:rPr>
              <a:t>Guy Lawson’s Rolling Stone article (2011) and book Arms and the Dudes (2015)</a:t>
            </a:r>
            <a:endParaRPr lang="en-US" sz="1500" dirty="0"/>
          </a:p>
        </p:txBody>
      </p:sp>
      <p:sp>
        <p:nvSpPr>
          <p:cNvPr id="18" name="Shape 16"/>
          <p:cNvSpPr/>
          <p:nvPr/>
        </p:nvSpPr>
        <p:spPr>
          <a:xfrm>
            <a:off x="548640" y="5340096"/>
            <a:ext cx="6629400" cy="0"/>
          </a:xfrm>
          <a:prstGeom prst="line">
            <a:avLst/>
          </a:prstGeom>
          <a:noFill/>
          <a:ln w="12700">
            <a:solidFill>
              <a:srgbClr val="CFC6AE"/>
            </a:solidFill>
            <a:prstDash val="solid"/>
          </a:ln>
        </p:spPr>
      </p:sp>
      <p:sp>
        <p:nvSpPr>
          <p:cNvPr id="19" name="theme panel"/>
          <p:cNvSpPr/>
          <p:nvPr/>
        </p:nvSpPr>
        <p:spPr>
          <a:xfrm>
            <a:off x="7635240" y="1645920"/>
            <a:ext cx="4007815" cy="4160520"/>
          </a:xfrm>
          <a:prstGeom prst="rect">
            <a:avLst/>
          </a:prstGeom>
          <a:solidFill>
            <a:srgbClr val="1B1D18"/>
          </a:solidFill>
          <a:ln/>
        </p:spPr>
      </p:sp>
      <p:sp>
        <p:nvSpPr>
          <p:cNvPr id="20" name="Text 18"/>
          <p:cNvSpPr txBox="1"/>
          <p:nvPr/>
        </p:nvSpPr>
        <p:spPr>
          <a:xfrm>
            <a:off x="7955280" y="1874520"/>
            <a:ext cx="3367735" cy="274320"/>
          </a:xfrm>
          <a:prstGeom prst="rect">
            <a:avLst/>
          </a:prstGeom>
          <a:noFill/>
          <a:ln/>
        </p:spPr>
        <p:txBody>
          <a:bodyPr wrap="square" lIns="0" tIns="0" rIns="0" bIns="0" rtlCol="0" anchor="ctr"/>
          <a:lstStyle/>
          <a:p>
            <a:pPr indent="0" marL="0">
              <a:buNone/>
            </a:pPr>
            <a:r>
              <a:rPr lang="en-US" sz="1200" b="1" spc="200" kern="0" dirty="0">
                <a:solidFill>
                  <a:srgbClr val="F4B23E"/>
                </a:solidFill>
                <a:latin typeface="Courier New" pitchFamily="34" charset="0"/>
                <a:ea typeface="Courier New" pitchFamily="34" charset="-122"/>
                <a:cs typeface="Courier New" pitchFamily="34" charset="-120"/>
              </a:rPr>
              <a:t>CENTRAL THEME</a:t>
            </a:r>
            <a:endParaRPr lang="en-US" sz="1200" dirty="0"/>
          </a:p>
        </p:txBody>
      </p:sp>
      <p:sp>
        <p:nvSpPr>
          <p:cNvPr id="21" name="Text 19"/>
          <p:cNvSpPr txBox="1"/>
          <p:nvPr/>
        </p:nvSpPr>
        <p:spPr>
          <a:xfrm>
            <a:off x="7955280" y="2240280"/>
            <a:ext cx="3367735" cy="1280160"/>
          </a:xfrm>
          <a:prstGeom prst="rect">
            <a:avLst/>
          </a:prstGeom>
          <a:noFill/>
          <a:ln/>
        </p:spPr>
        <p:txBody>
          <a:bodyPr wrap="square" lIns="0" tIns="0" rIns="0" bIns="0" rtlCol="0" anchor="t"/>
          <a:lstStyle/>
          <a:p>
            <a:pPr indent="0" marL="0">
              <a:buNone/>
            </a:pPr>
            <a:r>
              <a:rPr lang="en-US" sz="2000" b="1" dirty="0">
                <a:solidFill>
                  <a:schemeClr val="bg1"/>
                </a:solidFill>
              </a:rPr>
              <a:t>The grey zone where legitimate business, state power and crime overlap.</a:t>
            </a:r>
            <a:endParaRPr lang="en-US" sz="2000" dirty="0"/>
          </a:p>
        </p:txBody>
      </p:sp>
      <p:sp>
        <p:nvSpPr>
          <p:cNvPr id="22" name="Text 20"/>
          <p:cNvSpPr txBox="1"/>
          <p:nvPr/>
        </p:nvSpPr>
        <p:spPr>
          <a:xfrm>
            <a:off x="7955280" y="3703320"/>
            <a:ext cx="3367735" cy="822960"/>
          </a:xfrm>
          <a:prstGeom prst="rect">
            <a:avLst/>
          </a:prstGeom>
          <a:noFill/>
          <a:ln/>
        </p:spPr>
        <p:txBody>
          <a:bodyPr wrap="square" lIns="0" tIns="0" rIns="0" bIns="0" rtlCol="0" anchor="t"/>
          <a:lstStyle/>
          <a:p>
            <a:pPr indent="0" marL="0">
              <a:buNone/>
            </a:pPr>
            <a:r>
              <a:rPr lang="en-US" sz="1500" b="1" dirty="0">
                <a:solidFill>
                  <a:srgbClr val="F4B23E"/>
                </a:solidFill>
              </a:rPr>
              <a:t>“War dogs”</a:t>
            </a:r>
            <a:pPr indent="0" marL="0">
              <a:buNone/>
            </a:pPr>
            <a:r>
              <a:rPr lang="en-US" sz="1500" dirty="0">
                <a:solidFill>
                  <a:srgbClr val="E9E3D2"/>
                </a:solidFill>
              </a:rPr>
              <a:t> = people who profit from war without ever fighting in one.</a:t>
            </a:r>
            <a:endParaRPr lang="en-US" sz="1500" dirty="0"/>
          </a:p>
        </p:txBody>
      </p:sp>
      <p:sp>
        <p:nvSpPr>
          <p:cNvPr id="23" name="Text 21"/>
          <p:cNvSpPr txBox="1"/>
          <p:nvPr/>
        </p:nvSpPr>
        <p:spPr>
          <a:xfrm>
            <a:off x="7955280" y="4800600"/>
            <a:ext cx="3367735" cy="822960"/>
          </a:xfrm>
          <a:prstGeom prst="rect">
            <a:avLst/>
          </a:prstGeom>
          <a:noFill/>
          <a:ln/>
        </p:spPr>
        <p:txBody>
          <a:bodyPr wrap="square" lIns="0" tIns="0" rIns="0" bIns="0" rtlCol="0" anchor="ctr"/>
          <a:lstStyle/>
          <a:p>
            <a:pPr indent="0" marL="0">
              <a:buNone/>
            </a:pPr>
            <a:r>
              <a:rPr lang="en-US" sz="3000" b="1" dirty="0">
                <a:solidFill>
                  <a:srgbClr val="D9480F"/>
                </a:solidFill>
              </a:rPr>
              <a:t>$298M</a:t>
            </a:r>
            <a:pPr indent="0" marL="0">
              <a:buNone/>
            </a:pPr>
            <a:r>
              <a:rPr lang="en-US" sz="1300" dirty="0">
                <a:solidFill>
                  <a:srgbClr val="E9E3D2"/>
                </a:solidFill>
              </a:rPr>
              <a:t>  real Pentagon contract won by AEY Inc. in 2007</a:t>
            </a:r>
            <a:endParaRPr lang="en-US" sz="3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ate label"/>
          <p:cNvSpPr txBox="1"/>
          <p:nvPr/>
        </p:nvSpPr>
        <p:spPr>
          <a:xfrm>
            <a:off x="548640" y="292608"/>
            <a:ext cx="2715768"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02 // THE PLOT</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The plot in five moves: from bedsheets to a $300M arms deal</a:t>
            </a:r>
            <a:endParaRPr lang="en-US" sz="2800" dirty="0"/>
          </a:p>
        </p:txBody>
      </p:sp>
      <p:sp>
        <p:nvSpPr>
          <p:cNvPr id="4" name="move 1"/>
          <p:cNvSpPr/>
          <p:nvPr/>
        </p:nvSpPr>
        <p:spPr>
          <a:xfrm>
            <a:off x="548640" y="1691640"/>
            <a:ext cx="2057400" cy="4069080"/>
          </a:xfrm>
          <a:prstGeom prst="rect">
            <a:avLst/>
          </a:prstGeom>
          <a:solidFill>
            <a:srgbClr val="FAF7EF"/>
          </a:solidFill>
          <a:ln w="12700">
            <a:solidFill>
              <a:srgbClr val="CFC6AE"/>
            </a:solidFill>
            <a:prstDash val="solid"/>
          </a:ln>
        </p:spPr>
      </p:sp>
      <p:sp>
        <p:nvSpPr>
          <p:cNvPr id="5" name="Crumbs circle"/>
          <p:cNvSpPr/>
          <p:nvPr/>
        </p:nvSpPr>
        <p:spPr>
          <a:xfrm>
            <a:off x="777240" y="1947672"/>
            <a:ext cx="594360" cy="594360"/>
          </a:xfrm>
          <a:prstGeom prst="ellipse">
            <a:avLst/>
          </a:prstGeom>
          <a:solidFill>
            <a:srgbClr val="5B6B3A"/>
          </a:solidFill>
          <a:ln/>
        </p:spPr>
      </p:sp>
      <p:pic>
        <p:nvPicPr>
          <p:cNvPr id="6" name="Crumbs icon" descr="Crumbs">    </p:cNvPr>
          <p:cNvPicPr>
            <a:picLocks noChangeAspect="1"/>
          </p:cNvPicPr>
          <p:nvPr/>
        </p:nvPicPr>
        <p:blipFill>
          <a:blip r:embed="rId1"/>
          <a:stretch>
            <a:fillRect/>
          </a:stretch>
        </p:blipFill>
        <p:spPr>
          <a:xfrm>
            <a:off x="913943" y="2084375"/>
            <a:ext cx="320954" cy="320954"/>
          </a:xfrm>
          <a:prstGeom prst="rect">
            <a:avLst/>
          </a:prstGeom>
        </p:spPr>
      </p:pic>
      <p:sp>
        <p:nvSpPr>
          <p:cNvPr id="7" name="Text 4"/>
          <p:cNvSpPr txBox="1"/>
          <p:nvPr/>
        </p:nvSpPr>
        <p:spPr>
          <a:xfrm>
            <a:off x="1737360" y="1965960"/>
            <a:ext cx="685800" cy="502920"/>
          </a:xfrm>
          <a:prstGeom prst="rect">
            <a:avLst/>
          </a:prstGeom>
          <a:noFill/>
          <a:ln/>
        </p:spPr>
        <p:txBody>
          <a:bodyPr wrap="square" lIns="0" tIns="0" rIns="0" bIns="0" rtlCol="0" anchor="ctr"/>
          <a:lstStyle/>
          <a:p>
            <a:pPr algn="r" indent="0" marL="0">
              <a:buNone/>
            </a:pPr>
            <a:r>
              <a:rPr lang="en-US" sz="2400" b="1" dirty="0">
                <a:solidFill>
                  <a:srgbClr val="D8CFB6"/>
                </a:solidFill>
                <a:latin typeface="Arial Black" pitchFamily="34" charset="0"/>
                <a:ea typeface="Arial Black" pitchFamily="34" charset="-122"/>
                <a:cs typeface="Arial Black" pitchFamily="34" charset="-120"/>
              </a:rPr>
              <a:t>01</a:t>
            </a:r>
            <a:endParaRPr lang="en-US" sz="2400" dirty="0"/>
          </a:p>
        </p:txBody>
      </p:sp>
      <p:sp>
        <p:nvSpPr>
          <p:cNvPr id="8" name="Text 5"/>
          <p:cNvSpPr txBox="1"/>
          <p:nvPr/>
        </p:nvSpPr>
        <p:spPr>
          <a:xfrm>
            <a:off x="777240" y="2743200"/>
            <a:ext cx="1600200" cy="41148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Crumbs</a:t>
            </a:r>
            <a:endParaRPr lang="en-US" sz="1600" dirty="0"/>
          </a:p>
        </p:txBody>
      </p:sp>
      <p:sp>
        <p:nvSpPr>
          <p:cNvPr id="9" name="Text 6"/>
          <p:cNvSpPr txBox="1"/>
          <p:nvPr/>
        </p:nvSpPr>
        <p:spPr>
          <a:xfrm>
            <a:off x="777240" y="3246120"/>
            <a:ext cx="1600200" cy="2331720"/>
          </a:xfrm>
          <a:prstGeom prst="rect">
            <a:avLst/>
          </a:prstGeom>
          <a:noFill/>
          <a:ln/>
        </p:spPr>
        <p:txBody>
          <a:bodyPr wrap="square" lIns="0" tIns="0" rIns="0" bIns="0" rtlCol="0" anchor="t"/>
          <a:lstStyle/>
          <a:p>
            <a:pPr indent="0" marL="0">
              <a:buNone/>
            </a:pPr>
            <a:r>
              <a:rPr lang="en-US" sz="1400" dirty="0">
                <a:solidFill>
                  <a:srgbClr val="5C5A4E"/>
                </a:solidFill>
              </a:rPr>
              <a:t>Broke Miami masseur David joins friend Efraim’s company AEY, bidding on small Pentagon contracts online.</a:t>
            </a:r>
            <a:endParaRPr lang="en-US" sz="1400" dirty="0"/>
          </a:p>
        </p:txBody>
      </p:sp>
      <p:sp>
        <p:nvSpPr>
          <p:cNvPr id="10" name="move 2"/>
          <p:cNvSpPr/>
          <p:nvPr/>
        </p:nvSpPr>
        <p:spPr>
          <a:xfrm>
            <a:off x="2807894" y="1691640"/>
            <a:ext cx="2057400" cy="4069080"/>
          </a:xfrm>
          <a:prstGeom prst="rect">
            <a:avLst/>
          </a:prstGeom>
          <a:solidFill>
            <a:srgbClr val="FAF7EF"/>
          </a:solidFill>
          <a:ln w="12700">
            <a:solidFill>
              <a:srgbClr val="CFC6AE"/>
            </a:solidFill>
            <a:prstDash val="solid"/>
          </a:ln>
        </p:spPr>
      </p:sp>
      <p:sp>
        <p:nvSpPr>
          <p:cNvPr id="11" name="Iraq run circle"/>
          <p:cNvSpPr/>
          <p:nvPr/>
        </p:nvSpPr>
        <p:spPr>
          <a:xfrm>
            <a:off x="3036494" y="1947672"/>
            <a:ext cx="594360" cy="594360"/>
          </a:xfrm>
          <a:prstGeom prst="ellipse">
            <a:avLst/>
          </a:prstGeom>
          <a:solidFill>
            <a:srgbClr val="5B6B3A"/>
          </a:solidFill>
          <a:ln/>
        </p:spPr>
      </p:sp>
      <p:pic>
        <p:nvPicPr>
          <p:cNvPr id="12" name="Iraq run icon" descr="Iraq run">    </p:cNvPr>
          <p:cNvPicPr>
            <a:picLocks noChangeAspect="1"/>
          </p:cNvPicPr>
          <p:nvPr/>
        </p:nvPicPr>
        <p:blipFill>
          <a:blip r:embed="rId2"/>
          <a:stretch>
            <a:fillRect/>
          </a:stretch>
        </p:blipFill>
        <p:spPr>
          <a:xfrm>
            <a:off x="3173197" y="2084375"/>
            <a:ext cx="320954" cy="320954"/>
          </a:xfrm>
          <a:prstGeom prst="rect">
            <a:avLst/>
          </a:prstGeom>
        </p:spPr>
      </p:pic>
      <p:sp>
        <p:nvSpPr>
          <p:cNvPr id="13" name="Text 9"/>
          <p:cNvSpPr txBox="1"/>
          <p:nvPr/>
        </p:nvSpPr>
        <p:spPr>
          <a:xfrm>
            <a:off x="3996614" y="1965960"/>
            <a:ext cx="685800" cy="502920"/>
          </a:xfrm>
          <a:prstGeom prst="rect">
            <a:avLst/>
          </a:prstGeom>
          <a:noFill/>
          <a:ln/>
        </p:spPr>
        <p:txBody>
          <a:bodyPr wrap="square" lIns="0" tIns="0" rIns="0" bIns="0" rtlCol="0" anchor="ctr"/>
          <a:lstStyle/>
          <a:p>
            <a:pPr algn="r" indent="0" marL="0">
              <a:buNone/>
            </a:pPr>
            <a:r>
              <a:rPr lang="en-US" sz="2400" b="1" dirty="0">
                <a:solidFill>
                  <a:srgbClr val="D8CFB6"/>
                </a:solidFill>
                <a:latin typeface="Arial Black" pitchFamily="34" charset="0"/>
                <a:ea typeface="Arial Black" pitchFamily="34" charset="-122"/>
                <a:cs typeface="Arial Black" pitchFamily="34" charset="-120"/>
              </a:rPr>
              <a:t>02</a:t>
            </a:r>
            <a:endParaRPr lang="en-US" sz="2400" dirty="0"/>
          </a:p>
        </p:txBody>
      </p:sp>
      <p:sp>
        <p:nvSpPr>
          <p:cNvPr id="14" name="Text 10"/>
          <p:cNvSpPr txBox="1"/>
          <p:nvPr/>
        </p:nvSpPr>
        <p:spPr>
          <a:xfrm>
            <a:off x="3036494" y="2743200"/>
            <a:ext cx="1600200" cy="41148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Iraq run</a:t>
            </a:r>
            <a:endParaRPr lang="en-US" sz="1600" dirty="0"/>
          </a:p>
        </p:txBody>
      </p:sp>
      <p:sp>
        <p:nvSpPr>
          <p:cNvPr id="15" name="Text 11"/>
          <p:cNvSpPr txBox="1"/>
          <p:nvPr/>
        </p:nvSpPr>
        <p:spPr>
          <a:xfrm>
            <a:off x="3036494" y="3246120"/>
            <a:ext cx="1600200" cy="2331720"/>
          </a:xfrm>
          <a:prstGeom prst="rect">
            <a:avLst/>
          </a:prstGeom>
          <a:noFill/>
          <a:ln/>
        </p:spPr>
        <p:txBody>
          <a:bodyPr wrap="square" lIns="0" tIns="0" rIns="0" bIns="0" rtlCol="0" anchor="t"/>
          <a:lstStyle/>
          <a:p>
            <a:pPr indent="0" marL="0">
              <a:buNone/>
            </a:pPr>
            <a:r>
              <a:rPr lang="en-US" sz="1400" dirty="0">
                <a:solidFill>
                  <a:srgbClr val="5C5A4E"/>
                </a:solidFill>
              </a:rPr>
              <a:t>A stuck pistol shipment is pushed through Jordan into Iraq using fixers. The money starts flowing.</a:t>
            </a:r>
            <a:endParaRPr lang="en-US" sz="1400" dirty="0"/>
          </a:p>
        </p:txBody>
      </p:sp>
      <p:sp>
        <p:nvSpPr>
          <p:cNvPr id="16" name="move 3"/>
          <p:cNvSpPr/>
          <p:nvPr/>
        </p:nvSpPr>
        <p:spPr>
          <a:xfrm>
            <a:off x="5067148" y="1691640"/>
            <a:ext cx="2057400" cy="4069080"/>
          </a:xfrm>
          <a:prstGeom prst="rect">
            <a:avLst/>
          </a:prstGeom>
          <a:solidFill>
            <a:srgbClr val="FAF7EF"/>
          </a:solidFill>
          <a:ln w="12700">
            <a:solidFill>
              <a:srgbClr val="CFC6AE"/>
            </a:solidFill>
            <a:prstDash val="solid"/>
          </a:ln>
        </p:spPr>
      </p:sp>
      <p:sp>
        <p:nvSpPr>
          <p:cNvPr id="17" name="The broker circle"/>
          <p:cNvSpPr/>
          <p:nvPr/>
        </p:nvSpPr>
        <p:spPr>
          <a:xfrm>
            <a:off x="5295748" y="1947672"/>
            <a:ext cx="594360" cy="594360"/>
          </a:xfrm>
          <a:prstGeom prst="ellipse">
            <a:avLst/>
          </a:prstGeom>
          <a:solidFill>
            <a:srgbClr val="5B6B3A"/>
          </a:solidFill>
          <a:ln/>
        </p:spPr>
      </p:sp>
      <p:pic>
        <p:nvPicPr>
          <p:cNvPr id="18" name="The broker icon" descr="The broker">    </p:cNvPr>
          <p:cNvPicPr>
            <a:picLocks noChangeAspect="1"/>
          </p:cNvPicPr>
          <p:nvPr/>
        </p:nvPicPr>
        <p:blipFill>
          <a:blip r:embed="rId3"/>
          <a:stretch>
            <a:fillRect/>
          </a:stretch>
        </p:blipFill>
        <p:spPr>
          <a:xfrm>
            <a:off x="5432450" y="2084375"/>
            <a:ext cx="320954" cy="320954"/>
          </a:xfrm>
          <a:prstGeom prst="rect">
            <a:avLst/>
          </a:prstGeom>
        </p:spPr>
      </p:pic>
      <p:sp>
        <p:nvSpPr>
          <p:cNvPr id="19" name="Text 14"/>
          <p:cNvSpPr txBox="1"/>
          <p:nvPr/>
        </p:nvSpPr>
        <p:spPr>
          <a:xfrm>
            <a:off x="6255868" y="1965960"/>
            <a:ext cx="685800" cy="502920"/>
          </a:xfrm>
          <a:prstGeom prst="rect">
            <a:avLst/>
          </a:prstGeom>
          <a:noFill/>
          <a:ln/>
        </p:spPr>
        <p:txBody>
          <a:bodyPr wrap="square" lIns="0" tIns="0" rIns="0" bIns="0" rtlCol="0" anchor="ctr"/>
          <a:lstStyle/>
          <a:p>
            <a:pPr algn="r" indent="0" marL="0">
              <a:buNone/>
            </a:pPr>
            <a:r>
              <a:rPr lang="en-US" sz="2400" b="1" dirty="0">
                <a:solidFill>
                  <a:srgbClr val="D8CFB6"/>
                </a:solidFill>
                <a:latin typeface="Arial Black" pitchFamily="34" charset="0"/>
                <a:ea typeface="Arial Black" pitchFamily="34" charset="-122"/>
                <a:cs typeface="Arial Black" pitchFamily="34" charset="-120"/>
              </a:rPr>
              <a:t>03</a:t>
            </a:r>
            <a:endParaRPr lang="en-US" sz="2400" dirty="0"/>
          </a:p>
        </p:txBody>
      </p:sp>
      <p:sp>
        <p:nvSpPr>
          <p:cNvPr id="20" name="Text 15"/>
          <p:cNvSpPr txBox="1"/>
          <p:nvPr/>
        </p:nvSpPr>
        <p:spPr>
          <a:xfrm>
            <a:off x="5295748" y="2743200"/>
            <a:ext cx="1600200" cy="41148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The broker</a:t>
            </a:r>
            <a:endParaRPr lang="en-US" sz="1600" dirty="0"/>
          </a:p>
        </p:txBody>
      </p:sp>
      <p:sp>
        <p:nvSpPr>
          <p:cNvPr id="21" name="Text 16"/>
          <p:cNvSpPr txBox="1"/>
          <p:nvPr/>
        </p:nvSpPr>
        <p:spPr>
          <a:xfrm>
            <a:off x="5295748" y="3246120"/>
            <a:ext cx="1600200" cy="2331720"/>
          </a:xfrm>
          <a:prstGeom prst="rect">
            <a:avLst/>
          </a:prstGeom>
          <a:noFill/>
          <a:ln/>
        </p:spPr>
        <p:txBody>
          <a:bodyPr wrap="square" lIns="0" tIns="0" rIns="0" bIns="0" rtlCol="0" anchor="t"/>
          <a:lstStyle/>
          <a:p>
            <a:pPr indent="0" marL="0">
              <a:buNone/>
            </a:pPr>
            <a:r>
              <a:rPr lang="en-US" sz="1400" dirty="0">
                <a:solidFill>
                  <a:srgbClr val="5C5A4E"/>
                </a:solidFill>
              </a:rPr>
              <a:t>Watch-listed dealer Henry Girard opens access to 100 million rounds in Albania.</a:t>
            </a:r>
            <a:endParaRPr lang="en-US" sz="1400" dirty="0"/>
          </a:p>
        </p:txBody>
      </p:sp>
      <p:sp>
        <p:nvSpPr>
          <p:cNvPr id="22" name="move 4"/>
          <p:cNvSpPr/>
          <p:nvPr/>
        </p:nvSpPr>
        <p:spPr>
          <a:xfrm>
            <a:off x="7326401" y="1691640"/>
            <a:ext cx="2057400" cy="4069080"/>
          </a:xfrm>
          <a:prstGeom prst="rect">
            <a:avLst/>
          </a:prstGeom>
          <a:solidFill>
            <a:srgbClr val="FAF7EF"/>
          </a:solidFill>
          <a:ln w="12700">
            <a:solidFill>
              <a:srgbClr val="CFC6AE"/>
            </a:solidFill>
            <a:prstDash val="solid"/>
          </a:ln>
        </p:spPr>
      </p:sp>
      <p:sp>
        <p:nvSpPr>
          <p:cNvPr id="23" name="The fraud circle"/>
          <p:cNvSpPr/>
          <p:nvPr/>
        </p:nvSpPr>
        <p:spPr>
          <a:xfrm>
            <a:off x="7555001" y="1947672"/>
            <a:ext cx="594360" cy="594360"/>
          </a:xfrm>
          <a:prstGeom prst="ellipse">
            <a:avLst/>
          </a:prstGeom>
          <a:solidFill>
            <a:srgbClr val="D9480F"/>
          </a:solidFill>
          <a:ln/>
        </p:spPr>
      </p:sp>
      <p:pic>
        <p:nvPicPr>
          <p:cNvPr id="24" name="The fraud icon" descr="The fraud">    </p:cNvPr>
          <p:cNvPicPr>
            <a:picLocks noChangeAspect="1"/>
          </p:cNvPicPr>
          <p:nvPr/>
        </p:nvPicPr>
        <p:blipFill>
          <a:blip r:embed="rId4"/>
          <a:stretch>
            <a:fillRect/>
          </a:stretch>
        </p:blipFill>
        <p:spPr>
          <a:xfrm>
            <a:off x="7691704" y="2084375"/>
            <a:ext cx="320954" cy="320954"/>
          </a:xfrm>
          <a:prstGeom prst="rect">
            <a:avLst/>
          </a:prstGeom>
        </p:spPr>
      </p:pic>
      <p:sp>
        <p:nvSpPr>
          <p:cNvPr id="25" name="Text 19"/>
          <p:cNvSpPr txBox="1"/>
          <p:nvPr/>
        </p:nvSpPr>
        <p:spPr>
          <a:xfrm>
            <a:off x="8515121" y="1965960"/>
            <a:ext cx="685800" cy="502920"/>
          </a:xfrm>
          <a:prstGeom prst="rect">
            <a:avLst/>
          </a:prstGeom>
          <a:noFill/>
          <a:ln/>
        </p:spPr>
        <p:txBody>
          <a:bodyPr wrap="square" lIns="0" tIns="0" rIns="0" bIns="0" rtlCol="0" anchor="ctr"/>
          <a:lstStyle/>
          <a:p>
            <a:pPr algn="r" indent="0" marL="0">
              <a:buNone/>
            </a:pPr>
            <a:r>
              <a:rPr lang="en-US" sz="2400" b="1" dirty="0">
                <a:solidFill>
                  <a:srgbClr val="D8CFB6"/>
                </a:solidFill>
                <a:latin typeface="Arial Black" pitchFamily="34" charset="0"/>
                <a:ea typeface="Arial Black" pitchFamily="34" charset="-122"/>
                <a:cs typeface="Arial Black" pitchFamily="34" charset="-120"/>
              </a:rPr>
              <a:t>04</a:t>
            </a:r>
            <a:endParaRPr lang="en-US" sz="2400" dirty="0"/>
          </a:p>
        </p:txBody>
      </p:sp>
      <p:sp>
        <p:nvSpPr>
          <p:cNvPr id="26" name="Text 20"/>
          <p:cNvSpPr txBox="1"/>
          <p:nvPr/>
        </p:nvSpPr>
        <p:spPr>
          <a:xfrm>
            <a:off x="7555001" y="2743200"/>
            <a:ext cx="1600200" cy="41148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The fraud</a:t>
            </a:r>
            <a:endParaRPr lang="en-US" sz="1600" dirty="0"/>
          </a:p>
        </p:txBody>
      </p:sp>
      <p:sp>
        <p:nvSpPr>
          <p:cNvPr id="27" name="Text 21"/>
          <p:cNvSpPr txBox="1"/>
          <p:nvPr/>
        </p:nvSpPr>
        <p:spPr>
          <a:xfrm>
            <a:off x="7555001" y="3246120"/>
            <a:ext cx="1600200" cy="2331720"/>
          </a:xfrm>
          <a:prstGeom prst="rect">
            <a:avLst/>
          </a:prstGeom>
          <a:noFill/>
          <a:ln/>
        </p:spPr>
        <p:txBody>
          <a:bodyPr wrap="square" lIns="0" tIns="0" rIns="0" bIns="0" rtlCol="0" anchor="t"/>
          <a:lstStyle/>
          <a:p>
            <a:pPr indent="0" marL="0">
              <a:buNone/>
            </a:pPr>
            <a:r>
              <a:rPr lang="en-US" sz="1400" dirty="0">
                <a:solidFill>
                  <a:srgbClr val="5C5A4E"/>
                </a:solidFill>
              </a:rPr>
              <a:t>The rounds are Chinese-made and banned. They are repackaged to hide their origin.</a:t>
            </a:r>
            <a:endParaRPr lang="en-US" sz="1400" dirty="0"/>
          </a:p>
        </p:txBody>
      </p:sp>
      <p:sp>
        <p:nvSpPr>
          <p:cNvPr id="28" name="move 5"/>
          <p:cNvSpPr/>
          <p:nvPr/>
        </p:nvSpPr>
        <p:spPr>
          <a:xfrm>
            <a:off x="9585655" y="1691640"/>
            <a:ext cx="2057400" cy="4069080"/>
          </a:xfrm>
          <a:prstGeom prst="rect">
            <a:avLst/>
          </a:prstGeom>
          <a:solidFill>
            <a:srgbClr val="FAF7EF"/>
          </a:solidFill>
          <a:ln w="12700">
            <a:solidFill>
              <a:srgbClr val="CFC6AE"/>
            </a:solidFill>
            <a:prstDash val="solid"/>
          </a:ln>
        </p:spPr>
      </p:sp>
      <p:sp>
        <p:nvSpPr>
          <p:cNvPr id="29" name="Collapse circle"/>
          <p:cNvSpPr/>
          <p:nvPr/>
        </p:nvSpPr>
        <p:spPr>
          <a:xfrm>
            <a:off x="9814255" y="1947672"/>
            <a:ext cx="594360" cy="594360"/>
          </a:xfrm>
          <a:prstGeom prst="ellipse">
            <a:avLst/>
          </a:prstGeom>
          <a:solidFill>
            <a:srgbClr val="5B6B3A"/>
          </a:solidFill>
          <a:ln/>
        </p:spPr>
      </p:sp>
      <p:pic>
        <p:nvPicPr>
          <p:cNvPr id="30" name="Collapse icon" descr="Collapse">    </p:cNvPr>
          <p:cNvPicPr>
            <a:picLocks noChangeAspect="1"/>
          </p:cNvPicPr>
          <p:nvPr/>
        </p:nvPicPr>
        <p:blipFill>
          <a:blip r:embed="rId5"/>
          <a:stretch>
            <a:fillRect/>
          </a:stretch>
        </p:blipFill>
        <p:spPr>
          <a:xfrm>
            <a:off x="9950958" y="2084375"/>
            <a:ext cx="320954" cy="320954"/>
          </a:xfrm>
          <a:prstGeom prst="rect">
            <a:avLst/>
          </a:prstGeom>
        </p:spPr>
      </p:pic>
      <p:sp>
        <p:nvSpPr>
          <p:cNvPr id="31" name="Text 24"/>
          <p:cNvSpPr txBox="1"/>
          <p:nvPr/>
        </p:nvSpPr>
        <p:spPr>
          <a:xfrm>
            <a:off x="10774375" y="1965960"/>
            <a:ext cx="685800" cy="502920"/>
          </a:xfrm>
          <a:prstGeom prst="rect">
            <a:avLst/>
          </a:prstGeom>
          <a:noFill/>
          <a:ln/>
        </p:spPr>
        <p:txBody>
          <a:bodyPr wrap="square" lIns="0" tIns="0" rIns="0" bIns="0" rtlCol="0" anchor="ctr"/>
          <a:lstStyle/>
          <a:p>
            <a:pPr algn="r" indent="0" marL="0">
              <a:buNone/>
            </a:pPr>
            <a:r>
              <a:rPr lang="en-US" sz="2400" b="1" dirty="0">
                <a:solidFill>
                  <a:srgbClr val="D8CFB6"/>
                </a:solidFill>
                <a:latin typeface="Arial Black" pitchFamily="34" charset="0"/>
                <a:ea typeface="Arial Black" pitchFamily="34" charset="-122"/>
                <a:cs typeface="Arial Black" pitchFamily="34" charset="-120"/>
              </a:rPr>
              <a:t>05</a:t>
            </a:r>
            <a:endParaRPr lang="en-US" sz="2400" dirty="0"/>
          </a:p>
        </p:txBody>
      </p:sp>
      <p:sp>
        <p:nvSpPr>
          <p:cNvPr id="32" name="Text 25"/>
          <p:cNvSpPr txBox="1"/>
          <p:nvPr/>
        </p:nvSpPr>
        <p:spPr>
          <a:xfrm>
            <a:off x="9814255" y="2743200"/>
            <a:ext cx="1600200" cy="41148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Collapse</a:t>
            </a:r>
            <a:endParaRPr lang="en-US" sz="1600" dirty="0"/>
          </a:p>
        </p:txBody>
      </p:sp>
      <p:sp>
        <p:nvSpPr>
          <p:cNvPr id="33" name="Text 26"/>
          <p:cNvSpPr txBox="1"/>
          <p:nvPr/>
        </p:nvSpPr>
        <p:spPr>
          <a:xfrm>
            <a:off x="9814255" y="3246120"/>
            <a:ext cx="1600200" cy="2331720"/>
          </a:xfrm>
          <a:prstGeom prst="rect">
            <a:avLst/>
          </a:prstGeom>
          <a:noFill/>
          <a:ln/>
        </p:spPr>
        <p:txBody>
          <a:bodyPr wrap="square" lIns="0" tIns="0" rIns="0" bIns="0" rtlCol="0" anchor="t"/>
          <a:lstStyle/>
          <a:p>
            <a:pPr indent="0" marL="0">
              <a:buNone/>
            </a:pPr>
            <a:r>
              <a:rPr lang="en-US" sz="1400" dirty="0">
                <a:solidFill>
                  <a:srgbClr val="5C5A4E"/>
                </a:solidFill>
              </a:rPr>
              <a:t>Greed and betrayal. Efraim gets 4 years in prison; David, 7 months house arrest.</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ate label"/>
          <p:cNvSpPr txBox="1"/>
          <p:nvPr/>
        </p:nvSpPr>
        <p:spPr>
          <a:xfrm>
            <a:off x="548640" y="292608"/>
            <a:ext cx="3227832"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03 // REEL VS REAL</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How much of it really happened? More than you would think</a:t>
            </a:r>
            <a:endParaRPr lang="en-US" sz="2800" dirty="0"/>
          </a:p>
        </p:txBody>
      </p:sp>
      <p:sp>
        <p:nvSpPr>
          <p:cNvPr id="4" name="TRUE TO THE RECORD"/>
          <p:cNvSpPr/>
          <p:nvPr/>
        </p:nvSpPr>
        <p:spPr>
          <a:xfrm>
            <a:off x="548640" y="1645920"/>
            <a:ext cx="5364328" cy="4206240"/>
          </a:xfrm>
          <a:prstGeom prst="rect">
            <a:avLst/>
          </a:prstGeom>
          <a:solidFill>
            <a:srgbClr val="FAF7EF"/>
          </a:solidFill>
          <a:ln w="19050">
            <a:solidFill>
              <a:srgbClr val="5B6B3A"/>
            </a:solidFill>
            <a:prstDash val="solid"/>
          </a:ln>
        </p:spPr>
      </p:sp>
      <p:sp>
        <p:nvSpPr>
          <p:cNvPr id="5" name="TRUE TO THE RECORD circle"/>
          <p:cNvSpPr/>
          <p:nvPr/>
        </p:nvSpPr>
        <p:spPr>
          <a:xfrm>
            <a:off x="822960" y="1828800"/>
            <a:ext cx="548640" cy="548640"/>
          </a:xfrm>
          <a:prstGeom prst="ellipse">
            <a:avLst/>
          </a:prstGeom>
          <a:solidFill>
            <a:srgbClr val="5B6B3A"/>
          </a:solidFill>
          <a:ln/>
        </p:spPr>
      </p:sp>
      <p:pic>
        <p:nvPicPr>
          <p:cNvPr id="6" name="TRUE TO THE RECORD icon" descr="TRUE TO THE RECORD">    </p:cNvPr>
          <p:cNvPicPr>
            <a:picLocks noChangeAspect="1"/>
          </p:cNvPicPr>
          <p:nvPr/>
        </p:nvPicPr>
        <p:blipFill>
          <a:blip r:embed="rId1"/>
          <a:stretch>
            <a:fillRect/>
          </a:stretch>
        </p:blipFill>
        <p:spPr>
          <a:xfrm>
            <a:off x="949147" y="1954987"/>
            <a:ext cx="296266" cy="296266"/>
          </a:xfrm>
          <a:prstGeom prst="rect">
            <a:avLst/>
          </a:prstGeom>
        </p:spPr>
      </p:pic>
      <p:sp>
        <p:nvSpPr>
          <p:cNvPr id="7" name="Text 4"/>
          <p:cNvSpPr txBox="1"/>
          <p:nvPr/>
        </p:nvSpPr>
        <p:spPr>
          <a:xfrm>
            <a:off x="1508760" y="1828800"/>
            <a:ext cx="4175608" cy="548640"/>
          </a:xfrm>
          <a:prstGeom prst="rect">
            <a:avLst/>
          </a:prstGeom>
          <a:noFill/>
          <a:ln/>
        </p:spPr>
        <p:txBody>
          <a:bodyPr wrap="square" lIns="0" tIns="0" rIns="0" bIns="0" rtlCol="0" anchor="ctr"/>
          <a:lstStyle/>
          <a:p>
            <a:pPr indent="0" marL="0">
              <a:buNone/>
            </a:pPr>
            <a:r>
              <a:rPr lang="en-US" sz="1500" b="1" spc="100" kern="0" dirty="0">
                <a:solidFill>
                  <a:srgbClr val="5B6B3A"/>
                </a:solidFill>
                <a:latin typeface="Courier New" pitchFamily="34" charset="0"/>
                <a:ea typeface="Courier New" pitchFamily="34" charset="-122"/>
                <a:cs typeface="Courier New" pitchFamily="34" charset="-120"/>
              </a:rPr>
              <a:t>TRUE TO THE RECORD</a:t>
            </a:r>
            <a:endParaRPr lang="en-US" sz="1500" dirty="0"/>
          </a:p>
        </p:txBody>
      </p:sp>
      <p:sp>
        <p:nvSpPr>
          <p:cNvPr id="8" name="Text 5"/>
          <p:cNvSpPr txBox="1"/>
          <p:nvPr/>
        </p:nvSpPr>
        <p:spPr>
          <a:xfrm>
            <a:off x="822960" y="2606040"/>
            <a:ext cx="4815688" cy="658368"/>
          </a:xfrm>
          <a:prstGeom prst="rect">
            <a:avLst/>
          </a:prstGeom>
          <a:noFill/>
          <a:ln/>
        </p:spPr>
        <p:txBody>
          <a:bodyPr wrap="square" lIns="0" tIns="0" rIns="0" bIns="0" rtlCol="0" anchor="ctr"/>
          <a:lstStyle/>
          <a:p>
            <a:pPr indent="0" marL="0">
              <a:buNone/>
            </a:pPr>
            <a:r>
              <a:rPr lang="en-US" sz="1500" dirty="0">
                <a:solidFill>
                  <a:srgbClr val="23281C"/>
                </a:solidFill>
              </a:rPr>
              <a:t>AEY won a $298M contract to arm the Afghan National Army (2007)</a:t>
            </a:r>
            <a:endParaRPr lang="en-US" sz="1500" dirty="0"/>
          </a:p>
        </p:txBody>
      </p:sp>
      <p:sp>
        <p:nvSpPr>
          <p:cNvPr id="9" name="Shape 6"/>
          <p:cNvSpPr/>
          <p:nvPr/>
        </p:nvSpPr>
        <p:spPr>
          <a:xfrm>
            <a:off x="822960" y="3319272"/>
            <a:ext cx="4815688" cy="0"/>
          </a:xfrm>
          <a:prstGeom prst="line">
            <a:avLst/>
          </a:prstGeom>
          <a:noFill/>
          <a:ln w="12700">
            <a:solidFill>
              <a:srgbClr val="CFC6AE"/>
            </a:solidFill>
            <a:prstDash val="solid"/>
          </a:ln>
        </p:spPr>
      </p:sp>
      <p:sp>
        <p:nvSpPr>
          <p:cNvPr id="10" name="Text 7"/>
          <p:cNvSpPr txBox="1"/>
          <p:nvPr/>
        </p:nvSpPr>
        <p:spPr>
          <a:xfrm>
            <a:off x="822960" y="3383280"/>
            <a:ext cx="4815688" cy="658368"/>
          </a:xfrm>
          <a:prstGeom prst="rect">
            <a:avLst/>
          </a:prstGeom>
          <a:noFill/>
          <a:ln/>
        </p:spPr>
        <p:txBody>
          <a:bodyPr wrap="square" lIns="0" tIns="0" rIns="0" bIns="0" rtlCol="0" anchor="ctr"/>
          <a:lstStyle/>
          <a:p>
            <a:pPr indent="0" marL="0">
              <a:buNone/>
            </a:pPr>
            <a:r>
              <a:rPr lang="en-US" sz="1500" dirty="0">
                <a:solidFill>
                  <a:srgbClr val="23281C"/>
                </a:solidFill>
              </a:rPr>
              <a:t>Chinese-made rounds were repackaged to pass as Albanian</a:t>
            </a:r>
            <a:endParaRPr lang="en-US" sz="1500" dirty="0"/>
          </a:p>
        </p:txBody>
      </p:sp>
      <p:sp>
        <p:nvSpPr>
          <p:cNvPr id="11" name="Shape 8"/>
          <p:cNvSpPr/>
          <p:nvPr/>
        </p:nvSpPr>
        <p:spPr>
          <a:xfrm>
            <a:off x="822960" y="4096512"/>
            <a:ext cx="4815688" cy="0"/>
          </a:xfrm>
          <a:prstGeom prst="line">
            <a:avLst/>
          </a:prstGeom>
          <a:noFill/>
          <a:ln w="12700">
            <a:solidFill>
              <a:srgbClr val="CFC6AE"/>
            </a:solidFill>
            <a:prstDash val="solid"/>
          </a:ln>
        </p:spPr>
      </p:sp>
      <p:sp>
        <p:nvSpPr>
          <p:cNvPr id="12" name="Text 9"/>
          <p:cNvSpPr txBox="1"/>
          <p:nvPr/>
        </p:nvSpPr>
        <p:spPr>
          <a:xfrm>
            <a:off x="822960" y="4160520"/>
            <a:ext cx="4815688" cy="658368"/>
          </a:xfrm>
          <a:prstGeom prst="rect">
            <a:avLst/>
          </a:prstGeom>
          <a:noFill/>
          <a:ln/>
        </p:spPr>
        <p:txBody>
          <a:bodyPr wrap="square" lIns="0" tIns="0" rIns="0" bIns="0" rtlCol="0" anchor="ctr"/>
          <a:lstStyle/>
          <a:p>
            <a:pPr indent="0" marL="0">
              <a:buNone/>
            </a:pPr>
            <a:r>
              <a:rPr lang="en-US" sz="1500" dirty="0">
                <a:solidFill>
                  <a:srgbClr val="23281C"/>
                </a:solidFill>
              </a:rPr>
              <a:t>Efraim: 4 years in prison; David: 7 months house arrest after cooperating</a:t>
            </a:r>
            <a:endParaRPr lang="en-US" sz="1500" dirty="0"/>
          </a:p>
        </p:txBody>
      </p:sp>
      <p:sp>
        <p:nvSpPr>
          <p:cNvPr id="13" name="Shape 10"/>
          <p:cNvSpPr/>
          <p:nvPr/>
        </p:nvSpPr>
        <p:spPr>
          <a:xfrm>
            <a:off x="822960" y="4873752"/>
            <a:ext cx="4815688" cy="0"/>
          </a:xfrm>
          <a:prstGeom prst="line">
            <a:avLst/>
          </a:prstGeom>
          <a:noFill/>
          <a:ln w="12700">
            <a:solidFill>
              <a:srgbClr val="CFC6AE"/>
            </a:solidFill>
            <a:prstDash val="solid"/>
          </a:ln>
        </p:spPr>
      </p:sp>
      <p:sp>
        <p:nvSpPr>
          <p:cNvPr id="14" name="Text 11"/>
          <p:cNvSpPr txBox="1"/>
          <p:nvPr/>
        </p:nvSpPr>
        <p:spPr>
          <a:xfrm>
            <a:off x="822960" y="4937760"/>
            <a:ext cx="4815688" cy="658368"/>
          </a:xfrm>
          <a:prstGeom prst="rect">
            <a:avLst/>
          </a:prstGeom>
          <a:noFill/>
          <a:ln/>
        </p:spPr>
        <p:txBody>
          <a:bodyPr wrap="square" lIns="0" tIns="0" rIns="0" bIns="0" rtlCol="0" anchor="ctr"/>
          <a:lstStyle/>
          <a:p>
            <a:pPr indent="0" marL="0">
              <a:buNone/>
            </a:pPr>
            <a:r>
              <a:rPr lang="en-US" sz="1500" dirty="0">
                <a:solidFill>
                  <a:srgbClr val="23281C"/>
                </a:solidFill>
              </a:rPr>
              <a:t>Exposed by journalists after AEY’s supplies came under scrutiny in 2008</a:t>
            </a:r>
            <a:endParaRPr lang="en-US" sz="1500" dirty="0"/>
          </a:p>
        </p:txBody>
      </p:sp>
      <p:sp>
        <p:nvSpPr>
          <p:cNvPr id="15" name="DRAMATIZED FOR THE SCREEN"/>
          <p:cNvSpPr/>
          <p:nvPr/>
        </p:nvSpPr>
        <p:spPr>
          <a:xfrm>
            <a:off x="6278728" y="1645920"/>
            <a:ext cx="5364328" cy="4206240"/>
          </a:xfrm>
          <a:prstGeom prst="rect">
            <a:avLst/>
          </a:prstGeom>
          <a:solidFill>
            <a:srgbClr val="FAF7EF"/>
          </a:solidFill>
          <a:ln w="19050">
            <a:solidFill>
              <a:srgbClr val="D9480F"/>
            </a:solidFill>
            <a:prstDash val="solid"/>
          </a:ln>
        </p:spPr>
      </p:sp>
      <p:sp>
        <p:nvSpPr>
          <p:cNvPr id="16" name="DRAMATIZED FOR THE SCREEN circle"/>
          <p:cNvSpPr/>
          <p:nvPr/>
        </p:nvSpPr>
        <p:spPr>
          <a:xfrm>
            <a:off x="6553048" y="1828800"/>
            <a:ext cx="548640" cy="548640"/>
          </a:xfrm>
          <a:prstGeom prst="ellipse">
            <a:avLst/>
          </a:prstGeom>
          <a:solidFill>
            <a:srgbClr val="D9480F"/>
          </a:solidFill>
          <a:ln/>
        </p:spPr>
      </p:sp>
      <p:pic>
        <p:nvPicPr>
          <p:cNvPr id="17" name="DRAMATIZED FOR THE SCREEN icon" descr="DRAMATIZED FOR THE SCREEN">    </p:cNvPr>
          <p:cNvPicPr>
            <a:picLocks noChangeAspect="1"/>
          </p:cNvPicPr>
          <p:nvPr/>
        </p:nvPicPr>
        <p:blipFill>
          <a:blip r:embed="rId2"/>
          <a:stretch>
            <a:fillRect/>
          </a:stretch>
        </p:blipFill>
        <p:spPr>
          <a:xfrm>
            <a:off x="6679235" y="1954987"/>
            <a:ext cx="296266" cy="296266"/>
          </a:xfrm>
          <a:prstGeom prst="rect">
            <a:avLst/>
          </a:prstGeom>
        </p:spPr>
      </p:pic>
      <p:sp>
        <p:nvSpPr>
          <p:cNvPr id="18" name="Text 14"/>
          <p:cNvSpPr txBox="1"/>
          <p:nvPr/>
        </p:nvSpPr>
        <p:spPr>
          <a:xfrm>
            <a:off x="7238848" y="1828800"/>
            <a:ext cx="4175608" cy="548640"/>
          </a:xfrm>
          <a:prstGeom prst="rect">
            <a:avLst/>
          </a:prstGeom>
          <a:noFill/>
          <a:ln/>
        </p:spPr>
        <p:txBody>
          <a:bodyPr wrap="square" lIns="0" tIns="0" rIns="0" bIns="0" rtlCol="0" anchor="ctr"/>
          <a:lstStyle/>
          <a:p>
            <a:pPr indent="0" marL="0">
              <a:buNone/>
            </a:pPr>
            <a:r>
              <a:rPr lang="en-US" sz="1500" b="1" spc="100" kern="0" dirty="0">
                <a:solidFill>
                  <a:srgbClr val="D9480F"/>
                </a:solidFill>
                <a:latin typeface="Courier New" pitchFamily="34" charset="0"/>
                <a:ea typeface="Courier New" pitchFamily="34" charset="-122"/>
                <a:cs typeface="Courier New" pitchFamily="34" charset="-120"/>
              </a:rPr>
              <a:t>DRAMATIZED FOR THE SCREEN</a:t>
            </a:r>
            <a:endParaRPr lang="en-US" sz="1500" dirty="0"/>
          </a:p>
        </p:txBody>
      </p:sp>
      <p:sp>
        <p:nvSpPr>
          <p:cNvPr id="19" name="Text 15"/>
          <p:cNvSpPr txBox="1"/>
          <p:nvPr/>
        </p:nvSpPr>
        <p:spPr>
          <a:xfrm>
            <a:off x="6553048" y="2606040"/>
            <a:ext cx="4815688" cy="658368"/>
          </a:xfrm>
          <a:prstGeom prst="rect">
            <a:avLst/>
          </a:prstGeom>
          <a:noFill/>
          <a:ln/>
        </p:spPr>
        <p:txBody>
          <a:bodyPr wrap="square" lIns="0" tIns="0" rIns="0" bIns="0" rtlCol="0" anchor="ctr"/>
          <a:lstStyle/>
          <a:p>
            <a:pPr indent="0" marL="0">
              <a:buNone/>
            </a:pPr>
            <a:r>
              <a:rPr lang="en-US" sz="1500" dirty="0">
                <a:solidFill>
                  <a:srgbClr val="23281C"/>
                </a:solidFill>
              </a:rPr>
              <a:t>Henry Girard is a composite, inspired by Swiss broker Heinrich Thomet</a:t>
            </a:r>
            <a:endParaRPr lang="en-US" sz="1500" dirty="0"/>
          </a:p>
        </p:txBody>
      </p:sp>
      <p:sp>
        <p:nvSpPr>
          <p:cNvPr id="20" name="Shape 16"/>
          <p:cNvSpPr/>
          <p:nvPr/>
        </p:nvSpPr>
        <p:spPr>
          <a:xfrm>
            <a:off x="6553048" y="3319272"/>
            <a:ext cx="4815688" cy="0"/>
          </a:xfrm>
          <a:prstGeom prst="line">
            <a:avLst/>
          </a:prstGeom>
          <a:noFill/>
          <a:ln w="12700">
            <a:solidFill>
              <a:srgbClr val="CFC6AE"/>
            </a:solidFill>
            <a:prstDash val="solid"/>
          </a:ln>
        </p:spPr>
      </p:sp>
      <p:sp>
        <p:nvSpPr>
          <p:cNvPr id="21" name="Text 17"/>
          <p:cNvSpPr txBox="1"/>
          <p:nvPr/>
        </p:nvSpPr>
        <p:spPr>
          <a:xfrm>
            <a:off x="6553048" y="3383280"/>
            <a:ext cx="4815688" cy="658368"/>
          </a:xfrm>
          <a:prstGeom prst="rect">
            <a:avLst/>
          </a:prstGeom>
          <a:noFill/>
          <a:ln/>
        </p:spPr>
        <p:txBody>
          <a:bodyPr wrap="square" lIns="0" tIns="0" rIns="0" bIns="0" rtlCol="0" anchor="ctr"/>
          <a:lstStyle/>
          <a:p>
            <a:pPr indent="0" marL="0">
              <a:buNone/>
            </a:pPr>
            <a:r>
              <a:rPr lang="en-US" sz="1500" dirty="0">
                <a:solidFill>
                  <a:srgbClr val="23281C"/>
                </a:solidFill>
              </a:rPr>
              <a:t>The kidnapping-style threats in Albania did not happen as shown</a:t>
            </a:r>
            <a:endParaRPr lang="en-US" sz="1500" dirty="0"/>
          </a:p>
        </p:txBody>
      </p:sp>
      <p:sp>
        <p:nvSpPr>
          <p:cNvPr id="22" name="Shape 18"/>
          <p:cNvSpPr/>
          <p:nvPr/>
        </p:nvSpPr>
        <p:spPr>
          <a:xfrm>
            <a:off x="6553048" y="4096512"/>
            <a:ext cx="4815688" cy="0"/>
          </a:xfrm>
          <a:prstGeom prst="line">
            <a:avLst/>
          </a:prstGeom>
          <a:noFill/>
          <a:ln w="12700">
            <a:solidFill>
              <a:srgbClr val="CFC6AE"/>
            </a:solidFill>
            <a:prstDash val="solid"/>
          </a:ln>
        </p:spPr>
      </p:sp>
      <p:sp>
        <p:nvSpPr>
          <p:cNvPr id="23" name="Text 19"/>
          <p:cNvSpPr txBox="1"/>
          <p:nvPr/>
        </p:nvSpPr>
        <p:spPr>
          <a:xfrm>
            <a:off x="6553048" y="4160520"/>
            <a:ext cx="4815688" cy="658368"/>
          </a:xfrm>
          <a:prstGeom prst="rect">
            <a:avLst/>
          </a:prstGeom>
          <a:noFill/>
          <a:ln/>
        </p:spPr>
        <p:txBody>
          <a:bodyPr wrap="square" lIns="0" tIns="0" rIns="0" bIns="0" rtlCol="0" anchor="ctr"/>
          <a:lstStyle/>
          <a:p>
            <a:pPr indent="0" marL="0">
              <a:buNone/>
            </a:pPr>
            <a:r>
              <a:rPr lang="en-US" sz="1500" dirty="0">
                <a:solidFill>
                  <a:srgbClr val="23281C"/>
                </a:solidFill>
              </a:rPr>
              <a:t>Comedy and glamour soften the seriousness of the fraud</a:t>
            </a:r>
            <a:endParaRPr lang="en-US" sz="1500" dirty="0"/>
          </a:p>
        </p:txBody>
      </p:sp>
      <p:sp>
        <p:nvSpPr>
          <p:cNvPr id="24" name="Shape 20"/>
          <p:cNvSpPr/>
          <p:nvPr/>
        </p:nvSpPr>
        <p:spPr>
          <a:xfrm>
            <a:off x="6553048" y="4873752"/>
            <a:ext cx="4815688" cy="0"/>
          </a:xfrm>
          <a:prstGeom prst="line">
            <a:avLst/>
          </a:prstGeom>
          <a:noFill/>
          <a:ln w="12700">
            <a:solidFill>
              <a:srgbClr val="CFC6AE"/>
            </a:solidFill>
            <a:prstDash val="solid"/>
          </a:ln>
        </p:spPr>
      </p:sp>
      <p:sp>
        <p:nvSpPr>
          <p:cNvPr id="25" name="Text 21"/>
          <p:cNvSpPr txBox="1"/>
          <p:nvPr/>
        </p:nvSpPr>
        <p:spPr>
          <a:xfrm>
            <a:off x="6553048" y="4937760"/>
            <a:ext cx="4815688" cy="658368"/>
          </a:xfrm>
          <a:prstGeom prst="rect">
            <a:avLst/>
          </a:prstGeom>
          <a:noFill/>
          <a:ln/>
        </p:spPr>
        <p:txBody>
          <a:bodyPr wrap="square" lIns="0" tIns="0" rIns="0" bIns="0" rtlCol="0" anchor="ctr"/>
          <a:lstStyle/>
          <a:p>
            <a:pPr indent="0" marL="0">
              <a:buNone/>
            </a:pPr>
            <a:r>
              <a:rPr lang="en-US" sz="1500" dirty="0">
                <a:solidFill>
                  <a:srgbClr val="23281C"/>
                </a:solidFill>
              </a:rPr>
              <a:t>The film leaves out Albania’s 2008 Gërdec depot blast (26 killed)</a:t>
            </a:r>
            <a:endParaRPr lang="en-US" sz="1500" dirty="0"/>
          </a:p>
        </p:txBody>
      </p:sp>
      <p:sp>
        <p:nvSpPr>
          <p:cNvPr id="26" name="Text 22"/>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8574"/>
                </a:solidFill>
              </a:rPr>
              <a:t>Sources: Lawson (2015); Al Jazeera (2008).</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ate label"/>
          <p:cNvSpPr txBox="1"/>
          <p:nvPr/>
        </p:nvSpPr>
        <p:spPr>
          <a:xfrm>
            <a:off x="548640" y="292608"/>
            <a:ext cx="3099816"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04 // DEFINITIONS</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Is AEY organized crime? By the UN definition, yes</a:t>
            </a:r>
            <a:endParaRPr lang="en-US" sz="2800" dirty="0"/>
          </a:p>
        </p:txBody>
      </p:sp>
      <p:sp>
        <p:nvSpPr>
          <p:cNvPr id="4" name="Text 2"/>
          <p:cNvSpPr txBox="1"/>
          <p:nvPr/>
        </p:nvSpPr>
        <p:spPr>
          <a:xfrm>
            <a:off x="548640" y="1600200"/>
            <a:ext cx="6766560" cy="274320"/>
          </a:xfrm>
          <a:prstGeom prst="rect">
            <a:avLst/>
          </a:prstGeom>
          <a:noFill/>
          <a:ln/>
        </p:spPr>
        <p:txBody>
          <a:bodyPr wrap="square" lIns="0" tIns="0" rIns="0" bIns="0" rtlCol="0" anchor="ctr"/>
          <a:lstStyle/>
          <a:p>
            <a:pPr indent="0" marL="0">
              <a:buNone/>
            </a:pPr>
            <a:r>
              <a:rPr lang="en-US" sz="1200" b="1" spc="100" kern="0" dirty="0">
                <a:solidFill>
                  <a:srgbClr val="5B6B3A"/>
                </a:solidFill>
                <a:latin typeface="Courier New" pitchFamily="34" charset="0"/>
                <a:ea typeface="Courier New" pitchFamily="34" charset="-122"/>
                <a:cs typeface="Courier New" pitchFamily="34" charset="-120"/>
              </a:rPr>
              <a:t>UNTOC, ARTICLE 2: AN ORGANIZED CRIMINAL GROUP IS…</a:t>
            </a:r>
            <a:endParaRPr lang="en-US" sz="1200" dirty="0"/>
          </a:p>
        </p:txBody>
      </p:sp>
      <p:sp>
        <p:nvSpPr>
          <p:cNvPr id="5" name="criterion 1"/>
          <p:cNvSpPr/>
          <p:nvPr/>
        </p:nvSpPr>
        <p:spPr>
          <a:xfrm>
            <a:off x="548640" y="2011680"/>
            <a:ext cx="6766560" cy="777240"/>
          </a:xfrm>
          <a:prstGeom prst="rect">
            <a:avLst/>
          </a:prstGeom>
          <a:solidFill>
            <a:srgbClr val="FAF7EF"/>
          </a:solidFill>
          <a:ln w="12700">
            <a:solidFill>
              <a:srgbClr val="CFC6AE"/>
            </a:solidFill>
            <a:prstDash val="solid"/>
          </a:ln>
        </p:spPr>
      </p:sp>
      <p:sp>
        <p:nvSpPr>
          <p:cNvPr id="6" name="met circle"/>
          <p:cNvSpPr/>
          <p:nvPr/>
        </p:nvSpPr>
        <p:spPr>
          <a:xfrm>
            <a:off x="731520" y="2167128"/>
            <a:ext cx="457200" cy="457200"/>
          </a:xfrm>
          <a:prstGeom prst="ellipse">
            <a:avLst/>
          </a:prstGeom>
          <a:solidFill>
            <a:srgbClr val="5B6B3A"/>
          </a:solidFill>
          <a:ln/>
        </p:spPr>
      </p:sp>
      <p:pic>
        <p:nvPicPr>
          <p:cNvPr id="7" name="met icon" descr="met">    </p:cNvPr>
          <p:cNvPicPr>
            <a:picLocks noChangeAspect="1"/>
          </p:cNvPicPr>
          <p:nvPr/>
        </p:nvPicPr>
        <p:blipFill>
          <a:blip r:embed="rId1"/>
          <a:stretch>
            <a:fillRect/>
          </a:stretch>
        </p:blipFill>
        <p:spPr>
          <a:xfrm>
            <a:off x="836676" y="2272284"/>
            <a:ext cx="246888" cy="246888"/>
          </a:xfrm>
          <a:prstGeom prst="rect">
            <a:avLst/>
          </a:prstGeom>
        </p:spPr>
      </p:pic>
      <p:sp>
        <p:nvSpPr>
          <p:cNvPr id="8" name="Text 5"/>
          <p:cNvSpPr txBox="1"/>
          <p:nvPr/>
        </p:nvSpPr>
        <p:spPr>
          <a:xfrm>
            <a:off x="1371600" y="2011680"/>
            <a:ext cx="5806440" cy="777240"/>
          </a:xfrm>
          <a:prstGeom prst="rect">
            <a:avLst/>
          </a:prstGeom>
          <a:noFill/>
          <a:ln/>
        </p:spPr>
        <p:txBody>
          <a:bodyPr wrap="square" lIns="0" tIns="0" rIns="0" bIns="0" rtlCol="0" anchor="ctr"/>
          <a:lstStyle/>
          <a:p>
            <a:pPr indent="0" marL="0">
              <a:buNone/>
            </a:pPr>
            <a:r>
              <a:rPr lang="en-US" sz="1500" b="1" dirty="0">
                <a:solidFill>
                  <a:srgbClr val="23281C"/>
                </a:solidFill>
              </a:rPr>
              <a:t>A structured group of 3+ persons</a:t>
            </a:r>
            <a:endParaRPr lang="en-US" sz="1500" dirty="0"/>
          </a:p>
          <a:p>
            <a:pPr indent="0" marL="0">
              <a:buNone/>
            </a:pPr>
            <a:r>
              <a:rPr lang="en-US" sz="1300" dirty="0">
                <a:solidFill>
                  <a:srgbClr val="5C5A4E"/>
                </a:solidFill>
              </a:rPr>
              <a:t>Efraim, David, Ralph (financier), Henry, Albanian suppliers</a:t>
            </a:r>
            <a:endParaRPr lang="en-US" sz="1500" dirty="0"/>
          </a:p>
        </p:txBody>
      </p:sp>
      <p:sp>
        <p:nvSpPr>
          <p:cNvPr id="9" name="criterion 2"/>
          <p:cNvSpPr/>
          <p:nvPr/>
        </p:nvSpPr>
        <p:spPr>
          <a:xfrm>
            <a:off x="548640" y="2926080"/>
            <a:ext cx="6766560" cy="777240"/>
          </a:xfrm>
          <a:prstGeom prst="rect">
            <a:avLst/>
          </a:prstGeom>
          <a:solidFill>
            <a:srgbClr val="FAF7EF"/>
          </a:solidFill>
          <a:ln w="12700">
            <a:solidFill>
              <a:srgbClr val="CFC6AE"/>
            </a:solidFill>
            <a:prstDash val="solid"/>
          </a:ln>
        </p:spPr>
      </p:sp>
      <p:sp>
        <p:nvSpPr>
          <p:cNvPr id="10" name="met circle"/>
          <p:cNvSpPr/>
          <p:nvPr/>
        </p:nvSpPr>
        <p:spPr>
          <a:xfrm>
            <a:off x="731520" y="3081528"/>
            <a:ext cx="457200" cy="457200"/>
          </a:xfrm>
          <a:prstGeom prst="ellipse">
            <a:avLst/>
          </a:prstGeom>
          <a:solidFill>
            <a:srgbClr val="5B6B3A"/>
          </a:solidFill>
          <a:ln/>
        </p:spPr>
      </p:sp>
      <p:pic>
        <p:nvPicPr>
          <p:cNvPr id="11" name="met icon" descr="met">    </p:cNvPr>
          <p:cNvPicPr>
            <a:picLocks noChangeAspect="1"/>
          </p:cNvPicPr>
          <p:nvPr/>
        </p:nvPicPr>
        <p:blipFill>
          <a:blip r:embed="rId2"/>
          <a:stretch>
            <a:fillRect/>
          </a:stretch>
        </p:blipFill>
        <p:spPr>
          <a:xfrm>
            <a:off x="836676" y="3186684"/>
            <a:ext cx="246888" cy="246888"/>
          </a:xfrm>
          <a:prstGeom prst="rect">
            <a:avLst/>
          </a:prstGeom>
        </p:spPr>
      </p:pic>
      <p:sp>
        <p:nvSpPr>
          <p:cNvPr id="12" name="Text 8"/>
          <p:cNvSpPr txBox="1"/>
          <p:nvPr/>
        </p:nvSpPr>
        <p:spPr>
          <a:xfrm>
            <a:off x="1371600" y="2926080"/>
            <a:ext cx="5806440" cy="777240"/>
          </a:xfrm>
          <a:prstGeom prst="rect">
            <a:avLst/>
          </a:prstGeom>
          <a:noFill/>
          <a:ln/>
        </p:spPr>
        <p:txBody>
          <a:bodyPr wrap="square" lIns="0" tIns="0" rIns="0" bIns="0" rtlCol="0" anchor="ctr"/>
          <a:lstStyle/>
          <a:p>
            <a:pPr indent="0" marL="0">
              <a:buNone/>
            </a:pPr>
            <a:r>
              <a:rPr lang="en-US" sz="1500" b="1" dirty="0">
                <a:solidFill>
                  <a:srgbClr val="23281C"/>
                </a:solidFill>
              </a:rPr>
              <a:t>Existing for a period of time</a:t>
            </a:r>
            <a:endParaRPr lang="en-US" sz="1500" dirty="0"/>
          </a:p>
          <a:p>
            <a:pPr indent="0" marL="0">
              <a:buNone/>
            </a:pPr>
            <a:r>
              <a:rPr lang="en-US" sz="1300" dirty="0">
                <a:solidFill>
                  <a:srgbClr val="5C5A4E"/>
                </a:solidFill>
              </a:rPr>
              <a:t>Operated for several years (2004–2008)</a:t>
            </a:r>
            <a:endParaRPr lang="en-US" sz="1500" dirty="0"/>
          </a:p>
        </p:txBody>
      </p:sp>
      <p:sp>
        <p:nvSpPr>
          <p:cNvPr id="13" name="criterion 3"/>
          <p:cNvSpPr/>
          <p:nvPr/>
        </p:nvSpPr>
        <p:spPr>
          <a:xfrm>
            <a:off x="548640" y="3840480"/>
            <a:ext cx="6766560" cy="777240"/>
          </a:xfrm>
          <a:prstGeom prst="rect">
            <a:avLst/>
          </a:prstGeom>
          <a:solidFill>
            <a:srgbClr val="FAF7EF"/>
          </a:solidFill>
          <a:ln w="12700">
            <a:solidFill>
              <a:srgbClr val="CFC6AE"/>
            </a:solidFill>
            <a:prstDash val="solid"/>
          </a:ln>
        </p:spPr>
      </p:sp>
      <p:sp>
        <p:nvSpPr>
          <p:cNvPr id="14" name="met circle"/>
          <p:cNvSpPr/>
          <p:nvPr/>
        </p:nvSpPr>
        <p:spPr>
          <a:xfrm>
            <a:off x="731520" y="3995928"/>
            <a:ext cx="457200" cy="457200"/>
          </a:xfrm>
          <a:prstGeom prst="ellipse">
            <a:avLst/>
          </a:prstGeom>
          <a:solidFill>
            <a:srgbClr val="5B6B3A"/>
          </a:solidFill>
          <a:ln/>
        </p:spPr>
      </p:sp>
      <p:pic>
        <p:nvPicPr>
          <p:cNvPr id="15" name="met icon" descr="met">    </p:cNvPr>
          <p:cNvPicPr>
            <a:picLocks noChangeAspect="1"/>
          </p:cNvPicPr>
          <p:nvPr/>
        </p:nvPicPr>
        <p:blipFill>
          <a:blip r:embed="rId3"/>
          <a:stretch>
            <a:fillRect/>
          </a:stretch>
        </p:blipFill>
        <p:spPr>
          <a:xfrm>
            <a:off x="836676" y="4101084"/>
            <a:ext cx="246888" cy="246888"/>
          </a:xfrm>
          <a:prstGeom prst="rect">
            <a:avLst/>
          </a:prstGeom>
        </p:spPr>
      </p:pic>
      <p:sp>
        <p:nvSpPr>
          <p:cNvPr id="16" name="Text 11"/>
          <p:cNvSpPr txBox="1"/>
          <p:nvPr/>
        </p:nvSpPr>
        <p:spPr>
          <a:xfrm>
            <a:off x="1371600" y="3840480"/>
            <a:ext cx="5806440" cy="777240"/>
          </a:xfrm>
          <a:prstGeom prst="rect">
            <a:avLst/>
          </a:prstGeom>
          <a:noFill/>
          <a:ln/>
        </p:spPr>
        <p:txBody>
          <a:bodyPr wrap="square" lIns="0" tIns="0" rIns="0" bIns="0" rtlCol="0" anchor="ctr"/>
          <a:lstStyle/>
          <a:p>
            <a:pPr indent="0" marL="0">
              <a:buNone/>
            </a:pPr>
            <a:r>
              <a:rPr lang="en-US" sz="1500" b="1" dirty="0">
                <a:solidFill>
                  <a:srgbClr val="23281C"/>
                </a:solidFill>
              </a:rPr>
              <a:t>Acting in concert to commit serious crime</a:t>
            </a:r>
            <a:endParaRPr lang="en-US" sz="1500" dirty="0"/>
          </a:p>
          <a:p>
            <a:pPr indent="0" marL="0">
              <a:buNone/>
            </a:pPr>
            <a:r>
              <a:rPr lang="en-US" sz="1300" dirty="0">
                <a:solidFill>
                  <a:srgbClr val="5C5A4E"/>
                </a:solidFill>
              </a:rPr>
              <a:t>Fraud on the US government, conspiracy, embargo breach</a:t>
            </a:r>
            <a:endParaRPr lang="en-US" sz="1500" dirty="0"/>
          </a:p>
        </p:txBody>
      </p:sp>
      <p:sp>
        <p:nvSpPr>
          <p:cNvPr id="17" name="criterion 4"/>
          <p:cNvSpPr/>
          <p:nvPr/>
        </p:nvSpPr>
        <p:spPr>
          <a:xfrm>
            <a:off x="548640" y="4754880"/>
            <a:ext cx="6766560" cy="777240"/>
          </a:xfrm>
          <a:prstGeom prst="rect">
            <a:avLst/>
          </a:prstGeom>
          <a:solidFill>
            <a:srgbClr val="FAF7EF"/>
          </a:solidFill>
          <a:ln w="12700">
            <a:solidFill>
              <a:srgbClr val="CFC6AE"/>
            </a:solidFill>
            <a:prstDash val="solid"/>
          </a:ln>
        </p:spPr>
      </p:sp>
      <p:sp>
        <p:nvSpPr>
          <p:cNvPr id="18" name="met circle"/>
          <p:cNvSpPr/>
          <p:nvPr/>
        </p:nvSpPr>
        <p:spPr>
          <a:xfrm>
            <a:off x="731520" y="4910328"/>
            <a:ext cx="457200" cy="457200"/>
          </a:xfrm>
          <a:prstGeom prst="ellipse">
            <a:avLst/>
          </a:prstGeom>
          <a:solidFill>
            <a:srgbClr val="5B6B3A"/>
          </a:solidFill>
          <a:ln/>
        </p:spPr>
      </p:sp>
      <p:pic>
        <p:nvPicPr>
          <p:cNvPr id="19" name="met icon" descr="met">    </p:cNvPr>
          <p:cNvPicPr>
            <a:picLocks noChangeAspect="1"/>
          </p:cNvPicPr>
          <p:nvPr/>
        </p:nvPicPr>
        <p:blipFill>
          <a:blip r:embed="rId4"/>
          <a:stretch>
            <a:fillRect/>
          </a:stretch>
        </p:blipFill>
        <p:spPr>
          <a:xfrm>
            <a:off x="836676" y="5015484"/>
            <a:ext cx="246888" cy="246888"/>
          </a:xfrm>
          <a:prstGeom prst="rect">
            <a:avLst/>
          </a:prstGeom>
        </p:spPr>
      </p:pic>
      <p:sp>
        <p:nvSpPr>
          <p:cNvPr id="20" name="Text 14"/>
          <p:cNvSpPr txBox="1"/>
          <p:nvPr/>
        </p:nvSpPr>
        <p:spPr>
          <a:xfrm>
            <a:off x="1371600" y="4754880"/>
            <a:ext cx="5806440" cy="777240"/>
          </a:xfrm>
          <a:prstGeom prst="rect">
            <a:avLst/>
          </a:prstGeom>
          <a:noFill/>
          <a:ln/>
        </p:spPr>
        <p:txBody>
          <a:bodyPr wrap="square" lIns="0" tIns="0" rIns="0" bIns="0" rtlCol="0" anchor="ctr"/>
          <a:lstStyle/>
          <a:p>
            <a:pPr indent="0" marL="0">
              <a:buNone/>
            </a:pPr>
            <a:r>
              <a:rPr lang="en-US" sz="1500" b="1" dirty="0">
                <a:solidFill>
                  <a:srgbClr val="23281C"/>
                </a:solidFill>
              </a:rPr>
              <a:t>For financial or material benefit</a:t>
            </a:r>
            <a:endParaRPr lang="en-US" sz="1500" dirty="0"/>
          </a:p>
          <a:p>
            <a:pPr indent="0" marL="0">
              <a:buNone/>
            </a:pPr>
            <a:r>
              <a:rPr lang="en-US" sz="1300" dirty="0">
                <a:solidFill>
                  <a:srgbClr val="5C5A4E"/>
                </a:solidFill>
              </a:rPr>
              <a:t>Millions in profit from the Afghan contract</a:t>
            </a:r>
            <a:endParaRPr lang="en-US" sz="1500" dirty="0"/>
          </a:p>
        </p:txBody>
      </p:sp>
      <p:sp>
        <p:nvSpPr>
          <p:cNvPr id="21" name="definitions panel"/>
          <p:cNvSpPr/>
          <p:nvPr/>
        </p:nvSpPr>
        <p:spPr>
          <a:xfrm>
            <a:off x="7680960" y="1600200"/>
            <a:ext cx="3962095" cy="4206240"/>
          </a:xfrm>
          <a:prstGeom prst="rect">
            <a:avLst/>
          </a:prstGeom>
          <a:solidFill>
            <a:srgbClr val="1B1D18"/>
          </a:solidFill>
          <a:ln/>
        </p:spPr>
      </p:sp>
      <p:sp>
        <p:nvSpPr>
          <p:cNvPr id="22" name="Text 16"/>
          <p:cNvSpPr txBox="1"/>
          <p:nvPr/>
        </p:nvSpPr>
        <p:spPr>
          <a:xfrm>
            <a:off x="7955280" y="1783080"/>
            <a:ext cx="3413455" cy="384048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WHITE-COLLAR CRIME</a:t>
            </a:r>
            <a:endParaRPr lang="en-US" sz="1200" dirty="0"/>
          </a:p>
          <a:p>
            <a:pPr indent="0" marL="0">
              <a:spcAft>
                <a:spcPts val="400"/>
              </a:spcAft>
              <a:buNone/>
            </a:pPr>
            <a:r>
              <a:rPr lang="en-US" sz="1400" dirty="0">
                <a:solidFill>
                  <a:srgbClr val="E9E3D2"/>
                </a:solidFill>
              </a:rPr>
              <a:t>Crime by respectable people in the course of their occupation (Sutherland, 1940)</a:t>
            </a:r>
            <a:endParaRPr lang="en-US" sz="1200" dirty="0"/>
          </a:p>
          <a:p>
            <a:pPr indent="0" marL="0">
              <a:spcAft>
                <a:spcPts val="400"/>
              </a:spcAft>
              <a:buNone/>
            </a:pPr>
            <a:r>
              <a:rPr lang="en-US" sz="800" dirty="0">
                <a:solidFill>
                  <a:srgbClr val="000000"/>
                </a:solidFill>
              </a:rPr>
              <a:t> </a:t>
            </a:r>
            <a:endParaRPr lang="en-US" sz="1200" dirty="0"/>
          </a:p>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CORRUPTION</a:t>
            </a:r>
            <a:endParaRPr lang="en-US" sz="1200" dirty="0"/>
          </a:p>
          <a:p>
            <a:pPr indent="0" marL="0">
              <a:spcAft>
                <a:spcPts val="400"/>
              </a:spcAft>
              <a:buNone/>
            </a:pPr>
            <a:r>
              <a:rPr lang="en-US" sz="1400" dirty="0">
                <a:solidFill>
                  <a:srgbClr val="E9E3D2"/>
                </a:solidFill>
              </a:rPr>
              <a:t>The abuse of entrusted power for private gain (Transparency International)</a:t>
            </a:r>
            <a:endParaRPr lang="en-US" sz="1200" dirty="0"/>
          </a:p>
          <a:p>
            <a:pPr indent="0" marL="0">
              <a:spcAft>
                <a:spcPts val="400"/>
              </a:spcAft>
              <a:buNone/>
            </a:pPr>
            <a:r>
              <a:rPr lang="en-US" sz="800" dirty="0">
                <a:solidFill>
                  <a:srgbClr val="000000"/>
                </a:solidFill>
              </a:rPr>
              <a:t> </a:t>
            </a:r>
            <a:endParaRPr lang="en-US" sz="1200" dirty="0"/>
          </a:p>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STATE-CORPORATE CRIME</a:t>
            </a:r>
            <a:endParaRPr lang="en-US" sz="1200" dirty="0"/>
          </a:p>
          <a:p>
            <a:pPr indent="0" marL="0">
              <a:spcAft>
                <a:spcPts val="400"/>
              </a:spcAft>
              <a:buNone/>
            </a:pPr>
            <a:r>
              <a:rPr lang="en-US" sz="1400" dirty="0">
                <a:solidFill>
                  <a:srgbClr val="E9E3D2"/>
                </a:solidFill>
              </a:rPr>
              <a:t>Harm produced when government and business interact (Kramer et al., 2002)</a:t>
            </a:r>
            <a:endParaRPr lang="en-US" sz="1200" dirty="0"/>
          </a:p>
        </p:txBody>
      </p:sp>
      <p:sp>
        <p:nvSpPr>
          <p:cNvPr id="23" name="Text 17"/>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8574"/>
                </a:solidFill>
              </a:rPr>
              <a:t>Source: UNODC (2004), UN Convention against Transnational Organized Crime, Art. 2.</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ate label"/>
          <p:cNvSpPr txBox="1"/>
          <p:nvPr/>
        </p:nvSpPr>
        <p:spPr>
          <a:xfrm>
            <a:off x="548640" y="292608"/>
            <a:ext cx="3483864"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05 // CLASSIFICATION</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But it is not the mafia: AEY is organized white-collar crime</a:t>
            </a:r>
            <a:endParaRPr lang="en-US" sz="2800" dirty="0"/>
          </a:p>
        </p:txBody>
      </p:sp>
      <p:sp>
        <p:nvSpPr>
          <p:cNvPr id="4" name="Text 2"/>
          <p:cNvSpPr txBox="1"/>
          <p:nvPr/>
        </p:nvSpPr>
        <p:spPr>
          <a:xfrm>
            <a:off x="548640" y="1600200"/>
            <a:ext cx="6583680" cy="274320"/>
          </a:xfrm>
          <a:prstGeom prst="rect">
            <a:avLst/>
          </a:prstGeom>
          <a:noFill/>
          <a:ln/>
        </p:spPr>
        <p:txBody>
          <a:bodyPr wrap="square" lIns="0" tIns="0" rIns="0" bIns="0" rtlCol="0" anchor="ctr"/>
          <a:lstStyle/>
          <a:p>
            <a:pPr indent="0" marL="0">
              <a:buNone/>
            </a:pPr>
            <a:r>
              <a:rPr lang="en-US" sz="1200" b="1" spc="100" kern="0" dirty="0">
                <a:solidFill>
                  <a:srgbClr val="5B6B3A"/>
                </a:solidFill>
                <a:latin typeface="Courier New" pitchFamily="34" charset="0"/>
                <a:ea typeface="Courier New" pitchFamily="34" charset="-122"/>
                <a:cs typeface="Courier New" pitchFamily="34" charset="-120"/>
              </a:rPr>
              <a:t>ABADINSKY’S (2013) ATTRIBUTES OF ORGANIZED CRIME</a:t>
            </a:r>
            <a:endParaRPr lang="en-US" sz="1200" dirty="0"/>
          </a:p>
        </p:txBody>
      </p:sp>
      <p:sp>
        <p:nvSpPr>
          <p:cNvPr id="5" name="Non-ideological, profit-driven"/>
          <p:cNvSpPr/>
          <p:nvPr/>
        </p:nvSpPr>
        <p:spPr>
          <a:xfrm>
            <a:off x="548640" y="2011680"/>
            <a:ext cx="3200400" cy="749808"/>
          </a:xfrm>
          <a:prstGeom prst="rect">
            <a:avLst/>
          </a:prstGeom>
          <a:solidFill>
            <a:srgbClr val="FAF7EF"/>
          </a:solidFill>
          <a:ln w="12700">
            <a:solidFill>
              <a:srgbClr val="CFC6AE"/>
            </a:solidFill>
            <a:prstDash val="solid"/>
          </a:ln>
        </p:spPr>
      </p:sp>
      <p:sp>
        <p:nvSpPr>
          <p:cNvPr id="6" name="Non-ideological, profit-driven circle"/>
          <p:cNvSpPr/>
          <p:nvPr/>
        </p:nvSpPr>
        <p:spPr>
          <a:xfrm>
            <a:off x="685800" y="2157984"/>
            <a:ext cx="457200" cy="457200"/>
          </a:xfrm>
          <a:prstGeom prst="ellipse">
            <a:avLst/>
          </a:prstGeom>
          <a:solidFill>
            <a:srgbClr val="5B6B3A"/>
          </a:solidFill>
          <a:ln/>
        </p:spPr>
      </p:sp>
      <p:pic>
        <p:nvPicPr>
          <p:cNvPr id="7" name="Non-ideological, profit-driven icon" descr="Non-ideological, profit-driven">    </p:cNvPr>
          <p:cNvPicPr>
            <a:picLocks noChangeAspect="1"/>
          </p:cNvPicPr>
          <p:nvPr/>
        </p:nvPicPr>
        <p:blipFill>
          <a:blip r:embed="rId1"/>
          <a:stretch>
            <a:fillRect/>
          </a:stretch>
        </p:blipFill>
        <p:spPr>
          <a:xfrm>
            <a:off x="790956" y="2263140"/>
            <a:ext cx="246888" cy="246888"/>
          </a:xfrm>
          <a:prstGeom prst="rect">
            <a:avLst/>
          </a:prstGeom>
        </p:spPr>
      </p:pic>
      <p:sp>
        <p:nvSpPr>
          <p:cNvPr id="8" name="Text 5"/>
          <p:cNvSpPr txBox="1"/>
          <p:nvPr/>
        </p:nvSpPr>
        <p:spPr>
          <a:xfrm>
            <a:off x="1280160" y="20116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Non-ideological, profit-driven</a:t>
            </a:r>
            <a:endParaRPr lang="en-US" sz="1400" dirty="0"/>
          </a:p>
          <a:p>
            <a:pPr indent="0" marL="0">
              <a:buNone/>
            </a:pPr>
            <a:r>
              <a:rPr lang="en-US" sz="1200" dirty="0">
                <a:solidFill>
                  <a:srgbClr val="5C5A4E"/>
                </a:solidFill>
              </a:rPr>
              <a:t>Fits</a:t>
            </a:r>
            <a:endParaRPr lang="en-US" sz="1400" dirty="0"/>
          </a:p>
        </p:txBody>
      </p:sp>
      <p:sp>
        <p:nvSpPr>
          <p:cNvPr id="9" name="Hierarchical structure"/>
          <p:cNvSpPr/>
          <p:nvPr/>
        </p:nvSpPr>
        <p:spPr>
          <a:xfrm>
            <a:off x="3886200" y="2011680"/>
            <a:ext cx="3200400" cy="749808"/>
          </a:xfrm>
          <a:prstGeom prst="rect">
            <a:avLst/>
          </a:prstGeom>
          <a:solidFill>
            <a:srgbClr val="FAF7EF"/>
          </a:solidFill>
          <a:ln w="12700">
            <a:solidFill>
              <a:srgbClr val="CFC6AE"/>
            </a:solidFill>
            <a:prstDash val="solid"/>
          </a:ln>
        </p:spPr>
      </p:sp>
      <p:sp>
        <p:nvSpPr>
          <p:cNvPr id="10" name="Hierarchical structure circle"/>
          <p:cNvSpPr/>
          <p:nvPr/>
        </p:nvSpPr>
        <p:spPr>
          <a:xfrm>
            <a:off x="4023360" y="2157984"/>
            <a:ext cx="457200" cy="457200"/>
          </a:xfrm>
          <a:prstGeom prst="ellipse">
            <a:avLst/>
          </a:prstGeom>
          <a:solidFill>
            <a:srgbClr val="D9480F"/>
          </a:solidFill>
          <a:ln/>
        </p:spPr>
      </p:sp>
      <p:pic>
        <p:nvPicPr>
          <p:cNvPr id="11" name="Hierarchical structure icon" descr="Hierarchical structure">    </p:cNvPr>
          <p:cNvPicPr>
            <a:picLocks noChangeAspect="1"/>
          </p:cNvPicPr>
          <p:nvPr/>
        </p:nvPicPr>
        <p:blipFill>
          <a:blip r:embed="rId2"/>
          <a:stretch>
            <a:fillRect/>
          </a:stretch>
        </p:blipFill>
        <p:spPr>
          <a:xfrm>
            <a:off x="4128516" y="2263140"/>
            <a:ext cx="246888" cy="246888"/>
          </a:xfrm>
          <a:prstGeom prst="rect">
            <a:avLst/>
          </a:prstGeom>
        </p:spPr>
      </p:pic>
      <p:sp>
        <p:nvSpPr>
          <p:cNvPr id="12" name="Text 8"/>
          <p:cNvSpPr txBox="1"/>
          <p:nvPr/>
        </p:nvSpPr>
        <p:spPr>
          <a:xfrm>
            <a:off x="4617720" y="20116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Hierarchical structure</a:t>
            </a:r>
            <a:endParaRPr lang="en-US" sz="1400" dirty="0"/>
          </a:p>
          <a:p>
            <a:pPr indent="0" marL="0">
              <a:buNone/>
            </a:pPr>
            <a:r>
              <a:rPr lang="en-US" sz="1200" dirty="0">
                <a:solidFill>
                  <a:srgbClr val="5C5A4E"/>
                </a:solidFill>
              </a:rPr>
              <a:t>Does not fit</a:t>
            </a:r>
            <a:endParaRPr lang="en-US" sz="1400" dirty="0"/>
          </a:p>
        </p:txBody>
      </p:sp>
      <p:sp>
        <p:nvSpPr>
          <p:cNvPr id="13" name="Limited, exclusive membership"/>
          <p:cNvSpPr/>
          <p:nvPr/>
        </p:nvSpPr>
        <p:spPr>
          <a:xfrm>
            <a:off x="548640" y="2926080"/>
            <a:ext cx="3200400" cy="749808"/>
          </a:xfrm>
          <a:prstGeom prst="rect">
            <a:avLst/>
          </a:prstGeom>
          <a:solidFill>
            <a:srgbClr val="FAF7EF"/>
          </a:solidFill>
          <a:ln w="12700">
            <a:solidFill>
              <a:srgbClr val="CFC6AE"/>
            </a:solidFill>
            <a:prstDash val="solid"/>
          </a:ln>
        </p:spPr>
      </p:sp>
      <p:sp>
        <p:nvSpPr>
          <p:cNvPr id="14" name="Limited, exclusive membership circle"/>
          <p:cNvSpPr/>
          <p:nvPr/>
        </p:nvSpPr>
        <p:spPr>
          <a:xfrm>
            <a:off x="685800" y="3072384"/>
            <a:ext cx="457200" cy="457200"/>
          </a:xfrm>
          <a:prstGeom prst="ellipse">
            <a:avLst/>
          </a:prstGeom>
          <a:solidFill>
            <a:srgbClr val="D9480F"/>
          </a:solidFill>
          <a:ln/>
        </p:spPr>
      </p:sp>
      <p:pic>
        <p:nvPicPr>
          <p:cNvPr id="15" name="Limited, exclusive membership icon" descr="Limited, exclusive membership">    </p:cNvPr>
          <p:cNvPicPr>
            <a:picLocks noChangeAspect="1"/>
          </p:cNvPicPr>
          <p:nvPr/>
        </p:nvPicPr>
        <p:blipFill>
          <a:blip r:embed="rId3"/>
          <a:stretch>
            <a:fillRect/>
          </a:stretch>
        </p:blipFill>
        <p:spPr>
          <a:xfrm>
            <a:off x="790956" y="3177540"/>
            <a:ext cx="246888" cy="246888"/>
          </a:xfrm>
          <a:prstGeom prst="rect">
            <a:avLst/>
          </a:prstGeom>
        </p:spPr>
      </p:pic>
      <p:sp>
        <p:nvSpPr>
          <p:cNvPr id="16" name="Text 11"/>
          <p:cNvSpPr txBox="1"/>
          <p:nvPr/>
        </p:nvSpPr>
        <p:spPr>
          <a:xfrm>
            <a:off x="1280160" y="29260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Limited, exclusive membership</a:t>
            </a:r>
            <a:endParaRPr lang="en-US" sz="1400" dirty="0"/>
          </a:p>
          <a:p>
            <a:pPr indent="0" marL="0">
              <a:buNone/>
            </a:pPr>
            <a:r>
              <a:rPr lang="en-US" sz="1200" dirty="0">
                <a:solidFill>
                  <a:srgbClr val="5C5A4E"/>
                </a:solidFill>
              </a:rPr>
              <a:t>Does not fit</a:t>
            </a:r>
            <a:endParaRPr lang="en-US" sz="1400" dirty="0"/>
          </a:p>
        </p:txBody>
      </p:sp>
      <p:sp>
        <p:nvSpPr>
          <p:cNvPr id="17" name="Perpetuates itself after arrests"/>
          <p:cNvSpPr/>
          <p:nvPr/>
        </p:nvSpPr>
        <p:spPr>
          <a:xfrm>
            <a:off x="3886200" y="2926080"/>
            <a:ext cx="3200400" cy="749808"/>
          </a:xfrm>
          <a:prstGeom prst="rect">
            <a:avLst/>
          </a:prstGeom>
          <a:solidFill>
            <a:srgbClr val="FAF7EF"/>
          </a:solidFill>
          <a:ln w="12700">
            <a:solidFill>
              <a:srgbClr val="CFC6AE"/>
            </a:solidFill>
            <a:prstDash val="solid"/>
          </a:ln>
        </p:spPr>
      </p:sp>
      <p:sp>
        <p:nvSpPr>
          <p:cNvPr id="18" name="Perpetuates itself after arrests circle"/>
          <p:cNvSpPr/>
          <p:nvPr/>
        </p:nvSpPr>
        <p:spPr>
          <a:xfrm>
            <a:off x="4023360" y="3072384"/>
            <a:ext cx="457200" cy="457200"/>
          </a:xfrm>
          <a:prstGeom prst="ellipse">
            <a:avLst/>
          </a:prstGeom>
          <a:solidFill>
            <a:srgbClr val="D9480F"/>
          </a:solidFill>
          <a:ln/>
        </p:spPr>
      </p:sp>
      <p:pic>
        <p:nvPicPr>
          <p:cNvPr id="19" name="Perpetuates itself after arrests icon" descr="Perpetuates itself after arrests">    </p:cNvPr>
          <p:cNvPicPr>
            <a:picLocks noChangeAspect="1"/>
          </p:cNvPicPr>
          <p:nvPr/>
        </p:nvPicPr>
        <p:blipFill>
          <a:blip r:embed="rId4"/>
          <a:stretch>
            <a:fillRect/>
          </a:stretch>
        </p:blipFill>
        <p:spPr>
          <a:xfrm>
            <a:off x="4128516" y="3177540"/>
            <a:ext cx="246888" cy="246888"/>
          </a:xfrm>
          <a:prstGeom prst="rect">
            <a:avLst/>
          </a:prstGeom>
        </p:spPr>
      </p:pic>
      <p:sp>
        <p:nvSpPr>
          <p:cNvPr id="20" name="Text 14"/>
          <p:cNvSpPr txBox="1"/>
          <p:nvPr/>
        </p:nvSpPr>
        <p:spPr>
          <a:xfrm>
            <a:off x="4617720" y="29260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Perpetuates itself after arrests</a:t>
            </a:r>
            <a:endParaRPr lang="en-US" sz="1400" dirty="0"/>
          </a:p>
          <a:p>
            <a:pPr indent="0" marL="0">
              <a:buNone/>
            </a:pPr>
            <a:r>
              <a:rPr lang="en-US" sz="1200" dirty="0">
                <a:solidFill>
                  <a:srgbClr val="5C5A4E"/>
                </a:solidFill>
              </a:rPr>
              <a:t>Does not fit</a:t>
            </a:r>
            <a:endParaRPr lang="en-US" sz="1400" dirty="0"/>
          </a:p>
        </p:txBody>
      </p:sp>
      <p:sp>
        <p:nvSpPr>
          <p:cNvPr id="21" name="Uses violence or bribery"/>
          <p:cNvSpPr/>
          <p:nvPr/>
        </p:nvSpPr>
        <p:spPr>
          <a:xfrm>
            <a:off x="548640" y="3840480"/>
            <a:ext cx="3200400" cy="749808"/>
          </a:xfrm>
          <a:prstGeom prst="rect">
            <a:avLst/>
          </a:prstGeom>
          <a:solidFill>
            <a:srgbClr val="FAF7EF"/>
          </a:solidFill>
          <a:ln w="12700">
            <a:solidFill>
              <a:srgbClr val="CFC6AE"/>
            </a:solidFill>
            <a:prstDash val="solid"/>
          </a:ln>
        </p:spPr>
      </p:sp>
      <p:sp>
        <p:nvSpPr>
          <p:cNvPr id="22" name="Uses violence or bribery circle"/>
          <p:cNvSpPr/>
          <p:nvPr/>
        </p:nvSpPr>
        <p:spPr>
          <a:xfrm>
            <a:off x="685800" y="3986784"/>
            <a:ext cx="457200" cy="457200"/>
          </a:xfrm>
          <a:prstGeom prst="ellipse">
            <a:avLst/>
          </a:prstGeom>
          <a:solidFill>
            <a:srgbClr val="C9A227"/>
          </a:solidFill>
          <a:ln/>
        </p:spPr>
      </p:sp>
      <p:pic>
        <p:nvPicPr>
          <p:cNvPr id="23" name="Uses violence or bribery icon" descr="Uses violence or bribery">    </p:cNvPr>
          <p:cNvPicPr>
            <a:picLocks noChangeAspect="1"/>
          </p:cNvPicPr>
          <p:nvPr/>
        </p:nvPicPr>
        <p:blipFill>
          <a:blip r:embed="rId5"/>
          <a:stretch>
            <a:fillRect/>
          </a:stretch>
        </p:blipFill>
        <p:spPr>
          <a:xfrm>
            <a:off x="790956" y="4091940"/>
            <a:ext cx="246888" cy="246888"/>
          </a:xfrm>
          <a:prstGeom prst="rect">
            <a:avLst/>
          </a:prstGeom>
        </p:spPr>
      </p:pic>
      <p:sp>
        <p:nvSpPr>
          <p:cNvPr id="24" name="Text 17"/>
          <p:cNvSpPr txBox="1"/>
          <p:nvPr/>
        </p:nvSpPr>
        <p:spPr>
          <a:xfrm>
            <a:off x="1280160" y="38404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Uses violence or bribery</a:t>
            </a:r>
            <a:endParaRPr lang="en-US" sz="1400" dirty="0"/>
          </a:p>
          <a:p>
            <a:pPr indent="0" marL="0">
              <a:buNone/>
            </a:pPr>
            <a:r>
              <a:rPr lang="en-US" sz="1200" dirty="0">
                <a:solidFill>
                  <a:srgbClr val="5C5A4E"/>
                </a:solidFill>
              </a:rPr>
              <a:t>Partly fits</a:t>
            </a:r>
            <a:endParaRPr lang="en-US" sz="1400" dirty="0"/>
          </a:p>
        </p:txBody>
      </p:sp>
      <p:sp>
        <p:nvSpPr>
          <p:cNvPr id="25" name="Specialization of roles"/>
          <p:cNvSpPr/>
          <p:nvPr/>
        </p:nvSpPr>
        <p:spPr>
          <a:xfrm>
            <a:off x="3886200" y="3840480"/>
            <a:ext cx="3200400" cy="749808"/>
          </a:xfrm>
          <a:prstGeom prst="rect">
            <a:avLst/>
          </a:prstGeom>
          <a:solidFill>
            <a:srgbClr val="FAF7EF"/>
          </a:solidFill>
          <a:ln w="12700">
            <a:solidFill>
              <a:srgbClr val="CFC6AE"/>
            </a:solidFill>
            <a:prstDash val="solid"/>
          </a:ln>
        </p:spPr>
      </p:sp>
      <p:sp>
        <p:nvSpPr>
          <p:cNvPr id="26" name="Specialization of roles circle"/>
          <p:cNvSpPr/>
          <p:nvPr/>
        </p:nvSpPr>
        <p:spPr>
          <a:xfrm>
            <a:off x="4023360" y="3986784"/>
            <a:ext cx="457200" cy="457200"/>
          </a:xfrm>
          <a:prstGeom prst="ellipse">
            <a:avLst/>
          </a:prstGeom>
          <a:solidFill>
            <a:srgbClr val="5B6B3A"/>
          </a:solidFill>
          <a:ln/>
        </p:spPr>
      </p:sp>
      <p:pic>
        <p:nvPicPr>
          <p:cNvPr id="27" name="Specialization of roles icon" descr="Specialization of roles">    </p:cNvPr>
          <p:cNvPicPr>
            <a:picLocks noChangeAspect="1"/>
          </p:cNvPicPr>
          <p:nvPr/>
        </p:nvPicPr>
        <p:blipFill>
          <a:blip r:embed="rId6"/>
          <a:stretch>
            <a:fillRect/>
          </a:stretch>
        </p:blipFill>
        <p:spPr>
          <a:xfrm>
            <a:off x="4128516" y="4091940"/>
            <a:ext cx="246888" cy="246888"/>
          </a:xfrm>
          <a:prstGeom prst="rect">
            <a:avLst/>
          </a:prstGeom>
        </p:spPr>
      </p:pic>
      <p:sp>
        <p:nvSpPr>
          <p:cNvPr id="28" name="Text 20"/>
          <p:cNvSpPr txBox="1"/>
          <p:nvPr/>
        </p:nvSpPr>
        <p:spPr>
          <a:xfrm>
            <a:off x="4617720" y="38404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Specialization of roles</a:t>
            </a:r>
            <a:endParaRPr lang="en-US" sz="1400" dirty="0"/>
          </a:p>
          <a:p>
            <a:pPr indent="0" marL="0">
              <a:buNone/>
            </a:pPr>
            <a:r>
              <a:rPr lang="en-US" sz="1200" dirty="0">
                <a:solidFill>
                  <a:srgbClr val="5C5A4E"/>
                </a:solidFill>
              </a:rPr>
              <a:t>Fits</a:t>
            </a:r>
            <a:endParaRPr lang="en-US" sz="1400" dirty="0"/>
          </a:p>
        </p:txBody>
      </p:sp>
      <p:sp>
        <p:nvSpPr>
          <p:cNvPr id="29" name="Seeks monopoly"/>
          <p:cNvSpPr/>
          <p:nvPr/>
        </p:nvSpPr>
        <p:spPr>
          <a:xfrm>
            <a:off x="548640" y="4754880"/>
            <a:ext cx="3200400" cy="749808"/>
          </a:xfrm>
          <a:prstGeom prst="rect">
            <a:avLst/>
          </a:prstGeom>
          <a:solidFill>
            <a:srgbClr val="FAF7EF"/>
          </a:solidFill>
          <a:ln w="12700">
            <a:solidFill>
              <a:srgbClr val="CFC6AE"/>
            </a:solidFill>
            <a:prstDash val="solid"/>
          </a:ln>
        </p:spPr>
      </p:sp>
      <p:sp>
        <p:nvSpPr>
          <p:cNvPr id="30" name="Seeks monopoly circle"/>
          <p:cNvSpPr/>
          <p:nvPr/>
        </p:nvSpPr>
        <p:spPr>
          <a:xfrm>
            <a:off x="685800" y="4901184"/>
            <a:ext cx="457200" cy="457200"/>
          </a:xfrm>
          <a:prstGeom prst="ellipse">
            <a:avLst/>
          </a:prstGeom>
          <a:solidFill>
            <a:srgbClr val="C9A227"/>
          </a:solidFill>
          <a:ln/>
        </p:spPr>
      </p:sp>
      <p:pic>
        <p:nvPicPr>
          <p:cNvPr id="31" name="Seeks monopoly icon" descr="Seeks monopoly">    </p:cNvPr>
          <p:cNvPicPr>
            <a:picLocks noChangeAspect="1"/>
          </p:cNvPicPr>
          <p:nvPr/>
        </p:nvPicPr>
        <p:blipFill>
          <a:blip r:embed="rId7"/>
          <a:stretch>
            <a:fillRect/>
          </a:stretch>
        </p:blipFill>
        <p:spPr>
          <a:xfrm>
            <a:off x="790956" y="5006340"/>
            <a:ext cx="246888" cy="246888"/>
          </a:xfrm>
          <a:prstGeom prst="rect">
            <a:avLst/>
          </a:prstGeom>
        </p:spPr>
      </p:pic>
      <p:sp>
        <p:nvSpPr>
          <p:cNvPr id="32" name="Text 23"/>
          <p:cNvSpPr txBox="1"/>
          <p:nvPr/>
        </p:nvSpPr>
        <p:spPr>
          <a:xfrm>
            <a:off x="1280160" y="47548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Seeks monopoly</a:t>
            </a:r>
            <a:endParaRPr lang="en-US" sz="1400" dirty="0"/>
          </a:p>
          <a:p>
            <a:pPr indent="0" marL="0">
              <a:buNone/>
            </a:pPr>
            <a:r>
              <a:rPr lang="en-US" sz="1200" dirty="0">
                <a:solidFill>
                  <a:srgbClr val="5C5A4E"/>
                </a:solidFill>
              </a:rPr>
              <a:t>Partly fits</a:t>
            </a:r>
            <a:endParaRPr lang="en-US" sz="1400" dirty="0"/>
          </a:p>
        </p:txBody>
      </p:sp>
      <p:sp>
        <p:nvSpPr>
          <p:cNvPr id="33" name="Governed by rules or a code"/>
          <p:cNvSpPr/>
          <p:nvPr/>
        </p:nvSpPr>
        <p:spPr>
          <a:xfrm>
            <a:off x="3886200" y="4754880"/>
            <a:ext cx="3200400" cy="749808"/>
          </a:xfrm>
          <a:prstGeom prst="rect">
            <a:avLst/>
          </a:prstGeom>
          <a:solidFill>
            <a:srgbClr val="FAF7EF"/>
          </a:solidFill>
          <a:ln w="12700">
            <a:solidFill>
              <a:srgbClr val="CFC6AE"/>
            </a:solidFill>
            <a:prstDash val="solid"/>
          </a:ln>
        </p:spPr>
      </p:sp>
      <p:sp>
        <p:nvSpPr>
          <p:cNvPr id="34" name="Governed by rules or a code circle"/>
          <p:cNvSpPr/>
          <p:nvPr/>
        </p:nvSpPr>
        <p:spPr>
          <a:xfrm>
            <a:off x="4023360" y="4901184"/>
            <a:ext cx="457200" cy="457200"/>
          </a:xfrm>
          <a:prstGeom prst="ellipse">
            <a:avLst/>
          </a:prstGeom>
          <a:solidFill>
            <a:srgbClr val="D9480F"/>
          </a:solidFill>
          <a:ln/>
        </p:spPr>
      </p:sp>
      <p:pic>
        <p:nvPicPr>
          <p:cNvPr id="35" name="Governed by rules or a code icon" descr="Governed by rules or a code">    </p:cNvPr>
          <p:cNvPicPr>
            <a:picLocks noChangeAspect="1"/>
          </p:cNvPicPr>
          <p:nvPr/>
        </p:nvPicPr>
        <p:blipFill>
          <a:blip r:embed="rId8"/>
          <a:stretch>
            <a:fillRect/>
          </a:stretch>
        </p:blipFill>
        <p:spPr>
          <a:xfrm>
            <a:off x="4128516" y="5006340"/>
            <a:ext cx="246888" cy="246888"/>
          </a:xfrm>
          <a:prstGeom prst="rect">
            <a:avLst/>
          </a:prstGeom>
        </p:spPr>
      </p:pic>
      <p:sp>
        <p:nvSpPr>
          <p:cNvPr id="36" name="Text 26"/>
          <p:cNvSpPr txBox="1"/>
          <p:nvPr/>
        </p:nvSpPr>
        <p:spPr>
          <a:xfrm>
            <a:off x="4617720" y="4754880"/>
            <a:ext cx="2377440" cy="749808"/>
          </a:xfrm>
          <a:prstGeom prst="rect">
            <a:avLst/>
          </a:prstGeom>
          <a:noFill/>
          <a:ln/>
        </p:spPr>
        <p:txBody>
          <a:bodyPr wrap="square" lIns="0" tIns="0" rIns="0" bIns="0" rtlCol="0" anchor="ctr"/>
          <a:lstStyle/>
          <a:p>
            <a:pPr indent="0" marL="0">
              <a:buNone/>
            </a:pPr>
            <a:r>
              <a:rPr lang="en-US" sz="1400" b="1" dirty="0">
                <a:solidFill>
                  <a:srgbClr val="23281C"/>
                </a:solidFill>
              </a:rPr>
              <a:t>Governed by rules or a code</a:t>
            </a:r>
            <a:endParaRPr lang="en-US" sz="1400" dirty="0"/>
          </a:p>
          <a:p>
            <a:pPr indent="0" marL="0">
              <a:buNone/>
            </a:pPr>
            <a:r>
              <a:rPr lang="en-US" sz="1200" dirty="0">
                <a:solidFill>
                  <a:srgbClr val="5C5A4E"/>
                </a:solidFill>
              </a:rPr>
              <a:t>Does not fit</a:t>
            </a:r>
            <a:endParaRPr lang="en-US" sz="1400" dirty="0"/>
          </a:p>
        </p:txBody>
      </p:sp>
      <p:sp>
        <p:nvSpPr>
          <p:cNvPr id="37" name="verdict panel"/>
          <p:cNvSpPr/>
          <p:nvPr/>
        </p:nvSpPr>
        <p:spPr>
          <a:xfrm>
            <a:off x="7498080" y="1600200"/>
            <a:ext cx="4144975" cy="4206240"/>
          </a:xfrm>
          <a:prstGeom prst="rect">
            <a:avLst/>
          </a:prstGeom>
          <a:solidFill>
            <a:srgbClr val="D9480F"/>
          </a:solidFill>
          <a:ln/>
        </p:spPr>
      </p:sp>
      <p:sp>
        <p:nvSpPr>
          <p:cNvPr id="38" name="Text 28"/>
          <p:cNvSpPr txBox="1"/>
          <p:nvPr/>
        </p:nvSpPr>
        <p:spPr>
          <a:xfrm>
            <a:off x="7818120" y="1828800"/>
            <a:ext cx="3504895" cy="274320"/>
          </a:xfrm>
          <a:prstGeom prst="rect">
            <a:avLst/>
          </a:prstGeom>
          <a:noFill/>
          <a:ln/>
        </p:spPr>
        <p:txBody>
          <a:bodyPr wrap="square" lIns="0" tIns="0" rIns="0" bIns="0" rtlCol="0" anchor="ctr"/>
          <a:lstStyle/>
          <a:p>
            <a:pPr indent="0" marL="0">
              <a:buNone/>
            </a:pPr>
            <a:r>
              <a:rPr lang="en-US" sz="1200" b="1" spc="200" kern="0" dirty="0">
                <a:solidFill>
                  <a:srgbClr val="FFE3D6"/>
                </a:solidFill>
                <a:latin typeface="Courier New" pitchFamily="34" charset="0"/>
                <a:ea typeface="Courier New" pitchFamily="34" charset="-122"/>
                <a:cs typeface="Courier New" pitchFamily="34" charset="-120"/>
              </a:rPr>
              <a:t>OUR CLASSIFICATION</a:t>
            </a:r>
            <a:endParaRPr lang="en-US" sz="1200" dirty="0"/>
          </a:p>
        </p:txBody>
      </p:sp>
      <p:sp>
        <p:nvSpPr>
          <p:cNvPr id="39" name="Text 29"/>
          <p:cNvSpPr txBox="1"/>
          <p:nvPr/>
        </p:nvSpPr>
        <p:spPr>
          <a:xfrm>
            <a:off x="7818120" y="2194560"/>
            <a:ext cx="3504895" cy="1005840"/>
          </a:xfrm>
          <a:prstGeom prst="rect">
            <a:avLst/>
          </a:prstGeom>
          <a:noFill/>
          <a:ln/>
        </p:spPr>
        <p:txBody>
          <a:bodyPr wrap="square" lIns="0" tIns="0" rIns="0" bIns="0" rtlCol="0" anchor="t"/>
          <a:lstStyle/>
          <a:p>
            <a:pPr indent="0" marL="0">
              <a:buNone/>
            </a:pPr>
            <a:r>
              <a:rPr lang="en-US" sz="2400" b="1" dirty="0">
                <a:solidFill>
                  <a:schemeClr val="bg1"/>
                </a:solidFill>
                <a:latin typeface="Arial Black" pitchFamily="34" charset="0"/>
                <a:ea typeface="Arial Black" pitchFamily="34" charset="-122"/>
                <a:cs typeface="Arial Black" pitchFamily="34" charset="-120"/>
              </a:rPr>
              <a:t>Organized white-collar crime</a:t>
            </a:r>
            <a:endParaRPr lang="en-US" sz="2400" dirty="0"/>
          </a:p>
        </p:txBody>
      </p:sp>
      <p:sp>
        <p:nvSpPr>
          <p:cNvPr id="40" name="Text 30"/>
          <p:cNvSpPr txBox="1"/>
          <p:nvPr/>
        </p:nvSpPr>
        <p:spPr>
          <a:xfrm>
            <a:off x="7818120" y="3291840"/>
            <a:ext cx="3504895" cy="1371600"/>
          </a:xfrm>
          <a:prstGeom prst="rect">
            <a:avLst/>
          </a:prstGeom>
          <a:noFill/>
          <a:ln/>
        </p:spPr>
        <p:txBody>
          <a:bodyPr wrap="square" lIns="0" tIns="0" rIns="0" bIns="0" rtlCol="0" anchor="t"/>
          <a:lstStyle/>
          <a:p>
            <a:pPr indent="0" marL="0">
              <a:buNone/>
            </a:pPr>
            <a:r>
              <a:rPr lang="en-US" sz="1500" dirty="0">
                <a:solidFill>
                  <a:schemeClr val="bg1"/>
                </a:solidFill>
              </a:rPr>
              <a:t>A legal, registered company that used legitimate channels to commit organized, transnational fraud across the US, Jordan, Iraq, Albania and Afghanistan.</a:t>
            </a:r>
            <a:endParaRPr lang="en-US" sz="1500" dirty="0"/>
          </a:p>
        </p:txBody>
      </p:sp>
      <p:sp>
        <p:nvSpPr>
          <p:cNvPr id="41" name="Text 31"/>
          <p:cNvSpPr txBox="1"/>
          <p:nvPr/>
        </p:nvSpPr>
        <p:spPr>
          <a:xfrm>
            <a:off x="7818120" y="4846320"/>
            <a:ext cx="3504895" cy="731520"/>
          </a:xfrm>
          <a:prstGeom prst="rect">
            <a:avLst/>
          </a:prstGeom>
          <a:noFill/>
          <a:ln/>
        </p:spPr>
        <p:txBody>
          <a:bodyPr wrap="square" lIns="0" tIns="0" rIns="0" bIns="0" rtlCol="0" anchor="t"/>
          <a:lstStyle/>
          <a:p>
            <a:pPr indent="0" marL="0">
              <a:buNone/>
            </a:pPr>
            <a:r>
              <a:rPr lang="en-US" sz="1500" b="1" dirty="0">
                <a:solidFill>
                  <a:schemeClr val="bg1"/>
                </a:solidFill>
              </a:rPr>
              <a:t>Why it matters: it didn’t look criminal, so no one checked.</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ate label"/>
          <p:cNvSpPr txBox="1"/>
          <p:nvPr/>
        </p:nvSpPr>
        <p:spPr>
          <a:xfrm>
            <a:off x="548640" y="292608"/>
            <a:ext cx="2459736"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06 // MODELS</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Enterprise and network models explain AEY best</a:t>
            </a:r>
            <a:endParaRPr lang="en-US" sz="2800" dirty="0"/>
          </a:p>
        </p:txBody>
      </p:sp>
      <p:sp>
        <p:nvSpPr>
          <p:cNvPr id="4" name="Text 2"/>
          <p:cNvSpPr txBox="1"/>
          <p:nvPr/>
        </p:nvSpPr>
        <p:spPr>
          <a:xfrm>
            <a:off x="548640" y="1600200"/>
            <a:ext cx="2194560" cy="256032"/>
          </a:xfrm>
          <a:prstGeom prst="rect">
            <a:avLst/>
          </a:prstGeom>
          <a:noFill/>
          <a:ln/>
        </p:spPr>
        <p:txBody>
          <a:bodyPr wrap="square" lIns="0" tIns="0" rIns="0" bIns="0" rtlCol="0" anchor="ctr"/>
          <a:lstStyle/>
          <a:p>
            <a:pPr indent="0" marL="0">
              <a:buNone/>
            </a:pPr>
            <a:r>
              <a:rPr lang="en-US" sz="1100" b="1" dirty="0">
                <a:solidFill>
                  <a:srgbClr val="5B6B3A"/>
                </a:solidFill>
                <a:latin typeface="Courier New" pitchFamily="34" charset="0"/>
                <a:ea typeface="Courier New" pitchFamily="34" charset="-122"/>
                <a:cs typeface="Courier New" pitchFamily="34" charset="-120"/>
              </a:rPr>
              <a:t>MODEL</a:t>
            </a:r>
            <a:endParaRPr lang="en-US" sz="1100" dirty="0"/>
          </a:p>
        </p:txBody>
      </p:sp>
      <p:sp>
        <p:nvSpPr>
          <p:cNvPr id="5" name="Text 3"/>
          <p:cNvSpPr txBox="1"/>
          <p:nvPr/>
        </p:nvSpPr>
        <p:spPr>
          <a:xfrm>
            <a:off x="2834640" y="1600200"/>
            <a:ext cx="3291840" cy="256032"/>
          </a:xfrm>
          <a:prstGeom prst="rect">
            <a:avLst/>
          </a:prstGeom>
          <a:noFill/>
          <a:ln/>
        </p:spPr>
        <p:txBody>
          <a:bodyPr wrap="square" lIns="0" tIns="0" rIns="0" bIns="0" rtlCol="0" anchor="ctr"/>
          <a:lstStyle/>
          <a:p>
            <a:pPr indent="0" marL="0">
              <a:buNone/>
            </a:pPr>
            <a:r>
              <a:rPr lang="en-US" sz="1100" b="1" dirty="0">
                <a:solidFill>
                  <a:srgbClr val="5B6B3A"/>
                </a:solidFill>
                <a:latin typeface="Courier New" pitchFamily="34" charset="0"/>
                <a:ea typeface="Courier New" pitchFamily="34" charset="-122"/>
                <a:cs typeface="Courier New" pitchFamily="34" charset="-120"/>
              </a:rPr>
              <a:t>CORE IDEA</a:t>
            </a:r>
            <a:endParaRPr lang="en-US" sz="1100" dirty="0"/>
          </a:p>
        </p:txBody>
      </p:sp>
      <p:sp>
        <p:nvSpPr>
          <p:cNvPr id="6" name="Text 4"/>
          <p:cNvSpPr txBox="1"/>
          <p:nvPr/>
        </p:nvSpPr>
        <p:spPr>
          <a:xfrm>
            <a:off x="6263640" y="1600200"/>
            <a:ext cx="1828800" cy="256032"/>
          </a:xfrm>
          <a:prstGeom prst="rect">
            <a:avLst/>
          </a:prstGeom>
          <a:noFill/>
          <a:ln/>
        </p:spPr>
        <p:txBody>
          <a:bodyPr wrap="square" lIns="0" tIns="0" rIns="0" bIns="0" rtlCol="0" anchor="ctr"/>
          <a:lstStyle/>
          <a:p>
            <a:pPr indent="0" marL="0">
              <a:buNone/>
            </a:pPr>
            <a:r>
              <a:rPr lang="en-US" sz="1100" b="1" dirty="0">
                <a:solidFill>
                  <a:srgbClr val="5B6B3A"/>
                </a:solidFill>
                <a:latin typeface="Courier New" pitchFamily="34" charset="0"/>
                <a:ea typeface="Courier New" pitchFamily="34" charset="-122"/>
                <a:cs typeface="Courier New" pitchFamily="34" charset="-120"/>
              </a:rPr>
              <a:t>FIT</a:t>
            </a:r>
            <a:endParaRPr lang="en-US" sz="1100" dirty="0"/>
          </a:p>
        </p:txBody>
      </p:sp>
      <p:sp>
        <p:nvSpPr>
          <p:cNvPr id="7" name="Text 5"/>
          <p:cNvSpPr txBox="1"/>
          <p:nvPr/>
        </p:nvSpPr>
        <p:spPr>
          <a:xfrm>
            <a:off x="8275320" y="1600200"/>
            <a:ext cx="3291840" cy="256032"/>
          </a:xfrm>
          <a:prstGeom prst="rect">
            <a:avLst/>
          </a:prstGeom>
          <a:noFill/>
          <a:ln/>
        </p:spPr>
        <p:txBody>
          <a:bodyPr wrap="square" lIns="0" tIns="0" rIns="0" bIns="0" rtlCol="0" anchor="ctr"/>
          <a:lstStyle/>
          <a:p>
            <a:pPr indent="0" marL="0">
              <a:buNone/>
            </a:pPr>
            <a:r>
              <a:rPr lang="en-US" sz="1100" b="1" dirty="0">
                <a:solidFill>
                  <a:srgbClr val="5B6B3A"/>
                </a:solidFill>
                <a:latin typeface="Courier New" pitchFamily="34" charset="0"/>
                <a:ea typeface="Courier New" pitchFamily="34" charset="-122"/>
                <a:cs typeface="Courier New" pitchFamily="34" charset="-120"/>
              </a:rPr>
              <a:t>IN THE FILM</a:t>
            </a:r>
            <a:endParaRPr lang="en-US" sz="1100" dirty="0"/>
          </a:p>
        </p:txBody>
      </p:sp>
      <p:sp>
        <p:nvSpPr>
          <p:cNvPr id="8" name="Hierarchical"/>
          <p:cNvSpPr/>
          <p:nvPr/>
        </p:nvSpPr>
        <p:spPr>
          <a:xfrm>
            <a:off x="548640" y="1965960"/>
            <a:ext cx="11094415" cy="868680"/>
          </a:xfrm>
          <a:prstGeom prst="rect">
            <a:avLst/>
          </a:prstGeom>
          <a:solidFill>
            <a:srgbClr val="FAF7EF"/>
          </a:solidFill>
          <a:ln w="12700">
            <a:solidFill>
              <a:srgbClr val="CFC6AE"/>
            </a:solidFill>
            <a:prstDash val="solid"/>
          </a:ln>
        </p:spPr>
      </p:sp>
      <p:sp>
        <p:nvSpPr>
          <p:cNvPr id="9" name="Text 7"/>
          <p:cNvSpPr txBox="1"/>
          <p:nvPr/>
        </p:nvSpPr>
        <p:spPr>
          <a:xfrm>
            <a:off x="731520" y="1965960"/>
            <a:ext cx="2103120" cy="868680"/>
          </a:xfrm>
          <a:prstGeom prst="rect">
            <a:avLst/>
          </a:prstGeom>
          <a:noFill/>
          <a:ln/>
        </p:spPr>
        <p:txBody>
          <a:bodyPr wrap="square" lIns="0" tIns="0" rIns="0" bIns="0" rtlCol="0" anchor="ctr"/>
          <a:lstStyle/>
          <a:p>
            <a:pPr indent="0" marL="0">
              <a:buNone/>
            </a:pPr>
            <a:r>
              <a:rPr lang="en-US" sz="1500" b="1" dirty="0">
                <a:solidFill>
                  <a:srgbClr val="23281C"/>
                </a:solidFill>
                <a:latin typeface="Arial Black" pitchFamily="34" charset="0"/>
                <a:ea typeface="Arial Black" pitchFamily="34" charset="-122"/>
                <a:cs typeface="Arial Black" pitchFamily="34" charset="-120"/>
              </a:rPr>
              <a:t>Hierarchical</a:t>
            </a:r>
            <a:endParaRPr lang="en-US" sz="1500" dirty="0"/>
          </a:p>
          <a:p>
            <a:pPr indent="0" marL="0">
              <a:buNone/>
            </a:pPr>
            <a:r>
              <a:rPr lang="en-US" sz="1200" dirty="0">
                <a:solidFill>
                  <a:srgbClr val="5C5A4E"/>
                </a:solidFill>
              </a:rPr>
              <a:t>Cressey (1969)</a:t>
            </a:r>
            <a:endParaRPr lang="en-US" sz="1500" dirty="0"/>
          </a:p>
        </p:txBody>
      </p:sp>
      <p:sp>
        <p:nvSpPr>
          <p:cNvPr id="10" name="Text 8"/>
          <p:cNvSpPr txBox="1"/>
          <p:nvPr/>
        </p:nvSpPr>
        <p:spPr>
          <a:xfrm>
            <a:off x="2834640" y="1965960"/>
            <a:ext cx="3291840" cy="868680"/>
          </a:xfrm>
          <a:prstGeom prst="rect">
            <a:avLst/>
          </a:prstGeom>
          <a:noFill/>
          <a:ln/>
        </p:spPr>
        <p:txBody>
          <a:bodyPr wrap="square" lIns="0" tIns="0" rIns="0" bIns="0" rtlCol="0" anchor="ctr"/>
          <a:lstStyle/>
          <a:p>
            <a:pPr indent="0" marL="0">
              <a:buNone/>
            </a:pPr>
            <a:r>
              <a:rPr lang="en-US" sz="1400" dirty="0">
                <a:solidFill>
                  <a:srgbClr val="23281C"/>
                </a:solidFill>
              </a:rPr>
              <a:t>Mafia-style bureaucracy with ranks and a code</a:t>
            </a:r>
            <a:endParaRPr lang="en-US" sz="1400" dirty="0"/>
          </a:p>
        </p:txBody>
      </p:sp>
      <p:sp>
        <p:nvSpPr>
          <p:cNvPr id="11" name="fit Hierarchical 1"/>
          <p:cNvSpPr/>
          <p:nvPr/>
        </p:nvSpPr>
        <p:spPr>
          <a:xfrm>
            <a:off x="6263640" y="2295144"/>
            <a:ext cx="292608" cy="219456"/>
          </a:xfrm>
          <a:prstGeom prst="rect">
            <a:avLst/>
          </a:prstGeom>
          <a:solidFill>
            <a:srgbClr val="C9A227"/>
          </a:solidFill>
          <a:ln/>
        </p:spPr>
      </p:sp>
      <p:sp>
        <p:nvSpPr>
          <p:cNvPr id="12" name="fit Hierarchical 2"/>
          <p:cNvSpPr/>
          <p:nvPr/>
        </p:nvSpPr>
        <p:spPr>
          <a:xfrm>
            <a:off x="6611112" y="2295144"/>
            <a:ext cx="292608" cy="219456"/>
          </a:xfrm>
          <a:prstGeom prst="rect">
            <a:avLst/>
          </a:prstGeom>
          <a:solidFill>
            <a:srgbClr val="E2DCCB"/>
          </a:solidFill>
          <a:ln/>
        </p:spPr>
      </p:sp>
      <p:sp>
        <p:nvSpPr>
          <p:cNvPr id="13" name="fit Hierarchical 3"/>
          <p:cNvSpPr/>
          <p:nvPr/>
        </p:nvSpPr>
        <p:spPr>
          <a:xfrm>
            <a:off x="6958584" y="2295144"/>
            <a:ext cx="292608" cy="219456"/>
          </a:xfrm>
          <a:prstGeom prst="rect">
            <a:avLst/>
          </a:prstGeom>
          <a:solidFill>
            <a:srgbClr val="E2DCCB"/>
          </a:solidFill>
          <a:ln/>
        </p:spPr>
      </p:sp>
      <p:sp>
        <p:nvSpPr>
          <p:cNvPr id="14" name="fit Hierarchical 4"/>
          <p:cNvSpPr/>
          <p:nvPr/>
        </p:nvSpPr>
        <p:spPr>
          <a:xfrm>
            <a:off x="7306056" y="2295144"/>
            <a:ext cx="292608" cy="219456"/>
          </a:xfrm>
          <a:prstGeom prst="rect">
            <a:avLst/>
          </a:prstGeom>
          <a:solidFill>
            <a:srgbClr val="E2DCCB"/>
          </a:solidFill>
          <a:ln/>
        </p:spPr>
      </p:sp>
      <p:sp>
        <p:nvSpPr>
          <p:cNvPr id="15" name="fit Hierarchical 5"/>
          <p:cNvSpPr/>
          <p:nvPr/>
        </p:nvSpPr>
        <p:spPr>
          <a:xfrm>
            <a:off x="7653528" y="2295144"/>
            <a:ext cx="292608" cy="219456"/>
          </a:xfrm>
          <a:prstGeom prst="rect">
            <a:avLst/>
          </a:prstGeom>
          <a:solidFill>
            <a:srgbClr val="E2DCCB"/>
          </a:solidFill>
          <a:ln/>
        </p:spPr>
      </p:sp>
      <p:sp>
        <p:nvSpPr>
          <p:cNvPr id="16" name="Text 14"/>
          <p:cNvSpPr txBox="1"/>
          <p:nvPr/>
        </p:nvSpPr>
        <p:spPr>
          <a:xfrm>
            <a:off x="6263640" y="2532888"/>
            <a:ext cx="1737360" cy="256032"/>
          </a:xfrm>
          <a:prstGeom prst="rect">
            <a:avLst/>
          </a:prstGeom>
          <a:noFill/>
          <a:ln/>
        </p:spPr>
        <p:txBody>
          <a:bodyPr wrap="square" lIns="0" tIns="0" rIns="0" bIns="0" rtlCol="0" anchor="ctr"/>
          <a:lstStyle/>
          <a:p>
            <a:pPr indent="0" marL="0">
              <a:buNone/>
            </a:pPr>
            <a:r>
              <a:rPr lang="en-US" sz="1100" b="1" dirty="0">
                <a:solidFill>
                  <a:srgbClr val="5C5A4E"/>
                </a:solidFill>
              </a:rPr>
              <a:t>Weak</a:t>
            </a:r>
            <a:endParaRPr lang="en-US" sz="1100" dirty="0"/>
          </a:p>
        </p:txBody>
      </p:sp>
      <p:sp>
        <p:nvSpPr>
          <p:cNvPr id="17" name="Text 15"/>
          <p:cNvSpPr txBox="1"/>
          <p:nvPr/>
        </p:nvSpPr>
        <p:spPr>
          <a:xfrm>
            <a:off x="8275320" y="1965960"/>
            <a:ext cx="3184855" cy="868680"/>
          </a:xfrm>
          <a:prstGeom prst="rect">
            <a:avLst/>
          </a:prstGeom>
          <a:noFill/>
          <a:ln/>
        </p:spPr>
        <p:txBody>
          <a:bodyPr wrap="square" lIns="0" tIns="0" rIns="0" bIns="0" rtlCol="0" anchor="ctr"/>
          <a:lstStyle/>
          <a:p>
            <a:pPr indent="0" marL="0">
              <a:buNone/>
            </a:pPr>
            <a:r>
              <a:rPr lang="en-US" sz="1400" dirty="0">
                <a:solidFill>
                  <a:srgbClr val="23281C"/>
                </a:solidFill>
              </a:rPr>
              <a:t>No ranks or code; it rested on Efraim alone</a:t>
            </a:r>
            <a:endParaRPr lang="en-US" sz="1400" dirty="0"/>
          </a:p>
        </p:txBody>
      </p:sp>
      <p:sp>
        <p:nvSpPr>
          <p:cNvPr id="18" name="Patron–client"/>
          <p:cNvSpPr/>
          <p:nvPr/>
        </p:nvSpPr>
        <p:spPr>
          <a:xfrm>
            <a:off x="548640" y="2953512"/>
            <a:ext cx="11094415" cy="868680"/>
          </a:xfrm>
          <a:prstGeom prst="rect">
            <a:avLst/>
          </a:prstGeom>
          <a:solidFill>
            <a:srgbClr val="FAF7EF"/>
          </a:solidFill>
          <a:ln w="12700">
            <a:solidFill>
              <a:srgbClr val="CFC6AE"/>
            </a:solidFill>
            <a:prstDash val="solid"/>
          </a:ln>
        </p:spPr>
      </p:sp>
      <p:sp>
        <p:nvSpPr>
          <p:cNvPr id="19" name="Text 17"/>
          <p:cNvSpPr txBox="1"/>
          <p:nvPr/>
        </p:nvSpPr>
        <p:spPr>
          <a:xfrm>
            <a:off x="731520" y="2953512"/>
            <a:ext cx="2103120" cy="868680"/>
          </a:xfrm>
          <a:prstGeom prst="rect">
            <a:avLst/>
          </a:prstGeom>
          <a:noFill/>
          <a:ln/>
        </p:spPr>
        <p:txBody>
          <a:bodyPr wrap="square" lIns="0" tIns="0" rIns="0" bIns="0" rtlCol="0" anchor="ctr"/>
          <a:lstStyle/>
          <a:p>
            <a:pPr indent="0" marL="0">
              <a:buNone/>
            </a:pPr>
            <a:r>
              <a:rPr lang="en-US" sz="1500" b="1" dirty="0">
                <a:solidFill>
                  <a:srgbClr val="23281C"/>
                </a:solidFill>
                <a:latin typeface="Arial Black" pitchFamily="34" charset="0"/>
                <a:ea typeface="Arial Black" pitchFamily="34" charset="-122"/>
                <a:cs typeface="Arial Black" pitchFamily="34" charset="-120"/>
              </a:rPr>
              <a:t>Patron–client</a:t>
            </a:r>
            <a:endParaRPr lang="en-US" sz="1500" dirty="0"/>
          </a:p>
          <a:p>
            <a:pPr indent="0" marL="0">
              <a:buNone/>
            </a:pPr>
            <a:r>
              <a:rPr lang="en-US" sz="1200" dirty="0">
                <a:solidFill>
                  <a:srgbClr val="5C5A4E"/>
                </a:solidFill>
              </a:rPr>
              <a:t>Albini (1971)</a:t>
            </a:r>
            <a:endParaRPr lang="en-US" sz="1500" dirty="0"/>
          </a:p>
        </p:txBody>
      </p:sp>
      <p:sp>
        <p:nvSpPr>
          <p:cNvPr id="20" name="Text 18"/>
          <p:cNvSpPr txBox="1"/>
          <p:nvPr/>
        </p:nvSpPr>
        <p:spPr>
          <a:xfrm>
            <a:off x="2834640" y="2953512"/>
            <a:ext cx="3291840" cy="868680"/>
          </a:xfrm>
          <a:prstGeom prst="rect">
            <a:avLst/>
          </a:prstGeom>
          <a:noFill/>
          <a:ln/>
        </p:spPr>
        <p:txBody>
          <a:bodyPr wrap="square" lIns="0" tIns="0" rIns="0" bIns="0" rtlCol="0" anchor="ctr"/>
          <a:lstStyle/>
          <a:p>
            <a:pPr indent="0" marL="0">
              <a:buNone/>
            </a:pPr>
            <a:r>
              <a:rPr lang="en-US" sz="1400" dirty="0">
                <a:solidFill>
                  <a:srgbClr val="23281C"/>
                </a:solidFill>
              </a:rPr>
              <a:t>Patrons trade access and protection for loyalty</a:t>
            </a:r>
            <a:endParaRPr lang="en-US" sz="1400" dirty="0"/>
          </a:p>
        </p:txBody>
      </p:sp>
      <p:sp>
        <p:nvSpPr>
          <p:cNvPr id="21" name="fit Patron–client 1"/>
          <p:cNvSpPr/>
          <p:nvPr/>
        </p:nvSpPr>
        <p:spPr>
          <a:xfrm>
            <a:off x="6263640" y="3282696"/>
            <a:ext cx="292608" cy="219456"/>
          </a:xfrm>
          <a:prstGeom prst="rect">
            <a:avLst/>
          </a:prstGeom>
          <a:solidFill>
            <a:srgbClr val="C9A227"/>
          </a:solidFill>
          <a:ln/>
        </p:spPr>
      </p:sp>
      <p:sp>
        <p:nvSpPr>
          <p:cNvPr id="22" name="fit Patron–client 2"/>
          <p:cNvSpPr/>
          <p:nvPr/>
        </p:nvSpPr>
        <p:spPr>
          <a:xfrm>
            <a:off x="6611112" y="3282696"/>
            <a:ext cx="292608" cy="219456"/>
          </a:xfrm>
          <a:prstGeom prst="rect">
            <a:avLst/>
          </a:prstGeom>
          <a:solidFill>
            <a:srgbClr val="C9A227"/>
          </a:solidFill>
          <a:ln/>
        </p:spPr>
      </p:sp>
      <p:sp>
        <p:nvSpPr>
          <p:cNvPr id="23" name="fit Patron–client 3"/>
          <p:cNvSpPr/>
          <p:nvPr/>
        </p:nvSpPr>
        <p:spPr>
          <a:xfrm>
            <a:off x="6958584" y="3282696"/>
            <a:ext cx="292608" cy="219456"/>
          </a:xfrm>
          <a:prstGeom prst="rect">
            <a:avLst/>
          </a:prstGeom>
          <a:solidFill>
            <a:srgbClr val="C9A227"/>
          </a:solidFill>
          <a:ln/>
        </p:spPr>
      </p:sp>
      <p:sp>
        <p:nvSpPr>
          <p:cNvPr id="24" name="fit Patron–client 4"/>
          <p:cNvSpPr/>
          <p:nvPr/>
        </p:nvSpPr>
        <p:spPr>
          <a:xfrm>
            <a:off x="7306056" y="3282696"/>
            <a:ext cx="292608" cy="219456"/>
          </a:xfrm>
          <a:prstGeom prst="rect">
            <a:avLst/>
          </a:prstGeom>
          <a:solidFill>
            <a:srgbClr val="E2DCCB"/>
          </a:solidFill>
          <a:ln/>
        </p:spPr>
      </p:sp>
      <p:sp>
        <p:nvSpPr>
          <p:cNvPr id="25" name="fit Patron–client 5"/>
          <p:cNvSpPr/>
          <p:nvPr/>
        </p:nvSpPr>
        <p:spPr>
          <a:xfrm>
            <a:off x="7653528" y="3282696"/>
            <a:ext cx="292608" cy="219456"/>
          </a:xfrm>
          <a:prstGeom prst="rect">
            <a:avLst/>
          </a:prstGeom>
          <a:solidFill>
            <a:srgbClr val="E2DCCB"/>
          </a:solidFill>
          <a:ln/>
        </p:spPr>
      </p:sp>
      <p:sp>
        <p:nvSpPr>
          <p:cNvPr id="26" name="Text 24"/>
          <p:cNvSpPr txBox="1"/>
          <p:nvPr/>
        </p:nvSpPr>
        <p:spPr>
          <a:xfrm>
            <a:off x="6263640" y="3520440"/>
            <a:ext cx="1737360" cy="256032"/>
          </a:xfrm>
          <a:prstGeom prst="rect">
            <a:avLst/>
          </a:prstGeom>
          <a:noFill/>
          <a:ln/>
        </p:spPr>
        <p:txBody>
          <a:bodyPr wrap="square" lIns="0" tIns="0" rIns="0" bIns="0" rtlCol="0" anchor="ctr"/>
          <a:lstStyle/>
          <a:p>
            <a:pPr indent="0" marL="0">
              <a:buNone/>
            </a:pPr>
            <a:r>
              <a:rPr lang="en-US" sz="1100" b="1" dirty="0">
                <a:solidFill>
                  <a:srgbClr val="5C5A4E"/>
                </a:solidFill>
              </a:rPr>
              <a:t>Partial</a:t>
            </a:r>
            <a:endParaRPr lang="en-US" sz="1100" dirty="0"/>
          </a:p>
        </p:txBody>
      </p:sp>
      <p:sp>
        <p:nvSpPr>
          <p:cNvPr id="27" name="Text 25"/>
          <p:cNvSpPr txBox="1"/>
          <p:nvPr/>
        </p:nvSpPr>
        <p:spPr>
          <a:xfrm>
            <a:off x="8275320" y="2953512"/>
            <a:ext cx="3184855" cy="868680"/>
          </a:xfrm>
          <a:prstGeom prst="rect">
            <a:avLst/>
          </a:prstGeom>
          <a:noFill/>
          <a:ln/>
        </p:spPr>
        <p:txBody>
          <a:bodyPr wrap="square" lIns="0" tIns="0" rIns="0" bIns="0" rtlCol="0" anchor="ctr"/>
          <a:lstStyle/>
          <a:p>
            <a:pPr indent="0" marL="0">
              <a:buNone/>
            </a:pPr>
            <a:r>
              <a:rPr lang="en-US" sz="1400" dirty="0">
                <a:solidFill>
                  <a:srgbClr val="23281C"/>
                </a:solidFill>
              </a:rPr>
              <a:t>Henry as patron controlling access to Albanian supply</a:t>
            </a:r>
            <a:endParaRPr lang="en-US" sz="1400" dirty="0"/>
          </a:p>
        </p:txBody>
      </p:sp>
      <p:sp>
        <p:nvSpPr>
          <p:cNvPr id="28" name="Enterprise"/>
          <p:cNvSpPr/>
          <p:nvPr/>
        </p:nvSpPr>
        <p:spPr>
          <a:xfrm>
            <a:off x="548640" y="3941064"/>
            <a:ext cx="11094415" cy="868680"/>
          </a:xfrm>
          <a:prstGeom prst="rect">
            <a:avLst/>
          </a:prstGeom>
          <a:solidFill>
            <a:srgbClr val="EEF0E4"/>
          </a:solidFill>
          <a:ln w="19050">
            <a:solidFill>
              <a:srgbClr val="5B6B3A"/>
            </a:solidFill>
            <a:prstDash val="solid"/>
          </a:ln>
        </p:spPr>
      </p:sp>
      <p:sp>
        <p:nvSpPr>
          <p:cNvPr id="29" name="Text 27"/>
          <p:cNvSpPr txBox="1"/>
          <p:nvPr/>
        </p:nvSpPr>
        <p:spPr>
          <a:xfrm>
            <a:off x="731520" y="3941064"/>
            <a:ext cx="2103120" cy="868680"/>
          </a:xfrm>
          <a:prstGeom prst="rect">
            <a:avLst/>
          </a:prstGeom>
          <a:noFill/>
          <a:ln/>
        </p:spPr>
        <p:txBody>
          <a:bodyPr wrap="square" lIns="0" tIns="0" rIns="0" bIns="0" rtlCol="0" anchor="ctr"/>
          <a:lstStyle/>
          <a:p>
            <a:pPr indent="0" marL="0">
              <a:buNone/>
            </a:pPr>
            <a:r>
              <a:rPr lang="en-US" sz="1500" b="1" dirty="0">
                <a:solidFill>
                  <a:srgbClr val="23281C"/>
                </a:solidFill>
                <a:latin typeface="Arial Black" pitchFamily="34" charset="0"/>
                <a:ea typeface="Arial Black" pitchFamily="34" charset="-122"/>
                <a:cs typeface="Arial Black" pitchFamily="34" charset="-120"/>
              </a:rPr>
              <a:t>Enterprise</a:t>
            </a:r>
            <a:endParaRPr lang="en-US" sz="1500" dirty="0"/>
          </a:p>
          <a:p>
            <a:pPr indent="0" marL="0">
              <a:buNone/>
            </a:pPr>
            <a:r>
              <a:rPr lang="en-US" sz="1200" dirty="0">
                <a:solidFill>
                  <a:srgbClr val="5C5A4E"/>
                </a:solidFill>
              </a:rPr>
              <a:t>Smith (1980)</a:t>
            </a:r>
            <a:endParaRPr lang="en-US" sz="1500" dirty="0"/>
          </a:p>
        </p:txBody>
      </p:sp>
      <p:sp>
        <p:nvSpPr>
          <p:cNvPr id="30" name="Text 28"/>
          <p:cNvSpPr txBox="1"/>
          <p:nvPr/>
        </p:nvSpPr>
        <p:spPr>
          <a:xfrm>
            <a:off x="2834640" y="3941064"/>
            <a:ext cx="3291840" cy="868680"/>
          </a:xfrm>
          <a:prstGeom prst="rect">
            <a:avLst/>
          </a:prstGeom>
          <a:noFill/>
          <a:ln/>
        </p:spPr>
        <p:txBody>
          <a:bodyPr wrap="square" lIns="0" tIns="0" rIns="0" bIns="0" rtlCol="0" anchor="ctr"/>
          <a:lstStyle/>
          <a:p>
            <a:pPr indent="0" marL="0">
              <a:buNone/>
            </a:pPr>
            <a:r>
              <a:rPr lang="en-US" sz="1400" dirty="0">
                <a:solidFill>
                  <a:srgbClr val="23281C"/>
                </a:solidFill>
              </a:rPr>
              <a:t>Crime as business on a legal–illegal spectrum</a:t>
            </a:r>
            <a:endParaRPr lang="en-US" sz="1400" dirty="0"/>
          </a:p>
        </p:txBody>
      </p:sp>
      <p:sp>
        <p:nvSpPr>
          <p:cNvPr id="31" name="fit Enterprise 1"/>
          <p:cNvSpPr/>
          <p:nvPr/>
        </p:nvSpPr>
        <p:spPr>
          <a:xfrm>
            <a:off x="6263640" y="4270248"/>
            <a:ext cx="292608" cy="219456"/>
          </a:xfrm>
          <a:prstGeom prst="rect">
            <a:avLst/>
          </a:prstGeom>
          <a:solidFill>
            <a:srgbClr val="5B6B3A"/>
          </a:solidFill>
          <a:ln/>
        </p:spPr>
      </p:sp>
      <p:sp>
        <p:nvSpPr>
          <p:cNvPr id="32" name="fit Enterprise 2"/>
          <p:cNvSpPr/>
          <p:nvPr/>
        </p:nvSpPr>
        <p:spPr>
          <a:xfrm>
            <a:off x="6611112" y="4270248"/>
            <a:ext cx="292608" cy="219456"/>
          </a:xfrm>
          <a:prstGeom prst="rect">
            <a:avLst/>
          </a:prstGeom>
          <a:solidFill>
            <a:srgbClr val="5B6B3A"/>
          </a:solidFill>
          <a:ln/>
        </p:spPr>
      </p:sp>
      <p:sp>
        <p:nvSpPr>
          <p:cNvPr id="33" name="fit Enterprise 3"/>
          <p:cNvSpPr/>
          <p:nvPr/>
        </p:nvSpPr>
        <p:spPr>
          <a:xfrm>
            <a:off x="6958584" y="4270248"/>
            <a:ext cx="292608" cy="219456"/>
          </a:xfrm>
          <a:prstGeom prst="rect">
            <a:avLst/>
          </a:prstGeom>
          <a:solidFill>
            <a:srgbClr val="5B6B3A"/>
          </a:solidFill>
          <a:ln/>
        </p:spPr>
      </p:sp>
      <p:sp>
        <p:nvSpPr>
          <p:cNvPr id="34" name="fit Enterprise 4"/>
          <p:cNvSpPr/>
          <p:nvPr/>
        </p:nvSpPr>
        <p:spPr>
          <a:xfrm>
            <a:off x="7306056" y="4270248"/>
            <a:ext cx="292608" cy="219456"/>
          </a:xfrm>
          <a:prstGeom prst="rect">
            <a:avLst/>
          </a:prstGeom>
          <a:solidFill>
            <a:srgbClr val="5B6B3A"/>
          </a:solidFill>
          <a:ln/>
        </p:spPr>
      </p:sp>
      <p:sp>
        <p:nvSpPr>
          <p:cNvPr id="35" name="fit Enterprise 5"/>
          <p:cNvSpPr/>
          <p:nvPr/>
        </p:nvSpPr>
        <p:spPr>
          <a:xfrm>
            <a:off x="7653528" y="4270248"/>
            <a:ext cx="292608" cy="219456"/>
          </a:xfrm>
          <a:prstGeom prst="rect">
            <a:avLst/>
          </a:prstGeom>
          <a:solidFill>
            <a:srgbClr val="5B6B3A"/>
          </a:solidFill>
          <a:ln/>
        </p:spPr>
      </p:sp>
      <p:sp>
        <p:nvSpPr>
          <p:cNvPr id="36" name="Text 34"/>
          <p:cNvSpPr txBox="1"/>
          <p:nvPr/>
        </p:nvSpPr>
        <p:spPr>
          <a:xfrm>
            <a:off x="6263640" y="4507992"/>
            <a:ext cx="1737360" cy="256032"/>
          </a:xfrm>
          <a:prstGeom prst="rect">
            <a:avLst/>
          </a:prstGeom>
          <a:noFill/>
          <a:ln/>
        </p:spPr>
        <p:txBody>
          <a:bodyPr wrap="square" lIns="0" tIns="0" rIns="0" bIns="0" rtlCol="0" anchor="ctr"/>
          <a:lstStyle/>
          <a:p>
            <a:pPr indent="0" marL="0">
              <a:buNone/>
            </a:pPr>
            <a:r>
              <a:rPr lang="en-US" sz="1100" b="1" dirty="0">
                <a:solidFill>
                  <a:srgbClr val="5B6B3A"/>
                </a:solidFill>
              </a:rPr>
              <a:t>Strong</a:t>
            </a:r>
            <a:endParaRPr lang="en-US" sz="1100" dirty="0"/>
          </a:p>
        </p:txBody>
      </p:sp>
      <p:sp>
        <p:nvSpPr>
          <p:cNvPr id="37" name="Text 35"/>
          <p:cNvSpPr txBox="1"/>
          <p:nvPr/>
        </p:nvSpPr>
        <p:spPr>
          <a:xfrm>
            <a:off x="8275320" y="3941064"/>
            <a:ext cx="3184855" cy="868680"/>
          </a:xfrm>
          <a:prstGeom prst="rect">
            <a:avLst/>
          </a:prstGeom>
          <a:noFill/>
          <a:ln/>
        </p:spPr>
        <p:txBody>
          <a:bodyPr wrap="square" lIns="0" tIns="0" rIns="0" bIns="0" rtlCol="0" anchor="ctr"/>
          <a:lstStyle/>
          <a:p>
            <a:pPr indent="0" marL="0">
              <a:buNone/>
            </a:pPr>
            <a:r>
              <a:rPr lang="en-US" sz="1400" dirty="0">
                <a:solidFill>
                  <a:srgbClr val="23281C"/>
                </a:solidFill>
              </a:rPr>
              <a:t>AEY slid from legal bidding to fraud as Pentagon demand grew</a:t>
            </a:r>
            <a:endParaRPr lang="en-US" sz="1400" dirty="0"/>
          </a:p>
        </p:txBody>
      </p:sp>
      <p:sp>
        <p:nvSpPr>
          <p:cNvPr id="38" name="Network"/>
          <p:cNvSpPr/>
          <p:nvPr/>
        </p:nvSpPr>
        <p:spPr>
          <a:xfrm>
            <a:off x="548640" y="4928616"/>
            <a:ext cx="11094415" cy="868680"/>
          </a:xfrm>
          <a:prstGeom prst="rect">
            <a:avLst/>
          </a:prstGeom>
          <a:solidFill>
            <a:srgbClr val="EEF0E4"/>
          </a:solidFill>
          <a:ln w="19050">
            <a:solidFill>
              <a:srgbClr val="5B6B3A"/>
            </a:solidFill>
            <a:prstDash val="solid"/>
          </a:ln>
        </p:spPr>
      </p:sp>
      <p:sp>
        <p:nvSpPr>
          <p:cNvPr id="39" name="Text 37"/>
          <p:cNvSpPr txBox="1"/>
          <p:nvPr/>
        </p:nvSpPr>
        <p:spPr>
          <a:xfrm>
            <a:off x="731520" y="4928616"/>
            <a:ext cx="2103120" cy="868680"/>
          </a:xfrm>
          <a:prstGeom prst="rect">
            <a:avLst/>
          </a:prstGeom>
          <a:noFill/>
          <a:ln/>
        </p:spPr>
        <p:txBody>
          <a:bodyPr wrap="square" lIns="0" tIns="0" rIns="0" bIns="0" rtlCol="0" anchor="ctr"/>
          <a:lstStyle/>
          <a:p>
            <a:pPr indent="0" marL="0">
              <a:buNone/>
            </a:pPr>
            <a:r>
              <a:rPr lang="en-US" sz="1500" b="1" dirty="0">
                <a:solidFill>
                  <a:srgbClr val="23281C"/>
                </a:solidFill>
                <a:latin typeface="Arial Black" pitchFamily="34" charset="0"/>
                <a:ea typeface="Arial Black" pitchFamily="34" charset="-122"/>
                <a:cs typeface="Arial Black" pitchFamily="34" charset="-120"/>
              </a:rPr>
              <a:t>Network</a:t>
            </a:r>
            <a:endParaRPr lang="en-US" sz="1500" dirty="0"/>
          </a:p>
          <a:p>
            <a:pPr indent="0" marL="0">
              <a:buNone/>
            </a:pPr>
            <a:r>
              <a:rPr lang="en-US" sz="1200" dirty="0">
                <a:solidFill>
                  <a:srgbClr val="5C5A4E"/>
                </a:solidFill>
              </a:rPr>
              <a:t>Morselli (2009)</a:t>
            </a:r>
            <a:endParaRPr lang="en-US" sz="1500" dirty="0"/>
          </a:p>
        </p:txBody>
      </p:sp>
      <p:sp>
        <p:nvSpPr>
          <p:cNvPr id="40" name="Text 38"/>
          <p:cNvSpPr txBox="1"/>
          <p:nvPr/>
        </p:nvSpPr>
        <p:spPr>
          <a:xfrm>
            <a:off x="2834640" y="4928616"/>
            <a:ext cx="3291840" cy="868680"/>
          </a:xfrm>
          <a:prstGeom prst="rect">
            <a:avLst/>
          </a:prstGeom>
          <a:noFill/>
          <a:ln/>
        </p:spPr>
        <p:txBody>
          <a:bodyPr wrap="square" lIns="0" tIns="0" rIns="0" bIns="0" rtlCol="0" anchor="ctr"/>
          <a:lstStyle/>
          <a:p>
            <a:pPr indent="0" marL="0">
              <a:buNone/>
            </a:pPr>
            <a:r>
              <a:rPr lang="en-US" sz="1400" dirty="0">
                <a:solidFill>
                  <a:srgbClr val="23281C"/>
                </a:solidFill>
              </a:rPr>
              <a:t>Brokers linking separate actors hold the power</a:t>
            </a:r>
            <a:endParaRPr lang="en-US" sz="1400" dirty="0"/>
          </a:p>
        </p:txBody>
      </p:sp>
      <p:sp>
        <p:nvSpPr>
          <p:cNvPr id="41" name="fit Network 1"/>
          <p:cNvSpPr/>
          <p:nvPr/>
        </p:nvSpPr>
        <p:spPr>
          <a:xfrm>
            <a:off x="6263640" y="5257800"/>
            <a:ext cx="292608" cy="219456"/>
          </a:xfrm>
          <a:prstGeom prst="rect">
            <a:avLst/>
          </a:prstGeom>
          <a:solidFill>
            <a:srgbClr val="5B6B3A"/>
          </a:solidFill>
          <a:ln/>
        </p:spPr>
      </p:sp>
      <p:sp>
        <p:nvSpPr>
          <p:cNvPr id="42" name="fit Network 2"/>
          <p:cNvSpPr/>
          <p:nvPr/>
        </p:nvSpPr>
        <p:spPr>
          <a:xfrm>
            <a:off x="6611112" y="5257800"/>
            <a:ext cx="292608" cy="219456"/>
          </a:xfrm>
          <a:prstGeom prst="rect">
            <a:avLst/>
          </a:prstGeom>
          <a:solidFill>
            <a:srgbClr val="5B6B3A"/>
          </a:solidFill>
          <a:ln/>
        </p:spPr>
      </p:sp>
      <p:sp>
        <p:nvSpPr>
          <p:cNvPr id="43" name="fit Network 3"/>
          <p:cNvSpPr/>
          <p:nvPr/>
        </p:nvSpPr>
        <p:spPr>
          <a:xfrm>
            <a:off x="6958584" y="5257800"/>
            <a:ext cx="292608" cy="219456"/>
          </a:xfrm>
          <a:prstGeom prst="rect">
            <a:avLst/>
          </a:prstGeom>
          <a:solidFill>
            <a:srgbClr val="5B6B3A"/>
          </a:solidFill>
          <a:ln/>
        </p:spPr>
      </p:sp>
      <p:sp>
        <p:nvSpPr>
          <p:cNvPr id="44" name="fit Network 4"/>
          <p:cNvSpPr/>
          <p:nvPr/>
        </p:nvSpPr>
        <p:spPr>
          <a:xfrm>
            <a:off x="7306056" y="5257800"/>
            <a:ext cx="292608" cy="219456"/>
          </a:xfrm>
          <a:prstGeom prst="rect">
            <a:avLst/>
          </a:prstGeom>
          <a:solidFill>
            <a:srgbClr val="5B6B3A"/>
          </a:solidFill>
          <a:ln/>
        </p:spPr>
      </p:sp>
      <p:sp>
        <p:nvSpPr>
          <p:cNvPr id="45" name="fit Network 5"/>
          <p:cNvSpPr/>
          <p:nvPr/>
        </p:nvSpPr>
        <p:spPr>
          <a:xfrm>
            <a:off x="7653528" y="5257800"/>
            <a:ext cx="292608" cy="219456"/>
          </a:xfrm>
          <a:prstGeom prst="rect">
            <a:avLst/>
          </a:prstGeom>
          <a:solidFill>
            <a:srgbClr val="5B6B3A"/>
          </a:solidFill>
          <a:ln/>
        </p:spPr>
      </p:sp>
      <p:sp>
        <p:nvSpPr>
          <p:cNvPr id="46" name="Text 44"/>
          <p:cNvSpPr txBox="1"/>
          <p:nvPr/>
        </p:nvSpPr>
        <p:spPr>
          <a:xfrm>
            <a:off x="6263640" y="5495544"/>
            <a:ext cx="1737360" cy="256032"/>
          </a:xfrm>
          <a:prstGeom prst="rect">
            <a:avLst/>
          </a:prstGeom>
          <a:noFill/>
          <a:ln/>
        </p:spPr>
        <p:txBody>
          <a:bodyPr wrap="square" lIns="0" tIns="0" rIns="0" bIns="0" rtlCol="0" anchor="ctr"/>
          <a:lstStyle/>
          <a:p>
            <a:pPr indent="0" marL="0">
              <a:buNone/>
            </a:pPr>
            <a:r>
              <a:rPr lang="en-US" sz="1100" b="1" dirty="0">
                <a:solidFill>
                  <a:srgbClr val="5B6B3A"/>
                </a:solidFill>
              </a:rPr>
              <a:t>Strong</a:t>
            </a:r>
            <a:endParaRPr lang="en-US" sz="1100" dirty="0"/>
          </a:p>
        </p:txBody>
      </p:sp>
      <p:sp>
        <p:nvSpPr>
          <p:cNvPr id="47" name="Text 45"/>
          <p:cNvSpPr txBox="1"/>
          <p:nvPr/>
        </p:nvSpPr>
        <p:spPr>
          <a:xfrm>
            <a:off x="8275320" y="4928616"/>
            <a:ext cx="3184855" cy="868680"/>
          </a:xfrm>
          <a:prstGeom prst="rect">
            <a:avLst/>
          </a:prstGeom>
          <a:noFill/>
          <a:ln/>
        </p:spPr>
        <p:txBody>
          <a:bodyPr wrap="square" lIns="0" tIns="0" rIns="0" bIns="0" rtlCol="0" anchor="ctr"/>
          <a:lstStyle/>
          <a:p>
            <a:pPr indent="0" marL="0">
              <a:buNone/>
            </a:pPr>
            <a:r>
              <a:rPr lang="en-US" sz="1400" dirty="0">
                <a:solidFill>
                  <a:srgbClr val="23281C"/>
                </a:solidFill>
              </a:rPr>
              <a:t>Efraim and Henry profit by bridging Pentagon and Balkan stockpiles</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ate label"/>
          <p:cNvSpPr txBox="1"/>
          <p:nvPr/>
        </p:nvSpPr>
        <p:spPr>
          <a:xfrm>
            <a:off x="548640" y="292608"/>
            <a:ext cx="3099816"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07 // THE NETWORK</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The deal was a network, and the brokers held the power</a:t>
            </a:r>
            <a:endParaRPr lang="en-US" sz="2800" dirty="0"/>
          </a:p>
        </p:txBody>
      </p:sp>
      <p:sp>
        <p:nvSpPr>
          <p:cNvPr id="4" name="link"/>
          <p:cNvSpPr/>
          <p:nvPr/>
        </p:nvSpPr>
        <p:spPr>
          <a:xfrm>
            <a:off x="1847088" y="2624328"/>
            <a:ext cx="2788920" cy="1371600"/>
          </a:xfrm>
          <a:prstGeom prst="line">
            <a:avLst/>
          </a:prstGeom>
          <a:noFill/>
          <a:ln w="38100">
            <a:solidFill>
              <a:srgbClr val="D9480F"/>
            </a:solidFill>
            <a:prstDash val="solid"/>
          </a:ln>
        </p:spPr>
      </p:sp>
      <p:sp>
        <p:nvSpPr>
          <p:cNvPr id="5" name="link"/>
          <p:cNvSpPr/>
          <p:nvPr/>
        </p:nvSpPr>
        <p:spPr>
          <a:xfrm flipV="1">
            <a:off x="1847088" y="3995928"/>
            <a:ext cx="2788920" cy="1325880"/>
          </a:xfrm>
          <a:prstGeom prst="line">
            <a:avLst/>
          </a:prstGeom>
          <a:noFill/>
          <a:ln w="22225">
            <a:solidFill>
              <a:srgbClr val="B7AD92"/>
            </a:solidFill>
            <a:prstDash val="solid"/>
          </a:ln>
        </p:spPr>
      </p:sp>
      <p:sp>
        <p:nvSpPr>
          <p:cNvPr id="6" name="link"/>
          <p:cNvSpPr/>
          <p:nvPr/>
        </p:nvSpPr>
        <p:spPr>
          <a:xfrm flipV="1">
            <a:off x="4636008" y="2624328"/>
            <a:ext cx="2788920" cy="1371600"/>
          </a:xfrm>
          <a:prstGeom prst="line">
            <a:avLst/>
          </a:prstGeom>
          <a:noFill/>
          <a:ln w="38100">
            <a:solidFill>
              <a:srgbClr val="D9480F"/>
            </a:solidFill>
            <a:prstDash val="solid"/>
          </a:ln>
        </p:spPr>
      </p:sp>
      <p:sp>
        <p:nvSpPr>
          <p:cNvPr id="7" name="link"/>
          <p:cNvSpPr/>
          <p:nvPr/>
        </p:nvSpPr>
        <p:spPr>
          <a:xfrm>
            <a:off x="7424928" y="2624328"/>
            <a:ext cx="914" cy="2697480"/>
          </a:xfrm>
          <a:prstGeom prst="line">
            <a:avLst/>
          </a:prstGeom>
          <a:noFill/>
          <a:ln w="22225">
            <a:solidFill>
              <a:srgbClr val="B7AD92"/>
            </a:solidFill>
            <a:prstDash val="solid"/>
          </a:ln>
        </p:spPr>
      </p:sp>
      <p:sp>
        <p:nvSpPr>
          <p:cNvPr id="8" name="link"/>
          <p:cNvSpPr/>
          <p:nvPr/>
        </p:nvSpPr>
        <p:spPr>
          <a:xfrm>
            <a:off x="4636008" y="3995928"/>
            <a:ext cx="2788920" cy="1325880"/>
          </a:xfrm>
          <a:prstGeom prst="line">
            <a:avLst/>
          </a:prstGeom>
          <a:noFill/>
          <a:ln w="22225">
            <a:solidFill>
              <a:srgbClr val="B7AD92"/>
            </a:solidFill>
            <a:prstDash val="solid"/>
          </a:ln>
        </p:spPr>
      </p:sp>
      <p:sp>
        <p:nvSpPr>
          <p:cNvPr id="9" name="link"/>
          <p:cNvSpPr/>
          <p:nvPr/>
        </p:nvSpPr>
        <p:spPr>
          <a:xfrm flipV="1">
            <a:off x="1847088" y="1984248"/>
            <a:ext cx="2788920" cy="640080"/>
          </a:xfrm>
          <a:prstGeom prst="line">
            <a:avLst/>
          </a:prstGeom>
          <a:noFill/>
          <a:ln w="22225">
            <a:solidFill>
              <a:srgbClr val="B7AD92"/>
            </a:solidFill>
            <a:prstDash val="dash"/>
          </a:ln>
        </p:spPr>
      </p:sp>
      <p:sp>
        <p:nvSpPr>
          <p:cNvPr id="10" name="link"/>
          <p:cNvSpPr/>
          <p:nvPr/>
        </p:nvSpPr>
        <p:spPr>
          <a:xfrm>
            <a:off x="4636008" y="1984248"/>
            <a:ext cx="2788920" cy="3337560"/>
          </a:xfrm>
          <a:prstGeom prst="line">
            <a:avLst/>
          </a:prstGeom>
          <a:noFill/>
          <a:ln w="22225">
            <a:solidFill>
              <a:srgbClr val="B7AD92"/>
            </a:solidFill>
            <a:prstDash val="dash"/>
          </a:ln>
        </p:spPr>
      </p:sp>
      <p:sp>
        <p:nvSpPr>
          <p:cNvPr id="11" name="US Army / Pentagon circle"/>
          <p:cNvSpPr/>
          <p:nvPr/>
        </p:nvSpPr>
        <p:spPr>
          <a:xfrm>
            <a:off x="1463040" y="2240280"/>
            <a:ext cx="768096" cy="768096"/>
          </a:xfrm>
          <a:prstGeom prst="ellipse">
            <a:avLst/>
          </a:prstGeom>
          <a:solidFill>
            <a:srgbClr val="3E4A2B"/>
          </a:solidFill>
          <a:ln/>
        </p:spPr>
      </p:sp>
      <p:pic>
        <p:nvPicPr>
          <p:cNvPr id="12" name="US Army / Pentagon icon" descr="US Army / Pentagon">    </p:cNvPr>
          <p:cNvPicPr>
            <a:picLocks noChangeAspect="1"/>
          </p:cNvPicPr>
          <p:nvPr/>
        </p:nvPicPr>
        <p:blipFill>
          <a:blip r:embed="rId1"/>
          <a:stretch>
            <a:fillRect/>
          </a:stretch>
        </p:blipFill>
        <p:spPr>
          <a:xfrm>
            <a:off x="1639702" y="2416942"/>
            <a:ext cx="414772" cy="414772"/>
          </a:xfrm>
          <a:prstGeom prst="rect">
            <a:avLst/>
          </a:prstGeom>
        </p:spPr>
      </p:pic>
      <p:sp>
        <p:nvSpPr>
          <p:cNvPr id="13" name="Text 10"/>
          <p:cNvSpPr txBox="1"/>
          <p:nvPr/>
        </p:nvSpPr>
        <p:spPr>
          <a:xfrm>
            <a:off x="640080" y="305409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US Army / Pentagon</a:t>
            </a:r>
            <a:endParaRPr lang="en-US" sz="1300" dirty="0"/>
          </a:p>
          <a:p>
            <a:pPr algn="ctr" indent="0" marL="0">
              <a:buNone/>
            </a:pPr>
            <a:r>
              <a:rPr lang="en-US" sz="1200" dirty="0">
                <a:solidFill>
                  <a:srgbClr val="5C5A4E"/>
                </a:solidFill>
              </a:rPr>
              <a:t>Buyer: open online tenders</a:t>
            </a:r>
            <a:endParaRPr lang="en-US" sz="1300" dirty="0"/>
          </a:p>
        </p:txBody>
      </p:sp>
      <p:sp>
        <p:nvSpPr>
          <p:cNvPr id="14" name="AEY Inc. (Efraim + David) circle"/>
          <p:cNvSpPr/>
          <p:nvPr/>
        </p:nvSpPr>
        <p:spPr>
          <a:xfrm>
            <a:off x="4251960" y="3611880"/>
            <a:ext cx="768096" cy="768096"/>
          </a:xfrm>
          <a:prstGeom prst="ellipse">
            <a:avLst/>
          </a:prstGeom>
          <a:solidFill>
            <a:srgbClr val="D9480F"/>
          </a:solidFill>
          <a:ln/>
        </p:spPr>
      </p:sp>
      <p:pic>
        <p:nvPicPr>
          <p:cNvPr id="15" name="AEY Inc. (Efraim + David) icon" descr="AEY Inc. (Efraim + David)">    </p:cNvPr>
          <p:cNvPicPr>
            <a:picLocks noChangeAspect="1"/>
          </p:cNvPicPr>
          <p:nvPr/>
        </p:nvPicPr>
        <p:blipFill>
          <a:blip r:embed="rId2"/>
          <a:stretch>
            <a:fillRect/>
          </a:stretch>
        </p:blipFill>
        <p:spPr>
          <a:xfrm>
            <a:off x="4428622" y="3788542"/>
            <a:ext cx="414772" cy="414772"/>
          </a:xfrm>
          <a:prstGeom prst="rect">
            <a:avLst/>
          </a:prstGeom>
        </p:spPr>
      </p:pic>
      <p:sp>
        <p:nvSpPr>
          <p:cNvPr id="16" name="Text 12"/>
          <p:cNvSpPr txBox="1"/>
          <p:nvPr/>
        </p:nvSpPr>
        <p:spPr>
          <a:xfrm>
            <a:off x="3429000" y="442569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AEY Inc. (Efraim + David)</a:t>
            </a:r>
            <a:endParaRPr lang="en-US" sz="1300" dirty="0"/>
          </a:p>
          <a:p>
            <a:pPr algn="ctr" indent="0" marL="0">
              <a:buNone/>
            </a:pPr>
            <a:r>
              <a:rPr lang="en-US" sz="1200" b="1" dirty="0">
                <a:solidFill>
                  <a:srgbClr val="D9480F"/>
                </a:solidFill>
              </a:rPr>
              <a:t>BROKER: clean US identity</a:t>
            </a:r>
            <a:endParaRPr lang="en-US" sz="1300" dirty="0"/>
          </a:p>
        </p:txBody>
      </p:sp>
      <p:sp>
        <p:nvSpPr>
          <p:cNvPr id="17" name="Ralph circle"/>
          <p:cNvSpPr/>
          <p:nvPr/>
        </p:nvSpPr>
        <p:spPr>
          <a:xfrm>
            <a:off x="1463040" y="4937760"/>
            <a:ext cx="768096" cy="768096"/>
          </a:xfrm>
          <a:prstGeom prst="ellipse">
            <a:avLst/>
          </a:prstGeom>
          <a:solidFill>
            <a:srgbClr val="8C7A4B"/>
          </a:solidFill>
          <a:ln/>
        </p:spPr>
      </p:sp>
      <p:pic>
        <p:nvPicPr>
          <p:cNvPr id="18" name="Ralph icon" descr="Ralph">    </p:cNvPr>
          <p:cNvPicPr>
            <a:picLocks noChangeAspect="1"/>
          </p:cNvPicPr>
          <p:nvPr/>
        </p:nvPicPr>
        <p:blipFill>
          <a:blip r:embed="rId3"/>
          <a:stretch>
            <a:fillRect/>
          </a:stretch>
        </p:blipFill>
        <p:spPr>
          <a:xfrm>
            <a:off x="1639702" y="5114422"/>
            <a:ext cx="414772" cy="414772"/>
          </a:xfrm>
          <a:prstGeom prst="rect">
            <a:avLst/>
          </a:prstGeom>
        </p:spPr>
      </p:pic>
      <p:sp>
        <p:nvSpPr>
          <p:cNvPr id="19" name="Text 14"/>
          <p:cNvSpPr txBox="1"/>
          <p:nvPr/>
        </p:nvSpPr>
        <p:spPr>
          <a:xfrm>
            <a:off x="640080" y="575157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Ralph</a:t>
            </a:r>
            <a:endParaRPr lang="en-US" sz="1300" dirty="0"/>
          </a:p>
          <a:p>
            <a:pPr algn="ctr" indent="0" marL="0">
              <a:buNone/>
            </a:pPr>
            <a:r>
              <a:rPr lang="en-US" sz="1200" dirty="0">
                <a:solidFill>
                  <a:srgbClr val="5C5A4E"/>
                </a:solidFill>
              </a:rPr>
              <a:t>Financier</a:t>
            </a:r>
            <a:endParaRPr lang="en-US" sz="1300" dirty="0"/>
          </a:p>
        </p:txBody>
      </p:sp>
      <p:sp>
        <p:nvSpPr>
          <p:cNvPr id="20" name="Henry Girard circle"/>
          <p:cNvSpPr/>
          <p:nvPr/>
        </p:nvSpPr>
        <p:spPr>
          <a:xfrm>
            <a:off x="7040880" y="2240280"/>
            <a:ext cx="768096" cy="768096"/>
          </a:xfrm>
          <a:prstGeom prst="ellipse">
            <a:avLst/>
          </a:prstGeom>
          <a:solidFill>
            <a:srgbClr val="D9480F"/>
          </a:solidFill>
          <a:ln/>
        </p:spPr>
      </p:sp>
      <p:pic>
        <p:nvPicPr>
          <p:cNvPr id="21" name="Henry Girard icon" descr="Henry Girard">    </p:cNvPr>
          <p:cNvPicPr>
            <a:picLocks noChangeAspect="1"/>
          </p:cNvPicPr>
          <p:nvPr/>
        </p:nvPicPr>
        <p:blipFill>
          <a:blip r:embed="rId4"/>
          <a:stretch>
            <a:fillRect/>
          </a:stretch>
        </p:blipFill>
        <p:spPr>
          <a:xfrm>
            <a:off x="7217542" y="2416942"/>
            <a:ext cx="414772" cy="414772"/>
          </a:xfrm>
          <a:prstGeom prst="rect">
            <a:avLst/>
          </a:prstGeom>
        </p:spPr>
      </p:pic>
      <p:sp>
        <p:nvSpPr>
          <p:cNvPr id="22" name="Text 16"/>
          <p:cNvSpPr txBox="1"/>
          <p:nvPr/>
        </p:nvSpPr>
        <p:spPr>
          <a:xfrm>
            <a:off x="6217920" y="305409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Henry Girard</a:t>
            </a:r>
            <a:endParaRPr lang="en-US" sz="1300" dirty="0"/>
          </a:p>
          <a:p>
            <a:pPr algn="ctr" indent="0" marL="0">
              <a:buNone/>
            </a:pPr>
            <a:r>
              <a:rPr lang="en-US" sz="1200" b="1" dirty="0">
                <a:solidFill>
                  <a:srgbClr val="D9480F"/>
                </a:solidFill>
              </a:rPr>
              <a:t>BROKER: watch-listed</a:t>
            </a:r>
            <a:endParaRPr lang="en-US" sz="1300" dirty="0"/>
          </a:p>
        </p:txBody>
      </p:sp>
      <p:sp>
        <p:nvSpPr>
          <p:cNvPr id="23" name="Albanian depot + officials circle"/>
          <p:cNvSpPr/>
          <p:nvPr/>
        </p:nvSpPr>
        <p:spPr>
          <a:xfrm>
            <a:off x="7040880" y="4937760"/>
            <a:ext cx="768096" cy="768096"/>
          </a:xfrm>
          <a:prstGeom prst="ellipse">
            <a:avLst/>
          </a:prstGeom>
          <a:solidFill>
            <a:srgbClr val="3E4A2B"/>
          </a:solidFill>
          <a:ln/>
        </p:spPr>
      </p:sp>
      <p:pic>
        <p:nvPicPr>
          <p:cNvPr id="24" name="Albanian depot + officials icon" descr="Albanian depot + officials">    </p:cNvPr>
          <p:cNvPicPr>
            <a:picLocks noChangeAspect="1"/>
          </p:cNvPicPr>
          <p:nvPr/>
        </p:nvPicPr>
        <p:blipFill>
          <a:blip r:embed="rId5"/>
          <a:stretch>
            <a:fillRect/>
          </a:stretch>
        </p:blipFill>
        <p:spPr>
          <a:xfrm>
            <a:off x="7217542" y="5114422"/>
            <a:ext cx="414772" cy="414772"/>
          </a:xfrm>
          <a:prstGeom prst="rect">
            <a:avLst/>
          </a:prstGeom>
        </p:spPr>
      </p:pic>
      <p:sp>
        <p:nvSpPr>
          <p:cNvPr id="25" name="Text 18"/>
          <p:cNvSpPr txBox="1"/>
          <p:nvPr/>
        </p:nvSpPr>
        <p:spPr>
          <a:xfrm>
            <a:off x="6217920" y="575157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Albanian depot + officials</a:t>
            </a:r>
            <a:endParaRPr lang="en-US" sz="1300" dirty="0"/>
          </a:p>
          <a:p>
            <a:pPr algn="ctr" indent="0" marL="0">
              <a:buNone/>
            </a:pPr>
            <a:r>
              <a:rPr lang="en-US" sz="1200" dirty="0">
                <a:solidFill>
                  <a:srgbClr val="5C5A4E"/>
                </a:solidFill>
              </a:rPr>
              <a:t>Supply; repackaging</a:t>
            </a:r>
            <a:endParaRPr lang="en-US" sz="1300" dirty="0"/>
          </a:p>
        </p:txBody>
      </p:sp>
      <p:sp>
        <p:nvSpPr>
          <p:cNvPr id="26" name="Afghan National Army circle"/>
          <p:cNvSpPr/>
          <p:nvPr/>
        </p:nvSpPr>
        <p:spPr>
          <a:xfrm>
            <a:off x="4251960" y="1600200"/>
            <a:ext cx="768096" cy="768096"/>
          </a:xfrm>
          <a:prstGeom prst="ellipse">
            <a:avLst/>
          </a:prstGeom>
          <a:solidFill>
            <a:srgbClr val="8C7A4B"/>
          </a:solidFill>
          <a:ln/>
        </p:spPr>
      </p:sp>
      <p:pic>
        <p:nvPicPr>
          <p:cNvPr id="27" name="Afghan National Army icon" descr="Afghan National Army">    </p:cNvPr>
          <p:cNvPicPr>
            <a:picLocks noChangeAspect="1"/>
          </p:cNvPicPr>
          <p:nvPr/>
        </p:nvPicPr>
        <p:blipFill>
          <a:blip r:embed="rId6"/>
          <a:stretch>
            <a:fillRect/>
          </a:stretch>
        </p:blipFill>
        <p:spPr>
          <a:xfrm>
            <a:off x="4428622" y="1776862"/>
            <a:ext cx="414772" cy="414772"/>
          </a:xfrm>
          <a:prstGeom prst="rect">
            <a:avLst/>
          </a:prstGeom>
        </p:spPr>
      </p:pic>
      <p:sp>
        <p:nvSpPr>
          <p:cNvPr id="28" name="Text 20"/>
          <p:cNvSpPr txBox="1"/>
          <p:nvPr/>
        </p:nvSpPr>
        <p:spPr>
          <a:xfrm>
            <a:off x="3429000" y="2414016"/>
            <a:ext cx="2423160" cy="548640"/>
          </a:xfrm>
          <a:prstGeom prst="rect">
            <a:avLst/>
          </a:prstGeom>
          <a:noFill/>
          <a:ln/>
        </p:spPr>
        <p:txBody>
          <a:bodyPr wrap="square" lIns="0" tIns="0" rIns="0" bIns="0" rtlCol="0" anchor="t"/>
          <a:lstStyle/>
          <a:p>
            <a:pPr algn="ctr" indent="0" marL="0">
              <a:buNone/>
            </a:pPr>
            <a:r>
              <a:rPr lang="en-US" sz="1300" b="1" dirty="0">
                <a:solidFill>
                  <a:srgbClr val="23281C"/>
                </a:solidFill>
              </a:rPr>
              <a:t>Afghan National Army</a:t>
            </a:r>
            <a:endParaRPr lang="en-US" sz="1300" dirty="0"/>
          </a:p>
          <a:p>
            <a:pPr algn="ctr" indent="0" marL="0">
              <a:buNone/>
            </a:pPr>
            <a:r>
              <a:rPr lang="en-US" sz="1200" dirty="0">
                <a:solidFill>
                  <a:srgbClr val="5C5A4E"/>
                </a:solidFill>
              </a:rPr>
              <a:t>End user and victim</a:t>
            </a:r>
            <a:endParaRPr lang="en-US" sz="1300" dirty="0"/>
          </a:p>
        </p:txBody>
      </p:sp>
      <p:sp>
        <p:nvSpPr>
          <p:cNvPr id="29" name="insight panel"/>
          <p:cNvSpPr/>
          <p:nvPr/>
        </p:nvSpPr>
        <p:spPr>
          <a:xfrm>
            <a:off x="9144000" y="1600200"/>
            <a:ext cx="2499055" cy="4206240"/>
          </a:xfrm>
          <a:prstGeom prst="rect">
            <a:avLst/>
          </a:prstGeom>
          <a:solidFill>
            <a:srgbClr val="1B1D18"/>
          </a:solidFill>
          <a:ln/>
        </p:spPr>
      </p:sp>
      <p:sp>
        <p:nvSpPr>
          <p:cNvPr id="30" name="Text 22"/>
          <p:cNvSpPr txBox="1"/>
          <p:nvPr/>
        </p:nvSpPr>
        <p:spPr>
          <a:xfrm>
            <a:off x="9372600" y="1783080"/>
            <a:ext cx="2041855" cy="384048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BROKERAGE</a:t>
            </a:r>
            <a:endParaRPr lang="en-US" sz="1200" dirty="0"/>
          </a:p>
          <a:p>
            <a:pPr indent="0" marL="0">
              <a:spcAft>
                <a:spcPts val="400"/>
              </a:spcAft>
              <a:buNone/>
            </a:pPr>
            <a:r>
              <a:rPr lang="en-US" sz="1400" dirty="0">
                <a:solidFill>
                  <a:srgbClr val="E9E3D2"/>
                </a:solidFill>
              </a:rPr>
              <a:t>Power sits with whoever connects worlds that cannot reach each other directly (Morselli, 2009).</a:t>
            </a:r>
            <a:endParaRPr lang="en-US" sz="1200" dirty="0"/>
          </a:p>
          <a:p>
            <a:pPr indent="0" marL="0">
              <a:spcAft>
                <a:spcPts val="400"/>
              </a:spcAft>
              <a:buNone/>
            </a:pPr>
            <a:r>
              <a:rPr lang="en-US" sz="800" dirty="0">
                <a:solidFill>
                  <a:srgbClr val="000000"/>
                </a:solidFill>
              </a:rPr>
              <a:t> </a:t>
            </a:r>
            <a:endParaRPr lang="en-US" sz="1200" dirty="0"/>
          </a:p>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CRIME–TERROR NEXUS</a:t>
            </a:r>
            <a:endParaRPr lang="en-US" sz="1200" dirty="0"/>
          </a:p>
          <a:p>
            <a:pPr indent="0" marL="0">
              <a:spcAft>
                <a:spcPts val="400"/>
              </a:spcAft>
              <a:buNone/>
            </a:pPr>
            <a:r>
              <a:rPr lang="en-US" sz="1400" dirty="0">
                <a:solidFill>
                  <a:srgbClr val="E9E3D2"/>
                </a:solidFill>
              </a:rPr>
              <a:t>Henry is barred from trading with the US, so AEY lends him a clean name.</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ate label"/>
          <p:cNvSpPr txBox="1"/>
          <p:nvPr/>
        </p:nvSpPr>
        <p:spPr>
          <a:xfrm>
            <a:off x="548640" y="292608"/>
            <a:ext cx="2715768"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08 // THEORIES</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Why did they do it? Four theories explain the choices</a:t>
            </a:r>
            <a:endParaRPr lang="en-US" sz="2800" dirty="0"/>
          </a:p>
        </p:txBody>
      </p:sp>
      <p:sp>
        <p:nvSpPr>
          <p:cNvPr id="4" name="Rational choice"/>
          <p:cNvSpPr/>
          <p:nvPr/>
        </p:nvSpPr>
        <p:spPr>
          <a:xfrm>
            <a:off x="548640" y="1645920"/>
            <a:ext cx="5410048" cy="1920240"/>
          </a:xfrm>
          <a:prstGeom prst="rect">
            <a:avLst/>
          </a:prstGeom>
          <a:solidFill>
            <a:srgbClr val="FAF7EF"/>
          </a:solidFill>
          <a:ln w="12700">
            <a:solidFill>
              <a:srgbClr val="CFC6AE"/>
            </a:solidFill>
            <a:prstDash val="solid"/>
          </a:ln>
        </p:spPr>
      </p:sp>
      <p:sp>
        <p:nvSpPr>
          <p:cNvPr id="5" name="Rational choice circle"/>
          <p:cNvSpPr/>
          <p:nvPr/>
        </p:nvSpPr>
        <p:spPr>
          <a:xfrm>
            <a:off x="777240" y="1874520"/>
            <a:ext cx="640080" cy="640080"/>
          </a:xfrm>
          <a:prstGeom prst="ellipse">
            <a:avLst/>
          </a:prstGeom>
          <a:solidFill>
            <a:srgbClr val="5B6B3A"/>
          </a:solidFill>
          <a:ln/>
        </p:spPr>
      </p:sp>
      <p:pic>
        <p:nvPicPr>
          <p:cNvPr id="6" name="Rational choice icon" descr="Rational choice">    </p:cNvPr>
          <p:cNvPicPr>
            <a:picLocks noChangeAspect="1"/>
          </p:cNvPicPr>
          <p:nvPr/>
        </p:nvPicPr>
        <p:blipFill>
          <a:blip r:embed="rId1"/>
          <a:stretch>
            <a:fillRect/>
          </a:stretch>
        </p:blipFill>
        <p:spPr>
          <a:xfrm>
            <a:off x="924458" y="2021738"/>
            <a:ext cx="345643" cy="345643"/>
          </a:xfrm>
          <a:prstGeom prst="rect">
            <a:avLst/>
          </a:prstGeom>
        </p:spPr>
      </p:pic>
      <p:sp>
        <p:nvSpPr>
          <p:cNvPr id="7" name="Text 4"/>
          <p:cNvSpPr txBox="1"/>
          <p:nvPr/>
        </p:nvSpPr>
        <p:spPr>
          <a:xfrm>
            <a:off x="1600200" y="1828800"/>
            <a:ext cx="4175608" cy="73152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Rational choice</a:t>
            </a:r>
            <a:endParaRPr lang="en-US" sz="1600" dirty="0"/>
          </a:p>
          <a:p>
            <a:pPr indent="0" marL="0">
              <a:buNone/>
            </a:pPr>
            <a:r>
              <a:rPr lang="en-US" sz="1200" dirty="0">
                <a:solidFill>
                  <a:srgbClr val="5C5A4E"/>
                </a:solidFill>
              </a:rPr>
              <a:t>Cornish &amp; Clarke (1986)</a:t>
            </a:r>
            <a:endParaRPr lang="en-US" sz="1600" dirty="0"/>
          </a:p>
        </p:txBody>
      </p:sp>
      <p:sp>
        <p:nvSpPr>
          <p:cNvPr id="8" name="Text 5"/>
          <p:cNvSpPr txBox="1"/>
          <p:nvPr/>
        </p:nvSpPr>
        <p:spPr>
          <a:xfrm>
            <a:off x="1600200" y="2606040"/>
            <a:ext cx="4175608" cy="822960"/>
          </a:xfrm>
          <a:prstGeom prst="rect">
            <a:avLst/>
          </a:prstGeom>
          <a:noFill/>
          <a:ln/>
        </p:spPr>
        <p:txBody>
          <a:bodyPr wrap="square" lIns="0" tIns="0" rIns="0" bIns="0" rtlCol="0" anchor="t"/>
          <a:lstStyle/>
          <a:p>
            <a:pPr indent="0" marL="0">
              <a:buNone/>
            </a:pPr>
            <a:r>
              <a:rPr lang="en-US" sz="1500" dirty="0">
                <a:solidFill>
                  <a:srgbClr val="23281C"/>
                </a:solidFill>
              </a:rPr>
              <a:t>Repackaging banned rounds: huge reward, low chance of detection.</a:t>
            </a:r>
            <a:endParaRPr lang="en-US" sz="1500" dirty="0"/>
          </a:p>
        </p:txBody>
      </p:sp>
      <p:sp>
        <p:nvSpPr>
          <p:cNvPr id="9" name="Strain / institutional anomie"/>
          <p:cNvSpPr/>
          <p:nvPr/>
        </p:nvSpPr>
        <p:spPr>
          <a:xfrm>
            <a:off x="6233008" y="1645920"/>
            <a:ext cx="5410048" cy="1920240"/>
          </a:xfrm>
          <a:prstGeom prst="rect">
            <a:avLst/>
          </a:prstGeom>
          <a:solidFill>
            <a:srgbClr val="FAF7EF"/>
          </a:solidFill>
          <a:ln w="12700">
            <a:solidFill>
              <a:srgbClr val="CFC6AE"/>
            </a:solidFill>
            <a:prstDash val="solid"/>
          </a:ln>
        </p:spPr>
      </p:sp>
      <p:sp>
        <p:nvSpPr>
          <p:cNvPr id="10" name="Strain / institutional anomie circle"/>
          <p:cNvSpPr/>
          <p:nvPr/>
        </p:nvSpPr>
        <p:spPr>
          <a:xfrm>
            <a:off x="6461608" y="1874520"/>
            <a:ext cx="640080" cy="640080"/>
          </a:xfrm>
          <a:prstGeom prst="ellipse">
            <a:avLst/>
          </a:prstGeom>
          <a:solidFill>
            <a:srgbClr val="5B6B3A"/>
          </a:solidFill>
          <a:ln/>
        </p:spPr>
      </p:sp>
      <p:pic>
        <p:nvPicPr>
          <p:cNvPr id="11" name="Strain / institutional anomie icon" descr="Strain / institutional anomie">    </p:cNvPr>
          <p:cNvPicPr>
            <a:picLocks noChangeAspect="1"/>
          </p:cNvPicPr>
          <p:nvPr/>
        </p:nvPicPr>
        <p:blipFill>
          <a:blip r:embed="rId2"/>
          <a:stretch>
            <a:fillRect/>
          </a:stretch>
        </p:blipFill>
        <p:spPr>
          <a:xfrm>
            <a:off x="6608826" y="2021738"/>
            <a:ext cx="345643" cy="345643"/>
          </a:xfrm>
          <a:prstGeom prst="rect">
            <a:avLst/>
          </a:prstGeom>
        </p:spPr>
      </p:pic>
      <p:sp>
        <p:nvSpPr>
          <p:cNvPr id="12" name="Text 8"/>
          <p:cNvSpPr txBox="1"/>
          <p:nvPr/>
        </p:nvSpPr>
        <p:spPr>
          <a:xfrm>
            <a:off x="7284568" y="1828800"/>
            <a:ext cx="4175608" cy="73152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Strain / institutional anomie</a:t>
            </a:r>
            <a:endParaRPr lang="en-US" sz="1600" dirty="0"/>
          </a:p>
          <a:p>
            <a:pPr indent="0" marL="0">
              <a:buNone/>
            </a:pPr>
            <a:r>
              <a:rPr lang="en-US" sz="1200" dirty="0">
                <a:solidFill>
                  <a:srgbClr val="5C5A4E"/>
                </a:solidFill>
              </a:rPr>
              <a:t>Merton (1938); Messner &amp; Rosenfeld (1994)</a:t>
            </a:r>
            <a:endParaRPr lang="en-US" sz="1600" dirty="0"/>
          </a:p>
        </p:txBody>
      </p:sp>
      <p:sp>
        <p:nvSpPr>
          <p:cNvPr id="13" name="Text 9"/>
          <p:cNvSpPr txBox="1"/>
          <p:nvPr/>
        </p:nvSpPr>
        <p:spPr>
          <a:xfrm>
            <a:off x="7284568" y="2606040"/>
            <a:ext cx="4175608" cy="822960"/>
          </a:xfrm>
          <a:prstGeom prst="rect">
            <a:avLst/>
          </a:prstGeom>
          <a:noFill/>
          <a:ln/>
        </p:spPr>
        <p:txBody>
          <a:bodyPr wrap="square" lIns="0" tIns="0" rIns="0" bIns="0" rtlCol="0" anchor="t"/>
          <a:lstStyle/>
          <a:p>
            <a:pPr indent="0" marL="0">
              <a:buNone/>
            </a:pPr>
            <a:r>
              <a:rPr lang="en-US" sz="1500" dirty="0">
                <a:solidFill>
                  <a:srgbClr val="23281C"/>
                </a:solidFill>
              </a:rPr>
              <a:t>Broke, with a baby coming, David “innovates”; money overrides family.</a:t>
            </a:r>
            <a:endParaRPr lang="en-US" sz="1500" dirty="0"/>
          </a:p>
        </p:txBody>
      </p:sp>
      <p:sp>
        <p:nvSpPr>
          <p:cNvPr id="14" name="Differential association"/>
          <p:cNvSpPr/>
          <p:nvPr/>
        </p:nvSpPr>
        <p:spPr>
          <a:xfrm>
            <a:off x="548640" y="3749040"/>
            <a:ext cx="5410048" cy="1920240"/>
          </a:xfrm>
          <a:prstGeom prst="rect">
            <a:avLst/>
          </a:prstGeom>
          <a:solidFill>
            <a:srgbClr val="FAF7EF"/>
          </a:solidFill>
          <a:ln w="12700">
            <a:solidFill>
              <a:srgbClr val="CFC6AE"/>
            </a:solidFill>
            <a:prstDash val="solid"/>
          </a:ln>
        </p:spPr>
      </p:sp>
      <p:sp>
        <p:nvSpPr>
          <p:cNvPr id="15" name="Differential association circle"/>
          <p:cNvSpPr/>
          <p:nvPr/>
        </p:nvSpPr>
        <p:spPr>
          <a:xfrm>
            <a:off x="777240" y="3977640"/>
            <a:ext cx="640080" cy="640080"/>
          </a:xfrm>
          <a:prstGeom prst="ellipse">
            <a:avLst/>
          </a:prstGeom>
          <a:solidFill>
            <a:srgbClr val="5B6B3A"/>
          </a:solidFill>
          <a:ln/>
        </p:spPr>
      </p:sp>
      <p:pic>
        <p:nvPicPr>
          <p:cNvPr id="16" name="Differential association icon" descr="Differential association">    </p:cNvPr>
          <p:cNvPicPr>
            <a:picLocks noChangeAspect="1"/>
          </p:cNvPicPr>
          <p:nvPr/>
        </p:nvPicPr>
        <p:blipFill>
          <a:blip r:embed="rId3"/>
          <a:stretch>
            <a:fillRect/>
          </a:stretch>
        </p:blipFill>
        <p:spPr>
          <a:xfrm>
            <a:off x="924458" y="4124858"/>
            <a:ext cx="345643" cy="345643"/>
          </a:xfrm>
          <a:prstGeom prst="rect">
            <a:avLst/>
          </a:prstGeom>
        </p:spPr>
      </p:pic>
      <p:sp>
        <p:nvSpPr>
          <p:cNvPr id="17" name="Text 12"/>
          <p:cNvSpPr txBox="1"/>
          <p:nvPr/>
        </p:nvSpPr>
        <p:spPr>
          <a:xfrm>
            <a:off x="1600200" y="3931920"/>
            <a:ext cx="4175608" cy="73152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Differential association</a:t>
            </a:r>
            <a:endParaRPr lang="en-US" sz="1600" dirty="0"/>
          </a:p>
          <a:p>
            <a:pPr indent="0" marL="0">
              <a:buNone/>
            </a:pPr>
            <a:r>
              <a:rPr lang="en-US" sz="1200" dirty="0">
                <a:solidFill>
                  <a:srgbClr val="5C5A4E"/>
                </a:solidFill>
              </a:rPr>
              <a:t>Sutherland (1940)</a:t>
            </a:r>
            <a:endParaRPr lang="en-US" sz="1600" dirty="0"/>
          </a:p>
        </p:txBody>
      </p:sp>
      <p:sp>
        <p:nvSpPr>
          <p:cNvPr id="18" name="Text 13"/>
          <p:cNvSpPr txBox="1"/>
          <p:nvPr/>
        </p:nvSpPr>
        <p:spPr>
          <a:xfrm>
            <a:off x="1600200" y="4709160"/>
            <a:ext cx="4175608" cy="822960"/>
          </a:xfrm>
          <a:prstGeom prst="rect">
            <a:avLst/>
          </a:prstGeom>
          <a:noFill/>
          <a:ln/>
        </p:spPr>
        <p:txBody>
          <a:bodyPr wrap="square" lIns="0" tIns="0" rIns="0" bIns="0" rtlCol="0" anchor="t"/>
          <a:lstStyle/>
          <a:p>
            <a:pPr indent="0" marL="0">
              <a:buNone/>
            </a:pPr>
            <a:r>
              <a:rPr lang="en-US" sz="1500" dirty="0">
                <a:solidFill>
                  <a:srgbClr val="23281C"/>
                </a:solidFill>
              </a:rPr>
              <a:t>David learns the techniques and excuses of fraud from Efraim.</a:t>
            </a:r>
            <a:endParaRPr lang="en-US" sz="1500" dirty="0"/>
          </a:p>
        </p:txBody>
      </p:sp>
      <p:sp>
        <p:nvSpPr>
          <p:cNvPr id="19" name="Techniques of neutralization"/>
          <p:cNvSpPr/>
          <p:nvPr/>
        </p:nvSpPr>
        <p:spPr>
          <a:xfrm>
            <a:off x="6233008" y="3749040"/>
            <a:ext cx="5410048" cy="1920240"/>
          </a:xfrm>
          <a:prstGeom prst="rect">
            <a:avLst/>
          </a:prstGeom>
          <a:solidFill>
            <a:srgbClr val="FAF7EF"/>
          </a:solidFill>
          <a:ln w="12700">
            <a:solidFill>
              <a:srgbClr val="CFC6AE"/>
            </a:solidFill>
            <a:prstDash val="solid"/>
          </a:ln>
        </p:spPr>
      </p:sp>
      <p:sp>
        <p:nvSpPr>
          <p:cNvPr id="20" name="Techniques of neutralization circle"/>
          <p:cNvSpPr/>
          <p:nvPr/>
        </p:nvSpPr>
        <p:spPr>
          <a:xfrm>
            <a:off x="6461608" y="3977640"/>
            <a:ext cx="640080" cy="640080"/>
          </a:xfrm>
          <a:prstGeom prst="ellipse">
            <a:avLst/>
          </a:prstGeom>
          <a:solidFill>
            <a:srgbClr val="5B6B3A"/>
          </a:solidFill>
          <a:ln/>
        </p:spPr>
      </p:sp>
      <p:pic>
        <p:nvPicPr>
          <p:cNvPr id="21" name="Techniques of neutralization icon" descr="Techniques of neutralization">    </p:cNvPr>
          <p:cNvPicPr>
            <a:picLocks noChangeAspect="1"/>
          </p:cNvPicPr>
          <p:nvPr/>
        </p:nvPicPr>
        <p:blipFill>
          <a:blip r:embed="rId4"/>
          <a:stretch>
            <a:fillRect/>
          </a:stretch>
        </p:blipFill>
        <p:spPr>
          <a:xfrm>
            <a:off x="6608826" y="4124858"/>
            <a:ext cx="345643" cy="345643"/>
          </a:xfrm>
          <a:prstGeom prst="rect">
            <a:avLst/>
          </a:prstGeom>
        </p:spPr>
      </p:pic>
      <p:sp>
        <p:nvSpPr>
          <p:cNvPr id="22" name="Text 16"/>
          <p:cNvSpPr txBox="1"/>
          <p:nvPr/>
        </p:nvSpPr>
        <p:spPr>
          <a:xfrm>
            <a:off x="7284568" y="3931920"/>
            <a:ext cx="4175608" cy="731520"/>
          </a:xfrm>
          <a:prstGeom prst="rect">
            <a:avLst/>
          </a:prstGeom>
          <a:noFill/>
          <a:ln/>
        </p:spPr>
        <p:txBody>
          <a:bodyPr wrap="square" lIns="0" tIns="0" rIns="0" bIns="0" rtlCol="0" anchor="ctr"/>
          <a:lstStyle/>
          <a:p>
            <a:pPr indent="0" marL="0">
              <a:buNone/>
            </a:pPr>
            <a:r>
              <a:rPr lang="en-US" sz="1600" b="1" dirty="0">
                <a:solidFill>
                  <a:srgbClr val="23281C"/>
                </a:solidFill>
                <a:latin typeface="Arial Black" pitchFamily="34" charset="0"/>
                <a:ea typeface="Arial Black" pitchFamily="34" charset="-122"/>
                <a:cs typeface="Arial Black" pitchFamily="34" charset="-120"/>
              </a:rPr>
              <a:t>Techniques of neutralization</a:t>
            </a:r>
            <a:endParaRPr lang="en-US" sz="1600" dirty="0"/>
          </a:p>
          <a:p>
            <a:pPr indent="0" marL="0">
              <a:buNone/>
            </a:pPr>
            <a:r>
              <a:rPr lang="en-US" sz="1200" dirty="0">
                <a:solidFill>
                  <a:srgbClr val="5C5A4E"/>
                </a:solidFill>
              </a:rPr>
              <a:t>Sykes &amp; Matza (1957)</a:t>
            </a:r>
            <a:endParaRPr lang="en-US" sz="1600" dirty="0"/>
          </a:p>
        </p:txBody>
      </p:sp>
      <p:sp>
        <p:nvSpPr>
          <p:cNvPr id="23" name="Text 17"/>
          <p:cNvSpPr txBox="1"/>
          <p:nvPr/>
        </p:nvSpPr>
        <p:spPr>
          <a:xfrm>
            <a:off x="7284568" y="4709160"/>
            <a:ext cx="4175608" cy="822960"/>
          </a:xfrm>
          <a:prstGeom prst="rect">
            <a:avLst/>
          </a:prstGeom>
          <a:noFill/>
          <a:ln/>
        </p:spPr>
        <p:txBody>
          <a:bodyPr wrap="square" lIns="0" tIns="0" rIns="0" bIns="0" rtlCol="0" anchor="t"/>
          <a:lstStyle/>
          <a:p>
            <a:pPr indent="0" marL="0">
              <a:buNone/>
            </a:pPr>
            <a:r>
              <a:rPr lang="en-US" sz="1500" i="1" dirty="0">
                <a:solidFill>
                  <a:srgbClr val="23281C"/>
                </a:solidFill>
              </a:rPr>
              <a:t>“The troops still get bullets.” “The government does it too.”</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ate label"/>
          <p:cNvSpPr txBox="1"/>
          <p:nvPr/>
        </p:nvSpPr>
        <p:spPr>
          <a:xfrm>
            <a:off x="548640" y="411480"/>
            <a:ext cx="2971800" cy="292608"/>
          </a:xfrm>
          <a:prstGeom prst="rect">
            <a:avLst/>
          </a:prstGeom>
          <a:noFill/>
          <a:ln w="19050">
            <a:solidFill>
              <a:srgbClr val="C9A227"/>
            </a:solidFill>
            <a:prstDash val="dash"/>
          </a:ln>
        </p:spPr>
        <p:txBody>
          <a:bodyPr wrap="square" lIns="0" tIns="0" rIns="0" bIns="0" rtlCol="0" anchor="ctr"/>
          <a:lstStyle/>
          <a:p>
            <a:pPr algn="ctr" indent="0" marL="0">
              <a:buNone/>
            </a:pPr>
            <a:r>
              <a:rPr lang="en-US" sz="1200" b="1" spc="200" kern="0" dirty="0">
                <a:solidFill>
                  <a:srgbClr val="C9A227"/>
                </a:solidFill>
                <a:latin typeface="Courier New" pitchFamily="34" charset="0"/>
                <a:ea typeface="Courier New" pitchFamily="34" charset="-122"/>
                <a:cs typeface="Courier New" pitchFamily="34" charset="-120"/>
              </a:rPr>
              <a:t>LOT 09 // CORRUPTION</a:t>
            </a:r>
            <a:endParaRPr lang="en-US" sz="1200" dirty="0"/>
          </a:p>
        </p:txBody>
      </p:sp>
      <p:sp>
        <p:nvSpPr>
          <p:cNvPr id="3" name="Text 1"/>
          <p:cNvSpPr txBox="1"/>
          <p:nvPr/>
        </p:nvSpPr>
        <p:spPr>
          <a:xfrm>
            <a:off x="548640" y="868680"/>
            <a:ext cx="11094415" cy="685800"/>
          </a:xfrm>
          <a:prstGeom prst="rect">
            <a:avLst/>
          </a:prstGeom>
          <a:noFill/>
          <a:ln/>
        </p:spPr>
        <p:txBody>
          <a:bodyPr wrap="square" lIns="0" tIns="0" rIns="0" bIns="0" rtlCol="0" anchor="ctr"/>
          <a:lstStyle/>
          <a:p>
            <a:pPr indent="0" marL="0">
              <a:buNone/>
            </a:pPr>
            <a:r>
              <a:rPr lang="en-US" sz="2800" b="1" dirty="0">
                <a:solidFill>
                  <a:schemeClr val="bg1"/>
                </a:solidFill>
                <a:latin typeface="Arial Black" pitchFamily="34" charset="0"/>
                <a:ea typeface="Arial Black" pitchFamily="34" charset="-122"/>
                <a:cs typeface="Arial Black" pitchFamily="34" charset="-120"/>
              </a:rPr>
              <a:t>The system made it possible: Klitgaard’s corruption formula</a:t>
            </a:r>
            <a:endParaRPr lang="en-US" sz="2800" dirty="0"/>
          </a:p>
        </p:txBody>
      </p:sp>
      <p:sp>
        <p:nvSpPr>
          <p:cNvPr id="4" name="Text 2"/>
          <p:cNvSpPr txBox="1"/>
          <p:nvPr/>
        </p:nvSpPr>
        <p:spPr>
          <a:xfrm>
            <a:off x="822960" y="1783080"/>
            <a:ext cx="1417320" cy="914400"/>
          </a:xfrm>
          <a:prstGeom prst="rect">
            <a:avLst/>
          </a:prstGeom>
          <a:noFill/>
          <a:ln/>
        </p:spPr>
        <p:txBody>
          <a:bodyPr wrap="square" lIns="0" tIns="0" rIns="0" bIns="0" rtlCol="0" anchor="ctr"/>
          <a:lstStyle/>
          <a:p>
            <a:pPr algn="ctr" indent="0" marL="0">
              <a:buNone/>
            </a:pPr>
            <a:r>
              <a:rPr lang="en-US" sz="5400" b="1" dirty="0">
                <a:solidFill>
                  <a:srgbClr val="D9480F"/>
                </a:solidFill>
                <a:latin typeface="Arial Black" pitchFamily="34" charset="0"/>
                <a:ea typeface="Arial Black" pitchFamily="34" charset="-122"/>
                <a:cs typeface="Arial Black" pitchFamily="34" charset="-120"/>
              </a:rPr>
              <a:t>C</a:t>
            </a:r>
            <a:endParaRPr lang="en-US" sz="5400" dirty="0"/>
          </a:p>
        </p:txBody>
      </p:sp>
      <p:sp>
        <p:nvSpPr>
          <p:cNvPr id="5" name="Text 3"/>
          <p:cNvSpPr txBox="1"/>
          <p:nvPr/>
        </p:nvSpPr>
        <p:spPr>
          <a:xfrm>
            <a:off x="640080" y="2697480"/>
            <a:ext cx="1783080" cy="274320"/>
          </a:xfrm>
          <a:prstGeom prst="rect">
            <a:avLst/>
          </a:prstGeom>
          <a:noFill/>
          <a:ln/>
        </p:spPr>
        <p:txBody>
          <a:bodyPr wrap="square" lIns="0" tIns="0" rIns="0" bIns="0" rtlCol="0" anchor="ctr"/>
          <a:lstStyle/>
          <a:p>
            <a:pPr algn="ctr" indent="0" marL="0">
              <a:buNone/>
            </a:pPr>
            <a:r>
              <a:rPr lang="en-US" sz="1100" b="1" dirty="0">
                <a:solidFill>
                  <a:srgbClr val="BDB59C"/>
                </a:solidFill>
                <a:latin typeface="Courier New" pitchFamily="34" charset="0"/>
                <a:ea typeface="Courier New" pitchFamily="34" charset="-122"/>
                <a:cs typeface="Courier New" pitchFamily="34" charset="-120"/>
              </a:rPr>
              <a:t>CORRUPTION</a:t>
            </a:r>
            <a:endParaRPr lang="en-US" sz="1100" dirty="0"/>
          </a:p>
        </p:txBody>
      </p:sp>
      <p:sp>
        <p:nvSpPr>
          <p:cNvPr id="6" name="Text 4"/>
          <p:cNvSpPr txBox="1"/>
          <p:nvPr/>
        </p:nvSpPr>
        <p:spPr>
          <a:xfrm>
            <a:off x="2240280" y="1783080"/>
            <a:ext cx="685800" cy="914400"/>
          </a:xfrm>
          <a:prstGeom prst="rect">
            <a:avLst/>
          </a:prstGeom>
          <a:noFill/>
          <a:ln/>
        </p:spPr>
        <p:txBody>
          <a:bodyPr wrap="square" lIns="0" tIns="0" rIns="0" bIns="0" rtlCol="0" anchor="ctr"/>
          <a:lstStyle/>
          <a:p>
            <a:pPr algn="ctr" indent="0" marL="0">
              <a:buNone/>
            </a:pPr>
            <a:r>
              <a:rPr lang="en-US" sz="5400" b="1" dirty="0">
                <a:solidFill>
                  <a:srgbClr val="8A8574"/>
                </a:solidFill>
                <a:latin typeface="Arial Black" pitchFamily="34" charset="0"/>
                <a:ea typeface="Arial Black" pitchFamily="34" charset="-122"/>
                <a:cs typeface="Arial Black" pitchFamily="34" charset="-120"/>
              </a:rPr>
              <a:t>=</a:t>
            </a:r>
            <a:endParaRPr lang="en-US" sz="5400" dirty="0"/>
          </a:p>
        </p:txBody>
      </p:sp>
      <p:sp>
        <p:nvSpPr>
          <p:cNvPr id="7" name="Text 5"/>
          <p:cNvSpPr txBox="1"/>
          <p:nvPr/>
        </p:nvSpPr>
        <p:spPr>
          <a:xfrm>
            <a:off x="2926080" y="1783080"/>
            <a:ext cx="1417320" cy="914400"/>
          </a:xfrm>
          <a:prstGeom prst="rect">
            <a:avLst/>
          </a:prstGeom>
          <a:noFill/>
          <a:ln/>
        </p:spPr>
        <p:txBody>
          <a:bodyPr wrap="square" lIns="0" tIns="0" rIns="0" bIns="0" rtlCol="0" anchor="ctr"/>
          <a:lstStyle/>
          <a:p>
            <a:pPr algn="ctr" indent="0" marL="0">
              <a:buNone/>
            </a:pPr>
            <a:r>
              <a:rPr lang="en-US" sz="5400" b="1" dirty="0">
                <a:solidFill>
                  <a:srgbClr val="F4B23E"/>
                </a:solidFill>
                <a:latin typeface="Arial Black" pitchFamily="34" charset="0"/>
                <a:ea typeface="Arial Black" pitchFamily="34" charset="-122"/>
                <a:cs typeface="Arial Black" pitchFamily="34" charset="-120"/>
              </a:rPr>
              <a:t>M</a:t>
            </a:r>
            <a:endParaRPr lang="en-US" sz="5400" dirty="0"/>
          </a:p>
        </p:txBody>
      </p:sp>
      <p:sp>
        <p:nvSpPr>
          <p:cNvPr id="8" name="Text 6"/>
          <p:cNvSpPr txBox="1"/>
          <p:nvPr/>
        </p:nvSpPr>
        <p:spPr>
          <a:xfrm>
            <a:off x="2743200" y="2697480"/>
            <a:ext cx="1783080" cy="274320"/>
          </a:xfrm>
          <a:prstGeom prst="rect">
            <a:avLst/>
          </a:prstGeom>
          <a:noFill/>
          <a:ln/>
        </p:spPr>
        <p:txBody>
          <a:bodyPr wrap="square" lIns="0" tIns="0" rIns="0" bIns="0" rtlCol="0" anchor="ctr"/>
          <a:lstStyle/>
          <a:p>
            <a:pPr algn="ctr" indent="0" marL="0">
              <a:buNone/>
            </a:pPr>
            <a:r>
              <a:rPr lang="en-US" sz="1100" b="1" dirty="0">
                <a:solidFill>
                  <a:srgbClr val="BDB59C"/>
                </a:solidFill>
                <a:latin typeface="Courier New" pitchFamily="34" charset="0"/>
                <a:ea typeface="Courier New" pitchFamily="34" charset="-122"/>
                <a:cs typeface="Courier New" pitchFamily="34" charset="-120"/>
              </a:rPr>
              <a:t>MONOPOLY</a:t>
            </a:r>
            <a:endParaRPr lang="en-US" sz="1100" dirty="0"/>
          </a:p>
        </p:txBody>
      </p:sp>
      <p:sp>
        <p:nvSpPr>
          <p:cNvPr id="9" name="Text 7"/>
          <p:cNvSpPr txBox="1"/>
          <p:nvPr/>
        </p:nvSpPr>
        <p:spPr>
          <a:xfrm>
            <a:off x="4343400" y="1783080"/>
            <a:ext cx="685800" cy="914400"/>
          </a:xfrm>
          <a:prstGeom prst="rect">
            <a:avLst/>
          </a:prstGeom>
          <a:noFill/>
          <a:ln/>
        </p:spPr>
        <p:txBody>
          <a:bodyPr wrap="square" lIns="0" tIns="0" rIns="0" bIns="0" rtlCol="0" anchor="ctr"/>
          <a:lstStyle/>
          <a:p>
            <a:pPr algn="ctr" indent="0" marL="0">
              <a:buNone/>
            </a:pPr>
            <a:r>
              <a:rPr lang="en-US" sz="5400" b="1" dirty="0">
                <a:solidFill>
                  <a:srgbClr val="8A8574"/>
                </a:solidFill>
                <a:latin typeface="Arial Black" pitchFamily="34" charset="0"/>
                <a:ea typeface="Arial Black" pitchFamily="34" charset="-122"/>
                <a:cs typeface="Arial Black" pitchFamily="34" charset="-120"/>
              </a:rPr>
              <a:t>+</a:t>
            </a:r>
            <a:endParaRPr lang="en-US" sz="5400" dirty="0"/>
          </a:p>
        </p:txBody>
      </p:sp>
      <p:sp>
        <p:nvSpPr>
          <p:cNvPr id="10" name="Text 8"/>
          <p:cNvSpPr txBox="1"/>
          <p:nvPr/>
        </p:nvSpPr>
        <p:spPr>
          <a:xfrm>
            <a:off x="5029200" y="1783080"/>
            <a:ext cx="1417320" cy="914400"/>
          </a:xfrm>
          <a:prstGeom prst="rect">
            <a:avLst/>
          </a:prstGeom>
          <a:noFill/>
          <a:ln/>
        </p:spPr>
        <p:txBody>
          <a:bodyPr wrap="square" lIns="0" tIns="0" rIns="0" bIns="0" rtlCol="0" anchor="ctr"/>
          <a:lstStyle/>
          <a:p>
            <a:pPr algn="ctr" indent="0" marL="0">
              <a:buNone/>
            </a:pPr>
            <a:r>
              <a:rPr lang="en-US" sz="5400" b="1" dirty="0">
                <a:solidFill>
                  <a:srgbClr val="F4B23E"/>
                </a:solidFill>
                <a:latin typeface="Arial Black" pitchFamily="34" charset="0"/>
                <a:ea typeface="Arial Black" pitchFamily="34" charset="-122"/>
                <a:cs typeface="Arial Black" pitchFamily="34" charset="-120"/>
              </a:rPr>
              <a:t>D</a:t>
            </a:r>
            <a:endParaRPr lang="en-US" sz="5400" dirty="0"/>
          </a:p>
        </p:txBody>
      </p:sp>
      <p:sp>
        <p:nvSpPr>
          <p:cNvPr id="11" name="Text 9"/>
          <p:cNvSpPr txBox="1"/>
          <p:nvPr/>
        </p:nvSpPr>
        <p:spPr>
          <a:xfrm>
            <a:off x="4846320" y="2697480"/>
            <a:ext cx="1783080" cy="274320"/>
          </a:xfrm>
          <a:prstGeom prst="rect">
            <a:avLst/>
          </a:prstGeom>
          <a:noFill/>
          <a:ln/>
        </p:spPr>
        <p:txBody>
          <a:bodyPr wrap="square" lIns="0" tIns="0" rIns="0" bIns="0" rtlCol="0" anchor="ctr"/>
          <a:lstStyle/>
          <a:p>
            <a:pPr algn="ctr" indent="0" marL="0">
              <a:buNone/>
            </a:pPr>
            <a:r>
              <a:rPr lang="en-US" sz="1100" b="1" dirty="0">
                <a:solidFill>
                  <a:srgbClr val="BDB59C"/>
                </a:solidFill>
                <a:latin typeface="Courier New" pitchFamily="34" charset="0"/>
                <a:ea typeface="Courier New" pitchFamily="34" charset="-122"/>
                <a:cs typeface="Courier New" pitchFamily="34" charset="-120"/>
              </a:rPr>
              <a:t>DISCRETION</a:t>
            </a:r>
            <a:endParaRPr lang="en-US" sz="1100" dirty="0"/>
          </a:p>
        </p:txBody>
      </p:sp>
      <p:sp>
        <p:nvSpPr>
          <p:cNvPr id="12" name="Text 10"/>
          <p:cNvSpPr txBox="1"/>
          <p:nvPr/>
        </p:nvSpPr>
        <p:spPr>
          <a:xfrm>
            <a:off x="6446520" y="1783080"/>
            <a:ext cx="685800" cy="914400"/>
          </a:xfrm>
          <a:prstGeom prst="rect">
            <a:avLst/>
          </a:prstGeom>
          <a:noFill/>
          <a:ln/>
        </p:spPr>
        <p:txBody>
          <a:bodyPr wrap="square" lIns="0" tIns="0" rIns="0" bIns="0" rtlCol="0" anchor="ctr"/>
          <a:lstStyle/>
          <a:p>
            <a:pPr algn="ctr" indent="0" marL="0">
              <a:buNone/>
            </a:pPr>
            <a:r>
              <a:rPr lang="en-US" sz="5400" b="1" dirty="0">
                <a:solidFill>
                  <a:srgbClr val="8A8574"/>
                </a:solidFill>
                <a:latin typeface="Arial Black" pitchFamily="34" charset="0"/>
                <a:ea typeface="Arial Black" pitchFamily="34" charset="-122"/>
                <a:cs typeface="Arial Black" pitchFamily="34" charset="-120"/>
              </a:rPr>
              <a:t>−</a:t>
            </a:r>
            <a:endParaRPr lang="en-US" sz="5400" dirty="0"/>
          </a:p>
        </p:txBody>
      </p:sp>
      <p:sp>
        <p:nvSpPr>
          <p:cNvPr id="13" name="Text 11"/>
          <p:cNvSpPr txBox="1"/>
          <p:nvPr/>
        </p:nvSpPr>
        <p:spPr>
          <a:xfrm>
            <a:off x="7132320" y="1783080"/>
            <a:ext cx="1417320" cy="914400"/>
          </a:xfrm>
          <a:prstGeom prst="rect">
            <a:avLst/>
          </a:prstGeom>
          <a:noFill/>
          <a:ln/>
        </p:spPr>
        <p:txBody>
          <a:bodyPr wrap="square" lIns="0" tIns="0" rIns="0" bIns="0" rtlCol="0" anchor="ctr"/>
          <a:lstStyle/>
          <a:p>
            <a:pPr algn="ctr" indent="0" marL="0">
              <a:buNone/>
            </a:pPr>
            <a:r>
              <a:rPr lang="en-US" sz="5400" b="1" dirty="0">
                <a:solidFill>
                  <a:srgbClr val="A9B98A"/>
                </a:solidFill>
                <a:latin typeface="Arial Black" pitchFamily="34" charset="0"/>
                <a:ea typeface="Arial Black" pitchFamily="34" charset="-122"/>
                <a:cs typeface="Arial Black" pitchFamily="34" charset="-120"/>
              </a:rPr>
              <a:t>A</a:t>
            </a:r>
            <a:endParaRPr lang="en-US" sz="5400" dirty="0"/>
          </a:p>
        </p:txBody>
      </p:sp>
      <p:sp>
        <p:nvSpPr>
          <p:cNvPr id="14" name="Text 12"/>
          <p:cNvSpPr txBox="1"/>
          <p:nvPr/>
        </p:nvSpPr>
        <p:spPr>
          <a:xfrm>
            <a:off x="6949440" y="2697480"/>
            <a:ext cx="1783080" cy="274320"/>
          </a:xfrm>
          <a:prstGeom prst="rect">
            <a:avLst/>
          </a:prstGeom>
          <a:noFill/>
          <a:ln/>
        </p:spPr>
        <p:txBody>
          <a:bodyPr wrap="square" lIns="0" tIns="0" rIns="0" bIns="0" rtlCol="0" anchor="ctr"/>
          <a:lstStyle/>
          <a:p>
            <a:pPr algn="ctr" indent="0" marL="0">
              <a:buNone/>
            </a:pPr>
            <a:r>
              <a:rPr lang="en-US" sz="1100" b="1" dirty="0">
                <a:solidFill>
                  <a:srgbClr val="BDB59C"/>
                </a:solidFill>
                <a:latin typeface="Courier New" pitchFamily="34" charset="0"/>
                <a:ea typeface="Courier New" pitchFamily="34" charset="-122"/>
                <a:cs typeface="Courier New" pitchFamily="34" charset="-120"/>
              </a:rPr>
              <a:t>ACCOUNTABILITY</a:t>
            </a:r>
            <a:endParaRPr lang="en-US" sz="1100" dirty="0"/>
          </a:p>
        </p:txBody>
      </p:sp>
      <p:sp>
        <p:nvSpPr>
          <p:cNvPr id="15" name="example 1"/>
          <p:cNvSpPr/>
          <p:nvPr/>
        </p:nvSpPr>
        <p:spPr>
          <a:xfrm>
            <a:off x="548640" y="3337560"/>
            <a:ext cx="3515258" cy="1691640"/>
          </a:xfrm>
          <a:prstGeom prst="rect">
            <a:avLst/>
          </a:prstGeom>
          <a:solidFill>
            <a:srgbClr val="FFFFFF">
              <a:alpha val="8000"/>
            </a:srgbClr>
          </a:solidFill>
          <a:ln w="12700">
            <a:solidFill>
              <a:srgbClr val="6B6A55"/>
            </a:solidFill>
            <a:prstDash val="solid"/>
          </a:ln>
        </p:spPr>
      </p:sp>
      <p:sp>
        <p:nvSpPr>
          <p:cNvPr id="16" name="Text 14"/>
          <p:cNvSpPr txBox="1"/>
          <p:nvPr/>
        </p:nvSpPr>
        <p:spPr>
          <a:xfrm>
            <a:off x="777240" y="3474720"/>
            <a:ext cx="3058058" cy="146304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MONOPOLY</a:t>
            </a:r>
            <a:endParaRPr lang="en-US" sz="1200" dirty="0"/>
          </a:p>
          <a:p>
            <a:pPr indent="0" marL="0">
              <a:spcAft>
                <a:spcPts val="400"/>
              </a:spcAft>
              <a:buNone/>
            </a:pPr>
            <a:r>
              <a:rPr lang="en-US" sz="1500" dirty="0">
                <a:solidFill>
                  <a:srgbClr val="E9E3D2"/>
                </a:solidFill>
              </a:rPr>
              <a:t>Brokers like Henry control the only access to cheap Balkan stockpiles.</a:t>
            </a:r>
            <a:endParaRPr lang="en-US" sz="1200" dirty="0"/>
          </a:p>
        </p:txBody>
      </p:sp>
      <p:sp>
        <p:nvSpPr>
          <p:cNvPr id="17" name="example 2"/>
          <p:cNvSpPr/>
          <p:nvPr/>
        </p:nvSpPr>
        <p:spPr>
          <a:xfrm>
            <a:off x="4292498" y="3337560"/>
            <a:ext cx="3515258" cy="1691640"/>
          </a:xfrm>
          <a:prstGeom prst="rect">
            <a:avLst/>
          </a:prstGeom>
          <a:solidFill>
            <a:srgbClr val="FFFFFF">
              <a:alpha val="8000"/>
            </a:srgbClr>
          </a:solidFill>
          <a:ln w="12700">
            <a:solidFill>
              <a:srgbClr val="6B6A55"/>
            </a:solidFill>
            <a:prstDash val="solid"/>
          </a:ln>
        </p:spPr>
      </p:sp>
      <p:sp>
        <p:nvSpPr>
          <p:cNvPr id="18" name="Text 16"/>
          <p:cNvSpPr txBox="1"/>
          <p:nvPr/>
        </p:nvSpPr>
        <p:spPr>
          <a:xfrm>
            <a:off x="4521098" y="3474720"/>
            <a:ext cx="3058058" cy="146304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DISCRETION</a:t>
            </a:r>
            <a:endParaRPr lang="en-US" sz="1200" dirty="0"/>
          </a:p>
          <a:p>
            <a:pPr indent="0" marL="0">
              <a:spcAft>
                <a:spcPts val="400"/>
              </a:spcAft>
              <a:buNone/>
            </a:pPr>
            <a:r>
              <a:rPr lang="en-US" sz="1500" dirty="0">
                <a:solidFill>
                  <a:srgbClr val="E9E3D2"/>
                </a:solidFill>
              </a:rPr>
              <a:t>Contracting officers and foreign officials decide with little scrutiny; fixers move shipments through Jordan.</a:t>
            </a:r>
            <a:endParaRPr lang="en-US" sz="1200" dirty="0"/>
          </a:p>
        </p:txBody>
      </p:sp>
      <p:sp>
        <p:nvSpPr>
          <p:cNvPr id="19" name="example 3"/>
          <p:cNvSpPr/>
          <p:nvPr/>
        </p:nvSpPr>
        <p:spPr>
          <a:xfrm>
            <a:off x="8036357" y="3337560"/>
            <a:ext cx="3515258" cy="1691640"/>
          </a:xfrm>
          <a:prstGeom prst="rect">
            <a:avLst/>
          </a:prstGeom>
          <a:solidFill>
            <a:srgbClr val="FFFFFF">
              <a:alpha val="8000"/>
            </a:srgbClr>
          </a:solidFill>
          <a:ln w="12700">
            <a:solidFill>
              <a:srgbClr val="6B6A55"/>
            </a:solidFill>
            <a:prstDash val="solid"/>
          </a:ln>
        </p:spPr>
      </p:sp>
      <p:sp>
        <p:nvSpPr>
          <p:cNvPr id="20" name="Text 18"/>
          <p:cNvSpPr txBox="1"/>
          <p:nvPr/>
        </p:nvSpPr>
        <p:spPr>
          <a:xfrm>
            <a:off x="8264957" y="3474720"/>
            <a:ext cx="3058058" cy="146304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LOW ACCOUNTABILITY</a:t>
            </a:r>
            <a:endParaRPr lang="en-US" sz="1200" dirty="0"/>
          </a:p>
          <a:p>
            <a:pPr indent="0" marL="0">
              <a:spcAft>
                <a:spcPts val="400"/>
              </a:spcAft>
              <a:buNone/>
            </a:pPr>
            <a:r>
              <a:rPr lang="en-US" sz="1500" dirty="0">
                <a:solidFill>
                  <a:srgbClr val="E9E3D2"/>
                </a:solidFill>
              </a:rPr>
              <a:t>Wartime urgency; a company run by a man in his early twenties passes vetting.</a:t>
            </a:r>
            <a:endParaRPr lang="en-US" sz="1200" dirty="0"/>
          </a:p>
        </p:txBody>
      </p:sp>
      <p:sp>
        <p:nvSpPr>
          <p:cNvPr id="21" name="Text 19"/>
          <p:cNvSpPr txBox="1"/>
          <p:nvPr/>
        </p:nvSpPr>
        <p:spPr>
          <a:xfrm>
            <a:off x="548640" y="5257800"/>
            <a:ext cx="11094415" cy="685800"/>
          </a:xfrm>
          <a:prstGeom prst="rect">
            <a:avLst/>
          </a:prstGeom>
          <a:noFill/>
          <a:ln/>
        </p:spPr>
        <p:txBody>
          <a:bodyPr wrap="square" lIns="0" tIns="0" rIns="0" bIns="0" rtlCol="0" anchor="ctr"/>
          <a:lstStyle/>
          <a:p>
            <a:pPr indent="0" marL="0">
              <a:buNone/>
            </a:pPr>
            <a:r>
              <a:rPr lang="en-US" sz="1500" b="1" dirty="0">
                <a:solidFill>
                  <a:srgbClr val="D9480F"/>
                </a:solidFill>
              </a:rPr>
              <a:t>State-corporate crime: </a:t>
            </a:r>
            <a:pPr indent="0" marL="0">
              <a:buNone/>
            </a:pPr>
            <a:r>
              <a:rPr lang="en-US" sz="1500" dirty="0">
                <a:solidFill>
                  <a:srgbClr val="E9E3D2"/>
                </a:solidFill>
              </a:rPr>
              <a:t>the harm came from a government policy of outsourcing war to the lowest bidder, not just from two rogue individuals (Kramer et al., 2002).</a:t>
            </a:r>
            <a:endParaRPr lang="en-US" sz="1500" dirty="0"/>
          </a:p>
        </p:txBody>
      </p:sp>
      <p:sp>
        <p:nvSpPr>
          <p:cNvPr id="22" name="Text 20"/>
          <p:cNvSpPr txBox="1"/>
          <p:nvPr/>
        </p:nvSpPr>
        <p:spPr>
          <a:xfrm>
            <a:off x="548640" y="6089904"/>
            <a:ext cx="11094415" cy="219456"/>
          </a:xfrm>
          <a:prstGeom prst="rect">
            <a:avLst/>
          </a:prstGeom>
          <a:noFill/>
          <a:ln/>
        </p:spPr>
        <p:txBody>
          <a:bodyPr wrap="square" lIns="0" tIns="0" rIns="0" bIns="0" rtlCol="0" anchor="ctr"/>
          <a:lstStyle/>
          <a:p>
            <a:pPr indent="0" marL="0">
              <a:buNone/>
            </a:pPr>
            <a:r>
              <a:rPr lang="en-US" sz="1000" i="1" dirty="0">
                <a:solidFill>
                  <a:srgbClr val="8A8574"/>
                </a:solidFill>
              </a:rPr>
              <a:t>Source: Klitgaard (1988).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rate label"/>
          <p:cNvSpPr txBox="1"/>
          <p:nvPr/>
        </p:nvSpPr>
        <p:spPr>
          <a:xfrm>
            <a:off x="548640" y="292608"/>
            <a:ext cx="2971800" cy="292608"/>
          </a:xfrm>
          <a:prstGeom prst="rect">
            <a:avLst/>
          </a:prstGeom>
          <a:noFill/>
          <a:ln w="19050">
            <a:solidFill>
              <a:srgbClr val="5B6B3A"/>
            </a:solidFill>
            <a:prstDash val="dash"/>
          </a:ln>
        </p:spPr>
        <p:txBody>
          <a:bodyPr wrap="square" lIns="0" tIns="0" rIns="0" bIns="0" rtlCol="0" anchor="ctr"/>
          <a:lstStyle/>
          <a:p>
            <a:pPr algn="ctr" indent="0" marL="0">
              <a:buNone/>
            </a:pPr>
            <a:r>
              <a:rPr lang="en-US" sz="1200" b="1" spc="200" kern="0" dirty="0">
                <a:solidFill>
                  <a:srgbClr val="5B6B3A"/>
                </a:solidFill>
                <a:latin typeface="Courier New" pitchFamily="34" charset="0"/>
                <a:ea typeface="Courier New" pitchFamily="34" charset="-122"/>
                <a:cs typeface="Courier New" pitchFamily="34" charset="-120"/>
              </a:rPr>
              <a:t>LOT 10 // EVALUATION</a:t>
            </a:r>
            <a:endParaRPr lang="en-US" sz="1200" dirty="0"/>
          </a:p>
        </p:txBody>
      </p:sp>
      <p:sp>
        <p:nvSpPr>
          <p:cNvPr id="3" name="Text 0"/>
          <p:cNvSpPr/>
          <p:nvPr>
            <p:ph idx="100" type="title" hasCustomPrompt="1"/>
          </p:nvPr>
        </p:nvSpPr>
        <p:spPr>
          <a:xfrm>
            <a:off x="548640" y="713232"/>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Accurate in substance, exaggerated in style</a:t>
            </a:r>
            <a:endParaRPr lang="en-US" sz="2800" dirty="0"/>
          </a:p>
        </p:txBody>
      </p:sp>
      <p:sp>
        <p:nvSpPr>
          <p:cNvPr id="4" name="STRENGTHS header"/>
          <p:cNvSpPr/>
          <p:nvPr/>
        </p:nvSpPr>
        <p:spPr>
          <a:xfrm>
            <a:off x="548640" y="1645920"/>
            <a:ext cx="5364328" cy="685800"/>
          </a:xfrm>
          <a:prstGeom prst="rect">
            <a:avLst/>
          </a:prstGeom>
          <a:solidFill>
            <a:srgbClr val="5B6B3A"/>
          </a:solidFill>
          <a:ln/>
        </p:spPr>
      </p:sp>
      <p:pic>
        <p:nvPicPr>
          <p:cNvPr id="5" name="STRENGTHS icon" descr="STRENGTHS">    </p:cNvPr>
          <p:cNvPicPr>
            <a:picLocks noChangeAspect="1"/>
          </p:cNvPicPr>
          <p:nvPr/>
        </p:nvPicPr>
        <p:blipFill>
          <a:blip r:embed="rId1"/>
          <a:stretch>
            <a:fillRect/>
          </a:stretch>
        </p:blipFill>
        <p:spPr>
          <a:xfrm>
            <a:off x="777240" y="1783080"/>
            <a:ext cx="411480" cy="411480"/>
          </a:xfrm>
          <a:prstGeom prst="rect">
            <a:avLst/>
          </a:prstGeom>
        </p:spPr>
      </p:pic>
      <p:sp>
        <p:nvSpPr>
          <p:cNvPr id="6" name="Text 3"/>
          <p:cNvSpPr txBox="1"/>
          <p:nvPr/>
        </p:nvSpPr>
        <p:spPr>
          <a:xfrm>
            <a:off x="1325880" y="1645920"/>
            <a:ext cx="4449928" cy="685800"/>
          </a:xfrm>
          <a:prstGeom prst="rect">
            <a:avLst/>
          </a:prstGeom>
          <a:noFill/>
          <a:ln/>
        </p:spPr>
        <p:txBody>
          <a:bodyPr wrap="square" lIns="0" tIns="0" rIns="0" bIns="0" rtlCol="0" anchor="ctr"/>
          <a:lstStyle/>
          <a:p>
            <a:pPr indent="0" marL="0">
              <a:buNone/>
            </a:pPr>
            <a:r>
              <a:rPr lang="en-US" sz="1800" b="1" spc="200" kern="0" dirty="0">
                <a:solidFill>
                  <a:schemeClr val="bg1"/>
                </a:solidFill>
                <a:latin typeface="Arial Black" pitchFamily="34" charset="0"/>
                <a:ea typeface="Arial Black" pitchFamily="34" charset="-122"/>
                <a:cs typeface="Arial Black" pitchFamily="34" charset="-120"/>
              </a:rPr>
              <a:t>STRENGTHS</a:t>
            </a:r>
            <a:endParaRPr lang="en-US" sz="1800" dirty="0"/>
          </a:p>
        </p:txBody>
      </p:sp>
      <p:sp>
        <p:nvSpPr>
          <p:cNvPr id="7" name="STRENGTHS body"/>
          <p:cNvSpPr/>
          <p:nvPr/>
        </p:nvSpPr>
        <p:spPr>
          <a:xfrm>
            <a:off x="548640" y="2331720"/>
            <a:ext cx="5364328" cy="3520440"/>
          </a:xfrm>
          <a:prstGeom prst="rect">
            <a:avLst/>
          </a:prstGeom>
          <a:solidFill>
            <a:srgbClr val="FAF7EF"/>
          </a:solidFill>
          <a:ln w="12700">
            <a:solidFill>
              <a:srgbClr val="5B6B3A"/>
            </a:solidFill>
            <a:prstDash val="solid"/>
          </a:ln>
        </p:spPr>
      </p:sp>
      <p:sp>
        <p:nvSpPr>
          <p:cNvPr id="8" name="Text 5"/>
          <p:cNvSpPr txBox="1"/>
          <p:nvPr/>
        </p:nvSpPr>
        <p:spPr>
          <a:xfrm>
            <a:off x="822960" y="2468880"/>
            <a:ext cx="4815688" cy="713232"/>
          </a:xfrm>
          <a:prstGeom prst="rect">
            <a:avLst/>
          </a:prstGeom>
          <a:noFill/>
          <a:ln/>
        </p:spPr>
        <p:txBody>
          <a:bodyPr wrap="square" lIns="0" tIns="0" rIns="0" bIns="0" rtlCol="0" anchor="ctr"/>
          <a:lstStyle/>
          <a:p>
            <a:pPr indent="0" marL="0">
              <a:buNone/>
            </a:pPr>
            <a:r>
              <a:rPr lang="en-US" sz="1500" dirty="0">
                <a:solidFill>
                  <a:srgbClr val="23281C"/>
                </a:solidFill>
              </a:rPr>
              <a:t>Breaks the mafia stereotype: crime as a business with a website and invoices</a:t>
            </a:r>
            <a:endParaRPr lang="en-US" sz="1500" dirty="0"/>
          </a:p>
        </p:txBody>
      </p:sp>
      <p:sp>
        <p:nvSpPr>
          <p:cNvPr id="9" name="Shape 6"/>
          <p:cNvSpPr/>
          <p:nvPr/>
        </p:nvSpPr>
        <p:spPr>
          <a:xfrm>
            <a:off x="822960" y="3236976"/>
            <a:ext cx="4815688" cy="0"/>
          </a:xfrm>
          <a:prstGeom prst="line">
            <a:avLst/>
          </a:prstGeom>
          <a:noFill/>
          <a:ln w="12700">
            <a:solidFill>
              <a:srgbClr val="CFC6AE"/>
            </a:solidFill>
            <a:prstDash val="solid"/>
          </a:ln>
        </p:spPr>
      </p:sp>
      <p:sp>
        <p:nvSpPr>
          <p:cNvPr id="10" name="Text 7"/>
          <p:cNvSpPr txBox="1"/>
          <p:nvPr/>
        </p:nvSpPr>
        <p:spPr>
          <a:xfrm>
            <a:off x="822960" y="3291840"/>
            <a:ext cx="4815688" cy="713232"/>
          </a:xfrm>
          <a:prstGeom prst="rect">
            <a:avLst/>
          </a:prstGeom>
          <a:noFill/>
          <a:ln/>
        </p:spPr>
        <p:txBody>
          <a:bodyPr wrap="square" lIns="0" tIns="0" rIns="0" bIns="0" rtlCol="0" anchor="ctr"/>
          <a:lstStyle/>
          <a:p>
            <a:pPr indent="0" marL="0">
              <a:buNone/>
            </a:pPr>
            <a:r>
              <a:rPr lang="en-US" sz="1500" dirty="0">
                <a:solidFill>
                  <a:srgbClr val="23281C"/>
                </a:solidFill>
              </a:rPr>
              <a:t>Matches the enterprise and network models closely</a:t>
            </a:r>
            <a:endParaRPr lang="en-US" sz="1500" dirty="0"/>
          </a:p>
        </p:txBody>
      </p:sp>
      <p:sp>
        <p:nvSpPr>
          <p:cNvPr id="11" name="Shape 8"/>
          <p:cNvSpPr/>
          <p:nvPr/>
        </p:nvSpPr>
        <p:spPr>
          <a:xfrm>
            <a:off x="822960" y="4059936"/>
            <a:ext cx="4815688" cy="0"/>
          </a:xfrm>
          <a:prstGeom prst="line">
            <a:avLst/>
          </a:prstGeom>
          <a:noFill/>
          <a:ln w="12700">
            <a:solidFill>
              <a:srgbClr val="CFC6AE"/>
            </a:solidFill>
            <a:prstDash val="solid"/>
          </a:ln>
        </p:spPr>
      </p:sp>
      <p:sp>
        <p:nvSpPr>
          <p:cNvPr id="12" name="Text 9"/>
          <p:cNvSpPr txBox="1"/>
          <p:nvPr/>
        </p:nvSpPr>
        <p:spPr>
          <a:xfrm>
            <a:off x="822960" y="4114800"/>
            <a:ext cx="4815688" cy="713232"/>
          </a:xfrm>
          <a:prstGeom prst="rect">
            <a:avLst/>
          </a:prstGeom>
          <a:noFill/>
          <a:ln/>
        </p:spPr>
        <p:txBody>
          <a:bodyPr wrap="square" lIns="0" tIns="0" rIns="0" bIns="0" rtlCol="0" anchor="ctr"/>
          <a:lstStyle/>
          <a:p>
            <a:pPr indent="0" marL="0">
              <a:buNone/>
            </a:pPr>
            <a:r>
              <a:rPr lang="en-US" sz="1500" dirty="0">
                <a:solidFill>
                  <a:srgbClr val="23281C"/>
                </a:solidFill>
              </a:rPr>
              <a:t>Realistic psychology: offenders who never see themselves as criminals</a:t>
            </a:r>
            <a:endParaRPr lang="en-US" sz="1500" dirty="0"/>
          </a:p>
        </p:txBody>
      </p:sp>
      <p:sp>
        <p:nvSpPr>
          <p:cNvPr id="13" name="Shape 10"/>
          <p:cNvSpPr/>
          <p:nvPr/>
        </p:nvSpPr>
        <p:spPr>
          <a:xfrm>
            <a:off x="822960" y="4882896"/>
            <a:ext cx="4815688" cy="0"/>
          </a:xfrm>
          <a:prstGeom prst="line">
            <a:avLst/>
          </a:prstGeom>
          <a:noFill/>
          <a:ln w="12700">
            <a:solidFill>
              <a:srgbClr val="CFC6AE"/>
            </a:solidFill>
            <a:prstDash val="solid"/>
          </a:ln>
        </p:spPr>
      </p:sp>
      <p:sp>
        <p:nvSpPr>
          <p:cNvPr id="14" name="Text 11"/>
          <p:cNvSpPr txBox="1"/>
          <p:nvPr/>
        </p:nvSpPr>
        <p:spPr>
          <a:xfrm>
            <a:off x="822960" y="4937760"/>
            <a:ext cx="4815688" cy="713232"/>
          </a:xfrm>
          <a:prstGeom prst="rect">
            <a:avLst/>
          </a:prstGeom>
          <a:noFill/>
          <a:ln/>
        </p:spPr>
        <p:txBody>
          <a:bodyPr wrap="square" lIns="0" tIns="0" rIns="0" bIns="0" rtlCol="0" anchor="ctr"/>
          <a:lstStyle/>
          <a:p>
            <a:pPr indent="0" marL="0">
              <a:buNone/>
            </a:pPr>
            <a:r>
              <a:rPr lang="en-US" sz="1500" dirty="0">
                <a:solidFill>
                  <a:srgbClr val="23281C"/>
                </a:solidFill>
              </a:rPr>
              <a:t>Core facts are true: the contract, the repackaging, the sentences</a:t>
            </a:r>
            <a:endParaRPr lang="en-US" sz="1500" dirty="0"/>
          </a:p>
        </p:txBody>
      </p:sp>
      <p:sp>
        <p:nvSpPr>
          <p:cNvPr id="15" name="WEAKNESSES header"/>
          <p:cNvSpPr/>
          <p:nvPr/>
        </p:nvSpPr>
        <p:spPr>
          <a:xfrm>
            <a:off x="6278728" y="1645920"/>
            <a:ext cx="5364328" cy="685800"/>
          </a:xfrm>
          <a:prstGeom prst="rect">
            <a:avLst/>
          </a:prstGeom>
          <a:solidFill>
            <a:srgbClr val="D9480F"/>
          </a:solidFill>
          <a:ln/>
        </p:spPr>
      </p:sp>
      <p:pic>
        <p:nvPicPr>
          <p:cNvPr id="16" name="WEAKNESSES icon" descr="WEAKNESSES">    </p:cNvPr>
          <p:cNvPicPr>
            <a:picLocks noChangeAspect="1"/>
          </p:cNvPicPr>
          <p:nvPr/>
        </p:nvPicPr>
        <p:blipFill>
          <a:blip r:embed="rId2"/>
          <a:stretch>
            <a:fillRect/>
          </a:stretch>
        </p:blipFill>
        <p:spPr>
          <a:xfrm>
            <a:off x="6507328" y="1783080"/>
            <a:ext cx="411480" cy="411480"/>
          </a:xfrm>
          <a:prstGeom prst="rect">
            <a:avLst/>
          </a:prstGeom>
        </p:spPr>
      </p:pic>
      <p:sp>
        <p:nvSpPr>
          <p:cNvPr id="17" name="Text 13"/>
          <p:cNvSpPr txBox="1"/>
          <p:nvPr/>
        </p:nvSpPr>
        <p:spPr>
          <a:xfrm>
            <a:off x="7055968" y="1645920"/>
            <a:ext cx="4449928" cy="685800"/>
          </a:xfrm>
          <a:prstGeom prst="rect">
            <a:avLst/>
          </a:prstGeom>
          <a:noFill/>
          <a:ln/>
        </p:spPr>
        <p:txBody>
          <a:bodyPr wrap="square" lIns="0" tIns="0" rIns="0" bIns="0" rtlCol="0" anchor="ctr"/>
          <a:lstStyle/>
          <a:p>
            <a:pPr indent="0" marL="0">
              <a:buNone/>
            </a:pPr>
            <a:r>
              <a:rPr lang="en-US" sz="1800" b="1" spc="200" kern="0" dirty="0">
                <a:solidFill>
                  <a:schemeClr val="bg1"/>
                </a:solidFill>
                <a:latin typeface="Arial Black" pitchFamily="34" charset="0"/>
                <a:ea typeface="Arial Black" pitchFamily="34" charset="-122"/>
                <a:cs typeface="Arial Black" pitchFamily="34" charset="-120"/>
              </a:rPr>
              <a:t>WEAKNESSES</a:t>
            </a:r>
            <a:endParaRPr lang="en-US" sz="1800" dirty="0"/>
          </a:p>
        </p:txBody>
      </p:sp>
      <p:sp>
        <p:nvSpPr>
          <p:cNvPr id="18" name="WEAKNESSES body"/>
          <p:cNvSpPr/>
          <p:nvPr/>
        </p:nvSpPr>
        <p:spPr>
          <a:xfrm>
            <a:off x="6278728" y="2331720"/>
            <a:ext cx="5364328" cy="3520440"/>
          </a:xfrm>
          <a:prstGeom prst="rect">
            <a:avLst/>
          </a:prstGeom>
          <a:solidFill>
            <a:srgbClr val="FAF7EF"/>
          </a:solidFill>
          <a:ln w="12700">
            <a:solidFill>
              <a:srgbClr val="D9480F"/>
            </a:solidFill>
            <a:prstDash val="solid"/>
          </a:ln>
        </p:spPr>
      </p:sp>
      <p:sp>
        <p:nvSpPr>
          <p:cNvPr id="19" name="Text 15"/>
          <p:cNvSpPr txBox="1"/>
          <p:nvPr/>
        </p:nvSpPr>
        <p:spPr>
          <a:xfrm>
            <a:off x="6553048" y="2468880"/>
            <a:ext cx="4815688" cy="713232"/>
          </a:xfrm>
          <a:prstGeom prst="rect">
            <a:avLst/>
          </a:prstGeom>
          <a:noFill/>
          <a:ln/>
        </p:spPr>
        <p:txBody>
          <a:bodyPr wrap="square" lIns="0" tIns="0" rIns="0" bIns="0" rtlCol="0" anchor="ctr"/>
          <a:lstStyle/>
          <a:p>
            <a:pPr indent="0" marL="0">
              <a:buNone/>
            </a:pPr>
            <a:r>
              <a:rPr lang="en-US" sz="1500" dirty="0">
                <a:solidFill>
                  <a:srgbClr val="23281C"/>
                </a:solidFill>
              </a:rPr>
              <a:t>Comedy glamorizes wealth and makes fraud look harmless</a:t>
            </a:r>
            <a:endParaRPr lang="en-US" sz="1500" dirty="0"/>
          </a:p>
        </p:txBody>
      </p:sp>
      <p:sp>
        <p:nvSpPr>
          <p:cNvPr id="20" name="Shape 16"/>
          <p:cNvSpPr/>
          <p:nvPr/>
        </p:nvSpPr>
        <p:spPr>
          <a:xfrm>
            <a:off x="6553048" y="3236976"/>
            <a:ext cx="4815688" cy="0"/>
          </a:xfrm>
          <a:prstGeom prst="line">
            <a:avLst/>
          </a:prstGeom>
          <a:noFill/>
          <a:ln w="12700">
            <a:solidFill>
              <a:srgbClr val="CFC6AE"/>
            </a:solidFill>
            <a:prstDash val="solid"/>
          </a:ln>
        </p:spPr>
      </p:sp>
      <p:sp>
        <p:nvSpPr>
          <p:cNvPr id="21" name="Text 17"/>
          <p:cNvSpPr txBox="1"/>
          <p:nvPr/>
        </p:nvSpPr>
        <p:spPr>
          <a:xfrm>
            <a:off x="6553048" y="3291840"/>
            <a:ext cx="4815688" cy="713232"/>
          </a:xfrm>
          <a:prstGeom prst="rect">
            <a:avLst/>
          </a:prstGeom>
          <a:noFill/>
          <a:ln/>
        </p:spPr>
        <p:txBody>
          <a:bodyPr wrap="square" lIns="0" tIns="0" rIns="0" bIns="0" rtlCol="0" anchor="ctr"/>
          <a:lstStyle/>
          <a:p>
            <a:pPr indent="0" marL="0">
              <a:buNone/>
            </a:pPr>
            <a:r>
              <a:rPr lang="en-US" sz="1500" dirty="0">
                <a:solidFill>
                  <a:srgbClr val="23281C"/>
                </a:solidFill>
              </a:rPr>
              <a:t>Composite characters and invented danger in Albania</a:t>
            </a:r>
            <a:endParaRPr lang="en-US" sz="1500" dirty="0"/>
          </a:p>
        </p:txBody>
      </p:sp>
      <p:sp>
        <p:nvSpPr>
          <p:cNvPr id="22" name="Shape 18"/>
          <p:cNvSpPr/>
          <p:nvPr/>
        </p:nvSpPr>
        <p:spPr>
          <a:xfrm>
            <a:off x="6553048" y="4059936"/>
            <a:ext cx="4815688" cy="0"/>
          </a:xfrm>
          <a:prstGeom prst="line">
            <a:avLst/>
          </a:prstGeom>
          <a:noFill/>
          <a:ln w="12700">
            <a:solidFill>
              <a:srgbClr val="CFC6AE"/>
            </a:solidFill>
            <a:prstDash val="solid"/>
          </a:ln>
        </p:spPr>
      </p:sp>
      <p:sp>
        <p:nvSpPr>
          <p:cNvPr id="23" name="Text 19"/>
          <p:cNvSpPr txBox="1"/>
          <p:nvPr/>
        </p:nvSpPr>
        <p:spPr>
          <a:xfrm>
            <a:off x="6553048" y="4114800"/>
            <a:ext cx="4815688" cy="713232"/>
          </a:xfrm>
          <a:prstGeom prst="rect">
            <a:avLst/>
          </a:prstGeom>
          <a:noFill/>
          <a:ln/>
        </p:spPr>
        <p:txBody>
          <a:bodyPr wrap="square" lIns="0" tIns="0" rIns="0" bIns="0" rtlCol="0" anchor="ctr"/>
          <a:lstStyle/>
          <a:p>
            <a:pPr indent="0" marL="0">
              <a:buNone/>
            </a:pPr>
            <a:r>
              <a:rPr lang="en-US" sz="1500" dirty="0">
                <a:solidFill>
                  <a:srgbClr val="23281C"/>
                </a:solidFill>
              </a:rPr>
              <a:t>Blames two individuals; underplays state-corporate failure</a:t>
            </a:r>
            <a:endParaRPr lang="en-US" sz="1500" dirty="0"/>
          </a:p>
        </p:txBody>
      </p:sp>
      <p:sp>
        <p:nvSpPr>
          <p:cNvPr id="24" name="Shape 20"/>
          <p:cNvSpPr/>
          <p:nvPr/>
        </p:nvSpPr>
        <p:spPr>
          <a:xfrm>
            <a:off x="6553048" y="4882896"/>
            <a:ext cx="4815688" cy="0"/>
          </a:xfrm>
          <a:prstGeom prst="line">
            <a:avLst/>
          </a:prstGeom>
          <a:noFill/>
          <a:ln w="12700">
            <a:solidFill>
              <a:srgbClr val="CFC6AE"/>
            </a:solidFill>
            <a:prstDash val="solid"/>
          </a:ln>
        </p:spPr>
      </p:sp>
      <p:sp>
        <p:nvSpPr>
          <p:cNvPr id="25" name="Text 21"/>
          <p:cNvSpPr txBox="1"/>
          <p:nvPr/>
        </p:nvSpPr>
        <p:spPr>
          <a:xfrm>
            <a:off x="6553048" y="4937760"/>
            <a:ext cx="4815688" cy="713232"/>
          </a:xfrm>
          <a:prstGeom prst="rect">
            <a:avLst/>
          </a:prstGeom>
          <a:noFill/>
          <a:ln/>
        </p:spPr>
        <p:txBody>
          <a:bodyPr wrap="square" lIns="0" tIns="0" rIns="0" bIns="0" rtlCol="0" anchor="ctr"/>
          <a:lstStyle/>
          <a:p>
            <a:pPr indent="0" marL="0">
              <a:buNone/>
            </a:pPr>
            <a:r>
              <a:rPr lang="en-US" sz="1500" dirty="0">
                <a:solidFill>
                  <a:srgbClr val="23281C"/>
                </a:solidFill>
              </a:rPr>
              <a:t>Leaves out real victims, including the 26 killed at Gërdec</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574"/>
                </a:solidFill>
                <a:latin typeface="Courier New"/>
                <a:ea typeface="Courier New"/>
                <a:cs typeface="Courier New"/>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7863840" y="1005840"/>
            <a:ext cx="4206240" cy="4206240"/>
          </a:xfrm>
          <a:prstGeom prst="rect">
            <a:avLst/>
          </a:prstGeom>
        </p:spPr>
      </p:pic>
      <p:sp>
        <p:nvSpPr>
          <p:cNvPr id="3" name="crate label"/>
          <p:cNvSpPr txBox="1"/>
          <p:nvPr/>
        </p:nvSpPr>
        <p:spPr>
          <a:xfrm>
            <a:off x="548640" y="548640"/>
            <a:ext cx="2971800" cy="292608"/>
          </a:xfrm>
          <a:prstGeom prst="rect">
            <a:avLst/>
          </a:prstGeom>
          <a:noFill/>
          <a:ln w="19050">
            <a:solidFill>
              <a:srgbClr val="C9A227"/>
            </a:solidFill>
            <a:prstDash val="dash"/>
          </a:ln>
        </p:spPr>
        <p:txBody>
          <a:bodyPr wrap="square" lIns="0" tIns="0" rIns="0" bIns="0" rtlCol="0" anchor="ctr"/>
          <a:lstStyle/>
          <a:p>
            <a:pPr algn="ctr" indent="0" marL="0">
              <a:buNone/>
            </a:pPr>
            <a:r>
              <a:rPr lang="en-US" sz="1200" b="1" spc="200" kern="0" dirty="0">
                <a:solidFill>
                  <a:srgbClr val="C9A227"/>
                </a:solidFill>
                <a:latin typeface="Courier New" pitchFamily="34" charset="0"/>
                <a:ea typeface="Courier New" pitchFamily="34" charset="-122"/>
                <a:cs typeface="Courier New" pitchFamily="34" charset="-120"/>
              </a:rPr>
              <a:t>LOT 11 // CONCLUSION</a:t>
            </a:r>
            <a:endParaRPr lang="en-US" sz="1200" dirty="0"/>
          </a:p>
        </p:txBody>
      </p:sp>
      <p:sp>
        <p:nvSpPr>
          <p:cNvPr id="4" name="Text 1"/>
          <p:cNvSpPr txBox="1"/>
          <p:nvPr/>
        </p:nvSpPr>
        <p:spPr>
          <a:xfrm>
            <a:off x="548640" y="1097280"/>
            <a:ext cx="8778240" cy="1737360"/>
          </a:xfrm>
          <a:prstGeom prst="rect">
            <a:avLst/>
          </a:prstGeom>
          <a:noFill/>
          <a:ln/>
        </p:spPr>
        <p:txBody>
          <a:bodyPr wrap="square" lIns="0" tIns="0" rIns="0" bIns="0" rtlCol="0" anchor="t"/>
          <a:lstStyle/>
          <a:p>
            <a:pPr indent="0" marL="0">
              <a:buNone/>
            </a:pPr>
            <a:r>
              <a:rPr lang="en-US" sz="3000" b="1" dirty="0">
                <a:solidFill>
                  <a:schemeClr val="bg1"/>
                </a:solidFill>
                <a:latin typeface="Arial Black" pitchFamily="34" charset="0"/>
                <a:ea typeface="Arial Black" pitchFamily="34" charset="-122"/>
                <a:cs typeface="Arial Black" pitchFamily="34" charset="-120"/>
              </a:rPr>
              <a:t>Organized crime doesn’t always carry guns. </a:t>
            </a:r>
            <a:pPr indent="0" marL="0">
              <a:buNone/>
            </a:pPr>
            <a:r>
              <a:rPr lang="en-US" sz="3000" b="1" dirty="0">
                <a:solidFill>
                  <a:srgbClr val="F4B23E"/>
                </a:solidFill>
                <a:latin typeface="Arial Black" pitchFamily="34" charset="0"/>
                <a:ea typeface="Arial Black" pitchFamily="34" charset="-122"/>
                <a:cs typeface="Arial Black" pitchFamily="34" charset="-120"/>
              </a:rPr>
              <a:t>Sometimes it sells them, with a government contract.</a:t>
            </a:r>
            <a:endParaRPr lang="en-US" sz="3000" dirty="0"/>
          </a:p>
        </p:txBody>
      </p:sp>
      <p:sp>
        <p:nvSpPr>
          <p:cNvPr id="5" name="takeaway 1"/>
          <p:cNvSpPr/>
          <p:nvPr/>
        </p:nvSpPr>
        <p:spPr>
          <a:xfrm>
            <a:off x="548640" y="3154680"/>
            <a:ext cx="2743200" cy="1600200"/>
          </a:xfrm>
          <a:prstGeom prst="rect">
            <a:avLst/>
          </a:prstGeom>
          <a:solidFill>
            <a:srgbClr val="FFFFFF">
              <a:alpha val="8000"/>
            </a:srgbClr>
          </a:solidFill>
          <a:ln w="12700">
            <a:solidFill>
              <a:srgbClr val="6B6A55"/>
            </a:solidFill>
            <a:prstDash val="solid"/>
          </a:ln>
        </p:spPr>
      </p:sp>
      <p:sp>
        <p:nvSpPr>
          <p:cNvPr id="6" name="Text 3"/>
          <p:cNvSpPr txBox="1"/>
          <p:nvPr/>
        </p:nvSpPr>
        <p:spPr>
          <a:xfrm>
            <a:off x="749808" y="3291840"/>
            <a:ext cx="2340864" cy="137160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DEFINITION</a:t>
            </a:r>
            <a:endParaRPr lang="en-US" sz="1200" dirty="0"/>
          </a:p>
          <a:p>
            <a:pPr indent="0" marL="0">
              <a:spcAft>
                <a:spcPts val="400"/>
              </a:spcAft>
              <a:buNone/>
            </a:pPr>
            <a:r>
              <a:rPr lang="en-US" sz="1500" dirty="0">
                <a:solidFill>
                  <a:srgbClr val="E9E3D2"/>
                </a:solidFill>
              </a:rPr>
              <a:t>AEY meets the UN test for an organized criminal group</a:t>
            </a:r>
            <a:endParaRPr lang="en-US" sz="1200" dirty="0"/>
          </a:p>
        </p:txBody>
      </p:sp>
      <p:sp>
        <p:nvSpPr>
          <p:cNvPr id="7" name="takeaway 2"/>
          <p:cNvSpPr/>
          <p:nvPr/>
        </p:nvSpPr>
        <p:spPr>
          <a:xfrm>
            <a:off x="3474720" y="3154680"/>
            <a:ext cx="2743200" cy="1600200"/>
          </a:xfrm>
          <a:prstGeom prst="rect">
            <a:avLst/>
          </a:prstGeom>
          <a:solidFill>
            <a:srgbClr val="FFFFFF">
              <a:alpha val="8000"/>
            </a:srgbClr>
          </a:solidFill>
          <a:ln w="12700">
            <a:solidFill>
              <a:srgbClr val="6B6A55"/>
            </a:solidFill>
            <a:prstDash val="solid"/>
          </a:ln>
        </p:spPr>
      </p:sp>
      <p:sp>
        <p:nvSpPr>
          <p:cNvPr id="8" name="Text 5"/>
          <p:cNvSpPr txBox="1"/>
          <p:nvPr/>
        </p:nvSpPr>
        <p:spPr>
          <a:xfrm>
            <a:off x="3675888" y="3291840"/>
            <a:ext cx="2340864" cy="137160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MODELS</a:t>
            </a:r>
            <a:endParaRPr lang="en-US" sz="1200" dirty="0"/>
          </a:p>
          <a:p>
            <a:pPr indent="0" marL="0">
              <a:spcAft>
                <a:spcPts val="400"/>
              </a:spcAft>
              <a:buNone/>
            </a:pPr>
            <a:r>
              <a:rPr lang="en-US" sz="1500" dirty="0">
                <a:solidFill>
                  <a:srgbClr val="E9E3D2"/>
                </a:solidFill>
              </a:rPr>
              <a:t>Enterprise and network models fit best; the mafia model does not</a:t>
            </a:r>
            <a:endParaRPr lang="en-US" sz="1200" dirty="0"/>
          </a:p>
        </p:txBody>
      </p:sp>
      <p:sp>
        <p:nvSpPr>
          <p:cNvPr id="9" name="takeaway 3"/>
          <p:cNvSpPr/>
          <p:nvPr/>
        </p:nvSpPr>
        <p:spPr>
          <a:xfrm>
            <a:off x="6400800" y="3154680"/>
            <a:ext cx="2743200" cy="1600200"/>
          </a:xfrm>
          <a:prstGeom prst="rect">
            <a:avLst/>
          </a:prstGeom>
          <a:solidFill>
            <a:srgbClr val="FFFFFF">
              <a:alpha val="8000"/>
            </a:srgbClr>
          </a:solidFill>
          <a:ln w="12700">
            <a:solidFill>
              <a:srgbClr val="6B6A55"/>
            </a:solidFill>
            <a:prstDash val="solid"/>
          </a:ln>
        </p:spPr>
      </p:sp>
      <p:sp>
        <p:nvSpPr>
          <p:cNvPr id="10" name="Text 7"/>
          <p:cNvSpPr txBox="1"/>
          <p:nvPr/>
        </p:nvSpPr>
        <p:spPr>
          <a:xfrm>
            <a:off x="6601968" y="3291840"/>
            <a:ext cx="2340864" cy="1371600"/>
          </a:xfrm>
          <a:prstGeom prst="rect">
            <a:avLst/>
          </a:prstGeom>
          <a:noFill/>
          <a:ln/>
        </p:spPr>
        <p:txBody>
          <a:bodyPr wrap="square" lIns="0" tIns="0" rIns="0" bIns="0" rtlCol="0" anchor="t"/>
          <a:lstStyle/>
          <a:p>
            <a:pPr indent="0" marL="0">
              <a:spcAft>
                <a:spcPts val="400"/>
              </a:spcAft>
              <a:buNone/>
            </a:pPr>
            <a:r>
              <a:rPr lang="en-US" sz="1200" b="1" dirty="0">
                <a:solidFill>
                  <a:srgbClr val="F4B23E"/>
                </a:solidFill>
                <a:latin typeface="Courier New" pitchFamily="34" charset="0"/>
                <a:ea typeface="Courier New" pitchFamily="34" charset="-122"/>
                <a:cs typeface="Courier New" pitchFamily="34" charset="-120"/>
              </a:rPr>
              <a:t>LESSON FOR BANGLADESH</a:t>
            </a:r>
            <a:endParaRPr lang="en-US" sz="1200" dirty="0"/>
          </a:p>
          <a:p>
            <a:pPr indent="0" marL="0">
              <a:spcAft>
                <a:spcPts val="400"/>
              </a:spcAft>
              <a:buNone/>
            </a:pPr>
            <a:r>
              <a:rPr lang="en-US" sz="1500" dirty="0">
                <a:solidFill>
                  <a:srgbClr val="E9E3D2"/>
                </a:solidFill>
              </a:rPr>
              <a:t>Vet contractors, disclose real owners, check where goods come from</a:t>
            </a:r>
            <a:endParaRPr lang="en-US" sz="1200" dirty="0"/>
          </a:p>
        </p:txBody>
      </p:sp>
      <p:sp>
        <p:nvSpPr>
          <p:cNvPr id="11" name="Text 8"/>
          <p:cNvSpPr txBox="1"/>
          <p:nvPr/>
        </p:nvSpPr>
        <p:spPr>
          <a:xfrm>
            <a:off x="548640" y="5212080"/>
            <a:ext cx="7315200" cy="548640"/>
          </a:xfrm>
          <a:prstGeom prst="rect">
            <a:avLst/>
          </a:prstGeom>
          <a:noFill/>
          <a:ln/>
        </p:spPr>
        <p:txBody>
          <a:bodyPr wrap="square" lIns="0" tIns="0" rIns="0" bIns="0" rtlCol="0" anchor="ctr"/>
          <a:lstStyle/>
          <a:p>
            <a:pPr indent="0" marL="0">
              <a:buNone/>
            </a:pPr>
            <a:r>
              <a:rPr lang="en-US" sz="2400" b="1" dirty="0">
                <a:solidFill>
                  <a:schemeClr val="bg1"/>
                </a:solidFill>
                <a:latin typeface="Arial Black" pitchFamily="34" charset="0"/>
                <a:ea typeface="Arial Black" pitchFamily="34" charset="-122"/>
                <a:cs typeface="Arial Black" pitchFamily="34" charset="-120"/>
              </a:rPr>
              <a:t>Thank you.  </a:t>
            </a:r>
            <a:pPr indent="0" marL="0">
              <a:buNone/>
            </a:pPr>
            <a:r>
              <a:rPr lang="en-US" sz="2400" b="1" dirty="0">
                <a:solidFill>
                  <a:srgbClr val="BDB59C"/>
                </a:solidFill>
                <a:latin typeface="Arial Black" pitchFamily="34" charset="0"/>
                <a:ea typeface="Arial Black" pitchFamily="34" charset="-122"/>
                <a:cs typeface="Arial Black" pitchFamily="34" charset="-120"/>
              </a:rPr>
              <a:t>Questions?</a:t>
            </a:r>
            <a:endParaRPr lang="en-US" sz="2400" dirty="0"/>
          </a:p>
        </p:txBody>
      </p:sp>
      <p:sp>
        <p:nvSpPr>
          <p:cNvPr id="12" name="Text 9"/>
          <p:cNvSpPr txBox="1"/>
          <p:nvPr/>
        </p:nvSpPr>
        <p:spPr>
          <a:xfrm>
            <a:off x="548640" y="5897880"/>
            <a:ext cx="7315200" cy="274320"/>
          </a:xfrm>
          <a:prstGeom prst="rect">
            <a:avLst/>
          </a:prstGeom>
          <a:noFill/>
          <a:ln/>
        </p:spPr>
        <p:txBody>
          <a:bodyPr wrap="square" lIns="0" tIns="0" rIns="0" bIns="0" rtlCol="0" anchor="ctr"/>
          <a:lstStyle/>
          <a:p>
            <a:pPr indent="0" marL="0">
              <a:buNone/>
            </a:pPr>
            <a:r>
              <a:rPr lang="en-US" sz="1100" b="1" dirty="0">
                <a:solidFill>
                  <a:srgbClr val="BDB59C"/>
                </a:solidFill>
                <a:latin typeface="Courier New" pitchFamily="34" charset="0"/>
                <a:ea typeface="Courier New" pitchFamily="34" charset="-122"/>
                <a:cs typeface="Courier New" pitchFamily="34" charset="-120"/>
              </a:rPr>
              <a:t>GROUP 6  //  ROLLS 27 · 8 · 37 · 33 · 24 · 21</a:t>
            </a:r>
            <a:endParaRPr lang="en-US" sz="1100" dirty="0"/>
          </a:p>
        </p:txBody>
      </p:sp>
    </p:spTree>
  </p:cSld>
  <p:clrMapOvr>
    <a:masterClrMapping/>
  </p:clrMapOvr>
</p:sld>
</file>

<file path=ppt/theme/theme1.xml><?xml version="1.0" encoding="utf-8"?>
<a:theme xmlns:a="http://schemas.openxmlformats.org/drawingml/2006/main" name="War Dogs Review">
  <a:themeElements>
    <a:clrScheme name="War Dogs Review">
      <a:dk1>
        <a:srgbClr val="23281C"/>
      </a:dk1>
      <a:lt1>
        <a:srgbClr val="FFFFFF"/>
      </a:lt1>
      <a:dk2>
        <a:srgbClr val="1B1D18"/>
      </a:dk2>
      <a:lt2>
        <a:srgbClr val="F1ECDF"/>
      </a:lt2>
      <a:accent1>
        <a:srgbClr val="D9480F"/>
      </a:accent1>
      <a:accent2>
        <a:srgbClr val="5B6B3A"/>
      </a:accent2>
      <a:accent3>
        <a:srgbClr val="C9A227"/>
      </a:accent3>
      <a:accent4>
        <a:srgbClr val="8C7A4B"/>
      </a:accent4>
      <a:accent5>
        <a:srgbClr val="3E4A2B"/>
      </a:accent5>
      <a:accent6>
        <a:srgbClr val="F4B23E"/>
      </a:accent6>
      <a:hlink>
        <a:srgbClr val="D9480F"/>
      </a:hlink>
      <a:folHlink>
        <a:srgbClr val="5B6B3A"/>
      </a:folHlink>
    </a:clrScheme>
    <a:fontScheme name="War Dogs Review">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(2016): Organized Crime and Corruption – Group 6</dc:title>
  <dc:subject>MCCJ 527 Organized Crime and Corruption</dc:subject>
  <dc:creator>PptxGenJS</dc:creator>
  <cp:lastModifiedBy>PptxGenJS</cp:lastModifiedBy>
  <cp:revision>1</cp:revision>
  <dcterms:created xsi:type="dcterms:W3CDTF">2026-10-17T17:12:49Z</dcterms:created>
  <dcterms:modified xsi:type="dcterms:W3CDTF">2026-10-17T17:12:49Z</dcterms:modified>
</cp:coreProperties>
</file>