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[Walk to the front like a confident startup founder.] Ladies and gentlemen, investors, thank you for coming. Our company is AEY Incorporated, of Miami Beach. We supply ammunition to the United States military, and this year we won a contract worth almost 300 million dollars.
[Drop the act. Point to the red stamp.] Good morning. We are Group 6, and that pitch was not real. Our film is War Dogs, from 2016. Today we let AEY pitch itself to you, slide by slide, the way a startup would. But every slide has been audited. In red, you will see what our criminology course says is really going on. Our audit question: is AEY a business, or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Slide two of every pitch: meet the founders. [Left card.] Efraim Diveroli, the CEO, still in his early twenties. He learned the arms trade through his uncle's business and bids for Pentagon contracts from his laptop. [Right card.] David Packouz, his childhood friend: a massage therapist, broke, with a baby on the way.
[Bottom strip.] The film was directed by Todd Phillips, with Jonah Hill and Miles Teller, and it is based on Guy Lawson's reporting, so these are real people.
[Audit panel.] Here is our audit scope. One question: is AEY a business or organized crime? And four tests from our course: definitions, theories, models, and corruption. Sweety, show them the problem AEY says it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 you, Nabin. Every pitch starts with a problem. AEY's problem sounds simple: the Pentagon is supplying two wars, it posts its tenders on a public website, and the big defence companies ignore the small orders. So there is money on the table.
[Point to the stamp.] But our auditors found a different problem: motive. Merton's strain theory says that when society sets a goal like wealth but blocks the legal means, some people innovate. David is broke and about to become a father. That is strain. Messner and Rosenfeld add that when money dominates, family values get pushed aside: David even lies to his partner about the work. And Sutherland's differential association: he learns the trade, and the excuses, from Efraim.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Next, the solution: bid on the crumbs. Step one, find tenders online. Step two, underbid the giants on small contracts. Step three, deliver, whatever it takes.
[Point to step three and the stamp.] "Whatever it takes" means this: a shipment of pistols for the Iraqi police gets stuck in Jordan, so the two of them fly to Amman and drive it through dangerous territory into Iraq themselves.
[Audit.] This is rational choice: a calculated gamble where the reward seemed worth the risk, and success encouraged bigger gambles. And it fits Smith's enterprise model: legal and illegal business sit on one spectrum, driven by the same market demand. AEY started legal and slid into the grey. Jakaria, tell them about our supplier.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 you, Sweety. Every startup needs a strategic partner. AEY's is Henry Girard, played by Bradley Cooper. He has access to about one hundred million rounds of ammunition sitting in old state depots in Albania. That is exactly what AEY needs for its big Afghan contract.
[Point to the red line and the stamp.] The auditor's red flag: Henry is on a terrorist watch list, so he cannot sell to the US government himself. He needs a clean American company as a front.
[Audit.] This is Morselli's network model: power belongs to brokers who connect worlds that cannot reach each other. It is also Albini's patron–client model: Henry gives access, AEY gives him a share. [Bottom note.] Henry is a composite, inspired by a real Swiss arms broker.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Now the money. AEY's pitch is simple: buy old stock cheaply, sell it at the contract price, and keep the margin. [Trace the bar.] But look at who takes a cut along the way: the supplier, the broker, and what we have politely labelled "local fees": officials and middlemen who control access to the state depots.
[Audit.] Transparency International defines corruption as the abuse of entrusted power for private gain. Klitgaard's formula explains why it grows here: corruption equals monopoly plus discretion minus accountability. Henry controls access, officials have discretion, and wartime oversight is weak.
[Bottom note.] And one real fact the film leaves out: in March 2008, an explosion at Albania's Gërdec ammunition depot killed 26 people. Imran, over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Here is the slide every investor should read twice: "operational innovation". AEY says it modernized the packaging, moving millions of rounds from old wooden crates into new cardboard boxes.
[Point to the stamp.] Our auditors call it fraud. The ammunition was made in China, and Chinese ammunition was banned by a US arms embargo and by the contract itself. The repacking removed the Chinese markings so the rounds could pass as Albanian. This really happened.
[Audit.] Sutherland called this white-collar crime: crime committed by respectable people in the course of their jobs. And Sykes and Matza explain how they live with it. "The troops still get working bullets" is denial of injury. "The government buys from shady sources too" is condemning the condemners.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And here is the slide every founder loves: traction. Two young men from a Miami apartment win a 298-million-dollar contract to supply ammunition to the Afghan National Army.
[Audit.] But this is where our audit asks its main question: is AEY organized crime? Let's apply the UN definition, Article 2 of the Convention against Transnational Organized Crime. A structured group of three or more people? Yes: Efraim, David, their financier, Henry and the suppliers. Existing over a period of time? Yes, years of contracts. Serious crime? Yes: fraud and false statements. For financial benefit? Clearly. And transnational? It crossed the US, Jordan, Iraq, Albania and Afghanistan. So, by the UN definition, yes. Akif, what about the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 you, Imran. Every pitch deck has a risk slide, and it is usually the one nobody reads. [Left column.] AEY's risks sound like boilerplate: media attention, regulatory scrutiny, partner disputes, legal exposure.
[Right column, red.] Our audit shows every single one came true. A press exposé in 2008, an Army suspension and indictments, a betrayal when Efraim cut Henry out, and finally the sentences: four years in prison for Efraim, seven months of house arrest for David.
[Audit panel.] Now the second test: Abadinsky's attributes of organized crime. AEY has no political goal, but it has no hierarchy, no exclusive membership, no code of rules, and it did not survive its leaders' arrest. So, by the classic test, AEY is not the mafia.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So where does AEY sit among criminal organizations? Here is the classic pitch-deck two-by-two. [Trace the axes.] Left to right: loose network to rigid hierarchy. Bottom to top: illegal front to legal front.
The mafia family, Cressey's model, sits bottom right: hierarchical and openly illegal. Trafficking networks sit bottom left. AEY sits top left: a legal company on the surface, run as a loose network.
[Audit.] So which model fits? Smith's enterprise model and Morselli's network model fit strongly. Albini's patron–client model fits partly. Cressey's hierarchy hardly fits at all. Our classification: organized white-collar crime, made possible by what Kramer and colleagues call state-corporate crime, a government outsourcing war to the lowest bidder. Nishit will give the final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Every audit ends with an opinion, and ours is on the film itself. Our opinion is "qualified": accurate in substance, exaggerated in style.
[Left.] What it gets right: it breaks the mafia stereotype and shows crime as a business with invoices and contracts. It fits the UN definition and the enterprise and network models. Its characters never see themselves as criminals. And the key facts are real: the contract, the repacking, the sentences.
[Right.] Our qualifications: the comedy makes the money look glamorous and the fraud look like an adventure. Henry is a composite. The film blames two young men more than the system that hired them. And the real victims, soldiers and taxpayers, barely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investors, here is our final audit opinion: do not invest. [Pause.]
Our answer to the question: AEY is organized crime under the UN definition, but it is not the mafia. It is organized white-collar crime, best explained by the enterprise and network models, and made possible by weak state oversight.
And the lesson for Bangladesh: our own large public purchases also depend on contractors and middlemen. Checking who really owns a company, where its goods come from, and who is taking a cut is not paperwork. It is crime prevention.
On behalf of Group 6,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530"/>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TCH">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47472"/>
            <a:ext cx="274320" cy="274320"/>
          </a:xfrm>
          <a:prstGeom prst="rect">
            <a:avLst/>
          </a:prstGeom>
          <a:solidFill>
            <a:srgbClr val="4F46E5"/>
          </a:solidFill>
          <a:ln/>
        </p:spPr>
      </p:sp>
      <p:sp>
        <p:nvSpPr>
          <p:cNvPr id="3" name="Text 1"/>
          <p:cNvSpPr/>
          <p:nvPr/>
        </p:nvSpPr>
        <p:spPr>
          <a:xfrm>
            <a:off x="548640" y="3474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4" name="Text 2"/>
          <p:cNvSpPr/>
          <p:nvPr/>
        </p:nvSpPr>
        <p:spPr>
          <a:xfrm>
            <a:off x="932688" y="347472"/>
            <a:ext cx="5486400" cy="274320"/>
          </a:xfrm>
          <a:prstGeom prst="rect">
            <a:avLst/>
          </a:prstGeom>
          <a:noFill/>
          <a:ln/>
        </p:spPr>
        <p:txBody>
          <a:bodyPr wrap="square" lIns="0" tIns="0" rIns="0" bIns="0" rtlCol="0" anchor="ctr"/>
          <a:lstStyle/>
          <a:p>
            <a:pPr indent="0" marL="0">
              <a:buNone/>
            </a:pPr>
            <a:r>
              <a:rPr lang="en-US" sz="1100" b="1" spc="200" kern="0" dirty="0">
                <a:solidFill>
                  <a:srgbClr val="98A2B3"/>
                </a:solidFill>
                <a:latin typeface="Arial" pitchFamily="34" charset="0"/>
                <a:ea typeface="Arial" pitchFamily="34" charset="-122"/>
                <a:cs typeface="Arial" pitchFamily="34" charset="-120"/>
              </a:rPr>
              <a:t>AEY INC.   ·   INVESTOR PITCH   ·   2007</a:t>
            </a:r>
            <a:endParaRPr lang="en-US" sz="1100" dirty="0"/>
          </a:p>
        </p:txBody>
      </p:sp>
      <p:sp>
        <p:nvSpPr>
          <p:cNvPr id="5" name="Text 3"/>
          <p:cNvSpPr/>
          <p:nvPr/>
        </p:nvSpPr>
        <p:spPr>
          <a:xfrm>
            <a:off x="7543800" y="347472"/>
            <a:ext cx="4099255" cy="274320"/>
          </a:xfrm>
          <a:prstGeom prst="rect">
            <a:avLst/>
          </a:prstGeom>
          <a:noFill/>
          <a:ln/>
        </p:spPr>
        <p:txBody>
          <a:bodyPr wrap="square" lIns="0" tIns="0" rIns="0" bIns="0" rtlCol="0" anchor="ctr"/>
          <a:lstStyle/>
          <a:p>
            <a:pPr algn="r" indent="0" marL="0">
              <a:buNone/>
            </a:pPr>
            <a:r>
              <a:rPr lang="en-US" sz="1100" b="1" spc="100" kern="0" dirty="0">
                <a:solidFill>
                  <a:srgbClr val="C8102E"/>
                </a:solidFill>
                <a:latin typeface="Courier New" pitchFamily="34" charset="0"/>
                <a:ea typeface="Courier New" pitchFamily="34" charset="-122"/>
                <a:cs typeface="Courier New" pitchFamily="34" charset="-120"/>
              </a:rPr>
              <a:t>AUDIT LAYER ADDED BY GROUP 6</a:t>
            </a:r>
            <a:endParaRPr lang="en-US" sz="1100" dirty="0"/>
          </a:p>
        </p:txBody>
      </p:sp>
      <p:sp>
        <p:nvSpPr>
          <p:cNvPr id="6" name="Text 4"/>
          <p:cNvSpPr/>
          <p:nvPr/>
        </p:nvSpPr>
        <p:spPr>
          <a:xfrm>
            <a:off x="548640" y="6446520"/>
            <a:ext cx="8229600" cy="201168"/>
          </a:xfrm>
          <a:prstGeom prst="rect">
            <a:avLst/>
          </a:prstGeom>
          <a:noFill/>
          <a:ln/>
        </p:spPr>
        <p:txBody>
          <a:bodyPr wrap="square" lIns="0" tIns="0" rIns="0" bIns="0" rtlCol="0" anchor="ctr"/>
          <a:lstStyle/>
          <a:p>
            <a:pPr indent="0" marL="0">
              <a:buNone/>
            </a:pPr>
            <a:r>
              <a:rPr lang="en-US" sz="900" b="1" dirty="0">
                <a:solidFill>
                  <a:srgbClr val="A0A7B4"/>
                </a:solidFill>
                <a:latin typeface="Arial" pitchFamily="34" charset="0"/>
                <a:ea typeface="Arial" pitchFamily="34" charset="-122"/>
                <a:cs typeface="Arial" pitchFamily="34" charset="-120"/>
              </a:rPr>
              <a:t>MCCJ 527  ·  GROUP 6  ·  WAR DOGS (2016): THE PITCH DECK, AUDITED</a:t>
            </a:r>
            <a:endParaRPr lang="en-US" sz="9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slideLayout" Target="../slideLayouts/slideLayout4.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4.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EY logo"/>
          <p:cNvSpPr/>
          <p:nvPr/>
        </p:nvSpPr>
        <p:spPr>
          <a:xfrm>
            <a:off x="548640" y="777240"/>
            <a:ext cx="868680" cy="868680"/>
          </a:xfrm>
          <a:prstGeom prst="rect">
            <a:avLst/>
          </a:prstGeom>
          <a:solidFill>
            <a:srgbClr val="4F46E5"/>
          </a:solidFill>
          <a:ln/>
        </p:spPr>
      </p:sp>
      <p:sp>
        <p:nvSpPr>
          <p:cNvPr id="3" name="Text 1"/>
          <p:cNvSpPr txBox="1"/>
          <p:nvPr/>
        </p:nvSpPr>
        <p:spPr>
          <a:xfrm>
            <a:off x="548640" y="777240"/>
            <a:ext cx="86868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AEY</a:t>
            </a:r>
            <a:endParaRPr lang="en-US" sz="2200" dirty="0"/>
          </a:p>
        </p:txBody>
      </p:sp>
      <p:sp>
        <p:nvSpPr>
          <p:cNvPr id="4" name="Text 2"/>
          <p:cNvSpPr txBox="1"/>
          <p:nvPr/>
        </p:nvSpPr>
        <p:spPr>
          <a:xfrm>
            <a:off x="548640" y="1783080"/>
            <a:ext cx="6858000" cy="1143000"/>
          </a:xfrm>
          <a:prstGeom prst="rect">
            <a:avLst/>
          </a:prstGeom>
          <a:noFill/>
          <a:ln/>
        </p:spPr>
        <p:txBody>
          <a:bodyPr wrap="square" lIns="0" tIns="0" rIns="0" bIns="0" rtlCol="0" anchor="ctr"/>
          <a:lstStyle/>
          <a:p>
            <a:pPr indent="0" marL="0">
              <a:buNone/>
            </a:pPr>
            <a:r>
              <a:rPr lang="en-US" sz="6600" b="1" dirty="0">
                <a:solidFill>
                  <a:srgbClr val="101828"/>
                </a:solidFill>
                <a:latin typeface="Arial" pitchFamily="34" charset="0"/>
                <a:ea typeface="Arial" pitchFamily="34" charset="-122"/>
                <a:cs typeface="Arial" pitchFamily="34" charset="-120"/>
              </a:rPr>
              <a:t>AEY Inc.</a:t>
            </a:r>
            <a:endParaRPr lang="en-US" sz="6600" dirty="0"/>
          </a:p>
        </p:txBody>
      </p:sp>
      <p:sp>
        <p:nvSpPr>
          <p:cNvPr id="5" name="Text 3"/>
          <p:cNvSpPr txBox="1"/>
          <p:nvPr/>
        </p:nvSpPr>
        <p:spPr>
          <a:xfrm>
            <a:off x="548640" y="2926080"/>
            <a:ext cx="7315200" cy="411480"/>
          </a:xfrm>
          <a:prstGeom prst="rect">
            <a:avLst/>
          </a:prstGeom>
          <a:noFill/>
          <a:ln/>
        </p:spPr>
        <p:txBody>
          <a:bodyPr wrap="square" lIns="0" tIns="0" rIns="0" bIns="0" rtlCol="0" anchor="ctr"/>
          <a:lstStyle/>
          <a:p>
            <a:pPr indent="0" marL="0">
              <a:buNone/>
            </a:pPr>
            <a:r>
              <a:rPr lang="en-US" sz="2000" dirty="0">
                <a:solidFill>
                  <a:srgbClr val="667085"/>
                </a:solidFill>
              </a:rPr>
              <a:t>Series A investor pitch  ·  Miami Beach  ·  2007</a:t>
            </a:r>
            <a:endParaRPr lang="en-US" sz="2000" dirty="0"/>
          </a:p>
        </p:txBody>
      </p:sp>
      <p:sp>
        <p:nvSpPr>
          <p:cNvPr id="6" name="Text 4"/>
          <p:cNvSpPr txBox="1"/>
          <p:nvPr/>
        </p:nvSpPr>
        <p:spPr>
          <a:xfrm>
            <a:off x="548640" y="3383280"/>
            <a:ext cx="7315200" cy="411480"/>
          </a:xfrm>
          <a:prstGeom prst="rect">
            <a:avLst/>
          </a:prstGeom>
          <a:noFill/>
          <a:ln/>
        </p:spPr>
        <p:txBody>
          <a:bodyPr wrap="square" lIns="0" tIns="0" rIns="0" bIns="0" rtlCol="0" anchor="ctr"/>
          <a:lstStyle/>
          <a:p>
            <a:pPr indent="0" marL="0">
              <a:buNone/>
            </a:pPr>
            <a:r>
              <a:rPr lang="en-US" sz="1800" i="1" dirty="0">
                <a:solidFill>
                  <a:srgbClr val="4F46E5"/>
                </a:solidFill>
              </a:rPr>
              <a:t>“Supplying the world’s militaries, one contract at a time.”</a:t>
            </a:r>
            <a:endParaRPr lang="en-US" sz="1800" dirty="0"/>
          </a:p>
        </p:txBody>
      </p:sp>
      <p:sp>
        <p:nvSpPr>
          <p:cNvPr id="7" name="audit stamp"/>
          <p:cNvSpPr txBox="1"/>
          <p:nvPr/>
        </p:nvSpPr>
        <p:spPr>
          <a:xfrm rot="-600000">
            <a:off x="6903720" y="1600200"/>
            <a:ext cx="4882896" cy="648208"/>
          </a:xfrm>
          <a:prstGeom prst="rect">
            <a:avLst/>
          </a:prstGeom>
          <a:noFill/>
          <a:ln w="38100">
            <a:solidFill>
              <a:srgbClr val="C8102E"/>
            </a:solidFill>
          </a:ln>
        </p:spPr>
        <p:txBody>
          <a:bodyPr wrap="square" lIns="0" tIns="0" rIns="0" bIns="0" rtlCol="0" anchor="ctr"/>
          <a:lstStyle/>
          <a:p>
            <a:pPr algn="ctr" indent="0" marL="0">
              <a:buNone/>
            </a:pPr>
            <a:r>
              <a:rPr lang="en-US" sz="2800" b="1" spc="100" kern="0" dirty="0">
                <a:solidFill>
                  <a:srgbClr val="C8102E"/>
                </a:solidFill>
                <a:latin typeface="Courier New" pitchFamily="34" charset="0"/>
                <a:ea typeface="Courier New" pitchFamily="34" charset="-122"/>
                <a:cs typeface="Courier New" pitchFamily="34" charset="-120"/>
              </a:rPr>
              <a:t>AUDITED BY GROUP 6</a:t>
            </a:r>
            <a:endParaRPr lang="en-US" sz="2800" dirty="0"/>
          </a:p>
        </p:txBody>
      </p:sp>
      <p:sp>
        <p:nvSpPr>
          <p:cNvPr id="8" name="Text 6"/>
          <p:cNvSpPr txBox="1"/>
          <p:nvPr/>
        </p:nvSpPr>
        <p:spPr>
          <a:xfrm>
            <a:off x="7223760" y="2743200"/>
            <a:ext cx="4389120" cy="365760"/>
          </a:xfrm>
          <a:prstGeom prst="rect">
            <a:avLst/>
          </a:prstGeom>
          <a:noFill/>
          <a:ln/>
        </p:spPr>
        <p:txBody>
          <a:bodyPr wrap="square" lIns="0" tIns="0" rIns="0" bIns="0" rtlCol="0" anchor="ctr"/>
          <a:lstStyle/>
          <a:p>
            <a:pPr algn="ctr" indent="0" marL="0">
              <a:buNone/>
            </a:pPr>
            <a:r>
              <a:rPr lang="en-US" sz="1200" b="1" dirty="0">
                <a:solidFill>
                  <a:srgbClr val="C8102E"/>
                </a:solidFill>
                <a:latin typeface="Courier New" pitchFamily="34" charset="0"/>
                <a:ea typeface="Courier New" pitchFamily="34" charset="-122"/>
                <a:cs typeface="Courier New" pitchFamily="34" charset="-120"/>
              </a:rPr>
              <a:t>Every claim checked against MCCJ 527 criminology</a:t>
            </a:r>
            <a:endParaRPr lang="en-US" sz="1200" dirty="0"/>
          </a:p>
        </p:txBody>
      </p:sp>
      <p:sp>
        <p:nvSpPr>
          <p:cNvPr id="9" name="team band"/>
          <p:cNvSpPr/>
          <p:nvPr/>
        </p:nvSpPr>
        <p:spPr>
          <a:xfrm>
            <a:off x="0" y="4251960"/>
            <a:ext cx="12191695" cy="2606040"/>
          </a:xfrm>
          <a:prstGeom prst="rect">
            <a:avLst/>
          </a:prstGeom>
          <a:solidFill>
            <a:srgbClr val="F5F6F8"/>
          </a:solidFill>
          <a:ln/>
        </p:spPr>
      </p:sp>
      <p:sp>
        <p:nvSpPr>
          <p:cNvPr id="10" name="Text 8"/>
          <p:cNvSpPr txBox="1"/>
          <p:nvPr/>
        </p:nvSpPr>
        <p:spPr>
          <a:xfrm>
            <a:off x="548640" y="4480560"/>
            <a:ext cx="82296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Arial" pitchFamily="34" charset="0"/>
                <a:ea typeface="Arial" pitchFamily="34" charset="-122"/>
                <a:cs typeface="Arial" pitchFamily="34" charset="-120"/>
              </a:rPr>
              <a:t>A CRIMINOLOGICAL AUDIT OF THE FILM WAR DOGS (2016)</a:t>
            </a:r>
            <a:endParaRPr lang="en-US" sz="1200" dirty="0"/>
          </a:p>
        </p:txBody>
      </p:sp>
      <p:sp>
        <p:nvSpPr>
          <p:cNvPr id="11" name="Text 9"/>
          <p:cNvSpPr txBox="1"/>
          <p:nvPr/>
        </p:nvSpPr>
        <p:spPr>
          <a:xfrm>
            <a:off x="548640" y="4773168"/>
            <a:ext cx="10058400" cy="274320"/>
          </a:xfrm>
          <a:prstGeom prst="rect">
            <a:avLst/>
          </a:prstGeom>
          <a:noFill/>
          <a:ln/>
        </p:spPr>
        <p:txBody>
          <a:bodyPr wrap="square" lIns="0" tIns="0" rIns="0" bIns="0" rtlCol="0" anchor="ctr"/>
          <a:lstStyle/>
          <a:p>
            <a:pPr indent="0" marL="0">
              <a:buNone/>
            </a:pPr>
            <a:r>
              <a:rPr lang="en-US" sz="1400" dirty="0">
                <a:solidFill>
                  <a:srgbClr val="667085"/>
                </a:solidFill>
              </a:rPr>
              <a:t>MCCJ 527 Organized Crime and Corruption  ·  Department of Criminology, University of Dhaka</a:t>
            </a:r>
            <a:endParaRPr lang="en-US" sz="1400" dirty="0"/>
          </a:p>
        </p:txBody>
      </p:sp>
      <p:sp>
        <p:nvSpPr>
          <p:cNvPr id="12" name="Text 10"/>
          <p:cNvSpPr txBox="1"/>
          <p:nvPr/>
        </p:nvSpPr>
        <p:spPr>
          <a:xfrm>
            <a:off x="548640" y="5212080"/>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27   </a:t>
            </a:r>
            <a:pPr indent="0" marL="0">
              <a:buNone/>
            </a:pPr>
            <a:r>
              <a:rPr lang="en-US" sz="1400" dirty="0">
                <a:solidFill>
                  <a:srgbClr val="101828"/>
                </a:solidFill>
              </a:rPr>
              <a:t>Minhaz Ahamed Khan Nabin</a:t>
            </a:r>
            <a:endParaRPr lang="en-US" sz="1400" dirty="0"/>
          </a:p>
        </p:txBody>
      </p:sp>
      <p:sp>
        <p:nvSpPr>
          <p:cNvPr id="13" name="Text 11"/>
          <p:cNvSpPr txBox="1"/>
          <p:nvPr/>
        </p:nvSpPr>
        <p:spPr>
          <a:xfrm>
            <a:off x="4251960" y="5212080"/>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08   </a:t>
            </a:r>
            <a:pPr indent="0" marL="0">
              <a:buNone/>
            </a:pPr>
            <a:r>
              <a:rPr lang="en-US" sz="1400" dirty="0">
                <a:solidFill>
                  <a:srgbClr val="101828"/>
                </a:solidFill>
              </a:rPr>
              <a:t>Jesmin Naher Sweety</a:t>
            </a:r>
            <a:endParaRPr lang="en-US" sz="1400" dirty="0"/>
          </a:p>
        </p:txBody>
      </p:sp>
      <p:sp>
        <p:nvSpPr>
          <p:cNvPr id="14" name="Text 12"/>
          <p:cNvSpPr txBox="1"/>
          <p:nvPr/>
        </p:nvSpPr>
        <p:spPr>
          <a:xfrm>
            <a:off x="7955280" y="5212080"/>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37   </a:t>
            </a:r>
            <a:pPr indent="0" marL="0">
              <a:buNone/>
            </a:pPr>
            <a:r>
              <a:rPr lang="en-US" sz="1400" dirty="0">
                <a:solidFill>
                  <a:srgbClr val="101828"/>
                </a:solidFill>
              </a:rPr>
              <a:t>Md. Abir Mahmud Jakaria</a:t>
            </a:r>
            <a:endParaRPr lang="en-US" sz="1400" dirty="0"/>
          </a:p>
        </p:txBody>
      </p:sp>
      <p:sp>
        <p:nvSpPr>
          <p:cNvPr id="15" name="Text 13"/>
          <p:cNvSpPr txBox="1"/>
          <p:nvPr/>
        </p:nvSpPr>
        <p:spPr>
          <a:xfrm>
            <a:off x="548640" y="5596128"/>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33   </a:t>
            </a:r>
            <a:pPr indent="0" marL="0">
              <a:buNone/>
            </a:pPr>
            <a:r>
              <a:rPr lang="en-US" sz="1400" dirty="0">
                <a:solidFill>
                  <a:srgbClr val="101828"/>
                </a:solidFill>
              </a:rPr>
              <a:t>Imran Mridha</a:t>
            </a:r>
            <a:endParaRPr lang="en-US" sz="1400" dirty="0"/>
          </a:p>
        </p:txBody>
      </p:sp>
      <p:sp>
        <p:nvSpPr>
          <p:cNvPr id="16" name="Text 14"/>
          <p:cNvSpPr txBox="1"/>
          <p:nvPr/>
        </p:nvSpPr>
        <p:spPr>
          <a:xfrm>
            <a:off x="4251960" y="5596128"/>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24   </a:t>
            </a:r>
            <a:pPr indent="0" marL="0">
              <a:buNone/>
            </a:pPr>
            <a:r>
              <a:rPr lang="en-US" sz="1400" dirty="0">
                <a:solidFill>
                  <a:srgbClr val="101828"/>
                </a:solidFill>
              </a:rPr>
              <a:t>Ahnaf Akif</a:t>
            </a:r>
            <a:endParaRPr lang="en-US" sz="1400" dirty="0"/>
          </a:p>
        </p:txBody>
      </p:sp>
      <p:sp>
        <p:nvSpPr>
          <p:cNvPr id="17" name="Text 15"/>
          <p:cNvSpPr txBox="1"/>
          <p:nvPr/>
        </p:nvSpPr>
        <p:spPr>
          <a:xfrm>
            <a:off x="7955280" y="5596128"/>
            <a:ext cx="3611880" cy="329184"/>
          </a:xfrm>
          <a:prstGeom prst="rect">
            <a:avLst/>
          </a:prstGeom>
          <a:noFill/>
          <a:ln/>
        </p:spPr>
        <p:txBody>
          <a:bodyPr wrap="square" lIns="0" tIns="0" rIns="0" bIns="0" rtlCol="0" anchor="ctr"/>
          <a:lstStyle/>
          <a:p>
            <a:pPr indent="0" marL="0">
              <a:buNone/>
            </a:pPr>
            <a:r>
              <a:rPr lang="en-US" sz="1400" b="1" dirty="0">
                <a:solidFill>
                  <a:srgbClr val="4F46E5"/>
                </a:solidFill>
                <a:latin typeface="Courier New" pitchFamily="34" charset="0"/>
                <a:ea typeface="Courier New" pitchFamily="34" charset="-122"/>
                <a:cs typeface="Courier New" pitchFamily="34" charset="-120"/>
              </a:rPr>
              <a:t>21   </a:t>
            </a:r>
            <a:pPr indent="0" marL="0">
              <a:buNone/>
            </a:pPr>
            <a:r>
              <a:rPr lang="en-US" sz="1400" dirty="0">
                <a:solidFill>
                  <a:srgbClr val="101828"/>
                </a:solidFill>
              </a:rPr>
              <a:t>Nishit Kumer</a:t>
            </a:r>
            <a:endParaRPr lang="en-US" sz="1400" dirty="0"/>
          </a:p>
        </p:txBody>
      </p:sp>
      <p:sp>
        <p:nvSpPr>
          <p:cNvPr id="18" name="Text 16"/>
          <p:cNvSpPr txBox="1"/>
          <p:nvPr/>
        </p:nvSpPr>
        <p:spPr>
          <a:xfrm>
            <a:off x="548640" y="6126480"/>
            <a:ext cx="10058400" cy="274320"/>
          </a:xfrm>
          <a:prstGeom prst="rect">
            <a:avLst/>
          </a:prstGeom>
          <a:noFill/>
          <a:ln/>
        </p:spPr>
        <p:txBody>
          <a:bodyPr wrap="square" lIns="0" tIns="0" rIns="0" bIns="0" rtlCol="0" anchor="ctr"/>
          <a:lstStyle/>
          <a:p>
            <a:pPr indent="0" marL="0">
              <a:buNone/>
            </a:pPr>
            <a:r>
              <a:rPr lang="en-US" sz="1200" i="1" dirty="0">
                <a:solidFill>
                  <a:srgbClr val="667085"/>
                </a:solidFill>
              </a:rPr>
              <a:t>Submitted to: Md. Rezaul Karim Shohag, Assistant Professor, Department of Criminology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THE FOUNDERS</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Meet the team: two friends from Miami Beach</a:t>
            </a:r>
            <a:endParaRPr lang="en-US" sz="2800" dirty="0"/>
          </a:p>
        </p:txBody>
      </p:sp>
      <p:sp>
        <p:nvSpPr>
          <p:cNvPr id="4" name="Efraim Diveroli"/>
          <p:cNvSpPr/>
          <p:nvPr/>
        </p:nvSpPr>
        <p:spPr>
          <a:xfrm>
            <a:off x="548640" y="2514600"/>
            <a:ext cx="3200400" cy="2468880"/>
          </a:xfrm>
          <a:prstGeom prst="rect">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5" name="Efraim Diveroli circle"/>
          <p:cNvSpPr/>
          <p:nvPr/>
        </p:nvSpPr>
        <p:spPr>
          <a:xfrm>
            <a:off x="777240" y="2743200"/>
            <a:ext cx="685800" cy="685800"/>
          </a:xfrm>
          <a:prstGeom prst="ellipse">
            <a:avLst/>
          </a:prstGeom>
          <a:solidFill>
            <a:srgbClr val="4F46E5"/>
          </a:solidFill>
          <a:ln/>
        </p:spPr>
      </p:sp>
      <p:pic>
        <p:nvPicPr>
          <p:cNvPr id="6" name="Efraim Diveroli icon" descr="Efraim Diveroli">    </p:cNvPr>
          <p:cNvPicPr>
            <a:picLocks noChangeAspect="1"/>
          </p:cNvPicPr>
          <p:nvPr/>
        </p:nvPicPr>
        <p:blipFill>
          <a:blip r:embed="rId1"/>
          <a:stretch>
            <a:fillRect/>
          </a:stretch>
        </p:blipFill>
        <p:spPr>
          <a:xfrm>
            <a:off x="948690" y="2914650"/>
            <a:ext cx="342900" cy="342900"/>
          </a:xfrm>
          <a:prstGeom prst="rect">
            <a:avLst/>
          </a:prstGeom>
        </p:spPr>
      </p:pic>
      <p:sp>
        <p:nvSpPr>
          <p:cNvPr id="7" name="Text 4"/>
          <p:cNvSpPr txBox="1"/>
          <p:nvPr/>
        </p:nvSpPr>
        <p:spPr>
          <a:xfrm>
            <a:off x="1600200" y="2743200"/>
            <a:ext cx="2011680" cy="685800"/>
          </a:xfrm>
          <a:prstGeom prst="rect">
            <a:avLst/>
          </a:prstGeom>
          <a:noFill/>
          <a:ln/>
        </p:spPr>
        <p:txBody>
          <a:bodyPr wrap="square" lIns="0" tIns="0" rIns="0" bIns="0" rtlCol="0" anchor="ctr"/>
          <a:lstStyle/>
          <a:p>
            <a:pPr indent="0" marL="0">
              <a:buNone/>
            </a:pPr>
            <a:r>
              <a:rPr lang="en-US" sz="1800" b="1" dirty="0">
                <a:solidFill>
                  <a:srgbClr val="101828"/>
                </a:solidFill>
                <a:latin typeface="Arial" pitchFamily="34" charset="0"/>
                <a:ea typeface="Arial" pitchFamily="34" charset="-122"/>
                <a:cs typeface="Arial" pitchFamily="34" charset="-120"/>
              </a:rPr>
              <a:t>Efraim Diveroli</a:t>
            </a:r>
            <a:endParaRPr lang="en-US" sz="1800" dirty="0"/>
          </a:p>
          <a:p>
            <a:pPr indent="0" marL="0">
              <a:buNone/>
            </a:pPr>
            <a:r>
              <a:rPr lang="en-US" sz="1200" b="1" dirty="0">
                <a:solidFill>
                  <a:srgbClr val="4F46E5"/>
                </a:solidFill>
              </a:rPr>
              <a:t>Founder &amp; CEO</a:t>
            </a:r>
            <a:endParaRPr lang="en-US" sz="1800" dirty="0"/>
          </a:p>
        </p:txBody>
      </p:sp>
      <p:sp>
        <p:nvSpPr>
          <p:cNvPr id="8" name="Text 5"/>
          <p:cNvSpPr txBox="1"/>
          <p:nvPr/>
        </p:nvSpPr>
        <p:spPr>
          <a:xfrm>
            <a:off x="777240" y="3611880"/>
            <a:ext cx="2743200" cy="1234440"/>
          </a:xfrm>
          <a:prstGeom prst="rect">
            <a:avLst/>
          </a:prstGeom>
          <a:noFill/>
          <a:ln/>
        </p:spPr>
        <p:txBody>
          <a:bodyPr wrap="square" lIns="0" tIns="0" rIns="0" bIns="0" rtlCol="0" anchor="t"/>
          <a:lstStyle/>
          <a:p>
            <a:pPr indent="0" marL="0">
              <a:buNone/>
            </a:pPr>
            <a:r>
              <a:rPr lang="en-US" sz="1400" dirty="0">
                <a:solidFill>
                  <a:srgbClr val="101828"/>
                </a:solidFill>
              </a:rPr>
              <a:t>Early twenties. Learned the arms trade through his uncle’s business, then started AEY and bid for Pentagon contracts from his laptop.</a:t>
            </a:r>
            <a:endParaRPr lang="en-US" sz="1400" dirty="0"/>
          </a:p>
        </p:txBody>
      </p:sp>
      <p:sp>
        <p:nvSpPr>
          <p:cNvPr id="9" name="David Packouz"/>
          <p:cNvSpPr/>
          <p:nvPr/>
        </p:nvSpPr>
        <p:spPr>
          <a:xfrm>
            <a:off x="4023360" y="2514600"/>
            <a:ext cx="3200400" cy="2468880"/>
          </a:xfrm>
          <a:prstGeom prst="rect">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10" name="David Packouz circle"/>
          <p:cNvSpPr/>
          <p:nvPr/>
        </p:nvSpPr>
        <p:spPr>
          <a:xfrm>
            <a:off x="4251960" y="2743200"/>
            <a:ext cx="685800" cy="685800"/>
          </a:xfrm>
          <a:prstGeom prst="ellipse">
            <a:avLst/>
          </a:prstGeom>
          <a:solidFill>
            <a:srgbClr val="7C83F2"/>
          </a:solidFill>
          <a:ln/>
        </p:spPr>
      </p:sp>
      <p:pic>
        <p:nvPicPr>
          <p:cNvPr id="11" name="David Packouz icon" descr="David Packouz">    </p:cNvPr>
          <p:cNvPicPr>
            <a:picLocks noChangeAspect="1"/>
          </p:cNvPicPr>
          <p:nvPr/>
        </p:nvPicPr>
        <p:blipFill>
          <a:blip r:embed="rId2"/>
          <a:stretch>
            <a:fillRect/>
          </a:stretch>
        </p:blipFill>
        <p:spPr>
          <a:xfrm>
            <a:off x="4423410" y="2914650"/>
            <a:ext cx="342900" cy="342900"/>
          </a:xfrm>
          <a:prstGeom prst="rect">
            <a:avLst/>
          </a:prstGeom>
        </p:spPr>
      </p:pic>
      <p:sp>
        <p:nvSpPr>
          <p:cNvPr id="12" name="Text 8"/>
          <p:cNvSpPr txBox="1"/>
          <p:nvPr/>
        </p:nvSpPr>
        <p:spPr>
          <a:xfrm>
            <a:off x="5074920" y="2743200"/>
            <a:ext cx="2011680" cy="685800"/>
          </a:xfrm>
          <a:prstGeom prst="rect">
            <a:avLst/>
          </a:prstGeom>
          <a:noFill/>
          <a:ln/>
        </p:spPr>
        <p:txBody>
          <a:bodyPr wrap="square" lIns="0" tIns="0" rIns="0" bIns="0" rtlCol="0" anchor="ctr"/>
          <a:lstStyle/>
          <a:p>
            <a:pPr indent="0" marL="0">
              <a:buNone/>
            </a:pPr>
            <a:r>
              <a:rPr lang="en-US" sz="1800" b="1" dirty="0">
                <a:solidFill>
                  <a:srgbClr val="101828"/>
                </a:solidFill>
                <a:latin typeface="Arial" pitchFamily="34" charset="0"/>
                <a:ea typeface="Arial" pitchFamily="34" charset="-122"/>
                <a:cs typeface="Arial" pitchFamily="34" charset="-120"/>
              </a:rPr>
              <a:t>David Packouz</a:t>
            </a:r>
            <a:endParaRPr lang="en-US" sz="1800" dirty="0"/>
          </a:p>
          <a:p>
            <a:pPr indent="0" marL="0">
              <a:buNone/>
            </a:pPr>
            <a:r>
              <a:rPr lang="en-US" sz="1200" b="1" dirty="0">
                <a:solidFill>
                  <a:srgbClr val="4F46E5"/>
                </a:solidFill>
              </a:rPr>
              <a:t>Partner</a:t>
            </a:r>
            <a:endParaRPr lang="en-US" sz="1800" dirty="0"/>
          </a:p>
        </p:txBody>
      </p:sp>
      <p:sp>
        <p:nvSpPr>
          <p:cNvPr id="13" name="Text 9"/>
          <p:cNvSpPr txBox="1"/>
          <p:nvPr/>
        </p:nvSpPr>
        <p:spPr>
          <a:xfrm>
            <a:off x="4251960" y="3611880"/>
            <a:ext cx="2743200" cy="1234440"/>
          </a:xfrm>
          <a:prstGeom prst="rect">
            <a:avLst/>
          </a:prstGeom>
          <a:noFill/>
          <a:ln/>
        </p:spPr>
        <p:txBody>
          <a:bodyPr wrap="square" lIns="0" tIns="0" rIns="0" bIns="0" rtlCol="0" anchor="t"/>
          <a:lstStyle/>
          <a:p>
            <a:pPr indent="0" marL="0">
              <a:buNone/>
            </a:pPr>
            <a:r>
              <a:rPr lang="en-US" sz="1400" dirty="0">
                <a:solidFill>
                  <a:srgbClr val="101828"/>
                </a:solidFill>
              </a:rPr>
              <a:t>A massage therapist, broke, with a baby on the way. Joins his childhood friend for one reason: the money.</a:t>
            </a:r>
            <a:endParaRPr lang="en-US" sz="1400" dirty="0"/>
          </a:p>
        </p:txBody>
      </p:sp>
      <p:sp>
        <p:nvSpPr>
          <p:cNvPr id="14" name="film strip"/>
          <p:cNvSpPr/>
          <p:nvPr/>
        </p:nvSpPr>
        <p:spPr>
          <a:xfrm>
            <a:off x="548640" y="5212080"/>
            <a:ext cx="6675120" cy="777240"/>
          </a:xfrm>
          <a:prstGeom prst="rect">
            <a:avLst/>
          </a:prstGeom>
          <a:solidFill>
            <a:srgbClr val="F5F6F8"/>
          </a:solidFill>
          <a:ln/>
        </p:spPr>
      </p:sp>
      <p:pic>
        <p:nvPicPr>
          <p:cNvPr id="15" name="film icon" descr="Film">    </p:cNvPr>
          <p:cNvPicPr>
            <a:picLocks noChangeAspect="1"/>
          </p:cNvPicPr>
          <p:nvPr/>
        </p:nvPicPr>
        <p:blipFill>
          <a:blip r:embed="rId3"/>
          <a:stretch>
            <a:fillRect/>
          </a:stretch>
        </p:blipFill>
        <p:spPr>
          <a:xfrm>
            <a:off x="749808" y="5422392"/>
            <a:ext cx="347472" cy="347472"/>
          </a:xfrm>
          <a:prstGeom prst="rect">
            <a:avLst/>
          </a:prstGeom>
        </p:spPr>
      </p:pic>
      <p:sp>
        <p:nvSpPr>
          <p:cNvPr id="16" name="Text 11"/>
          <p:cNvSpPr txBox="1"/>
          <p:nvPr/>
        </p:nvSpPr>
        <p:spPr>
          <a:xfrm>
            <a:off x="1280160" y="5212080"/>
            <a:ext cx="5806440" cy="777240"/>
          </a:xfrm>
          <a:prstGeom prst="rect">
            <a:avLst/>
          </a:prstGeom>
          <a:noFill/>
          <a:ln/>
        </p:spPr>
        <p:txBody>
          <a:bodyPr wrap="square" lIns="0" tIns="0" rIns="0" bIns="0" rtlCol="0" anchor="ctr"/>
          <a:lstStyle/>
          <a:p>
            <a:pPr indent="0" marL="0">
              <a:buNone/>
            </a:pPr>
            <a:r>
              <a:rPr lang="en-US" sz="1300" b="1" dirty="0">
                <a:solidFill>
                  <a:srgbClr val="101828"/>
                </a:solidFill>
              </a:rPr>
              <a:t>The film: </a:t>
            </a:r>
            <a:pPr indent="0" marL="0">
              <a:buNone/>
            </a:pPr>
            <a:r>
              <a:rPr lang="en-US" sz="1300" dirty="0">
                <a:solidFill>
                  <a:srgbClr val="101828"/>
                </a:solidFill>
              </a:rPr>
              <a:t>War Dogs (2016), dir. Todd Phillips, with Jonah Hill, Miles Teller, Ana de Armas and Bradley Cooper. Based on Guy Lawson’s reporting (2011, 2015).</a:t>
            </a:r>
            <a:endParaRPr lang="en-US" sz="1300" dirty="0"/>
          </a:p>
        </p:txBody>
      </p:sp>
      <p:sp>
        <p:nvSpPr>
          <p:cNvPr id="17"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8" name="audit rule"/>
          <p:cNvSpPr/>
          <p:nvPr/>
        </p:nvSpPr>
        <p:spPr>
          <a:xfrm>
            <a:off x="7543800" y="868680"/>
            <a:ext cx="73152" cy="5349240"/>
          </a:xfrm>
          <a:prstGeom prst="rect">
            <a:avLst/>
          </a:prstGeom>
          <a:solidFill>
            <a:srgbClr val="C8102E"/>
          </a:solidFill>
          <a:ln/>
        </p:spPr>
      </p:sp>
      <p:sp>
        <p:nvSpPr>
          <p:cNvPr id="19" name="audit circle"/>
          <p:cNvSpPr/>
          <p:nvPr/>
        </p:nvSpPr>
        <p:spPr>
          <a:xfrm>
            <a:off x="7818120" y="1069848"/>
            <a:ext cx="420624" cy="420624"/>
          </a:xfrm>
          <a:prstGeom prst="ellipse">
            <a:avLst/>
          </a:prstGeom>
          <a:solidFill>
            <a:srgbClr val="C8102E"/>
          </a:solidFill>
          <a:ln/>
        </p:spPr>
      </p:sp>
      <p:pic>
        <p:nvPicPr>
          <p:cNvPr id="20" name="audit icon" descr="audit">    </p:cNvPr>
          <p:cNvPicPr>
            <a:picLocks noChangeAspect="1"/>
          </p:cNvPicPr>
          <p:nvPr/>
        </p:nvPicPr>
        <p:blipFill>
          <a:blip r:embed="rId4"/>
          <a:stretch>
            <a:fillRect/>
          </a:stretch>
        </p:blipFill>
        <p:spPr>
          <a:xfrm>
            <a:off x="7923276" y="1175004"/>
            <a:ext cx="210312" cy="210312"/>
          </a:xfrm>
          <a:prstGeom prst="rect">
            <a:avLst/>
          </a:prstGeom>
        </p:spPr>
      </p:pic>
      <p:sp>
        <p:nvSpPr>
          <p:cNvPr id="21" name="Text 15"/>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01</a:t>
            </a:r>
            <a:endParaRPr lang="en-US" sz="1300" dirty="0"/>
          </a:p>
        </p:txBody>
      </p:sp>
      <p:sp>
        <p:nvSpPr>
          <p:cNvPr id="22" name="Text 16"/>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Audit scope: one question, four tests</a:t>
            </a:r>
            <a:endParaRPr lang="en-US" sz="1900" dirty="0"/>
          </a:p>
        </p:txBody>
      </p:sp>
      <p:sp>
        <p:nvSpPr>
          <p:cNvPr id="23" name="Text 17"/>
          <p:cNvSpPr txBox="1"/>
          <p:nvPr/>
        </p:nvSpPr>
        <p:spPr>
          <a:xfrm>
            <a:off x="7818120" y="2560320"/>
            <a:ext cx="3596335" cy="457200"/>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Is AEY a business, or organized crime?</a:t>
            </a:r>
            <a:endParaRPr lang="en-US" sz="1500" dirty="0"/>
          </a:p>
        </p:txBody>
      </p:sp>
      <p:sp>
        <p:nvSpPr>
          <p:cNvPr id="24" name="Text 18"/>
          <p:cNvSpPr txBox="1"/>
          <p:nvPr/>
        </p:nvSpPr>
        <p:spPr>
          <a:xfrm>
            <a:off x="7818120" y="3154680"/>
            <a:ext cx="365760" cy="365760"/>
          </a:xfrm>
          <a:prstGeom prst="rect">
            <a:avLst/>
          </a:prstGeom>
          <a:noFill/>
          <a:ln/>
        </p:spPr>
        <p:txBody>
          <a:bodyPr wrap="square" lIns="0" tIns="0" rIns="0" bIns="0" rtlCol="0" anchor="t"/>
          <a:lstStyle/>
          <a:p>
            <a:pPr indent="0" marL="0">
              <a:buNone/>
            </a:pPr>
            <a:r>
              <a:rPr lang="en-US" sz="1800" b="1" dirty="0">
                <a:solidFill>
                  <a:srgbClr val="C8102E"/>
                </a:solidFill>
                <a:latin typeface="Courier New" pitchFamily="34" charset="0"/>
                <a:ea typeface="Courier New" pitchFamily="34" charset="-122"/>
                <a:cs typeface="Courier New" pitchFamily="34" charset="-120"/>
              </a:rPr>
              <a:t>1</a:t>
            </a:r>
            <a:endParaRPr lang="en-US" sz="1800" dirty="0"/>
          </a:p>
        </p:txBody>
      </p:sp>
      <p:sp>
        <p:nvSpPr>
          <p:cNvPr id="25" name="Text 19"/>
          <p:cNvSpPr txBox="1"/>
          <p:nvPr/>
        </p:nvSpPr>
        <p:spPr>
          <a:xfrm>
            <a:off x="8229600" y="3154680"/>
            <a:ext cx="3184855" cy="658368"/>
          </a:xfrm>
          <a:prstGeom prst="rect">
            <a:avLst/>
          </a:prstGeom>
          <a:noFill/>
          <a:ln/>
        </p:spPr>
        <p:txBody>
          <a:bodyPr wrap="square" lIns="0" tIns="0" rIns="0" bIns="0" rtlCol="0" anchor="t"/>
          <a:lstStyle/>
          <a:p>
            <a:pPr indent="0" marL="0">
              <a:buNone/>
            </a:pPr>
            <a:r>
              <a:rPr lang="en-US" sz="1450" b="1" dirty="0">
                <a:solidFill>
                  <a:srgbClr val="101828"/>
                </a:solidFill>
              </a:rPr>
              <a:t>Definitions</a:t>
            </a:r>
            <a:endParaRPr lang="en-US" sz="1450" dirty="0"/>
          </a:p>
          <a:p>
            <a:pPr indent="0" marL="0">
              <a:buNone/>
            </a:pPr>
            <a:r>
              <a:rPr lang="en-US" sz="1250" dirty="0">
                <a:solidFill>
                  <a:srgbClr val="667085"/>
                </a:solidFill>
              </a:rPr>
              <a:t>UNTOC Article 2; Abadinsky</a:t>
            </a:r>
            <a:endParaRPr lang="en-US" sz="1450" dirty="0"/>
          </a:p>
        </p:txBody>
      </p:sp>
      <p:sp>
        <p:nvSpPr>
          <p:cNvPr id="26" name="Text 20"/>
          <p:cNvSpPr txBox="1"/>
          <p:nvPr/>
        </p:nvSpPr>
        <p:spPr>
          <a:xfrm>
            <a:off x="7818120" y="3867912"/>
            <a:ext cx="365760" cy="365760"/>
          </a:xfrm>
          <a:prstGeom prst="rect">
            <a:avLst/>
          </a:prstGeom>
          <a:noFill/>
          <a:ln/>
        </p:spPr>
        <p:txBody>
          <a:bodyPr wrap="square" lIns="0" tIns="0" rIns="0" bIns="0" rtlCol="0" anchor="t"/>
          <a:lstStyle/>
          <a:p>
            <a:pPr indent="0" marL="0">
              <a:buNone/>
            </a:pPr>
            <a:r>
              <a:rPr lang="en-US" sz="1800" b="1" dirty="0">
                <a:solidFill>
                  <a:srgbClr val="C8102E"/>
                </a:solidFill>
                <a:latin typeface="Courier New" pitchFamily="34" charset="0"/>
                <a:ea typeface="Courier New" pitchFamily="34" charset="-122"/>
                <a:cs typeface="Courier New" pitchFamily="34" charset="-120"/>
              </a:rPr>
              <a:t>2</a:t>
            </a:r>
            <a:endParaRPr lang="en-US" sz="1800" dirty="0"/>
          </a:p>
        </p:txBody>
      </p:sp>
      <p:sp>
        <p:nvSpPr>
          <p:cNvPr id="27" name="Text 21"/>
          <p:cNvSpPr txBox="1"/>
          <p:nvPr/>
        </p:nvSpPr>
        <p:spPr>
          <a:xfrm>
            <a:off x="8229600" y="3867912"/>
            <a:ext cx="3184855" cy="658368"/>
          </a:xfrm>
          <a:prstGeom prst="rect">
            <a:avLst/>
          </a:prstGeom>
          <a:noFill/>
          <a:ln/>
        </p:spPr>
        <p:txBody>
          <a:bodyPr wrap="square" lIns="0" tIns="0" rIns="0" bIns="0" rtlCol="0" anchor="t"/>
          <a:lstStyle/>
          <a:p>
            <a:pPr indent="0" marL="0">
              <a:buNone/>
            </a:pPr>
            <a:r>
              <a:rPr lang="en-US" sz="1450" b="1" dirty="0">
                <a:solidFill>
                  <a:srgbClr val="101828"/>
                </a:solidFill>
              </a:rPr>
              <a:t>Theories</a:t>
            </a:r>
            <a:endParaRPr lang="en-US" sz="1450" dirty="0"/>
          </a:p>
          <a:p>
            <a:pPr indent="0" marL="0">
              <a:buNone/>
            </a:pPr>
            <a:r>
              <a:rPr lang="en-US" sz="1250" dirty="0">
                <a:solidFill>
                  <a:srgbClr val="667085"/>
                </a:solidFill>
              </a:rPr>
              <a:t>Strain, differential association, rational choice, neutralization</a:t>
            </a:r>
            <a:endParaRPr lang="en-US" sz="1450" dirty="0"/>
          </a:p>
        </p:txBody>
      </p:sp>
      <p:sp>
        <p:nvSpPr>
          <p:cNvPr id="28" name="Text 22"/>
          <p:cNvSpPr txBox="1"/>
          <p:nvPr/>
        </p:nvSpPr>
        <p:spPr>
          <a:xfrm>
            <a:off x="7818120" y="4581144"/>
            <a:ext cx="365760" cy="365760"/>
          </a:xfrm>
          <a:prstGeom prst="rect">
            <a:avLst/>
          </a:prstGeom>
          <a:noFill/>
          <a:ln/>
        </p:spPr>
        <p:txBody>
          <a:bodyPr wrap="square" lIns="0" tIns="0" rIns="0" bIns="0" rtlCol="0" anchor="t"/>
          <a:lstStyle/>
          <a:p>
            <a:pPr indent="0" marL="0">
              <a:buNone/>
            </a:pPr>
            <a:r>
              <a:rPr lang="en-US" sz="1800" b="1" dirty="0">
                <a:solidFill>
                  <a:srgbClr val="C8102E"/>
                </a:solidFill>
                <a:latin typeface="Courier New" pitchFamily="34" charset="0"/>
                <a:ea typeface="Courier New" pitchFamily="34" charset="-122"/>
                <a:cs typeface="Courier New" pitchFamily="34" charset="-120"/>
              </a:rPr>
              <a:t>3</a:t>
            </a:r>
            <a:endParaRPr lang="en-US" sz="1800" dirty="0"/>
          </a:p>
        </p:txBody>
      </p:sp>
      <p:sp>
        <p:nvSpPr>
          <p:cNvPr id="29" name="Text 23"/>
          <p:cNvSpPr txBox="1"/>
          <p:nvPr/>
        </p:nvSpPr>
        <p:spPr>
          <a:xfrm>
            <a:off x="8229600" y="4581144"/>
            <a:ext cx="3184855" cy="658368"/>
          </a:xfrm>
          <a:prstGeom prst="rect">
            <a:avLst/>
          </a:prstGeom>
          <a:noFill/>
          <a:ln/>
        </p:spPr>
        <p:txBody>
          <a:bodyPr wrap="square" lIns="0" tIns="0" rIns="0" bIns="0" rtlCol="0" anchor="t"/>
          <a:lstStyle/>
          <a:p>
            <a:pPr indent="0" marL="0">
              <a:buNone/>
            </a:pPr>
            <a:r>
              <a:rPr lang="en-US" sz="1450" b="1" dirty="0">
                <a:solidFill>
                  <a:srgbClr val="101828"/>
                </a:solidFill>
              </a:rPr>
              <a:t>Models</a:t>
            </a:r>
            <a:endParaRPr lang="en-US" sz="1450" dirty="0"/>
          </a:p>
          <a:p>
            <a:pPr indent="0" marL="0">
              <a:buNone/>
            </a:pPr>
            <a:r>
              <a:rPr lang="en-US" sz="1250" dirty="0">
                <a:solidFill>
                  <a:srgbClr val="667085"/>
                </a:solidFill>
              </a:rPr>
              <a:t>Hierarchical, patron–client, enterprise, network</a:t>
            </a:r>
            <a:endParaRPr lang="en-US" sz="1450" dirty="0"/>
          </a:p>
        </p:txBody>
      </p:sp>
      <p:sp>
        <p:nvSpPr>
          <p:cNvPr id="30" name="Text 24"/>
          <p:cNvSpPr txBox="1"/>
          <p:nvPr/>
        </p:nvSpPr>
        <p:spPr>
          <a:xfrm>
            <a:off x="7818120" y="5294376"/>
            <a:ext cx="365760" cy="365760"/>
          </a:xfrm>
          <a:prstGeom prst="rect">
            <a:avLst/>
          </a:prstGeom>
          <a:noFill/>
          <a:ln/>
        </p:spPr>
        <p:txBody>
          <a:bodyPr wrap="square" lIns="0" tIns="0" rIns="0" bIns="0" rtlCol="0" anchor="t"/>
          <a:lstStyle/>
          <a:p>
            <a:pPr indent="0" marL="0">
              <a:buNone/>
            </a:pPr>
            <a:r>
              <a:rPr lang="en-US" sz="1800" b="1" dirty="0">
                <a:solidFill>
                  <a:srgbClr val="C8102E"/>
                </a:solidFill>
                <a:latin typeface="Courier New" pitchFamily="34" charset="0"/>
                <a:ea typeface="Courier New" pitchFamily="34" charset="-122"/>
                <a:cs typeface="Courier New" pitchFamily="34" charset="-120"/>
              </a:rPr>
              <a:t>4</a:t>
            </a:r>
            <a:endParaRPr lang="en-US" sz="1800" dirty="0"/>
          </a:p>
        </p:txBody>
      </p:sp>
      <p:sp>
        <p:nvSpPr>
          <p:cNvPr id="31" name="Text 25"/>
          <p:cNvSpPr txBox="1"/>
          <p:nvPr/>
        </p:nvSpPr>
        <p:spPr>
          <a:xfrm>
            <a:off x="8229600" y="5294376"/>
            <a:ext cx="3184855" cy="658368"/>
          </a:xfrm>
          <a:prstGeom prst="rect">
            <a:avLst/>
          </a:prstGeom>
          <a:noFill/>
          <a:ln/>
        </p:spPr>
        <p:txBody>
          <a:bodyPr wrap="square" lIns="0" tIns="0" rIns="0" bIns="0" rtlCol="0" anchor="t"/>
          <a:lstStyle/>
          <a:p>
            <a:pPr indent="0" marL="0">
              <a:buNone/>
            </a:pPr>
            <a:r>
              <a:rPr lang="en-US" sz="1450" b="1" dirty="0">
                <a:solidFill>
                  <a:srgbClr val="101828"/>
                </a:solidFill>
              </a:rPr>
              <a:t>Corruption</a:t>
            </a:r>
            <a:endParaRPr lang="en-US" sz="1450" dirty="0"/>
          </a:p>
          <a:p>
            <a:pPr indent="0" marL="0">
              <a:buNone/>
            </a:pPr>
            <a:r>
              <a:rPr lang="en-US" sz="1250" dirty="0">
                <a:solidFill>
                  <a:srgbClr val="667085"/>
                </a:solidFill>
              </a:rPr>
              <a:t>Transparency International; Klitgaard</a:t>
            </a:r>
            <a:endParaRPr lang="en-US" sz="145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THE PROBLEM</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The Pentagon needs supplies fast, and the giants ignore the small orders</a:t>
            </a:r>
            <a:endParaRPr lang="en-US" sz="2800" dirty="0"/>
          </a:p>
        </p:txBody>
      </p:sp>
      <p:sp>
        <p:nvSpPr>
          <p:cNvPr id="4" name="2 wars"/>
          <p:cNvSpPr/>
          <p:nvPr/>
        </p:nvSpPr>
        <p:spPr>
          <a:xfrm>
            <a:off x="548640" y="2606040"/>
            <a:ext cx="2103120" cy="1965960"/>
          </a:xfrm>
          <a:prstGeom prst="roundRect">
            <a:avLst>
              <a:gd name="adj" fmla="val 3721"/>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5" name="Text 3"/>
          <p:cNvSpPr txBox="1"/>
          <p:nvPr/>
        </p:nvSpPr>
        <p:spPr>
          <a:xfrm>
            <a:off x="777240" y="2788920"/>
            <a:ext cx="1645920" cy="594360"/>
          </a:xfrm>
          <a:prstGeom prst="rect">
            <a:avLst/>
          </a:prstGeom>
          <a:noFill/>
          <a:ln/>
        </p:spPr>
        <p:txBody>
          <a:bodyPr wrap="square" lIns="0" tIns="0" rIns="0" bIns="0" rtlCol="0" anchor="ctr"/>
          <a:lstStyle/>
          <a:p>
            <a:pPr indent="0" marL="0">
              <a:buNone/>
            </a:pPr>
            <a:r>
              <a:rPr lang="en-US" sz="2800" b="1" dirty="0">
                <a:solidFill>
                  <a:srgbClr val="4F46E5"/>
                </a:solidFill>
                <a:latin typeface="Arial" pitchFamily="34" charset="0"/>
                <a:ea typeface="Arial" pitchFamily="34" charset="-122"/>
                <a:cs typeface="Arial" pitchFamily="34" charset="-120"/>
              </a:rPr>
              <a:t>2 wars</a:t>
            </a:r>
            <a:endParaRPr lang="en-US" sz="2800" dirty="0"/>
          </a:p>
        </p:txBody>
      </p:sp>
      <p:sp>
        <p:nvSpPr>
          <p:cNvPr id="6" name="Text 4"/>
          <p:cNvSpPr txBox="1"/>
          <p:nvPr/>
        </p:nvSpPr>
        <p:spPr>
          <a:xfrm>
            <a:off x="777240" y="3429000"/>
            <a:ext cx="1645920" cy="1005840"/>
          </a:xfrm>
          <a:prstGeom prst="rect">
            <a:avLst/>
          </a:prstGeom>
          <a:noFill/>
          <a:ln/>
        </p:spPr>
        <p:txBody>
          <a:bodyPr wrap="square" lIns="0" tIns="0" rIns="0" bIns="0" rtlCol="0" anchor="t"/>
          <a:lstStyle/>
          <a:p>
            <a:pPr indent="0" marL="0">
              <a:buNone/>
            </a:pPr>
            <a:r>
              <a:rPr lang="en-US" sz="1400" dirty="0">
                <a:solidFill>
                  <a:srgbClr val="101828"/>
                </a:solidFill>
              </a:rPr>
              <a:t>Iraq and Afghanistan need weapons and ammunition, fast</a:t>
            </a:r>
            <a:endParaRPr lang="en-US" sz="1400" dirty="0"/>
          </a:p>
        </p:txBody>
      </p:sp>
      <p:sp>
        <p:nvSpPr>
          <p:cNvPr id="7" name="Online"/>
          <p:cNvSpPr/>
          <p:nvPr/>
        </p:nvSpPr>
        <p:spPr>
          <a:xfrm>
            <a:off x="2834640" y="2606040"/>
            <a:ext cx="2103120" cy="1965960"/>
          </a:xfrm>
          <a:prstGeom prst="roundRect">
            <a:avLst>
              <a:gd name="adj" fmla="val 3721"/>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8" name="Text 6"/>
          <p:cNvSpPr txBox="1"/>
          <p:nvPr/>
        </p:nvSpPr>
        <p:spPr>
          <a:xfrm>
            <a:off x="3063240" y="2788920"/>
            <a:ext cx="1645920" cy="594360"/>
          </a:xfrm>
          <a:prstGeom prst="rect">
            <a:avLst/>
          </a:prstGeom>
          <a:noFill/>
          <a:ln/>
        </p:spPr>
        <p:txBody>
          <a:bodyPr wrap="square" lIns="0" tIns="0" rIns="0" bIns="0" rtlCol="0" anchor="ctr"/>
          <a:lstStyle/>
          <a:p>
            <a:pPr indent="0" marL="0">
              <a:buNone/>
            </a:pPr>
            <a:r>
              <a:rPr lang="en-US" sz="2800" b="1" dirty="0">
                <a:solidFill>
                  <a:srgbClr val="4F46E5"/>
                </a:solidFill>
                <a:latin typeface="Arial" pitchFamily="34" charset="0"/>
                <a:ea typeface="Arial" pitchFamily="34" charset="-122"/>
                <a:cs typeface="Arial" pitchFamily="34" charset="-120"/>
              </a:rPr>
              <a:t>Online</a:t>
            </a:r>
            <a:endParaRPr lang="en-US" sz="2800" dirty="0"/>
          </a:p>
        </p:txBody>
      </p:sp>
      <p:sp>
        <p:nvSpPr>
          <p:cNvPr id="9" name="Text 7"/>
          <p:cNvSpPr txBox="1"/>
          <p:nvPr/>
        </p:nvSpPr>
        <p:spPr>
          <a:xfrm>
            <a:off x="3063240" y="3429000"/>
            <a:ext cx="1645920" cy="1005840"/>
          </a:xfrm>
          <a:prstGeom prst="rect">
            <a:avLst/>
          </a:prstGeom>
          <a:noFill/>
          <a:ln/>
        </p:spPr>
        <p:txBody>
          <a:bodyPr wrap="square" lIns="0" tIns="0" rIns="0" bIns="0" rtlCol="0" anchor="t"/>
          <a:lstStyle/>
          <a:p>
            <a:pPr indent="0" marL="0">
              <a:buNone/>
            </a:pPr>
            <a:r>
              <a:rPr lang="en-US" sz="1400" dirty="0">
                <a:solidFill>
                  <a:srgbClr val="101828"/>
                </a:solidFill>
              </a:rPr>
              <a:t>Pentagon tenders are posted on a public website</a:t>
            </a:r>
            <a:endParaRPr lang="en-US" sz="1400" dirty="0"/>
          </a:p>
        </p:txBody>
      </p:sp>
      <p:sp>
        <p:nvSpPr>
          <p:cNvPr id="10" name="Ignored"/>
          <p:cNvSpPr/>
          <p:nvPr/>
        </p:nvSpPr>
        <p:spPr>
          <a:xfrm>
            <a:off x="5120640" y="2606040"/>
            <a:ext cx="2103120" cy="1965960"/>
          </a:xfrm>
          <a:prstGeom prst="roundRect">
            <a:avLst>
              <a:gd name="adj" fmla="val 3721"/>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11" name="Text 9"/>
          <p:cNvSpPr txBox="1"/>
          <p:nvPr/>
        </p:nvSpPr>
        <p:spPr>
          <a:xfrm>
            <a:off x="5349240" y="2788920"/>
            <a:ext cx="1645920" cy="594360"/>
          </a:xfrm>
          <a:prstGeom prst="rect">
            <a:avLst/>
          </a:prstGeom>
          <a:noFill/>
          <a:ln/>
        </p:spPr>
        <p:txBody>
          <a:bodyPr wrap="square" lIns="0" tIns="0" rIns="0" bIns="0" rtlCol="0" anchor="ctr"/>
          <a:lstStyle/>
          <a:p>
            <a:pPr indent="0" marL="0">
              <a:buNone/>
            </a:pPr>
            <a:r>
              <a:rPr lang="en-US" sz="2800" b="1" dirty="0">
                <a:solidFill>
                  <a:srgbClr val="4F46E5"/>
                </a:solidFill>
                <a:latin typeface="Arial" pitchFamily="34" charset="0"/>
                <a:ea typeface="Arial" pitchFamily="34" charset="-122"/>
                <a:cs typeface="Arial" pitchFamily="34" charset="-120"/>
              </a:rPr>
              <a:t>Ignored</a:t>
            </a:r>
            <a:endParaRPr lang="en-US" sz="2800" dirty="0"/>
          </a:p>
        </p:txBody>
      </p:sp>
      <p:sp>
        <p:nvSpPr>
          <p:cNvPr id="12" name="Text 10"/>
          <p:cNvSpPr txBox="1"/>
          <p:nvPr/>
        </p:nvSpPr>
        <p:spPr>
          <a:xfrm>
            <a:off x="5349240" y="3429000"/>
            <a:ext cx="1645920" cy="1005840"/>
          </a:xfrm>
          <a:prstGeom prst="rect">
            <a:avLst/>
          </a:prstGeom>
          <a:noFill/>
          <a:ln/>
        </p:spPr>
        <p:txBody>
          <a:bodyPr wrap="square" lIns="0" tIns="0" rIns="0" bIns="0" rtlCol="0" anchor="t"/>
          <a:lstStyle/>
          <a:p>
            <a:pPr indent="0" marL="0">
              <a:buNone/>
            </a:pPr>
            <a:r>
              <a:rPr lang="en-US" sz="1400" dirty="0">
                <a:solidFill>
                  <a:srgbClr val="101828"/>
                </a:solidFill>
              </a:rPr>
              <a:t>Big defence firms skip the small contracts</a:t>
            </a:r>
            <a:endParaRPr lang="en-US" sz="1400" dirty="0"/>
          </a:p>
        </p:txBody>
      </p:sp>
      <p:pic>
        <p:nvPicPr>
          <p:cNvPr id="13" name="growth icon" descr="Opportunity">    </p:cNvPr>
          <p:cNvPicPr>
            <a:picLocks noChangeAspect="1"/>
          </p:cNvPicPr>
          <p:nvPr/>
        </p:nvPicPr>
        <p:blipFill>
          <a:blip r:embed="rId1"/>
          <a:stretch>
            <a:fillRect/>
          </a:stretch>
        </p:blipFill>
        <p:spPr>
          <a:xfrm>
            <a:off x="548640" y="4864608"/>
            <a:ext cx="365760" cy="365760"/>
          </a:xfrm>
          <a:prstGeom prst="rect">
            <a:avLst/>
          </a:prstGeom>
        </p:spPr>
      </p:pic>
      <p:sp>
        <p:nvSpPr>
          <p:cNvPr id="14" name="Text 11"/>
          <p:cNvSpPr txBox="1"/>
          <p:nvPr/>
        </p:nvSpPr>
        <p:spPr>
          <a:xfrm>
            <a:off x="1051560" y="4800600"/>
            <a:ext cx="6217920" cy="502920"/>
          </a:xfrm>
          <a:prstGeom prst="rect">
            <a:avLst/>
          </a:prstGeom>
          <a:noFill/>
          <a:ln/>
        </p:spPr>
        <p:txBody>
          <a:bodyPr wrap="square" lIns="0" tIns="0" rIns="0" bIns="0" rtlCol="0" anchor="ctr"/>
          <a:lstStyle/>
          <a:p>
            <a:pPr indent="0" marL="0">
              <a:buNone/>
            </a:pPr>
            <a:r>
              <a:rPr lang="en-US" sz="1700" b="1" i="1" dirty="0">
                <a:solidFill>
                  <a:srgbClr val="101828"/>
                </a:solidFill>
              </a:rPr>
              <a:t>Our opportunity: win the crumbs, one small contract at a time.</a:t>
            </a:r>
            <a:endParaRPr lang="en-US" sz="1700" dirty="0"/>
          </a:p>
        </p:txBody>
      </p:sp>
      <p:sp>
        <p:nvSpPr>
          <p:cNvPr id="15" name="audit stamp"/>
          <p:cNvSpPr txBox="1"/>
          <p:nvPr/>
        </p:nvSpPr>
        <p:spPr>
          <a:xfrm rot="-300000">
            <a:off x="3108960" y="5440680"/>
            <a:ext cx="3484880" cy="495808"/>
          </a:xfrm>
          <a:prstGeom prst="rect">
            <a:avLst/>
          </a:prstGeom>
          <a:noFill/>
          <a:ln w="38100">
            <a:solidFill>
              <a:srgbClr val="C8102E"/>
            </a:solidFill>
          </a:ln>
        </p:spPr>
        <p:txBody>
          <a:bodyPr wrap="square" lIns="0" tIns="0" rIns="0" bIns="0" rtlCol="0" anchor="ctr"/>
          <a:lstStyle/>
          <a:p>
            <a:pPr algn="ctr" indent="0" marL="0">
              <a:buNone/>
            </a:pPr>
            <a:r>
              <a:rPr lang="en-US" sz="1600" b="1" spc="100" kern="0" dirty="0">
                <a:solidFill>
                  <a:srgbClr val="C8102E"/>
                </a:solidFill>
                <a:latin typeface="Courier New" pitchFamily="34" charset="0"/>
                <a:ea typeface="Courier New" pitchFamily="34" charset="-122"/>
                <a:cs typeface="Courier New" pitchFamily="34" charset="-120"/>
              </a:rPr>
              <a:t>REAL PROBLEM: MOTIVE</a:t>
            </a:r>
            <a:endParaRPr lang="en-US" sz="1600" dirty="0"/>
          </a:p>
        </p:txBody>
      </p:sp>
      <p:sp>
        <p:nvSpPr>
          <p:cNvPr id="16"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7" name="audit rule"/>
          <p:cNvSpPr/>
          <p:nvPr/>
        </p:nvSpPr>
        <p:spPr>
          <a:xfrm>
            <a:off x="7543800" y="868680"/>
            <a:ext cx="73152" cy="5349240"/>
          </a:xfrm>
          <a:prstGeom prst="rect">
            <a:avLst/>
          </a:prstGeom>
          <a:solidFill>
            <a:srgbClr val="C8102E"/>
          </a:solidFill>
          <a:ln/>
        </p:spPr>
      </p:sp>
      <p:sp>
        <p:nvSpPr>
          <p:cNvPr id="18" name="audit circle"/>
          <p:cNvSpPr/>
          <p:nvPr/>
        </p:nvSpPr>
        <p:spPr>
          <a:xfrm>
            <a:off x="7818120" y="1069848"/>
            <a:ext cx="420624" cy="420624"/>
          </a:xfrm>
          <a:prstGeom prst="ellipse">
            <a:avLst/>
          </a:prstGeom>
          <a:solidFill>
            <a:srgbClr val="C8102E"/>
          </a:solidFill>
          <a:ln/>
        </p:spPr>
      </p:sp>
      <p:pic>
        <p:nvPicPr>
          <p:cNvPr id="19" name="audit icon" descr="audit">    </p:cNvPr>
          <p:cNvPicPr>
            <a:picLocks noChangeAspect="1"/>
          </p:cNvPicPr>
          <p:nvPr/>
        </p:nvPicPr>
        <p:blipFill>
          <a:blip r:embed="rId2"/>
          <a:stretch>
            <a:fillRect/>
          </a:stretch>
        </p:blipFill>
        <p:spPr>
          <a:xfrm>
            <a:off x="7923276" y="1175004"/>
            <a:ext cx="210312" cy="210312"/>
          </a:xfrm>
          <a:prstGeom prst="rect">
            <a:avLst/>
          </a:prstGeom>
        </p:spPr>
      </p:pic>
      <p:sp>
        <p:nvSpPr>
          <p:cNvPr id="20" name="Text 16"/>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02</a:t>
            </a:r>
            <a:endParaRPr lang="en-US" sz="1300" dirty="0"/>
          </a:p>
        </p:txBody>
      </p:sp>
      <p:sp>
        <p:nvSpPr>
          <p:cNvPr id="21" name="Text 17"/>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The real problem is motive, not supply</a:t>
            </a:r>
            <a:endParaRPr lang="en-US" sz="1900" dirty="0"/>
          </a:p>
        </p:txBody>
      </p:sp>
      <p:sp>
        <p:nvSpPr>
          <p:cNvPr id="22" name="Text 18"/>
          <p:cNvSpPr txBox="1"/>
          <p:nvPr/>
        </p:nvSpPr>
        <p:spPr>
          <a:xfrm>
            <a:off x="7818120" y="2560320"/>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Strain and institutional anomie</a:t>
            </a:r>
            <a:endParaRPr lang="en-US" sz="1500" dirty="0"/>
          </a:p>
          <a:p>
            <a:pPr indent="0" marL="0">
              <a:buNone/>
            </a:pPr>
            <a:r>
              <a:rPr lang="en-US" sz="1100" i="1" dirty="0">
                <a:solidFill>
                  <a:srgbClr val="667085"/>
                </a:solidFill>
              </a:rPr>
              <a:t>Merton (1938); Messner &amp; Rosenfeld (1994)</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David wants wealth but has no legal way to reach it, so he “innovates”. Money starts to override family: he lies to his partner about the work.</a:t>
            </a:r>
            <a:endParaRPr lang="en-US" sz="1500" dirty="0"/>
          </a:p>
        </p:txBody>
      </p:sp>
      <p:sp>
        <p:nvSpPr>
          <p:cNvPr id="23" name="audit divider"/>
          <p:cNvSpPr/>
          <p:nvPr/>
        </p:nvSpPr>
        <p:spPr>
          <a:xfrm>
            <a:off x="7818120" y="4297680"/>
            <a:ext cx="3596335" cy="0"/>
          </a:xfrm>
          <a:prstGeom prst="line">
            <a:avLst/>
          </a:prstGeom>
          <a:noFill/>
          <a:ln w="12700">
            <a:solidFill>
              <a:srgbClr val="F2C4C4"/>
            </a:solidFill>
            <a:prstDash val="solid"/>
          </a:ln>
        </p:spPr>
      </p:sp>
      <p:sp>
        <p:nvSpPr>
          <p:cNvPr id="24" name="Text 20"/>
          <p:cNvSpPr txBox="1"/>
          <p:nvPr/>
        </p:nvSpPr>
        <p:spPr>
          <a:xfrm>
            <a:off x="7818120" y="4379976"/>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Differential association</a:t>
            </a:r>
            <a:endParaRPr lang="en-US" sz="1500" dirty="0"/>
          </a:p>
          <a:p>
            <a:pPr indent="0" marL="0">
              <a:buNone/>
            </a:pPr>
            <a:r>
              <a:rPr lang="en-US" sz="1100" i="1" dirty="0">
                <a:solidFill>
                  <a:srgbClr val="667085"/>
                </a:solidFill>
              </a:rPr>
              <a:t>Sutherland (1947)</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Crime is learned in close groups. David learns both the methods and the excuses of the trade from Efraim.</a:t>
            </a:r>
            <a:endParaRPr lang="en-US" sz="15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OUR SOLUTION</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Bid on the crumbs. Underbid the giants. Deliver, whatever it takes.</a:t>
            </a:r>
            <a:endParaRPr lang="en-US" sz="2800" dirty="0"/>
          </a:p>
        </p:txBody>
      </p:sp>
      <p:sp>
        <p:nvSpPr>
          <p:cNvPr id="4" name="FIND"/>
          <p:cNvSpPr/>
          <p:nvPr/>
        </p:nvSpPr>
        <p:spPr>
          <a:xfrm>
            <a:off x="548640" y="2606040"/>
            <a:ext cx="1874520" cy="2514600"/>
          </a:xfrm>
          <a:prstGeom prst="roundRect">
            <a:avLst>
              <a:gd name="adj" fmla="val 3902"/>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5" name="FIND circle"/>
          <p:cNvSpPr/>
          <p:nvPr/>
        </p:nvSpPr>
        <p:spPr>
          <a:xfrm>
            <a:off x="777240" y="2816352"/>
            <a:ext cx="640080" cy="640080"/>
          </a:xfrm>
          <a:prstGeom prst="ellipse">
            <a:avLst/>
          </a:prstGeom>
          <a:solidFill>
            <a:srgbClr val="4F46E5"/>
          </a:solidFill>
          <a:ln/>
        </p:spPr>
      </p:sp>
      <p:pic>
        <p:nvPicPr>
          <p:cNvPr id="6" name="FIND icon" descr="FIND">    </p:cNvPr>
          <p:cNvPicPr>
            <a:picLocks noChangeAspect="1"/>
          </p:cNvPicPr>
          <p:nvPr/>
        </p:nvPicPr>
        <p:blipFill>
          <a:blip r:embed="rId1"/>
          <a:stretch>
            <a:fillRect/>
          </a:stretch>
        </p:blipFill>
        <p:spPr>
          <a:xfrm>
            <a:off x="937260" y="2976372"/>
            <a:ext cx="320040" cy="320040"/>
          </a:xfrm>
          <a:prstGeom prst="rect">
            <a:avLst/>
          </a:prstGeom>
        </p:spPr>
      </p:pic>
      <p:sp>
        <p:nvSpPr>
          <p:cNvPr id="7" name="Text 4"/>
          <p:cNvSpPr txBox="1"/>
          <p:nvPr/>
        </p:nvSpPr>
        <p:spPr>
          <a:xfrm>
            <a:off x="1737360" y="2816352"/>
            <a:ext cx="457200" cy="640080"/>
          </a:xfrm>
          <a:prstGeom prst="rect">
            <a:avLst/>
          </a:prstGeom>
          <a:noFill/>
          <a:ln/>
        </p:spPr>
        <p:txBody>
          <a:bodyPr wrap="square" lIns="0" tIns="0" rIns="0" bIns="0" rtlCol="0" anchor="ctr"/>
          <a:lstStyle/>
          <a:p>
            <a:pPr algn="r" indent="0" marL="0">
              <a:buNone/>
            </a:pPr>
            <a:r>
              <a:rPr lang="en-US" sz="3000" b="1" dirty="0">
                <a:solidFill>
                  <a:srgbClr val="D0D5DD"/>
                </a:solidFill>
                <a:latin typeface="Arial" pitchFamily="34" charset="0"/>
                <a:ea typeface="Arial" pitchFamily="34" charset="-122"/>
                <a:cs typeface="Arial" pitchFamily="34" charset="-120"/>
              </a:rPr>
              <a:t>1</a:t>
            </a:r>
            <a:endParaRPr lang="en-US" sz="3000" dirty="0"/>
          </a:p>
        </p:txBody>
      </p:sp>
      <p:sp>
        <p:nvSpPr>
          <p:cNvPr id="8" name="Text 5"/>
          <p:cNvSpPr txBox="1"/>
          <p:nvPr/>
        </p:nvSpPr>
        <p:spPr>
          <a:xfrm>
            <a:off x="777240" y="3611880"/>
            <a:ext cx="1417320" cy="365760"/>
          </a:xfrm>
          <a:prstGeom prst="rect">
            <a:avLst/>
          </a:prstGeom>
          <a:noFill/>
          <a:ln/>
        </p:spPr>
        <p:txBody>
          <a:bodyPr wrap="square" lIns="0" tIns="0" rIns="0" bIns="0" rtlCol="0" anchor="ctr"/>
          <a:lstStyle/>
          <a:p>
            <a:pPr indent="0" marL="0">
              <a:buNone/>
            </a:pPr>
            <a:r>
              <a:rPr lang="en-US" sz="1500" b="1" spc="200" kern="0" dirty="0">
                <a:solidFill>
                  <a:srgbClr val="4F46E5"/>
                </a:solidFill>
                <a:latin typeface="Arial" pitchFamily="34" charset="0"/>
                <a:ea typeface="Arial" pitchFamily="34" charset="-122"/>
                <a:cs typeface="Arial" pitchFamily="34" charset="-120"/>
              </a:rPr>
              <a:t>FIND</a:t>
            </a:r>
            <a:endParaRPr lang="en-US" sz="1500" dirty="0"/>
          </a:p>
        </p:txBody>
      </p:sp>
      <p:sp>
        <p:nvSpPr>
          <p:cNvPr id="9" name="Text 6"/>
          <p:cNvSpPr txBox="1"/>
          <p:nvPr/>
        </p:nvSpPr>
        <p:spPr>
          <a:xfrm>
            <a:off x="777240" y="4005072"/>
            <a:ext cx="1508760" cy="1051560"/>
          </a:xfrm>
          <a:prstGeom prst="rect">
            <a:avLst/>
          </a:prstGeom>
          <a:noFill/>
          <a:ln/>
        </p:spPr>
        <p:txBody>
          <a:bodyPr wrap="square" lIns="0" tIns="0" rIns="0" bIns="0" rtlCol="0" anchor="t"/>
          <a:lstStyle/>
          <a:p>
            <a:pPr indent="0" marL="0">
              <a:buNone/>
            </a:pPr>
            <a:r>
              <a:rPr lang="en-US" sz="1350" dirty="0">
                <a:solidFill>
                  <a:srgbClr val="101828"/>
                </a:solidFill>
              </a:rPr>
              <a:t>Scan the government’s public tender website every day</a:t>
            </a:r>
            <a:endParaRPr lang="en-US" sz="1350" dirty="0"/>
          </a:p>
        </p:txBody>
      </p:sp>
      <p:pic>
        <p:nvPicPr>
          <p:cNvPr id="10" name="flow arrow" descr="preencoded.png">    </p:cNvPr>
          <p:cNvPicPr>
            <a:picLocks noChangeAspect="1"/>
          </p:cNvPicPr>
          <p:nvPr/>
        </p:nvPicPr>
        <p:blipFill>
          <a:blip r:embed="rId2"/>
          <a:stretch>
            <a:fillRect/>
          </a:stretch>
        </p:blipFill>
        <p:spPr>
          <a:xfrm>
            <a:off x="2542032" y="3657600"/>
            <a:ext cx="292608" cy="292608"/>
          </a:xfrm>
          <a:prstGeom prst="rect">
            <a:avLst/>
          </a:prstGeom>
        </p:spPr>
      </p:pic>
      <p:sp>
        <p:nvSpPr>
          <p:cNvPr id="11" name="UNDERBID"/>
          <p:cNvSpPr/>
          <p:nvPr/>
        </p:nvSpPr>
        <p:spPr>
          <a:xfrm>
            <a:off x="2948940" y="2606040"/>
            <a:ext cx="1874520" cy="2514600"/>
          </a:xfrm>
          <a:prstGeom prst="roundRect">
            <a:avLst>
              <a:gd name="adj" fmla="val 3902"/>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12" name="UNDERBID circle"/>
          <p:cNvSpPr/>
          <p:nvPr/>
        </p:nvSpPr>
        <p:spPr>
          <a:xfrm>
            <a:off x="3177540" y="2816352"/>
            <a:ext cx="640080" cy="640080"/>
          </a:xfrm>
          <a:prstGeom prst="ellipse">
            <a:avLst/>
          </a:prstGeom>
          <a:solidFill>
            <a:srgbClr val="4F46E5"/>
          </a:solidFill>
          <a:ln/>
        </p:spPr>
      </p:sp>
      <p:pic>
        <p:nvPicPr>
          <p:cNvPr id="13" name="UNDERBID icon" descr="UNDERBID">    </p:cNvPr>
          <p:cNvPicPr>
            <a:picLocks noChangeAspect="1"/>
          </p:cNvPicPr>
          <p:nvPr/>
        </p:nvPicPr>
        <p:blipFill>
          <a:blip r:embed="rId3"/>
          <a:stretch>
            <a:fillRect/>
          </a:stretch>
        </p:blipFill>
        <p:spPr>
          <a:xfrm>
            <a:off x="3337560" y="2976372"/>
            <a:ext cx="320040" cy="320040"/>
          </a:xfrm>
          <a:prstGeom prst="rect">
            <a:avLst/>
          </a:prstGeom>
        </p:spPr>
      </p:pic>
      <p:sp>
        <p:nvSpPr>
          <p:cNvPr id="14" name="Text 9"/>
          <p:cNvSpPr txBox="1"/>
          <p:nvPr/>
        </p:nvSpPr>
        <p:spPr>
          <a:xfrm>
            <a:off x="4137660" y="2816352"/>
            <a:ext cx="457200" cy="640080"/>
          </a:xfrm>
          <a:prstGeom prst="rect">
            <a:avLst/>
          </a:prstGeom>
          <a:noFill/>
          <a:ln/>
        </p:spPr>
        <p:txBody>
          <a:bodyPr wrap="square" lIns="0" tIns="0" rIns="0" bIns="0" rtlCol="0" anchor="ctr"/>
          <a:lstStyle/>
          <a:p>
            <a:pPr algn="r" indent="0" marL="0">
              <a:buNone/>
            </a:pPr>
            <a:r>
              <a:rPr lang="en-US" sz="3000" b="1" dirty="0">
                <a:solidFill>
                  <a:srgbClr val="D0D5DD"/>
                </a:solidFill>
                <a:latin typeface="Arial" pitchFamily="34" charset="0"/>
                <a:ea typeface="Arial" pitchFamily="34" charset="-122"/>
                <a:cs typeface="Arial" pitchFamily="34" charset="-120"/>
              </a:rPr>
              <a:t>2</a:t>
            </a:r>
            <a:endParaRPr lang="en-US" sz="3000" dirty="0"/>
          </a:p>
        </p:txBody>
      </p:sp>
      <p:sp>
        <p:nvSpPr>
          <p:cNvPr id="15" name="Text 10"/>
          <p:cNvSpPr txBox="1"/>
          <p:nvPr/>
        </p:nvSpPr>
        <p:spPr>
          <a:xfrm>
            <a:off x="3177540" y="3611880"/>
            <a:ext cx="1417320" cy="365760"/>
          </a:xfrm>
          <a:prstGeom prst="rect">
            <a:avLst/>
          </a:prstGeom>
          <a:noFill/>
          <a:ln/>
        </p:spPr>
        <p:txBody>
          <a:bodyPr wrap="square" lIns="0" tIns="0" rIns="0" bIns="0" rtlCol="0" anchor="ctr"/>
          <a:lstStyle/>
          <a:p>
            <a:pPr indent="0" marL="0">
              <a:buNone/>
            </a:pPr>
            <a:r>
              <a:rPr lang="en-US" sz="1500" b="1" spc="200" kern="0" dirty="0">
                <a:solidFill>
                  <a:srgbClr val="4F46E5"/>
                </a:solidFill>
                <a:latin typeface="Arial" pitchFamily="34" charset="0"/>
                <a:ea typeface="Arial" pitchFamily="34" charset="-122"/>
                <a:cs typeface="Arial" pitchFamily="34" charset="-120"/>
              </a:rPr>
              <a:t>UNDERBID</a:t>
            </a:r>
            <a:endParaRPr lang="en-US" sz="1500" dirty="0"/>
          </a:p>
        </p:txBody>
      </p:sp>
      <p:sp>
        <p:nvSpPr>
          <p:cNvPr id="16" name="Text 11"/>
          <p:cNvSpPr txBox="1"/>
          <p:nvPr/>
        </p:nvSpPr>
        <p:spPr>
          <a:xfrm>
            <a:off x="3177540" y="4005072"/>
            <a:ext cx="1508760" cy="1051560"/>
          </a:xfrm>
          <a:prstGeom prst="rect">
            <a:avLst/>
          </a:prstGeom>
          <a:noFill/>
          <a:ln/>
        </p:spPr>
        <p:txBody>
          <a:bodyPr wrap="square" lIns="0" tIns="0" rIns="0" bIns="0" rtlCol="0" anchor="t"/>
          <a:lstStyle/>
          <a:p>
            <a:pPr indent="0" marL="0">
              <a:buNone/>
            </a:pPr>
            <a:r>
              <a:rPr lang="en-US" sz="1350" dirty="0">
                <a:solidFill>
                  <a:srgbClr val="101828"/>
                </a:solidFill>
              </a:rPr>
              <a:t>Offer lower prices than the big firms on small orders</a:t>
            </a:r>
            <a:endParaRPr lang="en-US" sz="1350" dirty="0"/>
          </a:p>
        </p:txBody>
      </p:sp>
      <p:pic>
        <p:nvPicPr>
          <p:cNvPr id="17" name="flow arrow" descr="preencoded.png">    </p:cNvPr>
          <p:cNvPicPr>
            <a:picLocks noChangeAspect="1"/>
          </p:cNvPicPr>
          <p:nvPr/>
        </p:nvPicPr>
        <p:blipFill>
          <a:blip r:embed="rId4"/>
          <a:stretch>
            <a:fillRect/>
          </a:stretch>
        </p:blipFill>
        <p:spPr>
          <a:xfrm>
            <a:off x="4942332" y="3657600"/>
            <a:ext cx="292608" cy="292608"/>
          </a:xfrm>
          <a:prstGeom prst="rect">
            <a:avLst/>
          </a:prstGeom>
        </p:spPr>
      </p:pic>
      <p:sp>
        <p:nvSpPr>
          <p:cNvPr id="18" name="DELIVER"/>
          <p:cNvSpPr/>
          <p:nvPr/>
        </p:nvSpPr>
        <p:spPr>
          <a:xfrm>
            <a:off x="5349240" y="2606040"/>
            <a:ext cx="1874520" cy="2514600"/>
          </a:xfrm>
          <a:prstGeom prst="roundRect">
            <a:avLst>
              <a:gd name="adj" fmla="val 3902"/>
            </a:avLst>
          </a:prstGeom>
          <a:solidFill>
            <a:srgbClr val="FFFFFF"/>
          </a:solidFill>
          <a:ln w="12700">
            <a:solidFill>
              <a:srgbClr val="F2C4C4"/>
            </a:solidFill>
            <a:prstDash val="solid"/>
          </a:ln>
          <a:effectLst>
            <a:outerShdw sx="100000" sy="100000" kx="0" ky="0" algn="bl" rotWithShape="0" blurRad="101600" dist="25400" dir="5400000">
              <a:srgbClr val="101828">
                <a:alpha val="8000"/>
              </a:srgbClr>
            </a:outerShdw>
          </a:effectLst>
        </p:spPr>
      </p:sp>
      <p:sp>
        <p:nvSpPr>
          <p:cNvPr id="19" name="DELIVER circle"/>
          <p:cNvSpPr/>
          <p:nvPr/>
        </p:nvSpPr>
        <p:spPr>
          <a:xfrm>
            <a:off x="5577840" y="2816352"/>
            <a:ext cx="640080" cy="640080"/>
          </a:xfrm>
          <a:prstGeom prst="ellipse">
            <a:avLst/>
          </a:prstGeom>
          <a:solidFill>
            <a:srgbClr val="C8102E"/>
          </a:solidFill>
          <a:ln/>
        </p:spPr>
      </p:sp>
      <p:pic>
        <p:nvPicPr>
          <p:cNvPr id="20" name="DELIVER icon" descr="DELIVER">    </p:cNvPr>
          <p:cNvPicPr>
            <a:picLocks noChangeAspect="1"/>
          </p:cNvPicPr>
          <p:nvPr/>
        </p:nvPicPr>
        <p:blipFill>
          <a:blip r:embed="rId5"/>
          <a:stretch>
            <a:fillRect/>
          </a:stretch>
        </p:blipFill>
        <p:spPr>
          <a:xfrm>
            <a:off x="5737860" y="2976372"/>
            <a:ext cx="320040" cy="320040"/>
          </a:xfrm>
          <a:prstGeom prst="rect">
            <a:avLst/>
          </a:prstGeom>
        </p:spPr>
      </p:pic>
      <p:sp>
        <p:nvSpPr>
          <p:cNvPr id="21" name="Text 14"/>
          <p:cNvSpPr txBox="1"/>
          <p:nvPr/>
        </p:nvSpPr>
        <p:spPr>
          <a:xfrm>
            <a:off x="6537960" y="2816352"/>
            <a:ext cx="457200" cy="640080"/>
          </a:xfrm>
          <a:prstGeom prst="rect">
            <a:avLst/>
          </a:prstGeom>
          <a:noFill/>
          <a:ln/>
        </p:spPr>
        <p:txBody>
          <a:bodyPr wrap="square" lIns="0" tIns="0" rIns="0" bIns="0" rtlCol="0" anchor="ctr"/>
          <a:lstStyle/>
          <a:p>
            <a:pPr algn="r" indent="0" marL="0">
              <a:buNone/>
            </a:pPr>
            <a:r>
              <a:rPr lang="en-US" sz="3000" b="1" dirty="0">
                <a:solidFill>
                  <a:srgbClr val="D0D5DD"/>
                </a:solidFill>
                <a:latin typeface="Arial" pitchFamily="34" charset="0"/>
                <a:ea typeface="Arial" pitchFamily="34" charset="-122"/>
                <a:cs typeface="Arial" pitchFamily="34" charset="-120"/>
              </a:rPr>
              <a:t>3</a:t>
            </a:r>
            <a:endParaRPr lang="en-US" sz="3000" dirty="0"/>
          </a:p>
        </p:txBody>
      </p:sp>
      <p:sp>
        <p:nvSpPr>
          <p:cNvPr id="22" name="Text 15"/>
          <p:cNvSpPr txBox="1"/>
          <p:nvPr/>
        </p:nvSpPr>
        <p:spPr>
          <a:xfrm>
            <a:off x="5577840" y="3611880"/>
            <a:ext cx="1417320" cy="365760"/>
          </a:xfrm>
          <a:prstGeom prst="rect">
            <a:avLst/>
          </a:prstGeom>
          <a:noFill/>
          <a:ln/>
        </p:spPr>
        <p:txBody>
          <a:bodyPr wrap="square" lIns="0" tIns="0" rIns="0" bIns="0" rtlCol="0" anchor="ctr"/>
          <a:lstStyle/>
          <a:p>
            <a:pPr indent="0" marL="0">
              <a:buNone/>
            </a:pPr>
            <a:r>
              <a:rPr lang="en-US" sz="1500" b="1" spc="200" kern="0" dirty="0">
                <a:solidFill>
                  <a:srgbClr val="C8102E"/>
                </a:solidFill>
                <a:latin typeface="Arial" pitchFamily="34" charset="0"/>
                <a:ea typeface="Arial" pitchFamily="34" charset="-122"/>
                <a:cs typeface="Arial" pitchFamily="34" charset="-120"/>
              </a:rPr>
              <a:t>DELIVER</a:t>
            </a:r>
            <a:endParaRPr lang="en-US" sz="1500" dirty="0"/>
          </a:p>
        </p:txBody>
      </p:sp>
      <p:sp>
        <p:nvSpPr>
          <p:cNvPr id="23" name="Text 16"/>
          <p:cNvSpPr txBox="1"/>
          <p:nvPr/>
        </p:nvSpPr>
        <p:spPr>
          <a:xfrm>
            <a:off x="5577840" y="4005072"/>
            <a:ext cx="1508760" cy="1051560"/>
          </a:xfrm>
          <a:prstGeom prst="rect">
            <a:avLst/>
          </a:prstGeom>
          <a:noFill/>
          <a:ln/>
        </p:spPr>
        <p:txBody>
          <a:bodyPr wrap="square" lIns="0" tIns="0" rIns="0" bIns="0" rtlCol="0" anchor="t"/>
          <a:lstStyle/>
          <a:p>
            <a:pPr indent="0" marL="0">
              <a:buNone/>
            </a:pPr>
            <a:r>
              <a:rPr lang="en-US" sz="1350" dirty="0">
                <a:solidFill>
                  <a:srgbClr val="101828"/>
                </a:solidFill>
              </a:rPr>
              <a:t>Get it there, whatever it takes: even driving pistols from Jordan into Iraq</a:t>
            </a:r>
            <a:endParaRPr lang="en-US" sz="1350" dirty="0"/>
          </a:p>
        </p:txBody>
      </p:sp>
      <p:sp>
        <p:nvSpPr>
          <p:cNvPr id="24" name="audit stamp"/>
          <p:cNvSpPr txBox="1"/>
          <p:nvPr/>
        </p:nvSpPr>
        <p:spPr>
          <a:xfrm rot="-420000">
            <a:off x="4754880" y="5349240"/>
            <a:ext cx="1794256" cy="521208"/>
          </a:xfrm>
          <a:prstGeom prst="rect">
            <a:avLst/>
          </a:prstGeom>
          <a:noFill/>
          <a:ln w="38100">
            <a:solidFill>
              <a:srgbClr val="C8102E"/>
            </a:solidFill>
          </a:ln>
        </p:spPr>
        <p:txBody>
          <a:bodyPr wrap="square" lIns="0" tIns="0" rIns="0" bIns="0" rtlCol="0" anchor="ctr"/>
          <a:lstStyle/>
          <a:p>
            <a:pPr algn="ctr" indent="0" marL="0">
              <a:buNone/>
            </a:pPr>
            <a:r>
              <a:rPr lang="en-US" sz="1800" b="1" spc="100" kern="0" dirty="0">
                <a:solidFill>
                  <a:srgbClr val="C8102E"/>
                </a:solidFill>
                <a:latin typeface="Courier New" pitchFamily="34" charset="0"/>
                <a:ea typeface="Courier New" pitchFamily="34" charset="-122"/>
                <a:cs typeface="Courier New" pitchFamily="34" charset="-120"/>
              </a:rPr>
              <a:t>RECKLESS</a:t>
            </a:r>
            <a:endParaRPr lang="en-US" sz="1800" dirty="0"/>
          </a:p>
        </p:txBody>
      </p:sp>
      <p:sp>
        <p:nvSpPr>
          <p:cNvPr id="25"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26" name="audit rule"/>
          <p:cNvSpPr/>
          <p:nvPr/>
        </p:nvSpPr>
        <p:spPr>
          <a:xfrm>
            <a:off x="7543800" y="868680"/>
            <a:ext cx="73152" cy="5349240"/>
          </a:xfrm>
          <a:prstGeom prst="rect">
            <a:avLst/>
          </a:prstGeom>
          <a:solidFill>
            <a:srgbClr val="C8102E"/>
          </a:solidFill>
          <a:ln/>
        </p:spPr>
      </p:sp>
      <p:sp>
        <p:nvSpPr>
          <p:cNvPr id="27" name="audit circle"/>
          <p:cNvSpPr/>
          <p:nvPr/>
        </p:nvSpPr>
        <p:spPr>
          <a:xfrm>
            <a:off x="7818120" y="1069848"/>
            <a:ext cx="420624" cy="420624"/>
          </a:xfrm>
          <a:prstGeom prst="ellipse">
            <a:avLst/>
          </a:prstGeom>
          <a:solidFill>
            <a:srgbClr val="C8102E"/>
          </a:solidFill>
          <a:ln/>
        </p:spPr>
      </p:sp>
      <p:pic>
        <p:nvPicPr>
          <p:cNvPr id="28" name="audit icon" descr="audit">    </p:cNvPr>
          <p:cNvPicPr>
            <a:picLocks noChangeAspect="1"/>
          </p:cNvPicPr>
          <p:nvPr/>
        </p:nvPicPr>
        <p:blipFill>
          <a:blip r:embed="rId6"/>
          <a:stretch>
            <a:fillRect/>
          </a:stretch>
        </p:blipFill>
        <p:spPr>
          <a:xfrm>
            <a:off x="7923276" y="1175004"/>
            <a:ext cx="210312" cy="210312"/>
          </a:xfrm>
          <a:prstGeom prst="rect">
            <a:avLst/>
          </a:prstGeom>
        </p:spPr>
      </p:pic>
      <p:sp>
        <p:nvSpPr>
          <p:cNvPr id="29" name="Text 21"/>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03</a:t>
            </a:r>
            <a:endParaRPr lang="en-US" sz="1300" dirty="0"/>
          </a:p>
        </p:txBody>
      </p:sp>
      <p:sp>
        <p:nvSpPr>
          <p:cNvPr id="30" name="Text 22"/>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A calculated gamble on a sliding scale</a:t>
            </a:r>
            <a:endParaRPr lang="en-US" sz="1900" dirty="0"/>
          </a:p>
        </p:txBody>
      </p:sp>
      <p:sp>
        <p:nvSpPr>
          <p:cNvPr id="31" name="Text 23"/>
          <p:cNvSpPr txBox="1"/>
          <p:nvPr/>
        </p:nvSpPr>
        <p:spPr>
          <a:xfrm>
            <a:off x="7818120" y="2560320"/>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Rational choice</a:t>
            </a:r>
            <a:endParaRPr lang="en-US" sz="1500" dirty="0"/>
          </a:p>
          <a:p>
            <a:pPr indent="0" marL="0">
              <a:buNone/>
            </a:pPr>
            <a:r>
              <a:rPr lang="en-US" sz="1100" i="1" dirty="0">
                <a:solidFill>
                  <a:srgbClr val="667085"/>
                </a:solidFill>
              </a:rPr>
              <a:t>Cornish &amp; Clarke (1986)</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The Jordan run is a calculated gamble: a high reward and risks they judged worth taking. Success rewards the next, bigger risk.</a:t>
            </a:r>
            <a:endParaRPr lang="en-US" sz="1500" dirty="0"/>
          </a:p>
        </p:txBody>
      </p:sp>
      <p:sp>
        <p:nvSpPr>
          <p:cNvPr id="32" name="audit divider"/>
          <p:cNvSpPr/>
          <p:nvPr/>
        </p:nvSpPr>
        <p:spPr>
          <a:xfrm>
            <a:off x="7818120" y="4297680"/>
            <a:ext cx="3596335" cy="0"/>
          </a:xfrm>
          <a:prstGeom prst="line">
            <a:avLst/>
          </a:prstGeom>
          <a:noFill/>
          <a:ln w="12700">
            <a:solidFill>
              <a:srgbClr val="F2C4C4"/>
            </a:solidFill>
            <a:prstDash val="solid"/>
          </a:ln>
        </p:spPr>
      </p:sp>
      <p:sp>
        <p:nvSpPr>
          <p:cNvPr id="33" name="Text 25"/>
          <p:cNvSpPr txBox="1"/>
          <p:nvPr/>
        </p:nvSpPr>
        <p:spPr>
          <a:xfrm>
            <a:off x="7818120" y="4379976"/>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Enterprise model</a:t>
            </a:r>
            <a:endParaRPr lang="en-US" sz="1500" dirty="0"/>
          </a:p>
          <a:p>
            <a:pPr indent="0" marL="0">
              <a:buNone/>
            </a:pPr>
            <a:r>
              <a:rPr lang="en-US" sz="1100" i="1" dirty="0">
                <a:solidFill>
                  <a:srgbClr val="667085"/>
                </a:solidFill>
              </a:rPr>
              <a:t>Smith (1980)</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Legal and illegal business sit on one spectrum, shaped by the same market demand. AEY starts legal and slides into the grey.</a:t>
            </a:r>
            <a:endParaRPr lang="en-US" sz="15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STRATEGIC SUPPLY PARTNER</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Exclusive access to a stockpile in Albania</a:t>
            </a:r>
            <a:endParaRPr lang="en-US" sz="2800" dirty="0"/>
          </a:p>
        </p:txBody>
      </p:sp>
      <p:sp>
        <p:nvSpPr>
          <p:cNvPr id="4" name="partner card"/>
          <p:cNvSpPr/>
          <p:nvPr/>
        </p:nvSpPr>
        <p:spPr>
          <a:xfrm>
            <a:off x="548640" y="2514600"/>
            <a:ext cx="6675120" cy="2514600"/>
          </a:xfrm>
          <a:prstGeom prst="rect">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5" name="Henry Girard circle"/>
          <p:cNvSpPr/>
          <p:nvPr/>
        </p:nvSpPr>
        <p:spPr>
          <a:xfrm>
            <a:off x="822960" y="2743200"/>
            <a:ext cx="868680" cy="868680"/>
          </a:xfrm>
          <a:prstGeom prst="ellipse">
            <a:avLst/>
          </a:prstGeom>
          <a:solidFill>
            <a:srgbClr val="344054"/>
          </a:solidFill>
          <a:ln/>
        </p:spPr>
      </p:sp>
      <p:pic>
        <p:nvPicPr>
          <p:cNvPr id="6" name="Henry Girard icon" descr="Henry Girard">    </p:cNvPr>
          <p:cNvPicPr>
            <a:picLocks noChangeAspect="1"/>
          </p:cNvPicPr>
          <p:nvPr/>
        </p:nvPicPr>
        <p:blipFill>
          <a:blip r:embed="rId1"/>
          <a:stretch>
            <a:fillRect/>
          </a:stretch>
        </p:blipFill>
        <p:spPr>
          <a:xfrm>
            <a:off x="1040130" y="2960370"/>
            <a:ext cx="434340" cy="434340"/>
          </a:xfrm>
          <a:prstGeom prst="rect">
            <a:avLst/>
          </a:prstGeom>
        </p:spPr>
      </p:pic>
      <p:sp>
        <p:nvSpPr>
          <p:cNvPr id="7" name="Text 4"/>
          <p:cNvSpPr txBox="1"/>
          <p:nvPr/>
        </p:nvSpPr>
        <p:spPr>
          <a:xfrm>
            <a:off x="1874520" y="2743200"/>
            <a:ext cx="5029200" cy="868680"/>
          </a:xfrm>
          <a:prstGeom prst="rect">
            <a:avLst/>
          </a:prstGeom>
          <a:noFill/>
          <a:ln/>
        </p:spPr>
        <p:txBody>
          <a:bodyPr wrap="square" lIns="0" tIns="0" rIns="0" bIns="0" rtlCol="0" anchor="ctr"/>
          <a:lstStyle/>
          <a:p>
            <a:pPr indent="0" marL="0">
              <a:buNone/>
            </a:pPr>
            <a:r>
              <a:rPr lang="en-US" sz="2000" b="1" dirty="0">
                <a:solidFill>
                  <a:srgbClr val="101828"/>
                </a:solidFill>
                <a:latin typeface="Arial" pitchFamily="34" charset="0"/>
                <a:ea typeface="Arial" pitchFamily="34" charset="-122"/>
                <a:cs typeface="Arial" pitchFamily="34" charset="-120"/>
              </a:rPr>
              <a:t>Henry Girard</a:t>
            </a:r>
            <a:endParaRPr lang="en-US" sz="2000" dirty="0"/>
          </a:p>
          <a:p>
            <a:pPr indent="0" marL="0">
              <a:buNone/>
            </a:pPr>
            <a:r>
              <a:rPr lang="en-US" sz="1300" b="1" dirty="0">
                <a:solidFill>
                  <a:srgbClr val="4F46E5"/>
                </a:solidFill>
              </a:rPr>
              <a:t>International arms supplier</a:t>
            </a:r>
            <a:endParaRPr lang="en-US" sz="2000" dirty="0"/>
          </a:p>
        </p:txBody>
      </p:sp>
      <p:pic>
        <p:nvPicPr>
          <p:cNvPr id="8" name="fact icon" descr="preencoded.png">    </p:cNvPr>
          <p:cNvPicPr>
            <a:picLocks noChangeAspect="1"/>
          </p:cNvPicPr>
          <p:nvPr/>
        </p:nvPicPr>
        <p:blipFill>
          <a:blip r:embed="rId2"/>
          <a:stretch>
            <a:fillRect/>
          </a:stretch>
        </p:blipFill>
        <p:spPr>
          <a:xfrm>
            <a:off x="868680" y="3858768"/>
            <a:ext cx="237744" cy="237744"/>
          </a:xfrm>
          <a:prstGeom prst="rect">
            <a:avLst/>
          </a:prstGeom>
        </p:spPr>
      </p:pic>
      <p:sp>
        <p:nvSpPr>
          <p:cNvPr id="9" name="Text 5"/>
          <p:cNvSpPr txBox="1"/>
          <p:nvPr/>
        </p:nvSpPr>
        <p:spPr>
          <a:xfrm>
            <a:off x="1280160" y="3794760"/>
            <a:ext cx="5760720" cy="365760"/>
          </a:xfrm>
          <a:prstGeom prst="rect">
            <a:avLst/>
          </a:prstGeom>
          <a:noFill/>
          <a:ln/>
        </p:spPr>
        <p:txBody>
          <a:bodyPr wrap="square" lIns="0" tIns="0" rIns="0" bIns="0" rtlCol="0" anchor="ctr"/>
          <a:lstStyle/>
          <a:p>
            <a:pPr indent="0" marL="0">
              <a:buNone/>
            </a:pPr>
            <a:r>
              <a:rPr lang="en-US" sz="1400" dirty="0">
                <a:solidFill>
                  <a:srgbClr val="101828"/>
                </a:solidFill>
              </a:rPr>
              <a:t>Access: ~100 million rounds in old Albanian state depots</a:t>
            </a:r>
            <a:endParaRPr lang="en-US" sz="1400" dirty="0"/>
          </a:p>
        </p:txBody>
      </p:sp>
      <p:pic>
        <p:nvPicPr>
          <p:cNvPr id="10" name="fact icon" descr="preencoded.png">    </p:cNvPr>
          <p:cNvPicPr>
            <a:picLocks noChangeAspect="1"/>
          </p:cNvPicPr>
          <p:nvPr/>
        </p:nvPicPr>
        <p:blipFill>
          <a:blip r:embed="rId3"/>
          <a:stretch>
            <a:fillRect/>
          </a:stretch>
        </p:blipFill>
        <p:spPr>
          <a:xfrm>
            <a:off x="868680" y="4251960"/>
            <a:ext cx="237744" cy="237744"/>
          </a:xfrm>
          <a:prstGeom prst="rect">
            <a:avLst/>
          </a:prstGeom>
        </p:spPr>
      </p:pic>
      <p:sp>
        <p:nvSpPr>
          <p:cNvPr id="11" name="Text 6"/>
          <p:cNvSpPr txBox="1"/>
          <p:nvPr/>
        </p:nvSpPr>
        <p:spPr>
          <a:xfrm>
            <a:off x="1280160" y="4187952"/>
            <a:ext cx="5760720" cy="365760"/>
          </a:xfrm>
          <a:prstGeom prst="rect">
            <a:avLst/>
          </a:prstGeom>
          <a:noFill/>
          <a:ln/>
        </p:spPr>
        <p:txBody>
          <a:bodyPr wrap="square" lIns="0" tIns="0" rIns="0" bIns="0" rtlCol="0" anchor="ctr"/>
          <a:lstStyle/>
          <a:p>
            <a:pPr indent="0" marL="0">
              <a:buNone/>
            </a:pPr>
            <a:r>
              <a:rPr lang="en-US" sz="1400" dirty="0">
                <a:solidFill>
                  <a:srgbClr val="101828"/>
                </a:solidFill>
              </a:rPr>
              <a:t>Offer: supply for AEY’s Afghan contract</a:t>
            </a:r>
            <a:endParaRPr lang="en-US" sz="1400" dirty="0"/>
          </a:p>
        </p:txBody>
      </p:sp>
      <p:pic>
        <p:nvPicPr>
          <p:cNvPr id="12" name="fact icon" descr="preencoded.png">    </p:cNvPr>
          <p:cNvPicPr>
            <a:picLocks noChangeAspect="1"/>
          </p:cNvPicPr>
          <p:nvPr/>
        </p:nvPicPr>
        <p:blipFill>
          <a:blip r:embed="rId4"/>
          <a:stretch>
            <a:fillRect/>
          </a:stretch>
        </p:blipFill>
        <p:spPr>
          <a:xfrm>
            <a:off x="868680" y="4645152"/>
            <a:ext cx="237744" cy="237744"/>
          </a:xfrm>
          <a:prstGeom prst="rect">
            <a:avLst/>
          </a:prstGeom>
        </p:spPr>
      </p:pic>
      <p:sp>
        <p:nvSpPr>
          <p:cNvPr id="13" name="Text 7"/>
          <p:cNvSpPr txBox="1"/>
          <p:nvPr/>
        </p:nvSpPr>
        <p:spPr>
          <a:xfrm>
            <a:off x="1280160" y="4581144"/>
            <a:ext cx="5760720" cy="365760"/>
          </a:xfrm>
          <a:prstGeom prst="rect">
            <a:avLst/>
          </a:prstGeom>
          <a:noFill/>
          <a:ln/>
        </p:spPr>
        <p:txBody>
          <a:bodyPr wrap="square" lIns="0" tIns="0" rIns="0" bIns="0" rtlCol="0" anchor="ctr"/>
          <a:lstStyle/>
          <a:p>
            <a:pPr indent="0" marL="0">
              <a:buNone/>
            </a:pPr>
            <a:r>
              <a:rPr lang="en-US" sz="1400" b="1" dirty="0">
                <a:solidFill>
                  <a:srgbClr val="C8102E"/>
                </a:solidFill>
              </a:rPr>
              <a:t>Status: on a US terrorist watch list; cannot sell to the US himself</a:t>
            </a:r>
            <a:endParaRPr lang="en-US" sz="1400" dirty="0"/>
          </a:p>
        </p:txBody>
      </p:sp>
      <p:sp>
        <p:nvSpPr>
          <p:cNvPr id="14" name="Text 8"/>
          <p:cNvSpPr txBox="1"/>
          <p:nvPr/>
        </p:nvSpPr>
        <p:spPr>
          <a:xfrm>
            <a:off x="548640" y="5138928"/>
            <a:ext cx="4206240" cy="868680"/>
          </a:xfrm>
          <a:prstGeom prst="rect">
            <a:avLst/>
          </a:prstGeom>
          <a:noFill/>
          <a:ln/>
        </p:spPr>
        <p:txBody>
          <a:bodyPr wrap="square" lIns="0" tIns="0" rIns="0" bIns="0" rtlCol="0" anchor="ctr"/>
          <a:lstStyle/>
          <a:p>
            <a:pPr indent="0" marL="0">
              <a:buNone/>
            </a:pPr>
            <a:r>
              <a:rPr lang="en-US" sz="2800" b="1" dirty="0">
                <a:solidFill>
                  <a:srgbClr val="15803D"/>
                </a:solidFill>
                <a:latin typeface="Arial" pitchFamily="34" charset="0"/>
                <a:ea typeface="Arial" pitchFamily="34" charset="-122"/>
                <a:cs typeface="Arial" pitchFamily="34" charset="-120"/>
              </a:rPr>
              <a:t>~100M rounds</a:t>
            </a:r>
            <a:endParaRPr lang="en-US" sz="2800" dirty="0"/>
          </a:p>
          <a:p>
            <a:pPr indent="0" marL="0">
              <a:buNone/>
            </a:pPr>
            <a:r>
              <a:rPr lang="en-US" sz="1400" dirty="0">
                <a:solidFill>
                  <a:srgbClr val="667085"/>
                </a:solidFill>
              </a:rPr>
              <a:t>Enough to supply the whole Afghan contract</a:t>
            </a:r>
            <a:endParaRPr lang="en-US" sz="2800" dirty="0"/>
          </a:p>
        </p:txBody>
      </p:sp>
      <p:sp>
        <p:nvSpPr>
          <p:cNvPr id="15" name="audit stamp"/>
          <p:cNvSpPr txBox="1"/>
          <p:nvPr/>
        </p:nvSpPr>
        <p:spPr>
          <a:xfrm rot="-480000">
            <a:off x="4709160" y="5257800"/>
            <a:ext cx="1920240" cy="546608"/>
          </a:xfrm>
          <a:prstGeom prst="rect">
            <a:avLst/>
          </a:prstGeom>
          <a:noFill/>
          <a:ln w="38100">
            <a:solidFill>
              <a:srgbClr val="C8102E"/>
            </a:solidFill>
          </a:ln>
        </p:spPr>
        <p:txBody>
          <a:bodyPr wrap="square" lIns="0" tIns="0" rIns="0" bIns="0" rtlCol="0" anchor="ctr"/>
          <a:lstStyle/>
          <a:p>
            <a:pPr algn="ctr" indent="0" marL="0">
              <a:buNone/>
            </a:pPr>
            <a:r>
              <a:rPr lang="en-US" sz="2000" b="1" spc="100" kern="0" dirty="0">
                <a:solidFill>
                  <a:srgbClr val="C8102E"/>
                </a:solidFill>
                <a:latin typeface="Courier New" pitchFamily="34" charset="0"/>
                <a:ea typeface="Courier New" pitchFamily="34" charset="-122"/>
                <a:cs typeface="Courier New" pitchFamily="34" charset="-120"/>
              </a:rPr>
              <a:t>RED FLAG</a:t>
            </a:r>
            <a:endParaRPr lang="en-US" sz="2000" dirty="0"/>
          </a:p>
        </p:txBody>
      </p:sp>
      <p:sp>
        <p:nvSpPr>
          <p:cNvPr id="16" name="Text 10"/>
          <p:cNvSpPr txBox="1"/>
          <p:nvPr/>
        </p:nvSpPr>
        <p:spPr>
          <a:xfrm>
            <a:off x="548640" y="6053328"/>
            <a:ext cx="6720840" cy="274320"/>
          </a:xfrm>
          <a:prstGeom prst="rect">
            <a:avLst/>
          </a:prstGeom>
          <a:noFill/>
          <a:ln/>
        </p:spPr>
        <p:txBody>
          <a:bodyPr wrap="square" lIns="0" tIns="0" rIns="0" bIns="0" rtlCol="0" anchor="t"/>
          <a:lstStyle/>
          <a:p>
            <a:pPr indent="0" marL="0">
              <a:buNone/>
            </a:pPr>
            <a:r>
              <a:rPr lang="en-US" sz="1000" i="1" dirty="0">
                <a:solidFill>
                  <a:srgbClr val="8A93A6"/>
                </a:solidFill>
              </a:rPr>
              <a:t>Henry Girard is a composite character inspired by the real broker Heinrich Thomet (Lawson, 2015).</a:t>
            </a:r>
            <a:endParaRPr lang="en-US" sz="1000" dirty="0"/>
          </a:p>
        </p:txBody>
      </p:sp>
      <p:sp>
        <p:nvSpPr>
          <p:cNvPr id="17"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8" name="audit rule"/>
          <p:cNvSpPr/>
          <p:nvPr/>
        </p:nvSpPr>
        <p:spPr>
          <a:xfrm>
            <a:off x="7543800" y="868680"/>
            <a:ext cx="73152" cy="5349240"/>
          </a:xfrm>
          <a:prstGeom prst="rect">
            <a:avLst/>
          </a:prstGeom>
          <a:solidFill>
            <a:srgbClr val="C8102E"/>
          </a:solidFill>
          <a:ln/>
        </p:spPr>
      </p:sp>
      <p:sp>
        <p:nvSpPr>
          <p:cNvPr id="19" name="audit circle"/>
          <p:cNvSpPr/>
          <p:nvPr/>
        </p:nvSpPr>
        <p:spPr>
          <a:xfrm>
            <a:off x="7818120" y="1069848"/>
            <a:ext cx="420624" cy="420624"/>
          </a:xfrm>
          <a:prstGeom prst="ellipse">
            <a:avLst/>
          </a:prstGeom>
          <a:solidFill>
            <a:srgbClr val="C8102E"/>
          </a:solidFill>
          <a:ln/>
        </p:spPr>
      </p:sp>
      <p:pic>
        <p:nvPicPr>
          <p:cNvPr id="20" name="audit icon" descr="audit">    </p:cNvPr>
          <p:cNvPicPr>
            <a:picLocks noChangeAspect="1"/>
          </p:cNvPicPr>
          <p:nvPr/>
        </p:nvPicPr>
        <p:blipFill>
          <a:blip r:embed="rId5"/>
          <a:stretch>
            <a:fillRect/>
          </a:stretch>
        </p:blipFill>
        <p:spPr>
          <a:xfrm>
            <a:off x="7923276" y="1175004"/>
            <a:ext cx="210312" cy="210312"/>
          </a:xfrm>
          <a:prstGeom prst="rect">
            <a:avLst/>
          </a:prstGeom>
        </p:spPr>
      </p:pic>
      <p:sp>
        <p:nvSpPr>
          <p:cNvPr id="21" name="Text 14"/>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04</a:t>
            </a:r>
            <a:endParaRPr lang="en-US" sz="1300" dirty="0"/>
          </a:p>
        </p:txBody>
      </p:sp>
      <p:sp>
        <p:nvSpPr>
          <p:cNvPr id="22" name="Text 15"/>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The partner is the network, and the risk</a:t>
            </a:r>
            <a:endParaRPr lang="en-US" sz="1900" dirty="0"/>
          </a:p>
        </p:txBody>
      </p:sp>
      <p:sp>
        <p:nvSpPr>
          <p:cNvPr id="23" name="Text 16"/>
          <p:cNvSpPr txBox="1"/>
          <p:nvPr/>
        </p:nvSpPr>
        <p:spPr>
          <a:xfrm>
            <a:off x="7818120" y="2560320"/>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Network model and brokerage</a:t>
            </a:r>
            <a:endParaRPr lang="en-US" sz="1500" dirty="0"/>
          </a:p>
          <a:p>
            <a:pPr indent="0" marL="0">
              <a:buNone/>
            </a:pPr>
            <a:r>
              <a:rPr lang="en-US" sz="1100" i="1" dirty="0">
                <a:solidFill>
                  <a:srgbClr val="667085"/>
                </a:solidFill>
              </a:rPr>
              <a:t>Morselli (2009)</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Power belongs to brokers who connect worlds that cannot reach each other: the Pentagon on one side, Balkan stockpiles on the other.</a:t>
            </a:r>
            <a:endParaRPr lang="en-US" sz="1500" dirty="0"/>
          </a:p>
        </p:txBody>
      </p:sp>
      <p:sp>
        <p:nvSpPr>
          <p:cNvPr id="24" name="audit divider"/>
          <p:cNvSpPr/>
          <p:nvPr/>
        </p:nvSpPr>
        <p:spPr>
          <a:xfrm>
            <a:off x="7818120" y="4297680"/>
            <a:ext cx="3596335" cy="0"/>
          </a:xfrm>
          <a:prstGeom prst="line">
            <a:avLst/>
          </a:prstGeom>
          <a:noFill/>
          <a:ln w="12700">
            <a:solidFill>
              <a:srgbClr val="F2C4C4"/>
            </a:solidFill>
            <a:prstDash val="solid"/>
          </a:ln>
        </p:spPr>
      </p:sp>
      <p:sp>
        <p:nvSpPr>
          <p:cNvPr id="25" name="Text 18"/>
          <p:cNvSpPr txBox="1"/>
          <p:nvPr/>
        </p:nvSpPr>
        <p:spPr>
          <a:xfrm>
            <a:off x="7818120" y="4379976"/>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Patron–client model</a:t>
            </a:r>
            <a:endParaRPr lang="en-US" sz="1500" dirty="0"/>
          </a:p>
          <a:p>
            <a:pPr indent="0" marL="0">
              <a:buNone/>
            </a:pPr>
            <a:r>
              <a:rPr lang="en-US" sz="1100" i="1" dirty="0">
                <a:solidFill>
                  <a:srgbClr val="667085"/>
                </a:solidFill>
              </a:rPr>
              <a:t>Albini (1971)</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Henry trades access to supply for a share of the profit. A watch-listed dealer stays in the market by borrowing a clean company’s name.</a:t>
            </a:r>
            <a:endParaRPr lang="en-US" sz="15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UNIT ECONOMICS</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Buy old stock cheaply, sell at the contract price, keep the margin</a:t>
            </a:r>
            <a:endParaRPr lang="en-US" sz="2800" dirty="0"/>
          </a:p>
        </p:txBody>
      </p:sp>
      <p:sp>
        <p:nvSpPr>
          <p:cNvPr id="4" name="Text 2"/>
          <p:cNvSpPr txBox="1"/>
          <p:nvPr/>
        </p:nvSpPr>
        <p:spPr>
          <a:xfrm>
            <a:off x="548640" y="2560320"/>
            <a:ext cx="6675120" cy="274320"/>
          </a:xfrm>
          <a:prstGeom prst="rect">
            <a:avLst/>
          </a:prstGeom>
          <a:noFill/>
          <a:ln/>
        </p:spPr>
        <p:txBody>
          <a:bodyPr wrap="square" lIns="0" tIns="0" rIns="0" bIns="0" rtlCol="0" anchor="ctr"/>
          <a:lstStyle/>
          <a:p>
            <a:pPr indent="0" marL="0">
              <a:buNone/>
            </a:pPr>
            <a:r>
              <a:rPr lang="en-US" sz="1100" b="1" spc="200" kern="0" dirty="0">
                <a:solidFill>
                  <a:srgbClr val="667085"/>
                </a:solidFill>
                <a:latin typeface="Arial" pitchFamily="34" charset="0"/>
                <a:ea typeface="Arial" pitchFamily="34" charset="-122"/>
                <a:cs typeface="Arial" pitchFamily="34" charset="-120"/>
              </a:rPr>
              <a:t>CONTRACT PRICE PAID BY THE US ARMY</a:t>
            </a:r>
            <a:endParaRPr lang="en-US" sz="1100" dirty="0"/>
          </a:p>
        </p:txBody>
      </p:sp>
      <p:sp>
        <p:nvSpPr>
          <p:cNvPr id="5" name="bracket"/>
          <p:cNvSpPr/>
          <p:nvPr/>
        </p:nvSpPr>
        <p:spPr>
          <a:xfrm>
            <a:off x="548640" y="2880360"/>
            <a:ext cx="6675120" cy="0"/>
          </a:xfrm>
          <a:prstGeom prst="line">
            <a:avLst/>
          </a:prstGeom>
          <a:noFill/>
          <a:ln w="19050">
            <a:solidFill>
              <a:srgbClr val="B9BFCC"/>
            </a:solidFill>
            <a:prstDash val="solid"/>
          </a:ln>
        </p:spPr>
      </p:sp>
      <p:sp>
        <p:nvSpPr>
          <p:cNvPr id="6" name="segment Old stock"/>
          <p:cNvSpPr/>
          <p:nvPr/>
        </p:nvSpPr>
        <p:spPr>
          <a:xfrm>
            <a:off x="548640" y="3017520"/>
            <a:ext cx="2103120" cy="777240"/>
          </a:xfrm>
          <a:prstGeom prst="rect">
            <a:avLst/>
          </a:prstGeom>
          <a:solidFill>
            <a:srgbClr val="98A2B3"/>
          </a:solidFill>
          <a:ln w="25400">
            <a:solidFill>
              <a:srgbClr val="FFFFFF"/>
            </a:solidFill>
            <a:prstDash val="solid"/>
          </a:ln>
        </p:spPr>
      </p:sp>
      <p:sp>
        <p:nvSpPr>
          <p:cNvPr id="7" name="Text 5"/>
          <p:cNvSpPr txBox="1"/>
          <p:nvPr/>
        </p:nvSpPr>
        <p:spPr>
          <a:xfrm>
            <a:off x="640080" y="3017520"/>
            <a:ext cx="19202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Old stock</a:t>
            </a:r>
            <a:endParaRPr lang="en-US" sz="1400" dirty="0"/>
          </a:p>
        </p:txBody>
      </p:sp>
      <p:sp>
        <p:nvSpPr>
          <p:cNvPr id="8" name="Text 6"/>
          <p:cNvSpPr txBox="1"/>
          <p:nvPr/>
        </p:nvSpPr>
        <p:spPr>
          <a:xfrm>
            <a:off x="594360" y="3913632"/>
            <a:ext cx="2011680" cy="868680"/>
          </a:xfrm>
          <a:prstGeom prst="rect">
            <a:avLst/>
          </a:prstGeom>
          <a:noFill/>
          <a:ln/>
        </p:spPr>
        <p:txBody>
          <a:bodyPr wrap="square" lIns="0" tIns="0" rIns="0" bIns="0" rtlCol="0" anchor="t"/>
          <a:lstStyle/>
          <a:p>
            <a:pPr algn="ctr" indent="0" marL="0">
              <a:buNone/>
            </a:pPr>
            <a:r>
              <a:rPr lang="en-US" sz="1300" dirty="0">
                <a:solidFill>
                  <a:srgbClr val="101828"/>
                </a:solidFill>
              </a:rPr>
              <a:t>Decades-old rounds from state depots</a:t>
            </a:r>
            <a:endParaRPr lang="en-US" sz="1300" dirty="0"/>
          </a:p>
        </p:txBody>
      </p:sp>
      <p:sp>
        <p:nvSpPr>
          <p:cNvPr id="9" name="segment Broker"/>
          <p:cNvSpPr/>
          <p:nvPr/>
        </p:nvSpPr>
        <p:spPr>
          <a:xfrm>
            <a:off x="2651760" y="3017520"/>
            <a:ext cx="1417320" cy="777240"/>
          </a:xfrm>
          <a:prstGeom prst="rect">
            <a:avLst/>
          </a:prstGeom>
          <a:solidFill>
            <a:srgbClr val="7C83F2"/>
          </a:solidFill>
          <a:ln w="25400">
            <a:solidFill>
              <a:srgbClr val="FFFFFF"/>
            </a:solidFill>
            <a:prstDash val="solid"/>
          </a:ln>
        </p:spPr>
      </p:sp>
      <p:sp>
        <p:nvSpPr>
          <p:cNvPr id="10" name="Text 8"/>
          <p:cNvSpPr txBox="1"/>
          <p:nvPr/>
        </p:nvSpPr>
        <p:spPr>
          <a:xfrm>
            <a:off x="2743200" y="3017520"/>
            <a:ext cx="123444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Broker</a:t>
            </a:r>
            <a:endParaRPr lang="en-US" sz="1400" dirty="0"/>
          </a:p>
        </p:txBody>
      </p:sp>
      <p:sp>
        <p:nvSpPr>
          <p:cNvPr id="11" name="Text 9"/>
          <p:cNvSpPr txBox="1"/>
          <p:nvPr/>
        </p:nvSpPr>
        <p:spPr>
          <a:xfrm>
            <a:off x="2697480" y="3913632"/>
            <a:ext cx="1325880" cy="868680"/>
          </a:xfrm>
          <a:prstGeom prst="rect">
            <a:avLst/>
          </a:prstGeom>
          <a:noFill/>
          <a:ln/>
        </p:spPr>
        <p:txBody>
          <a:bodyPr wrap="square" lIns="0" tIns="0" rIns="0" bIns="0" rtlCol="0" anchor="t"/>
          <a:lstStyle/>
          <a:p>
            <a:pPr algn="ctr" indent="0" marL="0">
              <a:buNone/>
            </a:pPr>
            <a:r>
              <a:rPr lang="en-US" sz="1300" dirty="0">
                <a:solidFill>
                  <a:srgbClr val="101828"/>
                </a:solidFill>
              </a:rPr>
              <a:t>Henry takes his share for access</a:t>
            </a:r>
            <a:endParaRPr lang="en-US" sz="1300" dirty="0"/>
          </a:p>
        </p:txBody>
      </p:sp>
      <p:sp>
        <p:nvSpPr>
          <p:cNvPr id="12" name="segment “Local fees”"/>
          <p:cNvSpPr/>
          <p:nvPr/>
        </p:nvSpPr>
        <p:spPr>
          <a:xfrm>
            <a:off x="4069080" y="3017520"/>
            <a:ext cx="1463040" cy="777240"/>
          </a:xfrm>
          <a:prstGeom prst="rect">
            <a:avLst/>
          </a:prstGeom>
          <a:solidFill>
            <a:srgbClr val="E57373"/>
          </a:solidFill>
          <a:ln w="25400">
            <a:solidFill>
              <a:srgbClr val="FFFFFF"/>
            </a:solidFill>
            <a:prstDash val="solid"/>
          </a:ln>
        </p:spPr>
      </p:sp>
      <p:sp>
        <p:nvSpPr>
          <p:cNvPr id="13" name="Text 11"/>
          <p:cNvSpPr txBox="1"/>
          <p:nvPr/>
        </p:nvSpPr>
        <p:spPr>
          <a:xfrm>
            <a:off x="4160520" y="3017520"/>
            <a:ext cx="128016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“Local fees”</a:t>
            </a:r>
            <a:endParaRPr lang="en-US" sz="1400" dirty="0"/>
          </a:p>
        </p:txBody>
      </p:sp>
      <p:sp>
        <p:nvSpPr>
          <p:cNvPr id="14" name="Text 12"/>
          <p:cNvSpPr txBox="1"/>
          <p:nvPr/>
        </p:nvSpPr>
        <p:spPr>
          <a:xfrm>
            <a:off x="4114800" y="3913632"/>
            <a:ext cx="1371600" cy="868680"/>
          </a:xfrm>
          <a:prstGeom prst="rect">
            <a:avLst/>
          </a:prstGeom>
          <a:noFill/>
          <a:ln/>
        </p:spPr>
        <p:txBody>
          <a:bodyPr wrap="square" lIns="0" tIns="0" rIns="0" bIns="0" rtlCol="0" anchor="t"/>
          <a:lstStyle/>
          <a:p>
            <a:pPr algn="ctr" indent="0" marL="0">
              <a:buNone/>
            </a:pPr>
            <a:r>
              <a:rPr lang="en-US" sz="1300" dirty="0">
                <a:solidFill>
                  <a:srgbClr val="9B1C1C"/>
                </a:solidFill>
              </a:rPr>
              <a:t>Officials and middlemen who control the depots</a:t>
            </a:r>
            <a:endParaRPr lang="en-US" sz="1300" dirty="0"/>
          </a:p>
        </p:txBody>
      </p:sp>
      <p:sp>
        <p:nvSpPr>
          <p:cNvPr id="15" name="segment AEY margin"/>
          <p:cNvSpPr/>
          <p:nvPr/>
        </p:nvSpPr>
        <p:spPr>
          <a:xfrm>
            <a:off x="5532120" y="3017520"/>
            <a:ext cx="1691640" cy="777240"/>
          </a:xfrm>
          <a:prstGeom prst="rect">
            <a:avLst/>
          </a:prstGeom>
          <a:solidFill>
            <a:srgbClr val="15803D"/>
          </a:solidFill>
          <a:ln w="25400">
            <a:solidFill>
              <a:srgbClr val="FFFFFF"/>
            </a:solidFill>
            <a:prstDash val="solid"/>
          </a:ln>
        </p:spPr>
      </p:sp>
      <p:sp>
        <p:nvSpPr>
          <p:cNvPr id="16" name="Text 14"/>
          <p:cNvSpPr txBox="1"/>
          <p:nvPr/>
        </p:nvSpPr>
        <p:spPr>
          <a:xfrm>
            <a:off x="5623560" y="3017520"/>
            <a:ext cx="150876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AEY margin</a:t>
            </a:r>
            <a:endParaRPr lang="en-US" sz="1400" dirty="0"/>
          </a:p>
        </p:txBody>
      </p:sp>
      <p:sp>
        <p:nvSpPr>
          <p:cNvPr id="17" name="Text 15"/>
          <p:cNvSpPr txBox="1"/>
          <p:nvPr/>
        </p:nvSpPr>
        <p:spPr>
          <a:xfrm>
            <a:off x="5577840" y="3913632"/>
            <a:ext cx="1600200" cy="868680"/>
          </a:xfrm>
          <a:prstGeom prst="rect">
            <a:avLst/>
          </a:prstGeom>
          <a:noFill/>
          <a:ln/>
        </p:spPr>
        <p:txBody>
          <a:bodyPr wrap="square" lIns="0" tIns="0" rIns="0" bIns="0" rtlCol="0" anchor="t"/>
          <a:lstStyle/>
          <a:p>
            <a:pPr algn="ctr" indent="0" marL="0">
              <a:buNone/>
            </a:pPr>
            <a:r>
              <a:rPr lang="en-US" sz="1300" dirty="0">
                <a:solidFill>
                  <a:srgbClr val="101828"/>
                </a:solidFill>
              </a:rPr>
              <a:t>What the founders keep</a:t>
            </a:r>
            <a:endParaRPr lang="en-US" sz="1300" dirty="0"/>
          </a:p>
        </p:txBody>
      </p:sp>
      <p:sp>
        <p:nvSpPr>
          <p:cNvPr id="18" name="audit stamp"/>
          <p:cNvSpPr txBox="1"/>
          <p:nvPr/>
        </p:nvSpPr>
        <p:spPr>
          <a:xfrm rot="-420000">
            <a:off x="4069080" y="4937760"/>
            <a:ext cx="1971040" cy="495808"/>
          </a:xfrm>
          <a:prstGeom prst="rect">
            <a:avLst/>
          </a:prstGeom>
          <a:noFill/>
          <a:ln w="38100">
            <a:solidFill>
              <a:srgbClr val="C8102E"/>
            </a:solidFill>
          </a:ln>
        </p:spPr>
        <p:txBody>
          <a:bodyPr wrap="square" lIns="0" tIns="0" rIns="0" bIns="0" rtlCol="0" anchor="ctr"/>
          <a:lstStyle/>
          <a:p>
            <a:pPr algn="ctr" indent="0" marL="0">
              <a:buNone/>
            </a:pPr>
            <a:r>
              <a:rPr lang="en-US" sz="1600" b="1" spc="100" kern="0" dirty="0">
                <a:solidFill>
                  <a:srgbClr val="C8102E"/>
                </a:solidFill>
                <a:latin typeface="Courier New" pitchFamily="34" charset="0"/>
                <a:ea typeface="Courier New" pitchFamily="34" charset="-122"/>
                <a:cs typeface="Courier New" pitchFamily="34" charset="-120"/>
              </a:rPr>
              <a:t>KICKBACKS?</a:t>
            </a:r>
            <a:endParaRPr lang="en-US" sz="1600" dirty="0"/>
          </a:p>
        </p:txBody>
      </p:sp>
      <p:sp>
        <p:nvSpPr>
          <p:cNvPr id="19" name="Text 17"/>
          <p:cNvSpPr txBox="1"/>
          <p:nvPr/>
        </p:nvSpPr>
        <p:spPr>
          <a:xfrm>
            <a:off x="548640" y="4983480"/>
            <a:ext cx="3108960" cy="274320"/>
          </a:xfrm>
          <a:prstGeom prst="rect">
            <a:avLst/>
          </a:prstGeom>
          <a:noFill/>
          <a:ln/>
        </p:spPr>
        <p:txBody>
          <a:bodyPr wrap="square" lIns="0" tIns="0" rIns="0" bIns="0" rtlCol="0" anchor="ctr"/>
          <a:lstStyle/>
          <a:p>
            <a:pPr indent="0" marL="0">
              <a:buNone/>
            </a:pPr>
            <a:r>
              <a:rPr lang="en-US" sz="1100" i="1" dirty="0">
                <a:solidFill>
                  <a:srgbClr val="667085"/>
                </a:solidFill>
              </a:rPr>
              <a:t>Bar is schematic, not to scale.</a:t>
            </a:r>
            <a:endParaRPr lang="en-US" sz="1100" dirty="0"/>
          </a:p>
        </p:txBody>
      </p:sp>
      <p:sp>
        <p:nvSpPr>
          <p:cNvPr id="20" name="Text 18"/>
          <p:cNvSpPr txBox="1"/>
          <p:nvPr/>
        </p:nvSpPr>
        <p:spPr>
          <a:xfrm>
            <a:off x="548640" y="6053328"/>
            <a:ext cx="6720840" cy="274320"/>
          </a:xfrm>
          <a:prstGeom prst="rect">
            <a:avLst/>
          </a:prstGeom>
          <a:noFill/>
          <a:ln/>
        </p:spPr>
        <p:txBody>
          <a:bodyPr wrap="square" lIns="0" tIns="0" rIns="0" bIns="0" rtlCol="0" anchor="t"/>
          <a:lstStyle/>
          <a:p>
            <a:pPr indent="0" marL="0">
              <a:buNone/>
            </a:pPr>
            <a:r>
              <a:rPr lang="en-US" sz="1000" i="1" dirty="0">
                <a:solidFill>
                  <a:srgbClr val="8A93A6"/>
                </a:solidFill>
              </a:rPr>
              <a:t>Not in the film: the Gërdec depot explosion near Tirana (March 2008) killed 26 people; officials were charged (Al Jazeera, 2008).</a:t>
            </a:r>
            <a:endParaRPr lang="en-US" sz="1000" dirty="0"/>
          </a:p>
        </p:txBody>
      </p:sp>
      <p:sp>
        <p:nvSpPr>
          <p:cNvPr id="21"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22" name="audit rule"/>
          <p:cNvSpPr/>
          <p:nvPr/>
        </p:nvSpPr>
        <p:spPr>
          <a:xfrm>
            <a:off x="7543800" y="868680"/>
            <a:ext cx="73152" cy="5349240"/>
          </a:xfrm>
          <a:prstGeom prst="rect">
            <a:avLst/>
          </a:prstGeom>
          <a:solidFill>
            <a:srgbClr val="C8102E"/>
          </a:solidFill>
          <a:ln/>
        </p:spPr>
      </p:sp>
      <p:sp>
        <p:nvSpPr>
          <p:cNvPr id="23" name="audit circle"/>
          <p:cNvSpPr/>
          <p:nvPr/>
        </p:nvSpPr>
        <p:spPr>
          <a:xfrm>
            <a:off x="7818120" y="1069848"/>
            <a:ext cx="420624" cy="420624"/>
          </a:xfrm>
          <a:prstGeom prst="ellipse">
            <a:avLst/>
          </a:prstGeom>
          <a:solidFill>
            <a:srgbClr val="C8102E"/>
          </a:solidFill>
          <a:ln/>
        </p:spPr>
      </p:sp>
      <p:pic>
        <p:nvPicPr>
          <p:cNvPr id="24" name="audit icon" descr="audit">    </p:cNvPr>
          <p:cNvPicPr>
            <a:picLocks noChangeAspect="1"/>
          </p:cNvPicPr>
          <p:nvPr/>
        </p:nvPicPr>
        <p:blipFill>
          <a:blip r:embed="rId1"/>
          <a:stretch>
            <a:fillRect/>
          </a:stretch>
        </p:blipFill>
        <p:spPr>
          <a:xfrm>
            <a:off x="7923276" y="1175004"/>
            <a:ext cx="210312" cy="210312"/>
          </a:xfrm>
          <a:prstGeom prst="rect">
            <a:avLst/>
          </a:prstGeom>
        </p:spPr>
      </p:pic>
      <p:sp>
        <p:nvSpPr>
          <p:cNvPr id="25" name="Text 22"/>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05</a:t>
            </a:r>
            <a:endParaRPr lang="en-US" sz="1300" dirty="0"/>
          </a:p>
        </p:txBody>
      </p:sp>
      <p:sp>
        <p:nvSpPr>
          <p:cNvPr id="26" name="Text 23"/>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Every link in the chain takes a cut</a:t>
            </a:r>
            <a:endParaRPr lang="en-US" sz="1900" dirty="0"/>
          </a:p>
        </p:txBody>
      </p:sp>
      <p:sp>
        <p:nvSpPr>
          <p:cNvPr id="27" name="Text 24"/>
          <p:cNvSpPr txBox="1"/>
          <p:nvPr/>
        </p:nvSpPr>
        <p:spPr>
          <a:xfrm>
            <a:off x="7818120" y="2560320"/>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Corruption</a:t>
            </a:r>
            <a:endParaRPr lang="en-US" sz="1500" dirty="0"/>
          </a:p>
          <a:p>
            <a:pPr indent="0" marL="0">
              <a:buNone/>
            </a:pPr>
            <a:r>
              <a:rPr lang="en-US" sz="1100" i="1" dirty="0">
                <a:solidFill>
                  <a:srgbClr val="667085"/>
                </a:solidFill>
              </a:rPr>
              <a:t>Transparency International (n.d.)</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The abuse of entrusted power for private gain: officials profit from controlling access to state stockpiles.</a:t>
            </a:r>
            <a:endParaRPr lang="en-US" sz="1500" dirty="0"/>
          </a:p>
        </p:txBody>
      </p:sp>
      <p:sp>
        <p:nvSpPr>
          <p:cNvPr id="28" name="audit divider"/>
          <p:cNvSpPr/>
          <p:nvPr/>
        </p:nvSpPr>
        <p:spPr>
          <a:xfrm>
            <a:off x="7818120" y="4297680"/>
            <a:ext cx="3596335" cy="0"/>
          </a:xfrm>
          <a:prstGeom prst="line">
            <a:avLst/>
          </a:prstGeom>
          <a:noFill/>
          <a:ln w="12700">
            <a:solidFill>
              <a:srgbClr val="F2C4C4"/>
            </a:solidFill>
            <a:prstDash val="solid"/>
          </a:ln>
        </p:spPr>
      </p:sp>
      <p:sp>
        <p:nvSpPr>
          <p:cNvPr id="29" name="Text 26"/>
          <p:cNvSpPr txBox="1"/>
          <p:nvPr/>
        </p:nvSpPr>
        <p:spPr>
          <a:xfrm>
            <a:off x="7818120" y="4379976"/>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C = M + D − A</a:t>
            </a:r>
            <a:endParaRPr lang="en-US" sz="1500" dirty="0"/>
          </a:p>
          <a:p>
            <a:pPr indent="0" marL="0">
              <a:buNone/>
            </a:pPr>
            <a:r>
              <a:rPr lang="en-US" sz="1100" i="1" dirty="0">
                <a:solidFill>
                  <a:srgbClr val="667085"/>
                </a:solidFill>
              </a:rPr>
              <a:t>Klitgaard (1988)</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Monopoly (Henry’s access) plus discretion (officials, fixers) minus accountability (weak wartime oversight) equals corruption.</a:t>
            </a:r>
            <a:endParaRPr lang="en-US" sz="15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OPERATIONAL INNOVATION</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We modernized the packaging for efficiency</a:t>
            </a:r>
            <a:endParaRPr lang="en-US" sz="2800" dirty="0"/>
          </a:p>
        </p:txBody>
      </p:sp>
      <p:sp>
        <p:nvSpPr>
          <p:cNvPr id="4" name="Old wooden crates"/>
          <p:cNvSpPr/>
          <p:nvPr/>
        </p:nvSpPr>
        <p:spPr>
          <a:xfrm>
            <a:off x="548640" y="2514600"/>
            <a:ext cx="2743200" cy="2514600"/>
          </a:xfrm>
          <a:prstGeom prst="roundRect">
            <a:avLst>
              <a:gd name="adj" fmla="val 2909"/>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5" name="Old wooden crates circle"/>
          <p:cNvSpPr/>
          <p:nvPr/>
        </p:nvSpPr>
        <p:spPr>
          <a:xfrm>
            <a:off x="777240" y="2743200"/>
            <a:ext cx="731520" cy="731520"/>
          </a:xfrm>
          <a:prstGeom prst="ellipse">
            <a:avLst/>
          </a:prstGeom>
          <a:solidFill>
            <a:srgbClr val="98A2B3"/>
          </a:solidFill>
          <a:ln/>
        </p:spPr>
      </p:sp>
      <p:pic>
        <p:nvPicPr>
          <p:cNvPr id="6" name="Old wooden crates icon" descr="Old wooden crates">    </p:cNvPr>
          <p:cNvPicPr>
            <a:picLocks noChangeAspect="1"/>
          </p:cNvPicPr>
          <p:nvPr/>
        </p:nvPicPr>
        <p:blipFill>
          <a:blip r:embed="rId1"/>
          <a:stretch>
            <a:fillRect/>
          </a:stretch>
        </p:blipFill>
        <p:spPr>
          <a:xfrm>
            <a:off x="960120" y="2926080"/>
            <a:ext cx="365760" cy="365760"/>
          </a:xfrm>
          <a:prstGeom prst="rect">
            <a:avLst/>
          </a:prstGeom>
        </p:spPr>
      </p:pic>
      <p:sp>
        <p:nvSpPr>
          <p:cNvPr id="7" name="Text 4"/>
          <p:cNvSpPr txBox="1"/>
          <p:nvPr/>
        </p:nvSpPr>
        <p:spPr>
          <a:xfrm>
            <a:off x="1645920" y="2743200"/>
            <a:ext cx="1463040" cy="731520"/>
          </a:xfrm>
          <a:prstGeom prst="rect">
            <a:avLst/>
          </a:prstGeom>
          <a:noFill/>
          <a:ln/>
        </p:spPr>
        <p:txBody>
          <a:bodyPr wrap="square" lIns="0" tIns="0" rIns="0" bIns="0" rtlCol="0" anchor="ctr"/>
          <a:lstStyle/>
          <a:p>
            <a:pPr indent="0" marL="0">
              <a:buNone/>
            </a:pPr>
            <a:r>
              <a:rPr lang="en-US" sz="1500" b="1" spc="300" kern="0" dirty="0">
                <a:solidFill>
                  <a:srgbClr val="98A2B3"/>
                </a:solidFill>
                <a:latin typeface="Arial" pitchFamily="34" charset="0"/>
                <a:ea typeface="Arial" pitchFamily="34" charset="-122"/>
                <a:cs typeface="Arial" pitchFamily="34" charset="-120"/>
              </a:rPr>
              <a:t>BEFORE</a:t>
            </a:r>
            <a:endParaRPr lang="en-US" sz="1500" dirty="0"/>
          </a:p>
        </p:txBody>
      </p:sp>
      <p:sp>
        <p:nvSpPr>
          <p:cNvPr id="8" name="Text 5"/>
          <p:cNvSpPr txBox="1"/>
          <p:nvPr/>
        </p:nvSpPr>
        <p:spPr>
          <a:xfrm>
            <a:off x="777240" y="3611880"/>
            <a:ext cx="2286000" cy="1325880"/>
          </a:xfrm>
          <a:prstGeom prst="rect">
            <a:avLst/>
          </a:prstGeom>
          <a:noFill/>
          <a:ln/>
        </p:spPr>
        <p:txBody>
          <a:bodyPr wrap="square" lIns="0" tIns="0" rIns="0" bIns="0" rtlCol="0" anchor="t"/>
          <a:lstStyle/>
          <a:p>
            <a:pPr indent="0" marL="0">
              <a:buNone/>
            </a:pPr>
            <a:r>
              <a:rPr lang="en-US" sz="1700" b="1" dirty="0">
                <a:solidFill>
                  <a:srgbClr val="101828"/>
                </a:solidFill>
              </a:rPr>
              <a:t>Old wooden crates</a:t>
            </a:r>
            <a:endParaRPr lang="en-US" sz="1700" dirty="0"/>
          </a:p>
          <a:p>
            <a:pPr indent="0" marL="0">
              <a:buNone/>
            </a:pPr>
            <a:r>
              <a:rPr lang="en-US" sz="1400" dirty="0">
                <a:solidFill>
                  <a:srgbClr val="101828"/>
                </a:solidFill>
              </a:rPr>
              <a:t>Chinese-made rounds, decades old, marked with their country of origin</a:t>
            </a:r>
            <a:endParaRPr lang="en-US" sz="1700" dirty="0"/>
          </a:p>
        </p:txBody>
      </p:sp>
      <p:sp>
        <p:nvSpPr>
          <p:cNvPr id="9" name="New cardboard boxes"/>
          <p:cNvSpPr/>
          <p:nvPr/>
        </p:nvSpPr>
        <p:spPr>
          <a:xfrm>
            <a:off x="4480560" y="2514600"/>
            <a:ext cx="2743200" cy="2514600"/>
          </a:xfrm>
          <a:prstGeom prst="roundRect">
            <a:avLst>
              <a:gd name="adj" fmla="val 2909"/>
            </a:avLst>
          </a:prstGeom>
          <a:solidFill>
            <a:srgbClr val="FFFFFF"/>
          </a:solidFill>
          <a:ln w="12700">
            <a:solidFill>
              <a:srgbClr val="E4E7EC"/>
            </a:solidFill>
            <a:prstDash val="solid"/>
          </a:ln>
          <a:effectLst>
            <a:outerShdw sx="100000" sy="100000" kx="0" ky="0" algn="bl" rotWithShape="0" blurRad="101600" dist="25400" dir="5400000">
              <a:srgbClr val="101828">
                <a:alpha val="8000"/>
              </a:srgbClr>
            </a:outerShdw>
          </a:effectLst>
        </p:spPr>
      </p:sp>
      <p:sp>
        <p:nvSpPr>
          <p:cNvPr id="10" name="New cardboard boxes circle"/>
          <p:cNvSpPr/>
          <p:nvPr/>
        </p:nvSpPr>
        <p:spPr>
          <a:xfrm>
            <a:off x="4709160" y="2743200"/>
            <a:ext cx="731520" cy="731520"/>
          </a:xfrm>
          <a:prstGeom prst="ellipse">
            <a:avLst/>
          </a:prstGeom>
          <a:solidFill>
            <a:srgbClr val="4F46E5"/>
          </a:solidFill>
          <a:ln/>
        </p:spPr>
      </p:sp>
      <p:pic>
        <p:nvPicPr>
          <p:cNvPr id="11" name="New cardboard boxes icon" descr="New cardboard boxes">    </p:cNvPr>
          <p:cNvPicPr>
            <a:picLocks noChangeAspect="1"/>
          </p:cNvPicPr>
          <p:nvPr/>
        </p:nvPicPr>
        <p:blipFill>
          <a:blip r:embed="rId2"/>
          <a:stretch>
            <a:fillRect/>
          </a:stretch>
        </p:blipFill>
        <p:spPr>
          <a:xfrm>
            <a:off x="4892040" y="2926080"/>
            <a:ext cx="365760" cy="365760"/>
          </a:xfrm>
          <a:prstGeom prst="rect">
            <a:avLst/>
          </a:prstGeom>
        </p:spPr>
      </p:pic>
      <p:sp>
        <p:nvSpPr>
          <p:cNvPr id="12" name="Text 8"/>
          <p:cNvSpPr txBox="1"/>
          <p:nvPr/>
        </p:nvSpPr>
        <p:spPr>
          <a:xfrm>
            <a:off x="5577840" y="2743200"/>
            <a:ext cx="1463040" cy="731520"/>
          </a:xfrm>
          <a:prstGeom prst="rect">
            <a:avLst/>
          </a:prstGeom>
          <a:noFill/>
          <a:ln/>
        </p:spPr>
        <p:txBody>
          <a:bodyPr wrap="square" lIns="0" tIns="0" rIns="0" bIns="0" rtlCol="0" anchor="ctr"/>
          <a:lstStyle/>
          <a:p>
            <a:pPr indent="0" marL="0">
              <a:buNone/>
            </a:pPr>
            <a:r>
              <a:rPr lang="en-US" sz="1500" b="1" spc="300" kern="0" dirty="0">
                <a:solidFill>
                  <a:srgbClr val="4F46E5"/>
                </a:solidFill>
                <a:latin typeface="Arial" pitchFamily="34" charset="0"/>
                <a:ea typeface="Arial" pitchFamily="34" charset="-122"/>
                <a:cs typeface="Arial" pitchFamily="34" charset="-120"/>
              </a:rPr>
              <a:t>AFTER</a:t>
            </a:r>
            <a:endParaRPr lang="en-US" sz="1500" dirty="0"/>
          </a:p>
        </p:txBody>
      </p:sp>
      <p:sp>
        <p:nvSpPr>
          <p:cNvPr id="13" name="Text 9"/>
          <p:cNvSpPr txBox="1"/>
          <p:nvPr/>
        </p:nvSpPr>
        <p:spPr>
          <a:xfrm>
            <a:off x="4709160" y="3611880"/>
            <a:ext cx="2286000" cy="1325880"/>
          </a:xfrm>
          <a:prstGeom prst="rect">
            <a:avLst/>
          </a:prstGeom>
          <a:noFill/>
          <a:ln/>
        </p:spPr>
        <p:txBody>
          <a:bodyPr wrap="square" lIns="0" tIns="0" rIns="0" bIns="0" rtlCol="0" anchor="t"/>
          <a:lstStyle/>
          <a:p>
            <a:pPr indent="0" marL="0">
              <a:buNone/>
            </a:pPr>
            <a:r>
              <a:rPr lang="en-US" sz="1700" b="1" dirty="0">
                <a:solidFill>
                  <a:srgbClr val="101828"/>
                </a:solidFill>
              </a:rPr>
              <a:t>New cardboard boxes</a:t>
            </a:r>
            <a:endParaRPr lang="en-US" sz="1700" dirty="0"/>
          </a:p>
          <a:p>
            <a:pPr indent="0" marL="0">
              <a:buNone/>
            </a:pPr>
            <a:r>
              <a:rPr lang="en-US" sz="1400" dirty="0">
                <a:solidFill>
                  <a:srgbClr val="101828"/>
                </a:solidFill>
              </a:rPr>
              <a:t>Chinese markings removed; delivered to the Army as Albanian</a:t>
            </a:r>
            <a:endParaRPr lang="en-US" sz="1700" dirty="0"/>
          </a:p>
        </p:txBody>
      </p:sp>
      <p:sp>
        <p:nvSpPr>
          <p:cNvPr id="14" name="repack arrow"/>
          <p:cNvSpPr/>
          <p:nvPr/>
        </p:nvSpPr>
        <p:spPr>
          <a:xfrm>
            <a:off x="3474720" y="3474720"/>
            <a:ext cx="822960" cy="548640"/>
          </a:xfrm>
          <a:prstGeom prst="rightArrow">
            <a:avLst/>
          </a:prstGeom>
          <a:solidFill>
            <a:srgbClr val="E4E7EC"/>
          </a:solidFill>
          <a:ln/>
        </p:spPr>
      </p:sp>
      <p:sp>
        <p:nvSpPr>
          <p:cNvPr id="15" name="Text 11"/>
          <p:cNvSpPr txBox="1"/>
          <p:nvPr/>
        </p:nvSpPr>
        <p:spPr>
          <a:xfrm>
            <a:off x="3474720" y="3063240"/>
            <a:ext cx="822960" cy="320040"/>
          </a:xfrm>
          <a:prstGeom prst="rect">
            <a:avLst/>
          </a:prstGeom>
          <a:noFill/>
          <a:ln/>
        </p:spPr>
        <p:txBody>
          <a:bodyPr wrap="square" lIns="0" tIns="0" rIns="0" bIns="0" rtlCol="0" anchor="ctr"/>
          <a:lstStyle/>
          <a:p>
            <a:pPr algn="ctr" indent="0" marL="0">
              <a:buNone/>
            </a:pPr>
            <a:r>
              <a:rPr lang="en-US" sz="1200" b="1" spc="200" kern="0" dirty="0">
                <a:solidFill>
                  <a:srgbClr val="667085"/>
                </a:solidFill>
                <a:latin typeface="Arial" pitchFamily="34" charset="0"/>
                <a:ea typeface="Arial" pitchFamily="34" charset="-122"/>
                <a:cs typeface="Arial" pitchFamily="34" charset="-120"/>
              </a:rPr>
              <a:t>REPACK</a:t>
            </a:r>
            <a:endParaRPr lang="en-US" sz="1200" dirty="0"/>
          </a:p>
        </p:txBody>
      </p:sp>
      <p:sp>
        <p:nvSpPr>
          <p:cNvPr id="16" name="audit stamp"/>
          <p:cNvSpPr txBox="1"/>
          <p:nvPr/>
        </p:nvSpPr>
        <p:spPr>
          <a:xfrm rot="-480000">
            <a:off x="4206240" y="5230368"/>
            <a:ext cx="1607820" cy="622808"/>
          </a:xfrm>
          <a:prstGeom prst="rect">
            <a:avLst/>
          </a:prstGeom>
          <a:noFill/>
          <a:ln w="38100">
            <a:solidFill>
              <a:srgbClr val="C8102E"/>
            </a:solidFill>
          </a:ln>
        </p:spPr>
        <p:txBody>
          <a:bodyPr wrap="square" lIns="0" tIns="0" rIns="0" bIns="0" rtlCol="0" anchor="ctr"/>
          <a:lstStyle/>
          <a:p>
            <a:pPr algn="ctr" indent="0" marL="0">
              <a:buNone/>
            </a:pPr>
            <a:r>
              <a:rPr lang="en-US" sz="2600" b="1" spc="100" kern="0" dirty="0">
                <a:solidFill>
                  <a:srgbClr val="C8102E"/>
                </a:solidFill>
                <a:latin typeface="Courier New" pitchFamily="34" charset="0"/>
                <a:ea typeface="Courier New" pitchFamily="34" charset="-122"/>
                <a:cs typeface="Courier New" pitchFamily="34" charset="-120"/>
              </a:rPr>
              <a:t>FRAUD</a:t>
            </a:r>
            <a:endParaRPr lang="en-US" sz="2600" dirty="0"/>
          </a:p>
        </p:txBody>
      </p:sp>
      <p:sp>
        <p:nvSpPr>
          <p:cNvPr id="17" name="Text 13"/>
          <p:cNvSpPr txBox="1"/>
          <p:nvPr/>
        </p:nvSpPr>
        <p:spPr>
          <a:xfrm>
            <a:off x="548640" y="6053328"/>
            <a:ext cx="3657600" cy="274320"/>
          </a:xfrm>
          <a:prstGeom prst="rect">
            <a:avLst/>
          </a:prstGeom>
          <a:noFill/>
          <a:ln/>
        </p:spPr>
        <p:txBody>
          <a:bodyPr wrap="square" lIns="0" tIns="0" rIns="0" bIns="0" rtlCol="0" anchor="t"/>
          <a:lstStyle/>
          <a:p>
            <a:pPr indent="0" marL="0">
              <a:buNone/>
            </a:pPr>
            <a:r>
              <a:rPr lang="en-US" sz="1000" i="1" dirty="0">
                <a:solidFill>
                  <a:srgbClr val="8A93A6"/>
                </a:solidFill>
              </a:rPr>
              <a:t>Repackaging is documented in the real case (Lawson, 2015). Excuses in the audit note are our paraphrases.</a:t>
            </a:r>
            <a:endParaRPr lang="en-US" sz="1000" dirty="0"/>
          </a:p>
        </p:txBody>
      </p:sp>
      <p:sp>
        <p:nvSpPr>
          <p:cNvPr id="18"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9" name="audit rule"/>
          <p:cNvSpPr/>
          <p:nvPr/>
        </p:nvSpPr>
        <p:spPr>
          <a:xfrm>
            <a:off x="7543800" y="868680"/>
            <a:ext cx="73152" cy="5349240"/>
          </a:xfrm>
          <a:prstGeom prst="rect">
            <a:avLst/>
          </a:prstGeom>
          <a:solidFill>
            <a:srgbClr val="C8102E"/>
          </a:solidFill>
          <a:ln/>
        </p:spPr>
      </p:sp>
      <p:sp>
        <p:nvSpPr>
          <p:cNvPr id="20" name="audit circle"/>
          <p:cNvSpPr/>
          <p:nvPr/>
        </p:nvSpPr>
        <p:spPr>
          <a:xfrm>
            <a:off x="7818120" y="1069848"/>
            <a:ext cx="420624" cy="420624"/>
          </a:xfrm>
          <a:prstGeom prst="ellipse">
            <a:avLst/>
          </a:prstGeom>
          <a:solidFill>
            <a:srgbClr val="C8102E"/>
          </a:solidFill>
          <a:ln/>
        </p:spPr>
      </p:sp>
      <p:pic>
        <p:nvPicPr>
          <p:cNvPr id="21" name="audit icon" descr="audit">    </p:cNvPr>
          <p:cNvPicPr>
            <a:picLocks noChangeAspect="1"/>
          </p:cNvPicPr>
          <p:nvPr/>
        </p:nvPicPr>
        <p:blipFill>
          <a:blip r:embed="rId3"/>
          <a:stretch>
            <a:fillRect/>
          </a:stretch>
        </p:blipFill>
        <p:spPr>
          <a:xfrm>
            <a:off x="7923276" y="1175004"/>
            <a:ext cx="210312" cy="210312"/>
          </a:xfrm>
          <a:prstGeom prst="rect">
            <a:avLst/>
          </a:prstGeom>
        </p:spPr>
      </p:pic>
      <p:sp>
        <p:nvSpPr>
          <p:cNvPr id="22" name="Text 17"/>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06</a:t>
            </a:r>
            <a:endParaRPr lang="en-US" sz="1300" dirty="0"/>
          </a:p>
        </p:txBody>
      </p:sp>
      <p:sp>
        <p:nvSpPr>
          <p:cNvPr id="23" name="Text 18"/>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Not innovation: concealment</a:t>
            </a:r>
            <a:endParaRPr lang="en-US" sz="1900" dirty="0"/>
          </a:p>
        </p:txBody>
      </p:sp>
      <p:sp>
        <p:nvSpPr>
          <p:cNvPr id="24" name="Text 19"/>
          <p:cNvSpPr txBox="1"/>
          <p:nvPr/>
        </p:nvSpPr>
        <p:spPr>
          <a:xfrm>
            <a:off x="7818120" y="2560320"/>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White-collar crime and fraud</a:t>
            </a:r>
            <a:endParaRPr lang="en-US" sz="1500" dirty="0"/>
          </a:p>
          <a:p>
            <a:pPr indent="0" marL="0">
              <a:buNone/>
            </a:pPr>
            <a:r>
              <a:rPr lang="en-US" sz="1100" i="1" dirty="0">
                <a:solidFill>
                  <a:srgbClr val="667085"/>
                </a:solidFill>
              </a:rPr>
              <a:t>Sutherland (1940)</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Chinese ammunition was banned by a US embargo and by the contract. Hiding its origin is crime by respectable businessmen in the course of their work.</a:t>
            </a:r>
            <a:endParaRPr lang="en-US" sz="1500" dirty="0"/>
          </a:p>
        </p:txBody>
      </p:sp>
      <p:sp>
        <p:nvSpPr>
          <p:cNvPr id="25" name="audit divider"/>
          <p:cNvSpPr/>
          <p:nvPr/>
        </p:nvSpPr>
        <p:spPr>
          <a:xfrm>
            <a:off x="7818120" y="4297680"/>
            <a:ext cx="3596335" cy="0"/>
          </a:xfrm>
          <a:prstGeom prst="line">
            <a:avLst/>
          </a:prstGeom>
          <a:noFill/>
          <a:ln w="12700">
            <a:solidFill>
              <a:srgbClr val="F2C4C4"/>
            </a:solidFill>
            <a:prstDash val="solid"/>
          </a:ln>
        </p:spPr>
      </p:sp>
      <p:sp>
        <p:nvSpPr>
          <p:cNvPr id="26" name="Text 21"/>
          <p:cNvSpPr txBox="1"/>
          <p:nvPr/>
        </p:nvSpPr>
        <p:spPr>
          <a:xfrm>
            <a:off x="7818120" y="4379976"/>
            <a:ext cx="3596335" cy="1655064"/>
          </a:xfrm>
          <a:prstGeom prst="rect">
            <a:avLst/>
          </a:prstGeom>
          <a:noFill/>
          <a:ln/>
        </p:spPr>
        <p:txBody>
          <a:bodyPr wrap="square" lIns="0" tIns="0" rIns="0" bIns="0" rtlCol="0" anchor="t"/>
          <a:lstStyle/>
          <a:p>
            <a:pPr indent="0" marL="0">
              <a:buNone/>
            </a:pPr>
            <a:r>
              <a:rPr lang="en-US" sz="1500" b="1" dirty="0">
                <a:solidFill>
                  <a:srgbClr val="9B1C1C"/>
                </a:solidFill>
                <a:latin typeface="Cambria" pitchFamily="34" charset="0"/>
                <a:ea typeface="Cambria" pitchFamily="34" charset="-122"/>
                <a:cs typeface="Cambria" pitchFamily="34" charset="-120"/>
              </a:rPr>
              <a:t>Techniques of neutralization</a:t>
            </a:r>
            <a:endParaRPr lang="en-US" sz="1500" dirty="0"/>
          </a:p>
          <a:p>
            <a:pPr indent="0" marL="0">
              <a:buNone/>
            </a:pPr>
            <a:r>
              <a:rPr lang="en-US" sz="1100" i="1" dirty="0">
                <a:solidFill>
                  <a:srgbClr val="667085"/>
                </a:solidFill>
              </a:rPr>
              <a:t>Sykes &amp; Matza (1957)</a:t>
            </a:r>
            <a:endParaRPr lang="en-US" sz="1500" dirty="0"/>
          </a:p>
          <a:p>
            <a:pPr indent="0" marL="0">
              <a:buNone/>
            </a:pPr>
            <a:r>
              <a:rPr lang="en-US" sz="400" dirty="0">
                <a:solidFill>
                  <a:srgbClr val="000000"/>
                </a:solidFill>
              </a:rPr>
              <a:t> </a:t>
            </a:r>
            <a:endParaRPr lang="en-US" sz="1500" dirty="0"/>
          </a:p>
          <a:p>
            <a:pPr indent="0" marL="0">
              <a:buNone/>
            </a:pPr>
            <a:r>
              <a:rPr lang="en-US" sz="1350" dirty="0">
                <a:solidFill>
                  <a:srgbClr val="101828"/>
                </a:solidFill>
              </a:rPr>
              <a:t>“The troops still get working bullets” (denial of injury). “The government buys from shady sources too” (condemning the condemners).</a:t>
            </a:r>
            <a:endParaRPr lang="en-US" sz="15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TRACTION</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From a Miami apartment to the Afghan army’s supplier</a:t>
            </a:r>
            <a:endParaRPr lang="en-US" sz="2800" dirty="0"/>
          </a:p>
        </p:txBody>
      </p:sp>
      <p:sp>
        <p:nvSpPr>
          <p:cNvPr id="4" name="Text 2"/>
          <p:cNvSpPr txBox="1"/>
          <p:nvPr/>
        </p:nvSpPr>
        <p:spPr>
          <a:xfrm>
            <a:off x="548640" y="2468880"/>
            <a:ext cx="4206240" cy="1234440"/>
          </a:xfrm>
          <a:prstGeom prst="rect">
            <a:avLst/>
          </a:prstGeom>
          <a:noFill/>
          <a:ln/>
        </p:spPr>
        <p:txBody>
          <a:bodyPr wrap="square" lIns="0" tIns="0" rIns="0" bIns="0" rtlCol="0" anchor="ctr"/>
          <a:lstStyle/>
          <a:p>
            <a:pPr indent="0" marL="0">
              <a:buNone/>
            </a:pPr>
            <a:r>
              <a:rPr lang="en-US" sz="8000" b="1" dirty="0">
                <a:solidFill>
                  <a:srgbClr val="15803D"/>
                </a:solidFill>
                <a:latin typeface="Arial" pitchFamily="34" charset="0"/>
                <a:ea typeface="Arial" pitchFamily="34" charset="-122"/>
                <a:cs typeface="Arial" pitchFamily="34" charset="-120"/>
              </a:rPr>
              <a:t>$298M</a:t>
            </a:r>
            <a:endParaRPr lang="en-US" sz="8000" dirty="0"/>
          </a:p>
        </p:txBody>
      </p:sp>
      <p:sp>
        <p:nvSpPr>
          <p:cNvPr id="5" name="audit stamp"/>
          <p:cNvSpPr txBox="1"/>
          <p:nvPr/>
        </p:nvSpPr>
        <p:spPr>
          <a:xfrm rot="-540000">
            <a:off x="4572000" y="2788920"/>
            <a:ext cx="2527554" cy="508508"/>
          </a:xfrm>
          <a:prstGeom prst="rect">
            <a:avLst/>
          </a:prstGeom>
          <a:noFill/>
          <a:ln w="38100">
            <a:solidFill>
              <a:srgbClr val="C8102E"/>
            </a:solidFill>
          </a:ln>
        </p:spPr>
        <p:txBody>
          <a:bodyPr wrap="square" lIns="0" tIns="0" rIns="0" bIns="0" rtlCol="0" anchor="ctr"/>
          <a:lstStyle/>
          <a:p>
            <a:pPr algn="ctr" indent="0" marL="0">
              <a:buNone/>
            </a:pPr>
            <a:r>
              <a:rPr lang="en-US" sz="1700" b="1" spc="100" kern="0" dirty="0">
                <a:solidFill>
                  <a:srgbClr val="C8102E"/>
                </a:solidFill>
                <a:latin typeface="Courier New" pitchFamily="34" charset="0"/>
                <a:ea typeface="Courier New" pitchFamily="34" charset="-122"/>
                <a:cs typeface="Courier New" pitchFamily="34" charset="-120"/>
              </a:rPr>
              <a:t>MEETS UN TEST</a:t>
            </a:r>
            <a:endParaRPr lang="en-US" sz="1700" dirty="0"/>
          </a:p>
        </p:txBody>
      </p:sp>
      <p:sp>
        <p:nvSpPr>
          <p:cNvPr id="6" name="Text 4"/>
          <p:cNvSpPr txBox="1"/>
          <p:nvPr/>
        </p:nvSpPr>
        <p:spPr>
          <a:xfrm>
            <a:off x="548640" y="3703320"/>
            <a:ext cx="6675120" cy="411480"/>
          </a:xfrm>
          <a:prstGeom prst="rect">
            <a:avLst/>
          </a:prstGeom>
          <a:noFill/>
          <a:ln/>
        </p:spPr>
        <p:txBody>
          <a:bodyPr wrap="square" lIns="0" tIns="0" rIns="0" bIns="0" rtlCol="0" anchor="ctr"/>
          <a:lstStyle/>
          <a:p>
            <a:pPr indent="0" marL="0">
              <a:buNone/>
            </a:pPr>
            <a:r>
              <a:rPr lang="en-US" sz="1800" dirty="0">
                <a:solidFill>
                  <a:srgbClr val="101828"/>
                </a:solidFill>
              </a:rPr>
              <a:t>Afghan National Army ammunition contract, won in 2007</a:t>
            </a:r>
            <a:endParaRPr lang="en-US" sz="1800" dirty="0"/>
          </a:p>
        </p:txBody>
      </p:sp>
      <p:sp>
        <p:nvSpPr>
          <p:cNvPr id="7" name="5 countries"/>
          <p:cNvSpPr/>
          <p:nvPr/>
        </p:nvSpPr>
        <p:spPr>
          <a:xfrm>
            <a:off x="548640" y="4389120"/>
            <a:ext cx="2103120" cy="1325880"/>
          </a:xfrm>
          <a:prstGeom prst="roundRect">
            <a:avLst>
              <a:gd name="adj" fmla="val 5517"/>
            </a:avLst>
          </a:prstGeom>
          <a:solidFill>
            <a:srgbClr val="F5F6F8"/>
          </a:solidFill>
          <a:ln w="12700">
            <a:solidFill>
              <a:srgbClr val="F5F6F8"/>
            </a:solidFill>
            <a:prstDash val="solid"/>
          </a:ln>
        </p:spPr>
      </p:sp>
      <p:sp>
        <p:nvSpPr>
          <p:cNvPr id="8" name="Text 6"/>
          <p:cNvSpPr txBox="1"/>
          <p:nvPr/>
        </p:nvSpPr>
        <p:spPr>
          <a:xfrm>
            <a:off x="731520" y="4389120"/>
            <a:ext cx="1737360" cy="1325880"/>
          </a:xfrm>
          <a:prstGeom prst="rect">
            <a:avLst/>
          </a:prstGeom>
          <a:noFill/>
          <a:ln/>
        </p:spPr>
        <p:txBody>
          <a:bodyPr wrap="square" lIns="0" tIns="0" rIns="0" bIns="0" rtlCol="0" anchor="ctr"/>
          <a:lstStyle/>
          <a:p>
            <a:pPr indent="0" marL="0">
              <a:buNone/>
            </a:pPr>
            <a:r>
              <a:rPr lang="en-US" sz="2000" b="1" dirty="0">
                <a:solidFill>
                  <a:srgbClr val="4F46E5"/>
                </a:solidFill>
                <a:latin typeface="Arial" pitchFamily="34" charset="0"/>
                <a:ea typeface="Arial" pitchFamily="34" charset="-122"/>
                <a:cs typeface="Arial" pitchFamily="34" charset="-120"/>
              </a:rPr>
              <a:t>5 countries</a:t>
            </a:r>
            <a:endParaRPr lang="en-US" sz="2000" dirty="0"/>
          </a:p>
          <a:p>
            <a:pPr indent="0" marL="0">
              <a:buNone/>
            </a:pPr>
            <a:r>
              <a:rPr lang="en-US" sz="1250" dirty="0">
                <a:solidFill>
                  <a:srgbClr val="667085"/>
                </a:solidFill>
              </a:rPr>
              <a:t>US · Jordan · Iraq · Albania · Afghanistan</a:t>
            </a:r>
            <a:endParaRPr lang="en-US" sz="2000" dirty="0"/>
          </a:p>
        </p:txBody>
      </p:sp>
      <p:sp>
        <p:nvSpPr>
          <p:cNvPr id="9" name="~100M"/>
          <p:cNvSpPr/>
          <p:nvPr/>
        </p:nvSpPr>
        <p:spPr>
          <a:xfrm>
            <a:off x="2834640" y="4389120"/>
            <a:ext cx="2103120" cy="1325880"/>
          </a:xfrm>
          <a:prstGeom prst="roundRect">
            <a:avLst>
              <a:gd name="adj" fmla="val 5517"/>
            </a:avLst>
          </a:prstGeom>
          <a:solidFill>
            <a:srgbClr val="F5F6F8"/>
          </a:solidFill>
          <a:ln w="12700">
            <a:solidFill>
              <a:srgbClr val="F5F6F8"/>
            </a:solidFill>
            <a:prstDash val="solid"/>
          </a:ln>
        </p:spPr>
      </p:sp>
      <p:sp>
        <p:nvSpPr>
          <p:cNvPr id="10" name="Text 8"/>
          <p:cNvSpPr txBox="1"/>
          <p:nvPr/>
        </p:nvSpPr>
        <p:spPr>
          <a:xfrm>
            <a:off x="3017520" y="4389120"/>
            <a:ext cx="1737360" cy="1325880"/>
          </a:xfrm>
          <a:prstGeom prst="rect">
            <a:avLst/>
          </a:prstGeom>
          <a:noFill/>
          <a:ln/>
        </p:spPr>
        <p:txBody>
          <a:bodyPr wrap="square" lIns="0" tIns="0" rIns="0" bIns="0" rtlCol="0" anchor="ctr"/>
          <a:lstStyle/>
          <a:p>
            <a:pPr indent="0" marL="0">
              <a:buNone/>
            </a:pPr>
            <a:r>
              <a:rPr lang="en-US" sz="2000" b="1" dirty="0">
                <a:solidFill>
                  <a:srgbClr val="4F46E5"/>
                </a:solidFill>
                <a:latin typeface="Arial" pitchFamily="34" charset="0"/>
                <a:ea typeface="Arial" pitchFamily="34" charset="-122"/>
                <a:cs typeface="Arial" pitchFamily="34" charset="-120"/>
              </a:rPr>
              <a:t>~100M</a:t>
            </a:r>
            <a:endParaRPr lang="en-US" sz="2000" dirty="0"/>
          </a:p>
          <a:p>
            <a:pPr indent="0" marL="0">
              <a:buNone/>
            </a:pPr>
            <a:r>
              <a:rPr lang="en-US" sz="1250" dirty="0">
                <a:solidFill>
                  <a:srgbClr val="667085"/>
                </a:solidFill>
              </a:rPr>
              <a:t>rounds sourced from Albania</a:t>
            </a:r>
            <a:endParaRPr lang="en-US" sz="2000" dirty="0"/>
          </a:p>
        </p:txBody>
      </p:sp>
      <p:sp>
        <p:nvSpPr>
          <p:cNvPr id="11" name="2 founders"/>
          <p:cNvSpPr/>
          <p:nvPr/>
        </p:nvSpPr>
        <p:spPr>
          <a:xfrm>
            <a:off x="5120640" y="4389120"/>
            <a:ext cx="2103120" cy="1325880"/>
          </a:xfrm>
          <a:prstGeom prst="roundRect">
            <a:avLst>
              <a:gd name="adj" fmla="val 5517"/>
            </a:avLst>
          </a:prstGeom>
          <a:solidFill>
            <a:srgbClr val="F5F6F8"/>
          </a:solidFill>
          <a:ln w="12700">
            <a:solidFill>
              <a:srgbClr val="F5F6F8"/>
            </a:solidFill>
            <a:prstDash val="solid"/>
          </a:ln>
        </p:spPr>
      </p:sp>
      <p:sp>
        <p:nvSpPr>
          <p:cNvPr id="12" name="Text 10"/>
          <p:cNvSpPr txBox="1"/>
          <p:nvPr/>
        </p:nvSpPr>
        <p:spPr>
          <a:xfrm>
            <a:off x="5303520" y="4389120"/>
            <a:ext cx="1737360" cy="1325880"/>
          </a:xfrm>
          <a:prstGeom prst="rect">
            <a:avLst/>
          </a:prstGeom>
          <a:noFill/>
          <a:ln/>
        </p:spPr>
        <p:txBody>
          <a:bodyPr wrap="square" lIns="0" tIns="0" rIns="0" bIns="0" rtlCol="0" anchor="ctr"/>
          <a:lstStyle/>
          <a:p>
            <a:pPr indent="0" marL="0">
              <a:buNone/>
            </a:pPr>
            <a:r>
              <a:rPr lang="en-US" sz="2000" b="1" dirty="0">
                <a:solidFill>
                  <a:srgbClr val="4F46E5"/>
                </a:solidFill>
                <a:latin typeface="Arial" pitchFamily="34" charset="0"/>
                <a:ea typeface="Arial" pitchFamily="34" charset="-122"/>
                <a:cs typeface="Arial" pitchFamily="34" charset="-120"/>
              </a:rPr>
              <a:t>2 founders</a:t>
            </a:r>
            <a:endParaRPr lang="en-US" sz="2000" dirty="0"/>
          </a:p>
          <a:p>
            <a:pPr indent="0" marL="0">
              <a:buNone/>
            </a:pPr>
            <a:r>
              <a:rPr lang="en-US" sz="1250" dirty="0">
                <a:solidFill>
                  <a:srgbClr val="667085"/>
                </a:solidFill>
              </a:rPr>
              <a:t>both in their twenties</a:t>
            </a:r>
            <a:endParaRPr lang="en-US" sz="2000" dirty="0"/>
          </a:p>
        </p:txBody>
      </p:sp>
      <p:sp>
        <p:nvSpPr>
          <p:cNvPr id="13" name="Text 11"/>
          <p:cNvSpPr txBox="1"/>
          <p:nvPr/>
        </p:nvSpPr>
        <p:spPr>
          <a:xfrm>
            <a:off x="548640" y="6053328"/>
            <a:ext cx="6720840" cy="274320"/>
          </a:xfrm>
          <a:prstGeom prst="rect">
            <a:avLst/>
          </a:prstGeom>
          <a:noFill/>
          <a:ln/>
        </p:spPr>
        <p:txBody>
          <a:bodyPr wrap="square" lIns="0" tIns="0" rIns="0" bIns="0" rtlCol="0" anchor="t"/>
          <a:lstStyle/>
          <a:p>
            <a:pPr indent="0" marL="0">
              <a:buNone/>
            </a:pPr>
            <a:r>
              <a:rPr lang="en-US" sz="1000" i="1" dirty="0">
                <a:solidFill>
                  <a:srgbClr val="8A93A6"/>
                </a:solidFill>
              </a:rPr>
              <a:t>Contract value: Lawson (2015).</a:t>
            </a:r>
            <a:endParaRPr lang="en-US" sz="1000" dirty="0"/>
          </a:p>
        </p:txBody>
      </p:sp>
      <p:sp>
        <p:nvSpPr>
          <p:cNvPr id="14"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5" name="audit rule"/>
          <p:cNvSpPr/>
          <p:nvPr/>
        </p:nvSpPr>
        <p:spPr>
          <a:xfrm>
            <a:off x="7543800" y="868680"/>
            <a:ext cx="73152" cy="5349240"/>
          </a:xfrm>
          <a:prstGeom prst="rect">
            <a:avLst/>
          </a:prstGeom>
          <a:solidFill>
            <a:srgbClr val="C8102E"/>
          </a:solidFill>
          <a:ln/>
        </p:spPr>
      </p:sp>
      <p:sp>
        <p:nvSpPr>
          <p:cNvPr id="16" name="audit circle"/>
          <p:cNvSpPr/>
          <p:nvPr/>
        </p:nvSpPr>
        <p:spPr>
          <a:xfrm>
            <a:off x="7818120" y="1069848"/>
            <a:ext cx="420624" cy="420624"/>
          </a:xfrm>
          <a:prstGeom prst="ellipse">
            <a:avLst/>
          </a:prstGeom>
          <a:solidFill>
            <a:srgbClr val="C8102E"/>
          </a:solidFill>
          <a:ln/>
        </p:spPr>
      </p:sp>
      <p:pic>
        <p:nvPicPr>
          <p:cNvPr id="17" name="audit icon" descr="audit">    </p:cNvPr>
          <p:cNvPicPr>
            <a:picLocks noChangeAspect="1"/>
          </p:cNvPicPr>
          <p:nvPr/>
        </p:nvPicPr>
        <p:blipFill>
          <a:blip r:embed="rId1"/>
          <a:stretch>
            <a:fillRect/>
          </a:stretch>
        </p:blipFill>
        <p:spPr>
          <a:xfrm>
            <a:off x="7923276" y="1175004"/>
            <a:ext cx="210312" cy="210312"/>
          </a:xfrm>
          <a:prstGeom prst="rect">
            <a:avLst/>
          </a:prstGeom>
        </p:spPr>
      </p:pic>
      <p:sp>
        <p:nvSpPr>
          <p:cNvPr id="18" name="Text 15"/>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07</a:t>
            </a:r>
            <a:endParaRPr lang="en-US" sz="1300" dirty="0"/>
          </a:p>
        </p:txBody>
      </p:sp>
      <p:sp>
        <p:nvSpPr>
          <p:cNvPr id="19" name="Text 16"/>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Test 1: the UN definition is met</a:t>
            </a:r>
            <a:endParaRPr lang="en-US" sz="1900" dirty="0"/>
          </a:p>
        </p:txBody>
      </p:sp>
      <p:sp>
        <p:nvSpPr>
          <p:cNvPr id="20" name="Structured group of 3+ persons circle"/>
          <p:cNvSpPr/>
          <p:nvPr/>
        </p:nvSpPr>
        <p:spPr>
          <a:xfrm>
            <a:off x="7818120" y="2633472"/>
            <a:ext cx="310896" cy="310896"/>
          </a:xfrm>
          <a:prstGeom prst="ellipse">
            <a:avLst/>
          </a:prstGeom>
          <a:solidFill>
            <a:srgbClr val="15803D"/>
          </a:solidFill>
          <a:ln/>
        </p:spPr>
      </p:sp>
      <p:pic>
        <p:nvPicPr>
          <p:cNvPr id="21" name="Structured group of 3+ persons icon" descr="Structured group of 3+ persons">    </p:cNvPr>
          <p:cNvPicPr>
            <a:picLocks noChangeAspect="1"/>
          </p:cNvPicPr>
          <p:nvPr/>
        </p:nvPicPr>
        <p:blipFill>
          <a:blip r:embed="rId2"/>
          <a:stretch>
            <a:fillRect/>
          </a:stretch>
        </p:blipFill>
        <p:spPr>
          <a:xfrm>
            <a:off x="7895844" y="2711196"/>
            <a:ext cx="155448" cy="155448"/>
          </a:xfrm>
          <a:prstGeom prst="rect">
            <a:avLst/>
          </a:prstGeom>
        </p:spPr>
      </p:pic>
      <p:sp>
        <p:nvSpPr>
          <p:cNvPr id="22" name="Text 18"/>
          <p:cNvSpPr txBox="1"/>
          <p:nvPr/>
        </p:nvSpPr>
        <p:spPr>
          <a:xfrm>
            <a:off x="8275320" y="2560320"/>
            <a:ext cx="3139135" cy="566928"/>
          </a:xfrm>
          <a:prstGeom prst="rect">
            <a:avLst/>
          </a:prstGeom>
          <a:noFill/>
          <a:ln/>
        </p:spPr>
        <p:txBody>
          <a:bodyPr wrap="square" lIns="0" tIns="0" rIns="0" bIns="0" rtlCol="0" anchor="t"/>
          <a:lstStyle/>
          <a:p>
            <a:pPr indent="0" marL="0">
              <a:buNone/>
            </a:pPr>
            <a:r>
              <a:rPr lang="en-US" sz="1400" b="1" dirty="0">
                <a:solidFill>
                  <a:srgbClr val="101828"/>
                </a:solidFill>
              </a:rPr>
              <a:t>Structured group of 3+ persons</a:t>
            </a:r>
            <a:endParaRPr lang="en-US" sz="1400" dirty="0"/>
          </a:p>
          <a:p>
            <a:pPr indent="0" marL="0">
              <a:buNone/>
            </a:pPr>
            <a:r>
              <a:rPr lang="en-US" sz="1200" dirty="0">
                <a:solidFill>
                  <a:srgbClr val="667085"/>
                </a:solidFill>
              </a:rPr>
              <a:t>Efraim, David, a financier, Henry, suppliers</a:t>
            </a:r>
            <a:endParaRPr lang="en-US" sz="1400" dirty="0"/>
          </a:p>
        </p:txBody>
      </p:sp>
      <p:sp>
        <p:nvSpPr>
          <p:cNvPr id="23" name="Exists over a period of time circle"/>
          <p:cNvSpPr/>
          <p:nvPr/>
        </p:nvSpPr>
        <p:spPr>
          <a:xfrm>
            <a:off x="7818120" y="3236976"/>
            <a:ext cx="310896" cy="310896"/>
          </a:xfrm>
          <a:prstGeom prst="ellipse">
            <a:avLst/>
          </a:prstGeom>
          <a:solidFill>
            <a:srgbClr val="15803D"/>
          </a:solidFill>
          <a:ln/>
        </p:spPr>
      </p:sp>
      <p:pic>
        <p:nvPicPr>
          <p:cNvPr id="24" name="Exists over a period of time icon" descr="Exists over a period of time">    </p:cNvPr>
          <p:cNvPicPr>
            <a:picLocks noChangeAspect="1"/>
          </p:cNvPicPr>
          <p:nvPr/>
        </p:nvPicPr>
        <p:blipFill>
          <a:blip r:embed="rId3"/>
          <a:stretch>
            <a:fillRect/>
          </a:stretch>
        </p:blipFill>
        <p:spPr>
          <a:xfrm>
            <a:off x="7895844" y="3314700"/>
            <a:ext cx="155448" cy="155448"/>
          </a:xfrm>
          <a:prstGeom prst="rect">
            <a:avLst/>
          </a:prstGeom>
        </p:spPr>
      </p:pic>
      <p:sp>
        <p:nvSpPr>
          <p:cNvPr id="25" name="Text 20"/>
          <p:cNvSpPr txBox="1"/>
          <p:nvPr/>
        </p:nvSpPr>
        <p:spPr>
          <a:xfrm>
            <a:off x="8275320" y="3163824"/>
            <a:ext cx="3139135" cy="566928"/>
          </a:xfrm>
          <a:prstGeom prst="rect">
            <a:avLst/>
          </a:prstGeom>
          <a:noFill/>
          <a:ln/>
        </p:spPr>
        <p:txBody>
          <a:bodyPr wrap="square" lIns="0" tIns="0" rIns="0" bIns="0" rtlCol="0" anchor="t"/>
          <a:lstStyle/>
          <a:p>
            <a:pPr indent="0" marL="0">
              <a:buNone/>
            </a:pPr>
            <a:r>
              <a:rPr lang="en-US" sz="1400" b="1" dirty="0">
                <a:solidFill>
                  <a:srgbClr val="101828"/>
                </a:solidFill>
              </a:rPr>
              <a:t>Exists over a period of time</a:t>
            </a:r>
            <a:endParaRPr lang="en-US" sz="1400" dirty="0"/>
          </a:p>
          <a:p>
            <a:pPr indent="0" marL="0">
              <a:buNone/>
            </a:pPr>
            <a:r>
              <a:rPr lang="en-US" sz="1200" dirty="0">
                <a:solidFill>
                  <a:srgbClr val="667085"/>
                </a:solidFill>
              </a:rPr>
              <a:t>Years of contracts, not one deal</a:t>
            </a:r>
            <a:endParaRPr lang="en-US" sz="1400" dirty="0"/>
          </a:p>
        </p:txBody>
      </p:sp>
      <p:sp>
        <p:nvSpPr>
          <p:cNvPr id="26" name="Commits serious crime circle"/>
          <p:cNvSpPr/>
          <p:nvPr/>
        </p:nvSpPr>
        <p:spPr>
          <a:xfrm>
            <a:off x="7818120" y="3840480"/>
            <a:ext cx="310896" cy="310896"/>
          </a:xfrm>
          <a:prstGeom prst="ellipse">
            <a:avLst/>
          </a:prstGeom>
          <a:solidFill>
            <a:srgbClr val="15803D"/>
          </a:solidFill>
          <a:ln/>
        </p:spPr>
      </p:sp>
      <p:pic>
        <p:nvPicPr>
          <p:cNvPr id="27" name="Commits serious crime icon" descr="Commits serious crime">    </p:cNvPr>
          <p:cNvPicPr>
            <a:picLocks noChangeAspect="1"/>
          </p:cNvPicPr>
          <p:nvPr/>
        </p:nvPicPr>
        <p:blipFill>
          <a:blip r:embed="rId4"/>
          <a:stretch>
            <a:fillRect/>
          </a:stretch>
        </p:blipFill>
        <p:spPr>
          <a:xfrm>
            <a:off x="7895844" y="3918204"/>
            <a:ext cx="155448" cy="155448"/>
          </a:xfrm>
          <a:prstGeom prst="rect">
            <a:avLst/>
          </a:prstGeom>
        </p:spPr>
      </p:pic>
      <p:sp>
        <p:nvSpPr>
          <p:cNvPr id="28" name="Text 22"/>
          <p:cNvSpPr txBox="1"/>
          <p:nvPr/>
        </p:nvSpPr>
        <p:spPr>
          <a:xfrm>
            <a:off x="8275320" y="3767328"/>
            <a:ext cx="3139135" cy="566928"/>
          </a:xfrm>
          <a:prstGeom prst="rect">
            <a:avLst/>
          </a:prstGeom>
          <a:noFill/>
          <a:ln/>
        </p:spPr>
        <p:txBody>
          <a:bodyPr wrap="square" lIns="0" tIns="0" rIns="0" bIns="0" rtlCol="0" anchor="t"/>
          <a:lstStyle/>
          <a:p>
            <a:pPr indent="0" marL="0">
              <a:buNone/>
            </a:pPr>
            <a:r>
              <a:rPr lang="en-US" sz="1400" b="1" dirty="0">
                <a:solidFill>
                  <a:srgbClr val="101828"/>
                </a:solidFill>
              </a:rPr>
              <a:t>Commits serious crime</a:t>
            </a:r>
            <a:endParaRPr lang="en-US" sz="1400" dirty="0"/>
          </a:p>
          <a:p>
            <a:pPr indent="0" marL="0">
              <a:buNone/>
            </a:pPr>
            <a:r>
              <a:rPr lang="en-US" sz="1200" dirty="0">
                <a:solidFill>
                  <a:srgbClr val="667085"/>
                </a:solidFill>
              </a:rPr>
              <a:t>Fraud and false statements</a:t>
            </a:r>
            <a:endParaRPr lang="en-US" sz="1400" dirty="0"/>
          </a:p>
        </p:txBody>
      </p:sp>
      <p:sp>
        <p:nvSpPr>
          <p:cNvPr id="29" name="For financial benefit circle"/>
          <p:cNvSpPr/>
          <p:nvPr/>
        </p:nvSpPr>
        <p:spPr>
          <a:xfrm>
            <a:off x="7818120" y="4443984"/>
            <a:ext cx="310896" cy="310896"/>
          </a:xfrm>
          <a:prstGeom prst="ellipse">
            <a:avLst/>
          </a:prstGeom>
          <a:solidFill>
            <a:srgbClr val="15803D"/>
          </a:solidFill>
          <a:ln/>
        </p:spPr>
      </p:sp>
      <p:pic>
        <p:nvPicPr>
          <p:cNvPr id="30" name="For financial benefit icon" descr="For financial benefit">    </p:cNvPr>
          <p:cNvPicPr>
            <a:picLocks noChangeAspect="1"/>
          </p:cNvPicPr>
          <p:nvPr/>
        </p:nvPicPr>
        <p:blipFill>
          <a:blip r:embed="rId5"/>
          <a:stretch>
            <a:fillRect/>
          </a:stretch>
        </p:blipFill>
        <p:spPr>
          <a:xfrm>
            <a:off x="7895844" y="4521708"/>
            <a:ext cx="155448" cy="155448"/>
          </a:xfrm>
          <a:prstGeom prst="rect">
            <a:avLst/>
          </a:prstGeom>
        </p:spPr>
      </p:pic>
      <p:sp>
        <p:nvSpPr>
          <p:cNvPr id="31" name="Text 24"/>
          <p:cNvSpPr txBox="1"/>
          <p:nvPr/>
        </p:nvSpPr>
        <p:spPr>
          <a:xfrm>
            <a:off x="8275320" y="4370832"/>
            <a:ext cx="3139135" cy="566928"/>
          </a:xfrm>
          <a:prstGeom prst="rect">
            <a:avLst/>
          </a:prstGeom>
          <a:noFill/>
          <a:ln/>
        </p:spPr>
        <p:txBody>
          <a:bodyPr wrap="square" lIns="0" tIns="0" rIns="0" bIns="0" rtlCol="0" anchor="t"/>
          <a:lstStyle/>
          <a:p>
            <a:pPr indent="0" marL="0">
              <a:buNone/>
            </a:pPr>
            <a:r>
              <a:rPr lang="en-US" sz="1400" b="1" dirty="0">
                <a:solidFill>
                  <a:srgbClr val="101828"/>
                </a:solidFill>
              </a:rPr>
              <a:t>For financial benefit</a:t>
            </a:r>
            <a:endParaRPr lang="en-US" sz="1400" dirty="0"/>
          </a:p>
          <a:p>
            <a:pPr indent="0" marL="0">
              <a:buNone/>
            </a:pPr>
            <a:r>
              <a:rPr lang="en-US" sz="1200" dirty="0">
                <a:solidFill>
                  <a:srgbClr val="667085"/>
                </a:solidFill>
              </a:rPr>
              <a:t>A $298M contract</a:t>
            </a:r>
            <a:endParaRPr lang="en-US" sz="1400" dirty="0"/>
          </a:p>
        </p:txBody>
      </p:sp>
      <p:sp>
        <p:nvSpPr>
          <p:cNvPr id="32" name="Transnational circle"/>
          <p:cNvSpPr/>
          <p:nvPr/>
        </p:nvSpPr>
        <p:spPr>
          <a:xfrm>
            <a:off x="7818120" y="5047488"/>
            <a:ext cx="310896" cy="310896"/>
          </a:xfrm>
          <a:prstGeom prst="ellipse">
            <a:avLst/>
          </a:prstGeom>
          <a:solidFill>
            <a:srgbClr val="15803D"/>
          </a:solidFill>
          <a:ln/>
        </p:spPr>
      </p:sp>
      <p:pic>
        <p:nvPicPr>
          <p:cNvPr id="33" name="Transnational icon" descr="Transnational">    </p:cNvPr>
          <p:cNvPicPr>
            <a:picLocks noChangeAspect="1"/>
          </p:cNvPicPr>
          <p:nvPr/>
        </p:nvPicPr>
        <p:blipFill>
          <a:blip r:embed="rId6"/>
          <a:stretch>
            <a:fillRect/>
          </a:stretch>
        </p:blipFill>
        <p:spPr>
          <a:xfrm>
            <a:off x="7895844" y="5125212"/>
            <a:ext cx="155448" cy="155448"/>
          </a:xfrm>
          <a:prstGeom prst="rect">
            <a:avLst/>
          </a:prstGeom>
        </p:spPr>
      </p:pic>
      <p:sp>
        <p:nvSpPr>
          <p:cNvPr id="34" name="Text 26"/>
          <p:cNvSpPr txBox="1"/>
          <p:nvPr/>
        </p:nvSpPr>
        <p:spPr>
          <a:xfrm>
            <a:off x="8275320" y="4974336"/>
            <a:ext cx="3139135" cy="566928"/>
          </a:xfrm>
          <a:prstGeom prst="rect">
            <a:avLst/>
          </a:prstGeom>
          <a:noFill/>
          <a:ln/>
        </p:spPr>
        <p:txBody>
          <a:bodyPr wrap="square" lIns="0" tIns="0" rIns="0" bIns="0" rtlCol="0" anchor="t"/>
          <a:lstStyle/>
          <a:p>
            <a:pPr indent="0" marL="0">
              <a:buNone/>
            </a:pPr>
            <a:r>
              <a:rPr lang="en-US" sz="1400" b="1" dirty="0">
                <a:solidFill>
                  <a:srgbClr val="101828"/>
                </a:solidFill>
              </a:rPr>
              <a:t>Transnational</a:t>
            </a:r>
            <a:endParaRPr lang="en-US" sz="1400" dirty="0"/>
          </a:p>
          <a:p>
            <a:pPr indent="0" marL="0">
              <a:buNone/>
            </a:pPr>
            <a:r>
              <a:rPr lang="en-US" sz="1200" dirty="0">
                <a:solidFill>
                  <a:srgbClr val="667085"/>
                </a:solidFill>
              </a:rPr>
              <a:t>Five countries</a:t>
            </a:r>
            <a:endParaRPr lang="en-US" sz="1400" dirty="0"/>
          </a:p>
        </p:txBody>
      </p:sp>
      <p:sp>
        <p:nvSpPr>
          <p:cNvPr id="35" name="verdict"/>
          <p:cNvSpPr/>
          <p:nvPr/>
        </p:nvSpPr>
        <p:spPr>
          <a:xfrm>
            <a:off x="7818120" y="5623560"/>
            <a:ext cx="3596335" cy="457200"/>
          </a:xfrm>
          <a:prstGeom prst="rect">
            <a:avLst/>
          </a:prstGeom>
          <a:solidFill>
            <a:srgbClr val="FFFFFF"/>
          </a:solidFill>
          <a:ln w="19050">
            <a:solidFill>
              <a:srgbClr val="15803D"/>
            </a:solidFill>
            <a:prstDash val="solid"/>
          </a:ln>
        </p:spPr>
      </p:sp>
      <p:sp>
        <p:nvSpPr>
          <p:cNvPr id="36" name="Text 28"/>
          <p:cNvSpPr txBox="1"/>
          <p:nvPr/>
        </p:nvSpPr>
        <p:spPr>
          <a:xfrm>
            <a:off x="7818120" y="5623560"/>
            <a:ext cx="3596335" cy="457200"/>
          </a:xfrm>
          <a:prstGeom prst="rect">
            <a:avLst/>
          </a:prstGeom>
          <a:noFill/>
          <a:ln/>
        </p:spPr>
        <p:txBody>
          <a:bodyPr wrap="square" lIns="0" tIns="0" rIns="0" bIns="0" rtlCol="0" anchor="ctr"/>
          <a:lstStyle/>
          <a:p>
            <a:pPr algn="ctr" indent="0" marL="0">
              <a:buNone/>
            </a:pPr>
            <a:r>
              <a:rPr lang="en-US" sz="1400" b="1" dirty="0">
                <a:solidFill>
                  <a:srgbClr val="15803D"/>
                </a:solidFill>
              </a:rPr>
              <a:t>Organized crime under UNTOC, Article 2</a:t>
            </a:r>
            <a:endParaRPr lang="en-US" sz="14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RISK FACTORS</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Every startup has risks. Ours are manageable.</a:t>
            </a:r>
            <a:endParaRPr lang="en-US" sz="2800" dirty="0"/>
          </a:p>
        </p:txBody>
      </p:sp>
      <p:sp>
        <p:nvSpPr>
          <p:cNvPr id="4" name="Text 2"/>
          <p:cNvSpPr txBox="1"/>
          <p:nvPr/>
        </p:nvSpPr>
        <p:spPr>
          <a:xfrm>
            <a:off x="548640" y="2514600"/>
            <a:ext cx="2651760" cy="274320"/>
          </a:xfrm>
          <a:prstGeom prst="rect">
            <a:avLst/>
          </a:prstGeom>
          <a:noFill/>
          <a:ln/>
        </p:spPr>
        <p:txBody>
          <a:bodyPr wrap="square" lIns="0" tIns="0" rIns="0" bIns="0" rtlCol="0" anchor="ctr"/>
          <a:lstStyle/>
          <a:p>
            <a:pPr indent="0" marL="0">
              <a:buNone/>
            </a:pPr>
            <a:r>
              <a:rPr lang="en-US" sz="1100" b="1" spc="200" kern="0" dirty="0">
                <a:solidFill>
                  <a:srgbClr val="667085"/>
                </a:solidFill>
                <a:latin typeface="Arial" pitchFamily="34" charset="0"/>
                <a:ea typeface="Arial" pitchFamily="34" charset="-122"/>
                <a:cs typeface="Arial" pitchFamily="34" charset="-120"/>
              </a:rPr>
              <a:t>RISK FACTOR (AS PITCHED)</a:t>
            </a:r>
            <a:endParaRPr lang="en-US" sz="1100" dirty="0"/>
          </a:p>
        </p:txBody>
      </p:sp>
      <p:sp>
        <p:nvSpPr>
          <p:cNvPr id="5" name="Text 3"/>
          <p:cNvSpPr txBox="1"/>
          <p:nvPr/>
        </p:nvSpPr>
        <p:spPr>
          <a:xfrm>
            <a:off x="3383280" y="2514600"/>
            <a:ext cx="3840480" cy="274320"/>
          </a:xfrm>
          <a:prstGeom prst="rect">
            <a:avLst/>
          </a:prstGeom>
          <a:noFill/>
          <a:ln/>
        </p:spPr>
        <p:txBody>
          <a:bodyPr wrap="square" lIns="0" tIns="0" rIns="0" bIns="0" rtlCol="0" anchor="ctr"/>
          <a:lstStyle/>
          <a:p>
            <a:pPr indent="0" marL="0">
              <a:buNone/>
            </a:pPr>
            <a:r>
              <a:rPr lang="en-US" sz="1100" b="1" spc="200" kern="0" dirty="0">
                <a:solidFill>
                  <a:srgbClr val="C8102E"/>
                </a:solidFill>
                <a:latin typeface="Arial" pitchFamily="34" charset="0"/>
                <a:ea typeface="Arial" pitchFamily="34" charset="-122"/>
                <a:cs typeface="Arial" pitchFamily="34" charset="-120"/>
              </a:rPr>
              <a:t>WHAT ACTUALLY HAPPENED</a:t>
            </a:r>
            <a:endParaRPr lang="en-US" sz="1100" dirty="0"/>
          </a:p>
        </p:txBody>
      </p:sp>
      <p:sp>
        <p:nvSpPr>
          <p:cNvPr id="6" name="row rule"/>
          <p:cNvSpPr/>
          <p:nvPr/>
        </p:nvSpPr>
        <p:spPr>
          <a:xfrm>
            <a:off x="548640" y="2852928"/>
            <a:ext cx="6675120" cy="0"/>
          </a:xfrm>
          <a:prstGeom prst="line">
            <a:avLst/>
          </a:prstGeom>
          <a:noFill/>
          <a:ln w="12700">
            <a:solidFill>
              <a:srgbClr val="E4E7EC"/>
            </a:solidFill>
            <a:prstDash val="solid"/>
          </a:ln>
        </p:spPr>
      </p:sp>
      <p:sp>
        <p:nvSpPr>
          <p:cNvPr id="7" name="Text 5"/>
          <p:cNvSpPr txBox="1"/>
          <p:nvPr/>
        </p:nvSpPr>
        <p:spPr>
          <a:xfrm>
            <a:off x="548640" y="2889504"/>
            <a:ext cx="2651760" cy="585216"/>
          </a:xfrm>
          <a:prstGeom prst="rect">
            <a:avLst/>
          </a:prstGeom>
          <a:noFill/>
          <a:ln/>
        </p:spPr>
        <p:txBody>
          <a:bodyPr wrap="square" lIns="0" tIns="0" rIns="0" bIns="0" rtlCol="0" anchor="ctr"/>
          <a:lstStyle/>
          <a:p>
            <a:pPr indent="0" marL="0">
              <a:buNone/>
            </a:pPr>
            <a:r>
              <a:rPr lang="en-US" sz="1500" dirty="0">
                <a:solidFill>
                  <a:srgbClr val="475467"/>
                </a:solidFill>
              </a:rPr>
              <a:t>Media attention</a:t>
            </a:r>
            <a:endParaRPr lang="en-US" sz="1500" dirty="0"/>
          </a:p>
        </p:txBody>
      </p:sp>
      <p:pic>
        <p:nvPicPr>
          <p:cNvPr id="8" name="materialized icon" descr="preencoded.png">    </p:cNvPr>
          <p:cNvPicPr>
            <a:picLocks noChangeAspect="1"/>
          </p:cNvPicPr>
          <p:nvPr/>
        </p:nvPicPr>
        <p:blipFill>
          <a:blip r:embed="rId1"/>
          <a:stretch>
            <a:fillRect/>
          </a:stretch>
        </p:blipFill>
        <p:spPr>
          <a:xfrm>
            <a:off x="3063240" y="3054096"/>
            <a:ext cx="219456" cy="219456"/>
          </a:xfrm>
          <a:prstGeom prst="rect">
            <a:avLst/>
          </a:prstGeom>
        </p:spPr>
      </p:pic>
      <p:sp>
        <p:nvSpPr>
          <p:cNvPr id="9" name="Text 6"/>
          <p:cNvSpPr txBox="1"/>
          <p:nvPr/>
        </p:nvSpPr>
        <p:spPr>
          <a:xfrm>
            <a:off x="3383280" y="2889504"/>
            <a:ext cx="3840480" cy="585216"/>
          </a:xfrm>
          <a:prstGeom prst="rect">
            <a:avLst/>
          </a:prstGeom>
          <a:noFill/>
          <a:ln/>
        </p:spPr>
        <p:txBody>
          <a:bodyPr wrap="square" lIns="0" tIns="0" rIns="0" bIns="0" rtlCol="0" anchor="ctr"/>
          <a:lstStyle/>
          <a:p>
            <a:pPr indent="0" marL="0">
              <a:buNone/>
            </a:pPr>
            <a:r>
              <a:rPr lang="en-US" sz="1400" b="1" dirty="0">
                <a:solidFill>
                  <a:srgbClr val="9B1C1C"/>
                </a:solidFill>
              </a:rPr>
              <a:t>A press exposé on AEY’s old Chinese ammunition (2008)</a:t>
            </a:r>
            <a:endParaRPr lang="en-US" sz="1400" dirty="0"/>
          </a:p>
        </p:txBody>
      </p:sp>
      <p:sp>
        <p:nvSpPr>
          <p:cNvPr id="10" name="row rule"/>
          <p:cNvSpPr/>
          <p:nvPr/>
        </p:nvSpPr>
        <p:spPr>
          <a:xfrm>
            <a:off x="548640" y="3511296"/>
            <a:ext cx="6675120" cy="0"/>
          </a:xfrm>
          <a:prstGeom prst="line">
            <a:avLst/>
          </a:prstGeom>
          <a:noFill/>
          <a:ln w="12700">
            <a:solidFill>
              <a:srgbClr val="E4E7EC"/>
            </a:solidFill>
            <a:prstDash val="solid"/>
          </a:ln>
        </p:spPr>
      </p:sp>
      <p:sp>
        <p:nvSpPr>
          <p:cNvPr id="11" name="Text 8"/>
          <p:cNvSpPr txBox="1"/>
          <p:nvPr/>
        </p:nvSpPr>
        <p:spPr>
          <a:xfrm>
            <a:off x="548640" y="3547872"/>
            <a:ext cx="2651760" cy="585216"/>
          </a:xfrm>
          <a:prstGeom prst="rect">
            <a:avLst/>
          </a:prstGeom>
          <a:noFill/>
          <a:ln/>
        </p:spPr>
        <p:txBody>
          <a:bodyPr wrap="square" lIns="0" tIns="0" rIns="0" bIns="0" rtlCol="0" anchor="ctr"/>
          <a:lstStyle/>
          <a:p>
            <a:pPr indent="0" marL="0">
              <a:buNone/>
            </a:pPr>
            <a:r>
              <a:rPr lang="en-US" sz="1500" dirty="0">
                <a:solidFill>
                  <a:srgbClr val="475467"/>
                </a:solidFill>
              </a:rPr>
              <a:t>Regulatory scrutiny</a:t>
            </a:r>
            <a:endParaRPr lang="en-US" sz="1500" dirty="0"/>
          </a:p>
        </p:txBody>
      </p:sp>
      <p:pic>
        <p:nvPicPr>
          <p:cNvPr id="12" name="materialized icon" descr="preencoded.png">    </p:cNvPr>
          <p:cNvPicPr>
            <a:picLocks noChangeAspect="1"/>
          </p:cNvPicPr>
          <p:nvPr/>
        </p:nvPicPr>
        <p:blipFill>
          <a:blip r:embed="rId2"/>
          <a:stretch>
            <a:fillRect/>
          </a:stretch>
        </p:blipFill>
        <p:spPr>
          <a:xfrm>
            <a:off x="3063240" y="3712464"/>
            <a:ext cx="219456" cy="219456"/>
          </a:xfrm>
          <a:prstGeom prst="rect">
            <a:avLst/>
          </a:prstGeom>
        </p:spPr>
      </p:pic>
      <p:sp>
        <p:nvSpPr>
          <p:cNvPr id="13" name="Text 9"/>
          <p:cNvSpPr txBox="1"/>
          <p:nvPr/>
        </p:nvSpPr>
        <p:spPr>
          <a:xfrm>
            <a:off x="3383280" y="3547872"/>
            <a:ext cx="3840480" cy="585216"/>
          </a:xfrm>
          <a:prstGeom prst="rect">
            <a:avLst/>
          </a:prstGeom>
          <a:noFill/>
          <a:ln/>
        </p:spPr>
        <p:txBody>
          <a:bodyPr wrap="square" lIns="0" tIns="0" rIns="0" bIns="0" rtlCol="0" anchor="ctr"/>
          <a:lstStyle/>
          <a:p>
            <a:pPr indent="0" marL="0">
              <a:buNone/>
            </a:pPr>
            <a:r>
              <a:rPr lang="en-US" sz="1400" b="1" dirty="0">
                <a:solidFill>
                  <a:srgbClr val="9B1C1C"/>
                </a:solidFill>
              </a:rPr>
              <a:t>The Army suspends AEY; the founders are indicted (2008)</a:t>
            </a:r>
            <a:endParaRPr lang="en-US" sz="1400" dirty="0"/>
          </a:p>
        </p:txBody>
      </p:sp>
      <p:sp>
        <p:nvSpPr>
          <p:cNvPr id="14" name="row rule"/>
          <p:cNvSpPr/>
          <p:nvPr/>
        </p:nvSpPr>
        <p:spPr>
          <a:xfrm>
            <a:off x="548640" y="4169664"/>
            <a:ext cx="6675120" cy="0"/>
          </a:xfrm>
          <a:prstGeom prst="line">
            <a:avLst/>
          </a:prstGeom>
          <a:noFill/>
          <a:ln w="12700">
            <a:solidFill>
              <a:srgbClr val="E4E7EC"/>
            </a:solidFill>
            <a:prstDash val="solid"/>
          </a:ln>
        </p:spPr>
      </p:sp>
      <p:sp>
        <p:nvSpPr>
          <p:cNvPr id="15" name="Text 11"/>
          <p:cNvSpPr txBox="1"/>
          <p:nvPr/>
        </p:nvSpPr>
        <p:spPr>
          <a:xfrm>
            <a:off x="548640" y="4206240"/>
            <a:ext cx="2651760" cy="585216"/>
          </a:xfrm>
          <a:prstGeom prst="rect">
            <a:avLst/>
          </a:prstGeom>
          <a:noFill/>
          <a:ln/>
        </p:spPr>
        <p:txBody>
          <a:bodyPr wrap="square" lIns="0" tIns="0" rIns="0" bIns="0" rtlCol="0" anchor="ctr"/>
          <a:lstStyle/>
          <a:p>
            <a:pPr indent="0" marL="0">
              <a:buNone/>
            </a:pPr>
            <a:r>
              <a:rPr lang="en-US" sz="1500" dirty="0">
                <a:solidFill>
                  <a:srgbClr val="475467"/>
                </a:solidFill>
              </a:rPr>
              <a:t>Partner disputes</a:t>
            </a:r>
            <a:endParaRPr lang="en-US" sz="1500" dirty="0"/>
          </a:p>
        </p:txBody>
      </p:sp>
      <p:pic>
        <p:nvPicPr>
          <p:cNvPr id="16" name="materialized icon" descr="preencoded.png">    </p:cNvPr>
          <p:cNvPicPr>
            <a:picLocks noChangeAspect="1"/>
          </p:cNvPicPr>
          <p:nvPr/>
        </p:nvPicPr>
        <p:blipFill>
          <a:blip r:embed="rId3"/>
          <a:stretch>
            <a:fillRect/>
          </a:stretch>
        </p:blipFill>
        <p:spPr>
          <a:xfrm>
            <a:off x="3063240" y="4370832"/>
            <a:ext cx="219456" cy="219456"/>
          </a:xfrm>
          <a:prstGeom prst="rect">
            <a:avLst/>
          </a:prstGeom>
        </p:spPr>
      </p:pic>
      <p:sp>
        <p:nvSpPr>
          <p:cNvPr id="17" name="Text 12"/>
          <p:cNvSpPr txBox="1"/>
          <p:nvPr/>
        </p:nvSpPr>
        <p:spPr>
          <a:xfrm>
            <a:off x="3383280" y="4206240"/>
            <a:ext cx="3840480" cy="585216"/>
          </a:xfrm>
          <a:prstGeom prst="rect">
            <a:avLst/>
          </a:prstGeom>
          <a:noFill/>
          <a:ln/>
        </p:spPr>
        <p:txBody>
          <a:bodyPr wrap="square" lIns="0" tIns="0" rIns="0" bIns="0" rtlCol="0" anchor="ctr"/>
          <a:lstStyle/>
          <a:p>
            <a:pPr indent="0" marL="0">
              <a:buNone/>
            </a:pPr>
            <a:r>
              <a:rPr lang="en-US" sz="1400" b="1" dirty="0">
                <a:solidFill>
                  <a:srgbClr val="9B1C1C"/>
                </a:solidFill>
              </a:rPr>
              <a:t>Efraim cuts Henry out; the partnership collapses</a:t>
            </a:r>
            <a:endParaRPr lang="en-US" sz="1400" dirty="0"/>
          </a:p>
        </p:txBody>
      </p:sp>
      <p:sp>
        <p:nvSpPr>
          <p:cNvPr id="18" name="row rule"/>
          <p:cNvSpPr/>
          <p:nvPr/>
        </p:nvSpPr>
        <p:spPr>
          <a:xfrm>
            <a:off x="548640" y="4828032"/>
            <a:ext cx="6675120" cy="0"/>
          </a:xfrm>
          <a:prstGeom prst="line">
            <a:avLst/>
          </a:prstGeom>
          <a:noFill/>
          <a:ln w="12700">
            <a:solidFill>
              <a:srgbClr val="E4E7EC"/>
            </a:solidFill>
            <a:prstDash val="solid"/>
          </a:ln>
        </p:spPr>
      </p:sp>
      <p:sp>
        <p:nvSpPr>
          <p:cNvPr id="19" name="Text 14"/>
          <p:cNvSpPr txBox="1"/>
          <p:nvPr/>
        </p:nvSpPr>
        <p:spPr>
          <a:xfrm>
            <a:off x="548640" y="4864608"/>
            <a:ext cx="2651760" cy="585216"/>
          </a:xfrm>
          <a:prstGeom prst="rect">
            <a:avLst/>
          </a:prstGeom>
          <a:noFill/>
          <a:ln/>
        </p:spPr>
        <p:txBody>
          <a:bodyPr wrap="square" lIns="0" tIns="0" rIns="0" bIns="0" rtlCol="0" anchor="ctr"/>
          <a:lstStyle/>
          <a:p>
            <a:pPr indent="0" marL="0">
              <a:buNone/>
            </a:pPr>
            <a:r>
              <a:rPr lang="en-US" sz="1500" dirty="0">
                <a:solidFill>
                  <a:srgbClr val="475467"/>
                </a:solidFill>
              </a:rPr>
              <a:t>Legal exposure</a:t>
            </a:r>
            <a:endParaRPr lang="en-US" sz="1500" dirty="0"/>
          </a:p>
        </p:txBody>
      </p:sp>
      <p:pic>
        <p:nvPicPr>
          <p:cNvPr id="20" name="materialized icon" descr="preencoded.png">    </p:cNvPr>
          <p:cNvPicPr>
            <a:picLocks noChangeAspect="1"/>
          </p:cNvPicPr>
          <p:nvPr/>
        </p:nvPicPr>
        <p:blipFill>
          <a:blip r:embed="rId4"/>
          <a:stretch>
            <a:fillRect/>
          </a:stretch>
        </p:blipFill>
        <p:spPr>
          <a:xfrm>
            <a:off x="3063240" y="5029200"/>
            <a:ext cx="219456" cy="219456"/>
          </a:xfrm>
          <a:prstGeom prst="rect">
            <a:avLst/>
          </a:prstGeom>
        </p:spPr>
      </p:pic>
      <p:sp>
        <p:nvSpPr>
          <p:cNvPr id="21" name="Text 15"/>
          <p:cNvSpPr txBox="1"/>
          <p:nvPr/>
        </p:nvSpPr>
        <p:spPr>
          <a:xfrm>
            <a:off x="3383280" y="4864608"/>
            <a:ext cx="3840480" cy="585216"/>
          </a:xfrm>
          <a:prstGeom prst="rect">
            <a:avLst/>
          </a:prstGeom>
          <a:noFill/>
          <a:ln/>
        </p:spPr>
        <p:txBody>
          <a:bodyPr wrap="square" lIns="0" tIns="0" rIns="0" bIns="0" rtlCol="0" anchor="ctr"/>
          <a:lstStyle/>
          <a:p>
            <a:pPr indent="0" marL="0">
              <a:buNone/>
            </a:pPr>
            <a:r>
              <a:rPr lang="en-US" sz="1400" b="1" dirty="0">
                <a:solidFill>
                  <a:srgbClr val="9B1C1C"/>
                </a:solidFill>
              </a:rPr>
              <a:t>Efraim: 4 years in prison. David: 7 months of house arrest</a:t>
            </a:r>
            <a:endParaRPr lang="en-US" sz="1400" dirty="0"/>
          </a:p>
        </p:txBody>
      </p:sp>
      <p:sp>
        <p:nvSpPr>
          <p:cNvPr id="22" name="audit stamp"/>
          <p:cNvSpPr txBox="1"/>
          <p:nvPr/>
        </p:nvSpPr>
        <p:spPr>
          <a:xfrm rot="-300000">
            <a:off x="3291840" y="5577840"/>
            <a:ext cx="2753360" cy="483108"/>
          </a:xfrm>
          <a:prstGeom prst="rect">
            <a:avLst/>
          </a:prstGeom>
          <a:noFill/>
          <a:ln w="38100">
            <a:solidFill>
              <a:srgbClr val="C8102E"/>
            </a:solidFill>
          </a:ln>
        </p:spPr>
        <p:txBody>
          <a:bodyPr wrap="square" lIns="0" tIns="0" rIns="0" bIns="0" rtlCol="0" anchor="ctr"/>
          <a:lstStyle/>
          <a:p>
            <a:pPr algn="ctr" indent="0" marL="0">
              <a:buNone/>
            </a:pPr>
            <a:r>
              <a:rPr lang="en-US" sz="1500" b="1" spc="100" kern="0" dirty="0">
                <a:solidFill>
                  <a:srgbClr val="C8102E"/>
                </a:solidFill>
                <a:latin typeface="Courier New" pitchFamily="34" charset="0"/>
                <a:ea typeface="Courier New" pitchFamily="34" charset="-122"/>
                <a:cs typeface="Courier New" pitchFamily="34" charset="-120"/>
              </a:rPr>
              <a:t>ALL MATERIALIZED</a:t>
            </a:r>
            <a:endParaRPr lang="en-US" sz="1500" dirty="0"/>
          </a:p>
        </p:txBody>
      </p:sp>
      <p:sp>
        <p:nvSpPr>
          <p:cNvPr id="23" name="Text 17"/>
          <p:cNvSpPr txBox="1"/>
          <p:nvPr/>
        </p:nvSpPr>
        <p:spPr>
          <a:xfrm>
            <a:off x="548640" y="6053328"/>
            <a:ext cx="2560320" cy="274320"/>
          </a:xfrm>
          <a:prstGeom prst="rect">
            <a:avLst/>
          </a:prstGeom>
          <a:noFill/>
          <a:ln/>
        </p:spPr>
        <p:txBody>
          <a:bodyPr wrap="square" lIns="0" tIns="0" rIns="0" bIns="0" rtlCol="0" anchor="t"/>
          <a:lstStyle/>
          <a:p>
            <a:pPr indent="0" marL="0">
              <a:buNone/>
            </a:pPr>
            <a:r>
              <a:rPr lang="en-US" sz="1000" i="1" dirty="0">
                <a:solidFill>
                  <a:srgbClr val="8A93A6"/>
                </a:solidFill>
              </a:rPr>
              <a:t>Sources: Lawson (2015).</a:t>
            </a:r>
            <a:endParaRPr lang="en-US" sz="1000" dirty="0"/>
          </a:p>
        </p:txBody>
      </p:sp>
      <p:sp>
        <p:nvSpPr>
          <p:cNvPr id="24"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25" name="audit rule"/>
          <p:cNvSpPr/>
          <p:nvPr/>
        </p:nvSpPr>
        <p:spPr>
          <a:xfrm>
            <a:off x="7543800" y="868680"/>
            <a:ext cx="73152" cy="5349240"/>
          </a:xfrm>
          <a:prstGeom prst="rect">
            <a:avLst/>
          </a:prstGeom>
          <a:solidFill>
            <a:srgbClr val="C8102E"/>
          </a:solidFill>
          <a:ln/>
        </p:spPr>
      </p:sp>
      <p:sp>
        <p:nvSpPr>
          <p:cNvPr id="26" name="audit circle"/>
          <p:cNvSpPr/>
          <p:nvPr/>
        </p:nvSpPr>
        <p:spPr>
          <a:xfrm>
            <a:off x="7818120" y="1069848"/>
            <a:ext cx="420624" cy="420624"/>
          </a:xfrm>
          <a:prstGeom prst="ellipse">
            <a:avLst/>
          </a:prstGeom>
          <a:solidFill>
            <a:srgbClr val="C8102E"/>
          </a:solidFill>
          <a:ln/>
        </p:spPr>
      </p:sp>
      <p:pic>
        <p:nvPicPr>
          <p:cNvPr id="27" name="audit icon" descr="audit">    </p:cNvPr>
          <p:cNvPicPr>
            <a:picLocks noChangeAspect="1"/>
          </p:cNvPicPr>
          <p:nvPr/>
        </p:nvPicPr>
        <p:blipFill>
          <a:blip r:embed="rId5"/>
          <a:stretch>
            <a:fillRect/>
          </a:stretch>
        </p:blipFill>
        <p:spPr>
          <a:xfrm>
            <a:off x="7923276" y="1175004"/>
            <a:ext cx="210312" cy="210312"/>
          </a:xfrm>
          <a:prstGeom prst="rect">
            <a:avLst/>
          </a:prstGeom>
        </p:spPr>
      </p:pic>
      <p:sp>
        <p:nvSpPr>
          <p:cNvPr id="28" name="Text 21"/>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08</a:t>
            </a:r>
            <a:endParaRPr lang="en-US" sz="1300" dirty="0"/>
          </a:p>
        </p:txBody>
      </p:sp>
      <p:sp>
        <p:nvSpPr>
          <p:cNvPr id="29" name="Text 22"/>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Test 2: Abadinsky’s attributes, mostly not met</a:t>
            </a:r>
            <a:endParaRPr lang="en-US" sz="1900" dirty="0"/>
          </a:p>
        </p:txBody>
      </p:sp>
      <p:sp>
        <p:nvSpPr>
          <p:cNvPr id="30" name="No political goals circle"/>
          <p:cNvSpPr/>
          <p:nvPr/>
        </p:nvSpPr>
        <p:spPr>
          <a:xfrm>
            <a:off x="7818120" y="2606040"/>
            <a:ext cx="274320" cy="274320"/>
          </a:xfrm>
          <a:prstGeom prst="ellipse">
            <a:avLst/>
          </a:prstGeom>
          <a:solidFill>
            <a:srgbClr val="15803D"/>
          </a:solidFill>
          <a:ln/>
        </p:spPr>
      </p:sp>
      <p:pic>
        <p:nvPicPr>
          <p:cNvPr id="31" name="No political goals icon" descr="No political goals">    </p:cNvPr>
          <p:cNvPicPr>
            <a:picLocks noChangeAspect="1"/>
          </p:cNvPicPr>
          <p:nvPr/>
        </p:nvPicPr>
        <p:blipFill>
          <a:blip r:embed="rId6"/>
          <a:stretch>
            <a:fillRect/>
          </a:stretch>
        </p:blipFill>
        <p:spPr>
          <a:xfrm>
            <a:off x="7886700" y="2674620"/>
            <a:ext cx="137160" cy="137160"/>
          </a:xfrm>
          <a:prstGeom prst="rect">
            <a:avLst/>
          </a:prstGeom>
        </p:spPr>
      </p:pic>
      <p:sp>
        <p:nvSpPr>
          <p:cNvPr id="32" name="Text 24"/>
          <p:cNvSpPr txBox="1"/>
          <p:nvPr/>
        </p:nvSpPr>
        <p:spPr>
          <a:xfrm>
            <a:off x="8229600" y="2560320"/>
            <a:ext cx="3184855" cy="365760"/>
          </a:xfrm>
          <a:prstGeom prst="rect">
            <a:avLst/>
          </a:prstGeom>
          <a:noFill/>
          <a:ln/>
        </p:spPr>
        <p:txBody>
          <a:bodyPr wrap="square" lIns="0" tIns="0" rIns="0" bIns="0" rtlCol="0" anchor="ctr"/>
          <a:lstStyle/>
          <a:p>
            <a:pPr indent="0" marL="0">
              <a:buNone/>
            </a:pPr>
            <a:r>
              <a:rPr lang="en-US" sz="1350" dirty="0">
                <a:solidFill>
                  <a:srgbClr val="101828"/>
                </a:solidFill>
              </a:rPr>
              <a:t>No political goals</a:t>
            </a:r>
            <a:endParaRPr lang="en-US" sz="1350" dirty="0"/>
          </a:p>
        </p:txBody>
      </p:sp>
      <p:sp>
        <p:nvSpPr>
          <p:cNvPr id="33" name="Hierarchy of ranks circle"/>
          <p:cNvSpPr/>
          <p:nvPr/>
        </p:nvSpPr>
        <p:spPr>
          <a:xfrm>
            <a:off x="7818120" y="3017520"/>
            <a:ext cx="274320" cy="274320"/>
          </a:xfrm>
          <a:prstGeom prst="ellipse">
            <a:avLst/>
          </a:prstGeom>
          <a:solidFill>
            <a:srgbClr val="C8102E"/>
          </a:solidFill>
          <a:ln/>
        </p:spPr>
      </p:sp>
      <p:pic>
        <p:nvPicPr>
          <p:cNvPr id="34" name="Hierarchy of ranks icon" descr="Hierarchy of ranks">    </p:cNvPr>
          <p:cNvPicPr>
            <a:picLocks noChangeAspect="1"/>
          </p:cNvPicPr>
          <p:nvPr/>
        </p:nvPicPr>
        <p:blipFill>
          <a:blip r:embed="rId7"/>
          <a:stretch>
            <a:fillRect/>
          </a:stretch>
        </p:blipFill>
        <p:spPr>
          <a:xfrm>
            <a:off x="7886700" y="3086100"/>
            <a:ext cx="137160" cy="137160"/>
          </a:xfrm>
          <a:prstGeom prst="rect">
            <a:avLst/>
          </a:prstGeom>
        </p:spPr>
      </p:pic>
      <p:sp>
        <p:nvSpPr>
          <p:cNvPr id="35" name="Text 26"/>
          <p:cNvSpPr txBox="1"/>
          <p:nvPr/>
        </p:nvSpPr>
        <p:spPr>
          <a:xfrm>
            <a:off x="8229600" y="2971800"/>
            <a:ext cx="3184855" cy="365760"/>
          </a:xfrm>
          <a:prstGeom prst="rect">
            <a:avLst/>
          </a:prstGeom>
          <a:noFill/>
          <a:ln/>
        </p:spPr>
        <p:txBody>
          <a:bodyPr wrap="square" lIns="0" tIns="0" rIns="0" bIns="0" rtlCol="0" anchor="ctr"/>
          <a:lstStyle/>
          <a:p>
            <a:pPr indent="0" marL="0">
              <a:buNone/>
            </a:pPr>
            <a:r>
              <a:rPr lang="en-US" sz="1350" dirty="0">
                <a:solidFill>
                  <a:srgbClr val="101828"/>
                </a:solidFill>
              </a:rPr>
              <a:t>Hierarchy of ranks</a:t>
            </a:r>
            <a:endParaRPr lang="en-US" sz="1350" dirty="0"/>
          </a:p>
        </p:txBody>
      </p:sp>
      <p:sp>
        <p:nvSpPr>
          <p:cNvPr id="36" name="Limited, exclusive membership circle"/>
          <p:cNvSpPr/>
          <p:nvPr/>
        </p:nvSpPr>
        <p:spPr>
          <a:xfrm>
            <a:off x="7818120" y="3429000"/>
            <a:ext cx="274320" cy="274320"/>
          </a:xfrm>
          <a:prstGeom prst="ellipse">
            <a:avLst/>
          </a:prstGeom>
          <a:solidFill>
            <a:srgbClr val="C8102E"/>
          </a:solidFill>
          <a:ln/>
        </p:spPr>
      </p:sp>
      <p:pic>
        <p:nvPicPr>
          <p:cNvPr id="37" name="Limited, exclusive membership icon" descr="Limited, exclusive membership">    </p:cNvPr>
          <p:cNvPicPr>
            <a:picLocks noChangeAspect="1"/>
          </p:cNvPicPr>
          <p:nvPr/>
        </p:nvPicPr>
        <p:blipFill>
          <a:blip r:embed="rId8"/>
          <a:stretch>
            <a:fillRect/>
          </a:stretch>
        </p:blipFill>
        <p:spPr>
          <a:xfrm>
            <a:off x="7886700" y="3497580"/>
            <a:ext cx="137160" cy="137160"/>
          </a:xfrm>
          <a:prstGeom prst="rect">
            <a:avLst/>
          </a:prstGeom>
        </p:spPr>
      </p:pic>
      <p:sp>
        <p:nvSpPr>
          <p:cNvPr id="38" name="Text 28"/>
          <p:cNvSpPr txBox="1"/>
          <p:nvPr/>
        </p:nvSpPr>
        <p:spPr>
          <a:xfrm>
            <a:off x="8229600" y="3383280"/>
            <a:ext cx="3184855" cy="365760"/>
          </a:xfrm>
          <a:prstGeom prst="rect">
            <a:avLst/>
          </a:prstGeom>
          <a:noFill/>
          <a:ln/>
        </p:spPr>
        <p:txBody>
          <a:bodyPr wrap="square" lIns="0" tIns="0" rIns="0" bIns="0" rtlCol="0" anchor="ctr"/>
          <a:lstStyle/>
          <a:p>
            <a:pPr indent="0" marL="0">
              <a:buNone/>
            </a:pPr>
            <a:r>
              <a:rPr lang="en-US" sz="1350" dirty="0">
                <a:solidFill>
                  <a:srgbClr val="101828"/>
                </a:solidFill>
              </a:rPr>
              <a:t>Limited, exclusive membership</a:t>
            </a:r>
            <a:endParaRPr lang="en-US" sz="1350" dirty="0"/>
          </a:p>
        </p:txBody>
      </p:sp>
      <p:sp>
        <p:nvSpPr>
          <p:cNvPr id="39" name="Survives its leaders’ arrest circle"/>
          <p:cNvSpPr/>
          <p:nvPr/>
        </p:nvSpPr>
        <p:spPr>
          <a:xfrm>
            <a:off x="7818120" y="3840480"/>
            <a:ext cx="274320" cy="274320"/>
          </a:xfrm>
          <a:prstGeom prst="ellipse">
            <a:avLst/>
          </a:prstGeom>
          <a:solidFill>
            <a:srgbClr val="C8102E"/>
          </a:solidFill>
          <a:ln/>
        </p:spPr>
      </p:sp>
      <p:pic>
        <p:nvPicPr>
          <p:cNvPr id="40" name="Survives its leaders’ arrest icon" descr="Survives its leaders’ arrest">    </p:cNvPr>
          <p:cNvPicPr>
            <a:picLocks noChangeAspect="1"/>
          </p:cNvPicPr>
          <p:nvPr/>
        </p:nvPicPr>
        <p:blipFill>
          <a:blip r:embed="rId9"/>
          <a:stretch>
            <a:fillRect/>
          </a:stretch>
        </p:blipFill>
        <p:spPr>
          <a:xfrm>
            <a:off x="7886700" y="3909060"/>
            <a:ext cx="137160" cy="137160"/>
          </a:xfrm>
          <a:prstGeom prst="rect">
            <a:avLst/>
          </a:prstGeom>
        </p:spPr>
      </p:pic>
      <p:sp>
        <p:nvSpPr>
          <p:cNvPr id="41" name="Text 30"/>
          <p:cNvSpPr txBox="1"/>
          <p:nvPr/>
        </p:nvSpPr>
        <p:spPr>
          <a:xfrm>
            <a:off x="8229600" y="3794760"/>
            <a:ext cx="3184855" cy="365760"/>
          </a:xfrm>
          <a:prstGeom prst="rect">
            <a:avLst/>
          </a:prstGeom>
          <a:noFill/>
          <a:ln/>
        </p:spPr>
        <p:txBody>
          <a:bodyPr wrap="square" lIns="0" tIns="0" rIns="0" bIns="0" rtlCol="0" anchor="ctr"/>
          <a:lstStyle/>
          <a:p>
            <a:pPr indent="0" marL="0">
              <a:buNone/>
            </a:pPr>
            <a:r>
              <a:rPr lang="en-US" sz="1350" dirty="0">
                <a:solidFill>
                  <a:srgbClr val="101828"/>
                </a:solidFill>
              </a:rPr>
              <a:t>Survives its leaders’ arrest</a:t>
            </a:r>
            <a:endParaRPr lang="en-US" sz="1350" dirty="0"/>
          </a:p>
        </p:txBody>
      </p:sp>
      <p:sp>
        <p:nvSpPr>
          <p:cNvPr id="42" name="Violence (only threats, in the film) circle"/>
          <p:cNvSpPr/>
          <p:nvPr/>
        </p:nvSpPr>
        <p:spPr>
          <a:xfrm>
            <a:off x="7818120" y="4251960"/>
            <a:ext cx="274320" cy="274320"/>
          </a:xfrm>
          <a:prstGeom prst="ellipse">
            <a:avLst/>
          </a:prstGeom>
          <a:solidFill>
            <a:srgbClr val="B7791F"/>
          </a:solidFill>
          <a:ln/>
        </p:spPr>
      </p:sp>
      <p:pic>
        <p:nvPicPr>
          <p:cNvPr id="43" name="Violence (only threats, in the film) icon" descr="Violence (only threats, in the film)">    </p:cNvPr>
          <p:cNvPicPr>
            <a:picLocks noChangeAspect="1"/>
          </p:cNvPicPr>
          <p:nvPr/>
        </p:nvPicPr>
        <p:blipFill>
          <a:blip r:embed="rId10"/>
          <a:stretch>
            <a:fillRect/>
          </a:stretch>
        </p:blipFill>
        <p:spPr>
          <a:xfrm>
            <a:off x="7886700" y="4320540"/>
            <a:ext cx="137160" cy="137160"/>
          </a:xfrm>
          <a:prstGeom prst="rect">
            <a:avLst/>
          </a:prstGeom>
        </p:spPr>
      </p:pic>
      <p:sp>
        <p:nvSpPr>
          <p:cNvPr id="44" name="Text 32"/>
          <p:cNvSpPr txBox="1"/>
          <p:nvPr/>
        </p:nvSpPr>
        <p:spPr>
          <a:xfrm>
            <a:off x="8229600" y="4206240"/>
            <a:ext cx="3184855" cy="365760"/>
          </a:xfrm>
          <a:prstGeom prst="rect">
            <a:avLst/>
          </a:prstGeom>
          <a:noFill/>
          <a:ln/>
        </p:spPr>
        <p:txBody>
          <a:bodyPr wrap="square" lIns="0" tIns="0" rIns="0" bIns="0" rtlCol="0" anchor="ctr"/>
          <a:lstStyle/>
          <a:p>
            <a:pPr indent="0" marL="0">
              <a:buNone/>
            </a:pPr>
            <a:r>
              <a:rPr lang="en-US" sz="1350" dirty="0">
                <a:solidFill>
                  <a:srgbClr val="101828"/>
                </a:solidFill>
              </a:rPr>
              <a:t>Violence (only threats, in the film)</a:t>
            </a:r>
            <a:endParaRPr lang="en-US" sz="1350" dirty="0"/>
          </a:p>
        </p:txBody>
      </p:sp>
      <p:sp>
        <p:nvSpPr>
          <p:cNvPr id="45" name="Monopoly (only one supply route) circle"/>
          <p:cNvSpPr/>
          <p:nvPr/>
        </p:nvSpPr>
        <p:spPr>
          <a:xfrm>
            <a:off x="7818120" y="4663440"/>
            <a:ext cx="274320" cy="274320"/>
          </a:xfrm>
          <a:prstGeom prst="ellipse">
            <a:avLst/>
          </a:prstGeom>
          <a:solidFill>
            <a:srgbClr val="B7791F"/>
          </a:solidFill>
          <a:ln/>
        </p:spPr>
      </p:sp>
      <p:pic>
        <p:nvPicPr>
          <p:cNvPr id="46" name="Monopoly (only one supply route) icon" descr="Monopoly (only one supply route)">    </p:cNvPr>
          <p:cNvPicPr>
            <a:picLocks noChangeAspect="1"/>
          </p:cNvPicPr>
          <p:nvPr/>
        </p:nvPicPr>
        <p:blipFill>
          <a:blip r:embed="rId11"/>
          <a:stretch>
            <a:fillRect/>
          </a:stretch>
        </p:blipFill>
        <p:spPr>
          <a:xfrm>
            <a:off x="7886700" y="4732020"/>
            <a:ext cx="137160" cy="137160"/>
          </a:xfrm>
          <a:prstGeom prst="rect">
            <a:avLst/>
          </a:prstGeom>
        </p:spPr>
      </p:pic>
      <p:sp>
        <p:nvSpPr>
          <p:cNvPr id="47" name="Text 34"/>
          <p:cNvSpPr txBox="1"/>
          <p:nvPr/>
        </p:nvSpPr>
        <p:spPr>
          <a:xfrm>
            <a:off x="8229600" y="4617720"/>
            <a:ext cx="3184855" cy="365760"/>
          </a:xfrm>
          <a:prstGeom prst="rect">
            <a:avLst/>
          </a:prstGeom>
          <a:noFill/>
          <a:ln/>
        </p:spPr>
        <p:txBody>
          <a:bodyPr wrap="square" lIns="0" tIns="0" rIns="0" bIns="0" rtlCol="0" anchor="ctr"/>
          <a:lstStyle/>
          <a:p>
            <a:pPr indent="0" marL="0">
              <a:buNone/>
            </a:pPr>
            <a:r>
              <a:rPr lang="en-US" sz="1350" dirty="0">
                <a:solidFill>
                  <a:srgbClr val="101828"/>
                </a:solidFill>
              </a:rPr>
              <a:t>Monopoly (only one supply route)</a:t>
            </a:r>
            <a:endParaRPr lang="en-US" sz="1350" dirty="0"/>
          </a:p>
        </p:txBody>
      </p:sp>
      <p:sp>
        <p:nvSpPr>
          <p:cNvPr id="48" name="Explicit rules or code circle"/>
          <p:cNvSpPr/>
          <p:nvPr/>
        </p:nvSpPr>
        <p:spPr>
          <a:xfrm>
            <a:off x="7818120" y="5074920"/>
            <a:ext cx="274320" cy="274320"/>
          </a:xfrm>
          <a:prstGeom prst="ellipse">
            <a:avLst/>
          </a:prstGeom>
          <a:solidFill>
            <a:srgbClr val="C8102E"/>
          </a:solidFill>
          <a:ln/>
        </p:spPr>
      </p:sp>
      <p:pic>
        <p:nvPicPr>
          <p:cNvPr id="49" name="Explicit rules or code icon" descr="Explicit rules or code">    </p:cNvPr>
          <p:cNvPicPr>
            <a:picLocks noChangeAspect="1"/>
          </p:cNvPicPr>
          <p:nvPr/>
        </p:nvPicPr>
        <p:blipFill>
          <a:blip r:embed="rId12"/>
          <a:stretch>
            <a:fillRect/>
          </a:stretch>
        </p:blipFill>
        <p:spPr>
          <a:xfrm>
            <a:off x="7886700" y="5143500"/>
            <a:ext cx="137160" cy="137160"/>
          </a:xfrm>
          <a:prstGeom prst="rect">
            <a:avLst/>
          </a:prstGeom>
        </p:spPr>
      </p:pic>
      <p:sp>
        <p:nvSpPr>
          <p:cNvPr id="50" name="Text 36"/>
          <p:cNvSpPr txBox="1"/>
          <p:nvPr/>
        </p:nvSpPr>
        <p:spPr>
          <a:xfrm>
            <a:off x="8229600" y="5029200"/>
            <a:ext cx="3184855" cy="365760"/>
          </a:xfrm>
          <a:prstGeom prst="rect">
            <a:avLst/>
          </a:prstGeom>
          <a:noFill/>
          <a:ln/>
        </p:spPr>
        <p:txBody>
          <a:bodyPr wrap="square" lIns="0" tIns="0" rIns="0" bIns="0" rtlCol="0" anchor="ctr"/>
          <a:lstStyle/>
          <a:p>
            <a:pPr indent="0" marL="0">
              <a:buNone/>
            </a:pPr>
            <a:r>
              <a:rPr lang="en-US" sz="1350" dirty="0">
                <a:solidFill>
                  <a:srgbClr val="101828"/>
                </a:solidFill>
              </a:rPr>
              <a:t>Explicit rules or code</a:t>
            </a:r>
            <a:endParaRPr lang="en-US" sz="1350" dirty="0"/>
          </a:p>
        </p:txBody>
      </p:sp>
      <p:sp>
        <p:nvSpPr>
          <p:cNvPr id="51" name="verdict"/>
          <p:cNvSpPr/>
          <p:nvPr/>
        </p:nvSpPr>
        <p:spPr>
          <a:xfrm>
            <a:off x="7818120" y="5577840"/>
            <a:ext cx="3596335" cy="457200"/>
          </a:xfrm>
          <a:prstGeom prst="rect">
            <a:avLst/>
          </a:prstGeom>
          <a:solidFill>
            <a:srgbClr val="FFFFFF"/>
          </a:solidFill>
          <a:ln w="19050">
            <a:solidFill>
              <a:srgbClr val="C8102E"/>
            </a:solidFill>
            <a:prstDash val="solid"/>
          </a:ln>
        </p:spPr>
      </p:sp>
      <p:sp>
        <p:nvSpPr>
          <p:cNvPr id="52" name="Text 38"/>
          <p:cNvSpPr txBox="1"/>
          <p:nvPr/>
        </p:nvSpPr>
        <p:spPr>
          <a:xfrm>
            <a:off x="7818120" y="5577840"/>
            <a:ext cx="3596335" cy="457200"/>
          </a:xfrm>
          <a:prstGeom prst="rect">
            <a:avLst/>
          </a:prstGeom>
          <a:noFill/>
          <a:ln/>
        </p:spPr>
        <p:txBody>
          <a:bodyPr wrap="square" lIns="0" tIns="0" rIns="0" bIns="0" rtlCol="0" anchor="ctr"/>
          <a:lstStyle/>
          <a:p>
            <a:pPr algn="ctr" indent="0" marL="0">
              <a:buNone/>
            </a:pPr>
            <a:r>
              <a:rPr lang="en-US" sz="1400" b="1" dirty="0">
                <a:solidFill>
                  <a:srgbClr val="C8102E"/>
                </a:solidFill>
              </a:rPr>
              <a:t>Not the mafia (Abadinsky, 2013)</a:t>
            </a:r>
            <a:endParaRPr lang="en-US" sz="14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868680"/>
            <a:ext cx="6675120" cy="274320"/>
          </a:xfrm>
          <a:prstGeom prst="rect">
            <a:avLst/>
          </a:prstGeom>
          <a:noFill/>
          <a:ln/>
        </p:spPr>
        <p:txBody>
          <a:bodyPr wrap="square" lIns="0" tIns="0" rIns="0" bIns="0" rtlCol="0" anchor="ctr"/>
          <a:lstStyle/>
          <a:p>
            <a:pPr indent="0" marL="0">
              <a:buNone/>
            </a:pPr>
            <a:r>
              <a:rPr lang="en-US" sz="1300" b="1" spc="300" kern="0" dirty="0">
                <a:solidFill>
                  <a:srgbClr val="4F46E5"/>
                </a:solidFill>
                <a:latin typeface="Arial" pitchFamily="34" charset="0"/>
                <a:ea typeface="Arial" pitchFamily="34" charset="-122"/>
                <a:cs typeface="Arial" pitchFamily="34" charset="-120"/>
              </a:rPr>
              <a:t>COMPETITIVE LANDSCAPE</a:t>
            </a:r>
            <a:endParaRPr lang="en-US" sz="1300" dirty="0"/>
          </a:p>
        </p:txBody>
      </p:sp>
      <p:sp>
        <p:nvSpPr>
          <p:cNvPr id="3" name="Text 1"/>
          <p:cNvSpPr txBox="1"/>
          <p:nvPr/>
        </p:nvSpPr>
        <p:spPr>
          <a:xfrm>
            <a:off x="548640" y="1170432"/>
            <a:ext cx="6675120" cy="11887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Our position: a legal front run as a loose network</a:t>
            </a:r>
            <a:endParaRPr lang="en-US" sz="2800" dirty="0"/>
          </a:p>
        </p:txBody>
      </p:sp>
      <p:sp>
        <p:nvSpPr>
          <p:cNvPr id="4" name="matrix"/>
          <p:cNvSpPr/>
          <p:nvPr/>
        </p:nvSpPr>
        <p:spPr>
          <a:xfrm>
            <a:off x="1051560" y="2514600"/>
            <a:ext cx="6172200" cy="3200400"/>
          </a:xfrm>
          <a:prstGeom prst="rect">
            <a:avLst/>
          </a:prstGeom>
          <a:solidFill>
            <a:srgbClr val="FAFAFB"/>
          </a:solidFill>
          <a:ln w="12700">
            <a:solidFill>
              <a:srgbClr val="E4E7EC"/>
            </a:solidFill>
            <a:prstDash val="solid"/>
          </a:ln>
        </p:spPr>
      </p:sp>
      <p:sp>
        <p:nvSpPr>
          <p:cNvPr id="5" name="vertical axis"/>
          <p:cNvSpPr/>
          <p:nvPr/>
        </p:nvSpPr>
        <p:spPr>
          <a:xfrm>
            <a:off x="4137660" y="2514600"/>
            <a:ext cx="0" cy="3200400"/>
          </a:xfrm>
          <a:prstGeom prst="line">
            <a:avLst/>
          </a:prstGeom>
          <a:noFill/>
          <a:ln w="15875">
            <a:solidFill>
              <a:srgbClr val="D0D5DD"/>
            </a:solidFill>
            <a:prstDash val="dash"/>
          </a:ln>
        </p:spPr>
      </p:sp>
      <p:sp>
        <p:nvSpPr>
          <p:cNvPr id="6" name="horizontal axis"/>
          <p:cNvSpPr/>
          <p:nvPr/>
        </p:nvSpPr>
        <p:spPr>
          <a:xfrm>
            <a:off x="1051560" y="4114800"/>
            <a:ext cx="6172200" cy="0"/>
          </a:xfrm>
          <a:prstGeom prst="line">
            <a:avLst/>
          </a:prstGeom>
          <a:noFill/>
          <a:ln w="15875">
            <a:solidFill>
              <a:srgbClr val="D0D5DD"/>
            </a:solidFill>
            <a:prstDash val="dash"/>
          </a:ln>
        </p:spPr>
      </p:sp>
      <p:sp>
        <p:nvSpPr>
          <p:cNvPr id="7" name="Text 5"/>
          <p:cNvSpPr txBox="1"/>
          <p:nvPr/>
        </p:nvSpPr>
        <p:spPr>
          <a:xfrm>
            <a:off x="1051560" y="5769864"/>
            <a:ext cx="6172200" cy="274320"/>
          </a:xfrm>
          <a:prstGeom prst="rect">
            <a:avLst/>
          </a:prstGeom>
          <a:noFill/>
          <a:ln/>
        </p:spPr>
        <p:txBody>
          <a:bodyPr wrap="square" lIns="0" tIns="0" rIns="0" bIns="0" rtlCol="0" anchor="ctr"/>
          <a:lstStyle/>
          <a:p>
            <a:pPr algn="ctr" indent="0" marL="0">
              <a:buNone/>
            </a:pPr>
            <a:r>
              <a:rPr lang="en-US" sz="1200" b="1" dirty="0">
                <a:solidFill>
                  <a:srgbClr val="667085"/>
                </a:solidFill>
              </a:rPr>
              <a:t>Loose network   →   Rigid hierarchy</a:t>
            </a:r>
            <a:endParaRPr lang="en-US" sz="1200" dirty="0"/>
          </a:p>
        </p:txBody>
      </p:sp>
      <p:sp>
        <p:nvSpPr>
          <p:cNvPr id="8" name="Text 6"/>
          <p:cNvSpPr txBox="1"/>
          <p:nvPr/>
        </p:nvSpPr>
        <p:spPr>
          <a:xfrm rot="16200000">
            <a:off x="-777240" y="3977640"/>
            <a:ext cx="3200400" cy="274320"/>
          </a:xfrm>
          <a:prstGeom prst="rect">
            <a:avLst/>
          </a:prstGeom>
          <a:noFill/>
          <a:ln/>
        </p:spPr>
        <p:txBody>
          <a:bodyPr wrap="square" lIns="0" tIns="0" rIns="0" bIns="0" rtlCol="0" anchor="ctr"/>
          <a:lstStyle/>
          <a:p>
            <a:pPr algn="ctr" indent="0" marL="0">
              <a:buNone/>
            </a:pPr>
            <a:r>
              <a:rPr lang="en-US" sz="1200" b="1" dirty="0">
                <a:solidFill>
                  <a:srgbClr val="667085"/>
                </a:solidFill>
              </a:rPr>
              <a:t>Illegal front   →   Legal front</a:t>
            </a:r>
            <a:endParaRPr lang="en-US" sz="1200" dirty="0"/>
          </a:p>
        </p:txBody>
      </p:sp>
      <p:sp>
        <p:nvSpPr>
          <p:cNvPr id="9" name="AEY Inc. bubble"/>
          <p:cNvSpPr/>
          <p:nvPr/>
        </p:nvSpPr>
        <p:spPr>
          <a:xfrm>
            <a:off x="1360170" y="2994660"/>
            <a:ext cx="640080" cy="640080"/>
          </a:xfrm>
          <a:prstGeom prst="ellipse">
            <a:avLst/>
          </a:prstGeom>
          <a:solidFill>
            <a:srgbClr val="4F46E5"/>
          </a:solidFill>
          <a:ln/>
        </p:spPr>
      </p:sp>
      <p:sp>
        <p:nvSpPr>
          <p:cNvPr id="10" name="Text 8"/>
          <p:cNvSpPr txBox="1"/>
          <p:nvPr/>
        </p:nvSpPr>
        <p:spPr>
          <a:xfrm>
            <a:off x="2109978" y="2994660"/>
            <a:ext cx="2103120" cy="640080"/>
          </a:xfrm>
          <a:prstGeom prst="rect">
            <a:avLst/>
          </a:prstGeom>
          <a:noFill/>
          <a:ln/>
        </p:spPr>
        <p:txBody>
          <a:bodyPr wrap="square" lIns="0" tIns="0" rIns="0" bIns="0" rtlCol="0" anchor="ctr"/>
          <a:lstStyle/>
          <a:p>
            <a:pPr indent="0" marL="0">
              <a:buNone/>
            </a:pPr>
            <a:r>
              <a:rPr lang="en-US" sz="1600" b="1" dirty="0">
                <a:solidFill>
                  <a:srgbClr val="4F46E5"/>
                </a:solidFill>
              </a:rPr>
              <a:t>AEY Inc.</a:t>
            </a:r>
            <a:endParaRPr lang="en-US" sz="1600" dirty="0"/>
          </a:p>
          <a:p>
            <a:pPr indent="0" marL="0">
              <a:buNone/>
            </a:pPr>
            <a:r>
              <a:rPr lang="en-US" sz="1150" dirty="0">
                <a:solidFill>
                  <a:srgbClr val="667085"/>
                </a:solidFill>
              </a:rPr>
              <a:t>Legal company, loose ties</a:t>
            </a:r>
            <a:endParaRPr lang="en-US" sz="1600" dirty="0"/>
          </a:p>
        </p:txBody>
      </p:sp>
      <p:sp>
        <p:nvSpPr>
          <p:cNvPr id="11" name="Defence giants bubble"/>
          <p:cNvSpPr/>
          <p:nvPr/>
        </p:nvSpPr>
        <p:spPr>
          <a:xfrm>
            <a:off x="4446270" y="3086100"/>
            <a:ext cx="457200" cy="457200"/>
          </a:xfrm>
          <a:prstGeom prst="ellipse">
            <a:avLst/>
          </a:prstGeom>
          <a:solidFill>
            <a:srgbClr val="98A2B3"/>
          </a:solidFill>
          <a:ln/>
        </p:spPr>
      </p:sp>
      <p:sp>
        <p:nvSpPr>
          <p:cNvPr id="12" name="Text 10"/>
          <p:cNvSpPr txBox="1"/>
          <p:nvPr/>
        </p:nvSpPr>
        <p:spPr>
          <a:xfrm>
            <a:off x="5013198" y="2994660"/>
            <a:ext cx="2103120" cy="640080"/>
          </a:xfrm>
          <a:prstGeom prst="rect">
            <a:avLst/>
          </a:prstGeom>
          <a:noFill/>
          <a:ln/>
        </p:spPr>
        <p:txBody>
          <a:bodyPr wrap="square" lIns="0" tIns="0" rIns="0" bIns="0" rtlCol="0" anchor="ctr"/>
          <a:lstStyle/>
          <a:p>
            <a:pPr indent="0" marL="0">
              <a:buNone/>
            </a:pPr>
            <a:r>
              <a:rPr lang="en-US" sz="1400" b="1" dirty="0">
                <a:solidFill>
                  <a:srgbClr val="101828"/>
                </a:solidFill>
              </a:rPr>
              <a:t>Defence giants</a:t>
            </a:r>
            <a:endParaRPr lang="en-US" sz="1400" dirty="0"/>
          </a:p>
          <a:p>
            <a:pPr indent="0" marL="0">
              <a:buNone/>
            </a:pPr>
            <a:r>
              <a:rPr lang="en-US" sz="1150" dirty="0">
                <a:solidFill>
                  <a:srgbClr val="667085"/>
                </a:solidFill>
              </a:rPr>
              <a:t>Legal benchmark</a:t>
            </a:r>
            <a:endParaRPr lang="en-US" sz="1400" dirty="0"/>
          </a:p>
        </p:txBody>
      </p:sp>
      <p:sp>
        <p:nvSpPr>
          <p:cNvPr id="13" name="Mafia family bubble"/>
          <p:cNvSpPr/>
          <p:nvPr/>
        </p:nvSpPr>
        <p:spPr>
          <a:xfrm>
            <a:off x="4446270" y="4686300"/>
            <a:ext cx="457200" cy="457200"/>
          </a:xfrm>
          <a:prstGeom prst="ellipse">
            <a:avLst/>
          </a:prstGeom>
          <a:solidFill>
            <a:srgbClr val="C8102E"/>
          </a:solidFill>
          <a:ln/>
        </p:spPr>
      </p:sp>
      <p:sp>
        <p:nvSpPr>
          <p:cNvPr id="14" name="Text 12"/>
          <p:cNvSpPr txBox="1"/>
          <p:nvPr/>
        </p:nvSpPr>
        <p:spPr>
          <a:xfrm>
            <a:off x="5013198" y="4594860"/>
            <a:ext cx="2103120" cy="640080"/>
          </a:xfrm>
          <a:prstGeom prst="rect">
            <a:avLst/>
          </a:prstGeom>
          <a:noFill/>
          <a:ln/>
        </p:spPr>
        <p:txBody>
          <a:bodyPr wrap="square" lIns="0" tIns="0" rIns="0" bIns="0" rtlCol="0" anchor="ctr"/>
          <a:lstStyle/>
          <a:p>
            <a:pPr indent="0" marL="0">
              <a:buNone/>
            </a:pPr>
            <a:r>
              <a:rPr lang="en-US" sz="1400" b="1" dirty="0">
                <a:solidFill>
                  <a:srgbClr val="101828"/>
                </a:solidFill>
              </a:rPr>
              <a:t>Mafia family</a:t>
            </a:r>
            <a:endParaRPr lang="en-US" sz="1400" dirty="0"/>
          </a:p>
          <a:p>
            <a:pPr indent="0" marL="0">
              <a:buNone/>
            </a:pPr>
            <a:r>
              <a:rPr lang="en-US" sz="1150" dirty="0">
                <a:solidFill>
                  <a:srgbClr val="667085"/>
                </a:solidFill>
              </a:rPr>
              <a:t>Cressey (1969)</a:t>
            </a:r>
            <a:endParaRPr lang="en-US" sz="1400" dirty="0"/>
          </a:p>
        </p:txBody>
      </p:sp>
      <p:sp>
        <p:nvSpPr>
          <p:cNvPr id="15" name="Trafficking networks bubble"/>
          <p:cNvSpPr/>
          <p:nvPr/>
        </p:nvSpPr>
        <p:spPr>
          <a:xfrm>
            <a:off x="1360170" y="4686300"/>
            <a:ext cx="457200" cy="457200"/>
          </a:xfrm>
          <a:prstGeom prst="ellipse">
            <a:avLst/>
          </a:prstGeom>
          <a:solidFill>
            <a:srgbClr val="98A2B3"/>
          </a:solidFill>
          <a:ln/>
        </p:spPr>
      </p:sp>
      <p:sp>
        <p:nvSpPr>
          <p:cNvPr id="16" name="Text 14"/>
          <p:cNvSpPr txBox="1"/>
          <p:nvPr/>
        </p:nvSpPr>
        <p:spPr>
          <a:xfrm>
            <a:off x="1927098" y="4594860"/>
            <a:ext cx="2103120" cy="640080"/>
          </a:xfrm>
          <a:prstGeom prst="rect">
            <a:avLst/>
          </a:prstGeom>
          <a:noFill/>
          <a:ln/>
        </p:spPr>
        <p:txBody>
          <a:bodyPr wrap="square" lIns="0" tIns="0" rIns="0" bIns="0" rtlCol="0" anchor="ctr"/>
          <a:lstStyle/>
          <a:p>
            <a:pPr indent="0" marL="0">
              <a:buNone/>
            </a:pPr>
            <a:r>
              <a:rPr lang="en-US" sz="1400" b="1" dirty="0">
                <a:solidFill>
                  <a:srgbClr val="101828"/>
                </a:solidFill>
              </a:rPr>
              <a:t>Trafficking networks</a:t>
            </a:r>
            <a:endParaRPr lang="en-US" sz="1400" dirty="0"/>
          </a:p>
          <a:p>
            <a:pPr indent="0" marL="0">
              <a:buNone/>
            </a:pPr>
            <a:r>
              <a:rPr lang="en-US" sz="1150" dirty="0">
                <a:solidFill>
                  <a:srgbClr val="667085"/>
                </a:solidFill>
              </a:rPr>
              <a:t>Illegal and loose</a:t>
            </a:r>
            <a:endParaRPr lang="en-US" sz="1400" dirty="0"/>
          </a:p>
        </p:txBody>
      </p:sp>
      <p:sp>
        <p:nvSpPr>
          <p:cNvPr id="17" name="audit panel"/>
          <p:cNvSpPr/>
          <p:nvPr/>
        </p:nvSpPr>
        <p:spPr>
          <a:xfrm>
            <a:off x="7543800" y="868680"/>
            <a:ext cx="4099255" cy="5349240"/>
          </a:xfrm>
          <a:prstGeom prst="rect">
            <a:avLst/>
          </a:prstGeom>
          <a:solidFill>
            <a:srgbClr val="FFF5F5"/>
          </a:solidFill>
          <a:ln w="12700">
            <a:solidFill>
              <a:srgbClr val="F2C4C4"/>
            </a:solidFill>
            <a:prstDash val="solid"/>
          </a:ln>
        </p:spPr>
      </p:sp>
      <p:sp>
        <p:nvSpPr>
          <p:cNvPr id="18" name="audit rule"/>
          <p:cNvSpPr/>
          <p:nvPr/>
        </p:nvSpPr>
        <p:spPr>
          <a:xfrm>
            <a:off x="7543800" y="868680"/>
            <a:ext cx="73152" cy="5349240"/>
          </a:xfrm>
          <a:prstGeom prst="rect">
            <a:avLst/>
          </a:prstGeom>
          <a:solidFill>
            <a:srgbClr val="C8102E"/>
          </a:solidFill>
          <a:ln/>
        </p:spPr>
      </p:sp>
      <p:sp>
        <p:nvSpPr>
          <p:cNvPr id="19" name="audit circle"/>
          <p:cNvSpPr/>
          <p:nvPr/>
        </p:nvSpPr>
        <p:spPr>
          <a:xfrm>
            <a:off x="7818120" y="1069848"/>
            <a:ext cx="420624" cy="420624"/>
          </a:xfrm>
          <a:prstGeom prst="ellipse">
            <a:avLst/>
          </a:prstGeom>
          <a:solidFill>
            <a:srgbClr val="C8102E"/>
          </a:solidFill>
          <a:ln/>
        </p:spPr>
      </p:sp>
      <p:pic>
        <p:nvPicPr>
          <p:cNvPr id="20" name="audit icon" descr="audit">    </p:cNvPr>
          <p:cNvPicPr>
            <a:picLocks noChangeAspect="1"/>
          </p:cNvPicPr>
          <p:nvPr/>
        </p:nvPicPr>
        <p:blipFill>
          <a:blip r:embed="rId1"/>
          <a:stretch>
            <a:fillRect/>
          </a:stretch>
        </p:blipFill>
        <p:spPr>
          <a:xfrm>
            <a:off x="7923276" y="1175004"/>
            <a:ext cx="210312" cy="210312"/>
          </a:xfrm>
          <a:prstGeom prst="rect">
            <a:avLst/>
          </a:prstGeom>
        </p:spPr>
      </p:pic>
      <p:sp>
        <p:nvSpPr>
          <p:cNvPr id="21" name="Text 18"/>
          <p:cNvSpPr txBox="1"/>
          <p:nvPr/>
        </p:nvSpPr>
        <p:spPr>
          <a:xfrm>
            <a:off x="8366760" y="1069848"/>
            <a:ext cx="3093415" cy="420624"/>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AUDIT NOTE 09</a:t>
            </a:r>
            <a:endParaRPr lang="en-US" sz="1300" dirty="0"/>
          </a:p>
        </p:txBody>
      </p:sp>
      <p:sp>
        <p:nvSpPr>
          <p:cNvPr id="22" name="Text 19"/>
          <p:cNvSpPr txBox="1"/>
          <p:nvPr/>
        </p:nvSpPr>
        <p:spPr>
          <a:xfrm>
            <a:off x="7818120" y="1618488"/>
            <a:ext cx="3596335" cy="868680"/>
          </a:xfrm>
          <a:prstGeom prst="rect">
            <a:avLst/>
          </a:prstGeom>
          <a:noFill/>
          <a:ln/>
        </p:spPr>
        <p:txBody>
          <a:bodyPr wrap="square" lIns="0" tIns="0" rIns="0" bIns="0" rtlCol="0" anchor="t"/>
          <a:lstStyle/>
          <a:p>
            <a:pPr indent="0" marL="0">
              <a:buNone/>
            </a:pPr>
            <a:r>
              <a:rPr lang="en-US" sz="1900" b="1" dirty="0">
                <a:solidFill>
                  <a:srgbClr val="101828"/>
                </a:solidFill>
                <a:latin typeface="Cambria" pitchFamily="34" charset="0"/>
                <a:ea typeface="Cambria" pitchFamily="34" charset="-122"/>
                <a:cs typeface="Cambria" pitchFamily="34" charset="-120"/>
              </a:rPr>
              <a:t>Which model fits? Enterprise and network</a:t>
            </a:r>
            <a:endParaRPr lang="en-US" sz="1900" dirty="0"/>
          </a:p>
        </p:txBody>
      </p:sp>
      <p:sp>
        <p:nvSpPr>
          <p:cNvPr id="23" name="Text 20"/>
          <p:cNvSpPr txBox="1"/>
          <p:nvPr/>
        </p:nvSpPr>
        <p:spPr>
          <a:xfrm>
            <a:off x="7818120" y="2560320"/>
            <a:ext cx="1828800" cy="566928"/>
          </a:xfrm>
          <a:prstGeom prst="rect">
            <a:avLst/>
          </a:prstGeom>
          <a:noFill/>
          <a:ln/>
        </p:spPr>
        <p:txBody>
          <a:bodyPr wrap="square" lIns="0" tIns="0" rIns="0" bIns="0" rtlCol="0" anchor="ctr"/>
          <a:lstStyle/>
          <a:p>
            <a:pPr indent="0" marL="0">
              <a:buNone/>
            </a:pPr>
            <a:r>
              <a:rPr lang="en-US" sz="1500" b="1" dirty="0">
                <a:solidFill>
                  <a:srgbClr val="101828"/>
                </a:solidFill>
              </a:rPr>
              <a:t>Enterprise</a:t>
            </a:r>
            <a:endParaRPr lang="en-US" sz="1500" dirty="0"/>
          </a:p>
          <a:p>
            <a:pPr indent="0" marL="0">
              <a:buNone/>
            </a:pPr>
            <a:r>
              <a:rPr lang="en-US" sz="1150" dirty="0">
                <a:solidFill>
                  <a:srgbClr val="667085"/>
                </a:solidFill>
              </a:rPr>
              <a:t>Smith (1980)</a:t>
            </a:r>
            <a:endParaRPr lang="en-US" sz="1500" dirty="0"/>
          </a:p>
        </p:txBody>
      </p:sp>
      <p:sp>
        <p:nvSpPr>
          <p:cNvPr id="24" name="Enterprise fit 1"/>
          <p:cNvSpPr/>
          <p:nvPr/>
        </p:nvSpPr>
        <p:spPr>
          <a:xfrm>
            <a:off x="9692640" y="2724912"/>
            <a:ext cx="237744" cy="237744"/>
          </a:xfrm>
          <a:prstGeom prst="ellipse">
            <a:avLst/>
          </a:prstGeom>
          <a:solidFill>
            <a:srgbClr val="C8102E"/>
          </a:solidFill>
          <a:ln w="12700">
            <a:solidFill>
              <a:srgbClr val="C8102E"/>
            </a:solidFill>
            <a:prstDash val="solid"/>
          </a:ln>
        </p:spPr>
      </p:sp>
      <p:sp>
        <p:nvSpPr>
          <p:cNvPr id="25" name="Enterprise fit 2"/>
          <p:cNvSpPr/>
          <p:nvPr/>
        </p:nvSpPr>
        <p:spPr>
          <a:xfrm>
            <a:off x="10040112" y="2724912"/>
            <a:ext cx="237744" cy="237744"/>
          </a:xfrm>
          <a:prstGeom prst="ellipse">
            <a:avLst/>
          </a:prstGeom>
          <a:solidFill>
            <a:srgbClr val="C8102E"/>
          </a:solidFill>
          <a:ln w="12700">
            <a:solidFill>
              <a:srgbClr val="C8102E"/>
            </a:solidFill>
            <a:prstDash val="solid"/>
          </a:ln>
        </p:spPr>
      </p:sp>
      <p:sp>
        <p:nvSpPr>
          <p:cNvPr id="26" name="Enterprise fit 3"/>
          <p:cNvSpPr/>
          <p:nvPr/>
        </p:nvSpPr>
        <p:spPr>
          <a:xfrm>
            <a:off x="10387584" y="2724912"/>
            <a:ext cx="237744" cy="237744"/>
          </a:xfrm>
          <a:prstGeom prst="ellipse">
            <a:avLst/>
          </a:prstGeom>
          <a:solidFill>
            <a:srgbClr val="C8102E"/>
          </a:solidFill>
          <a:ln w="12700">
            <a:solidFill>
              <a:srgbClr val="C8102E"/>
            </a:solidFill>
            <a:prstDash val="solid"/>
          </a:ln>
        </p:spPr>
      </p:sp>
      <p:sp>
        <p:nvSpPr>
          <p:cNvPr id="27" name="Enterprise fit 4"/>
          <p:cNvSpPr/>
          <p:nvPr/>
        </p:nvSpPr>
        <p:spPr>
          <a:xfrm>
            <a:off x="10735056" y="2724912"/>
            <a:ext cx="237744" cy="237744"/>
          </a:xfrm>
          <a:prstGeom prst="ellipse">
            <a:avLst/>
          </a:prstGeom>
          <a:solidFill>
            <a:srgbClr val="C8102E"/>
          </a:solidFill>
          <a:ln w="12700">
            <a:solidFill>
              <a:srgbClr val="C8102E"/>
            </a:solidFill>
            <a:prstDash val="solid"/>
          </a:ln>
        </p:spPr>
      </p:sp>
      <p:sp>
        <p:nvSpPr>
          <p:cNvPr id="28" name="Enterprise fit 5"/>
          <p:cNvSpPr/>
          <p:nvPr/>
        </p:nvSpPr>
        <p:spPr>
          <a:xfrm>
            <a:off x="11082528" y="2724912"/>
            <a:ext cx="237744" cy="237744"/>
          </a:xfrm>
          <a:prstGeom prst="ellipse">
            <a:avLst/>
          </a:prstGeom>
          <a:solidFill>
            <a:srgbClr val="C8102E"/>
          </a:solidFill>
          <a:ln w="12700">
            <a:solidFill>
              <a:srgbClr val="C8102E"/>
            </a:solidFill>
            <a:prstDash val="solid"/>
          </a:ln>
        </p:spPr>
      </p:sp>
      <p:sp>
        <p:nvSpPr>
          <p:cNvPr id="29" name="Text 26"/>
          <p:cNvSpPr txBox="1"/>
          <p:nvPr/>
        </p:nvSpPr>
        <p:spPr>
          <a:xfrm>
            <a:off x="7818120" y="3200400"/>
            <a:ext cx="1828800" cy="566928"/>
          </a:xfrm>
          <a:prstGeom prst="rect">
            <a:avLst/>
          </a:prstGeom>
          <a:noFill/>
          <a:ln/>
        </p:spPr>
        <p:txBody>
          <a:bodyPr wrap="square" lIns="0" tIns="0" rIns="0" bIns="0" rtlCol="0" anchor="ctr"/>
          <a:lstStyle/>
          <a:p>
            <a:pPr indent="0" marL="0">
              <a:buNone/>
            </a:pPr>
            <a:r>
              <a:rPr lang="en-US" sz="1500" b="1" dirty="0">
                <a:solidFill>
                  <a:srgbClr val="101828"/>
                </a:solidFill>
              </a:rPr>
              <a:t>Network</a:t>
            </a:r>
            <a:endParaRPr lang="en-US" sz="1500" dirty="0"/>
          </a:p>
          <a:p>
            <a:pPr indent="0" marL="0">
              <a:buNone/>
            </a:pPr>
            <a:r>
              <a:rPr lang="en-US" sz="1150" dirty="0">
                <a:solidFill>
                  <a:srgbClr val="667085"/>
                </a:solidFill>
              </a:rPr>
              <a:t>Morselli (2009)</a:t>
            </a:r>
            <a:endParaRPr lang="en-US" sz="1500" dirty="0"/>
          </a:p>
        </p:txBody>
      </p:sp>
      <p:sp>
        <p:nvSpPr>
          <p:cNvPr id="30" name="Network fit 1"/>
          <p:cNvSpPr/>
          <p:nvPr/>
        </p:nvSpPr>
        <p:spPr>
          <a:xfrm>
            <a:off x="9692640" y="3364992"/>
            <a:ext cx="237744" cy="237744"/>
          </a:xfrm>
          <a:prstGeom prst="ellipse">
            <a:avLst/>
          </a:prstGeom>
          <a:solidFill>
            <a:srgbClr val="C8102E"/>
          </a:solidFill>
          <a:ln w="12700">
            <a:solidFill>
              <a:srgbClr val="C8102E"/>
            </a:solidFill>
            <a:prstDash val="solid"/>
          </a:ln>
        </p:spPr>
      </p:sp>
      <p:sp>
        <p:nvSpPr>
          <p:cNvPr id="31" name="Network fit 2"/>
          <p:cNvSpPr/>
          <p:nvPr/>
        </p:nvSpPr>
        <p:spPr>
          <a:xfrm>
            <a:off x="10040112" y="3364992"/>
            <a:ext cx="237744" cy="237744"/>
          </a:xfrm>
          <a:prstGeom prst="ellipse">
            <a:avLst/>
          </a:prstGeom>
          <a:solidFill>
            <a:srgbClr val="C8102E"/>
          </a:solidFill>
          <a:ln w="12700">
            <a:solidFill>
              <a:srgbClr val="C8102E"/>
            </a:solidFill>
            <a:prstDash val="solid"/>
          </a:ln>
        </p:spPr>
      </p:sp>
      <p:sp>
        <p:nvSpPr>
          <p:cNvPr id="32" name="Network fit 3"/>
          <p:cNvSpPr/>
          <p:nvPr/>
        </p:nvSpPr>
        <p:spPr>
          <a:xfrm>
            <a:off x="10387584" y="3364992"/>
            <a:ext cx="237744" cy="237744"/>
          </a:xfrm>
          <a:prstGeom prst="ellipse">
            <a:avLst/>
          </a:prstGeom>
          <a:solidFill>
            <a:srgbClr val="C8102E"/>
          </a:solidFill>
          <a:ln w="12700">
            <a:solidFill>
              <a:srgbClr val="C8102E"/>
            </a:solidFill>
            <a:prstDash val="solid"/>
          </a:ln>
        </p:spPr>
      </p:sp>
      <p:sp>
        <p:nvSpPr>
          <p:cNvPr id="33" name="Network fit 4"/>
          <p:cNvSpPr/>
          <p:nvPr/>
        </p:nvSpPr>
        <p:spPr>
          <a:xfrm>
            <a:off x="10735056" y="3364992"/>
            <a:ext cx="237744" cy="237744"/>
          </a:xfrm>
          <a:prstGeom prst="ellipse">
            <a:avLst/>
          </a:prstGeom>
          <a:solidFill>
            <a:srgbClr val="C8102E"/>
          </a:solidFill>
          <a:ln w="12700">
            <a:solidFill>
              <a:srgbClr val="C8102E"/>
            </a:solidFill>
            <a:prstDash val="solid"/>
          </a:ln>
        </p:spPr>
      </p:sp>
      <p:sp>
        <p:nvSpPr>
          <p:cNvPr id="34" name="Network fit 5"/>
          <p:cNvSpPr/>
          <p:nvPr/>
        </p:nvSpPr>
        <p:spPr>
          <a:xfrm>
            <a:off x="11082528" y="3364992"/>
            <a:ext cx="237744" cy="237744"/>
          </a:xfrm>
          <a:prstGeom prst="ellipse">
            <a:avLst/>
          </a:prstGeom>
          <a:solidFill>
            <a:srgbClr val="C8102E"/>
          </a:solidFill>
          <a:ln w="12700">
            <a:solidFill>
              <a:srgbClr val="C8102E"/>
            </a:solidFill>
            <a:prstDash val="solid"/>
          </a:ln>
        </p:spPr>
      </p:sp>
      <p:sp>
        <p:nvSpPr>
          <p:cNvPr id="35" name="Text 32"/>
          <p:cNvSpPr txBox="1"/>
          <p:nvPr/>
        </p:nvSpPr>
        <p:spPr>
          <a:xfrm>
            <a:off x="7818120" y="3840480"/>
            <a:ext cx="1828800" cy="566928"/>
          </a:xfrm>
          <a:prstGeom prst="rect">
            <a:avLst/>
          </a:prstGeom>
          <a:noFill/>
          <a:ln/>
        </p:spPr>
        <p:txBody>
          <a:bodyPr wrap="square" lIns="0" tIns="0" rIns="0" bIns="0" rtlCol="0" anchor="ctr"/>
          <a:lstStyle/>
          <a:p>
            <a:pPr indent="0" marL="0">
              <a:buNone/>
            </a:pPr>
            <a:r>
              <a:rPr lang="en-US" sz="1500" b="1" dirty="0">
                <a:solidFill>
                  <a:srgbClr val="101828"/>
                </a:solidFill>
              </a:rPr>
              <a:t>Patron–client</a:t>
            </a:r>
            <a:endParaRPr lang="en-US" sz="1500" dirty="0"/>
          </a:p>
          <a:p>
            <a:pPr indent="0" marL="0">
              <a:buNone/>
            </a:pPr>
            <a:r>
              <a:rPr lang="en-US" sz="1150" dirty="0">
                <a:solidFill>
                  <a:srgbClr val="667085"/>
                </a:solidFill>
              </a:rPr>
              <a:t>Albini (1971)</a:t>
            </a:r>
            <a:endParaRPr lang="en-US" sz="1500" dirty="0"/>
          </a:p>
        </p:txBody>
      </p:sp>
      <p:sp>
        <p:nvSpPr>
          <p:cNvPr id="36" name="Patron–client fit 1"/>
          <p:cNvSpPr/>
          <p:nvPr/>
        </p:nvSpPr>
        <p:spPr>
          <a:xfrm>
            <a:off x="9692640" y="4005072"/>
            <a:ext cx="237744" cy="237744"/>
          </a:xfrm>
          <a:prstGeom prst="ellipse">
            <a:avLst/>
          </a:prstGeom>
          <a:solidFill>
            <a:srgbClr val="D99A9A"/>
          </a:solidFill>
          <a:ln w="12700">
            <a:solidFill>
              <a:srgbClr val="D99A9A"/>
            </a:solidFill>
            <a:prstDash val="solid"/>
          </a:ln>
        </p:spPr>
      </p:sp>
      <p:sp>
        <p:nvSpPr>
          <p:cNvPr id="37" name="Patron–client fit 2"/>
          <p:cNvSpPr/>
          <p:nvPr/>
        </p:nvSpPr>
        <p:spPr>
          <a:xfrm>
            <a:off x="10040112" y="4005072"/>
            <a:ext cx="237744" cy="237744"/>
          </a:xfrm>
          <a:prstGeom prst="ellipse">
            <a:avLst/>
          </a:prstGeom>
          <a:solidFill>
            <a:srgbClr val="D99A9A"/>
          </a:solidFill>
          <a:ln w="12700">
            <a:solidFill>
              <a:srgbClr val="D99A9A"/>
            </a:solidFill>
            <a:prstDash val="solid"/>
          </a:ln>
        </p:spPr>
      </p:sp>
      <p:sp>
        <p:nvSpPr>
          <p:cNvPr id="38" name="Patron–client fit 3"/>
          <p:cNvSpPr/>
          <p:nvPr/>
        </p:nvSpPr>
        <p:spPr>
          <a:xfrm>
            <a:off x="10387584" y="4005072"/>
            <a:ext cx="237744" cy="237744"/>
          </a:xfrm>
          <a:prstGeom prst="ellipse">
            <a:avLst/>
          </a:prstGeom>
          <a:solidFill>
            <a:srgbClr val="D99A9A"/>
          </a:solidFill>
          <a:ln w="12700">
            <a:solidFill>
              <a:srgbClr val="D99A9A"/>
            </a:solidFill>
            <a:prstDash val="solid"/>
          </a:ln>
        </p:spPr>
      </p:sp>
      <p:sp>
        <p:nvSpPr>
          <p:cNvPr id="39" name="Patron–client fit 4"/>
          <p:cNvSpPr/>
          <p:nvPr/>
        </p:nvSpPr>
        <p:spPr>
          <a:xfrm>
            <a:off x="10735056" y="4005072"/>
            <a:ext cx="237744" cy="237744"/>
          </a:xfrm>
          <a:prstGeom prst="ellipse">
            <a:avLst/>
          </a:prstGeom>
          <a:solidFill>
            <a:srgbClr val="FFFFFF"/>
          </a:solidFill>
          <a:ln w="12700">
            <a:solidFill>
              <a:srgbClr val="E3C1C1"/>
            </a:solidFill>
            <a:prstDash val="solid"/>
          </a:ln>
        </p:spPr>
      </p:sp>
      <p:sp>
        <p:nvSpPr>
          <p:cNvPr id="40" name="Patron–client fit 5"/>
          <p:cNvSpPr/>
          <p:nvPr/>
        </p:nvSpPr>
        <p:spPr>
          <a:xfrm>
            <a:off x="11082528" y="4005072"/>
            <a:ext cx="237744" cy="237744"/>
          </a:xfrm>
          <a:prstGeom prst="ellipse">
            <a:avLst/>
          </a:prstGeom>
          <a:solidFill>
            <a:srgbClr val="FFFFFF"/>
          </a:solidFill>
          <a:ln w="12700">
            <a:solidFill>
              <a:srgbClr val="E3C1C1"/>
            </a:solidFill>
            <a:prstDash val="solid"/>
          </a:ln>
        </p:spPr>
      </p:sp>
      <p:sp>
        <p:nvSpPr>
          <p:cNvPr id="41" name="Text 38"/>
          <p:cNvSpPr txBox="1"/>
          <p:nvPr/>
        </p:nvSpPr>
        <p:spPr>
          <a:xfrm>
            <a:off x="7818120" y="4480560"/>
            <a:ext cx="1828800" cy="566928"/>
          </a:xfrm>
          <a:prstGeom prst="rect">
            <a:avLst/>
          </a:prstGeom>
          <a:noFill/>
          <a:ln/>
        </p:spPr>
        <p:txBody>
          <a:bodyPr wrap="square" lIns="0" tIns="0" rIns="0" bIns="0" rtlCol="0" anchor="ctr"/>
          <a:lstStyle/>
          <a:p>
            <a:pPr indent="0" marL="0">
              <a:buNone/>
            </a:pPr>
            <a:r>
              <a:rPr lang="en-US" sz="1500" b="1" dirty="0">
                <a:solidFill>
                  <a:srgbClr val="101828"/>
                </a:solidFill>
              </a:rPr>
              <a:t>Hierarchical</a:t>
            </a:r>
            <a:endParaRPr lang="en-US" sz="1500" dirty="0"/>
          </a:p>
          <a:p>
            <a:pPr indent="0" marL="0">
              <a:buNone/>
            </a:pPr>
            <a:r>
              <a:rPr lang="en-US" sz="1150" dirty="0">
                <a:solidFill>
                  <a:srgbClr val="667085"/>
                </a:solidFill>
              </a:rPr>
              <a:t>Cressey (1969)</a:t>
            </a:r>
            <a:endParaRPr lang="en-US" sz="1500" dirty="0"/>
          </a:p>
        </p:txBody>
      </p:sp>
      <p:sp>
        <p:nvSpPr>
          <p:cNvPr id="42" name="Hierarchical fit 1"/>
          <p:cNvSpPr/>
          <p:nvPr/>
        </p:nvSpPr>
        <p:spPr>
          <a:xfrm>
            <a:off x="9692640" y="4645152"/>
            <a:ext cx="237744" cy="237744"/>
          </a:xfrm>
          <a:prstGeom prst="ellipse">
            <a:avLst/>
          </a:prstGeom>
          <a:solidFill>
            <a:srgbClr val="D99A9A"/>
          </a:solidFill>
          <a:ln w="12700">
            <a:solidFill>
              <a:srgbClr val="D99A9A"/>
            </a:solidFill>
            <a:prstDash val="solid"/>
          </a:ln>
        </p:spPr>
      </p:sp>
      <p:sp>
        <p:nvSpPr>
          <p:cNvPr id="43" name="Hierarchical fit 2"/>
          <p:cNvSpPr/>
          <p:nvPr/>
        </p:nvSpPr>
        <p:spPr>
          <a:xfrm>
            <a:off x="10040112" y="4645152"/>
            <a:ext cx="237744" cy="237744"/>
          </a:xfrm>
          <a:prstGeom prst="ellipse">
            <a:avLst/>
          </a:prstGeom>
          <a:solidFill>
            <a:srgbClr val="FFFFFF"/>
          </a:solidFill>
          <a:ln w="12700">
            <a:solidFill>
              <a:srgbClr val="E3C1C1"/>
            </a:solidFill>
            <a:prstDash val="solid"/>
          </a:ln>
        </p:spPr>
      </p:sp>
      <p:sp>
        <p:nvSpPr>
          <p:cNvPr id="44" name="Hierarchical fit 3"/>
          <p:cNvSpPr/>
          <p:nvPr/>
        </p:nvSpPr>
        <p:spPr>
          <a:xfrm>
            <a:off x="10387584" y="4645152"/>
            <a:ext cx="237744" cy="237744"/>
          </a:xfrm>
          <a:prstGeom prst="ellipse">
            <a:avLst/>
          </a:prstGeom>
          <a:solidFill>
            <a:srgbClr val="FFFFFF"/>
          </a:solidFill>
          <a:ln w="12700">
            <a:solidFill>
              <a:srgbClr val="E3C1C1"/>
            </a:solidFill>
            <a:prstDash val="solid"/>
          </a:ln>
        </p:spPr>
      </p:sp>
      <p:sp>
        <p:nvSpPr>
          <p:cNvPr id="45" name="Hierarchical fit 4"/>
          <p:cNvSpPr/>
          <p:nvPr/>
        </p:nvSpPr>
        <p:spPr>
          <a:xfrm>
            <a:off x="10735056" y="4645152"/>
            <a:ext cx="237744" cy="237744"/>
          </a:xfrm>
          <a:prstGeom prst="ellipse">
            <a:avLst/>
          </a:prstGeom>
          <a:solidFill>
            <a:srgbClr val="FFFFFF"/>
          </a:solidFill>
          <a:ln w="12700">
            <a:solidFill>
              <a:srgbClr val="E3C1C1"/>
            </a:solidFill>
            <a:prstDash val="solid"/>
          </a:ln>
        </p:spPr>
      </p:sp>
      <p:sp>
        <p:nvSpPr>
          <p:cNvPr id="46" name="Hierarchical fit 5"/>
          <p:cNvSpPr/>
          <p:nvPr/>
        </p:nvSpPr>
        <p:spPr>
          <a:xfrm>
            <a:off x="11082528" y="4645152"/>
            <a:ext cx="237744" cy="237744"/>
          </a:xfrm>
          <a:prstGeom prst="ellipse">
            <a:avLst/>
          </a:prstGeom>
          <a:solidFill>
            <a:srgbClr val="FFFFFF"/>
          </a:solidFill>
          <a:ln w="12700">
            <a:solidFill>
              <a:srgbClr val="E3C1C1"/>
            </a:solidFill>
            <a:prstDash val="solid"/>
          </a:ln>
        </p:spPr>
      </p:sp>
      <p:sp>
        <p:nvSpPr>
          <p:cNvPr id="47" name="classification"/>
          <p:cNvSpPr/>
          <p:nvPr/>
        </p:nvSpPr>
        <p:spPr>
          <a:xfrm>
            <a:off x="7818120" y="5212080"/>
            <a:ext cx="3596335" cy="841248"/>
          </a:xfrm>
          <a:prstGeom prst="rect">
            <a:avLst/>
          </a:prstGeom>
          <a:solidFill>
            <a:srgbClr val="FFFFFF"/>
          </a:solidFill>
          <a:ln w="19050">
            <a:solidFill>
              <a:srgbClr val="C8102E"/>
            </a:solidFill>
            <a:prstDash val="solid"/>
          </a:ln>
        </p:spPr>
      </p:sp>
      <p:sp>
        <p:nvSpPr>
          <p:cNvPr id="48" name="Text 45"/>
          <p:cNvSpPr txBox="1"/>
          <p:nvPr/>
        </p:nvSpPr>
        <p:spPr>
          <a:xfrm>
            <a:off x="7955280" y="5212080"/>
            <a:ext cx="3322015" cy="841248"/>
          </a:xfrm>
          <a:prstGeom prst="rect">
            <a:avLst/>
          </a:prstGeom>
          <a:noFill/>
          <a:ln/>
        </p:spPr>
        <p:txBody>
          <a:bodyPr wrap="square" lIns="0" tIns="0" rIns="0" bIns="0" rtlCol="0" anchor="ctr"/>
          <a:lstStyle/>
          <a:p>
            <a:pPr indent="0" marL="0">
              <a:buNone/>
            </a:pPr>
            <a:r>
              <a:rPr lang="en-US" sz="1300" b="1" dirty="0">
                <a:solidFill>
                  <a:srgbClr val="9B1C1C"/>
                </a:solidFill>
              </a:rPr>
              <a:t>Classification: </a:t>
            </a:r>
            <a:pPr indent="0" marL="0">
              <a:buNone/>
            </a:pPr>
            <a:r>
              <a:rPr lang="en-US" sz="1300" dirty="0">
                <a:solidFill>
                  <a:srgbClr val="101828"/>
                </a:solidFill>
              </a:rPr>
              <a:t>organized white-collar crime, enabled by state–corporate crime (Kramer et al., 2002)</a:t>
            </a:r>
            <a:endParaRPr lang="en-US" sz="1300" dirty="0"/>
          </a:p>
        </p:txBody>
      </p:sp>
      <p:sp>
        <p:nvSpPr>
          <p:cNvPr id="49" name="Text 46"/>
          <p:cNvSpPr txBox="1"/>
          <p:nvPr/>
        </p:nvSpPr>
        <p:spPr>
          <a:xfrm>
            <a:off x="548640" y="6053328"/>
            <a:ext cx="6720840" cy="274320"/>
          </a:xfrm>
          <a:prstGeom prst="rect">
            <a:avLst/>
          </a:prstGeom>
          <a:noFill/>
          <a:ln/>
        </p:spPr>
        <p:txBody>
          <a:bodyPr wrap="square" lIns="0" tIns="0" rIns="0" bIns="0" rtlCol="0" anchor="t"/>
          <a:lstStyle/>
          <a:p>
            <a:pPr indent="0" marL="0">
              <a:buNone/>
            </a:pPr>
            <a:r>
              <a:rPr lang="en-US" sz="1000" i="1" dirty="0">
                <a:solidFill>
                  <a:srgbClr val="8A93A6"/>
                </a:solidFill>
              </a:rPr>
              <a:t>Positions and fit ratings are the group’s assessment.</a:t>
            </a:r>
            <a:endParaRPr lang="en-US" sz="100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868680"/>
            <a:ext cx="8229600" cy="274320"/>
          </a:xfrm>
          <a:prstGeom prst="rect">
            <a:avLst/>
          </a:prstGeom>
          <a:noFill/>
          <a:ln/>
        </p:spPr>
        <p:txBody>
          <a:bodyPr wrap="square" lIns="0" tIns="0" rIns="0" bIns="0" rtlCol="0" anchor="ctr"/>
          <a:lstStyle/>
          <a:p>
            <a:pPr indent="0" marL="0">
              <a:buNone/>
            </a:pPr>
            <a:r>
              <a:rPr lang="en-US" sz="1300" b="1" spc="200" kern="0" dirty="0">
                <a:solidFill>
                  <a:srgbClr val="C8102E"/>
                </a:solidFill>
                <a:latin typeface="Courier New" pitchFamily="34" charset="0"/>
                <a:ea typeface="Courier New" pitchFamily="34" charset="-122"/>
                <a:cs typeface="Courier New" pitchFamily="34" charset="-120"/>
              </a:rPr>
              <a:t>INDEPENDENT AUDITOR’S REPORT ON THE FILM</a:t>
            </a:r>
            <a:endParaRPr lang="en-US" sz="1300" dirty="0"/>
          </a:p>
        </p:txBody>
      </p:sp>
      <p:sp>
        <p:nvSpPr>
          <p:cNvPr id="3" name="Text 1"/>
          <p:cNvSpPr txBox="1"/>
          <p:nvPr/>
        </p:nvSpPr>
        <p:spPr>
          <a:xfrm>
            <a:off x="548640" y="1170432"/>
            <a:ext cx="8595360" cy="960120"/>
          </a:xfrm>
          <a:prstGeom prst="rect">
            <a:avLst/>
          </a:prstGeom>
          <a:noFill/>
          <a:ln/>
        </p:spPr>
        <p:txBody>
          <a:bodyPr wrap="square" lIns="0" tIns="0" rIns="0" bIns="0" rtlCol="0" anchor="t"/>
          <a:lstStyle/>
          <a:p>
            <a:pPr indent="0" marL="0">
              <a:buNone/>
            </a:pPr>
            <a:r>
              <a:rPr lang="en-US" sz="2800" b="1" dirty="0">
                <a:solidFill>
                  <a:srgbClr val="101828"/>
                </a:solidFill>
                <a:latin typeface="Arial" pitchFamily="34" charset="0"/>
                <a:ea typeface="Arial" pitchFamily="34" charset="-122"/>
                <a:cs typeface="Arial" pitchFamily="34" charset="-120"/>
              </a:rPr>
              <a:t>Qualified opinion: accurate in substance, exaggerated in style</a:t>
            </a:r>
            <a:endParaRPr lang="en-US" sz="2800" dirty="0"/>
          </a:p>
        </p:txBody>
      </p:sp>
      <p:sp>
        <p:nvSpPr>
          <p:cNvPr id="4" name="audit stamp"/>
          <p:cNvSpPr txBox="1"/>
          <p:nvPr/>
        </p:nvSpPr>
        <p:spPr>
          <a:xfrm rot="-600000">
            <a:off x="9372600" y="1097280"/>
            <a:ext cx="2244852" cy="572008"/>
          </a:xfrm>
          <a:prstGeom prst="rect">
            <a:avLst/>
          </a:prstGeom>
          <a:noFill/>
          <a:ln w="38100">
            <a:solidFill>
              <a:srgbClr val="C8102E"/>
            </a:solidFill>
          </a:ln>
        </p:spPr>
        <p:txBody>
          <a:bodyPr wrap="square" lIns="0" tIns="0" rIns="0" bIns="0" rtlCol="0" anchor="ctr"/>
          <a:lstStyle/>
          <a:p>
            <a:pPr algn="ctr" indent="0" marL="0">
              <a:buNone/>
            </a:pPr>
            <a:r>
              <a:rPr lang="en-US" sz="2200" b="1" spc="100" kern="0" dirty="0">
                <a:solidFill>
                  <a:srgbClr val="C8102E"/>
                </a:solidFill>
                <a:latin typeface="Courier New" pitchFamily="34" charset="0"/>
                <a:ea typeface="Courier New" pitchFamily="34" charset="-122"/>
                <a:cs typeface="Courier New" pitchFamily="34" charset="-120"/>
              </a:rPr>
              <a:t>QUALIFIED</a:t>
            </a:r>
            <a:endParaRPr lang="en-US" sz="2200" dirty="0"/>
          </a:p>
        </p:txBody>
      </p:sp>
      <p:sp>
        <p:nvSpPr>
          <p:cNvPr id="5" name="BASIS: WHAT THE FILM GETS RIGHT"/>
          <p:cNvSpPr/>
          <p:nvPr/>
        </p:nvSpPr>
        <p:spPr>
          <a:xfrm>
            <a:off x="548640" y="2331720"/>
            <a:ext cx="5387188" cy="3794760"/>
          </a:xfrm>
          <a:prstGeom prst="rect">
            <a:avLst/>
          </a:prstGeom>
          <a:solidFill>
            <a:srgbClr val="FFFFFF"/>
          </a:solidFill>
          <a:ln w="19050">
            <a:solidFill>
              <a:srgbClr val="15803D"/>
            </a:solidFill>
            <a:prstDash val="solid"/>
          </a:ln>
          <a:effectLst>
            <a:outerShdw sx="100000" sy="100000" kx="0" ky="0" algn="bl" rotWithShape="0" blurRad="101600" dist="25400" dir="5400000">
              <a:srgbClr val="101828">
                <a:alpha val="8000"/>
              </a:srgbClr>
            </a:outerShdw>
          </a:effectLst>
        </p:spPr>
      </p:sp>
      <p:sp>
        <p:nvSpPr>
          <p:cNvPr id="6" name="Text 4"/>
          <p:cNvSpPr txBox="1"/>
          <p:nvPr/>
        </p:nvSpPr>
        <p:spPr>
          <a:xfrm>
            <a:off x="822960" y="2487168"/>
            <a:ext cx="4838548" cy="365760"/>
          </a:xfrm>
          <a:prstGeom prst="rect">
            <a:avLst/>
          </a:prstGeom>
          <a:noFill/>
          <a:ln/>
        </p:spPr>
        <p:txBody>
          <a:bodyPr wrap="square" lIns="0" tIns="0" rIns="0" bIns="0" rtlCol="0" anchor="ctr"/>
          <a:lstStyle/>
          <a:p>
            <a:pPr indent="0" marL="0">
              <a:buNone/>
            </a:pPr>
            <a:r>
              <a:rPr lang="en-US" sz="1400" b="1" spc="200" kern="0" dirty="0">
                <a:solidFill>
                  <a:srgbClr val="15803D"/>
                </a:solidFill>
                <a:latin typeface="Arial" pitchFamily="34" charset="0"/>
                <a:ea typeface="Arial" pitchFamily="34" charset="-122"/>
                <a:cs typeface="Arial" pitchFamily="34" charset="-120"/>
              </a:rPr>
              <a:t>BASIS: WHAT THE FILM GETS RIGHT</a:t>
            </a:r>
            <a:endParaRPr lang="en-US" sz="1400" dirty="0"/>
          </a:p>
        </p:txBody>
      </p:sp>
      <p:sp>
        <p:nvSpPr>
          <p:cNvPr id="7" name="Breaks the mafia stereotype: crime as a business with invoices circle"/>
          <p:cNvSpPr/>
          <p:nvPr/>
        </p:nvSpPr>
        <p:spPr>
          <a:xfrm>
            <a:off x="822960" y="3172968"/>
            <a:ext cx="365760" cy="365760"/>
          </a:xfrm>
          <a:prstGeom prst="ellipse">
            <a:avLst/>
          </a:prstGeom>
          <a:solidFill>
            <a:srgbClr val="15803D"/>
          </a:solidFill>
          <a:ln/>
        </p:spPr>
      </p:sp>
      <p:pic>
        <p:nvPicPr>
          <p:cNvPr id="8" name="Breaks the mafia stereotype: crime as a business with invoices icon" descr="Breaks the mafia stereotype: crime as a business with invoices">    </p:cNvPr>
          <p:cNvPicPr>
            <a:picLocks noChangeAspect="1"/>
          </p:cNvPicPr>
          <p:nvPr/>
        </p:nvPicPr>
        <p:blipFill>
          <a:blip r:embed="rId1"/>
          <a:stretch>
            <a:fillRect/>
          </a:stretch>
        </p:blipFill>
        <p:spPr>
          <a:xfrm>
            <a:off x="914400" y="3264408"/>
            <a:ext cx="182880" cy="182880"/>
          </a:xfrm>
          <a:prstGeom prst="rect">
            <a:avLst/>
          </a:prstGeom>
        </p:spPr>
      </p:pic>
      <p:sp>
        <p:nvSpPr>
          <p:cNvPr id="9" name="Text 6"/>
          <p:cNvSpPr txBox="1"/>
          <p:nvPr/>
        </p:nvSpPr>
        <p:spPr>
          <a:xfrm>
            <a:off x="1371600" y="3017520"/>
            <a:ext cx="4335628" cy="676656"/>
          </a:xfrm>
          <a:prstGeom prst="rect">
            <a:avLst/>
          </a:prstGeom>
          <a:noFill/>
          <a:ln/>
        </p:spPr>
        <p:txBody>
          <a:bodyPr wrap="square" lIns="0" tIns="0" rIns="0" bIns="0" rtlCol="0" anchor="ctr"/>
          <a:lstStyle/>
          <a:p>
            <a:pPr indent="0" marL="0">
              <a:buNone/>
            </a:pPr>
            <a:r>
              <a:rPr lang="en-US" sz="1550" dirty="0">
                <a:solidFill>
                  <a:srgbClr val="101828"/>
                </a:solidFill>
              </a:rPr>
              <a:t>Breaks the mafia stereotype: crime as a business with invoices</a:t>
            </a:r>
            <a:endParaRPr lang="en-US" sz="1550" dirty="0"/>
          </a:p>
        </p:txBody>
      </p:sp>
      <p:sp>
        <p:nvSpPr>
          <p:cNvPr id="10" name="Fits the UN definition and the enterprise and network models circle"/>
          <p:cNvSpPr/>
          <p:nvPr/>
        </p:nvSpPr>
        <p:spPr>
          <a:xfrm>
            <a:off x="822960" y="3931920"/>
            <a:ext cx="365760" cy="365760"/>
          </a:xfrm>
          <a:prstGeom prst="ellipse">
            <a:avLst/>
          </a:prstGeom>
          <a:solidFill>
            <a:srgbClr val="15803D"/>
          </a:solidFill>
          <a:ln/>
        </p:spPr>
      </p:sp>
      <p:pic>
        <p:nvPicPr>
          <p:cNvPr id="11" name="Fits the UN definition and the enterprise and network models icon" descr="Fits the UN definition and the enterprise and network models">    </p:cNvPr>
          <p:cNvPicPr>
            <a:picLocks noChangeAspect="1"/>
          </p:cNvPicPr>
          <p:nvPr/>
        </p:nvPicPr>
        <p:blipFill>
          <a:blip r:embed="rId2"/>
          <a:stretch>
            <a:fillRect/>
          </a:stretch>
        </p:blipFill>
        <p:spPr>
          <a:xfrm>
            <a:off x="914400" y="4023360"/>
            <a:ext cx="182880" cy="182880"/>
          </a:xfrm>
          <a:prstGeom prst="rect">
            <a:avLst/>
          </a:prstGeom>
        </p:spPr>
      </p:pic>
      <p:sp>
        <p:nvSpPr>
          <p:cNvPr id="12" name="Text 8"/>
          <p:cNvSpPr txBox="1"/>
          <p:nvPr/>
        </p:nvSpPr>
        <p:spPr>
          <a:xfrm>
            <a:off x="1371600" y="3776472"/>
            <a:ext cx="4335628" cy="676656"/>
          </a:xfrm>
          <a:prstGeom prst="rect">
            <a:avLst/>
          </a:prstGeom>
          <a:noFill/>
          <a:ln/>
        </p:spPr>
        <p:txBody>
          <a:bodyPr wrap="square" lIns="0" tIns="0" rIns="0" bIns="0" rtlCol="0" anchor="ctr"/>
          <a:lstStyle/>
          <a:p>
            <a:pPr indent="0" marL="0">
              <a:buNone/>
            </a:pPr>
            <a:r>
              <a:rPr lang="en-US" sz="1550" dirty="0">
                <a:solidFill>
                  <a:srgbClr val="101828"/>
                </a:solidFill>
              </a:rPr>
              <a:t>Fits the UN definition and the enterprise and network models</a:t>
            </a:r>
            <a:endParaRPr lang="en-US" sz="1550" dirty="0"/>
          </a:p>
        </p:txBody>
      </p:sp>
      <p:sp>
        <p:nvSpPr>
          <p:cNvPr id="13" name="Shows offenders who never see themselves as criminals circle"/>
          <p:cNvSpPr/>
          <p:nvPr/>
        </p:nvSpPr>
        <p:spPr>
          <a:xfrm>
            <a:off x="822960" y="4690872"/>
            <a:ext cx="365760" cy="365760"/>
          </a:xfrm>
          <a:prstGeom prst="ellipse">
            <a:avLst/>
          </a:prstGeom>
          <a:solidFill>
            <a:srgbClr val="15803D"/>
          </a:solidFill>
          <a:ln/>
        </p:spPr>
      </p:sp>
      <p:pic>
        <p:nvPicPr>
          <p:cNvPr id="14" name="Shows offenders who never see themselves as criminals icon" descr="Shows offenders who never see themselves as criminals">    </p:cNvPr>
          <p:cNvPicPr>
            <a:picLocks noChangeAspect="1"/>
          </p:cNvPicPr>
          <p:nvPr/>
        </p:nvPicPr>
        <p:blipFill>
          <a:blip r:embed="rId3"/>
          <a:stretch>
            <a:fillRect/>
          </a:stretch>
        </p:blipFill>
        <p:spPr>
          <a:xfrm>
            <a:off x="914400" y="4782312"/>
            <a:ext cx="182880" cy="182880"/>
          </a:xfrm>
          <a:prstGeom prst="rect">
            <a:avLst/>
          </a:prstGeom>
        </p:spPr>
      </p:pic>
      <p:sp>
        <p:nvSpPr>
          <p:cNvPr id="15" name="Text 10"/>
          <p:cNvSpPr txBox="1"/>
          <p:nvPr/>
        </p:nvSpPr>
        <p:spPr>
          <a:xfrm>
            <a:off x="1371600" y="4535424"/>
            <a:ext cx="4335628" cy="676656"/>
          </a:xfrm>
          <a:prstGeom prst="rect">
            <a:avLst/>
          </a:prstGeom>
          <a:noFill/>
          <a:ln/>
        </p:spPr>
        <p:txBody>
          <a:bodyPr wrap="square" lIns="0" tIns="0" rIns="0" bIns="0" rtlCol="0" anchor="ctr"/>
          <a:lstStyle/>
          <a:p>
            <a:pPr indent="0" marL="0">
              <a:buNone/>
            </a:pPr>
            <a:r>
              <a:rPr lang="en-US" sz="1550" dirty="0">
                <a:solidFill>
                  <a:srgbClr val="101828"/>
                </a:solidFill>
              </a:rPr>
              <a:t>Shows offenders who never see themselves as criminals</a:t>
            </a:r>
            <a:endParaRPr lang="en-US" sz="1550" dirty="0"/>
          </a:p>
        </p:txBody>
      </p:sp>
      <p:sp>
        <p:nvSpPr>
          <p:cNvPr id="16" name="Real facts: the $298M contract, the repacking, the sentences circle"/>
          <p:cNvSpPr/>
          <p:nvPr/>
        </p:nvSpPr>
        <p:spPr>
          <a:xfrm>
            <a:off x="822960" y="5449824"/>
            <a:ext cx="365760" cy="365760"/>
          </a:xfrm>
          <a:prstGeom prst="ellipse">
            <a:avLst/>
          </a:prstGeom>
          <a:solidFill>
            <a:srgbClr val="15803D"/>
          </a:solidFill>
          <a:ln/>
        </p:spPr>
      </p:sp>
      <p:pic>
        <p:nvPicPr>
          <p:cNvPr id="17" name="Real facts: the $298M contract, the repacking, the sentences icon" descr="Real facts: the $298M contract, the repacking, the sentences">    </p:cNvPr>
          <p:cNvPicPr>
            <a:picLocks noChangeAspect="1"/>
          </p:cNvPicPr>
          <p:nvPr/>
        </p:nvPicPr>
        <p:blipFill>
          <a:blip r:embed="rId4"/>
          <a:stretch>
            <a:fillRect/>
          </a:stretch>
        </p:blipFill>
        <p:spPr>
          <a:xfrm>
            <a:off x="914400" y="5541264"/>
            <a:ext cx="182880" cy="182880"/>
          </a:xfrm>
          <a:prstGeom prst="rect">
            <a:avLst/>
          </a:prstGeom>
        </p:spPr>
      </p:pic>
      <p:sp>
        <p:nvSpPr>
          <p:cNvPr id="18" name="Text 12"/>
          <p:cNvSpPr txBox="1"/>
          <p:nvPr/>
        </p:nvSpPr>
        <p:spPr>
          <a:xfrm>
            <a:off x="1371600" y="5294376"/>
            <a:ext cx="4335628" cy="676656"/>
          </a:xfrm>
          <a:prstGeom prst="rect">
            <a:avLst/>
          </a:prstGeom>
          <a:noFill/>
          <a:ln/>
        </p:spPr>
        <p:txBody>
          <a:bodyPr wrap="square" lIns="0" tIns="0" rIns="0" bIns="0" rtlCol="0" anchor="ctr"/>
          <a:lstStyle/>
          <a:p>
            <a:pPr indent="0" marL="0">
              <a:buNone/>
            </a:pPr>
            <a:r>
              <a:rPr lang="en-US" sz="1550" dirty="0">
                <a:solidFill>
                  <a:srgbClr val="101828"/>
                </a:solidFill>
              </a:rPr>
              <a:t>Real facts: the $298M contract, the repacking, the sentences</a:t>
            </a:r>
            <a:endParaRPr lang="en-US" sz="1550" dirty="0"/>
          </a:p>
        </p:txBody>
      </p:sp>
      <p:sp>
        <p:nvSpPr>
          <p:cNvPr id="19" name="QUALIFICATIONS: WHAT IT GETS WRONG"/>
          <p:cNvSpPr/>
          <p:nvPr/>
        </p:nvSpPr>
        <p:spPr>
          <a:xfrm>
            <a:off x="6255868" y="2331720"/>
            <a:ext cx="5387188" cy="3794760"/>
          </a:xfrm>
          <a:prstGeom prst="rect">
            <a:avLst/>
          </a:prstGeom>
          <a:solidFill>
            <a:srgbClr val="FFFFFF"/>
          </a:solidFill>
          <a:ln w="19050">
            <a:solidFill>
              <a:srgbClr val="C8102E"/>
            </a:solidFill>
            <a:prstDash val="solid"/>
          </a:ln>
          <a:effectLst>
            <a:outerShdw sx="100000" sy="100000" kx="0" ky="0" algn="bl" rotWithShape="0" blurRad="101600" dist="25400" dir="5400000">
              <a:srgbClr val="101828">
                <a:alpha val="8000"/>
              </a:srgbClr>
            </a:outerShdw>
          </a:effectLst>
        </p:spPr>
      </p:sp>
      <p:sp>
        <p:nvSpPr>
          <p:cNvPr id="20" name="Text 14"/>
          <p:cNvSpPr txBox="1"/>
          <p:nvPr/>
        </p:nvSpPr>
        <p:spPr>
          <a:xfrm>
            <a:off x="6530188" y="2487168"/>
            <a:ext cx="4838548" cy="365760"/>
          </a:xfrm>
          <a:prstGeom prst="rect">
            <a:avLst/>
          </a:prstGeom>
          <a:noFill/>
          <a:ln/>
        </p:spPr>
        <p:txBody>
          <a:bodyPr wrap="square" lIns="0" tIns="0" rIns="0" bIns="0" rtlCol="0" anchor="ctr"/>
          <a:lstStyle/>
          <a:p>
            <a:pPr indent="0" marL="0">
              <a:buNone/>
            </a:pPr>
            <a:r>
              <a:rPr lang="en-US" sz="1400" b="1" spc="200" kern="0" dirty="0">
                <a:solidFill>
                  <a:srgbClr val="C8102E"/>
                </a:solidFill>
                <a:latin typeface="Arial" pitchFamily="34" charset="0"/>
                <a:ea typeface="Arial" pitchFamily="34" charset="-122"/>
                <a:cs typeface="Arial" pitchFamily="34" charset="-120"/>
              </a:rPr>
              <a:t>QUALIFICATIONS: WHAT IT GETS WRONG</a:t>
            </a:r>
            <a:endParaRPr lang="en-US" sz="1400" dirty="0"/>
          </a:p>
        </p:txBody>
      </p:sp>
      <p:sp>
        <p:nvSpPr>
          <p:cNvPr id="21" name="The comedy glamorizes the money and softens the fraud circle"/>
          <p:cNvSpPr/>
          <p:nvPr/>
        </p:nvSpPr>
        <p:spPr>
          <a:xfrm>
            <a:off x="6530188" y="3172968"/>
            <a:ext cx="365760" cy="365760"/>
          </a:xfrm>
          <a:prstGeom prst="ellipse">
            <a:avLst/>
          </a:prstGeom>
          <a:solidFill>
            <a:srgbClr val="C8102E"/>
          </a:solidFill>
          <a:ln/>
        </p:spPr>
      </p:sp>
      <p:pic>
        <p:nvPicPr>
          <p:cNvPr id="22" name="The comedy glamorizes the money and softens the fraud icon" descr="The comedy glamorizes the money and softens the fraud">    </p:cNvPr>
          <p:cNvPicPr>
            <a:picLocks noChangeAspect="1"/>
          </p:cNvPicPr>
          <p:nvPr/>
        </p:nvPicPr>
        <p:blipFill>
          <a:blip r:embed="rId5"/>
          <a:stretch>
            <a:fillRect/>
          </a:stretch>
        </p:blipFill>
        <p:spPr>
          <a:xfrm>
            <a:off x="6621628" y="3264408"/>
            <a:ext cx="182880" cy="182880"/>
          </a:xfrm>
          <a:prstGeom prst="rect">
            <a:avLst/>
          </a:prstGeom>
        </p:spPr>
      </p:pic>
      <p:sp>
        <p:nvSpPr>
          <p:cNvPr id="23" name="Text 16"/>
          <p:cNvSpPr txBox="1"/>
          <p:nvPr/>
        </p:nvSpPr>
        <p:spPr>
          <a:xfrm>
            <a:off x="7078828" y="3017520"/>
            <a:ext cx="4335628" cy="676656"/>
          </a:xfrm>
          <a:prstGeom prst="rect">
            <a:avLst/>
          </a:prstGeom>
          <a:noFill/>
          <a:ln/>
        </p:spPr>
        <p:txBody>
          <a:bodyPr wrap="square" lIns="0" tIns="0" rIns="0" bIns="0" rtlCol="0" anchor="ctr"/>
          <a:lstStyle/>
          <a:p>
            <a:pPr indent="0" marL="0">
              <a:buNone/>
            </a:pPr>
            <a:r>
              <a:rPr lang="en-US" sz="1550" dirty="0">
                <a:solidFill>
                  <a:srgbClr val="101828"/>
                </a:solidFill>
              </a:rPr>
              <a:t>The comedy glamorizes the money and softens the fraud</a:t>
            </a:r>
            <a:endParaRPr lang="en-US" sz="1550" dirty="0"/>
          </a:p>
        </p:txBody>
      </p:sp>
      <p:sp>
        <p:nvSpPr>
          <p:cNvPr id="24" name="Henry Girard is a composite, not a real person circle"/>
          <p:cNvSpPr/>
          <p:nvPr/>
        </p:nvSpPr>
        <p:spPr>
          <a:xfrm>
            <a:off x="6530188" y="3931920"/>
            <a:ext cx="365760" cy="365760"/>
          </a:xfrm>
          <a:prstGeom prst="ellipse">
            <a:avLst/>
          </a:prstGeom>
          <a:solidFill>
            <a:srgbClr val="C8102E"/>
          </a:solidFill>
          <a:ln/>
        </p:spPr>
      </p:sp>
      <p:pic>
        <p:nvPicPr>
          <p:cNvPr id="25" name="Henry Girard is a composite, not a real person icon" descr="Henry Girard is a composite, not a real person">    </p:cNvPr>
          <p:cNvPicPr>
            <a:picLocks noChangeAspect="1"/>
          </p:cNvPicPr>
          <p:nvPr/>
        </p:nvPicPr>
        <p:blipFill>
          <a:blip r:embed="rId6"/>
          <a:stretch>
            <a:fillRect/>
          </a:stretch>
        </p:blipFill>
        <p:spPr>
          <a:xfrm>
            <a:off x="6621628" y="4023360"/>
            <a:ext cx="182880" cy="182880"/>
          </a:xfrm>
          <a:prstGeom prst="rect">
            <a:avLst/>
          </a:prstGeom>
        </p:spPr>
      </p:pic>
      <p:sp>
        <p:nvSpPr>
          <p:cNvPr id="26" name="Text 18"/>
          <p:cNvSpPr txBox="1"/>
          <p:nvPr/>
        </p:nvSpPr>
        <p:spPr>
          <a:xfrm>
            <a:off x="7078828" y="3776472"/>
            <a:ext cx="4335628" cy="676656"/>
          </a:xfrm>
          <a:prstGeom prst="rect">
            <a:avLst/>
          </a:prstGeom>
          <a:noFill/>
          <a:ln/>
        </p:spPr>
        <p:txBody>
          <a:bodyPr wrap="square" lIns="0" tIns="0" rIns="0" bIns="0" rtlCol="0" anchor="ctr"/>
          <a:lstStyle/>
          <a:p>
            <a:pPr indent="0" marL="0">
              <a:buNone/>
            </a:pPr>
            <a:r>
              <a:rPr lang="en-US" sz="1550" dirty="0">
                <a:solidFill>
                  <a:srgbClr val="101828"/>
                </a:solidFill>
              </a:rPr>
              <a:t>Henry Girard is a composite, not a real person</a:t>
            </a:r>
            <a:endParaRPr lang="en-US" sz="1550" dirty="0"/>
          </a:p>
        </p:txBody>
      </p:sp>
      <p:sp>
        <p:nvSpPr>
          <p:cNvPr id="27" name="Blames two young men more than the system that hired them circle"/>
          <p:cNvSpPr/>
          <p:nvPr/>
        </p:nvSpPr>
        <p:spPr>
          <a:xfrm>
            <a:off x="6530188" y="4690872"/>
            <a:ext cx="365760" cy="365760"/>
          </a:xfrm>
          <a:prstGeom prst="ellipse">
            <a:avLst/>
          </a:prstGeom>
          <a:solidFill>
            <a:srgbClr val="C8102E"/>
          </a:solidFill>
          <a:ln/>
        </p:spPr>
      </p:sp>
      <p:pic>
        <p:nvPicPr>
          <p:cNvPr id="28" name="Blames two young men more than the system that hired them icon" descr="Blames two young men more than the system that hired them">    </p:cNvPr>
          <p:cNvPicPr>
            <a:picLocks noChangeAspect="1"/>
          </p:cNvPicPr>
          <p:nvPr/>
        </p:nvPicPr>
        <p:blipFill>
          <a:blip r:embed="rId7"/>
          <a:stretch>
            <a:fillRect/>
          </a:stretch>
        </p:blipFill>
        <p:spPr>
          <a:xfrm>
            <a:off x="6621628" y="4782312"/>
            <a:ext cx="182880" cy="182880"/>
          </a:xfrm>
          <a:prstGeom prst="rect">
            <a:avLst/>
          </a:prstGeom>
        </p:spPr>
      </p:pic>
      <p:sp>
        <p:nvSpPr>
          <p:cNvPr id="29" name="Text 20"/>
          <p:cNvSpPr txBox="1"/>
          <p:nvPr/>
        </p:nvSpPr>
        <p:spPr>
          <a:xfrm>
            <a:off x="7078828" y="4535424"/>
            <a:ext cx="4335628" cy="676656"/>
          </a:xfrm>
          <a:prstGeom prst="rect">
            <a:avLst/>
          </a:prstGeom>
          <a:noFill/>
          <a:ln/>
        </p:spPr>
        <p:txBody>
          <a:bodyPr wrap="square" lIns="0" tIns="0" rIns="0" bIns="0" rtlCol="0" anchor="ctr"/>
          <a:lstStyle/>
          <a:p>
            <a:pPr indent="0" marL="0">
              <a:buNone/>
            </a:pPr>
            <a:r>
              <a:rPr lang="en-US" sz="1550" dirty="0">
                <a:solidFill>
                  <a:srgbClr val="101828"/>
                </a:solidFill>
              </a:rPr>
              <a:t>Blames two young men more than the system that hired them</a:t>
            </a:r>
            <a:endParaRPr lang="en-US" sz="1550" dirty="0"/>
          </a:p>
        </p:txBody>
      </p:sp>
      <p:sp>
        <p:nvSpPr>
          <p:cNvPr id="30" name="Real victims, soldiers and taxpayers, barely appear circle"/>
          <p:cNvSpPr/>
          <p:nvPr/>
        </p:nvSpPr>
        <p:spPr>
          <a:xfrm>
            <a:off x="6530188" y="5449824"/>
            <a:ext cx="365760" cy="365760"/>
          </a:xfrm>
          <a:prstGeom prst="ellipse">
            <a:avLst/>
          </a:prstGeom>
          <a:solidFill>
            <a:srgbClr val="C8102E"/>
          </a:solidFill>
          <a:ln/>
        </p:spPr>
      </p:sp>
      <p:pic>
        <p:nvPicPr>
          <p:cNvPr id="31" name="Real victims, soldiers and taxpayers, barely appear icon" descr="Real victims, soldiers and taxpayers, barely appear">    </p:cNvPr>
          <p:cNvPicPr>
            <a:picLocks noChangeAspect="1"/>
          </p:cNvPicPr>
          <p:nvPr/>
        </p:nvPicPr>
        <p:blipFill>
          <a:blip r:embed="rId8"/>
          <a:stretch>
            <a:fillRect/>
          </a:stretch>
        </p:blipFill>
        <p:spPr>
          <a:xfrm>
            <a:off x="6621628" y="5541264"/>
            <a:ext cx="182880" cy="182880"/>
          </a:xfrm>
          <a:prstGeom prst="rect">
            <a:avLst/>
          </a:prstGeom>
        </p:spPr>
      </p:pic>
      <p:sp>
        <p:nvSpPr>
          <p:cNvPr id="32" name="Text 22"/>
          <p:cNvSpPr txBox="1"/>
          <p:nvPr/>
        </p:nvSpPr>
        <p:spPr>
          <a:xfrm>
            <a:off x="7078828" y="5294376"/>
            <a:ext cx="4335628" cy="676656"/>
          </a:xfrm>
          <a:prstGeom prst="rect">
            <a:avLst/>
          </a:prstGeom>
          <a:noFill/>
          <a:ln/>
        </p:spPr>
        <p:txBody>
          <a:bodyPr wrap="square" lIns="0" tIns="0" rIns="0" bIns="0" rtlCol="0" anchor="ctr"/>
          <a:lstStyle/>
          <a:p>
            <a:pPr indent="0" marL="0">
              <a:buNone/>
            </a:pPr>
            <a:r>
              <a:rPr lang="en-US" sz="1550" dirty="0">
                <a:solidFill>
                  <a:srgbClr val="101828"/>
                </a:solidFill>
              </a:rPr>
              <a:t>Real victims, soldiers and taxpayers, barely appear</a:t>
            </a:r>
            <a:endParaRPr lang="en-US" sz="1550" dirty="0"/>
          </a:p>
        </p:txBody>
      </p:sp>
      <p:sp>
        <p:nvSpPr>
          <p:cNvPr id="25" name="Slide Number Placeholder 0"/>
          <p:cNvSpPr>
            <a:spLocks noGrp="1"/>
          </p:cNvSpPr>
          <p:nvPr>
            <p:ph type="sldNum" sz="quarter" idx="4294967295"/>
          </p:nvPr>
        </p:nvSpPr>
        <p:spPr>
          <a:xfrm>
            <a:off x="11094415" y="644652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A0A7B4"/>
                </a:solidFill>
                <a:latin typeface="Arial"/>
                <a:ea typeface="Arial"/>
                <a:cs typeface="Aria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731520"/>
            <a:ext cx="7315200" cy="274320"/>
          </a:xfrm>
          <a:prstGeom prst="rect">
            <a:avLst/>
          </a:prstGeom>
          <a:noFill/>
          <a:ln/>
        </p:spPr>
        <p:txBody>
          <a:bodyPr wrap="square" lIns="0" tIns="0" rIns="0" bIns="0" rtlCol="0" anchor="ctr"/>
          <a:lstStyle/>
          <a:p>
            <a:pPr indent="0" marL="0">
              <a:buNone/>
            </a:pPr>
            <a:r>
              <a:rPr lang="en-US" sz="1400" b="1" spc="300" kern="0" dirty="0">
                <a:solidFill>
                  <a:srgbClr val="F87171"/>
                </a:solidFill>
                <a:latin typeface="Courier New" pitchFamily="34" charset="0"/>
                <a:ea typeface="Courier New" pitchFamily="34" charset="-122"/>
                <a:cs typeface="Courier New" pitchFamily="34" charset="-120"/>
              </a:rPr>
              <a:t>FINAL AUDIT OPINION</a:t>
            </a:r>
            <a:endParaRPr lang="en-US" sz="1400" dirty="0"/>
          </a:p>
        </p:txBody>
      </p:sp>
      <p:sp>
        <p:nvSpPr>
          <p:cNvPr id="3" name="Text 1"/>
          <p:cNvSpPr txBox="1"/>
          <p:nvPr/>
        </p:nvSpPr>
        <p:spPr>
          <a:xfrm>
            <a:off x="548640" y="1097280"/>
            <a:ext cx="8229600"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Do not invest.</a:t>
            </a:r>
            <a:endParaRPr lang="en-US" sz="6000" dirty="0"/>
          </a:p>
        </p:txBody>
      </p:sp>
      <p:sp>
        <p:nvSpPr>
          <p:cNvPr id="4" name="Text 2"/>
          <p:cNvSpPr txBox="1"/>
          <p:nvPr/>
        </p:nvSpPr>
        <p:spPr>
          <a:xfrm>
            <a:off x="548640" y="2194560"/>
            <a:ext cx="8229600" cy="457200"/>
          </a:xfrm>
          <a:prstGeom prst="rect">
            <a:avLst/>
          </a:prstGeom>
          <a:noFill/>
          <a:ln/>
        </p:spPr>
        <p:txBody>
          <a:bodyPr wrap="square" lIns="0" tIns="0" rIns="0" bIns="0" rtlCol="0" anchor="ctr"/>
          <a:lstStyle/>
          <a:p>
            <a:pPr indent="0" marL="0">
              <a:buNone/>
            </a:pPr>
            <a:r>
              <a:rPr lang="en-US" sz="2200" i="1" dirty="0">
                <a:solidFill>
                  <a:srgbClr val="C7D2FE"/>
                </a:solidFill>
              </a:rPr>
              <a:t>AEY passed the pitch. It failed the audit.</a:t>
            </a:r>
            <a:endParaRPr lang="en-US" sz="2200" dirty="0"/>
          </a:p>
        </p:txBody>
      </p:sp>
      <p:sp>
        <p:nvSpPr>
          <p:cNvPr id="5" name="audit stamp"/>
          <p:cNvSpPr txBox="1"/>
          <p:nvPr/>
        </p:nvSpPr>
        <p:spPr>
          <a:xfrm rot="-600000">
            <a:off x="8549640" y="1234440"/>
            <a:ext cx="2840736" cy="572008"/>
          </a:xfrm>
          <a:prstGeom prst="rect">
            <a:avLst/>
          </a:prstGeom>
          <a:noFill/>
          <a:ln w="38100">
            <a:solidFill>
              <a:srgbClr val="F87171"/>
            </a:solidFill>
          </a:ln>
        </p:spPr>
        <p:txBody>
          <a:bodyPr wrap="square" lIns="0" tIns="0" rIns="0" bIns="0" rtlCol="0" anchor="ctr"/>
          <a:lstStyle/>
          <a:p>
            <a:pPr algn="ctr" indent="0" marL="0">
              <a:buNone/>
            </a:pPr>
            <a:r>
              <a:rPr lang="en-US" sz="2200" b="1" spc="100" kern="0" dirty="0">
                <a:solidFill>
                  <a:srgbClr val="F87171"/>
                </a:solidFill>
                <a:latin typeface="Courier New" pitchFamily="34" charset="0"/>
                <a:ea typeface="Courier New" pitchFamily="34" charset="-122"/>
                <a:cs typeface="Courier New" pitchFamily="34" charset="-120"/>
              </a:rPr>
              <a:t>AUDIT CLOSED</a:t>
            </a:r>
            <a:endParaRPr lang="en-US" sz="2200" dirty="0"/>
          </a:p>
        </p:txBody>
      </p:sp>
      <p:sp>
        <p:nvSpPr>
          <p:cNvPr id="6" name="THE ANSWER"/>
          <p:cNvSpPr/>
          <p:nvPr/>
        </p:nvSpPr>
        <p:spPr>
          <a:xfrm>
            <a:off x="548640" y="3108960"/>
            <a:ext cx="3545738" cy="1783080"/>
          </a:xfrm>
          <a:prstGeom prst="rect">
            <a:avLst/>
          </a:prstGeom>
          <a:solidFill>
            <a:srgbClr val="16224A"/>
          </a:solidFill>
          <a:ln w="15875">
            <a:solidFill>
              <a:srgbClr val="A5B4FC"/>
            </a:solidFill>
            <a:prstDash val="solid"/>
          </a:ln>
        </p:spPr>
      </p:sp>
      <p:sp>
        <p:nvSpPr>
          <p:cNvPr id="7" name="Text 5"/>
          <p:cNvSpPr txBox="1"/>
          <p:nvPr/>
        </p:nvSpPr>
        <p:spPr>
          <a:xfrm>
            <a:off x="822960" y="3291840"/>
            <a:ext cx="2997098" cy="1463040"/>
          </a:xfrm>
          <a:prstGeom prst="rect">
            <a:avLst/>
          </a:prstGeom>
          <a:noFill/>
          <a:ln/>
        </p:spPr>
        <p:txBody>
          <a:bodyPr wrap="square" lIns="0" tIns="0" rIns="0" bIns="0" rtlCol="0" anchor="t"/>
          <a:lstStyle/>
          <a:p>
            <a:pPr indent="0" marL="0">
              <a:buNone/>
            </a:pPr>
            <a:r>
              <a:rPr lang="en-US" sz="1200" b="1" spc="200" kern="0" dirty="0">
                <a:solidFill>
                  <a:srgbClr val="A5B4FC"/>
                </a:solidFill>
                <a:latin typeface="Arial" pitchFamily="34" charset="0"/>
                <a:ea typeface="Arial" pitchFamily="34" charset="-122"/>
                <a:cs typeface="Arial" pitchFamily="34" charset="-120"/>
              </a:rPr>
              <a:t>THE ANSWER</a:t>
            </a:r>
            <a:endParaRPr lang="en-US" sz="1200" dirty="0"/>
          </a:p>
          <a:p>
            <a:pPr indent="0" marL="0">
              <a:buNone/>
            </a:pPr>
            <a:r>
              <a:rPr lang="en-US" sz="600" dirty="0">
                <a:solidFill>
                  <a:srgbClr val="000000"/>
                </a:solidFill>
              </a:rPr>
              <a:t> </a:t>
            </a:r>
            <a:endParaRPr lang="en-US" sz="1200" dirty="0"/>
          </a:p>
          <a:p>
            <a:pPr indent="0" marL="0">
              <a:buNone/>
            </a:pPr>
            <a:r>
              <a:rPr lang="en-US" sz="1700" dirty="0">
                <a:solidFill>
                  <a:srgbClr val="FFFFFF"/>
                </a:solidFill>
              </a:rPr>
              <a:t>Organized crime under the UN definition, but not the mafia.</a:t>
            </a:r>
            <a:endParaRPr lang="en-US" sz="1200" dirty="0"/>
          </a:p>
        </p:txBody>
      </p:sp>
      <p:sp>
        <p:nvSpPr>
          <p:cNvPr id="8" name="THE CLASSIFICATION"/>
          <p:cNvSpPr/>
          <p:nvPr/>
        </p:nvSpPr>
        <p:spPr>
          <a:xfrm>
            <a:off x="4322978" y="3108960"/>
            <a:ext cx="3545738" cy="1783080"/>
          </a:xfrm>
          <a:prstGeom prst="rect">
            <a:avLst/>
          </a:prstGeom>
          <a:solidFill>
            <a:srgbClr val="16224A"/>
          </a:solidFill>
          <a:ln w="15875">
            <a:solidFill>
              <a:srgbClr val="A5B4FC"/>
            </a:solidFill>
            <a:prstDash val="solid"/>
          </a:ln>
        </p:spPr>
      </p:sp>
      <p:sp>
        <p:nvSpPr>
          <p:cNvPr id="9" name="Text 7"/>
          <p:cNvSpPr txBox="1"/>
          <p:nvPr/>
        </p:nvSpPr>
        <p:spPr>
          <a:xfrm>
            <a:off x="4597298" y="3291840"/>
            <a:ext cx="2997098" cy="1463040"/>
          </a:xfrm>
          <a:prstGeom prst="rect">
            <a:avLst/>
          </a:prstGeom>
          <a:noFill/>
          <a:ln/>
        </p:spPr>
        <p:txBody>
          <a:bodyPr wrap="square" lIns="0" tIns="0" rIns="0" bIns="0" rtlCol="0" anchor="t"/>
          <a:lstStyle/>
          <a:p>
            <a:pPr indent="0" marL="0">
              <a:buNone/>
            </a:pPr>
            <a:r>
              <a:rPr lang="en-US" sz="1200" b="1" spc="200" kern="0" dirty="0">
                <a:solidFill>
                  <a:srgbClr val="A5B4FC"/>
                </a:solidFill>
                <a:latin typeface="Arial" pitchFamily="34" charset="0"/>
                <a:ea typeface="Arial" pitchFamily="34" charset="-122"/>
                <a:cs typeface="Arial" pitchFamily="34" charset="-120"/>
              </a:rPr>
              <a:t>THE CLASSIFICATION</a:t>
            </a:r>
            <a:endParaRPr lang="en-US" sz="1200" dirty="0"/>
          </a:p>
          <a:p>
            <a:pPr indent="0" marL="0">
              <a:buNone/>
            </a:pPr>
            <a:r>
              <a:rPr lang="en-US" sz="600" dirty="0">
                <a:solidFill>
                  <a:srgbClr val="000000"/>
                </a:solidFill>
              </a:rPr>
              <a:t> </a:t>
            </a:r>
            <a:endParaRPr lang="en-US" sz="1200" dirty="0"/>
          </a:p>
          <a:p>
            <a:pPr indent="0" marL="0">
              <a:buNone/>
            </a:pPr>
            <a:r>
              <a:rPr lang="en-US" sz="1700" dirty="0">
                <a:solidFill>
                  <a:srgbClr val="FFFFFF"/>
                </a:solidFill>
              </a:rPr>
              <a:t>Organized white-collar crime, enabled by weak state oversight.</a:t>
            </a:r>
            <a:endParaRPr lang="en-US" sz="1200" dirty="0"/>
          </a:p>
        </p:txBody>
      </p:sp>
      <p:sp>
        <p:nvSpPr>
          <p:cNvPr id="10" name="THE LESSON FOR BANGLADESH"/>
          <p:cNvSpPr/>
          <p:nvPr/>
        </p:nvSpPr>
        <p:spPr>
          <a:xfrm>
            <a:off x="8097317" y="3108960"/>
            <a:ext cx="3545738" cy="1783080"/>
          </a:xfrm>
          <a:prstGeom prst="rect">
            <a:avLst/>
          </a:prstGeom>
          <a:solidFill>
            <a:srgbClr val="16224A"/>
          </a:solidFill>
          <a:ln w="15875">
            <a:solidFill>
              <a:srgbClr val="F87171"/>
            </a:solidFill>
            <a:prstDash val="solid"/>
          </a:ln>
        </p:spPr>
      </p:sp>
      <p:sp>
        <p:nvSpPr>
          <p:cNvPr id="11" name="Text 9"/>
          <p:cNvSpPr txBox="1"/>
          <p:nvPr/>
        </p:nvSpPr>
        <p:spPr>
          <a:xfrm>
            <a:off x="8371637" y="3291840"/>
            <a:ext cx="2997098" cy="1463040"/>
          </a:xfrm>
          <a:prstGeom prst="rect">
            <a:avLst/>
          </a:prstGeom>
          <a:noFill/>
          <a:ln/>
        </p:spPr>
        <p:txBody>
          <a:bodyPr wrap="square" lIns="0" tIns="0" rIns="0" bIns="0" rtlCol="0" anchor="t"/>
          <a:lstStyle/>
          <a:p>
            <a:pPr indent="0" marL="0">
              <a:buNone/>
            </a:pPr>
            <a:r>
              <a:rPr lang="en-US" sz="1200" b="1" spc="200" kern="0" dirty="0">
                <a:solidFill>
                  <a:srgbClr val="F87171"/>
                </a:solidFill>
                <a:latin typeface="Arial" pitchFamily="34" charset="0"/>
                <a:ea typeface="Arial" pitchFamily="34" charset="-122"/>
                <a:cs typeface="Arial" pitchFamily="34" charset="-120"/>
              </a:rPr>
              <a:t>THE LESSON FOR BANGLADESH</a:t>
            </a:r>
            <a:endParaRPr lang="en-US" sz="1200" dirty="0"/>
          </a:p>
          <a:p>
            <a:pPr indent="0" marL="0">
              <a:buNone/>
            </a:pPr>
            <a:r>
              <a:rPr lang="en-US" sz="600" dirty="0">
                <a:solidFill>
                  <a:srgbClr val="000000"/>
                </a:solidFill>
              </a:rPr>
              <a:t> </a:t>
            </a:r>
            <a:endParaRPr lang="en-US" sz="1200" dirty="0"/>
          </a:p>
          <a:p>
            <a:pPr indent="0" marL="0">
              <a:buNone/>
            </a:pPr>
            <a:r>
              <a:rPr lang="en-US" sz="1700" dirty="0">
                <a:solidFill>
                  <a:srgbClr val="FFFFFF"/>
                </a:solidFill>
              </a:rPr>
              <a:t>Vet contractors, reveal their real owners, and verify where goods come from.</a:t>
            </a:r>
            <a:endParaRPr lang="en-US" sz="1200" dirty="0"/>
          </a:p>
        </p:txBody>
      </p:sp>
      <p:sp>
        <p:nvSpPr>
          <p:cNvPr id="12" name="Text 10"/>
          <p:cNvSpPr txBox="1"/>
          <p:nvPr/>
        </p:nvSpPr>
        <p:spPr>
          <a:xfrm>
            <a:off x="548640" y="5577840"/>
            <a:ext cx="64008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Thank you.  </a:t>
            </a:r>
            <a:pPr indent="0" marL="0">
              <a:buNone/>
            </a:pPr>
            <a:r>
              <a:rPr lang="en-US" sz="2600" i="1" dirty="0">
                <a:solidFill>
                  <a:srgbClr val="A5B4FC"/>
                </a:solidFill>
                <a:latin typeface="Arial" pitchFamily="34" charset="0"/>
                <a:ea typeface="Arial" pitchFamily="34" charset="-122"/>
                <a:cs typeface="Arial" pitchFamily="34" charset="-120"/>
              </a:rPr>
              <a:t>Questions?</a:t>
            </a:r>
            <a:endParaRPr lang="en-US" sz="2600" dirty="0"/>
          </a:p>
        </p:txBody>
      </p:sp>
      <p:sp>
        <p:nvSpPr>
          <p:cNvPr id="13" name="Text 11"/>
          <p:cNvSpPr txBox="1"/>
          <p:nvPr/>
        </p:nvSpPr>
        <p:spPr>
          <a:xfrm>
            <a:off x="7985455" y="5669280"/>
            <a:ext cx="3657600" cy="365760"/>
          </a:xfrm>
          <a:prstGeom prst="rect">
            <a:avLst/>
          </a:prstGeom>
          <a:noFill/>
          <a:ln/>
        </p:spPr>
        <p:txBody>
          <a:bodyPr wrap="square" lIns="0" tIns="0" rIns="0" bIns="0" rtlCol="0" anchor="ctr"/>
          <a:lstStyle/>
          <a:p>
            <a:pPr algn="r" indent="0" marL="0">
              <a:buNone/>
            </a:pPr>
            <a:r>
              <a:rPr lang="en-US" sz="1200" b="1" dirty="0">
                <a:solidFill>
                  <a:srgbClr val="8B93B8"/>
                </a:solidFill>
                <a:latin typeface="Courier New" pitchFamily="34" charset="0"/>
                <a:ea typeface="Courier New" pitchFamily="34" charset="-122"/>
                <a:cs typeface="Courier New" pitchFamily="34" charset="-120"/>
              </a:rPr>
              <a:t>GROUP 6  ·  MCCJ 527</a:t>
            </a:r>
            <a:endParaRPr lang="en-US" sz="1200" dirty="0"/>
          </a:p>
        </p:txBody>
      </p:sp>
    </p:spTree>
  </p:cSld>
  <p:clrMapOvr>
    <a:masterClrMapping/>
  </p:clrMapOvr>
</p:sld>
</file>

<file path=ppt/theme/theme1.xml><?xml version="1.0" encoding="utf-8"?>
<a:theme xmlns:a="http://schemas.openxmlformats.org/drawingml/2006/main" name="AEY Pitch Audited">
  <a:themeElements>
    <a:clrScheme name="AEY Pitch Audited">
      <a:dk1>
        <a:srgbClr val="101828"/>
      </a:dk1>
      <a:lt1>
        <a:srgbClr val="FFFFFF"/>
      </a:lt1>
      <a:dk2>
        <a:srgbClr val="0B1530"/>
      </a:dk2>
      <a:lt2>
        <a:srgbClr val="F5F6F8"/>
      </a:lt2>
      <a:accent1>
        <a:srgbClr val="4F46E5"/>
      </a:accent1>
      <a:accent2>
        <a:srgbClr val="C8102E"/>
      </a:accent2>
      <a:accent3>
        <a:srgbClr val="15803D"/>
      </a:accent3>
      <a:accent4>
        <a:srgbClr val="667085"/>
      </a:accent4>
      <a:accent5>
        <a:srgbClr val="FFF5F5"/>
      </a:accent5>
      <a:accent6>
        <a:srgbClr val="F59E0B"/>
      </a:accent6>
      <a:hlink>
        <a:srgbClr val="4F46E5"/>
      </a:hlink>
      <a:folHlink>
        <a:srgbClr val="C8102E"/>
      </a:folHlink>
    </a:clrScheme>
    <a:fontScheme name="AEY Pitch Audit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AEY Inc.: The Pitch Deck, Audited – War Dogs (2016) – Group 6</dc:title>
  <dc:subject>MCCJ 527 Organized Crime and Corruption</dc:subject>
  <dc:creator>PptxGenJS</dc:creator>
  <cp:lastModifiedBy>PptxGenJS</cp:lastModifiedBy>
  <cp:revision>1</cp:revision>
  <dcterms:created xsi:type="dcterms:W3CDTF">2026-10-22T03:24:09Z</dcterms:created>
  <dcterms:modified xsi:type="dcterms:W3CDTF">2026-10-22T03:24:09Z</dcterms:modified>
</cp:coreProperties>
</file>