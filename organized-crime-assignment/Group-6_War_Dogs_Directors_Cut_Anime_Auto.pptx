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6bcdcfd6-6194-5d79-23cc-449426740001}">
          <p14:sldIdLst>
            <p14:sldId id="256"/>
            <p14:sldId id="257"/>
          </p14:sldIdLst>
        </p14:section>
        <p14:section name="Act I: The Hustle" id="{6be61144-5716-01e5-4d99-b3f632b6555c}">
          <p14:sldIdLst>
            <p14:sldId id="258"/>
            <p14:sldId id="259"/>
          </p14:sldIdLst>
        </p14:section>
        <p14:section name="Act II: The Deal" id="{4f64c6d1-03de-9257-ad89-8e2a39331e1f}">
          <p14:sldIdLst>
            <p14:sldId id="260"/>
            <p14:sldId id="261"/>
            <p14:sldId id="262"/>
            <p14:sldId id="263"/>
          </p14:sldIdLst>
        </p14:section>
        <p14:section name="Act III: The Fall" id="{47567066-f0c1-9ebc-5948-6c0761952ed7}">
          <p14:sldIdLst>
            <p14:sldId id="264"/>
            <p14:sldId id="265"/>
          </p14:sldIdLst>
        </p14:section>
        <p14:section name="Verdict and Credits" id="{dec996f1-45ec-febb-8d2d-d89128b31e84}">
          <p14:sldIdLst>
            <p14:sldId id="266"/>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1 – Roll 27 – Minhaz Ahamed Khan Nabin (about 50 seconds)
[Dim the lights if you can. Speak like a movie trailer.] In a world where wars are fought with contracts... two young men from Miami... win almost 300 million dollars to arm an army they will never meet.
[Normal voice.] Good morning. We are Group 6, and today we present War Dogs, the 2016 film. But we are not going to review it like movie critics. We are going to show you a criminologist's director's cut.
We will play the story in three acts: the Hustle, the Deal and the Fall. And at key moments, we will press pause, and explain the organized crime and corruption concepts hiding inside the scene. Our one big question: is this really organized crime?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1 – Roll 27 – Minhaz Ahamed Khan Nabin (about 50 seconds)
First, the trailer facts. War Dogs was directed by Todd Phillips, the director of The Hangover, and released by Warner Bros. in 2016. It stars Jonah Hill as Efraim Diveroli and Miles Teller as David Packouz, with Ana de Armas and Bradley Cooper. It is a comedy, but it is based on a true story, first reported by journalist Guy Lawson in Rolling Stone.
[Right panel.] Here is our thesis: organized crime doesn't always carry guns. Sometimes it sells them, with a government contract. The real company, AEY, won a contract worth 298 million dollars from the Pentagon in 2007.
Let's press play on Act One. Sweety, roll the film.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2 – Roll 08 – Jesmin Naher Sweety (about 40 seconds · no clicks)
[HOW IT PLAYS] Everything is automatic. Start reading as soon as the slide opens; each scene's animation starts by itself at the time shown, paced to a 40-second reading. If you run ahead or behind, just keep going: it catches up on the next scene. The dialogue box shows dramatised paraphrases, not quotes from the film.
[0:00 · Scene 1 plays]
Thank you, Nabin. Act One: the Hustle. Scene one: David is a broke massage therapist in Miami. His bedsheet business has failed, and his girlfriend is pregnant. He needs money, fast.
[≈ 0:10 · Scene 2 starts by itself]
Scene two: he meets his old friend Efraim, whose company AEY bids online for the "crumbs" of military procurement: small contracts the big defence companies ignore. David joins him.
[≈ 0:20 · Scene 3 starts by itself]
Scene three: a shipment of pistols gets stuck in Jordan, so they fly out, use local fixers and drive it into Iraq. It works, and they get paid.
[≈ 0:30 · Scene 4 starts by itself]
Scene four: the money flows. New office, new cars. And David starts lying to his partner about what he really does.
[When the yellow quote appears, pause.] Now let's freeze the frame.
[When you finish, CLICK ▶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2 – Roll 08 – Jesmin Naher Sweety (about 50 seconds)
[Freeze-frame.] What is happening in Act One?
[Spectrum.] Dwight Smith's enterprise model says legal and illegal business sit on one spectrum, driven by the same market demand. Watch AEY move along it: from legal bidding on crumbs, to grey deals with fixers in Jordan, and later, in Act Three, to outright fraud.
[Bottom cards.] Three theories explain why. Strain theory: David is broke with a baby coming. In Merton's terms he "innovates": he keeps the goal of wealth but uses illegitimate means. Differential association: he learns both the methods and the excuses from Efraim. And rational choice: every step is a calculation, a big reward against a small chance of being caught.
Press play. Jakaria, Act Two.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3 – Roll 37 – Md. Abir Mahmud Jakaria (about 40 seconds · no clicks)
[HOW IT PLAYS] Everything is automatic. Start reading as soon as the slide opens; each scene's animation starts by itself at the time shown, paced to a 40-second reading. If you run ahead or behind, just keep going: it catches up on the next scene. The dialogue box shows dramatised paraphrases, not quotes from the film.
[0:00 · Scene 5 plays]
Thank you, Sweety. Act Two: the Deal.
Scene five: at an arms fair in Las Vegas, they meet Henry Girard, played by Bradley Cooper. Henry is on a terrorist watch list, so he cannot sell to the US government directly. He needs a front.
[≈ 0:15 · Scene 6 starts by itself]
Scene six: Henry has access to about 100 million rounds of old rifle ammunition sitting in Albania.
[≈ 0:22 · Scene 7 starts by itself]
Scene seven: with this cheap supply and a financier behind them, AEY underbids everyone and wins the Afghan army contract, worth around 300 million dollars.
[≈ 0:31 · Scene 8 starts by itself]
Scene eight: Efraim, greedy as ever, starts planning to cut Henry out of his share.
So let's pause again. Is this group actually organized crime?
[When you finish, CLICK ▶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3 – Roll 37 – Md. Abir Mahmud Jakaria (about 50 seconds)
[Freeze-frame.] Is AEY organized crime? It depends on the definition.
[Left.] The UN Convention against Transnational Organized Crime says an organized criminal group is three or more persons, structured, existing over time, committing serious crime for material benefit. AEY ticks every box: Efraim, David, their financier, Henry and the suppliers, operating for years, committing fraud and conspiracy for millions.
[Right.] But Abadinsky's classic attributes describe the mafia: hierarchy, exclusive membership, rituals, and an organization that survives when its leaders are arrested. AEY had none of that. It collapsed the moment the founders were charged.
[Bottom.] So our verdict: AEY is organized white-collar crime. A legal company, committing organized and transnational fraud. Imran will show you how the network worked.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4 – Roll 33 – Imran Mridha (about 50 seconds)
Thank you, Jakaria. [Freeze-frame.] Who holds the power in this deal? Look at the network. [Trace the yellow lines.]
On one side is the US Army, buying through open online tenders. On the other is a stockpile in Albania. They can't connect directly. In the middle sit two brokers: AEY, with a clean American name, and Henry, who has the supply but is on a terrorist watch list.
[Right cards.] This is exactly Morselli's network model: power belongs to the brokers who connect separate worlds. Albini's patron–client model fits too: Henry trades access to supply for a share of the profits.
But Cressey's hierarchical model does not fit at all. There is no boss, no ranks, no family. Next, the corruption that made it all possible.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4 – Roll 33 – Imran Mridha (about 50 seconds)
[Freeze-frame.] Where is the corruption? Transparency International defines corruption as the abuse of entrusted power for private gain. And Robert Klitgaard gives a formula: corruption equals monopoly, plus discretion, minus accountability.
[Cards.] Monopoly: Henry controls the only access to cheap Balkan ammunition, so everyone must pay him. Discretion: officials, fixers and border agents decide with little scrutiny, and middlemen skim money. And low accountability: in wartime urgency, a company run by a man in his early twenties passes the Pentagon's vetting.
[Bottom.] This is state-corporate crime: the harm came from a government policy of outsourcing war to the lowest bidder. And we also see the crime–terror nexus: a watch-listed dealer simply borrows a clean company's name.
Akif, Act Three.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5 – Roll 24 – Ahnaf Akif (about 40 seconds · no clicks)
[HOW IT PLAYS] Everything is automatic. Start reading as soon as the slide opens; each scene's animation starts by itself at the time shown, paced to a 40-second reading. If you run ahead or behind, just keep going: it catches up on the next scene. The dialogue box shows dramatised paraphrases, not quotes from the film.
[0:00 · Scene 9 plays]
Thank you, Imran. Act Three: the Fall.
Scene nine: David discovers the ammunition was made in China, which is banned under a US arms embargo, and by the contract itself.
[≈ 0:10 · Scene 10 starts by itself]
Scene ten: instead of reporting it, they have the rounds repacked to remove the Chinese markings. This really happened.
[≈ 0:17 · Scene 11 starts by itself]
Scene eleven: David is threatened in Albania, Efraim cheats him out of his money, and their friendship collapses.
[≈ 0:23 · Scene 12 starts by itself]
Scene twelve: the federal government steps in. In real life, the case was exposed by journalists in 2008. Efraim was sentenced to four years in prison, and David, who cooperated, to seven months of house arrest.
[Pause.] One last freeze-frame. How did they justify all this to themselves?
[When you finish, CLICK ▶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5 – Roll 24 – Ahnaf Akif (about 50 seconds)
[Freeze-frame.] How do two ordinary young men commit fraud on this scale without feeling like criminals? Sykes and Matza call it techniques of neutralization. Offenders know the rules, but use excuses to switch their conscience off.
[Read each yellow line like a subtitle.]
Denial of injury: "The troops still get bullets that work. Who is harmed?"
Condemnation of the condemners: "The government buys from shady sources too."
Denial of responsibility: "We didn't make the bullets, we just moved them."
Appeal to higher loyalties: "I'm doing this for my family."
These are our paraphrases of the characters' attitudes, not exact lines. And notice: every excuse sounds like normal business talk. That is exactly what makes white-collar crime so hard to see.
Nishit will give the critics' verdict.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6 – Roll 21 – Nishit Kumer (about 50 seconds)
Thank you, Akif. So what is our critics' verdict? Accurate in substance, exaggerated in style.
[Go row by row.] Conceptual accuracy: four stars. The film fits the UN definition, the enterprise model and the network model very closely.
Factual accuracy: four stars. The contract, the repackaging and the sentences are all true. Henry Girard is a composite character, inspired by a real Swiss broker.
But realism of tone: only two stars. The comedy glamorizes the money and makes fraud look harmless, and the threats in Albania were invented.
And systemic insight: two stars. The film blames two young men, but skips the failure of the system, and real victims, like the 26 people killed in the Gërdec depot explosion in Albania in 2008.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6 – Roll 21 – Nishit Kumer (about 50 seconds)
So here is our final cut. [Read slowly.] Organized crime doesn't always carry guns. Sometimes it sells them, with a government contract.
The answer to our big question: AEY is organized crime under the UN definition, but it is not the mafia. It is organized white-collar crime, best explained by the enterprise and network models.
And a lesson for Bangladesh. Our own large procurement projects also depend on middlemen and intermediaries. Vetting contractors, disclosing who really owns a company, and checking where goods come from are not just paperwork. They are crime prevention.
[Point to the credits.] That's a wrap from Group 6. Thank you, and we're happy to take your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SCREEN-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PAUSED-image-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BLANK-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CREEN">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731520"/>
            <a:ext cx="11094415" cy="731520"/>
          </a:xfrm>
          <a:prstGeom prst="rect">
            <a:avLst/>
          </a:prstGeom>
          <a:noFill/>
          <a:ln/>
        </p:spPr>
        <p:txBody>
          <a:bodyPr wrap="square" rtlCol="0"/>
          <a:lstStyle>
            <a:lvl1pPr algn="l" indent="0" marL="0">
              <a:buNone/>
              <a:defRPr lang="en-US" sz="3000" b="1" dirty="0">
                <a:solidFill>
                  <a:schemeClr val="bg1"/>
                </a:solidFill>
              </a:defRPr>
            </a:lvl1pPr>
          </a:lstStyle>
          <a:p>
            <a:pPr algn="l" indent="0" marL="0">
              <a:buNone/>
            </a:pPr>
            <a:endParaRPr lang="en-US" sz="3000" dirty="0"/>
          </a:p>
        </p:txBody>
      </p:sp>
      <p:sp>
        <p:nvSpPr>
          <p:cNvPr id="3" name="Text 0"/>
          <p:cNvSpPr/>
          <p:nvPr/>
        </p:nvSpPr>
        <p:spPr>
          <a:xfrm>
            <a:off x="548640" y="6400800"/>
            <a:ext cx="8229600" cy="201168"/>
          </a:xfrm>
          <a:prstGeom prst="rect">
            <a:avLst/>
          </a:prstGeom>
          <a:noFill/>
          <a:ln/>
        </p:spPr>
        <p:txBody>
          <a:bodyPr wrap="square" lIns="0" tIns="0" rIns="0" bIns="0" rtlCol="0" anchor="ctr"/>
          <a:lstStyle/>
          <a:p>
            <a:pPr indent="0" marL="0">
              <a:buNone/>
            </a:pPr>
            <a:r>
              <a:rPr lang="en-US" sz="900" b="1" dirty="0">
                <a:solidFill>
                  <a:srgbClr val="6E727A"/>
                </a:solidFill>
                <a:latin typeface="Courier New" pitchFamily="34" charset="0"/>
                <a:ea typeface="Courier New" pitchFamily="34" charset="-122"/>
                <a:cs typeface="Courier New" pitchFamily="34" charset="-120"/>
              </a:rPr>
              <a:t>MCCJ 527  ·  GROUP 6  ·  WAR DOGS: A CRIMINOLOGIST’S DIRECTOR’S CUT</a:t>
            </a:r>
            <a:endParaRPr lang="en-US" sz="900" dirty="0"/>
          </a:p>
        </p:txBody>
      </p:sp>
      <p:sp>
        <p:nvSpPr>
          <p:cNvPr id="25" name="Slide Number Placeholder 0"/>
          <p:cNvSpPr>
            <a:spLocks noGrp="1"/>
          </p:cNvSpPr>
          <p:nvPr>
            <p:ph type="sldNum" sz="quarter" idx="4294967295"/>
          </p:nvPr>
        </p:nvSpPr>
        <p:spPr>
          <a:xfrm>
            <a:off x="11094415" y="6400800"/>
            <a:ext cx="54864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6E727A"/>
                </a:solidFill>
                <a:latin typeface="Courier New"/>
                <a:ea typeface="Courier New"/>
                <a:cs typeface="Courier New"/>
              </a:defRPr>
            </a:lvl1pPr>
          </a:lstStyle>
          <a:p>
            <a:pPr algn="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PAUSE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731520"/>
            <a:ext cx="11094415" cy="731520"/>
          </a:xfrm>
          <a:prstGeom prst="rect">
            <a:avLst/>
          </a:prstGeom>
          <a:noFill/>
          <a:ln/>
        </p:spPr>
        <p:txBody>
          <a:bodyPr wrap="square" rtlCol="0"/>
          <a:lstStyle>
            <a:lvl1pPr algn="l" indent="0" marL="0">
              <a:buNone/>
              <a:defRPr lang="en-US" sz="3000" b="1" dirty="0">
                <a:solidFill>
                  <a:schemeClr val="bg1"/>
                </a:solidFill>
              </a:defRPr>
            </a:lvl1pPr>
          </a:lstStyle>
          <a:p>
            <a:pPr algn="l" indent="0" marL="0">
              <a:buNone/>
            </a:pPr>
            <a:endParaRPr lang="en-US" sz="3000" dirty="0"/>
          </a:p>
        </p:txBody>
      </p:sp>
      <p:sp>
        <p:nvSpPr>
          <p:cNvPr id="3" name="Text 0"/>
          <p:cNvSpPr/>
          <p:nvPr/>
        </p:nvSpPr>
        <p:spPr>
          <a:xfrm>
            <a:off x="548640" y="6400800"/>
            <a:ext cx="8229600" cy="201168"/>
          </a:xfrm>
          <a:prstGeom prst="rect">
            <a:avLst/>
          </a:prstGeom>
          <a:noFill/>
          <a:ln/>
        </p:spPr>
        <p:txBody>
          <a:bodyPr wrap="square" lIns="0" tIns="0" rIns="0" bIns="0" rtlCol="0" anchor="ctr"/>
          <a:lstStyle/>
          <a:p>
            <a:pPr indent="0" marL="0">
              <a:buNone/>
            </a:pPr>
            <a:r>
              <a:rPr lang="en-US" sz="900" b="1" dirty="0">
                <a:solidFill>
                  <a:srgbClr val="6E727A"/>
                </a:solidFill>
                <a:latin typeface="Courier New" pitchFamily="34" charset="0"/>
                <a:ea typeface="Courier New" pitchFamily="34" charset="-122"/>
                <a:cs typeface="Courier New" pitchFamily="34" charset="-120"/>
              </a:rPr>
              <a:t>MCCJ 527  ·  GROUP 6  ·  WAR DOGS: A CRIMINOLOGIST’S DIRECTOR’S CUT</a:t>
            </a:r>
            <a:endParaRPr lang="en-US" sz="900" dirty="0"/>
          </a:p>
        </p:txBody>
      </p:sp>
      <p:sp>
        <p:nvSpPr>
          <p:cNvPr id="25" name="Slide Number Placeholder 0"/>
          <p:cNvSpPr>
            <a:spLocks noGrp="1"/>
          </p:cNvSpPr>
          <p:nvPr>
            <p:ph type="sldNum" sz="quarter" idx="4294967295"/>
          </p:nvPr>
        </p:nvSpPr>
        <p:spPr>
          <a:xfrm>
            <a:off x="11094415" y="6400800"/>
            <a:ext cx="54864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6E727A"/>
                </a:solidFill>
                <a:latin typeface="Courier New"/>
                <a:ea typeface="Courier New"/>
                <a:cs typeface="Courier New"/>
              </a:defRPr>
            </a:lvl1pPr>
          </a:lstStyle>
          <a:p>
            <a:pPr algn="r"/>
            <a:fld id="{F7021451-1387-4CA6-816F-3879F97B5CBC}" type="slidenum">
              <a:rPr b="1"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BLANK">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6E727A"/>
                </a:solidFill>
                <a:latin typeface="Courier New"/>
                <a:ea typeface="Courier New"/>
                <a:cs typeface="Courier New"/>
              </a:defRPr>
            </a:lvl1pPr>
          </a:lstStyle>
          <a:p>
            <a:pPr algn="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4.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image" Target="../media/image-3-10.png"/><Relationship Id="rId11" Type="http://schemas.openxmlformats.org/officeDocument/2006/relationships/image" Target="../media/image-3-11.png"/><Relationship Id="rId12" Type="http://schemas.openxmlformats.org/officeDocument/2006/relationships/image" Target="../media/image-3-12.png"/><Relationship Id="rId13" Type="http://schemas.openxmlformats.org/officeDocument/2006/relationships/image" Target="../media/image-3-13.png"/><Relationship Id="rId14" Type="http://schemas.openxmlformats.org/officeDocument/2006/relationships/image" Target="../media/image-3-14.png"/><Relationship Id="rId15" Type="http://schemas.openxmlformats.org/officeDocument/2006/relationships/image" Target="../media/image-3-15.png"/><Relationship Id="rId16" Type="http://schemas.openxmlformats.org/officeDocument/2006/relationships/image" Target="../media/image-3-16.png"/><Relationship Id="rId17" Type="http://schemas.openxmlformats.org/officeDocument/2006/relationships/image" Target="../media/image-3-17.png"/><Relationship Id="rId18" Type="http://schemas.openxmlformats.org/officeDocument/2006/relationships/image" Target="../media/image-3-18.png"/><Relationship Id="rId19" Type="http://schemas.openxmlformats.org/officeDocument/2006/relationships/image" Target="../media/image-3-19.png"/><Relationship Id="rId20" Type="http://schemas.openxmlformats.org/officeDocument/2006/relationships/image" Target="../media/image-3-20.png"/><Relationship Id="rId21" Type="http://schemas.openxmlformats.org/officeDocument/2006/relationships/image" Target="../media/image-3-21.png"/><Relationship Id="rId22" Type="http://schemas.openxmlformats.org/officeDocument/2006/relationships/image" Target="../media/image-3-22.png"/><Relationship Id="rId23" Type="http://schemas.openxmlformats.org/officeDocument/2006/relationships/image" Target="../media/image-3-23.png"/><Relationship Id="rId24" Type="http://schemas.openxmlformats.org/officeDocument/2006/relationships/image" Target="../media/image-3-24.png"/><Relationship Id="rId25" Type="http://schemas.openxmlformats.org/officeDocument/2006/relationships/slideLayout" Target="../slideLayouts/slideLayout4.xml"/><Relationship Id="rId2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9.png"/><Relationship Id="rId10" Type="http://schemas.openxmlformats.org/officeDocument/2006/relationships/image" Target="../media/image-5-10.png"/><Relationship Id="rId11" Type="http://schemas.openxmlformats.org/officeDocument/2006/relationships/image" Target="../media/image-5-11.png"/><Relationship Id="rId12" Type="http://schemas.openxmlformats.org/officeDocument/2006/relationships/image" Target="../media/image-5-12.png"/><Relationship Id="rId13" Type="http://schemas.openxmlformats.org/officeDocument/2006/relationships/image" Target="../media/image-5-13.png"/><Relationship Id="rId14" Type="http://schemas.openxmlformats.org/officeDocument/2006/relationships/image" Target="../media/image-5-14.png"/><Relationship Id="rId15" Type="http://schemas.openxmlformats.org/officeDocument/2006/relationships/image" Target="../media/image-5-15.png"/><Relationship Id="rId16" Type="http://schemas.openxmlformats.org/officeDocument/2006/relationships/image" Target="../media/image-5-16.png"/><Relationship Id="rId17" Type="http://schemas.openxmlformats.org/officeDocument/2006/relationships/image" Target="../media/image-5-17.png"/><Relationship Id="rId18" Type="http://schemas.openxmlformats.org/officeDocument/2006/relationships/image" Target="../media/image-5-18.png"/><Relationship Id="rId19" Type="http://schemas.openxmlformats.org/officeDocument/2006/relationships/image" Target="../media/image-5-19.png"/><Relationship Id="rId20" Type="http://schemas.openxmlformats.org/officeDocument/2006/relationships/image" Target="../media/image-5-20.png"/><Relationship Id="rId21" Type="http://schemas.openxmlformats.org/officeDocument/2006/relationships/image" Target="../media/image-5-21.png"/><Relationship Id="rId22" Type="http://schemas.openxmlformats.org/officeDocument/2006/relationships/image" Target="../media/image-5-22.png"/><Relationship Id="rId23" Type="http://schemas.openxmlformats.org/officeDocument/2006/relationships/image" Target="../media/image-5-23.png"/><Relationship Id="rId24" Type="http://schemas.openxmlformats.org/officeDocument/2006/relationships/slideLayout" Target="../slideLayouts/slideLayout4.xml"/><Relationship Id="rId2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image" Target="../media/image-6-9.png"/><Relationship Id="rId10" Type="http://schemas.openxmlformats.org/officeDocument/2006/relationships/slideLayout" Target="../slideLayouts/slideLayout3.xml"/><Relationship Id="rId11"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slideLayout" Target="../slideLayouts/slideLayout3.xml"/><Relationship Id="rId9"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image" Target="../media/image-9-9.png"/><Relationship Id="rId10" Type="http://schemas.openxmlformats.org/officeDocument/2006/relationships/image" Target="../media/image-9-10.png"/><Relationship Id="rId11" Type="http://schemas.openxmlformats.org/officeDocument/2006/relationships/image" Target="../media/image-9-11.png"/><Relationship Id="rId12" Type="http://schemas.openxmlformats.org/officeDocument/2006/relationships/image" Target="../media/image-9-12.png"/><Relationship Id="rId13" Type="http://schemas.openxmlformats.org/officeDocument/2006/relationships/image" Target="../media/image-9-13.png"/><Relationship Id="rId14" Type="http://schemas.openxmlformats.org/officeDocument/2006/relationships/image" Target="../media/image-9-14.png"/><Relationship Id="rId15" Type="http://schemas.openxmlformats.org/officeDocument/2006/relationships/image" Target="../media/image-9-15.png"/><Relationship Id="rId16" Type="http://schemas.openxmlformats.org/officeDocument/2006/relationships/image" Target="../media/image-9-16.png"/><Relationship Id="rId17" Type="http://schemas.openxmlformats.org/officeDocument/2006/relationships/image" Target="../media/image-9-17.png"/><Relationship Id="rId18" Type="http://schemas.openxmlformats.org/officeDocument/2006/relationships/image" Target="../media/image-9-18.png"/><Relationship Id="rId19" Type="http://schemas.openxmlformats.org/officeDocument/2006/relationships/image" Target="../media/image-9-19.png"/><Relationship Id="rId20" Type="http://schemas.openxmlformats.org/officeDocument/2006/relationships/image" Target="../media/image-9-20.png"/><Relationship Id="rId21" Type="http://schemas.openxmlformats.org/officeDocument/2006/relationships/image" Target="../media/image-9-21.png"/><Relationship Id="rId22" Type="http://schemas.openxmlformats.org/officeDocument/2006/relationships/image" Target="../media/image-9-22.png"/><Relationship Id="rId23" Type="http://schemas.openxmlformats.org/officeDocument/2006/relationships/image" Target="../media/image-9-23.png"/><Relationship Id="rId24" Type="http://schemas.openxmlformats.org/officeDocument/2006/relationships/image" Target="../media/image-9-24.png"/><Relationship Id="rId25" Type="http://schemas.openxmlformats.org/officeDocument/2006/relationships/image" Target="../media/image-9-25.png"/><Relationship Id="rId26" Type="http://schemas.openxmlformats.org/officeDocument/2006/relationships/image" Target="../media/image-9-26.png"/><Relationship Id="rId27" Type="http://schemas.openxmlformats.org/officeDocument/2006/relationships/image" Target="../media/image-9-27.png"/><Relationship Id="rId28" Type="http://schemas.openxmlformats.org/officeDocument/2006/relationships/image" Target="../media/image-9-28.png"/><Relationship Id="rId29" Type="http://schemas.openxmlformats.org/officeDocument/2006/relationships/image" Target="../media/image-9-29.png"/><Relationship Id="rId30" Type="http://schemas.openxmlformats.org/officeDocument/2006/relationships/image" Target="../media/image-9-30.png"/><Relationship Id="rId31" Type="http://schemas.openxmlformats.org/officeDocument/2006/relationships/image" Target="../media/image-9-31.png"/><Relationship Id="rId32" Type="http://schemas.openxmlformats.org/officeDocument/2006/relationships/image" Target="../media/image-9-32.png"/><Relationship Id="rId33" Type="http://schemas.openxmlformats.org/officeDocument/2006/relationships/slideLayout" Target="../slideLayouts/slideLayout4.xml"/><Relationship Id="rId3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image" Target="../media/image-11-8.png"/><Relationship Id="rId9" Type="http://schemas.openxmlformats.org/officeDocument/2006/relationships/image" Target="../media/image-11-9.png"/><Relationship Id="rId10" Type="http://schemas.openxmlformats.org/officeDocument/2006/relationships/image" Target="../media/image-11-10.png"/><Relationship Id="rId11" Type="http://schemas.openxmlformats.org/officeDocument/2006/relationships/image" Target="../media/image-11-11.png"/><Relationship Id="rId12" Type="http://schemas.openxmlformats.org/officeDocument/2006/relationships/image" Target="../media/image-11-12.png"/><Relationship Id="rId13" Type="http://schemas.openxmlformats.org/officeDocument/2006/relationships/image" Target="../media/image-11-13.png"/><Relationship Id="rId14" Type="http://schemas.openxmlformats.org/officeDocument/2006/relationships/image" Target="../media/image-11-14.png"/><Relationship Id="rId15" Type="http://schemas.openxmlformats.org/officeDocument/2006/relationships/image" Target="../media/image-11-15.png"/><Relationship Id="rId16" Type="http://schemas.openxmlformats.org/officeDocument/2006/relationships/image" Target="../media/image-11-16.png"/><Relationship Id="rId17" Type="http://schemas.openxmlformats.org/officeDocument/2006/relationships/image" Target="../media/image-11-17.png"/><Relationship Id="rId18" Type="http://schemas.openxmlformats.org/officeDocument/2006/relationships/image" Target="../media/image-11-18.png"/><Relationship Id="rId19" Type="http://schemas.openxmlformats.org/officeDocument/2006/relationships/image" Target="../media/image-11-19.png"/><Relationship Id="rId20" Type="http://schemas.openxmlformats.org/officeDocument/2006/relationships/image" Target="../media/image-11-20.png"/><Relationship Id="rId21" Type="http://schemas.openxmlformats.org/officeDocument/2006/relationships/slideLayout" Target="../slideLayouts/slideLayout2.xml"/><Relationship Id="rId2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projector watermark" descr="preencoded.png">    </p:cNvPr>
          <p:cNvPicPr>
            <a:picLocks noChangeAspect="1"/>
          </p:cNvPicPr>
          <p:nvPr/>
        </p:nvPicPr>
        <p:blipFill>
          <a:blip r:embed="rId1"/>
          <a:stretch>
            <a:fillRect/>
          </a:stretch>
        </p:blipFill>
        <p:spPr>
          <a:xfrm>
            <a:off x="7223760" y="822960"/>
            <a:ext cx="4937760" cy="4937760"/>
          </a:xfrm>
          <a:prstGeom prst="rect">
            <a:avLst/>
          </a:prstGeom>
        </p:spPr>
      </p:pic>
      <p:pic>
        <p:nvPicPr>
          <p:cNvPr id="3" name="title david" descr="Anime-style David">    </p:cNvPr>
          <p:cNvPicPr>
            <a:picLocks noChangeAspect="1"/>
          </p:cNvPicPr>
          <p:nvPr/>
        </p:nvPicPr>
        <p:blipFill>
          <a:blip r:embed="rId2"/>
          <a:stretch>
            <a:fillRect/>
          </a:stretch>
        </p:blipFill>
        <p:spPr>
          <a:xfrm>
            <a:off x="6903720" y="2834640"/>
            <a:ext cx="2554514" cy="4023360"/>
          </a:xfrm>
          <a:prstGeom prst="rect">
            <a:avLst/>
          </a:prstGeom>
        </p:spPr>
      </p:pic>
      <p:pic>
        <p:nvPicPr>
          <p:cNvPr id="4" name="title efraim" descr="Anime-style Efraim">    </p:cNvPr>
          <p:cNvPicPr>
            <a:picLocks noChangeAspect="1"/>
          </p:cNvPicPr>
          <p:nvPr/>
        </p:nvPicPr>
        <p:blipFill>
          <a:blip r:embed="rId3"/>
          <a:stretch>
            <a:fillRect/>
          </a:stretch>
        </p:blipFill>
        <p:spPr>
          <a:xfrm>
            <a:off x="9235440" y="2834640"/>
            <a:ext cx="2554514" cy="4023360"/>
          </a:xfrm>
          <a:prstGeom prst="rect">
            <a:avLst/>
          </a:prstGeom>
        </p:spPr>
      </p:pic>
      <p:pic>
        <p:nvPicPr>
          <p:cNvPr id="5" name="title glint" descr="preencoded.png">    </p:cNvPr>
          <p:cNvPicPr>
            <a:picLocks noChangeAspect="1"/>
          </p:cNvPicPr>
          <p:nvPr/>
        </p:nvPicPr>
        <p:blipFill>
          <a:blip r:embed="rId4"/>
          <a:stretch>
            <a:fillRect/>
          </a:stretch>
        </p:blipFill>
        <p:spPr>
          <a:xfrm>
            <a:off x="10058400" y="4343400"/>
            <a:ext cx="411480" cy="411480"/>
          </a:xfrm>
          <a:prstGeom prst="rect">
            <a:avLst/>
          </a:prstGeom>
        </p:spPr>
      </p:pic>
      <p:sp>
        <p:nvSpPr>
          <p:cNvPr id="6" name="rec dot"/>
          <p:cNvSpPr/>
          <p:nvPr/>
        </p:nvSpPr>
        <p:spPr>
          <a:xfrm>
            <a:off x="548640" y="1298448"/>
            <a:ext cx="182880" cy="182880"/>
          </a:xfrm>
          <a:prstGeom prst="ellipse">
            <a:avLst/>
          </a:prstGeom>
          <a:solidFill>
            <a:srgbClr val="E5383B"/>
          </a:solidFill>
          <a:ln/>
        </p:spPr>
      </p:sp>
      <p:sp>
        <p:nvSpPr>
          <p:cNvPr id="7" name="Text 1"/>
          <p:cNvSpPr txBox="1"/>
          <p:nvPr/>
        </p:nvSpPr>
        <p:spPr>
          <a:xfrm>
            <a:off x="841248" y="1234440"/>
            <a:ext cx="9144000" cy="310896"/>
          </a:xfrm>
          <a:prstGeom prst="rect">
            <a:avLst/>
          </a:prstGeom>
          <a:noFill/>
          <a:ln/>
        </p:spPr>
        <p:txBody>
          <a:bodyPr wrap="square" lIns="0" tIns="0" rIns="0" bIns="0" rtlCol="0" anchor="ctr"/>
          <a:lstStyle/>
          <a:p>
            <a:pPr indent="0" marL="0">
              <a:buNone/>
            </a:pPr>
            <a:r>
              <a:rPr lang="en-US" sz="1300" b="1" spc="200" kern="0" dirty="0">
                <a:solidFill>
                  <a:srgbClr val="D9D6CF"/>
                </a:solidFill>
                <a:latin typeface="Courier New" pitchFamily="34" charset="0"/>
                <a:ea typeface="Courier New" pitchFamily="34" charset="-122"/>
                <a:cs typeface="Courier New" pitchFamily="34" charset="-120"/>
              </a:rPr>
              <a:t>NOW SHOWING  ·  MCCJ 527 ORGANIZED CRIME AND CORRUPTION</a:t>
            </a:r>
            <a:endParaRPr lang="en-US" sz="1300" dirty="0"/>
          </a:p>
        </p:txBody>
      </p:sp>
      <p:sp>
        <p:nvSpPr>
          <p:cNvPr id="8" name="Text 2"/>
          <p:cNvSpPr txBox="1"/>
          <p:nvPr/>
        </p:nvSpPr>
        <p:spPr>
          <a:xfrm>
            <a:off x="548640" y="1783080"/>
            <a:ext cx="8686800" cy="1325880"/>
          </a:xfrm>
          <a:prstGeom prst="rect">
            <a:avLst/>
          </a:prstGeom>
          <a:noFill/>
          <a:ln/>
        </p:spPr>
        <p:txBody>
          <a:bodyPr wrap="square" lIns="0" tIns="0" rIns="0" bIns="0" rtlCol="0" anchor="ctr"/>
          <a:lstStyle/>
          <a:p>
            <a:pPr indent="0" marL="0">
              <a:buNone/>
            </a:pPr>
            <a:r>
              <a:rPr lang="en-US" sz="8000" b="1" spc="600" kern="0" dirty="0">
                <a:solidFill>
                  <a:schemeClr val="bg1"/>
                </a:solidFill>
                <a:latin typeface="Bookman Old Style" pitchFamily="34" charset="0"/>
                <a:ea typeface="Bookman Old Style" pitchFamily="34" charset="-122"/>
                <a:cs typeface="Bookman Old Style" pitchFamily="34" charset="-120"/>
              </a:rPr>
              <a:t>WAR DOGS</a:t>
            </a:r>
            <a:endParaRPr lang="en-US" sz="8000" dirty="0"/>
          </a:p>
        </p:txBody>
      </p:sp>
      <p:sp>
        <p:nvSpPr>
          <p:cNvPr id="9" name="Text 3"/>
          <p:cNvSpPr txBox="1"/>
          <p:nvPr/>
        </p:nvSpPr>
        <p:spPr>
          <a:xfrm>
            <a:off x="548640" y="3108960"/>
            <a:ext cx="8686800" cy="640080"/>
          </a:xfrm>
          <a:prstGeom prst="rect">
            <a:avLst/>
          </a:prstGeom>
          <a:noFill/>
          <a:ln/>
        </p:spPr>
        <p:txBody>
          <a:bodyPr wrap="square" lIns="0" tIns="0" rIns="0" bIns="0" rtlCol="0" anchor="ctr"/>
          <a:lstStyle/>
          <a:p>
            <a:pPr indent="0" marL="0">
              <a:buNone/>
            </a:pPr>
            <a:r>
              <a:rPr lang="en-US" sz="3000" i="1" dirty="0">
                <a:solidFill>
                  <a:srgbClr val="FFD84D"/>
                </a:solidFill>
                <a:latin typeface="Bookman Old Style" pitchFamily="34" charset="0"/>
                <a:ea typeface="Bookman Old Style" pitchFamily="34" charset="-122"/>
                <a:cs typeface="Bookman Old Style" pitchFamily="34" charset="-120"/>
              </a:rPr>
              <a:t>A Criminologist’s Director’s Cut</a:t>
            </a:r>
            <a:endParaRPr lang="en-US" sz="3000" dirty="0"/>
          </a:p>
        </p:txBody>
      </p:sp>
      <p:sp>
        <p:nvSpPr>
          <p:cNvPr id="10" name="Text 4"/>
          <p:cNvSpPr txBox="1"/>
          <p:nvPr/>
        </p:nvSpPr>
        <p:spPr>
          <a:xfrm>
            <a:off x="548640" y="3840480"/>
            <a:ext cx="8229600" cy="411480"/>
          </a:xfrm>
          <a:prstGeom prst="rect">
            <a:avLst/>
          </a:prstGeom>
          <a:noFill/>
          <a:ln/>
        </p:spPr>
        <p:txBody>
          <a:bodyPr wrap="square" lIns="0" tIns="0" rIns="0" bIns="0" rtlCol="0" anchor="ctr"/>
          <a:lstStyle/>
          <a:p>
            <a:pPr indent="0" marL="0">
              <a:buNone/>
            </a:pPr>
            <a:r>
              <a:rPr lang="en-US" sz="1800" dirty="0">
                <a:solidFill>
                  <a:srgbClr val="D9D6CF"/>
                </a:solidFill>
              </a:rPr>
              <a:t>Three acts. Five crimes. One question: is this organized crime?</a:t>
            </a:r>
            <a:endParaRPr lang="en-US" sz="1800" dirty="0"/>
          </a:p>
        </p:txBody>
      </p:sp>
      <p:sp>
        <p:nvSpPr>
          <p:cNvPr id="11" name="Text 5"/>
          <p:cNvSpPr txBox="1"/>
          <p:nvPr/>
        </p:nvSpPr>
        <p:spPr>
          <a:xfrm>
            <a:off x="548640" y="4480560"/>
            <a:ext cx="8229600" cy="2011680"/>
          </a:xfrm>
          <a:prstGeom prst="rect">
            <a:avLst/>
          </a:prstGeom>
          <a:noFill/>
          <a:ln/>
        </p:spPr>
        <p:txBody>
          <a:bodyPr wrap="square" lIns="0" tIns="0" rIns="0" bIns="0" rtlCol="0" anchor="t"/>
          <a:lstStyle/>
          <a:p>
            <a:pPr indent="0" marL="0">
              <a:spcAft>
                <a:spcPts val="400"/>
              </a:spcAft>
              <a:buNone/>
            </a:pPr>
            <a:r>
              <a:rPr lang="en-US" sz="1100" b="1" spc="200" kern="0" dirty="0">
                <a:solidFill>
                  <a:srgbClr val="A9ADB5"/>
                </a:solidFill>
                <a:latin typeface="Courier New" pitchFamily="34" charset="0"/>
                <a:ea typeface="Courier New" pitchFamily="34" charset="-122"/>
                <a:cs typeface="Courier New" pitchFamily="34" charset="-120"/>
              </a:rPr>
              <a:t>PRESENTED BY GROUP 6</a:t>
            </a:r>
            <a:endParaRPr lang="en-US" sz="1100" dirty="0"/>
          </a:p>
          <a:p>
            <a:pPr indent="0" marL="0">
              <a:spcAft>
                <a:spcPts val="400"/>
              </a:spcAft>
              <a:buNone/>
            </a:pPr>
            <a:r>
              <a:rPr lang="en-US" sz="1300" dirty="0">
                <a:solidFill>
                  <a:schemeClr val="bg1"/>
                </a:solidFill>
              </a:rPr>
              <a:t>27  Minhaz Ahamed Khan Nabin   ·   08  Jesmin Naher Sweety</a:t>
            </a:r>
            <a:endParaRPr lang="en-US" sz="1100" dirty="0"/>
          </a:p>
          <a:p>
            <a:pPr indent="0" marL="0">
              <a:spcAft>
                <a:spcPts val="400"/>
              </a:spcAft>
              <a:buNone/>
            </a:pPr>
            <a:r>
              <a:rPr lang="en-US" sz="1300" dirty="0">
                <a:solidFill>
                  <a:schemeClr val="bg1"/>
                </a:solidFill>
              </a:rPr>
              <a:t>37  Md. Abir Mahmud Jakaria   ·   33  Imran Mridha</a:t>
            </a:r>
            <a:endParaRPr lang="en-US" sz="1100" dirty="0"/>
          </a:p>
          <a:p>
            <a:pPr indent="0" marL="0">
              <a:spcAft>
                <a:spcPts val="400"/>
              </a:spcAft>
              <a:buNone/>
            </a:pPr>
            <a:r>
              <a:rPr lang="en-US" sz="1300" dirty="0">
                <a:solidFill>
                  <a:schemeClr val="bg1"/>
                </a:solidFill>
              </a:rPr>
              <a:t>24  Ahnaf Akif   ·   21  Nishit Kumer</a:t>
            </a:r>
            <a:endParaRPr lang="en-US" sz="1100" dirty="0"/>
          </a:p>
          <a:p>
            <a:pPr indent="0" marL="0">
              <a:spcAft>
                <a:spcPts val="400"/>
              </a:spcAft>
              <a:buNone/>
            </a:pPr>
            <a:r>
              <a:rPr lang="en-US" sz="1300" dirty="0">
                <a:solidFill>
                  <a:srgbClr val="A9ADB5"/>
                </a:solidFill>
              </a:rPr>
              <a:t>Department of Criminology, University of Dhaka</a:t>
            </a:r>
            <a:endParaRPr lang="en-US" sz="1100" dirty="0"/>
          </a:p>
          <a:p>
            <a:pPr indent="0" marL="0">
              <a:spcAft>
                <a:spcPts val="400"/>
              </a:spcAft>
              <a:buNone/>
            </a:pPr>
            <a:r>
              <a:rPr lang="en-US" sz="1200" i="1" dirty="0">
                <a:solidFill>
                  <a:srgbClr val="A9ADB5"/>
                </a:solidFill>
              </a:rPr>
              <a:t>Submitted to: Md. Rezaul Karim Shohag, Assistant Professor</a:t>
            </a:r>
            <a:endParaRPr lang="en-US" sz="1100" dirty="0"/>
          </a:p>
        </p:txBody>
      </p:sp>
    </p:spTree>
  </p:cSld>
  <p:clrMapOvr>
    <a:masterClrMapping/>
  </p:clrMapOvr>
  <p:transition spd="slow">
    <p:fade thruBlk="1"/>
  </p:transition>
  <p:timing>
    <p:tnLst>
      <p:par>
        <p:cTn id="1" dur="indefinite" restart="never" nodeType="tmRoot">
          <p:childTnLst>
            <p:seq concurrent="1" nextAc="seek">
              <p:cTn id="2" dur="indefinite" nodeType="mainSeq">
                <p:childTnLst>
                  <p:par>
                    <p:cTn id="52" fill="hold">
                      <p:stCondLst>
                        <p:cond delay="indefinite"/>
                        <p:cond evt="onBegin" delay="0">
                          <p:tn val="2"/>
                        </p:cond>
                      </p:stCondLst>
                      <p:childTnLst>
                        <p:par>
                          <p:cTn id="53" fill="hold">
                            <p:stCondLst>
                              <p:cond delay="0"/>
                            </p:stCondLst>
                            <p:childTnLst>
                              <p:par>
                                <p:cTn id="5" presetID="10" presetClass="entr" presetSubtype="0" fill="hold" grpId="0" nodeType="afterEffect">
                                  <p:stCondLst>
                                    <p:cond delay="0"/>
                                  </p:stCondLst>
                                  <p:childTnLst>
                                    <p:set>
                                      <p:cBhvr>
                                        <p:cTn id="3" dur="1" fill="hold">
                                          <p:stCondLst>
                                            <p:cond delay="0"/>
                                          </p:stCondLst>
                                        </p:cTn>
                                        <p:tgtEl>
                                          <p:spTgt spid="2"/>
                                        </p:tgtEl>
                                        <p:attrNameLst>
                                          <p:attrName>style.visibility</p:attrName>
                                        </p:attrNameLst>
                                      </p:cBhvr>
                                      <p:to>
                                        <p:strVal val="visible"/>
                                      </p:to>
                                    </p:set>
                                    <p:animEffect transition="in" filter="fade">
                                      <p:cBhvr>
                                        <p:cTn id="4" dur="1500"/>
                                        <p:tgtEl>
                                          <p:spTgt spid="2"/>
                                        </p:tgtEl>
                                      </p:cBhvr>
                                    </p:animEffect>
                                  </p:childTnLst>
                                </p:cTn>
                              </p:par>
                              <p:par>
                                <p:cTn id="10" presetID="53" presetClass="entr" presetSubtype="16" fill="hold" grpId="0" nodeType="withEffect">
                                  <p:stCondLst>
                                    <p:cond delay="30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400" fill="hold"/>
                                        <p:tgtEl>
                                          <p:spTgt spid="6"/>
                                        </p:tgtEl>
                                        <p:attrNameLst>
                                          <p:attrName>ppt_w</p:attrName>
                                        </p:attrNameLst>
                                      </p:cBhvr>
                                      <p:tavLst>
                                        <p:tav tm="0">
                                          <p:val>
                                            <p:strVal val="0"/>
                                          </p:val>
                                        </p:tav>
                                        <p:tav tm="100000">
                                          <p:val>
                                            <p:strVal val="#ppt_w"/>
                                          </p:val>
                                        </p:tav>
                                      </p:tavLst>
                                    </p:anim>
                                    <p:anim calcmode="lin" valueType="num">
                                      <p:cBhvr additive="base">
                                        <p:cTn id="8" dur="400" fill="hold"/>
                                        <p:tgtEl>
                                          <p:spTgt spid="6"/>
                                        </p:tgtEl>
                                        <p:attrNameLst>
                                          <p:attrName>ppt_h</p:attrName>
                                        </p:attrNameLst>
                                      </p:cBhvr>
                                      <p:tavLst>
                                        <p:tav tm="0">
                                          <p:val>
                                            <p:strVal val="0"/>
                                          </p:val>
                                        </p:tav>
                                        <p:tav tm="100000">
                                          <p:val>
                                            <p:strVal val="#ppt_h"/>
                                          </p:val>
                                        </p:tav>
                                      </p:tavLst>
                                    </p:anim>
                                    <p:animEffect transition="in" filter="fade">
                                      <p:cBhvr>
                                        <p:cTn id="9" dur="400"/>
                                        <p:tgtEl>
                                          <p:spTgt spid="6"/>
                                        </p:tgtEl>
                                      </p:cBhvr>
                                    </p:animEffect>
                                  </p:childTnLst>
                                </p:cTn>
                              </p:par>
                              <p:par>
                                <p:cTn id="12" presetID="1" presetClass="entr" presetSubtype="0" fill="hold" grpId="0" nodeType="withEffect">
                                  <p:stCondLst>
                                    <p:cond delay="500"/>
                                  </p:stCondLst>
                                  <p:iterate type="lt">
                                    <p:tmAbs val="30"/>
                                  </p:iterate>
                                  <p:childTnLst>
                                    <p:set>
                                      <p:cBhvr>
                                        <p:cTn id="11" dur="1" fill="hold">
                                          <p:stCondLst>
                                            <p:cond delay="0"/>
                                          </p:stCondLst>
                                        </p:cTn>
                                        <p:tgtEl>
                                          <p:spTgt spid="7"/>
                                        </p:tgtEl>
                                        <p:attrNameLst>
                                          <p:attrName>style.visibility</p:attrName>
                                        </p:attrNameLst>
                                      </p:cBhvr>
                                      <p:to>
                                        <p:strVal val="visible"/>
                                      </p:to>
                                    </p:set>
                                  </p:childTnLst>
                                </p:cTn>
                              </p:par>
                              <p:par>
                                <p:cTn id="14" presetID="6" presetClass="emph" presetSubtype="0" fill="hold" grpId="1" nodeType="withEffect" autoRev="1" repeatCount="indefinite">
                                  <p:stCondLst>
                                    <p:cond delay="800"/>
                                  </p:stCondLst>
                                  <p:childTnLst>
                                    <p:animScale>
                                      <p:cBhvr>
                                        <p:cTn id="13" dur="650" fill="hold"/>
                                        <p:tgtEl>
                                          <p:spTgt spid="6"/>
                                        </p:tgtEl>
                                      </p:cBhvr>
                                      <p:by x="135000" y="135000"/>
                                    </p:animScale>
                                  </p:childTnLst>
                                </p:cTn>
                              </p:par>
                              <p:par>
                                <p:cTn id="19" presetID="53" presetClass="entr" presetSubtype="16" fill="hold" grpId="0" nodeType="withEffect">
                                  <p:stCondLst>
                                    <p:cond delay="1200"/>
                                  </p:stCondLst>
                                  <p:childTnLst>
                                    <p:set>
                                      <p:cBhvr>
                                        <p:cTn id="15" dur="1" fill="hold">
                                          <p:stCondLst>
                                            <p:cond delay="0"/>
                                          </p:stCondLst>
                                        </p:cTn>
                                        <p:tgtEl>
                                          <p:spTgt spid="8"/>
                                        </p:tgtEl>
                                        <p:attrNameLst>
                                          <p:attrName>style.visibility</p:attrName>
                                        </p:attrNameLst>
                                      </p:cBhvr>
                                      <p:to>
                                        <p:strVal val="visible"/>
                                      </p:to>
                                    </p:set>
                                    <p:anim calcmode="lin" valueType="num">
                                      <p:cBhvr additive="base">
                                        <p:cTn id="16" dur="900" fill="hold"/>
                                        <p:tgtEl>
                                          <p:spTgt spid="8"/>
                                        </p:tgtEl>
                                        <p:attrNameLst>
                                          <p:attrName>ppt_w</p:attrName>
                                        </p:attrNameLst>
                                      </p:cBhvr>
                                      <p:tavLst>
                                        <p:tav tm="0">
                                          <p:val>
                                            <p:strVal val="0"/>
                                          </p:val>
                                        </p:tav>
                                        <p:tav tm="100000">
                                          <p:val>
                                            <p:strVal val="#ppt_w"/>
                                          </p:val>
                                        </p:tav>
                                      </p:tavLst>
                                    </p:anim>
                                    <p:anim calcmode="lin" valueType="num">
                                      <p:cBhvr additive="base">
                                        <p:cTn id="17" dur="900" fill="hold"/>
                                        <p:tgtEl>
                                          <p:spTgt spid="8"/>
                                        </p:tgtEl>
                                        <p:attrNameLst>
                                          <p:attrName>ppt_h</p:attrName>
                                        </p:attrNameLst>
                                      </p:cBhvr>
                                      <p:tavLst>
                                        <p:tav tm="0">
                                          <p:val>
                                            <p:strVal val="0"/>
                                          </p:val>
                                        </p:tav>
                                        <p:tav tm="100000">
                                          <p:val>
                                            <p:strVal val="#ppt_h"/>
                                          </p:val>
                                        </p:tav>
                                      </p:tavLst>
                                    </p:anim>
                                    <p:animEffect transition="in" filter="fade">
                                      <p:cBhvr>
                                        <p:cTn id="18" dur="900"/>
                                        <p:tgtEl>
                                          <p:spTgt spid="8"/>
                                        </p:tgtEl>
                                      </p:cBhvr>
                                    </p:animEffect>
                                  </p:childTnLst>
                                </p:cTn>
                              </p:par>
                              <p:par>
                                <p:cTn id="21" presetID="6" presetClass="emph" presetSubtype="0" fill="hold" grpId="1" nodeType="withEffect" autoRev="1" repeatCount="indefinite">
                                  <p:stCondLst>
                                    <p:cond delay="1600"/>
                                  </p:stCondLst>
                                  <p:childTnLst>
                                    <p:animScale>
                                      <p:cBhvr>
                                        <p:cTn id="20" dur="2200" fill="hold"/>
                                        <p:tgtEl>
                                          <p:spTgt spid="2"/>
                                        </p:tgtEl>
                                      </p:cBhvr>
                                      <p:by x="103000" y="103000"/>
                                    </p:animScale>
                                  </p:childTnLst>
                                </p:cTn>
                              </p:par>
                              <p:par>
                                <p:cTn id="26" presetID="42" presetClass="entr" presetSubtype="0" fill="hold" grpId="0" nodeType="withEffect">
                                  <p:stCondLst>
                                    <p:cond delay="210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700"/>
                                        <p:tgtEl>
                                          <p:spTgt spid="9"/>
                                        </p:tgtEl>
                                      </p:cBhvr>
                                    </p:animEffect>
                                    <p:anim calcmode="lin" valueType="num">
                                      <p:cBhvr additive="base">
                                        <p:cTn id="24" dur="700" fill="hold"/>
                                        <p:tgtEl>
                                          <p:spTgt spid="9"/>
                                        </p:tgtEl>
                                        <p:attrNameLst>
                                          <p:attrName>ppt_x</p:attrName>
                                        </p:attrNameLst>
                                      </p:cBhvr>
                                      <p:tavLst>
                                        <p:tav tm="0">
                                          <p:val>
                                            <p:strVal val="#ppt_x"/>
                                          </p:val>
                                        </p:tav>
                                        <p:tav tm="100000">
                                          <p:val>
                                            <p:strVal val="#ppt_x"/>
                                          </p:val>
                                        </p:tav>
                                      </p:tavLst>
                                    </p:anim>
                                    <p:anim calcmode="lin" valueType="num">
                                      <p:cBhvr additive="base">
                                        <p:cTn id="25" dur="700" fill="hold"/>
                                        <p:tgtEl>
                                          <p:spTgt spid="9"/>
                                        </p:tgtEl>
                                        <p:attrNameLst>
                                          <p:attrName>ppt_y</p:attrName>
                                        </p:attrNameLst>
                                      </p:cBhvr>
                                      <p:tavLst>
                                        <p:tav tm="0">
                                          <p:val>
                                            <p:strVal val="#ppt_y+.06"/>
                                          </p:val>
                                        </p:tav>
                                        <p:tav tm="100000">
                                          <p:val>
                                            <p:strVal val="#ppt_y"/>
                                          </p:val>
                                        </p:tav>
                                      </p:tavLst>
                                    </p:anim>
                                  </p:childTnLst>
                                </p:cTn>
                              </p:par>
                              <p:par>
                                <p:cTn id="29" presetID="10" presetClass="entr" presetSubtype="0" fill="hold" grpId="0" nodeType="withEffect">
                                  <p:stCondLst>
                                    <p:cond delay="270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700"/>
                                        <p:tgtEl>
                                          <p:spTgt spid="10"/>
                                        </p:tgtEl>
                                      </p:cBhvr>
                                    </p:animEffect>
                                  </p:childTnLst>
                                </p:cTn>
                              </p:par>
                              <p:par>
                                <p:cTn id="34" presetID="42" presetClass="entr" presetSubtype="0" fill="hold" grpId="0" nodeType="withEffect">
                                  <p:stCondLst>
                                    <p:cond delay="3200"/>
                                  </p:stCondLst>
                                  <p:childTnLst>
                                    <p:set>
                                      <p:cBhvr>
                                        <p:cTn id="30" dur="1" fill="hold">
                                          <p:stCondLst>
                                            <p:cond delay="0"/>
                                          </p:stCondLst>
                                        </p:cTn>
                                        <p:tgtEl>
                                          <p:spTgt spid="11"/>
                                        </p:tgtEl>
                                        <p:attrNameLst>
                                          <p:attrName>style.visibility</p:attrName>
                                        </p:attrNameLst>
                                      </p:cBhvr>
                                      <p:to>
                                        <p:strVal val="visible"/>
                                      </p:to>
                                    </p:set>
                                    <p:animEffect transition="in" filter="fade">
                                      <p:cBhvr>
                                        <p:cTn id="31" dur="800"/>
                                        <p:tgtEl>
                                          <p:spTgt spid="11"/>
                                        </p:tgtEl>
                                      </p:cBhvr>
                                    </p:animEffect>
                                    <p:anim calcmode="lin" valueType="num">
                                      <p:cBhvr additive="base">
                                        <p:cTn id="32" dur="800" fill="hold"/>
                                        <p:tgtEl>
                                          <p:spTgt spid="11"/>
                                        </p:tgtEl>
                                        <p:attrNameLst>
                                          <p:attrName>ppt_x</p:attrName>
                                        </p:attrNameLst>
                                      </p:cBhvr>
                                      <p:tavLst>
                                        <p:tav tm="0">
                                          <p:val>
                                            <p:strVal val="#ppt_x"/>
                                          </p:val>
                                        </p:tav>
                                        <p:tav tm="100000">
                                          <p:val>
                                            <p:strVal val="#ppt_x"/>
                                          </p:val>
                                        </p:tav>
                                      </p:tavLst>
                                    </p:anim>
                                    <p:anim calcmode="lin" valueType="num">
                                      <p:cBhvr additive="base">
                                        <p:cTn id="33" dur="800" fill="hold"/>
                                        <p:tgtEl>
                                          <p:spTgt spid="11"/>
                                        </p:tgtEl>
                                        <p:attrNameLst>
                                          <p:attrName>ppt_y</p:attrName>
                                        </p:attrNameLst>
                                      </p:cBhvr>
                                      <p:tavLst>
                                        <p:tav tm="0">
                                          <p:val>
                                            <p:strVal val="#ppt_y+.06"/>
                                          </p:val>
                                        </p:tav>
                                        <p:tav tm="100000">
                                          <p:val>
                                            <p:strVal val="#ppt_y"/>
                                          </p:val>
                                        </p:tav>
                                      </p:tavLst>
                                    </p:anim>
                                  </p:childTnLst>
                                </p:cTn>
                              </p:par>
                              <p:par>
                                <p:cTn id="39" presetID="42" presetClass="entr" presetSubtype="0" fill="hold" grpId="0" nodeType="withEffect">
                                  <p:stCondLst>
                                    <p:cond delay="3800"/>
                                  </p:stCondLst>
                                  <p:childTnLst>
                                    <p:set>
                                      <p:cBhvr>
                                        <p:cTn id="35" dur="1" fill="hold">
                                          <p:stCondLst>
                                            <p:cond delay="0"/>
                                          </p:stCondLst>
                                        </p:cTn>
                                        <p:tgtEl>
                                          <p:spTgt spid="3"/>
                                        </p:tgtEl>
                                        <p:attrNameLst>
                                          <p:attrName>style.visibility</p:attrName>
                                        </p:attrNameLst>
                                      </p:cBhvr>
                                      <p:to>
                                        <p:strVal val="visible"/>
                                      </p:to>
                                    </p:set>
                                    <p:animEffect transition="in" filter="fade">
                                      <p:cBhvr>
                                        <p:cTn id="36" dur="600"/>
                                        <p:tgtEl>
                                          <p:spTgt spid="3"/>
                                        </p:tgtEl>
                                      </p:cBhvr>
                                    </p:animEffect>
                                    <p:anim calcmode="lin" valueType="num">
                                      <p:cBhvr additive="base">
                                        <p:cTn id="37" dur="600" fill="hold"/>
                                        <p:tgtEl>
                                          <p:spTgt spid="3"/>
                                        </p:tgtEl>
                                        <p:attrNameLst>
                                          <p:attrName>ppt_x</p:attrName>
                                        </p:attrNameLst>
                                      </p:cBhvr>
                                      <p:tavLst>
                                        <p:tav tm="0">
                                          <p:val>
                                            <p:strVal val="#ppt_x-.05"/>
                                          </p:val>
                                        </p:tav>
                                        <p:tav tm="100000">
                                          <p:val>
                                            <p:strVal val="#ppt_x"/>
                                          </p:val>
                                        </p:tav>
                                      </p:tavLst>
                                    </p:anim>
                                    <p:anim calcmode="lin" valueType="num">
                                      <p:cBhvr additive="base">
                                        <p:cTn id="38" dur="600" fill="hold"/>
                                        <p:tgtEl>
                                          <p:spTgt spid="3"/>
                                        </p:tgtEl>
                                        <p:attrNameLst>
                                          <p:attrName>ppt_y</p:attrName>
                                        </p:attrNameLst>
                                      </p:cBhvr>
                                      <p:tavLst>
                                        <p:tav tm="0">
                                          <p:val>
                                            <p:strVal val="#ppt_y"/>
                                          </p:val>
                                        </p:tav>
                                        <p:tav tm="100000">
                                          <p:val>
                                            <p:strVal val="#ppt_y"/>
                                          </p:val>
                                        </p:tav>
                                      </p:tavLst>
                                    </p:anim>
                                  </p:childTnLst>
                                </p:cTn>
                              </p:par>
                              <p:par>
                                <p:cTn id="44" presetID="42" presetClass="entr" presetSubtype="0" fill="hold" grpId="0" nodeType="withEffect">
                                  <p:stCondLst>
                                    <p:cond delay="4200"/>
                                  </p:stCondLst>
                                  <p:childTnLst>
                                    <p:set>
                                      <p:cBhvr>
                                        <p:cTn id="40" dur="1" fill="hold">
                                          <p:stCondLst>
                                            <p:cond delay="0"/>
                                          </p:stCondLst>
                                        </p:cTn>
                                        <p:tgtEl>
                                          <p:spTgt spid="4"/>
                                        </p:tgtEl>
                                        <p:attrNameLst>
                                          <p:attrName>style.visibility</p:attrName>
                                        </p:attrNameLst>
                                      </p:cBhvr>
                                      <p:to>
                                        <p:strVal val="visible"/>
                                      </p:to>
                                    </p:set>
                                    <p:animEffect transition="in" filter="fade">
                                      <p:cBhvr>
                                        <p:cTn id="41" dur="600"/>
                                        <p:tgtEl>
                                          <p:spTgt spid="4"/>
                                        </p:tgtEl>
                                      </p:cBhvr>
                                    </p:animEffect>
                                    <p:anim calcmode="lin" valueType="num">
                                      <p:cBhvr additive="base">
                                        <p:cTn id="42" dur="600" fill="hold"/>
                                        <p:tgtEl>
                                          <p:spTgt spid="4"/>
                                        </p:tgtEl>
                                        <p:attrNameLst>
                                          <p:attrName>ppt_x</p:attrName>
                                        </p:attrNameLst>
                                      </p:cBhvr>
                                      <p:tavLst>
                                        <p:tav tm="0">
                                          <p:val>
                                            <p:strVal val="#ppt_x+.05"/>
                                          </p:val>
                                        </p:tav>
                                        <p:tav tm="100000">
                                          <p:val>
                                            <p:strVal val="#ppt_x"/>
                                          </p:val>
                                        </p:tav>
                                      </p:tavLst>
                                    </p:anim>
                                    <p:anim calcmode="lin" valueType="num">
                                      <p:cBhvr additive="base">
                                        <p:cTn id="43" dur="600" fill="hold"/>
                                        <p:tgtEl>
                                          <p:spTgt spid="4"/>
                                        </p:tgtEl>
                                        <p:attrNameLst>
                                          <p:attrName>ppt_y</p:attrName>
                                        </p:attrNameLst>
                                      </p:cBhvr>
                                      <p:tavLst>
                                        <p:tav tm="0">
                                          <p:val>
                                            <p:strVal val="#ppt_y"/>
                                          </p:val>
                                        </p:tav>
                                        <p:tav tm="100000">
                                          <p:val>
                                            <p:strVal val="#ppt_y"/>
                                          </p:val>
                                        </p:tav>
                                      </p:tavLst>
                                    </p:anim>
                                  </p:childTnLst>
                                </p:cTn>
                              </p:par>
                              <p:par>
                                <p:cTn id="49" presetID="53" presetClass="entr" presetSubtype="16" fill="hold" grpId="0" nodeType="withEffect">
                                  <p:stCondLst>
                                    <p:cond delay="5000"/>
                                  </p:stCondLst>
                                  <p:childTnLst>
                                    <p:set>
                                      <p:cBhvr>
                                        <p:cTn id="45" dur="1" fill="hold">
                                          <p:stCondLst>
                                            <p:cond delay="0"/>
                                          </p:stCondLst>
                                        </p:cTn>
                                        <p:tgtEl>
                                          <p:spTgt spid="5"/>
                                        </p:tgtEl>
                                        <p:attrNameLst>
                                          <p:attrName>style.visibility</p:attrName>
                                        </p:attrNameLst>
                                      </p:cBhvr>
                                      <p:to>
                                        <p:strVal val="visible"/>
                                      </p:to>
                                    </p:set>
                                    <p:anim calcmode="lin" valueType="num">
                                      <p:cBhvr additive="base">
                                        <p:cTn id="46" dur="300" fill="hold"/>
                                        <p:tgtEl>
                                          <p:spTgt spid="5"/>
                                        </p:tgtEl>
                                        <p:attrNameLst>
                                          <p:attrName>ppt_w</p:attrName>
                                        </p:attrNameLst>
                                      </p:cBhvr>
                                      <p:tavLst>
                                        <p:tav tm="0">
                                          <p:val>
                                            <p:strVal val="0"/>
                                          </p:val>
                                        </p:tav>
                                        <p:tav tm="100000">
                                          <p:val>
                                            <p:strVal val="#ppt_w"/>
                                          </p:val>
                                        </p:tav>
                                      </p:tavLst>
                                    </p:anim>
                                    <p:anim calcmode="lin" valueType="num">
                                      <p:cBhvr additive="base">
                                        <p:cTn id="47" dur="300" fill="hold"/>
                                        <p:tgtEl>
                                          <p:spTgt spid="5"/>
                                        </p:tgtEl>
                                        <p:attrNameLst>
                                          <p:attrName>ppt_h</p:attrName>
                                        </p:attrNameLst>
                                      </p:cBhvr>
                                      <p:tavLst>
                                        <p:tav tm="0">
                                          <p:val>
                                            <p:strVal val="0"/>
                                          </p:val>
                                        </p:tav>
                                        <p:tav tm="100000">
                                          <p:val>
                                            <p:strVal val="#ppt_h"/>
                                          </p:val>
                                        </p:tav>
                                      </p:tavLst>
                                    </p:anim>
                                    <p:animEffect transition="in" filter="fade">
                                      <p:cBhvr>
                                        <p:cTn id="48" dur="300"/>
                                        <p:tgtEl>
                                          <p:spTgt spid="5"/>
                                        </p:tgtEl>
                                      </p:cBhvr>
                                    </p:animEffect>
                                  </p:childTnLst>
                                </p:cTn>
                              </p:par>
                              <p:par>
                                <p:cTn id="51" presetID="8" presetClass="emph" presetSubtype="0" fill="hold" grpId="1" nodeType="withEffect" repeatCount="indefinite">
                                  <p:stCondLst>
                                    <p:cond delay="5300"/>
                                  </p:stCondLst>
                                  <p:childTnLst>
                                    <p:animRot by="21600000">
                                      <p:cBhvr>
                                        <p:cTn id="50" dur="1600" fill="hold"/>
                                        <p:tgtEl>
                                          <p:spTgt spid="5"/>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animBg="1"/>
      <p:bldP spid="7" grpId="0" animBg="1"/>
      <p:bldP spid="6" grpId="1" animBg="1"/>
      <p:bldP spid="8" grpId="0" animBg="1"/>
      <p:bldP spid="2" grpId="1" animBg="1"/>
      <p:bldP spid="9" grpId="0" animBg="1"/>
      <p:bldP spid="10" grpId="0" animBg="1"/>
      <p:bldP spid="11" grpId="0" animBg="1"/>
      <p:bldP spid="3" grpId="0" animBg="1"/>
      <p:bldP spid="4" grpId="0" animBg="1"/>
      <p:bldP spid="5" grpId="0" animBg="1"/>
      <p:bldP spid="5" grpId="1" animBg="1"/>
    </p:bld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rec dot"/>
          <p:cNvSpPr/>
          <p:nvPr/>
        </p:nvSpPr>
        <p:spPr>
          <a:xfrm>
            <a:off x="548640" y="384048"/>
            <a:ext cx="182880" cy="182880"/>
          </a:xfrm>
          <a:prstGeom prst="ellipse">
            <a:avLst/>
          </a:prstGeom>
          <a:solidFill>
            <a:srgbClr val="E5383B"/>
          </a:solidFill>
          <a:ln/>
        </p:spPr>
      </p:sp>
      <p:sp>
        <p:nvSpPr>
          <p:cNvPr id="3" name="Text 1"/>
          <p:cNvSpPr txBox="1"/>
          <p:nvPr/>
        </p:nvSpPr>
        <p:spPr>
          <a:xfrm>
            <a:off x="841248" y="329184"/>
            <a:ext cx="8229600" cy="292608"/>
          </a:xfrm>
          <a:prstGeom prst="rect">
            <a:avLst/>
          </a:prstGeom>
          <a:noFill/>
          <a:ln/>
        </p:spPr>
        <p:txBody>
          <a:bodyPr wrap="square" lIns="0" tIns="0" rIns="0" bIns="0" rtlCol="0" anchor="ctr"/>
          <a:lstStyle/>
          <a:p>
            <a:pPr indent="0" marL="0">
              <a:buNone/>
            </a:pPr>
            <a:r>
              <a:rPr lang="en-US" sz="1300" b="1" spc="200" kern="0" dirty="0">
                <a:solidFill>
                  <a:srgbClr val="D9D6CF"/>
                </a:solidFill>
                <a:latin typeface="Courier New" pitchFamily="34" charset="0"/>
                <a:ea typeface="Courier New" pitchFamily="34" charset="-122"/>
                <a:cs typeface="Courier New" pitchFamily="34" charset="-120"/>
              </a:rPr>
              <a:t>THE TRAILER  ·  BEFORE WE PRESS PLAY</a:t>
            </a:r>
            <a:endParaRPr lang="en-US" sz="1300" dirty="0"/>
          </a:p>
        </p:txBody>
      </p:sp>
      <p:sp>
        <p:nvSpPr>
          <p:cNvPr id="4" name="Text 0"/>
          <p:cNvSpPr/>
          <p:nvPr>
            <p:ph idx="100" type="title" hasCustomPrompt="1"/>
          </p:nvPr>
        </p:nvSpPr>
        <p:spPr>
          <a:xfrm>
            <a:off x="548640" y="731520"/>
            <a:ext cx="11094415" cy="731520"/>
          </a:xfrm>
          <a:prstGeom prst="rect">
            <a:avLst/>
          </a:prstGeom>
          <a:noFill/>
          <a:ln/>
        </p:spPr>
        <p:txBody>
          <a:bodyPr wrap="square" lIns="0" tIns="0" rIns="0" bIns="0" rtlCol="0" anchor="ctr"/>
          <a:lstStyle/>
          <a:p>
            <a:pPr algn="l" indent="0" marL="0">
              <a:buNone/>
            </a:pPr>
            <a:r>
              <a:rPr lang="en-US" sz="3000" b="1" dirty="0">
                <a:solidFill>
                  <a:schemeClr val="bg1"/>
                </a:solidFill>
              </a:rPr>
              <a:t>A buddy comedy that hides a real organized fraud</a:t>
            </a:r>
            <a:endParaRPr lang="en-US" sz="3000" dirty="0"/>
          </a:p>
        </p:txBody>
      </p:sp>
      <p:sp>
        <p:nvSpPr>
          <p:cNvPr id="5" name="Text 3"/>
          <p:cNvSpPr txBox="1"/>
          <p:nvPr/>
        </p:nvSpPr>
        <p:spPr>
          <a:xfrm>
            <a:off x="548640" y="1737360"/>
            <a:ext cx="1920240" cy="603504"/>
          </a:xfrm>
          <a:prstGeom prst="rect">
            <a:avLst/>
          </a:prstGeom>
          <a:noFill/>
          <a:ln/>
        </p:spPr>
        <p:txBody>
          <a:bodyPr wrap="square" lIns="0" tIns="0" rIns="0" bIns="0" rtlCol="0" anchor="ctr"/>
          <a:lstStyle/>
          <a:p>
            <a:pPr indent="0" marL="0">
              <a:buNone/>
            </a:pPr>
            <a:r>
              <a:rPr lang="en-US" sz="1200" b="1" dirty="0">
                <a:solidFill>
                  <a:srgbClr val="A9ADB5"/>
                </a:solidFill>
                <a:latin typeface="Courier New" pitchFamily="34" charset="0"/>
                <a:ea typeface="Courier New" pitchFamily="34" charset="-122"/>
                <a:cs typeface="Courier New" pitchFamily="34" charset="-120"/>
              </a:rPr>
              <a:t>DIRECTOR</a:t>
            </a:r>
            <a:endParaRPr lang="en-US" sz="1200" dirty="0"/>
          </a:p>
        </p:txBody>
      </p:sp>
      <p:sp>
        <p:nvSpPr>
          <p:cNvPr id="6" name="Text 4"/>
          <p:cNvSpPr txBox="1"/>
          <p:nvPr/>
        </p:nvSpPr>
        <p:spPr>
          <a:xfrm>
            <a:off x="2514600" y="1737360"/>
            <a:ext cx="4572000" cy="603504"/>
          </a:xfrm>
          <a:prstGeom prst="rect">
            <a:avLst/>
          </a:prstGeom>
          <a:noFill/>
          <a:ln/>
        </p:spPr>
        <p:txBody>
          <a:bodyPr wrap="square" lIns="0" tIns="0" rIns="0" bIns="0" rtlCol="0" anchor="ctr"/>
          <a:lstStyle/>
          <a:p>
            <a:pPr indent="0" marL="0">
              <a:buNone/>
            </a:pPr>
            <a:r>
              <a:rPr lang="en-US" sz="1600" dirty="0">
                <a:solidFill>
                  <a:schemeClr val="bg1"/>
                </a:solidFill>
              </a:rPr>
              <a:t>Todd Phillips</a:t>
            </a:r>
            <a:endParaRPr lang="en-US" sz="1600" dirty="0"/>
          </a:p>
        </p:txBody>
      </p:sp>
      <p:sp>
        <p:nvSpPr>
          <p:cNvPr id="7" name="Shape 5"/>
          <p:cNvSpPr/>
          <p:nvPr/>
        </p:nvSpPr>
        <p:spPr>
          <a:xfrm>
            <a:off x="548640" y="2395728"/>
            <a:ext cx="6537960" cy="0"/>
          </a:xfrm>
          <a:prstGeom prst="line">
            <a:avLst/>
          </a:prstGeom>
          <a:noFill/>
          <a:ln w="12700">
            <a:solidFill>
              <a:srgbClr val="33363D"/>
            </a:solidFill>
            <a:prstDash val="solid"/>
          </a:ln>
        </p:spPr>
      </p:sp>
      <p:sp>
        <p:nvSpPr>
          <p:cNvPr id="8" name="Text 6"/>
          <p:cNvSpPr txBox="1"/>
          <p:nvPr/>
        </p:nvSpPr>
        <p:spPr>
          <a:xfrm>
            <a:off x="548640" y="2450592"/>
            <a:ext cx="1920240" cy="603504"/>
          </a:xfrm>
          <a:prstGeom prst="rect">
            <a:avLst/>
          </a:prstGeom>
          <a:noFill/>
          <a:ln/>
        </p:spPr>
        <p:txBody>
          <a:bodyPr wrap="square" lIns="0" tIns="0" rIns="0" bIns="0" rtlCol="0" anchor="ctr"/>
          <a:lstStyle/>
          <a:p>
            <a:pPr indent="0" marL="0">
              <a:buNone/>
            </a:pPr>
            <a:r>
              <a:rPr lang="en-US" sz="1200" b="1" dirty="0">
                <a:solidFill>
                  <a:srgbClr val="A9ADB5"/>
                </a:solidFill>
                <a:latin typeface="Courier New" pitchFamily="34" charset="0"/>
                <a:ea typeface="Courier New" pitchFamily="34" charset="-122"/>
                <a:cs typeface="Courier New" pitchFamily="34" charset="-120"/>
              </a:rPr>
              <a:t>YEAR · STUDIO</a:t>
            </a:r>
            <a:endParaRPr lang="en-US" sz="1200" dirty="0"/>
          </a:p>
        </p:txBody>
      </p:sp>
      <p:sp>
        <p:nvSpPr>
          <p:cNvPr id="9" name="Text 7"/>
          <p:cNvSpPr txBox="1"/>
          <p:nvPr/>
        </p:nvSpPr>
        <p:spPr>
          <a:xfrm>
            <a:off x="2514600" y="2450592"/>
            <a:ext cx="4572000" cy="603504"/>
          </a:xfrm>
          <a:prstGeom prst="rect">
            <a:avLst/>
          </a:prstGeom>
          <a:noFill/>
          <a:ln/>
        </p:spPr>
        <p:txBody>
          <a:bodyPr wrap="square" lIns="0" tIns="0" rIns="0" bIns="0" rtlCol="0" anchor="ctr"/>
          <a:lstStyle/>
          <a:p>
            <a:pPr indent="0" marL="0">
              <a:buNone/>
            </a:pPr>
            <a:r>
              <a:rPr lang="en-US" sz="1600" dirty="0">
                <a:solidFill>
                  <a:schemeClr val="bg1"/>
                </a:solidFill>
              </a:rPr>
              <a:t>2016 · Warner Bros.</a:t>
            </a:r>
            <a:endParaRPr lang="en-US" sz="1600" dirty="0"/>
          </a:p>
        </p:txBody>
      </p:sp>
      <p:sp>
        <p:nvSpPr>
          <p:cNvPr id="10" name="Shape 8"/>
          <p:cNvSpPr/>
          <p:nvPr/>
        </p:nvSpPr>
        <p:spPr>
          <a:xfrm>
            <a:off x="548640" y="3108960"/>
            <a:ext cx="6537960" cy="0"/>
          </a:xfrm>
          <a:prstGeom prst="line">
            <a:avLst/>
          </a:prstGeom>
          <a:noFill/>
          <a:ln w="12700">
            <a:solidFill>
              <a:srgbClr val="33363D"/>
            </a:solidFill>
            <a:prstDash val="solid"/>
          </a:ln>
        </p:spPr>
      </p:sp>
      <p:sp>
        <p:nvSpPr>
          <p:cNvPr id="11" name="Text 9"/>
          <p:cNvSpPr txBox="1"/>
          <p:nvPr/>
        </p:nvSpPr>
        <p:spPr>
          <a:xfrm>
            <a:off x="548640" y="3163824"/>
            <a:ext cx="1920240" cy="603504"/>
          </a:xfrm>
          <a:prstGeom prst="rect">
            <a:avLst/>
          </a:prstGeom>
          <a:noFill/>
          <a:ln/>
        </p:spPr>
        <p:txBody>
          <a:bodyPr wrap="square" lIns="0" tIns="0" rIns="0" bIns="0" rtlCol="0" anchor="ctr"/>
          <a:lstStyle/>
          <a:p>
            <a:pPr indent="0" marL="0">
              <a:buNone/>
            </a:pPr>
            <a:r>
              <a:rPr lang="en-US" sz="1200" b="1" dirty="0">
                <a:solidFill>
                  <a:srgbClr val="A9ADB5"/>
                </a:solidFill>
                <a:latin typeface="Courier New" pitchFamily="34" charset="0"/>
                <a:ea typeface="Courier New" pitchFamily="34" charset="-122"/>
                <a:cs typeface="Courier New" pitchFamily="34" charset="-120"/>
              </a:rPr>
              <a:t>GENRE</a:t>
            </a:r>
            <a:endParaRPr lang="en-US" sz="1200" dirty="0"/>
          </a:p>
        </p:txBody>
      </p:sp>
      <p:sp>
        <p:nvSpPr>
          <p:cNvPr id="12" name="Text 10"/>
          <p:cNvSpPr txBox="1"/>
          <p:nvPr/>
        </p:nvSpPr>
        <p:spPr>
          <a:xfrm>
            <a:off x="2514600" y="3163824"/>
            <a:ext cx="4572000" cy="603504"/>
          </a:xfrm>
          <a:prstGeom prst="rect">
            <a:avLst/>
          </a:prstGeom>
          <a:noFill/>
          <a:ln/>
        </p:spPr>
        <p:txBody>
          <a:bodyPr wrap="square" lIns="0" tIns="0" rIns="0" bIns="0" rtlCol="0" anchor="ctr"/>
          <a:lstStyle/>
          <a:p>
            <a:pPr indent="0" marL="0">
              <a:buNone/>
            </a:pPr>
            <a:r>
              <a:rPr lang="en-US" sz="1600" dirty="0">
                <a:solidFill>
                  <a:schemeClr val="bg1"/>
                </a:solidFill>
              </a:rPr>
              <a:t>Crime comedy-drama (based on true events)</a:t>
            </a:r>
            <a:endParaRPr lang="en-US" sz="1600" dirty="0"/>
          </a:p>
        </p:txBody>
      </p:sp>
      <p:sp>
        <p:nvSpPr>
          <p:cNvPr id="13" name="Shape 11"/>
          <p:cNvSpPr/>
          <p:nvPr/>
        </p:nvSpPr>
        <p:spPr>
          <a:xfrm>
            <a:off x="548640" y="3822192"/>
            <a:ext cx="6537960" cy="0"/>
          </a:xfrm>
          <a:prstGeom prst="line">
            <a:avLst/>
          </a:prstGeom>
          <a:noFill/>
          <a:ln w="12700">
            <a:solidFill>
              <a:srgbClr val="33363D"/>
            </a:solidFill>
            <a:prstDash val="solid"/>
          </a:ln>
        </p:spPr>
      </p:sp>
      <p:sp>
        <p:nvSpPr>
          <p:cNvPr id="14" name="Text 12"/>
          <p:cNvSpPr txBox="1"/>
          <p:nvPr/>
        </p:nvSpPr>
        <p:spPr>
          <a:xfrm>
            <a:off x="548640" y="3877056"/>
            <a:ext cx="1920240" cy="603504"/>
          </a:xfrm>
          <a:prstGeom prst="rect">
            <a:avLst/>
          </a:prstGeom>
          <a:noFill/>
          <a:ln/>
        </p:spPr>
        <p:txBody>
          <a:bodyPr wrap="square" lIns="0" tIns="0" rIns="0" bIns="0" rtlCol="0" anchor="ctr"/>
          <a:lstStyle/>
          <a:p>
            <a:pPr indent="0" marL="0">
              <a:buNone/>
            </a:pPr>
            <a:r>
              <a:rPr lang="en-US" sz="1200" b="1" dirty="0">
                <a:solidFill>
                  <a:srgbClr val="A9ADB5"/>
                </a:solidFill>
                <a:latin typeface="Courier New" pitchFamily="34" charset="0"/>
                <a:ea typeface="Courier New" pitchFamily="34" charset="-122"/>
                <a:cs typeface="Courier New" pitchFamily="34" charset="-120"/>
              </a:rPr>
              <a:t>STARRING</a:t>
            </a:r>
            <a:endParaRPr lang="en-US" sz="1200" dirty="0"/>
          </a:p>
        </p:txBody>
      </p:sp>
      <p:sp>
        <p:nvSpPr>
          <p:cNvPr id="15" name="Text 13"/>
          <p:cNvSpPr txBox="1"/>
          <p:nvPr/>
        </p:nvSpPr>
        <p:spPr>
          <a:xfrm>
            <a:off x="2514600" y="3877056"/>
            <a:ext cx="4572000" cy="603504"/>
          </a:xfrm>
          <a:prstGeom prst="rect">
            <a:avLst/>
          </a:prstGeom>
          <a:noFill/>
          <a:ln/>
        </p:spPr>
        <p:txBody>
          <a:bodyPr wrap="square" lIns="0" tIns="0" rIns="0" bIns="0" rtlCol="0" anchor="ctr"/>
          <a:lstStyle/>
          <a:p>
            <a:pPr indent="0" marL="0">
              <a:buNone/>
            </a:pPr>
            <a:r>
              <a:rPr lang="en-US" sz="1600" dirty="0">
                <a:solidFill>
                  <a:schemeClr val="bg1"/>
                </a:solidFill>
              </a:rPr>
              <a:t>Jonah Hill · Miles Teller · Ana de Armas · Bradley Cooper</a:t>
            </a:r>
            <a:endParaRPr lang="en-US" sz="1600" dirty="0"/>
          </a:p>
        </p:txBody>
      </p:sp>
      <p:sp>
        <p:nvSpPr>
          <p:cNvPr id="16" name="Shape 14"/>
          <p:cNvSpPr/>
          <p:nvPr/>
        </p:nvSpPr>
        <p:spPr>
          <a:xfrm>
            <a:off x="548640" y="4535424"/>
            <a:ext cx="6537960" cy="0"/>
          </a:xfrm>
          <a:prstGeom prst="line">
            <a:avLst/>
          </a:prstGeom>
          <a:noFill/>
          <a:ln w="12700">
            <a:solidFill>
              <a:srgbClr val="33363D"/>
            </a:solidFill>
            <a:prstDash val="solid"/>
          </a:ln>
        </p:spPr>
      </p:sp>
      <p:sp>
        <p:nvSpPr>
          <p:cNvPr id="17" name="Text 15"/>
          <p:cNvSpPr txBox="1"/>
          <p:nvPr/>
        </p:nvSpPr>
        <p:spPr>
          <a:xfrm>
            <a:off x="548640" y="4590288"/>
            <a:ext cx="1920240" cy="603504"/>
          </a:xfrm>
          <a:prstGeom prst="rect">
            <a:avLst/>
          </a:prstGeom>
          <a:noFill/>
          <a:ln/>
        </p:spPr>
        <p:txBody>
          <a:bodyPr wrap="square" lIns="0" tIns="0" rIns="0" bIns="0" rtlCol="0" anchor="ctr"/>
          <a:lstStyle/>
          <a:p>
            <a:pPr indent="0" marL="0">
              <a:buNone/>
            </a:pPr>
            <a:r>
              <a:rPr lang="en-US" sz="1200" b="1" dirty="0">
                <a:solidFill>
                  <a:srgbClr val="A9ADB5"/>
                </a:solidFill>
                <a:latin typeface="Courier New" pitchFamily="34" charset="0"/>
                <a:ea typeface="Courier New" pitchFamily="34" charset="-122"/>
                <a:cs typeface="Courier New" pitchFamily="34" charset="-120"/>
              </a:rPr>
              <a:t>SOURCE</a:t>
            </a:r>
            <a:endParaRPr lang="en-US" sz="1200" dirty="0"/>
          </a:p>
        </p:txBody>
      </p:sp>
      <p:sp>
        <p:nvSpPr>
          <p:cNvPr id="18" name="Text 16"/>
          <p:cNvSpPr txBox="1"/>
          <p:nvPr/>
        </p:nvSpPr>
        <p:spPr>
          <a:xfrm>
            <a:off x="2514600" y="4590288"/>
            <a:ext cx="4572000" cy="603504"/>
          </a:xfrm>
          <a:prstGeom prst="rect">
            <a:avLst/>
          </a:prstGeom>
          <a:noFill/>
          <a:ln/>
        </p:spPr>
        <p:txBody>
          <a:bodyPr wrap="square" lIns="0" tIns="0" rIns="0" bIns="0" rtlCol="0" anchor="ctr"/>
          <a:lstStyle/>
          <a:p>
            <a:pPr indent="0" marL="0">
              <a:buNone/>
            </a:pPr>
            <a:r>
              <a:rPr lang="en-US" sz="1600" dirty="0">
                <a:solidFill>
                  <a:schemeClr val="bg1"/>
                </a:solidFill>
              </a:rPr>
              <a:t>Guy Lawson, Rolling Stone (2011); Arms and the Dudes (2015)</a:t>
            </a:r>
            <a:endParaRPr lang="en-US" sz="1600" dirty="0"/>
          </a:p>
        </p:txBody>
      </p:sp>
      <p:sp>
        <p:nvSpPr>
          <p:cNvPr id="19" name="Shape 17"/>
          <p:cNvSpPr/>
          <p:nvPr/>
        </p:nvSpPr>
        <p:spPr>
          <a:xfrm>
            <a:off x="548640" y="5248656"/>
            <a:ext cx="6537960" cy="0"/>
          </a:xfrm>
          <a:prstGeom prst="line">
            <a:avLst/>
          </a:prstGeom>
          <a:noFill/>
          <a:ln w="12700">
            <a:solidFill>
              <a:srgbClr val="33363D"/>
            </a:solidFill>
            <a:prstDash val="solid"/>
          </a:ln>
        </p:spPr>
      </p:sp>
      <p:sp>
        <p:nvSpPr>
          <p:cNvPr id="20" name="thesis"/>
          <p:cNvSpPr/>
          <p:nvPr/>
        </p:nvSpPr>
        <p:spPr>
          <a:xfrm>
            <a:off x="7543800" y="1737360"/>
            <a:ext cx="4099255" cy="4023360"/>
          </a:xfrm>
          <a:prstGeom prst="rect">
            <a:avLst/>
          </a:prstGeom>
          <a:solidFill>
            <a:srgbClr val="1B1D22"/>
          </a:solidFill>
          <a:ln w="19050">
            <a:solidFill>
              <a:srgbClr val="FFD84D"/>
            </a:solidFill>
            <a:prstDash val="solid"/>
          </a:ln>
        </p:spPr>
      </p:sp>
      <p:sp>
        <p:nvSpPr>
          <p:cNvPr id="21" name="Text 19"/>
          <p:cNvSpPr txBox="1"/>
          <p:nvPr/>
        </p:nvSpPr>
        <p:spPr>
          <a:xfrm>
            <a:off x="7863840" y="1920240"/>
            <a:ext cx="3459175" cy="274320"/>
          </a:xfrm>
          <a:prstGeom prst="rect">
            <a:avLst/>
          </a:prstGeom>
          <a:noFill/>
          <a:ln/>
        </p:spPr>
        <p:txBody>
          <a:bodyPr wrap="square" lIns="0" tIns="0" rIns="0" bIns="0" rtlCol="0" anchor="ctr"/>
          <a:lstStyle/>
          <a:p>
            <a:pPr indent="0" marL="0">
              <a:buNone/>
            </a:pPr>
            <a:r>
              <a:rPr lang="en-US" sz="1200" b="1" spc="200" kern="0" dirty="0">
                <a:solidFill>
                  <a:srgbClr val="FFD84D"/>
                </a:solidFill>
                <a:latin typeface="Courier New" pitchFamily="34" charset="0"/>
                <a:ea typeface="Courier New" pitchFamily="34" charset="-122"/>
                <a:cs typeface="Courier New" pitchFamily="34" charset="-120"/>
              </a:rPr>
              <a:t>OUR THESIS</a:t>
            </a:r>
            <a:endParaRPr lang="en-US" sz="1200" dirty="0"/>
          </a:p>
        </p:txBody>
      </p:sp>
      <p:sp>
        <p:nvSpPr>
          <p:cNvPr id="22" name="Text 20"/>
          <p:cNvSpPr txBox="1"/>
          <p:nvPr/>
        </p:nvSpPr>
        <p:spPr>
          <a:xfrm>
            <a:off x="7863840" y="2286000"/>
            <a:ext cx="3459175" cy="1920240"/>
          </a:xfrm>
          <a:prstGeom prst="rect">
            <a:avLst/>
          </a:prstGeom>
          <a:noFill/>
          <a:ln/>
        </p:spPr>
        <p:txBody>
          <a:bodyPr wrap="square" lIns="0" tIns="0" rIns="0" bIns="0" rtlCol="0" anchor="t"/>
          <a:lstStyle/>
          <a:p>
            <a:pPr indent="0" marL="0">
              <a:buNone/>
            </a:pPr>
            <a:r>
              <a:rPr lang="en-US" sz="2000" b="1" dirty="0">
                <a:solidFill>
                  <a:schemeClr val="bg1"/>
                </a:solidFill>
                <a:latin typeface="Bookman Old Style" pitchFamily="34" charset="0"/>
                <a:ea typeface="Bookman Old Style" pitchFamily="34" charset="-122"/>
                <a:cs typeface="Bookman Old Style" pitchFamily="34" charset="-120"/>
              </a:rPr>
              <a:t>Organized crime doesn’t always carry guns. Sometimes it sells them, with a government contract.</a:t>
            </a:r>
            <a:endParaRPr lang="en-US" sz="2000" dirty="0"/>
          </a:p>
        </p:txBody>
      </p:sp>
      <p:sp>
        <p:nvSpPr>
          <p:cNvPr id="23" name="Text 21"/>
          <p:cNvSpPr txBox="1"/>
          <p:nvPr/>
        </p:nvSpPr>
        <p:spPr>
          <a:xfrm>
            <a:off x="7863840" y="4480560"/>
            <a:ext cx="3459175" cy="1005840"/>
          </a:xfrm>
          <a:prstGeom prst="rect">
            <a:avLst/>
          </a:prstGeom>
          <a:noFill/>
          <a:ln/>
        </p:spPr>
        <p:txBody>
          <a:bodyPr wrap="square" lIns="0" tIns="0" rIns="0" bIns="0" rtlCol="0" anchor="ctr"/>
          <a:lstStyle/>
          <a:p>
            <a:pPr indent="0" marL="0">
              <a:buNone/>
            </a:pPr>
            <a:r>
              <a:rPr lang="en-US" sz="3200" b="1" dirty="0">
                <a:solidFill>
                  <a:srgbClr val="FFD84D"/>
                </a:solidFill>
                <a:latin typeface="Bookman Old Style" pitchFamily="34" charset="0"/>
                <a:ea typeface="Bookman Old Style" pitchFamily="34" charset="-122"/>
                <a:cs typeface="Bookman Old Style" pitchFamily="34" charset="-120"/>
              </a:rPr>
              <a:t>$298M</a:t>
            </a:r>
            <a:pPr indent="0" marL="0">
              <a:buNone/>
            </a:pPr>
            <a:r>
              <a:rPr lang="en-US" sz="1300" dirty="0">
                <a:solidFill>
                  <a:srgbClr val="D9D6CF"/>
                </a:solidFill>
              </a:rPr>
              <a:t>   real Pentagon contract won by AEY Inc., 2007</a:t>
            </a:r>
            <a:endParaRPr lang="en-US" sz="3200" dirty="0"/>
          </a:p>
        </p:txBody>
      </p:sp>
      <p:sp>
        <p:nvSpPr>
          <p:cNvPr id="25" name="Slide Number Placeholder 0"/>
          <p:cNvSpPr>
            <a:spLocks noGrp="1"/>
          </p:cNvSpPr>
          <p:nvPr>
            <p:ph type="sldNum" sz="quarter" idx="4294967295"/>
          </p:nvPr>
        </p:nvSpPr>
        <p:spPr>
          <a:xfrm>
            <a:off x="11094415" y="6400800"/>
            <a:ext cx="54864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6E727A"/>
                </a:solidFill>
                <a:latin typeface="Courier New"/>
                <a:ea typeface="Courier New"/>
                <a:cs typeface="Courier New"/>
              </a:defRPr>
            </a:lvl1pPr>
          </a:lstStyle>
          <a:p>
            <a:pPr algn="r"/>
            <a:fld id="{F7021451-1387-4CA6-816F-3879F97B5CBC}" type="slidenum">
              <a:rPr b="1" lang="en-US"/>
              <a:t>2</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09" fill="hold">
                      <p:stCondLst>
                        <p:cond delay="indefinite"/>
                        <p:cond evt="onBegin" delay="0">
                          <p:tn val="2"/>
                        </p:cond>
                      </p:stCondLst>
                      <p:childTnLst>
                        <p:par>
                          <p:cTn id="110" fill="hold">
                            <p:stCondLst>
                              <p:cond delay="0"/>
                            </p:stCondLst>
                            <p:childTnLst>
                              <p:par>
                                <p:cTn id="7" presetID="53" presetClass="entr" presetSubtype="16" fill="hold" grpId="0" nodeType="afterEffect">
                                  <p:stCondLst>
                                    <p:cond delay="0"/>
                                  </p:stCondLst>
                                  <p:childTnLst>
                                    <p:set>
                                      <p:cBhvr>
                                        <p:cTn id="3" dur="1" fill="hold">
                                          <p:stCondLst>
                                            <p:cond delay="0"/>
                                          </p:stCondLst>
                                        </p:cTn>
                                        <p:tgtEl>
                                          <p:spTgt spid="2"/>
                                        </p:tgtEl>
                                        <p:attrNameLst>
                                          <p:attrName>style.visibility</p:attrName>
                                        </p:attrNameLst>
                                      </p:cBhvr>
                                      <p:to>
                                        <p:strVal val="visible"/>
                                      </p:to>
                                    </p:set>
                                    <p:anim calcmode="lin" valueType="num">
                                      <p:cBhvr additive="base">
                                        <p:cTn id="4" dur="400" fill="hold"/>
                                        <p:tgtEl>
                                          <p:spTgt spid="2"/>
                                        </p:tgtEl>
                                        <p:attrNameLst>
                                          <p:attrName>ppt_w</p:attrName>
                                        </p:attrNameLst>
                                      </p:cBhvr>
                                      <p:tavLst>
                                        <p:tav tm="0">
                                          <p:val>
                                            <p:strVal val="0"/>
                                          </p:val>
                                        </p:tav>
                                        <p:tav tm="100000">
                                          <p:val>
                                            <p:strVal val="#ppt_w"/>
                                          </p:val>
                                        </p:tav>
                                      </p:tavLst>
                                    </p:anim>
                                    <p:anim calcmode="lin" valueType="num">
                                      <p:cBhvr additive="base">
                                        <p:cTn id="5" dur="400" fill="hold"/>
                                        <p:tgtEl>
                                          <p:spTgt spid="2"/>
                                        </p:tgtEl>
                                        <p:attrNameLst>
                                          <p:attrName>ppt_h</p:attrName>
                                        </p:attrNameLst>
                                      </p:cBhvr>
                                      <p:tavLst>
                                        <p:tav tm="0">
                                          <p:val>
                                            <p:strVal val="0"/>
                                          </p:val>
                                        </p:tav>
                                        <p:tav tm="100000">
                                          <p:val>
                                            <p:strVal val="#ppt_h"/>
                                          </p:val>
                                        </p:tav>
                                      </p:tavLst>
                                    </p:anim>
                                    <p:animEffect transition="in" filter="fade">
                                      <p:cBhvr>
                                        <p:cTn id="6" dur="400"/>
                                        <p:tgtEl>
                                          <p:spTgt spid="2"/>
                                        </p:tgtEl>
                                      </p:cBhvr>
                                    </p:animEffect>
                                  </p:childTnLst>
                                </p:cTn>
                              </p:par>
                              <p:par>
                                <p:cTn id="9" presetID="1" presetClass="entr" presetSubtype="0" fill="hold" grpId="0" nodeType="withEffect">
                                  <p:stCondLst>
                                    <p:cond delay="200"/>
                                  </p:stCondLst>
                                  <p:iterate type="lt">
                                    <p:tmAbs val="30"/>
                                  </p:iterate>
                                  <p:childTnLst>
                                    <p:set>
                                      <p:cBhvr>
                                        <p:cTn id="8" dur="1" fill="hold">
                                          <p:stCondLst>
                                            <p:cond delay="0"/>
                                          </p:stCondLst>
                                        </p:cTn>
                                        <p:tgtEl>
                                          <p:spTgt spid="3"/>
                                        </p:tgtEl>
                                        <p:attrNameLst>
                                          <p:attrName>style.visibility</p:attrName>
                                        </p:attrNameLst>
                                      </p:cBhvr>
                                      <p:to>
                                        <p:strVal val="visible"/>
                                      </p:to>
                                    </p:set>
                                  </p:childTnLst>
                                </p:cTn>
                              </p:par>
                              <p:par>
                                <p:cTn id="14" presetID="42" presetClass="entr" presetSubtype="0" fill="hold" grpId="0" nodeType="withEffect">
                                  <p:stCondLst>
                                    <p:cond delay="40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700"/>
                                        <p:tgtEl>
                                          <p:spTgt spid="4"/>
                                        </p:tgtEl>
                                      </p:cBhvr>
                                    </p:animEffect>
                                    <p:anim calcmode="lin" valueType="num">
                                      <p:cBhvr additive="base">
                                        <p:cTn id="12" dur="700" fill="hold"/>
                                        <p:tgtEl>
                                          <p:spTgt spid="4"/>
                                        </p:tgtEl>
                                        <p:attrNameLst>
                                          <p:attrName>ppt_x</p:attrName>
                                        </p:attrNameLst>
                                      </p:cBhvr>
                                      <p:tavLst>
                                        <p:tav tm="0">
                                          <p:val>
                                            <p:strVal val="#ppt_x"/>
                                          </p:val>
                                        </p:tav>
                                        <p:tav tm="100000">
                                          <p:val>
                                            <p:strVal val="#ppt_x"/>
                                          </p:val>
                                        </p:tav>
                                      </p:tavLst>
                                    </p:anim>
                                    <p:anim calcmode="lin" valueType="num">
                                      <p:cBhvr additive="base">
                                        <p:cTn id="13" dur="700" fill="hold"/>
                                        <p:tgtEl>
                                          <p:spTgt spid="4"/>
                                        </p:tgtEl>
                                        <p:attrNameLst>
                                          <p:attrName>ppt_y</p:attrName>
                                        </p:attrNameLst>
                                      </p:cBhvr>
                                      <p:tavLst>
                                        <p:tav tm="0">
                                          <p:val>
                                            <p:strVal val="#ppt_y+.06"/>
                                          </p:val>
                                        </p:tav>
                                        <p:tav tm="100000">
                                          <p:val>
                                            <p:strVal val="#ppt_y"/>
                                          </p:val>
                                        </p:tav>
                                      </p:tavLst>
                                    </p:anim>
                                  </p:childTnLst>
                                </p:cTn>
                              </p:par>
                              <p:par>
                                <p:cTn id="16" presetID="6" presetClass="emph" presetSubtype="0" fill="hold" grpId="1" nodeType="withEffect" autoRev="1" repeatCount="indefinite">
                                  <p:stCondLst>
                                    <p:cond delay="500"/>
                                  </p:stCondLst>
                                  <p:childTnLst>
                                    <p:animScale>
                                      <p:cBhvr>
                                        <p:cTn id="15" dur="650" fill="hold"/>
                                        <p:tgtEl>
                                          <p:spTgt spid="2"/>
                                        </p:tgtEl>
                                      </p:cBhvr>
                                      <p:by x="135000" y="135000"/>
                                    </p:animScale>
                                  </p:childTnLst>
                                </p:cTn>
                              </p:par>
                              <p:par>
                                <p:cTn id="21" presetID="42" presetClass="entr" presetSubtype="0" fill="hold" grpId="0" nodeType="withEffect">
                                  <p:stCondLst>
                                    <p:cond delay="100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600"/>
                                        <p:tgtEl>
                                          <p:spTgt spid="5"/>
                                        </p:tgtEl>
                                      </p:cBhvr>
                                    </p:animEffect>
                                    <p:anim calcmode="lin" valueType="num">
                                      <p:cBhvr additive="base">
                                        <p:cTn id="19" dur="600" fill="hold"/>
                                        <p:tgtEl>
                                          <p:spTgt spid="5"/>
                                        </p:tgtEl>
                                        <p:attrNameLst>
                                          <p:attrName>ppt_x</p:attrName>
                                        </p:attrNameLst>
                                      </p:cBhvr>
                                      <p:tavLst>
                                        <p:tav tm="0">
                                          <p:val>
                                            <p:strVal val="#ppt_x"/>
                                          </p:val>
                                        </p:tav>
                                        <p:tav tm="100000">
                                          <p:val>
                                            <p:strVal val="#ppt_x"/>
                                          </p:val>
                                        </p:tav>
                                      </p:tavLst>
                                    </p:anim>
                                    <p:anim calcmode="lin" valueType="num">
                                      <p:cBhvr additive="base">
                                        <p:cTn id="20" dur="600" fill="hold"/>
                                        <p:tgtEl>
                                          <p:spTgt spid="5"/>
                                        </p:tgtEl>
                                        <p:attrNameLst>
                                          <p:attrName>ppt_y</p:attrName>
                                        </p:attrNameLst>
                                      </p:cBhvr>
                                      <p:tavLst>
                                        <p:tav tm="0">
                                          <p:val>
                                            <p:strVal val="#ppt_y+.06"/>
                                          </p:val>
                                        </p:tav>
                                        <p:tav tm="100000">
                                          <p:val>
                                            <p:strVal val="#ppt_y"/>
                                          </p:val>
                                        </p:tav>
                                      </p:tavLst>
                                    </p:anim>
                                  </p:childTnLst>
                                </p:cTn>
                              </p:par>
                              <p:par>
                                <p:cTn id="26" presetID="42" presetClass="entr" presetSubtype="0" fill="hold" grpId="0" nodeType="withEffect">
                                  <p:stCondLst>
                                    <p:cond delay="1000"/>
                                  </p:stCondLst>
                                  <p:childTnLst>
                                    <p:set>
                                      <p:cBhvr>
                                        <p:cTn id="22" dur="1" fill="hold">
                                          <p:stCondLst>
                                            <p:cond delay="0"/>
                                          </p:stCondLst>
                                        </p:cTn>
                                        <p:tgtEl>
                                          <p:spTgt spid="6"/>
                                        </p:tgtEl>
                                        <p:attrNameLst>
                                          <p:attrName>style.visibility</p:attrName>
                                        </p:attrNameLst>
                                      </p:cBhvr>
                                      <p:to>
                                        <p:strVal val="visible"/>
                                      </p:to>
                                    </p:set>
                                    <p:animEffect transition="in" filter="fade">
                                      <p:cBhvr>
                                        <p:cTn id="23" dur="600"/>
                                        <p:tgtEl>
                                          <p:spTgt spid="6"/>
                                        </p:tgtEl>
                                      </p:cBhvr>
                                    </p:animEffect>
                                    <p:anim calcmode="lin" valueType="num">
                                      <p:cBhvr additive="base">
                                        <p:cTn id="24" dur="600" fill="hold"/>
                                        <p:tgtEl>
                                          <p:spTgt spid="6"/>
                                        </p:tgtEl>
                                        <p:attrNameLst>
                                          <p:attrName>ppt_x</p:attrName>
                                        </p:attrNameLst>
                                      </p:cBhvr>
                                      <p:tavLst>
                                        <p:tav tm="0">
                                          <p:val>
                                            <p:strVal val="#ppt_x"/>
                                          </p:val>
                                        </p:tav>
                                        <p:tav tm="100000">
                                          <p:val>
                                            <p:strVal val="#ppt_x"/>
                                          </p:val>
                                        </p:tav>
                                      </p:tavLst>
                                    </p:anim>
                                    <p:anim calcmode="lin" valueType="num">
                                      <p:cBhvr additive="base">
                                        <p:cTn id="25" dur="600" fill="hold"/>
                                        <p:tgtEl>
                                          <p:spTgt spid="6"/>
                                        </p:tgtEl>
                                        <p:attrNameLst>
                                          <p:attrName>ppt_y</p:attrName>
                                        </p:attrNameLst>
                                      </p:cBhvr>
                                      <p:tavLst>
                                        <p:tav tm="0">
                                          <p:val>
                                            <p:strVal val="#ppt_y+.06"/>
                                          </p:val>
                                        </p:tav>
                                        <p:tav tm="100000">
                                          <p:val>
                                            <p:strVal val="#ppt_y"/>
                                          </p:val>
                                        </p:tav>
                                      </p:tavLst>
                                    </p:anim>
                                  </p:childTnLst>
                                </p:cTn>
                              </p:par>
                              <p:par>
                                <p:cTn id="31" presetID="42" presetClass="entr" presetSubtype="0" fill="hold" grpId="0" nodeType="withEffect">
                                  <p:stCondLst>
                                    <p:cond delay="1300"/>
                                  </p:stCondLst>
                                  <p:childTnLst>
                                    <p:set>
                                      <p:cBhvr>
                                        <p:cTn id="27" dur="1" fill="hold">
                                          <p:stCondLst>
                                            <p:cond delay="0"/>
                                          </p:stCondLst>
                                        </p:cTn>
                                        <p:tgtEl>
                                          <p:spTgt spid="7"/>
                                        </p:tgtEl>
                                        <p:attrNameLst>
                                          <p:attrName>style.visibility</p:attrName>
                                        </p:attrNameLst>
                                      </p:cBhvr>
                                      <p:to>
                                        <p:strVal val="visible"/>
                                      </p:to>
                                    </p:set>
                                    <p:animEffect transition="in" filter="fade">
                                      <p:cBhvr>
                                        <p:cTn id="28" dur="600"/>
                                        <p:tgtEl>
                                          <p:spTgt spid="7"/>
                                        </p:tgtEl>
                                      </p:cBhvr>
                                    </p:animEffect>
                                    <p:anim calcmode="lin" valueType="num">
                                      <p:cBhvr additive="base">
                                        <p:cTn id="29" dur="600" fill="hold"/>
                                        <p:tgtEl>
                                          <p:spTgt spid="7"/>
                                        </p:tgtEl>
                                        <p:attrNameLst>
                                          <p:attrName>ppt_x</p:attrName>
                                        </p:attrNameLst>
                                      </p:cBhvr>
                                      <p:tavLst>
                                        <p:tav tm="0">
                                          <p:val>
                                            <p:strVal val="#ppt_x"/>
                                          </p:val>
                                        </p:tav>
                                        <p:tav tm="100000">
                                          <p:val>
                                            <p:strVal val="#ppt_x"/>
                                          </p:val>
                                        </p:tav>
                                      </p:tavLst>
                                    </p:anim>
                                    <p:anim calcmode="lin" valueType="num">
                                      <p:cBhvr additive="base">
                                        <p:cTn id="30" dur="600" fill="hold"/>
                                        <p:tgtEl>
                                          <p:spTgt spid="7"/>
                                        </p:tgtEl>
                                        <p:attrNameLst>
                                          <p:attrName>ppt_y</p:attrName>
                                        </p:attrNameLst>
                                      </p:cBhvr>
                                      <p:tavLst>
                                        <p:tav tm="0">
                                          <p:val>
                                            <p:strVal val="#ppt_y+.06"/>
                                          </p:val>
                                        </p:tav>
                                        <p:tav tm="100000">
                                          <p:val>
                                            <p:strVal val="#ppt_y"/>
                                          </p:val>
                                        </p:tav>
                                      </p:tavLst>
                                    </p:anim>
                                  </p:childTnLst>
                                </p:cTn>
                              </p:par>
                              <p:par>
                                <p:cTn id="36" presetID="42" presetClass="entr" presetSubtype="0" fill="hold" grpId="0" nodeType="withEffect">
                                  <p:stCondLst>
                                    <p:cond delay="1600"/>
                                  </p:stCondLst>
                                  <p:childTnLst>
                                    <p:set>
                                      <p:cBhvr>
                                        <p:cTn id="32" dur="1" fill="hold">
                                          <p:stCondLst>
                                            <p:cond delay="0"/>
                                          </p:stCondLst>
                                        </p:cTn>
                                        <p:tgtEl>
                                          <p:spTgt spid="8"/>
                                        </p:tgtEl>
                                        <p:attrNameLst>
                                          <p:attrName>style.visibility</p:attrName>
                                        </p:attrNameLst>
                                      </p:cBhvr>
                                      <p:to>
                                        <p:strVal val="visible"/>
                                      </p:to>
                                    </p:set>
                                    <p:animEffect transition="in" filter="fade">
                                      <p:cBhvr>
                                        <p:cTn id="33" dur="600"/>
                                        <p:tgtEl>
                                          <p:spTgt spid="8"/>
                                        </p:tgtEl>
                                      </p:cBhvr>
                                    </p:animEffect>
                                    <p:anim calcmode="lin" valueType="num">
                                      <p:cBhvr additive="base">
                                        <p:cTn id="34" dur="600" fill="hold"/>
                                        <p:tgtEl>
                                          <p:spTgt spid="8"/>
                                        </p:tgtEl>
                                        <p:attrNameLst>
                                          <p:attrName>ppt_x</p:attrName>
                                        </p:attrNameLst>
                                      </p:cBhvr>
                                      <p:tavLst>
                                        <p:tav tm="0">
                                          <p:val>
                                            <p:strVal val="#ppt_x"/>
                                          </p:val>
                                        </p:tav>
                                        <p:tav tm="100000">
                                          <p:val>
                                            <p:strVal val="#ppt_x"/>
                                          </p:val>
                                        </p:tav>
                                      </p:tavLst>
                                    </p:anim>
                                    <p:anim calcmode="lin" valueType="num">
                                      <p:cBhvr additive="base">
                                        <p:cTn id="35" dur="600" fill="hold"/>
                                        <p:tgtEl>
                                          <p:spTgt spid="8"/>
                                        </p:tgtEl>
                                        <p:attrNameLst>
                                          <p:attrName>ppt_y</p:attrName>
                                        </p:attrNameLst>
                                      </p:cBhvr>
                                      <p:tavLst>
                                        <p:tav tm="0">
                                          <p:val>
                                            <p:strVal val="#ppt_y+.06"/>
                                          </p:val>
                                        </p:tav>
                                        <p:tav tm="100000">
                                          <p:val>
                                            <p:strVal val="#ppt_y"/>
                                          </p:val>
                                        </p:tav>
                                      </p:tavLst>
                                    </p:anim>
                                  </p:childTnLst>
                                </p:cTn>
                              </p:par>
                              <p:par>
                                <p:cTn id="41" presetID="42" presetClass="entr" presetSubtype="0" fill="hold" grpId="0" nodeType="withEffect">
                                  <p:stCondLst>
                                    <p:cond delay="1600"/>
                                  </p:stCondLst>
                                  <p:childTnLst>
                                    <p:set>
                                      <p:cBhvr>
                                        <p:cTn id="37" dur="1" fill="hold">
                                          <p:stCondLst>
                                            <p:cond delay="0"/>
                                          </p:stCondLst>
                                        </p:cTn>
                                        <p:tgtEl>
                                          <p:spTgt spid="9"/>
                                        </p:tgtEl>
                                        <p:attrNameLst>
                                          <p:attrName>style.visibility</p:attrName>
                                        </p:attrNameLst>
                                      </p:cBhvr>
                                      <p:to>
                                        <p:strVal val="visible"/>
                                      </p:to>
                                    </p:set>
                                    <p:animEffect transition="in" filter="fade">
                                      <p:cBhvr>
                                        <p:cTn id="38" dur="600"/>
                                        <p:tgtEl>
                                          <p:spTgt spid="9"/>
                                        </p:tgtEl>
                                      </p:cBhvr>
                                    </p:animEffect>
                                    <p:anim calcmode="lin" valueType="num">
                                      <p:cBhvr additive="base">
                                        <p:cTn id="39" dur="600" fill="hold"/>
                                        <p:tgtEl>
                                          <p:spTgt spid="9"/>
                                        </p:tgtEl>
                                        <p:attrNameLst>
                                          <p:attrName>ppt_x</p:attrName>
                                        </p:attrNameLst>
                                      </p:cBhvr>
                                      <p:tavLst>
                                        <p:tav tm="0">
                                          <p:val>
                                            <p:strVal val="#ppt_x"/>
                                          </p:val>
                                        </p:tav>
                                        <p:tav tm="100000">
                                          <p:val>
                                            <p:strVal val="#ppt_x"/>
                                          </p:val>
                                        </p:tav>
                                      </p:tavLst>
                                    </p:anim>
                                    <p:anim calcmode="lin" valueType="num">
                                      <p:cBhvr additive="base">
                                        <p:cTn id="40" dur="600" fill="hold"/>
                                        <p:tgtEl>
                                          <p:spTgt spid="9"/>
                                        </p:tgtEl>
                                        <p:attrNameLst>
                                          <p:attrName>ppt_y</p:attrName>
                                        </p:attrNameLst>
                                      </p:cBhvr>
                                      <p:tavLst>
                                        <p:tav tm="0">
                                          <p:val>
                                            <p:strVal val="#ppt_y+.06"/>
                                          </p:val>
                                        </p:tav>
                                        <p:tav tm="100000">
                                          <p:val>
                                            <p:strVal val="#ppt_y"/>
                                          </p:val>
                                        </p:tav>
                                      </p:tavLst>
                                    </p:anim>
                                  </p:childTnLst>
                                </p:cTn>
                              </p:par>
                              <p:par>
                                <p:cTn id="46" presetID="42" presetClass="entr" presetSubtype="0" fill="hold" grpId="0" nodeType="withEffect">
                                  <p:stCondLst>
                                    <p:cond delay="1900"/>
                                  </p:stCondLst>
                                  <p:childTnLst>
                                    <p:set>
                                      <p:cBhvr>
                                        <p:cTn id="42" dur="1" fill="hold">
                                          <p:stCondLst>
                                            <p:cond delay="0"/>
                                          </p:stCondLst>
                                        </p:cTn>
                                        <p:tgtEl>
                                          <p:spTgt spid="10"/>
                                        </p:tgtEl>
                                        <p:attrNameLst>
                                          <p:attrName>style.visibility</p:attrName>
                                        </p:attrNameLst>
                                      </p:cBhvr>
                                      <p:to>
                                        <p:strVal val="visible"/>
                                      </p:to>
                                    </p:set>
                                    <p:animEffect transition="in" filter="fade">
                                      <p:cBhvr>
                                        <p:cTn id="43" dur="600"/>
                                        <p:tgtEl>
                                          <p:spTgt spid="10"/>
                                        </p:tgtEl>
                                      </p:cBhvr>
                                    </p:animEffect>
                                    <p:anim calcmode="lin" valueType="num">
                                      <p:cBhvr additive="base">
                                        <p:cTn id="44" dur="600" fill="hold"/>
                                        <p:tgtEl>
                                          <p:spTgt spid="10"/>
                                        </p:tgtEl>
                                        <p:attrNameLst>
                                          <p:attrName>ppt_x</p:attrName>
                                        </p:attrNameLst>
                                      </p:cBhvr>
                                      <p:tavLst>
                                        <p:tav tm="0">
                                          <p:val>
                                            <p:strVal val="#ppt_x"/>
                                          </p:val>
                                        </p:tav>
                                        <p:tav tm="100000">
                                          <p:val>
                                            <p:strVal val="#ppt_x"/>
                                          </p:val>
                                        </p:tav>
                                      </p:tavLst>
                                    </p:anim>
                                    <p:anim calcmode="lin" valueType="num">
                                      <p:cBhvr additive="base">
                                        <p:cTn id="45" dur="600" fill="hold"/>
                                        <p:tgtEl>
                                          <p:spTgt spid="10"/>
                                        </p:tgtEl>
                                        <p:attrNameLst>
                                          <p:attrName>ppt_y</p:attrName>
                                        </p:attrNameLst>
                                      </p:cBhvr>
                                      <p:tavLst>
                                        <p:tav tm="0">
                                          <p:val>
                                            <p:strVal val="#ppt_y+.06"/>
                                          </p:val>
                                        </p:tav>
                                        <p:tav tm="100000">
                                          <p:val>
                                            <p:strVal val="#ppt_y"/>
                                          </p:val>
                                        </p:tav>
                                      </p:tavLst>
                                    </p:anim>
                                  </p:childTnLst>
                                </p:cTn>
                              </p:par>
                              <p:par>
                                <p:cTn id="51" presetID="42" presetClass="entr" presetSubtype="0" fill="hold" grpId="0" nodeType="withEffect">
                                  <p:stCondLst>
                                    <p:cond delay="2200"/>
                                  </p:stCondLst>
                                  <p:childTnLst>
                                    <p:set>
                                      <p:cBhvr>
                                        <p:cTn id="47" dur="1" fill="hold">
                                          <p:stCondLst>
                                            <p:cond delay="0"/>
                                          </p:stCondLst>
                                        </p:cTn>
                                        <p:tgtEl>
                                          <p:spTgt spid="11"/>
                                        </p:tgtEl>
                                        <p:attrNameLst>
                                          <p:attrName>style.visibility</p:attrName>
                                        </p:attrNameLst>
                                      </p:cBhvr>
                                      <p:to>
                                        <p:strVal val="visible"/>
                                      </p:to>
                                    </p:set>
                                    <p:animEffect transition="in" filter="fade">
                                      <p:cBhvr>
                                        <p:cTn id="48" dur="600"/>
                                        <p:tgtEl>
                                          <p:spTgt spid="11"/>
                                        </p:tgtEl>
                                      </p:cBhvr>
                                    </p:animEffect>
                                    <p:anim calcmode="lin" valueType="num">
                                      <p:cBhvr additive="base">
                                        <p:cTn id="49" dur="600" fill="hold"/>
                                        <p:tgtEl>
                                          <p:spTgt spid="11"/>
                                        </p:tgtEl>
                                        <p:attrNameLst>
                                          <p:attrName>ppt_x</p:attrName>
                                        </p:attrNameLst>
                                      </p:cBhvr>
                                      <p:tavLst>
                                        <p:tav tm="0">
                                          <p:val>
                                            <p:strVal val="#ppt_x"/>
                                          </p:val>
                                        </p:tav>
                                        <p:tav tm="100000">
                                          <p:val>
                                            <p:strVal val="#ppt_x"/>
                                          </p:val>
                                        </p:tav>
                                      </p:tavLst>
                                    </p:anim>
                                    <p:anim calcmode="lin" valueType="num">
                                      <p:cBhvr additive="base">
                                        <p:cTn id="50" dur="600" fill="hold"/>
                                        <p:tgtEl>
                                          <p:spTgt spid="11"/>
                                        </p:tgtEl>
                                        <p:attrNameLst>
                                          <p:attrName>ppt_y</p:attrName>
                                        </p:attrNameLst>
                                      </p:cBhvr>
                                      <p:tavLst>
                                        <p:tav tm="0">
                                          <p:val>
                                            <p:strVal val="#ppt_y+.06"/>
                                          </p:val>
                                        </p:tav>
                                        <p:tav tm="100000">
                                          <p:val>
                                            <p:strVal val="#ppt_y"/>
                                          </p:val>
                                        </p:tav>
                                      </p:tavLst>
                                    </p:anim>
                                  </p:childTnLst>
                                </p:cTn>
                              </p:par>
                              <p:par>
                                <p:cTn id="56" presetID="42" presetClass="entr" presetSubtype="0" fill="hold" grpId="0" nodeType="withEffect">
                                  <p:stCondLst>
                                    <p:cond delay="2200"/>
                                  </p:stCondLst>
                                  <p:childTnLst>
                                    <p:set>
                                      <p:cBhvr>
                                        <p:cTn id="52" dur="1" fill="hold">
                                          <p:stCondLst>
                                            <p:cond delay="0"/>
                                          </p:stCondLst>
                                        </p:cTn>
                                        <p:tgtEl>
                                          <p:spTgt spid="12"/>
                                        </p:tgtEl>
                                        <p:attrNameLst>
                                          <p:attrName>style.visibility</p:attrName>
                                        </p:attrNameLst>
                                      </p:cBhvr>
                                      <p:to>
                                        <p:strVal val="visible"/>
                                      </p:to>
                                    </p:set>
                                    <p:animEffect transition="in" filter="fade">
                                      <p:cBhvr>
                                        <p:cTn id="53" dur="600"/>
                                        <p:tgtEl>
                                          <p:spTgt spid="12"/>
                                        </p:tgtEl>
                                      </p:cBhvr>
                                    </p:animEffect>
                                    <p:anim calcmode="lin" valueType="num">
                                      <p:cBhvr additive="base">
                                        <p:cTn id="54" dur="600" fill="hold"/>
                                        <p:tgtEl>
                                          <p:spTgt spid="12"/>
                                        </p:tgtEl>
                                        <p:attrNameLst>
                                          <p:attrName>ppt_x</p:attrName>
                                        </p:attrNameLst>
                                      </p:cBhvr>
                                      <p:tavLst>
                                        <p:tav tm="0">
                                          <p:val>
                                            <p:strVal val="#ppt_x"/>
                                          </p:val>
                                        </p:tav>
                                        <p:tav tm="100000">
                                          <p:val>
                                            <p:strVal val="#ppt_x"/>
                                          </p:val>
                                        </p:tav>
                                      </p:tavLst>
                                    </p:anim>
                                    <p:anim calcmode="lin" valueType="num">
                                      <p:cBhvr additive="base">
                                        <p:cTn id="55" dur="600" fill="hold"/>
                                        <p:tgtEl>
                                          <p:spTgt spid="12"/>
                                        </p:tgtEl>
                                        <p:attrNameLst>
                                          <p:attrName>ppt_y</p:attrName>
                                        </p:attrNameLst>
                                      </p:cBhvr>
                                      <p:tavLst>
                                        <p:tav tm="0">
                                          <p:val>
                                            <p:strVal val="#ppt_y+.06"/>
                                          </p:val>
                                        </p:tav>
                                        <p:tav tm="100000">
                                          <p:val>
                                            <p:strVal val="#ppt_y"/>
                                          </p:val>
                                        </p:tav>
                                      </p:tavLst>
                                    </p:anim>
                                  </p:childTnLst>
                                </p:cTn>
                              </p:par>
                              <p:par>
                                <p:cTn id="61" presetID="42" presetClass="entr" presetSubtype="0" fill="hold" grpId="0" nodeType="withEffect">
                                  <p:stCondLst>
                                    <p:cond delay="2500"/>
                                  </p:stCondLst>
                                  <p:childTnLst>
                                    <p:set>
                                      <p:cBhvr>
                                        <p:cTn id="57" dur="1" fill="hold">
                                          <p:stCondLst>
                                            <p:cond delay="0"/>
                                          </p:stCondLst>
                                        </p:cTn>
                                        <p:tgtEl>
                                          <p:spTgt spid="13"/>
                                        </p:tgtEl>
                                        <p:attrNameLst>
                                          <p:attrName>style.visibility</p:attrName>
                                        </p:attrNameLst>
                                      </p:cBhvr>
                                      <p:to>
                                        <p:strVal val="visible"/>
                                      </p:to>
                                    </p:set>
                                    <p:animEffect transition="in" filter="fade">
                                      <p:cBhvr>
                                        <p:cTn id="58" dur="600"/>
                                        <p:tgtEl>
                                          <p:spTgt spid="13"/>
                                        </p:tgtEl>
                                      </p:cBhvr>
                                    </p:animEffect>
                                    <p:anim calcmode="lin" valueType="num">
                                      <p:cBhvr additive="base">
                                        <p:cTn id="59" dur="600" fill="hold"/>
                                        <p:tgtEl>
                                          <p:spTgt spid="13"/>
                                        </p:tgtEl>
                                        <p:attrNameLst>
                                          <p:attrName>ppt_x</p:attrName>
                                        </p:attrNameLst>
                                      </p:cBhvr>
                                      <p:tavLst>
                                        <p:tav tm="0">
                                          <p:val>
                                            <p:strVal val="#ppt_x"/>
                                          </p:val>
                                        </p:tav>
                                        <p:tav tm="100000">
                                          <p:val>
                                            <p:strVal val="#ppt_x"/>
                                          </p:val>
                                        </p:tav>
                                      </p:tavLst>
                                    </p:anim>
                                    <p:anim calcmode="lin" valueType="num">
                                      <p:cBhvr additive="base">
                                        <p:cTn id="60" dur="600" fill="hold"/>
                                        <p:tgtEl>
                                          <p:spTgt spid="13"/>
                                        </p:tgtEl>
                                        <p:attrNameLst>
                                          <p:attrName>ppt_y</p:attrName>
                                        </p:attrNameLst>
                                      </p:cBhvr>
                                      <p:tavLst>
                                        <p:tav tm="0">
                                          <p:val>
                                            <p:strVal val="#ppt_y+.06"/>
                                          </p:val>
                                        </p:tav>
                                        <p:tav tm="100000">
                                          <p:val>
                                            <p:strVal val="#ppt_y"/>
                                          </p:val>
                                        </p:tav>
                                      </p:tavLst>
                                    </p:anim>
                                  </p:childTnLst>
                                </p:cTn>
                              </p:par>
                              <p:par>
                                <p:cTn id="66" presetID="42" presetClass="entr" presetSubtype="0" fill="hold" grpId="0" nodeType="withEffect">
                                  <p:stCondLst>
                                    <p:cond delay="2500"/>
                                  </p:stCondLst>
                                  <p:childTnLst>
                                    <p:set>
                                      <p:cBhvr>
                                        <p:cTn id="62" dur="1" fill="hold">
                                          <p:stCondLst>
                                            <p:cond delay="0"/>
                                          </p:stCondLst>
                                        </p:cTn>
                                        <p:tgtEl>
                                          <p:spTgt spid="14"/>
                                        </p:tgtEl>
                                        <p:attrNameLst>
                                          <p:attrName>style.visibility</p:attrName>
                                        </p:attrNameLst>
                                      </p:cBhvr>
                                      <p:to>
                                        <p:strVal val="visible"/>
                                      </p:to>
                                    </p:set>
                                    <p:animEffect transition="in" filter="fade">
                                      <p:cBhvr>
                                        <p:cTn id="63" dur="600"/>
                                        <p:tgtEl>
                                          <p:spTgt spid="14"/>
                                        </p:tgtEl>
                                      </p:cBhvr>
                                    </p:animEffect>
                                    <p:anim calcmode="lin" valueType="num">
                                      <p:cBhvr additive="base">
                                        <p:cTn id="64" dur="600" fill="hold"/>
                                        <p:tgtEl>
                                          <p:spTgt spid="14"/>
                                        </p:tgtEl>
                                        <p:attrNameLst>
                                          <p:attrName>ppt_x</p:attrName>
                                        </p:attrNameLst>
                                      </p:cBhvr>
                                      <p:tavLst>
                                        <p:tav tm="0">
                                          <p:val>
                                            <p:strVal val="#ppt_x"/>
                                          </p:val>
                                        </p:tav>
                                        <p:tav tm="100000">
                                          <p:val>
                                            <p:strVal val="#ppt_x"/>
                                          </p:val>
                                        </p:tav>
                                      </p:tavLst>
                                    </p:anim>
                                    <p:anim calcmode="lin" valueType="num">
                                      <p:cBhvr additive="base">
                                        <p:cTn id="65" dur="600" fill="hold"/>
                                        <p:tgtEl>
                                          <p:spTgt spid="14"/>
                                        </p:tgtEl>
                                        <p:attrNameLst>
                                          <p:attrName>ppt_y</p:attrName>
                                        </p:attrNameLst>
                                      </p:cBhvr>
                                      <p:tavLst>
                                        <p:tav tm="0">
                                          <p:val>
                                            <p:strVal val="#ppt_y+.06"/>
                                          </p:val>
                                        </p:tav>
                                        <p:tav tm="100000">
                                          <p:val>
                                            <p:strVal val="#ppt_y"/>
                                          </p:val>
                                        </p:tav>
                                      </p:tavLst>
                                    </p:anim>
                                  </p:childTnLst>
                                </p:cTn>
                              </p:par>
                              <p:par>
                                <p:cTn id="71" presetID="42" presetClass="entr" presetSubtype="0" fill="hold" grpId="0" nodeType="withEffect">
                                  <p:stCondLst>
                                    <p:cond delay="2500"/>
                                  </p:stCondLst>
                                  <p:childTnLst>
                                    <p:set>
                                      <p:cBhvr>
                                        <p:cTn id="67" dur="1" fill="hold">
                                          <p:stCondLst>
                                            <p:cond delay="0"/>
                                          </p:stCondLst>
                                        </p:cTn>
                                        <p:tgtEl>
                                          <p:spTgt spid="15"/>
                                        </p:tgtEl>
                                        <p:attrNameLst>
                                          <p:attrName>style.visibility</p:attrName>
                                        </p:attrNameLst>
                                      </p:cBhvr>
                                      <p:to>
                                        <p:strVal val="visible"/>
                                      </p:to>
                                    </p:set>
                                    <p:animEffect transition="in" filter="fade">
                                      <p:cBhvr>
                                        <p:cTn id="68" dur="600"/>
                                        <p:tgtEl>
                                          <p:spTgt spid="15"/>
                                        </p:tgtEl>
                                      </p:cBhvr>
                                    </p:animEffect>
                                    <p:anim calcmode="lin" valueType="num">
                                      <p:cBhvr additive="base">
                                        <p:cTn id="69" dur="600" fill="hold"/>
                                        <p:tgtEl>
                                          <p:spTgt spid="15"/>
                                        </p:tgtEl>
                                        <p:attrNameLst>
                                          <p:attrName>ppt_x</p:attrName>
                                        </p:attrNameLst>
                                      </p:cBhvr>
                                      <p:tavLst>
                                        <p:tav tm="0">
                                          <p:val>
                                            <p:strVal val="#ppt_x"/>
                                          </p:val>
                                        </p:tav>
                                        <p:tav tm="100000">
                                          <p:val>
                                            <p:strVal val="#ppt_x"/>
                                          </p:val>
                                        </p:tav>
                                      </p:tavLst>
                                    </p:anim>
                                    <p:anim calcmode="lin" valueType="num">
                                      <p:cBhvr additive="base">
                                        <p:cTn id="70" dur="600" fill="hold"/>
                                        <p:tgtEl>
                                          <p:spTgt spid="15"/>
                                        </p:tgtEl>
                                        <p:attrNameLst>
                                          <p:attrName>ppt_y</p:attrName>
                                        </p:attrNameLst>
                                      </p:cBhvr>
                                      <p:tavLst>
                                        <p:tav tm="0">
                                          <p:val>
                                            <p:strVal val="#ppt_y+.06"/>
                                          </p:val>
                                        </p:tav>
                                        <p:tav tm="100000">
                                          <p:val>
                                            <p:strVal val="#ppt_y"/>
                                          </p:val>
                                        </p:tav>
                                      </p:tavLst>
                                    </p:anim>
                                  </p:childTnLst>
                                </p:cTn>
                              </p:par>
                              <p:par>
                                <p:cTn id="76" presetID="53" presetClass="entr" presetSubtype="16" fill="hold" grpId="0" nodeType="withEffect">
                                  <p:stCondLst>
                                    <p:cond delay="2700"/>
                                  </p:stCondLst>
                                  <p:childTnLst>
                                    <p:set>
                                      <p:cBhvr>
                                        <p:cTn id="72" dur="1" fill="hold">
                                          <p:stCondLst>
                                            <p:cond delay="0"/>
                                          </p:stCondLst>
                                        </p:cTn>
                                        <p:tgtEl>
                                          <p:spTgt spid="20"/>
                                        </p:tgtEl>
                                        <p:attrNameLst>
                                          <p:attrName>style.visibility</p:attrName>
                                        </p:attrNameLst>
                                      </p:cBhvr>
                                      <p:to>
                                        <p:strVal val="visible"/>
                                      </p:to>
                                    </p:set>
                                    <p:anim calcmode="lin" valueType="num">
                                      <p:cBhvr additive="base">
                                        <p:cTn id="73" dur="600" fill="hold"/>
                                        <p:tgtEl>
                                          <p:spTgt spid="20"/>
                                        </p:tgtEl>
                                        <p:attrNameLst>
                                          <p:attrName>ppt_w</p:attrName>
                                        </p:attrNameLst>
                                      </p:cBhvr>
                                      <p:tavLst>
                                        <p:tav tm="0">
                                          <p:val>
                                            <p:strVal val="0"/>
                                          </p:val>
                                        </p:tav>
                                        <p:tav tm="100000">
                                          <p:val>
                                            <p:strVal val="#ppt_w"/>
                                          </p:val>
                                        </p:tav>
                                      </p:tavLst>
                                    </p:anim>
                                    <p:anim calcmode="lin" valueType="num">
                                      <p:cBhvr additive="base">
                                        <p:cTn id="74" dur="600" fill="hold"/>
                                        <p:tgtEl>
                                          <p:spTgt spid="20"/>
                                        </p:tgtEl>
                                        <p:attrNameLst>
                                          <p:attrName>ppt_h</p:attrName>
                                        </p:attrNameLst>
                                      </p:cBhvr>
                                      <p:tavLst>
                                        <p:tav tm="0">
                                          <p:val>
                                            <p:strVal val="0"/>
                                          </p:val>
                                        </p:tav>
                                        <p:tav tm="100000">
                                          <p:val>
                                            <p:strVal val="#ppt_h"/>
                                          </p:val>
                                        </p:tav>
                                      </p:tavLst>
                                    </p:anim>
                                    <p:animEffect transition="in" filter="fade">
                                      <p:cBhvr>
                                        <p:cTn id="75" dur="600"/>
                                        <p:tgtEl>
                                          <p:spTgt spid="20"/>
                                        </p:tgtEl>
                                      </p:cBhvr>
                                    </p:animEffect>
                                  </p:childTnLst>
                                </p:cTn>
                              </p:par>
                              <p:par>
                                <p:cTn id="81" presetID="42" presetClass="entr" presetSubtype="0" fill="hold" grpId="0" nodeType="withEffect">
                                  <p:stCondLst>
                                    <p:cond delay="2800"/>
                                  </p:stCondLst>
                                  <p:childTnLst>
                                    <p:set>
                                      <p:cBhvr>
                                        <p:cTn id="77" dur="1" fill="hold">
                                          <p:stCondLst>
                                            <p:cond delay="0"/>
                                          </p:stCondLst>
                                        </p:cTn>
                                        <p:tgtEl>
                                          <p:spTgt spid="16"/>
                                        </p:tgtEl>
                                        <p:attrNameLst>
                                          <p:attrName>style.visibility</p:attrName>
                                        </p:attrNameLst>
                                      </p:cBhvr>
                                      <p:to>
                                        <p:strVal val="visible"/>
                                      </p:to>
                                    </p:set>
                                    <p:animEffect transition="in" filter="fade">
                                      <p:cBhvr>
                                        <p:cTn id="78" dur="600"/>
                                        <p:tgtEl>
                                          <p:spTgt spid="16"/>
                                        </p:tgtEl>
                                      </p:cBhvr>
                                    </p:animEffect>
                                    <p:anim calcmode="lin" valueType="num">
                                      <p:cBhvr additive="base">
                                        <p:cTn id="79" dur="600" fill="hold"/>
                                        <p:tgtEl>
                                          <p:spTgt spid="16"/>
                                        </p:tgtEl>
                                        <p:attrNameLst>
                                          <p:attrName>ppt_x</p:attrName>
                                        </p:attrNameLst>
                                      </p:cBhvr>
                                      <p:tavLst>
                                        <p:tav tm="0">
                                          <p:val>
                                            <p:strVal val="#ppt_x"/>
                                          </p:val>
                                        </p:tav>
                                        <p:tav tm="100000">
                                          <p:val>
                                            <p:strVal val="#ppt_x"/>
                                          </p:val>
                                        </p:tav>
                                      </p:tavLst>
                                    </p:anim>
                                    <p:anim calcmode="lin" valueType="num">
                                      <p:cBhvr additive="base">
                                        <p:cTn id="80" dur="600" fill="hold"/>
                                        <p:tgtEl>
                                          <p:spTgt spid="16"/>
                                        </p:tgtEl>
                                        <p:attrNameLst>
                                          <p:attrName>ppt_y</p:attrName>
                                        </p:attrNameLst>
                                      </p:cBhvr>
                                      <p:tavLst>
                                        <p:tav tm="0">
                                          <p:val>
                                            <p:strVal val="#ppt_y+.06"/>
                                          </p:val>
                                        </p:tav>
                                        <p:tav tm="100000">
                                          <p:val>
                                            <p:strVal val="#ppt_y"/>
                                          </p:val>
                                        </p:tav>
                                      </p:tavLst>
                                    </p:anim>
                                  </p:childTnLst>
                                </p:cTn>
                              </p:par>
                              <p:par>
                                <p:cTn id="86" presetID="42" presetClass="entr" presetSubtype="0" fill="hold" grpId="0" nodeType="withEffect">
                                  <p:stCondLst>
                                    <p:cond delay="2800"/>
                                  </p:stCondLst>
                                  <p:childTnLst>
                                    <p:set>
                                      <p:cBhvr>
                                        <p:cTn id="82" dur="1" fill="hold">
                                          <p:stCondLst>
                                            <p:cond delay="0"/>
                                          </p:stCondLst>
                                        </p:cTn>
                                        <p:tgtEl>
                                          <p:spTgt spid="17"/>
                                        </p:tgtEl>
                                        <p:attrNameLst>
                                          <p:attrName>style.visibility</p:attrName>
                                        </p:attrNameLst>
                                      </p:cBhvr>
                                      <p:to>
                                        <p:strVal val="visible"/>
                                      </p:to>
                                    </p:set>
                                    <p:animEffect transition="in" filter="fade">
                                      <p:cBhvr>
                                        <p:cTn id="83" dur="600"/>
                                        <p:tgtEl>
                                          <p:spTgt spid="17"/>
                                        </p:tgtEl>
                                      </p:cBhvr>
                                    </p:animEffect>
                                    <p:anim calcmode="lin" valueType="num">
                                      <p:cBhvr additive="base">
                                        <p:cTn id="84" dur="600" fill="hold"/>
                                        <p:tgtEl>
                                          <p:spTgt spid="17"/>
                                        </p:tgtEl>
                                        <p:attrNameLst>
                                          <p:attrName>ppt_x</p:attrName>
                                        </p:attrNameLst>
                                      </p:cBhvr>
                                      <p:tavLst>
                                        <p:tav tm="0">
                                          <p:val>
                                            <p:strVal val="#ppt_x"/>
                                          </p:val>
                                        </p:tav>
                                        <p:tav tm="100000">
                                          <p:val>
                                            <p:strVal val="#ppt_x"/>
                                          </p:val>
                                        </p:tav>
                                      </p:tavLst>
                                    </p:anim>
                                    <p:anim calcmode="lin" valueType="num">
                                      <p:cBhvr additive="base">
                                        <p:cTn id="85" dur="600" fill="hold"/>
                                        <p:tgtEl>
                                          <p:spTgt spid="17"/>
                                        </p:tgtEl>
                                        <p:attrNameLst>
                                          <p:attrName>ppt_y</p:attrName>
                                        </p:attrNameLst>
                                      </p:cBhvr>
                                      <p:tavLst>
                                        <p:tav tm="0">
                                          <p:val>
                                            <p:strVal val="#ppt_y+.06"/>
                                          </p:val>
                                        </p:tav>
                                        <p:tav tm="100000">
                                          <p:val>
                                            <p:strVal val="#ppt_y"/>
                                          </p:val>
                                        </p:tav>
                                      </p:tavLst>
                                    </p:anim>
                                  </p:childTnLst>
                                </p:cTn>
                              </p:par>
                              <p:par>
                                <p:cTn id="91" presetID="42" presetClass="entr" presetSubtype="0" fill="hold" grpId="0" nodeType="withEffect">
                                  <p:stCondLst>
                                    <p:cond delay="2800"/>
                                  </p:stCondLst>
                                  <p:childTnLst>
                                    <p:set>
                                      <p:cBhvr>
                                        <p:cTn id="87" dur="1" fill="hold">
                                          <p:stCondLst>
                                            <p:cond delay="0"/>
                                          </p:stCondLst>
                                        </p:cTn>
                                        <p:tgtEl>
                                          <p:spTgt spid="18"/>
                                        </p:tgtEl>
                                        <p:attrNameLst>
                                          <p:attrName>style.visibility</p:attrName>
                                        </p:attrNameLst>
                                      </p:cBhvr>
                                      <p:to>
                                        <p:strVal val="visible"/>
                                      </p:to>
                                    </p:set>
                                    <p:animEffect transition="in" filter="fade">
                                      <p:cBhvr>
                                        <p:cTn id="88" dur="600"/>
                                        <p:tgtEl>
                                          <p:spTgt spid="18"/>
                                        </p:tgtEl>
                                      </p:cBhvr>
                                    </p:animEffect>
                                    <p:anim calcmode="lin" valueType="num">
                                      <p:cBhvr additive="base">
                                        <p:cTn id="89" dur="600" fill="hold"/>
                                        <p:tgtEl>
                                          <p:spTgt spid="18"/>
                                        </p:tgtEl>
                                        <p:attrNameLst>
                                          <p:attrName>ppt_x</p:attrName>
                                        </p:attrNameLst>
                                      </p:cBhvr>
                                      <p:tavLst>
                                        <p:tav tm="0">
                                          <p:val>
                                            <p:strVal val="#ppt_x"/>
                                          </p:val>
                                        </p:tav>
                                        <p:tav tm="100000">
                                          <p:val>
                                            <p:strVal val="#ppt_x"/>
                                          </p:val>
                                        </p:tav>
                                      </p:tavLst>
                                    </p:anim>
                                    <p:anim calcmode="lin" valueType="num">
                                      <p:cBhvr additive="base">
                                        <p:cTn id="90" dur="600" fill="hold"/>
                                        <p:tgtEl>
                                          <p:spTgt spid="18"/>
                                        </p:tgtEl>
                                        <p:attrNameLst>
                                          <p:attrName>ppt_y</p:attrName>
                                        </p:attrNameLst>
                                      </p:cBhvr>
                                      <p:tavLst>
                                        <p:tav tm="0">
                                          <p:val>
                                            <p:strVal val="#ppt_y+.06"/>
                                          </p:val>
                                        </p:tav>
                                        <p:tav tm="100000">
                                          <p:val>
                                            <p:strVal val="#ppt_y"/>
                                          </p:val>
                                        </p:tav>
                                      </p:tavLst>
                                    </p:anim>
                                  </p:childTnLst>
                                </p:cTn>
                              </p:par>
                              <p:par>
                                <p:cTn id="96" presetID="42" presetClass="entr" presetSubtype="0" fill="hold" grpId="0" nodeType="withEffect">
                                  <p:stCondLst>
                                    <p:cond delay="3100"/>
                                  </p:stCondLst>
                                  <p:childTnLst>
                                    <p:set>
                                      <p:cBhvr>
                                        <p:cTn id="92" dur="1" fill="hold">
                                          <p:stCondLst>
                                            <p:cond delay="0"/>
                                          </p:stCondLst>
                                        </p:cTn>
                                        <p:tgtEl>
                                          <p:spTgt spid="19"/>
                                        </p:tgtEl>
                                        <p:attrNameLst>
                                          <p:attrName>style.visibility</p:attrName>
                                        </p:attrNameLst>
                                      </p:cBhvr>
                                      <p:to>
                                        <p:strVal val="visible"/>
                                      </p:to>
                                    </p:set>
                                    <p:animEffect transition="in" filter="fade">
                                      <p:cBhvr>
                                        <p:cTn id="93" dur="600"/>
                                        <p:tgtEl>
                                          <p:spTgt spid="19"/>
                                        </p:tgtEl>
                                      </p:cBhvr>
                                    </p:animEffect>
                                    <p:anim calcmode="lin" valueType="num">
                                      <p:cBhvr additive="base">
                                        <p:cTn id="94" dur="600" fill="hold"/>
                                        <p:tgtEl>
                                          <p:spTgt spid="19"/>
                                        </p:tgtEl>
                                        <p:attrNameLst>
                                          <p:attrName>ppt_x</p:attrName>
                                        </p:attrNameLst>
                                      </p:cBhvr>
                                      <p:tavLst>
                                        <p:tav tm="0">
                                          <p:val>
                                            <p:strVal val="#ppt_x"/>
                                          </p:val>
                                        </p:tav>
                                        <p:tav tm="100000">
                                          <p:val>
                                            <p:strVal val="#ppt_x"/>
                                          </p:val>
                                        </p:tav>
                                      </p:tavLst>
                                    </p:anim>
                                    <p:anim calcmode="lin" valueType="num">
                                      <p:cBhvr additive="base">
                                        <p:cTn id="95" dur="600" fill="hold"/>
                                        <p:tgtEl>
                                          <p:spTgt spid="19"/>
                                        </p:tgtEl>
                                        <p:attrNameLst>
                                          <p:attrName>ppt_y</p:attrName>
                                        </p:attrNameLst>
                                      </p:cBhvr>
                                      <p:tavLst>
                                        <p:tav tm="0">
                                          <p:val>
                                            <p:strVal val="#ppt_y+.06"/>
                                          </p:val>
                                        </p:tav>
                                        <p:tav tm="100000">
                                          <p:val>
                                            <p:strVal val="#ppt_y"/>
                                          </p:val>
                                        </p:tav>
                                      </p:tavLst>
                                    </p:anim>
                                  </p:childTnLst>
                                </p:cTn>
                              </p:par>
                              <p:par>
                                <p:cTn id="99" presetID="10" presetClass="entr" presetSubtype="0" fill="hold" grpId="0" nodeType="withEffect">
                                  <p:stCondLst>
                                    <p:cond delay="3200"/>
                                  </p:stCondLst>
                                  <p:childTnLst>
                                    <p:set>
                                      <p:cBhvr>
                                        <p:cTn id="97" dur="1" fill="hold">
                                          <p:stCondLst>
                                            <p:cond delay="0"/>
                                          </p:stCondLst>
                                        </p:cTn>
                                        <p:tgtEl>
                                          <p:spTgt spid="21"/>
                                        </p:tgtEl>
                                        <p:attrNameLst>
                                          <p:attrName>style.visibility</p:attrName>
                                        </p:attrNameLst>
                                      </p:cBhvr>
                                      <p:to>
                                        <p:strVal val="visible"/>
                                      </p:to>
                                    </p:set>
                                    <p:animEffect transition="in" filter="fade">
                                      <p:cBhvr>
                                        <p:cTn id="98" dur="500"/>
                                        <p:tgtEl>
                                          <p:spTgt spid="21"/>
                                        </p:tgtEl>
                                      </p:cBhvr>
                                    </p:animEffect>
                                  </p:childTnLst>
                                </p:cTn>
                              </p:par>
                              <p:par>
                                <p:cTn id="101" presetID="1" presetClass="entr" presetSubtype="0" fill="hold" grpId="0" nodeType="withEffect">
                                  <p:stCondLst>
                                    <p:cond delay="3400"/>
                                  </p:stCondLst>
                                  <p:iterate type="lt">
                                    <p:tmAbs val="28"/>
                                  </p:iterate>
                                  <p:childTnLst>
                                    <p:set>
                                      <p:cBhvr>
                                        <p:cTn id="100" dur="1" fill="hold">
                                          <p:stCondLst>
                                            <p:cond delay="0"/>
                                          </p:stCondLst>
                                        </p:cTn>
                                        <p:tgtEl>
                                          <p:spTgt spid="22"/>
                                        </p:tgtEl>
                                        <p:attrNameLst>
                                          <p:attrName>style.visibility</p:attrName>
                                        </p:attrNameLst>
                                      </p:cBhvr>
                                      <p:to>
                                        <p:strVal val="visible"/>
                                      </p:to>
                                    </p:set>
                                  </p:childTnLst>
                                </p:cTn>
                              </p:par>
                              <p:par>
                                <p:cTn id="106" presetID="53" presetClass="entr" presetSubtype="32" fill="hold" grpId="0" nodeType="withEffect">
                                  <p:stCondLst>
                                    <p:cond delay="6600"/>
                                  </p:stCondLst>
                                  <p:childTnLst>
                                    <p:set>
                                      <p:cBhvr>
                                        <p:cTn id="102" dur="1" fill="hold">
                                          <p:stCondLst>
                                            <p:cond delay="0"/>
                                          </p:stCondLst>
                                        </p:cTn>
                                        <p:tgtEl>
                                          <p:spTgt spid="23"/>
                                        </p:tgtEl>
                                        <p:attrNameLst>
                                          <p:attrName>style.visibility</p:attrName>
                                        </p:attrNameLst>
                                      </p:cBhvr>
                                      <p:to>
                                        <p:strVal val="visible"/>
                                      </p:to>
                                    </p:set>
                                    <p:anim calcmode="lin" valueType="num">
                                      <p:cBhvr additive="base">
                                        <p:cTn id="103" dur="450" fill="hold"/>
                                        <p:tgtEl>
                                          <p:spTgt spid="23"/>
                                        </p:tgtEl>
                                        <p:attrNameLst>
                                          <p:attrName>ppt_w</p:attrName>
                                        </p:attrNameLst>
                                      </p:cBhvr>
                                      <p:tavLst>
                                        <p:tav tm="0">
                                          <p:val>
                                            <p:strVal val="#ppt_w*2.4"/>
                                          </p:val>
                                        </p:tav>
                                        <p:tav tm="100000">
                                          <p:val>
                                            <p:strVal val="#ppt_w"/>
                                          </p:val>
                                        </p:tav>
                                      </p:tavLst>
                                    </p:anim>
                                    <p:anim calcmode="lin" valueType="num">
                                      <p:cBhvr additive="base">
                                        <p:cTn id="104" dur="450" fill="hold"/>
                                        <p:tgtEl>
                                          <p:spTgt spid="23"/>
                                        </p:tgtEl>
                                        <p:attrNameLst>
                                          <p:attrName>ppt_h</p:attrName>
                                        </p:attrNameLst>
                                      </p:cBhvr>
                                      <p:tavLst>
                                        <p:tav tm="0">
                                          <p:val>
                                            <p:strVal val="#ppt_h*2.4"/>
                                          </p:val>
                                        </p:tav>
                                        <p:tav tm="100000">
                                          <p:val>
                                            <p:strVal val="#ppt_h"/>
                                          </p:val>
                                        </p:tav>
                                      </p:tavLst>
                                    </p:anim>
                                    <p:animEffect transition="in" filter="fade">
                                      <p:cBhvr>
                                        <p:cTn id="105" dur="450"/>
                                        <p:tgtEl>
                                          <p:spTgt spid="23"/>
                                        </p:tgtEl>
                                      </p:cBhvr>
                                    </p:animEffect>
                                  </p:childTnLst>
                                </p:cTn>
                              </p:par>
                              <p:par>
                                <p:cTn id="108" presetID="6" presetClass="emph" presetSubtype="0" fill="hold" grpId="1" nodeType="withEffect" autoRev="1" repeatCount="indefinite">
                                  <p:stCondLst>
                                    <p:cond delay="7200"/>
                                  </p:stCondLst>
                                  <p:childTnLst>
                                    <p:animScale>
                                      <p:cBhvr>
                                        <p:cTn id="107" dur="900" fill="hold"/>
                                        <p:tgtEl>
                                          <p:spTgt spid="23"/>
                                        </p:tgtEl>
                                      </p:cBhvr>
                                      <p:by x="104000" y="104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2" grpId="1"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20" grpId="0" animBg="1"/>
      <p:bldP spid="16" grpId="0" animBg="1"/>
      <p:bldP spid="17" grpId="0" animBg="1"/>
      <p:bldP spid="18" grpId="0" animBg="1"/>
      <p:bldP spid="19" grpId="0" animBg="1"/>
      <p:bldP spid="21" grpId="0" animBg="1"/>
      <p:bldP spid="22" grpId="0" animBg="1"/>
      <p:bldP spid="23" grpId="0" animBg="1"/>
      <p:bldP spid="23" grpId="1"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rec dot"/>
          <p:cNvSpPr/>
          <p:nvPr/>
        </p:nvSpPr>
        <p:spPr>
          <a:xfrm>
            <a:off x="548640" y="384048"/>
            <a:ext cx="182880" cy="182880"/>
          </a:xfrm>
          <a:prstGeom prst="ellipse">
            <a:avLst/>
          </a:prstGeom>
          <a:solidFill>
            <a:srgbClr val="E5383B"/>
          </a:solidFill>
          <a:ln/>
        </p:spPr>
      </p:sp>
      <p:sp>
        <p:nvSpPr>
          <p:cNvPr id="3" name="Text 1"/>
          <p:cNvSpPr txBox="1"/>
          <p:nvPr/>
        </p:nvSpPr>
        <p:spPr>
          <a:xfrm>
            <a:off x="841248" y="329184"/>
            <a:ext cx="8229600" cy="292608"/>
          </a:xfrm>
          <a:prstGeom prst="rect">
            <a:avLst/>
          </a:prstGeom>
          <a:noFill/>
          <a:ln/>
        </p:spPr>
        <p:txBody>
          <a:bodyPr wrap="square" lIns="0" tIns="0" rIns="0" bIns="0" rtlCol="0" anchor="ctr"/>
          <a:lstStyle/>
          <a:p>
            <a:pPr indent="0" marL="0">
              <a:buNone/>
            </a:pPr>
            <a:r>
              <a:rPr lang="en-US" sz="1300" b="1" spc="200" kern="0" dirty="0">
                <a:solidFill>
                  <a:srgbClr val="D9D6CF"/>
                </a:solidFill>
                <a:latin typeface="Courier New" pitchFamily="34" charset="0"/>
                <a:ea typeface="Courier New" pitchFamily="34" charset="-122"/>
                <a:cs typeface="Courier New" pitchFamily="34" charset="-120"/>
              </a:rPr>
              <a:t>ACT I  ·  THE HUSTLE  ·  ▶ PLAYBACK</a:t>
            </a:r>
            <a:endParaRPr lang="en-US" sz="1300" dirty="0"/>
          </a:p>
        </p:txBody>
      </p:sp>
      <p:sp>
        <p:nvSpPr>
          <p:cNvPr id="4" name="cutscene act1"/>
          <p:cNvSpPr/>
          <p:nvPr/>
        </p:nvSpPr>
        <p:spPr>
          <a:xfrm>
            <a:off x="512064" y="832104"/>
            <a:ext cx="11167567" cy="5422392"/>
          </a:xfrm>
          <a:prstGeom prst="rect">
            <a:avLst/>
          </a:prstGeom>
          <a:solidFill>
            <a:srgbClr val="050506"/>
          </a:solidFill>
          <a:ln w="12700">
            <a:solidFill>
              <a:srgbClr val="33363D"/>
            </a:solidFill>
            <a:prstDash val="solid"/>
          </a:ln>
        </p:spPr>
      </p:sp>
      <p:pic>
        <p:nvPicPr>
          <p:cNvPr id="6" name="bg" descr="preencoded.png">    </p:cNvPr>
          <p:cNvPicPr>
            <a:picLocks noChangeAspect="1"/>
          </p:cNvPicPr>
          <p:nvPr/>
        </p:nvPicPr>
        <p:blipFill>
          <a:blip r:embed="rId1"/>
          <a:stretch>
            <a:fillRect/>
          </a:stretch>
        </p:blipFill>
        <p:spPr>
          <a:xfrm>
            <a:off x="548640" y="868680"/>
            <a:ext cx="11094415" cy="5349240"/>
          </a:xfrm>
          <a:prstGeom prst="rect">
            <a:avLst/>
          </a:prstGeom>
        </p:spPr>
      </p:pic>
      <p:pic>
        <p:nvPicPr>
          <p:cNvPr id="7" name="speed" descr="preencoded.png">    </p:cNvPr>
          <p:cNvPicPr>
            <a:picLocks noChangeAspect="1"/>
          </p:cNvPicPr>
          <p:nvPr/>
        </p:nvPicPr>
        <p:blipFill>
          <a:blip r:embed="rId2"/>
          <a:stretch>
            <a:fillRect/>
          </a:stretch>
        </p:blipFill>
        <p:spPr>
          <a:xfrm>
            <a:off x="548640" y="868680"/>
            <a:ext cx="11094415" cy="5349240"/>
          </a:xfrm>
          <a:prstGeom prst="rect">
            <a:avLst/>
          </a:prstGeom>
        </p:spPr>
      </p:pic>
      <p:pic>
        <p:nvPicPr>
          <p:cNvPr id="8" name="sheets" descr="sheets">    </p:cNvPr>
          <p:cNvPicPr>
            <a:picLocks noChangeAspect="1"/>
          </p:cNvPicPr>
          <p:nvPr/>
        </p:nvPicPr>
        <p:blipFill>
          <a:blip r:embed="rId3"/>
          <a:stretch>
            <a:fillRect/>
          </a:stretch>
        </p:blipFill>
        <p:spPr>
          <a:xfrm>
            <a:off x="4206240" y="2834640"/>
            <a:ext cx="2103120" cy="1527048"/>
          </a:xfrm>
          <a:prstGeom prst="rect">
            <a:avLst/>
          </a:prstGeom>
        </p:spPr>
      </p:pic>
      <p:sp>
        <p:nvSpPr>
          <p:cNvPr id="9" name="unsold"/>
          <p:cNvSpPr/>
          <p:nvPr/>
        </p:nvSpPr>
        <p:spPr>
          <a:xfrm>
            <a:off x="4069080" y="2377440"/>
            <a:ext cx="2377440" cy="365760"/>
          </a:xfrm>
          <a:prstGeom prst="roundRect">
            <a:avLst>
              <a:gd name="adj" fmla="val 15000"/>
            </a:avLst>
          </a:prstGeom>
          <a:solidFill>
            <a:srgbClr val="E5383B"/>
          </a:solidFill>
          <a:ln/>
        </p:spPr>
        <p:txBody>
          <a:bodyPr wrap="square" lIns="0" tIns="0" rIns="0" bIns="0" rtlCol="0" anchor="ctr"/>
          <a:lstStyle/>
          <a:p>
            <a:pPr algn="ctr" indent="0" marL="0">
              <a:buNone/>
            </a:pPr>
            <a:r>
              <a:rPr lang="en-US" sz="1400" b="1" dirty="0">
                <a:solidFill>
                  <a:srgbClr val="0D0D0F"/>
                </a:solidFill>
                <a:latin typeface="Courier New" pitchFamily="34" charset="0"/>
                <a:ea typeface="Courier New" pitchFamily="34" charset="-122"/>
                <a:cs typeface="Courier New" pitchFamily="34" charset="-120"/>
              </a:rPr>
              <a:t>UNSOLD · RETURNED</a:t>
            </a:r>
            <a:endParaRPr lang="en-US" sz="1400" dirty="0"/>
          </a:p>
        </p:txBody>
      </p:sp>
      <p:sp>
        <p:nvSpPr>
          <p:cNvPr id="10" name="thought"/>
          <p:cNvSpPr/>
          <p:nvPr/>
        </p:nvSpPr>
        <p:spPr>
          <a:xfrm>
            <a:off x="6309360" y="1143000"/>
            <a:ext cx="2651760" cy="1234440"/>
          </a:xfrm>
          <a:prstGeom prst="cloudCallout">
            <a:avLst/>
          </a:prstGeom>
          <a:solidFill>
            <a:srgbClr val="F4F1EA"/>
          </a:solidFill>
          <a:ln w="25400">
            <a:solidFill>
              <a:srgbClr val="0D0D0F"/>
            </a:solidFill>
          </a:ln>
        </p:spPr>
        <p:txBody>
          <a:bodyPr wrap="square" lIns="101600" tIns="101600" rIns="101600" bIns="101600" rtlCol="0" anchor="ctr"/>
          <a:lstStyle/>
          <a:p>
            <a:pPr algn="ctr" indent="0" marL="0">
              <a:buNone/>
            </a:pPr>
            <a:r>
              <a:rPr lang="en-US" sz="1500" b="1" dirty="0">
                <a:solidFill>
                  <a:srgbClr val="0D0D0F"/>
                </a:solidFill>
                <a:latin typeface="Calibri" pitchFamily="34" charset="0"/>
                <a:ea typeface="Calibri" pitchFamily="34" charset="-122"/>
                <a:cs typeface="Calibri" pitchFamily="34" charset="-120"/>
              </a:rPr>
              <a:t>A baby on the way… and no money.</a:t>
            </a:r>
            <a:endParaRPr lang="en-US" sz="1500" dirty="0"/>
          </a:p>
        </p:txBody>
      </p:sp>
      <p:pic>
        <p:nvPicPr>
          <p:cNvPr id="11" name="laptop" descr="laptop">    </p:cNvPr>
          <p:cNvPicPr>
            <a:picLocks noChangeAspect="1"/>
          </p:cNvPicPr>
          <p:nvPr/>
        </p:nvPicPr>
        <p:blipFill>
          <a:blip r:embed="rId4"/>
          <a:stretch>
            <a:fillRect/>
          </a:stretch>
        </p:blipFill>
        <p:spPr>
          <a:xfrm>
            <a:off x="4800600" y="1600200"/>
            <a:ext cx="2377440" cy="1618488"/>
          </a:xfrm>
          <a:prstGeom prst="rect">
            <a:avLst/>
          </a:prstGeom>
        </p:spPr>
      </p:pic>
      <p:sp>
        <p:nvSpPr>
          <p:cNvPr id="12" name="aey"/>
          <p:cNvSpPr/>
          <p:nvPr/>
        </p:nvSpPr>
        <p:spPr>
          <a:xfrm>
            <a:off x="4846320" y="3429000"/>
            <a:ext cx="2286000" cy="384048"/>
          </a:xfrm>
          <a:prstGeom prst="roundRect">
            <a:avLst>
              <a:gd name="adj" fmla="val 14286"/>
            </a:avLst>
          </a:prstGeom>
          <a:solidFill>
            <a:srgbClr val="FFD84D"/>
          </a:solidFill>
          <a:ln/>
        </p:spPr>
        <p:txBody>
          <a:bodyPr wrap="square" lIns="0" tIns="0" rIns="0" bIns="0" rtlCol="0" anchor="ctr"/>
          <a:lstStyle/>
          <a:p>
            <a:pPr algn="ctr" indent="0" marL="0">
              <a:buNone/>
            </a:pPr>
            <a:r>
              <a:rPr lang="en-US" sz="1400" b="1" dirty="0">
                <a:solidFill>
                  <a:srgbClr val="0D0D0F"/>
                </a:solidFill>
                <a:latin typeface="Courier New" pitchFamily="34" charset="0"/>
                <a:ea typeface="Courier New" pitchFamily="34" charset="-122"/>
                <a:cs typeface="Courier New" pitchFamily="34" charset="-120"/>
              </a:rPr>
              <a:t>AEY INC. · MIAMI</a:t>
            </a:r>
            <a:endParaRPr lang="en-US" sz="1400" dirty="0"/>
          </a:p>
        </p:txBody>
      </p:sp>
      <p:pic>
        <p:nvPicPr>
          <p:cNvPr id="13" name="map" descr="map">    </p:cNvPr>
          <p:cNvPicPr>
            <a:picLocks noChangeAspect="1"/>
          </p:cNvPicPr>
          <p:nvPr/>
        </p:nvPicPr>
        <p:blipFill>
          <a:blip r:embed="rId5"/>
          <a:stretch>
            <a:fillRect/>
          </a:stretch>
        </p:blipFill>
        <p:spPr>
          <a:xfrm>
            <a:off x="3886200" y="1097280"/>
            <a:ext cx="4206240" cy="2286000"/>
          </a:xfrm>
          <a:prstGeom prst="rect">
            <a:avLst/>
          </a:prstGeom>
        </p:spPr>
      </p:pic>
      <p:pic>
        <p:nvPicPr>
          <p:cNvPr id="14" name="plane" descr="plane">    </p:cNvPr>
          <p:cNvPicPr>
            <a:picLocks noChangeAspect="1"/>
          </p:cNvPicPr>
          <p:nvPr/>
        </p:nvPicPr>
        <p:blipFill>
          <a:blip r:embed="rId6"/>
          <a:stretch>
            <a:fillRect/>
          </a:stretch>
        </p:blipFill>
        <p:spPr>
          <a:xfrm>
            <a:off x="4480560" y="3337560"/>
            <a:ext cx="2377440" cy="914400"/>
          </a:xfrm>
          <a:prstGeom prst="rect">
            <a:avLst/>
          </a:prstGeom>
        </p:spPr>
      </p:pic>
      <p:pic>
        <p:nvPicPr>
          <p:cNvPr id="15" name="truck" descr="truck">    </p:cNvPr>
          <p:cNvPicPr>
            <a:picLocks noChangeAspect="1"/>
          </p:cNvPicPr>
          <p:nvPr/>
        </p:nvPicPr>
        <p:blipFill>
          <a:blip r:embed="rId7"/>
          <a:stretch>
            <a:fillRect/>
          </a:stretch>
        </p:blipFill>
        <p:spPr>
          <a:xfrm>
            <a:off x="3931920" y="2514600"/>
            <a:ext cx="4206240" cy="2011680"/>
          </a:xfrm>
          <a:prstGeom prst="rect">
            <a:avLst/>
          </a:prstGeom>
        </p:spPr>
      </p:pic>
      <p:pic>
        <p:nvPicPr>
          <p:cNvPr id="16" name="car" descr="car">    </p:cNvPr>
          <p:cNvPicPr>
            <a:picLocks noChangeAspect="1"/>
          </p:cNvPicPr>
          <p:nvPr/>
        </p:nvPicPr>
        <p:blipFill>
          <a:blip r:embed="rId8"/>
          <a:stretch>
            <a:fillRect/>
          </a:stretch>
        </p:blipFill>
        <p:spPr>
          <a:xfrm>
            <a:off x="4069080" y="2926080"/>
            <a:ext cx="3566160" cy="1444752"/>
          </a:xfrm>
          <a:prstGeom prst="rect">
            <a:avLst/>
          </a:prstGeom>
        </p:spPr>
      </p:pic>
      <p:pic>
        <p:nvPicPr>
          <p:cNvPr id="17" name="cash 0" descr="cash 0">    </p:cNvPr>
          <p:cNvPicPr>
            <a:picLocks noChangeAspect="1"/>
          </p:cNvPicPr>
          <p:nvPr/>
        </p:nvPicPr>
        <p:blipFill>
          <a:blip r:embed="rId9"/>
          <a:stretch>
            <a:fillRect/>
          </a:stretch>
        </p:blipFill>
        <p:spPr>
          <a:xfrm>
            <a:off x="4114800" y="1691640"/>
            <a:ext cx="1371600" cy="896112"/>
          </a:xfrm>
          <a:prstGeom prst="rect">
            <a:avLst/>
          </a:prstGeom>
        </p:spPr>
      </p:pic>
      <p:pic>
        <p:nvPicPr>
          <p:cNvPr id="18" name="cash 1" descr="cash 1">    </p:cNvPr>
          <p:cNvPicPr>
            <a:picLocks noChangeAspect="1"/>
          </p:cNvPicPr>
          <p:nvPr/>
        </p:nvPicPr>
        <p:blipFill>
          <a:blip r:embed="rId10"/>
          <a:stretch>
            <a:fillRect/>
          </a:stretch>
        </p:blipFill>
        <p:spPr>
          <a:xfrm>
            <a:off x="6309360" y="1691640"/>
            <a:ext cx="1371600" cy="896112"/>
          </a:xfrm>
          <a:prstGeom prst="rect">
            <a:avLst/>
          </a:prstGeom>
        </p:spPr>
      </p:pic>
      <p:pic>
        <p:nvPicPr>
          <p:cNvPr id="19" name="david worried" descr="david worried">    </p:cNvPr>
          <p:cNvPicPr>
            <a:picLocks noChangeAspect="1"/>
          </p:cNvPicPr>
          <p:nvPr/>
        </p:nvPicPr>
        <p:blipFill>
          <a:blip r:embed="rId11"/>
          <a:stretch>
            <a:fillRect/>
          </a:stretch>
        </p:blipFill>
        <p:spPr>
          <a:xfrm>
            <a:off x="685800" y="1645920"/>
            <a:ext cx="2902857" cy="4572000"/>
          </a:xfrm>
          <a:prstGeom prst="rect">
            <a:avLst/>
          </a:prstGeom>
        </p:spPr>
      </p:pic>
      <p:pic>
        <p:nvPicPr>
          <p:cNvPr id="20" name="david smile" descr="david smile">    </p:cNvPr>
          <p:cNvPicPr>
            <a:picLocks noChangeAspect="1"/>
          </p:cNvPicPr>
          <p:nvPr/>
        </p:nvPicPr>
        <p:blipFill>
          <a:blip r:embed="rId12"/>
          <a:stretch>
            <a:fillRect/>
          </a:stretch>
        </p:blipFill>
        <p:spPr>
          <a:xfrm>
            <a:off x="685800" y="1645920"/>
            <a:ext cx="2902857" cy="4572000"/>
          </a:xfrm>
          <a:prstGeom prst="rect">
            <a:avLst/>
          </a:prstGeom>
        </p:spPr>
      </p:pic>
      <p:pic>
        <p:nvPicPr>
          <p:cNvPr id="21" name="david suit" descr="david suit">    </p:cNvPr>
          <p:cNvPicPr>
            <a:picLocks noChangeAspect="1"/>
          </p:cNvPicPr>
          <p:nvPr/>
        </p:nvPicPr>
        <p:blipFill>
          <a:blip r:embed="rId13"/>
          <a:stretch>
            <a:fillRect/>
          </a:stretch>
        </p:blipFill>
        <p:spPr>
          <a:xfrm>
            <a:off x="685800" y="1645920"/>
            <a:ext cx="2902857" cy="4572000"/>
          </a:xfrm>
          <a:prstGeom prst="rect">
            <a:avLst/>
          </a:prstGeom>
        </p:spPr>
      </p:pic>
      <p:pic>
        <p:nvPicPr>
          <p:cNvPr id="22" name="david guilty" descr="david guilty">    </p:cNvPr>
          <p:cNvPicPr>
            <a:picLocks noChangeAspect="1"/>
          </p:cNvPicPr>
          <p:nvPr/>
        </p:nvPicPr>
        <p:blipFill>
          <a:blip r:embed="rId14"/>
          <a:stretch>
            <a:fillRect/>
          </a:stretch>
        </p:blipFill>
        <p:spPr>
          <a:xfrm>
            <a:off x="685800" y="1645920"/>
            <a:ext cx="2902857" cy="4572000"/>
          </a:xfrm>
          <a:prstGeom prst="rect">
            <a:avLst/>
          </a:prstGeom>
        </p:spPr>
      </p:pic>
      <p:pic>
        <p:nvPicPr>
          <p:cNvPr id="23" name="efraim smirk" descr="efraim smirk">    </p:cNvPr>
          <p:cNvPicPr>
            <a:picLocks noChangeAspect="1"/>
          </p:cNvPicPr>
          <p:nvPr/>
        </p:nvPicPr>
        <p:blipFill>
          <a:blip r:embed="rId15"/>
          <a:stretch>
            <a:fillRect/>
          </a:stretch>
        </p:blipFill>
        <p:spPr>
          <a:xfrm>
            <a:off x="8595360" y="1645920"/>
            <a:ext cx="2902857" cy="4572000"/>
          </a:xfrm>
          <a:prstGeom prst="rect">
            <a:avLst/>
          </a:prstGeom>
        </p:spPr>
      </p:pic>
      <p:pic>
        <p:nvPicPr>
          <p:cNvPr id="24" name="efraim grin" descr="efraim grin">    </p:cNvPr>
          <p:cNvPicPr>
            <a:picLocks noChangeAspect="1"/>
          </p:cNvPicPr>
          <p:nvPr/>
        </p:nvPicPr>
        <p:blipFill>
          <a:blip r:embed="rId16"/>
          <a:stretch>
            <a:fillRect/>
          </a:stretch>
        </p:blipFill>
        <p:spPr>
          <a:xfrm>
            <a:off x="8595360" y="1645920"/>
            <a:ext cx="2902857" cy="4572000"/>
          </a:xfrm>
          <a:prstGeom prst="rect">
            <a:avLst/>
          </a:prstGeom>
        </p:spPr>
      </p:pic>
      <p:pic>
        <p:nvPicPr>
          <p:cNvPr id="25" name="sweat" descr="sweat">    </p:cNvPr>
          <p:cNvPicPr>
            <a:picLocks noChangeAspect="1"/>
          </p:cNvPicPr>
          <p:nvPr/>
        </p:nvPicPr>
        <p:blipFill>
          <a:blip r:embed="rId17"/>
          <a:stretch>
            <a:fillRect/>
          </a:stretch>
        </p:blipFill>
        <p:spPr>
          <a:xfrm>
            <a:off x="2606040" y="2514600"/>
            <a:ext cx="310896" cy="457200"/>
          </a:xfrm>
          <a:prstGeom prst="rect">
            <a:avLst/>
          </a:prstGeom>
        </p:spPr>
      </p:pic>
      <p:pic>
        <p:nvPicPr>
          <p:cNvPr id="26" name="sweat2" descr="sweat2">    </p:cNvPr>
          <p:cNvPicPr>
            <a:picLocks noChangeAspect="1"/>
          </p:cNvPicPr>
          <p:nvPr/>
        </p:nvPicPr>
        <p:blipFill>
          <a:blip r:embed="rId18"/>
          <a:stretch>
            <a:fillRect/>
          </a:stretch>
        </p:blipFill>
        <p:spPr>
          <a:xfrm>
            <a:off x="2606040" y="2514600"/>
            <a:ext cx="310896" cy="457200"/>
          </a:xfrm>
          <a:prstGeom prst="rect">
            <a:avLst/>
          </a:prstGeom>
        </p:spPr>
      </p:pic>
      <p:pic>
        <p:nvPicPr>
          <p:cNvPr id="27" name="glint" descr="glint">    </p:cNvPr>
          <p:cNvPicPr>
            <a:picLocks noChangeAspect="1"/>
          </p:cNvPicPr>
          <p:nvPr/>
        </p:nvPicPr>
        <p:blipFill>
          <a:blip r:embed="rId19"/>
          <a:stretch>
            <a:fillRect/>
          </a:stretch>
        </p:blipFill>
        <p:spPr>
          <a:xfrm>
            <a:off x="9464040" y="2880360"/>
            <a:ext cx="502920" cy="502920"/>
          </a:xfrm>
          <a:prstGeom prst="rect">
            <a:avLst/>
          </a:prstGeom>
        </p:spPr>
      </p:pic>
      <p:pic>
        <p:nvPicPr>
          <p:cNvPr id="28" name="spark 0" descr="spark 0">    </p:cNvPr>
          <p:cNvPicPr>
            <a:picLocks noChangeAspect="1"/>
          </p:cNvPicPr>
          <p:nvPr/>
        </p:nvPicPr>
        <p:blipFill>
          <a:blip r:embed="rId20"/>
          <a:stretch>
            <a:fillRect/>
          </a:stretch>
        </p:blipFill>
        <p:spPr>
          <a:xfrm>
            <a:off x="3931920" y="1371600"/>
            <a:ext cx="411480" cy="411480"/>
          </a:xfrm>
          <a:prstGeom prst="rect">
            <a:avLst/>
          </a:prstGeom>
        </p:spPr>
      </p:pic>
      <p:pic>
        <p:nvPicPr>
          <p:cNvPr id="29" name="spark 1" descr="spark 1">    </p:cNvPr>
          <p:cNvPicPr>
            <a:picLocks noChangeAspect="1"/>
          </p:cNvPicPr>
          <p:nvPr/>
        </p:nvPicPr>
        <p:blipFill>
          <a:blip r:embed="rId21"/>
          <a:stretch>
            <a:fillRect/>
          </a:stretch>
        </p:blipFill>
        <p:spPr>
          <a:xfrm>
            <a:off x="7680960" y="1463040"/>
            <a:ext cx="457200" cy="457200"/>
          </a:xfrm>
          <a:prstGeom prst="rect">
            <a:avLst/>
          </a:prstGeom>
        </p:spPr>
      </p:pic>
      <p:pic>
        <p:nvPicPr>
          <p:cNvPr id="30" name="spark 2" descr="spark 2">    </p:cNvPr>
          <p:cNvPicPr>
            <a:picLocks noChangeAspect="1"/>
          </p:cNvPicPr>
          <p:nvPr/>
        </p:nvPicPr>
        <p:blipFill>
          <a:blip r:embed="rId22"/>
          <a:stretch>
            <a:fillRect/>
          </a:stretch>
        </p:blipFill>
        <p:spPr>
          <a:xfrm>
            <a:off x="5852160" y="2651760"/>
            <a:ext cx="320040" cy="320040"/>
          </a:xfrm>
          <a:prstGeom prst="rect">
            <a:avLst/>
          </a:prstGeom>
        </p:spPr>
      </p:pic>
      <p:sp>
        <p:nvSpPr>
          <p:cNvPr id="31" name="dialogue box"/>
          <p:cNvSpPr/>
          <p:nvPr/>
        </p:nvSpPr>
        <p:spPr>
          <a:xfrm>
            <a:off x="914400" y="4919472"/>
            <a:ext cx="10360152" cy="1143000"/>
          </a:xfrm>
          <a:prstGeom prst="roundRect">
            <a:avLst>
              <a:gd name="adj" fmla="val 6400"/>
            </a:avLst>
          </a:prstGeom>
          <a:solidFill>
            <a:srgbClr val="0B1020">
              <a:alpha val="88000"/>
            </a:srgbClr>
          </a:solidFill>
          <a:ln w="19050">
            <a:solidFill>
              <a:srgbClr val="FFD84D"/>
            </a:solidFill>
            <a:prstDash val="solid"/>
          </a:ln>
        </p:spPr>
      </p:sp>
      <p:pic>
        <p:nvPicPr>
          <p:cNvPr id="32" name="eyecatch" descr="preencoded.png">    </p:cNvPr>
          <p:cNvPicPr>
            <a:picLocks noChangeAspect="1"/>
          </p:cNvPicPr>
          <p:nvPr/>
        </p:nvPicPr>
        <p:blipFill>
          <a:blip r:embed="rId23"/>
          <a:stretch>
            <a:fillRect/>
          </a:stretch>
        </p:blipFill>
        <p:spPr>
          <a:xfrm>
            <a:off x="548640" y="868680"/>
            <a:ext cx="11094415" cy="5349240"/>
          </a:xfrm>
          <a:prstGeom prst="rect">
            <a:avLst/>
          </a:prstGeom>
        </p:spPr>
      </p:pic>
      <p:sp>
        <p:nvSpPr>
          <p:cNvPr id="33" name="chip 1"/>
          <p:cNvSpPr/>
          <p:nvPr/>
        </p:nvSpPr>
        <p:spPr>
          <a:xfrm>
            <a:off x="685800" y="978408"/>
            <a:ext cx="3108960" cy="365760"/>
          </a:xfrm>
          <a:prstGeom prst="roundRect">
            <a:avLst>
              <a:gd name="adj" fmla="val 12500"/>
            </a:avLst>
          </a:prstGeom>
          <a:solidFill>
            <a:srgbClr val="0D0D0F">
              <a:alpha val="85000"/>
            </a:srgbClr>
          </a:solidFill>
          <a:ln w="12700">
            <a:solidFill>
              <a:srgbClr val="FFD84D"/>
            </a:solidFill>
          </a:ln>
        </p:spPr>
        <p:txBody>
          <a:bodyPr wrap="square" lIns="0" tIns="0" rIns="0" bIns="0" rtlCol="0" anchor="ctr"/>
          <a:lstStyle/>
          <a:p>
            <a:pPr algn="ctr" indent="0" marL="0">
              <a:buNone/>
            </a:pPr>
            <a:r>
              <a:rPr lang="en-US" sz="1300" b="1" spc="200" kern="0" dirty="0">
                <a:solidFill>
                  <a:srgbClr val="FFD84D"/>
                </a:solidFill>
                <a:latin typeface="Courier New" pitchFamily="34" charset="0"/>
                <a:ea typeface="Courier New" pitchFamily="34" charset="-122"/>
                <a:cs typeface="Courier New" pitchFamily="34" charset="-120"/>
              </a:rPr>
              <a:t>SCENE 1 · MIAMI</a:t>
            </a:r>
            <a:endParaRPr lang="en-US" sz="1300" dirty="0"/>
          </a:p>
        </p:txBody>
      </p:sp>
      <p:sp>
        <p:nvSpPr>
          <p:cNvPr id="34" name="name 1"/>
          <p:cNvSpPr/>
          <p:nvPr/>
        </p:nvSpPr>
        <p:spPr>
          <a:xfrm>
            <a:off x="1188720" y="4681728"/>
            <a:ext cx="1737360" cy="384048"/>
          </a:xfrm>
          <a:prstGeom prst="roundRect">
            <a:avLst>
              <a:gd name="adj" fmla="val 14286"/>
            </a:avLst>
          </a:prstGeom>
          <a:solidFill>
            <a:srgbClr val="FFD84D"/>
          </a:solidFill>
          <a:ln/>
        </p:spPr>
        <p:txBody>
          <a:bodyPr wrap="square" lIns="0" tIns="0" rIns="0" bIns="0" rtlCol="0" anchor="ctr"/>
          <a:lstStyle/>
          <a:p>
            <a:pPr algn="ctr" indent="0" marL="0">
              <a:buNone/>
            </a:pPr>
            <a:r>
              <a:rPr lang="en-US" sz="1300" b="1" spc="200" kern="0" dirty="0">
                <a:solidFill>
                  <a:srgbClr val="0D0D0F"/>
                </a:solidFill>
                <a:latin typeface="Courier New" pitchFamily="34" charset="0"/>
                <a:ea typeface="Courier New" pitchFamily="34" charset="-122"/>
                <a:cs typeface="Courier New" pitchFamily="34" charset="-120"/>
              </a:rPr>
              <a:t>DAVID</a:t>
            </a:r>
            <a:endParaRPr lang="en-US" sz="1300" dirty="0"/>
          </a:p>
        </p:txBody>
      </p:sp>
      <p:sp>
        <p:nvSpPr>
          <p:cNvPr id="35" name="line 1"/>
          <p:cNvSpPr txBox="1"/>
          <p:nvPr/>
        </p:nvSpPr>
        <p:spPr>
          <a:xfrm>
            <a:off x="1234440" y="5102352"/>
            <a:ext cx="9738360" cy="868680"/>
          </a:xfrm>
          <a:prstGeom prst="rect">
            <a:avLst/>
          </a:prstGeom>
          <a:noFill/>
          <a:ln/>
        </p:spPr>
        <p:txBody>
          <a:bodyPr wrap="square" lIns="0" tIns="0" rIns="0" bIns="0" rtlCol="0" anchor="t"/>
          <a:lstStyle/>
          <a:p>
            <a:pPr indent="0" marL="0">
              <a:buNone/>
            </a:pPr>
            <a:r>
              <a:rPr lang="en-US" sz="1800" dirty="0">
                <a:solidFill>
                  <a:srgbClr val="F3F1EC"/>
                </a:solidFill>
              </a:rPr>
              <a:t>My bedsheet business flopped… and we have a baby on the way.</a:t>
            </a:r>
            <a:endParaRPr lang="en-US" sz="1800" dirty="0"/>
          </a:p>
        </p:txBody>
      </p:sp>
      <p:sp>
        <p:nvSpPr>
          <p:cNvPr id="36" name="chip 2"/>
          <p:cNvSpPr/>
          <p:nvPr/>
        </p:nvSpPr>
        <p:spPr>
          <a:xfrm>
            <a:off x="685800" y="978408"/>
            <a:ext cx="3108960" cy="365760"/>
          </a:xfrm>
          <a:prstGeom prst="roundRect">
            <a:avLst>
              <a:gd name="adj" fmla="val 12500"/>
            </a:avLst>
          </a:prstGeom>
          <a:solidFill>
            <a:srgbClr val="0D0D0F">
              <a:alpha val="85000"/>
            </a:srgbClr>
          </a:solidFill>
          <a:ln w="12700">
            <a:solidFill>
              <a:srgbClr val="FFD84D"/>
            </a:solidFill>
          </a:ln>
        </p:spPr>
        <p:txBody>
          <a:bodyPr wrap="square" lIns="0" tIns="0" rIns="0" bIns="0" rtlCol="0" anchor="ctr"/>
          <a:lstStyle/>
          <a:p>
            <a:pPr algn="ctr" indent="0" marL="0">
              <a:buNone/>
            </a:pPr>
            <a:r>
              <a:rPr lang="en-US" sz="1300" b="1" spc="200" kern="0" dirty="0">
                <a:solidFill>
                  <a:srgbClr val="FFD84D"/>
                </a:solidFill>
                <a:latin typeface="Courier New" pitchFamily="34" charset="0"/>
                <a:ea typeface="Courier New" pitchFamily="34" charset="-122"/>
                <a:cs typeface="Courier New" pitchFamily="34" charset="-120"/>
              </a:rPr>
              <a:t>SCENE 2 · AEY INC.</a:t>
            </a:r>
            <a:endParaRPr lang="en-US" sz="1300" dirty="0"/>
          </a:p>
        </p:txBody>
      </p:sp>
      <p:sp>
        <p:nvSpPr>
          <p:cNvPr id="37" name="name 2"/>
          <p:cNvSpPr/>
          <p:nvPr/>
        </p:nvSpPr>
        <p:spPr>
          <a:xfrm>
            <a:off x="1188720" y="4681728"/>
            <a:ext cx="1737360" cy="384048"/>
          </a:xfrm>
          <a:prstGeom prst="roundRect">
            <a:avLst>
              <a:gd name="adj" fmla="val 14286"/>
            </a:avLst>
          </a:prstGeom>
          <a:solidFill>
            <a:srgbClr val="FFD84D"/>
          </a:solidFill>
          <a:ln/>
        </p:spPr>
        <p:txBody>
          <a:bodyPr wrap="square" lIns="0" tIns="0" rIns="0" bIns="0" rtlCol="0" anchor="ctr"/>
          <a:lstStyle/>
          <a:p>
            <a:pPr algn="ctr" indent="0" marL="0">
              <a:buNone/>
            </a:pPr>
            <a:r>
              <a:rPr lang="en-US" sz="1300" b="1" spc="200" kern="0" dirty="0">
                <a:solidFill>
                  <a:srgbClr val="0D0D0F"/>
                </a:solidFill>
                <a:latin typeface="Courier New" pitchFamily="34" charset="0"/>
                <a:ea typeface="Courier New" pitchFamily="34" charset="-122"/>
                <a:cs typeface="Courier New" pitchFamily="34" charset="-120"/>
              </a:rPr>
              <a:t>EFRAIM</a:t>
            </a:r>
            <a:endParaRPr lang="en-US" sz="1300" dirty="0"/>
          </a:p>
        </p:txBody>
      </p:sp>
      <p:sp>
        <p:nvSpPr>
          <p:cNvPr id="38" name="line 2"/>
          <p:cNvSpPr txBox="1"/>
          <p:nvPr/>
        </p:nvSpPr>
        <p:spPr>
          <a:xfrm>
            <a:off x="1234440" y="5102352"/>
            <a:ext cx="9738360" cy="868680"/>
          </a:xfrm>
          <a:prstGeom prst="rect">
            <a:avLst/>
          </a:prstGeom>
          <a:noFill/>
          <a:ln/>
        </p:spPr>
        <p:txBody>
          <a:bodyPr wrap="square" lIns="0" tIns="0" rIns="0" bIns="0" rtlCol="0" anchor="t"/>
          <a:lstStyle/>
          <a:p>
            <a:pPr indent="0" marL="0">
              <a:buNone/>
            </a:pPr>
            <a:r>
              <a:rPr lang="en-US" sz="1800" dirty="0">
                <a:solidFill>
                  <a:srgbClr val="F3F1EC"/>
                </a:solidFill>
              </a:rPr>
              <a:t>The Pentagon posts its “crumbs” online. Small contracts the big firms ignore. Join me.</a:t>
            </a:r>
            <a:endParaRPr lang="en-US" sz="1800" dirty="0"/>
          </a:p>
        </p:txBody>
      </p:sp>
      <p:sp>
        <p:nvSpPr>
          <p:cNvPr id="39" name="chip 3"/>
          <p:cNvSpPr/>
          <p:nvPr/>
        </p:nvSpPr>
        <p:spPr>
          <a:xfrm>
            <a:off x="685800" y="978408"/>
            <a:ext cx="3108960" cy="365760"/>
          </a:xfrm>
          <a:prstGeom prst="roundRect">
            <a:avLst>
              <a:gd name="adj" fmla="val 12500"/>
            </a:avLst>
          </a:prstGeom>
          <a:solidFill>
            <a:srgbClr val="0D0D0F">
              <a:alpha val="85000"/>
            </a:srgbClr>
          </a:solidFill>
          <a:ln w="12700">
            <a:solidFill>
              <a:srgbClr val="FFD84D"/>
            </a:solidFill>
          </a:ln>
        </p:spPr>
        <p:txBody>
          <a:bodyPr wrap="square" lIns="0" tIns="0" rIns="0" bIns="0" rtlCol="0" anchor="ctr"/>
          <a:lstStyle/>
          <a:p>
            <a:pPr algn="ctr" indent="0" marL="0">
              <a:buNone/>
            </a:pPr>
            <a:r>
              <a:rPr lang="en-US" sz="1300" b="1" spc="200" kern="0" dirty="0">
                <a:solidFill>
                  <a:srgbClr val="FFD84D"/>
                </a:solidFill>
                <a:latin typeface="Courier New" pitchFamily="34" charset="0"/>
                <a:ea typeface="Courier New" pitchFamily="34" charset="-122"/>
                <a:cs typeface="Courier New" pitchFamily="34" charset="-120"/>
              </a:rPr>
              <a:t>SCENE 3 · JORDAN → IRAQ</a:t>
            </a:r>
            <a:endParaRPr lang="en-US" sz="1300" dirty="0"/>
          </a:p>
        </p:txBody>
      </p:sp>
      <p:sp>
        <p:nvSpPr>
          <p:cNvPr id="40" name="name 3"/>
          <p:cNvSpPr/>
          <p:nvPr/>
        </p:nvSpPr>
        <p:spPr>
          <a:xfrm>
            <a:off x="1188720" y="4681728"/>
            <a:ext cx="1737360" cy="384048"/>
          </a:xfrm>
          <a:prstGeom prst="roundRect">
            <a:avLst>
              <a:gd name="adj" fmla="val 14286"/>
            </a:avLst>
          </a:prstGeom>
          <a:solidFill>
            <a:srgbClr val="D9D6CF"/>
          </a:solidFill>
          <a:ln/>
        </p:spPr>
        <p:txBody>
          <a:bodyPr wrap="square" lIns="0" tIns="0" rIns="0" bIns="0" rtlCol="0" anchor="ctr"/>
          <a:lstStyle/>
          <a:p>
            <a:pPr algn="ctr" indent="0" marL="0">
              <a:buNone/>
            </a:pPr>
            <a:r>
              <a:rPr lang="en-US" sz="1300" b="1" spc="200" kern="0" dirty="0">
                <a:solidFill>
                  <a:srgbClr val="0D0D0F"/>
                </a:solidFill>
                <a:latin typeface="Courier New" pitchFamily="34" charset="0"/>
                <a:ea typeface="Courier New" pitchFamily="34" charset="-122"/>
                <a:cs typeface="Courier New" pitchFamily="34" charset="-120"/>
              </a:rPr>
              <a:t>NARRATOR</a:t>
            </a:r>
            <a:endParaRPr lang="en-US" sz="1300" dirty="0"/>
          </a:p>
        </p:txBody>
      </p:sp>
      <p:sp>
        <p:nvSpPr>
          <p:cNvPr id="41" name="line 3"/>
          <p:cNvSpPr txBox="1"/>
          <p:nvPr/>
        </p:nvSpPr>
        <p:spPr>
          <a:xfrm>
            <a:off x="1234440" y="5102352"/>
            <a:ext cx="9738360" cy="868680"/>
          </a:xfrm>
          <a:prstGeom prst="rect">
            <a:avLst/>
          </a:prstGeom>
          <a:noFill/>
          <a:ln/>
        </p:spPr>
        <p:txBody>
          <a:bodyPr wrap="square" lIns="0" tIns="0" rIns="0" bIns="0" rtlCol="0" anchor="t"/>
          <a:lstStyle/>
          <a:p>
            <a:pPr indent="0" marL="0">
              <a:buNone/>
            </a:pPr>
            <a:r>
              <a:rPr lang="en-US" sz="1800" i="1" dirty="0">
                <a:solidFill>
                  <a:srgbClr val="F3F1EC"/>
                </a:solidFill>
              </a:rPr>
              <a:t>Pistols stuck in Jordan. They fly out, hire local fixers and drive the shipment into Iraq.</a:t>
            </a:r>
            <a:endParaRPr lang="en-US" sz="1800" dirty="0"/>
          </a:p>
        </p:txBody>
      </p:sp>
      <p:pic>
        <p:nvPicPr>
          <p:cNvPr id="42" name="flash 1" descr="preencoded.png">    </p:cNvPr>
          <p:cNvPicPr>
            <a:picLocks noChangeAspect="1"/>
          </p:cNvPicPr>
          <p:nvPr/>
        </p:nvPicPr>
        <p:blipFill>
          <a:blip r:embed="rId24"/>
          <a:stretch>
            <a:fillRect/>
          </a:stretch>
        </p:blipFill>
        <p:spPr>
          <a:xfrm>
            <a:off x="548640" y="868680"/>
            <a:ext cx="11094415" cy="5349240"/>
          </a:xfrm>
          <a:prstGeom prst="rect">
            <a:avLst/>
          </a:prstGeom>
        </p:spPr>
      </p:pic>
      <p:sp>
        <p:nvSpPr>
          <p:cNvPr id="43" name="chip 4"/>
          <p:cNvSpPr/>
          <p:nvPr/>
        </p:nvSpPr>
        <p:spPr>
          <a:xfrm>
            <a:off x="685800" y="978408"/>
            <a:ext cx="3108960" cy="365760"/>
          </a:xfrm>
          <a:prstGeom prst="roundRect">
            <a:avLst>
              <a:gd name="adj" fmla="val 12500"/>
            </a:avLst>
          </a:prstGeom>
          <a:solidFill>
            <a:srgbClr val="0D0D0F">
              <a:alpha val="85000"/>
            </a:srgbClr>
          </a:solidFill>
          <a:ln w="12700">
            <a:solidFill>
              <a:srgbClr val="FFD84D"/>
            </a:solidFill>
          </a:ln>
        </p:spPr>
        <p:txBody>
          <a:bodyPr wrap="square" lIns="0" tIns="0" rIns="0" bIns="0" rtlCol="0" anchor="ctr"/>
          <a:lstStyle/>
          <a:p>
            <a:pPr algn="ctr" indent="0" marL="0">
              <a:buNone/>
            </a:pPr>
            <a:r>
              <a:rPr lang="en-US" sz="1300" b="1" spc="200" kern="0" dirty="0">
                <a:solidFill>
                  <a:srgbClr val="FFD84D"/>
                </a:solidFill>
                <a:latin typeface="Courier New" pitchFamily="34" charset="0"/>
                <a:ea typeface="Courier New" pitchFamily="34" charset="-122"/>
                <a:cs typeface="Courier New" pitchFamily="34" charset="-120"/>
              </a:rPr>
              <a:t>SCENE 4 · HIGH LIFE</a:t>
            </a:r>
            <a:endParaRPr lang="en-US" sz="1300" dirty="0"/>
          </a:p>
        </p:txBody>
      </p:sp>
      <p:sp>
        <p:nvSpPr>
          <p:cNvPr id="44" name="name 4"/>
          <p:cNvSpPr/>
          <p:nvPr/>
        </p:nvSpPr>
        <p:spPr>
          <a:xfrm>
            <a:off x="1188720" y="4681728"/>
            <a:ext cx="1737360" cy="384048"/>
          </a:xfrm>
          <a:prstGeom prst="roundRect">
            <a:avLst>
              <a:gd name="adj" fmla="val 14286"/>
            </a:avLst>
          </a:prstGeom>
          <a:solidFill>
            <a:srgbClr val="FFD84D"/>
          </a:solidFill>
          <a:ln/>
        </p:spPr>
        <p:txBody>
          <a:bodyPr wrap="square" lIns="0" tIns="0" rIns="0" bIns="0" rtlCol="0" anchor="ctr"/>
          <a:lstStyle/>
          <a:p>
            <a:pPr algn="ctr" indent="0" marL="0">
              <a:buNone/>
            </a:pPr>
            <a:r>
              <a:rPr lang="en-US" sz="1300" b="1" spc="200" kern="0" dirty="0">
                <a:solidFill>
                  <a:srgbClr val="0D0D0F"/>
                </a:solidFill>
                <a:latin typeface="Courier New" pitchFamily="34" charset="0"/>
                <a:ea typeface="Courier New" pitchFamily="34" charset="-122"/>
                <a:cs typeface="Courier New" pitchFamily="34" charset="-120"/>
              </a:rPr>
              <a:t>EFRAIM</a:t>
            </a:r>
            <a:endParaRPr lang="en-US" sz="1300" dirty="0"/>
          </a:p>
        </p:txBody>
      </p:sp>
      <p:sp>
        <p:nvSpPr>
          <p:cNvPr id="45" name="line 4"/>
          <p:cNvSpPr txBox="1"/>
          <p:nvPr/>
        </p:nvSpPr>
        <p:spPr>
          <a:xfrm>
            <a:off x="1234440" y="5102352"/>
            <a:ext cx="9738360" cy="868680"/>
          </a:xfrm>
          <a:prstGeom prst="rect">
            <a:avLst/>
          </a:prstGeom>
          <a:noFill/>
          <a:ln/>
        </p:spPr>
        <p:txBody>
          <a:bodyPr wrap="square" lIns="0" tIns="0" rIns="0" bIns="0" rtlCol="0" anchor="t"/>
          <a:lstStyle/>
          <a:p>
            <a:pPr indent="0" marL="0">
              <a:buNone/>
            </a:pPr>
            <a:r>
              <a:rPr lang="en-US" sz="1800" dirty="0">
                <a:solidFill>
                  <a:srgbClr val="F3F1EC"/>
                </a:solidFill>
              </a:rPr>
              <a:t>New office, new cars. Welcome to the arms business, bro.</a:t>
            </a:r>
            <a:endParaRPr lang="en-US" sz="1800" dirty="0"/>
          </a:p>
        </p:txBody>
      </p:sp>
      <p:sp>
        <p:nvSpPr>
          <p:cNvPr id="46" name="name 5"/>
          <p:cNvSpPr/>
          <p:nvPr/>
        </p:nvSpPr>
        <p:spPr>
          <a:xfrm>
            <a:off x="1188720" y="4681728"/>
            <a:ext cx="1737360" cy="384048"/>
          </a:xfrm>
          <a:prstGeom prst="roundRect">
            <a:avLst>
              <a:gd name="adj" fmla="val 14286"/>
            </a:avLst>
          </a:prstGeom>
          <a:solidFill>
            <a:srgbClr val="FFD84D"/>
          </a:solidFill>
          <a:ln/>
        </p:spPr>
        <p:txBody>
          <a:bodyPr wrap="square" lIns="0" tIns="0" rIns="0" bIns="0" rtlCol="0" anchor="ctr"/>
          <a:lstStyle/>
          <a:p>
            <a:pPr algn="ctr" indent="0" marL="0">
              <a:buNone/>
            </a:pPr>
            <a:r>
              <a:rPr lang="en-US" sz="1300" b="1" spc="200" kern="0" dirty="0">
                <a:solidFill>
                  <a:srgbClr val="0D0D0F"/>
                </a:solidFill>
                <a:latin typeface="Courier New" pitchFamily="34" charset="0"/>
                <a:ea typeface="Courier New" pitchFamily="34" charset="-122"/>
                <a:cs typeface="Courier New" pitchFamily="34" charset="-120"/>
              </a:rPr>
              <a:t>DAVID</a:t>
            </a:r>
            <a:endParaRPr lang="en-US" sz="1300" dirty="0"/>
          </a:p>
        </p:txBody>
      </p:sp>
      <p:sp>
        <p:nvSpPr>
          <p:cNvPr id="47" name="line 5"/>
          <p:cNvSpPr txBox="1"/>
          <p:nvPr/>
        </p:nvSpPr>
        <p:spPr>
          <a:xfrm>
            <a:off x="1234440" y="5102352"/>
            <a:ext cx="9738360" cy="868680"/>
          </a:xfrm>
          <a:prstGeom prst="rect">
            <a:avLst/>
          </a:prstGeom>
          <a:noFill/>
          <a:ln/>
        </p:spPr>
        <p:txBody>
          <a:bodyPr wrap="square" lIns="0" tIns="0" rIns="0" bIns="0" rtlCol="0" anchor="t"/>
          <a:lstStyle/>
          <a:p>
            <a:pPr indent="0" marL="0">
              <a:buNone/>
            </a:pPr>
            <a:r>
              <a:rPr lang="en-US" sz="1800" dirty="0">
                <a:solidFill>
                  <a:srgbClr val="F3F1EC"/>
                </a:solidFill>
              </a:rPr>
              <a:t>(to himself) …and I can’t tell Iz what we really sell.</a:t>
            </a:r>
            <a:endParaRPr lang="en-US" sz="1800" dirty="0"/>
          </a:p>
        </p:txBody>
      </p:sp>
      <p:sp>
        <p:nvSpPr>
          <p:cNvPr id="48" name="quote"/>
          <p:cNvSpPr/>
          <p:nvPr/>
        </p:nvSpPr>
        <p:spPr>
          <a:xfrm>
            <a:off x="548640" y="960120"/>
            <a:ext cx="11094415" cy="548640"/>
          </a:xfrm>
          <a:prstGeom prst="rect">
            <a:avLst/>
          </a:prstGeom>
          <a:solidFill>
            <a:srgbClr val="000000">
              <a:alpha val="70000"/>
            </a:srgbClr>
          </a:solidFill>
          <a:ln/>
        </p:spPr>
        <p:txBody>
          <a:bodyPr wrap="square" lIns="0" tIns="0" rIns="0" bIns="0" rtlCol="0" anchor="ctr"/>
          <a:lstStyle/>
          <a:p>
            <a:pPr algn="ctr" indent="0" marL="0">
              <a:buNone/>
            </a:pPr>
            <a:r>
              <a:rPr lang="en-US" sz="2000" b="1" i="1" dirty="0">
                <a:solidFill>
                  <a:srgbClr val="FFD84D"/>
                </a:solidFill>
              </a:rPr>
              <a:t>“They don’t fight the war. They just sell to it.”</a:t>
            </a:r>
            <a:endParaRPr lang="en-US" sz="2000" dirty="0"/>
          </a:p>
        </p:txBody>
      </p:sp>
    </p:spTree>
  </p:cSld>
  <p:clrMapOvr>
    <a:masterClrMapping/>
  </p:clrMapOvr>
  <p:transition spd="slow">
    <p:fade thruBlk="1"/>
  </p:transition>
  <p:timing>
    <p:tnLst>
      <p:par>
        <p:cTn id="1" dur="indefinite" restart="never" nodeType="tmRoot">
          <p:childTnLst>
            <p:seq concurrent="1" nextAc="seek">
              <p:cTn id="2" dur="indefinite" nodeType="mainSeq">
                <p:childTnLst>
                  <p:par>
                    <p:cTn id="289" fill="hold">
                      <p:stCondLst>
                        <p:cond delay="indefinite"/>
                        <p:cond evt="onBegin" delay="0">
                          <p:tn val="2"/>
                        </p:cond>
                      </p:stCondLst>
                      <p:childTnLst>
                        <p:par>
                          <p:cTn id="290" fill="hold">
                            <p:stCondLst>
                              <p:cond delay="0"/>
                            </p:stCondLst>
                            <p:childTnLst>
                              <p:par>
                                <p:cTn id="7" presetID="53" presetClass="entr" presetSubtype="16" fill="hold" grpId="0" nodeType="afterEffect">
                                  <p:stCondLst>
                                    <p:cond delay="0"/>
                                  </p:stCondLst>
                                  <p:childTnLst>
                                    <p:set>
                                      <p:cBhvr>
                                        <p:cTn id="3" dur="1" fill="hold">
                                          <p:stCondLst>
                                            <p:cond delay="0"/>
                                          </p:stCondLst>
                                        </p:cTn>
                                        <p:tgtEl>
                                          <p:spTgt spid="2"/>
                                        </p:tgtEl>
                                        <p:attrNameLst>
                                          <p:attrName>style.visibility</p:attrName>
                                        </p:attrNameLst>
                                      </p:cBhvr>
                                      <p:to>
                                        <p:strVal val="visible"/>
                                      </p:to>
                                    </p:set>
                                    <p:anim calcmode="lin" valueType="num">
                                      <p:cBhvr additive="base">
                                        <p:cTn id="4" dur="400" fill="hold"/>
                                        <p:tgtEl>
                                          <p:spTgt spid="2"/>
                                        </p:tgtEl>
                                        <p:attrNameLst>
                                          <p:attrName>ppt_w</p:attrName>
                                        </p:attrNameLst>
                                      </p:cBhvr>
                                      <p:tavLst>
                                        <p:tav tm="0">
                                          <p:val>
                                            <p:strVal val="0"/>
                                          </p:val>
                                        </p:tav>
                                        <p:tav tm="100000">
                                          <p:val>
                                            <p:strVal val="#ppt_w"/>
                                          </p:val>
                                        </p:tav>
                                      </p:tavLst>
                                    </p:anim>
                                    <p:anim calcmode="lin" valueType="num">
                                      <p:cBhvr additive="base">
                                        <p:cTn id="5" dur="400" fill="hold"/>
                                        <p:tgtEl>
                                          <p:spTgt spid="2"/>
                                        </p:tgtEl>
                                        <p:attrNameLst>
                                          <p:attrName>ppt_h</p:attrName>
                                        </p:attrNameLst>
                                      </p:cBhvr>
                                      <p:tavLst>
                                        <p:tav tm="0">
                                          <p:val>
                                            <p:strVal val="0"/>
                                          </p:val>
                                        </p:tav>
                                        <p:tav tm="100000">
                                          <p:val>
                                            <p:strVal val="#ppt_h"/>
                                          </p:val>
                                        </p:tav>
                                      </p:tavLst>
                                    </p:anim>
                                    <p:animEffect transition="in" filter="fade">
                                      <p:cBhvr>
                                        <p:cTn id="6" dur="400"/>
                                        <p:tgtEl>
                                          <p:spTgt spid="2"/>
                                        </p:tgtEl>
                                      </p:cBhvr>
                                    </p:animEffect>
                                  </p:childTnLst>
                                </p:cTn>
                              </p:par>
                              <p:par>
                                <p:cTn id="12" presetID="42" presetClass="entr" presetSubtype="0" fill="hold" grpId="0" nodeType="withEffect">
                                  <p:stCondLst>
                                    <p:cond delay="0"/>
                                  </p:stCondLst>
                                  <p:childTnLst>
                                    <p:set>
                                      <p:cBhvr>
                                        <p:cTn id="8" dur="1" fill="hold">
                                          <p:stCondLst>
                                            <p:cond delay="0"/>
                                          </p:stCondLst>
                                        </p:cTn>
                                        <p:tgtEl>
                                          <p:spTgt spid="32"/>
                                        </p:tgtEl>
                                        <p:attrNameLst>
                                          <p:attrName>style.visibility</p:attrName>
                                        </p:attrNameLst>
                                      </p:cBhvr>
                                      <p:to>
                                        <p:strVal val="visible"/>
                                      </p:to>
                                    </p:set>
                                    <p:animEffect transition="in" filter="fade">
                                      <p:cBhvr>
                                        <p:cTn id="9" dur="350"/>
                                        <p:tgtEl>
                                          <p:spTgt spid="32"/>
                                        </p:tgtEl>
                                      </p:cBhvr>
                                    </p:animEffect>
                                    <p:anim calcmode="lin" valueType="num">
                                      <p:cBhvr additive="base">
                                        <p:cTn id="10" dur="350" fill="hold"/>
                                        <p:tgtEl>
                                          <p:spTgt spid="32"/>
                                        </p:tgtEl>
                                        <p:attrNameLst>
                                          <p:attrName>ppt_x</p:attrName>
                                        </p:attrNameLst>
                                      </p:cBhvr>
                                      <p:tavLst>
                                        <p:tav tm="0">
                                          <p:val>
                                            <p:strVal val="#ppt_x-.05"/>
                                          </p:val>
                                        </p:tav>
                                        <p:tav tm="100000">
                                          <p:val>
                                            <p:strVal val="#ppt_x"/>
                                          </p:val>
                                        </p:tav>
                                      </p:tavLst>
                                    </p:anim>
                                    <p:anim calcmode="lin" valueType="num">
                                      <p:cBhvr additive="base">
                                        <p:cTn id="11" dur="350" fill="hold"/>
                                        <p:tgtEl>
                                          <p:spTgt spid="32"/>
                                        </p:tgtEl>
                                        <p:attrNameLst>
                                          <p:attrName>ppt_y</p:attrName>
                                        </p:attrNameLst>
                                      </p:cBhvr>
                                      <p:tavLst>
                                        <p:tav tm="0">
                                          <p:val>
                                            <p:strVal val="#ppt_y"/>
                                          </p:val>
                                        </p:tav>
                                        <p:tav tm="100000">
                                          <p:val>
                                            <p:strVal val="#ppt_y"/>
                                          </p:val>
                                        </p:tav>
                                      </p:tavLst>
                                    </p:anim>
                                  </p:childTnLst>
                                </p:cTn>
                              </p:par>
                              <p:par>
                                <p:cTn id="15" presetID="10" presetClass="entr" presetSubtype="0" fill="hold" grpId="0" nodeType="withEffect">
                                  <p:stCondLst>
                                    <p:cond delay="20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200"/>
                                        <p:tgtEl>
                                          <p:spTgt spid="3"/>
                                        </p:tgtEl>
                                      </p:cBhvr>
                                    </p:animEffect>
                                  </p:childTnLst>
                                </p:cTn>
                              </p:par>
                              <p:par>
                                <p:cTn id="17" presetID="6" presetClass="emph" presetSubtype="0" fill="hold" grpId="1" nodeType="withEffect" autoRev="1" repeatCount="indefinite">
                                  <p:stCondLst>
                                    <p:cond delay="500"/>
                                  </p:stCondLst>
                                  <p:childTnLst>
                                    <p:animScale>
                                      <p:cBhvr>
                                        <p:cTn id="16" dur="650" fill="hold"/>
                                        <p:tgtEl>
                                          <p:spTgt spid="2"/>
                                        </p:tgtEl>
                                      </p:cBhvr>
                                      <p:by x="135000" y="135000"/>
                                    </p:animScale>
                                  </p:childTnLst>
                                </p:cTn>
                              </p:par>
                              <p:par>
                                <p:cTn id="20" presetID="10" presetClass="exit" presetSubtype="0" fill="hold" grpId="1" nodeType="withEffect">
                                  <p:stCondLst>
                                    <p:cond delay="650"/>
                                  </p:stCondLst>
                                  <p:childTnLst>
                                    <p:animEffect transition="out" filter="fade">
                                      <p:cBhvr>
                                        <p:cTn id="18" dur="250"/>
                                        <p:tgtEl>
                                          <p:spTgt spid="32"/>
                                        </p:tgtEl>
                                      </p:cBhvr>
                                    </p:animEffect>
                                    <p:set>
                                      <p:cBhvr>
                                        <p:cTn id="19" dur="1" fill="hold">
                                          <p:stCondLst>
                                            <p:cond delay="249"/>
                                          </p:stCondLst>
                                        </p:cTn>
                                        <p:tgtEl>
                                          <p:spTgt spid="32"/>
                                        </p:tgtEl>
                                        <p:attrNameLst>
                                          <p:attrName>style.visibility</p:attrName>
                                        </p:attrNameLst>
                                      </p:cBhvr>
                                      <p:to>
                                        <p:strVal val="hidden"/>
                                      </p:to>
                                    </p:set>
                                  </p:childTnLst>
                                </p:cTn>
                              </p:par>
                              <p:par>
                                <p:cTn id="23" presetID="10" presetClass="entr" presetSubtype="0" fill="hold" grpId="0" nodeType="withEffect">
                                  <p:stCondLst>
                                    <p:cond delay="90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600"/>
                                        <p:tgtEl>
                                          <p:spTgt spid="6"/>
                                        </p:tgtEl>
                                      </p:cBhvr>
                                    </p:animEffect>
                                  </p:childTnLst>
                                </p:cTn>
                              </p:par>
                              <p:par>
                                <p:cTn id="28" presetID="42" presetClass="entr" presetSubtype="0" fill="hold" grpId="0" nodeType="withEffect">
                                  <p:stCondLst>
                                    <p:cond delay="935"/>
                                  </p:stCondLst>
                                  <p:childTnLst>
                                    <p:set>
                                      <p:cBhvr>
                                        <p:cTn id="24" dur="1" fill="hold">
                                          <p:stCondLst>
                                            <p:cond delay="0"/>
                                          </p:stCondLst>
                                        </p:cTn>
                                        <p:tgtEl>
                                          <p:spTgt spid="31"/>
                                        </p:tgtEl>
                                        <p:attrNameLst>
                                          <p:attrName>style.visibility</p:attrName>
                                        </p:attrNameLst>
                                      </p:cBhvr>
                                      <p:to>
                                        <p:strVal val="visible"/>
                                      </p:to>
                                    </p:set>
                                    <p:animEffect transition="in" filter="fade">
                                      <p:cBhvr>
                                        <p:cTn id="25" dur="500"/>
                                        <p:tgtEl>
                                          <p:spTgt spid="31"/>
                                        </p:tgtEl>
                                      </p:cBhvr>
                                    </p:animEffect>
                                    <p:anim calcmode="lin" valueType="num">
                                      <p:cBhvr additive="base">
                                        <p:cTn id="26" dur="500" fill="hold"/>
                                        <p:tgtEl>
                                          <p:spTgt spid="31"/>
                                        </p:tgtEl>
                                        <p:attrNameLst>
                                          <p:attrName>ppt_x</p:attrName>
                                        </p:attrNameLst>
                                      </p:cBhvr>
                                      <p:tavLst>
                                        <p:tav tm="0">
                                          <p:val>
                                            <p:strVal val="#ppt_x"/>
                                          </p:val>
                                        </p:tav>
                                        <p:tav tm="100000">
                                          <p:val>
                                            <p:strVal val="#ppt_x"/>
                                          </p:val>
                                        </p:tav>
                                      </p:tavLst>
                                    </p:anim>
                                    <p:anim calcmode="lin" valueType="num">
                                      <p:cBhvr additive="base">
                                        <p:cTn id="27" dur="500" fill="hold"/>
                                        <p:tgtEl>
                                          <p:spTgt spid="31"/>
                                        </p:tgtEl>
                                        <p:attrNameLst>
                                          <p:attrName>ppt_y</p:attrName>
                                        </p:attrNameLst>
                                      </p:cBhvr>
                                      <p:tavLst>
                                        <p:tav tm="0">
                                          <p:val>
                                            <p:strVal val="#ppt_y+.06"/>
                                          </p:val>
                                        </p:tav>
                                        <p:tav tm="100000">
                                          <p:val>
                                            <p:strVal val="#ppt_y"/>
                                          </p:val>
                                        </p:tav>
                                      </p:tavLst>
                                    </p:anim>
                                  </p:childTnLst>
                                </p:cTn>
                              </p:par>
                              <p:par>
                                <p:cTn id="33" presetID="42" presetClass="entr" presetSubtype="0" fill="hold" grpId="0" nodeType="withEffect">
                                  <p:stCondLst>
                                    <p:cond delay="970"/>
                                  </p:stCondLst>
                                  <p:childTnLst>
                                    <p:set>
                                      <p:cBhvr>
                                        <p:cTn id="29" dur="1" fill="hold">
                                          <p:stCondLst>
                                            <p:cond delay="0"/>
                                          </p:stCondLst>
                                        </p:cTn>
                                        <p:tgtEl>
                                          <p:spTgt spid="33"/>
                                        </p:tgtEl>
                                        <p:attrNameLst>
                                          <p:attrName>style.visibility</p:attrName>
                                        </p:attrNameLst>
                                      </p:cBhvr>
                                      <p:to>
                                        <p:strVal val="visible"/>
                                      </p:to>
                                    </p:set>
                                    <p:animEffect transition="in" filter="fade">
                                      <p:cBhvr>
                                        <p:cTn id="30" dur="400"/>
                                        <p:tgtEl>
                                          <p:spTgt spid="33"/>
                                        </p:tgtEl>
                                      </p:cBhvr>
                                    </p:animEffect>
                                    <p:anim calcmode="lin" valueType="num">
                                      <p:cBhvr additive="base">
                                        <p:cTn id="31" dur="400" fill="hold"/>
                                        <p:tgtEl>
                                          <p:spTgt spid="33"/>
                                        </p:tgtEl>
                                        <p:attrNameLst>
                                          <p:attrName>ppt_x</p:attrName>
                                        </p:attrNameLst>
                                      </p:cBhvr>
                                      <p:tavLst>
                                        <p:tav tm="0">
                                          <p:val>
                                            <p:strVal val="#ppt_x-.05"/>
                                          </p:val>
                                        </p:tav>
                                        <p:tav tm="100000">
                                          <p:val>
                                            <p:strVal val="#ppt_x"/>
                                          </p:val>
                                        </p:tav>
                                      </p:tavLst>
                                    </p:anim>
                                    <p:anim calcmode="lin" valueType="num">
                                      <p:cBhvr additive="base">
                                        <p:cTn id="32" dur="400" fill="hold"/>
                                        <p:tgtEl>
                                          <p:spTgt spid="33"/>
                                        </p:tgtEl>
                                        <p:attrNameLst>
                                          <p:attrName>ppt_y</p:attrName>
                                        </p:attrNameLst>
                                      </p:cBhvr>
                                      <p:tavLst>
                                        <p:tav tm="0">
                                          <p:val>
                                            <p:strVal val="#ppt_y"/>
                                          </p:val>
                                        </p:tav>
                                        <p:tav tm="100000">
                                          <p:val>
                                            <p:strVal val="#ppt_y"/>
                                          </p:val>
                                        </p:tav>
                                      </p:tavLst>
                                    </p:anim>
                                  </p:childTnLst>
                                </p:cTn>
                              </p:par>
                              <p:par>
                                <p:cTn id="38" presetID="42" presetClass="entr" presetSubtype="0" fill="hold" grpId="0" nodeType="withEffect">
                                  <p:stCondLst>
                                    <p:cond delay="1005"/>
                                  </p:stCondLst>
                                  <p:childTnLst>
                                    <p:set>
                                      <p:cBhvr>
                                        <p:cTn id="34" dur="1" fill="hold">
                                          <p:stCondLst>
                                            <p:cond delay="0"/>
                                          </p:stCondLst>
                                        </p:cTn>
                                        <p:tgtEl>
                                          <p:spTgt spid="19"/>
                                        </p:tgtEl>
                                        <p:attrNameLst>
                                          <p:attrName>style.visibility</p:attrName>
                                        </p:attrNameLst>
                                      </p:cBhvr>
                                      <p:to>
                                        <p:strVal val="visible"/>
                                      </p:to>
                                    </p:set>
                                    <p:animEffect transition="in" filter="fade">
                                      <p:cBhvr>
                                        <p:cTn id="35" dur="500"/>
                                        <p:tgtEl>
                                          <p:spTgt spid="19"/>
                                        </p:tgtEl>
                                      </p:cBhvr>
                                    </p:animEffect>
                                    <p:anim calcmode="lin" valueType="num">
                                      <p:cBhvr additive="base">
                                        <p:cTn id="36" dur="500" fill="hold"/>
                                        <p:tgtEl>
                                          <p:spTgt spid="19"/>
                                        </p:tgtEl>
                                        <p:attrNameLst>
                                          <p:attrName>ppt_x</p:attrName>
                                        </p:attrNameLst>
                                      </p:cBhvr>
                                      <p:tavLst>
                                        <p:tav tm="0">
                                          <p:val>
                                            <p:strVal val="#ppt_x-.05"/>
                                          </p:val>
                                        </p:tav>
                                        <p:tav tm="100000">
                                          <p:val>
                                            <p:strVal val="#ppt_x"/>
                                          </p:val>
                                        </p:tav>
                                      </p:tavLst>
                                    </p:anim>
                                    <p:anim calcmode="lin" valueType="num">
                                      <p:cBhvr additive="base">
                                        <p:cTn id="37" dur="500" fill="hold"/>
                                        <p:tgtEl>
                                          <p:spTgt spid="19"/>
                                        </p:tgtEl>
                                        <p:attrNameLst>
                                          <p:attrName>ppt_y</p:attrName>
                                        </p:attrNameLst>
                                      </p:cBhvr>
                                      <p:tavLst>
                                        <p:tav tm="0">
                                          <p:val>
                                            <p:strVal val="#ppt_y"/>
                                          </p:val>
                                        </p:tav>
                                        <p:tav tm="100000">
                                          <p:val>
                                            <p:strVal val="#ppt_y"/>
                                          </p:val>
                                        </p:tav>
                                      </p:tavLst>
                                    </p:anim>
                                  </p:childTnLst>
                                </p:cTn>
                              </p:par>
                              <p:par>
                                <p:cTn id="43" presetID="42" presetClass="entr" presetSubtype="0" fill="hold" grpId="0" nodeType="withEffect">
                                  <p:stCondLst>
                                    <p:cond delay="1040"/>
                                  </p:stCondLst>
                                  <p:childTnLst>
                                    <p:set>
                                      <p:cBhvr>
                                        <p:cTn id="39" dur="1" fill="hold">
                                          <p:stCondLst>
                                            <p:cond delay="0"/>
                                          </p:stCondLst>
                                        </p:cTn>
                                        <p:tgtEl>
                                          <p:spTgt spid="34"/>
                                        </p:tgtEl>
                                        <p:attrNameLst>
                                          <p:attrName>style.visibility</p:attrName>
                                        </p:attrNameLst>
                                      </p:cBhvr>
                                      <p:to>
                                        <p:strVal val="visible"/>
                                      </p:to>
                                    </p:set>
                                    <p:animEffect transition="in" filter="fade">
                                      <p:cBhvr>
                                        <p:cTn id="40" dur="300"/>
                                        <p:tgtEl>
                                          <p:spTgt spid="34"/>
                                        </p:tgtEl>
                                      </p:cBhvr>
                                    </p:animEffect>
                                    <p:anim calcmode="lin" valueType="num">
                                      <p:cBhvr additive="base">
                                        <p:cTn id="41" dur="300" fill="hold"/>
                                        <p:tgtEl>
                                          <p:spTgt spid="34"/>
                                        </p:tgtEl>
                                        <p:attrNameLst>
                                          <p:attrName>ppt_x</p:attrName>
                                        </p:attrNameLst>
                                      </p:cBhvr>
                                      <p:tavLst>
                                        <p:tav tm="0">
                                          <p:val>
                                            <p:strVal val="#ppt_x-.05"/>
                                          </p:val>
                                        </p:tav>
                                        <p:tav tm="100000">
                                          <p:val>
                                            <p:strVal val="#ppt_x"/>
                                          </p:val>
                                        </p:tav>
                                      </p:tavLst>
                                    </p:anim>
                                    <p:anim calcmode="lin" valueType="num">
                                      <p:cBhvr additive="base">
                                        <p:cTn id="42" dur="300" fill="hold"/>
                                        <p:tgtEl>
                                          <p:spTgt spid="34"/>
                                        </p:tgtEl>
                                        <p:attrNameLst>
                                          <p:attrName>ppt_y</p:attrName>
                                        </p:attrNameLst>
                                      </p:cBhvr>
                                      <p:tavLst>
                                        <p:tav tm="0">
                                          <p:val>
                                            <p:strVal val="#ppt_y"/>
                                          </p:val>
                                        </p:tav>
                                        <p:tav tm="100000">
                                          <p:val>
                                            <p:strVal val="#ppt_y"/>
                                          </p:val>
                                        </p:tav>
                                      </p:tavLst>
                                    </p:anim>
                                  </p:childTnLst>
                                </p:cTn>
                              </p:par>
                              <p:par>
                                <p:cTn id="46" presetID="10" presetClass="entr" presetSubtype="0" fill="hold" grpId="0" nodeType="withEffect">
                                  <p:stCondLst>
                                    <p:cond delay="1075"/>
                                  </p:stCondLst>
                                  <p:childTnLst>
                                    <p:set>
                                      <p:cBhvr>
                                        <p:cTn id="44" dur="1" fill="hold">
                                          <p:stCondLst>
                                            <p:cond delay="0"/>
                                          </p:stCondLst>
                                        </p:cTn>
                                        <p:tgtEl>
                                          <p:spTgt spid="35"/>
                                        </p:tgtEl>
                                        <p:attrNameLst>
                                          <p:attrName>style.visibility</p:attrName>
                                        </p:attrNameLst>
                                      </p:cBhvr>
                                      <p:to>
                                        <p:strVal val="visible"/>
                                      </p:to>
                                    </p:set>
                                    <p:animEffect transition="in" filter="fade">
                                      <p:cBhvr>
                                        <p:cTn id="45" dur="200"/>
                                        <p:tgtEl>
                                          <p:spTgt spid="35"/>
                                        </p:tgtEl>
                                      </p:cBhvr>
                                    </p:animEffect>
                                  </p:childTnLst>
                                </p:cTn>
                              </p:par>
                              <p:par>
                                <p:cTn id="50" presetID="2" presetClass="entr" presetSubtype="1" fill="hold" grpId="0" nodeType="withEffect">
                                  <p:stCondLst>
                                    <p:cond delay="1110"/>
                                  </p:stCondLst>
                                  <p:childTnLst>
                                    <p:set>
                                      <p:cBhvr>
                                        <p:cTn id="47" dur="1" fill="hold">
                                          <p:stCondLst>
                                            <p:cond delay="0"/>
                                          </p:stCondLst>
                                        </p:cTn>
                                        <p:tgtEl>
                                          <p:spTgt spid="8"/>
                                        </p:tgtEl>
                                        <p:attrNameLst>
                                          <p:attrName>style.visibility</p:attrName>
                                        </p:attrNameLst>
                                      </p:cBhvr>
                                      <p:to>
                                        <p:strVal val="visible"/>
                                      </p:to>
                                    </p:set>
                                    <p:anim calcmode="lin" valueType="num">
                                      <p:cBhvr additive="base">
                                        <p:cTn id="48" dur="600" fill="hold"/>
                                        <p:tgtEl>
                                          <p:spTgt spid="8"/>
                                        </p:tgtEl>
                                        <p:attrNameLst>
                                          <p:attrName>ppt_x</p:attrName>
                                        </p:attrNameLst>
                                      </p:cBhvr>
                                      <p:tavLst>
                                        <p:tav tm="0">
                                          <p:val>
                                            <p:strVal val="#ppt_x"/>
                                          </p:val>
                                        </p:tav>
                                        <p:tav tm="100000">
                                          <p:val>
                                            <p:strVal val="#ppt_x"/>
                                          </p:val>
                                        </p:tav>
                                      </p:tavLst>
                                    </p:anim>
                                    <p:anim calcmode="lin" valueType="num">
                                      <p:cBhvr additive="base">
                                        <p:cTn id="49" dur="600" fill="hold"/>
                                        <p:tgtEl>
                                          <p:spTgt spid="8"/>
                                        </p:tgtEl>
                                        <p:attrNameLst>
                                          <p:attrName>ppt_y</p:attrName>
                                        </p:attrNameLst>
                                      </p:cBhvr>
                                      <p:tavLst>
                                        <p:tav tm="0">
                                          <p:val>
                                            <p:strVal val="0-#ppt_h/2"/>
                                          </p:val>
                                        </p:tav>
                                        <p:tav tm="100000">
                                          <p:val>
                                            <p:strVal val="#ppt_y"/>
                                          </p:val>
                                        </p:tav>
                                      </p:tavLst>
                                    </p:anim>
                                  </p:childTnLst>
                                </p:cTn>
                              </p:par>
                              <p:par>
                                <p:cTn id="55" presetID="53" presetClass="entr" presetSubtype="16" fill="hold" grpId="0" nodeType="withEffect">
                                  <p:stCondLst>
                                    <p:cond delay="1145"/>
                                  </p:stCondLst>
                                  <p:childTnLst>
                                    <p:set>
                                      <p:cBhvr>
                                        <p:cTn id="51" dur="1" fill="hold">
                                          <p:stCondLst>
                                            <p:cond delay="0"/>
                                          </p:stCondLst>
                                        </p:cTn>
                                        <p:tgtEl>
                                          <p:spTgt spid="25"/>
                                        </p:tgtEl>
                                        <p:attrNameLst>
                                          <p:attrName>style.visibility</p:attrName>
                                        </p:attrNameLst>
                                      </p:cBhvr>
                                      <p:to>
                                        <p:strVal val="visible"/>
                                      </p:to>
                                    </p:set>
                                    <p:anim calcmode="lin" valueType="num">
                                      <p:cBhvr additive="base">
                                        <p:cTn id="52" dur="300" fill="hold"/>
                                        <p:tgtEl>
                                          <p:spTgt spid="25"/>
                                        </p:tgtEl>
                                        <p:attrNameLst>
                                          <p:attrName>ppt_w</p:attrName>
                                        </p:attrNameLst>
                                      </p:cBhvr>
                                      <p:tavLst>
                                        <p:tav tm="0">
                                          <p:val>
                                            <p:strVal val="0"/>
                                          </p:val>
                                        </p:tav>
                                        <p:tav tm="100000">
                                          <p:val>
                                            <p:strVal val="#ppt_w"/>
                                          </p:val>
                                        </p:tav>
                                      </p:tavLst>
                                    </p:anim>
                                    <p:anim calcmode="lin" valueType="num">
                                      <p:cBhvr additive="base">
                                        <p:cTn id="53" dur="300" fill="hold"/>
                                        <p:tgtEl>
                                          <p:spTgt spid="25"/>
                                        </p:tgtEl>
                                        <p:attrNameLst>
                                          <p:attrName>ppt_h</p:attrName>
                                        </p:attrNameLst>
                                      </p:cBhvr>
                                      <p:tavLst>
                                        <p:tav tm="0">
                                          <p:val>
                                            <p:strVal val="0"/>
                                          </p:val>
                                        </p:tav>
                                        <p:tav tm="100000">
                                          <p:val>
                                            <p:strVal val="#ppt_h"/>
                                          </p:val>
                                        </p:tav>
                                      </p:tavLst>
                                    </p:anim>
                                    <p:animEffect transition="in" filter="fade">
                                      <p:cBhvr>
                                        <p:cTn id="54" dur="300"/>
                                        <p:tgtEl>
                                          <p:spTgt spid="25"/>
                                        </p:tgtEl>
                                      </p:cBhvr>
                                    </p:animEffect>
                                  </p:childTnLst>
                                </p:cTn>
                              </p:par>
                              <p:par>
                                <p:cTn id="57" presetID="0" presetClass="path" presetSubtype="0" fill="hold" grpId="1" nodeType="withEffect" autoRev="1" repeatCount="6000">
                                  <p:stCondLst>
                                    <p:cond delay="1180"/>
                                  </p:stCondLst>
                                  <p:childTnLst>
                                    <p:animMotion origin="layout" path="M 0 0 L 0 -0.012 E" pathEditMode="relative" ptsTypes="AA">
                                      <p:cBhvr>
                                        <p:cTn id="56" dur="300" fill="hold"/>
                                        <p:tgtEl>
                                          <p:spTgt spid="25"/>
                                        </p:tgtEl>
                                        <p:attrNameLst>
                                          <p:attrName>ppt_x</p:attrName>
                                          <p:attrName>ppt_y</p:attrName>
                                        </p:attrNameLst>
                                      </p:cBhvr>
                                    </p:animMotion>
                                  </p:childTnLst>
                                </p:cTn>
                              </p:par>
                              <p:par>
                                <p:cTn id="62" presetID="53" presetClass="entr" presetSubtype="32" fill="hold" grpId="0" nodeType="withEffect">
                                  <p:stCondLst>
                                    <p:cond delay="1215"/>
                                  </p:stCondLst>
                                  <p:childTnLst>
                                    <p:set>
                                      <p:cBhvr>
                                        <p:cTn id="58" dur="1" fill="hold">
                                          <p:stCondLst>
                                            <p:cond delay="0"/>
                                          </p:stCondLst>
                                        </p:cTn>
                                        <p:tgtEl>
                                          <p:spTgt spid="9"/>
                                        </p:tgtEl>
                                        <p:attrNameLst>
                                          <p:attrName>style.visibility</p:attrName>
                                        </p:attrNameLst>
                                      </p:cBhvr>
                                      <p:to>
                                        <p:strVal val="visible"/>
                                      </p:to>
                                    </p:set>
                                    <p:anim calcmode="lin" valueType="num">
                                      <p:cBhvr additive="base">
                                        <p:cTn id="59" dur="400" fill="hold"/>
                                        <p:tgtEl>
                                          <p:spTgt spid="9"/>
                                        </p:tgtEl>
                                        <p:attrNameLst>
                                          <p:attrName>ppt_w</p:attrName>
                                        </p:attrNameLst>
                                      </p:cBhvr>
                                      <p:tavLst>
                                        <p:tav tm="0">
                                          <p:val>
                                            <p:strVal val="#ppt_w*2.4"/>
                                          </p:val>
                                        </p:tav>
                                        <p:tav tm="100000">
                                          <p:val>
                                            <p:strVal val="#ppt_w"/>
                                          </p:val>
                                        </p:tav>
                                      </p:tavLst>
                                    </p:anim>
                                    <p:anim calcmode="lin" valueType="num">
                                      <p:cBhvr additive="base">
                                        <p:cTn id="60" dur="400" fill="hold"/>
                                        <p:tgtEl>
                                          <p:spTgt spid="9"/>
                                        </p:tgtEl>
                                        <p:attrNameLst>
                                          <p:attrName>ppt_h</p:attrName>
                                        </p:attrNameLst>
                                      </p:cBhvr>
                                      <p:tavLst>
                                        <p:tav tm="0">
                                          <p:val>
                                            <p:strVal val="#ppt_h*2.4"/>
                                          </p:val>
                                        </p:tav>
                                        <p:tav tm="100000">
                                          <p:val>
                                            <p:strVal val="#ppt_h"/>
                                          </p:val>
                                        </p:tav>
                                      </p:tavLst>
                                    </p:anim>
                                    <p:animEffect transition="in" filter="fade">
                                      <p:cBhvr>
                                        <p:cTn id="61" dur="400"/>
                                        <p:tgtEl>
                                          <p:spTgt spid="9"/>
                                        </p:tgtEl>
                                      </p:cBhvr>
                                    </p:animEffect>
                                  </p:childTnLst>
                                </p:cTn>
                              </p:par>
                              <p:par>
                                <p:cTn id="67" presetID="53" presetClass="entr" presetSubtype="16" fill="hold" grpId="0" nodeType="withEffect">
                                  <p:stCondLst>
                                    <p:cond delay="1250"/>
                                  </p:stCondLst>
                                  <p:childTnLst>
                                    <p:set>
                                      <p:cBhvr>
                                        <p:cTn id="63" dur="1" fill="hold">
                                          <p:stCondLst>
                                            <p:cond delay="0"/>
                                          </p:stCondLst>
                                        </p:cTn>
                                        <p:tgtEl>
                                          <p:spTgt spid="10"/>
                                        </p:tgtEl>
                                        <p:attrNameLst>
                                          <p:attrName>style.visibility</p:attrName>
                                        </p:attrNameLst>
                                      </p:cBhvr>
                                      <p:to>
                                        <p:strVal val="visible"/>
                                      </p:to>
                                    </p:set>
                                    <p:anim calcmode="lin" valueType="num">
                                      <p:cBhvr additive="base">
                                        <p:cTn id="64" dur="500" fill="hold"/>
                                        <p:tgtEl>
                                          <p:spTgt spid="10"/>
                                        </p:tgtEl>
                                        <p:attrNameLst>
                                          <p:attrName>ppt_w</p:attrName>
                                        </p:attrNameLst>
                                      </p:cBhvr>
                                      <p:tavLst>
                                        <p:tav tm="0">
                                          <p:val>
                                            <p:strVal val="0"/>
                                          </p:val>
                                        </p:tav>
                                        <p:tav tm="100000">
                                          <p:val>
                                            <p:strVal val="#ppt_w"/>
                                          </p:val>
                                        </p:tav>
                                      </p:tavLst>
                                    </p:anim>
                                    <p:anim calcmode="lin" valueType="num">
                                      <p:cBhvr additive="base">
                                        <p:cTn id="65" dur="500" fill="hold"/>
                                        <p:tgtEl>
                                          <p:spTgt spid="10"/>
                                        </p:tgtEl>
                                        <p:attrNameLst>
                                          <p:attrName>ppt_h</p:attrName>
                                        </p:attrNameLst>
                                      </p:cBhvr>
                                      <p:tavLst>
                                        <p:tav tm="0">
                                          <p:val>
                                            <p:strVal val="0"/>
                                          </p:val>
                                        </p:tav>
                                        <p:tav tm="100000">
                                          <p:val>
                                            <p:strVal val="#ppt_h"/>
                                          </p:val>
                                        </p:tav>
                                      </p:tavLst>
                                    </p:anim>
                                    <p:animEffect transition="in" filter="fade">
                                      <p:cBhvr>
                                        <p:cTn id="66" dur="500"/>
                                        <p:tgtEl>
                                          <p:spTgt spid="10"/>
                                        </p:tgtEl>
                                      </p:cBhvr>
                                    </p:animEffect>
                                  </p:childTnLst>
                                </p:cTn>
                              </p:par>
                              <p:par>
                                <p:cTn id="70" presetID="10" presetClass="exit" presetSubtype="0" fill="hold" grpId="1" nodeType="withEffect">
                                  <p:stCondLst>
                                    <p:cond delay="10800"/>
                                  </p:stCondLst>
                                  <p:childTnLst>
                                    <p:animEffect transition="out" filter="fade">
                                      <p:cBhvr>
                                        <p:cTn id="68" dur="200"/>
                                        <p:tgtEl>
                                          <p:spTgt spid="33"/>
                                        </p:tgtEl>
                                      </p:cBhvr>
                                    </p:animEffect>
                                    <p:set>
                                      <p:cBhvr>
                                        <p:cTn id="69" dur="1" fill="hold">
                                          <p:stCondLst>
                                            <p:cond delay="199"/>
                                          </p:stCondLst>
                                        </p:cTn>
                                        <p:tgtEl>
                                          <p:spTgt spid="33"/>
                                        </p:tgtEl>
                                        <p:attrNameLst>
                                          <p:attrName>style.visibility</p:attrName>
                                        </p:attrNameLst>
                                      </p:cBhvr>
                                      <p:to>
                                        <p:strVal val="hidden"/>
                                      </p:to>
                                    </p:set>
                                  </p:childTnLst>
                                </p:cTn>
                              </p:par>
                              <p:par>
                                <p:cTn id="73" presetID="10" presetClass="exit" presetSubtype="0" fill="hold" grpId="1" nodeType="withEffect">
                                  <p:stCondLst>
                                    <p:cond delay="10821"/>
                                  </p:stCondLst>
                                  <p:childTnLst>
                                    <p:animEffect transition="out" filter="fade">
                                      <p:cBhvr>
                                        <p:cTn id="71" dur="250"/>
                                        <p:tgtEl>
                                          <p:spTgt spid="8"/>
                                        </p:tgtEl>
                                      </p:cBhvr>
                                    </p:animEffect>
                                    <p:set>
                                      <p:cBhvr>
                                        <p:cTn id="72" dur="1" fill="hold">
                                          <p:stCondLst>
                                            <p:cond delay="249"/>
                                          </p:stCondLst>
                                        </p:cTn>
                                        <p:tgtEl>
                                          <p:spTgt spid="8"/>
                                        </p:tgtEl>
                                        <p:attrNameLst>
                                          <p:attrName>style.visibility</p:attrName>
                                        </p:attrNameLst>
                                      </p:cBhvr>
                                      <p:to>
                                        <p:strVal val="hidden"/>
                                      </p:to>
                                    </p:set>
                                  </p:childTnLst>
                                </p:cTn>
                              </p:par>
                              <p:par>
                                <p:cTn id="76" presetID="10" presetClass="exit" presetSubtype="0" fill="hold" grpId="1" nodeType="withEffect">
                                  <p:stCondLst>
                                    <p:cond delay="10843"/>
                                  </p:stCondLst>
                                  <p:childTnLst>
                                    <p:animEffect transition="out" filter="fade">
                                      <p:cBhvr>
                                        <p:cTn id="74" dur="250"/>
                                        <p:tgtEl>
                                          <p:spTgt spid="9"/>
                                        </p:tgtEl>
                                      </p:cBhvr>
                                    </p:animEffect>
                                    <p:set>
                                      <p:cBhvr>
                                        <p:cTn id="75" dur="1" fill="hold">
                                          <p:stCondLst>
                                            <p:cond delay="249"/>
                                          </p:stCondLst>
                                        </p:cTn>
                                        <p:tgtEl>
                                          <p:spTgt spid="9"/>
                                        </p:tgtEl>
                                        <p:attrNameLst>
                                          <p:attrName>style.visibility</p:attrName>
                                        </p:attrNameLst>
                                      </p:cBhvr>
                                      <p:to>
                                        <p:strVal val="hidden"/>
                                      </p:to>
                                    </p:set>
                                  </p:childTnLst>
                                </p:cTn>
                              </p:par>
                              <p:par>
                                <p:cTn id="79" presetID="10" presetClass="exit" presetSubtype="0" fill="hold" grpId="1" nodeType="withEffect">
                                  <p:stCondLst>
                                    <p:cond delay="10865"/>
                                  </p:stCondLst>
                                  <p:childTnLst>
                                    <p:animEffect transition="out" filter="fade">
                                      <p:cBhvr>
                                        <p:cTn id="77" dur="250"/>
                                        <p:tgtEl>
                                          <p:spTgt spid="10"/>
                                        </p:tgtEl>
                                      </p:cBhvr>
                                    </p:animEffect>
                                    <p:set>
                                      <p:cBhvr>
                                        <p:cTn id="78" dur="1" fill="hold">
                                          <p:stCondLst>
                                            <p:cond delay="249"/>
                                          </p:stCondLst>
                                        </p:cTn>
                                        <p:tgtEl>
                                          <p:spTgt spid="10"/>
                                        </p:tgtEl>
                                        <p:attrNameLst>
                                          <p:attrName>style.visibility</p:attrName>
                                        </p:attrNameLst>
                                      </p:cBhvr>
                                      <p:to>
                                        <p:strVal val="hidden"/>
                                      </p:to>
                                    </p:set>
                                  </p:childTnLst>
                                </p:cTn>
                              </p:par>
                              <p:par>
                                <p:cTn id="82" presetID="10" presetClass="exit" presetSubtype="0" fill="hold" grpId="2" nodeType="withEffect">
                                  <p:stCondLst>
                                    <p:cond delay="10887"/>
                                  </p:stCondLst>
                                  <p:childTnLst>
                                    <p:animEffect transition="out" filter="fade">
                                      <p:cBhvr>
                                        <p:cTn id="80" dur="250"/>
                                        <p:tgtEl>
                                          <p:spTgt spid="25"/>
                                        </p:tgtEl>
                                      </p:cBhvr>
                                    </p:animEffect>
                                    <p:set>
                                      <p:cBhvr>
                                        <p:cTn id="81" dur="1" fill="hold">
                                          <p:stCondLst>
                                            <p:cond delay="249"/>
                                          </p:stCondLst>
                                        </p:cTn>
                                        <p:tgtEl>
                                          <p:spTgt spid="25"/>
                                        </p:tgtEl>
                                        <p:attrNameLst>
                                          <p:attrName>style.visibility</p:attrName>
                                        </p:attrNameLst>
                                      </p:cBhvr>
                                      <p:to>
                                        <p:strVal val="hidden"/>
                                      </p:to>
                                    </p:set>
                                  </p:childTnLst>
                                </p:cTn>
                              </p:par>
                              <p:par>
                                <p:cTn id="87" presetID="42" presetClass="entr" presetSubtype="0" fill="hold" grpId="0" nodeType="withEffect">
                                  <p:stCondLst>
                                    <p:cond delay="10909"/>
                                  </p:stCondLst>
                                  <p:childTnLst>
                                    <p:set>
                                      <p:cBhvr>
                                        <p:cTn id="83" dur="1" fill="hold">
                                          <p:stCondLst>
                                            <p:cond delay="0"/>
                                          </p:stCondLst>
                                        </p:cTn>
                                        <p:tgtEl>
                                          <p:spTgt spid="36"/>
                                        </p:tgtEl>
                                        <p:attrNameLst>
                                          <p:attrName>style.visibility</p:attrName>
                                        </p:attrNameLst>
                                      </p:cBhvr>
                                      <p:to>
                                        <p:strVal val="visible"/>
                                      </p:to>
                                    </p:set>
                                    <p:animEffect transition="in" filter="fade">
                                      <p:cBhvr>
                                        <p:cTn id="84" dur="400"/>
                                        <p:tgtEl>
                                          <p:spTgt spid="36"/>
                                        </p:tgtEl>
                                      </p:cBhvr>
                                    </p:animEffect>
                                    <p:anim calcmode="lin" valueType="num">
                                      <p:cBhvr additive="base">
                                        <p:cTn id="85" dur="400" fill="hold"/>
                                        <p:tgtEl>
                                          <p:spTgt spid="36"/>
                                        </p:tgtEl>
                                        <p:attrNameLst>
                                          <p:attrName>ppt_x</p:attrName>
                                        </p:attrNameLst>
                                      </p:cBhvr>
                                      <p:tavLst>
                                        <p:tav tm="0">
                                          <p:val>
                                            <p:strVal val="#ppt_x-.05"/>
                                          </p:val>
                                        </p:tav>
                                        <p:tav tm="100000">
                                          <p:val>
                                            <p:strVal val="#ppt_x"/>
                                          </p:val>
                                        </p:tav>
                                      </p:tavLst>
                                    </p:anim>
                                    <p:anim calcmode="lin" valueType="num">
                                      <p:cBhvr additive="base">
                                        <p:cTn id="86" dur="400" fill="hold"/>
                                        <p:tgtEl>
                                          <p:spTgt spid="36"/>
                                        </p:tgtEl>
                                        <p:attrNameLst>
                                          <p:attrName>ppt_y</p:attrName>
                                        </p:attrNameLst>
                                      </p:cBhvr>
                                      <p:tavLst>
                                        <p:tav tm="0">
                                          <p:val>
                                            <p:strVal val="#ppt_y"/>
                                          </p:val>
                                        </p:tav>
                                        <p:tav tm="100000">
                                          <p:val>
                                            <p:strVal val="#ppt_y"/>
                                          </p:val>
                                        </p:tav>
                                      </p:tavLst>
                                    </p:anim>
                                  </p:childTnLst>
                                </p:cTn>
                              </p:par>
                              <p:par>
                                <p:cTn id="90" presetID="10" presetClass="exit" presetSubtype="0" fill="hold" grpId="1" nodeType="withEffect">
                                  <p:stCondLst>
                                    <p:cond delay="10931"/>
                                  </p:stCondLst>
                                  <p:childTnLst>
                                    <p:animEffect transition="out" filter="fade">
                                      <p:cBhvr>
                                        <p:cTn id="88" dur="200"/>
                                        <p:tgtEl>
                                          <p:spTgt spid="34"/>
                                        </p:tgtEl>
                                      </p:cBhvr>
                                    </p:animEffect>
                                    <p:set>
                                      <p:cBhvr>
                                        <p:cTn id="89" dur="1" fill="hold">
                                          <p:stCondLst>
                                            <p:cond delay="199"/>
                                          </p:stCondLst>
                                        </p:cTn>
                                        <p:tgtEl>
                                          <p:spTgt spid="34"/>
                                        </p:tgtEl>
                                        <p:attrNameLst>
                                          <p:attrName>style.visibility</p:attrName>
                                        </p:attrNameLst>
                                      </p:cBhvr>
                                      <p:to>
                                        <p:strVal val="hidden"/>
                                      </p:to>
                                    </p:set>
                                  </p:childTnLst>
                                </p:cTn>
                              </p:par>
                              <p:par>
                                <p:cTn id="93" presetID="10" presetClass="exit" presetSubtype="0" fill="hold" grpId="1" nodeType="withEffect">
                                  <p:stCondLst>
                                    <p:cond delay="10953"/>
                                  </p:stCondLst>
                                  <p:childTnLst>
                                    <p:animEffect transition="out" filter="fade">
                                      <p:cBhvr>
                                        <p:cTn id="91" dur="200"/>
                                        <p:tgtEl>
                                          <p:spTgt spid="35"/>
                                        </p:tgtEl>
                                      </p:cBhvr>
                                    </p:animEffect>
                                    <p:set>
                                      <p:cBhvr>
                                        <p:cTn id="92" dur="1" fill="hold">
                                          <p:stCondLst>
                                            <p:cond delay="199"/>
                                          </p:stCondLst>
                                        </p:cTn>
                                        <p:tgtEl>
                                          <p:spTgt spid="35"/>
                                        </p:tgtEl>
                                        <p:attrNameLst>
                                          <p:attrName>style.visibility</p:attrName>
                                        </p:attrNameLst>
                                      </p:cBhvr>
                                      <p:to>
                                        <p:strVal val="hidden"/>
                                      </p:to>
                                    </p:set>
                                  </p:childTnLst>
                                </p:cTn>
                              </p:par>
                              <p:par>
                                <p:cTn id="98" presetID="42" presetClass="entr" presetSubtype="0" fill="hold" grpId="0" nodeType="withEffect">
                                  <p:stCondLst>
                                    <p:cond delay="10975"/>
                                  </p:stCondLst>
                                  <p:childTnLst>
                                    <p:set>
                                      <p:cBhvr>
                                        <p:cTn id="94" dur="1" fill="hold">
                                          <p:stCondLst>
                                            <p:cond delay="0"/>
                                          </p:stCondLst>
                                        </p:cTn>
                                        <p:tgtEl>
                                          <p:spTgt spid="23"/>
                                        </p:tgtEl>
                                        <p:attrNameLst>
                                          <p:attrName>style.visibility</p:attrName>
                                        </p:attrNameLst>
                                      </p:cBhvr>
                                      <p:to>
                                        <p:strVal val="visible"/>
                                      </p:to>
                                    </p:set>
                                    <p:animEffect transition="in" filter="fade">
                                      <p:cBhvr>
                                        <p:cTn id="95" dur="500"/>
                                        <p:tgtEl>
                                          <p:spTgt spid="23"/>
                                        </p:tgtEl>
                                      </p:cBhvr>
                                    </p:animEffect>
                                    <p:anim calcmode="lin" valueType="num">
                                      <p:cBhvr additive="base">
                                        <p:cTn id="96" dur="500" fill="hold"/>
                                        <p:tgtEl>
                                          <p:spTgt spid="23"/>
                                        </p:tgtEl>
                                        <p:attrNameLst>
                                          <p:attrName>ppt_x</p:attrName>
                                        </p:attrNameLst>
                                      </p:cBhvr>
                                      <p:tavLst>
                                        <p:tav tm="0">
                                          <p:val>
                                            <p:strVal val="#ppt_x+.05"/>
                                          </p:val>
                                        </p:tav>
                                        <p:tav tm="100000">
                                          <p:val>
                                            <p:strVal val="#ppt_x"/>
                                          </p:val>
                                        </p:tav>
                                      </p:tavLst>
                                    </p:anim>
                                    <p:anim calcmode="lin" valueType="num">
                                      <p:cBhvr additive="base">
                                        <p:cTn id="97" dur="500" fill="hold"/>
                                        <p:tgtEl>
                                          <p:spTgt spid="23"/>
                                        </p:tgtEl>
                                        <p:attrNameLst>
                                          <p:attrName>ppt_y</p:attrName>
                                        </p:attrNameLst>
                                      </p:cBhvr>
                                      <p:tavLst>
                                        <p:tav tm="0">
                                          <p:val>
                                            <p:strVal val="#ppt_y"/>
                                          </p:val>
                                        </p:tav>
                                        <p:tav tm="100000">
                                          <p:val>
                                            <p:strVal val="#ppt_y"/>
                                          </p:val>
                                        </p:tav>
                                      </p:tavLst>
                                    </p:anim>
                                  </p:childTnLst>
                                </p:cTn>
                              </p:par>
                              <p:par>
                                <p:cTn id="103" presetID="42" presetClass="entr" presetSubtype="0" fill="hold" grpId="0" nodeType="withEffect">
                                  <p:stCondLst>
                                    <p:cond delay="10996"/>
                                  </p:stCondLst>
                                  <p:childTnLst>
                                    <p:set>
                                      <p:cBhvr>
                                        <p:cTn id="99" dur="1" fill="hold">
                                          <p:stCondLst>
                                            <p:cond delay="0"/>
                                          </p:stCondLst>
                                        </p:cTn>
                                        <p:tgtEl>
                                          <p:spTgt spid="37"/>
                                        </p:tgtEl>
                                        <p:attrNameLst>
                                          <p:attrName>style.visibility</p:attrName>
                                        </p:attrNameLst>
                                      </p:cBhvr>
                                      <p:to>
                                        <p:strVal val="visible"/>
                                      </p:to>
                                    </p:set>
                                    <p:animEffect transition="in" filter="fade">
                                      <p:cBhvr>
                                        <p:cTn id="100" dur="300"/>
                                        <p:tgtEl>
                                          <p:spTgt spid="37"/>
                                        </p:tgtEl>
                                      </p:cBhvr>
                                    </p:animEffect>
                                    <p:anim calcmode="lin" valueType="num">
                                      <p:cBhvr additive="base">
                                        <p:cTn id="101" dur="300" fill="hold"/>
                                        <p:tgtEl>
                                          <p:spTgt spid="37"/>
                                        </p:tgtEl>
                                        <p:attrNameLst>
                                          <p:attrName>ppt_x</p:attrName>
                                        </p:attrNameLst>
                                      </p:cBhvr>
                                      <p:tavLst>
                                        <p:tav tm="0">
                                          <p:val>
                                            <p:strVal val="#ppt_x-.05"/>
                                          </p:val>
                                        </p:tav>
                                        <p:tav tm="100000">
                                          <p:val>
                                            <p:strVal val="#ppt_x"/>
                                          </p:val>
                                        </p:tav>
                                      </p:tavLst>
                                    </p:anim>
                                    <p:anim calcmode="lin" valueType="num">
                                      <p:cBhvr additive="base">
                                        <p:cTn id="102" dur="300" fill="hold"/>
                                        <p:tgtEl>
                                          <p:spTgt spid="37"/>
                                        </p:tgtEl>
                                        <p:attrNameLst>
                                          <p:attrName>ppt_y</p:attrName>
                                        </p:attrNameLst>
                                      </p:cBhvr>
                                      <p:tavLst>
                                        <p:tav tm="0">
                                          <p:val>
                                            <p:strVal val="#ppt_y"/>
                                          </p:val>
                                        </p:tav>
                                        <p:tav tm="100000">
                                          <p:val>
                                            <p:strVal val="#ppt_y"/>
                                          </p:val>
                                        </p:tav>
                                      </p:tavLst>
                                    </p:anim>
                                  </p:childTnLst>
                                </p:cTn>
                              </p:par>
                              <p:par>
                                <p:cTn id="106" presetID="10" presetClass="entr" presetSubtype="0" fill="hold" grpId="0" nodeType="withEffect">
                                  <p:stCondLst>
                                    <p:cond delay="11018"/>
                                  </p:stCondLst>
                                  <p:childTnLst>
                                    <p:set>
                                      <p:cBhvr>
                                        <p:cTn id="104" dur="1" fill="hold">
                                          <p:stCondLst>
                                            <p:cond delay="0"/>
                                          </p:stCondLst>
                                        </p:cTn>
                                        <p:tgtEl>
                                          <p:spTgt spid="38"/>
                                        </p:tgtEl>
                                        <p:attrNameLst>
                                          <p:attrName>style.visibility</p:attrName>
                                        </p:attrNameLst>
                                      </p:cBhvr>
                                      <p:to>
                                        <p:strVal val="visible"/>
                                      </p:to>
                                    </p:set>
                                    <p:animEffect transition="in" filter="fade">
                                      <p:cBhvr>
                                        <p:cTn id="105" dur="200"/>
                                        <p:tgtEl>
                                          <p:spTgt spid="38"/>
                                        </p:tgtEl>
                                      </p:cBhvr>
                                    </p:animEffect>
                                  </p:childTnLst>
                                </p:cTn>
                              </p:par>
                              <p:par>
                                <p:cTn id="111" presetID="53" presetClass="entr" presetSubtype="16" fill="hold" grpId="0" nodeType="withEffect">
                                  <p:stCondLst>
                                    <p:cond delay="11040"/>
                                  </p:stCondLst>
                                  <p:childTnLst>
                                    <p:set>
                                      <p:cBhvr>
                                        <p:cTn id="107" dur="1" fill="hold">
                                          <p:stCondLst>
                                            <p:cond delay="0"/>
                                          </p:stCondLst>
                                        </p:cTn>
                                        <p:tgtEl>
                                          <p:spTgt spid="27"/>
                                        </p:tgtEl>
                                        <p:attrNameLst>
                                          <p:attrName>style.visibility</p:attrName>
                                        </p:attrNameLst>
                                      </p:cBhvr>
                                      <p:to>
                                        <p:strVal val="visible"/>
                                      </p:to>
                                    </p:set>
                                    <p:anim calcmode="lin" valueType="num">
                                      <p:cBhvr additive="base">
                                        <p:cTn id="108" dur="300" fill="hold"/>
                                        <p:tgtEl>
                                          <p:spTgt spid="27"/>
                                        </p:tgtEl>
                                        <p:attrNameLst>
                                          <p:attrName>ppt_w</p:attrName>
                                        </p:attrNameLst>
                                      </p:cBhvr>
                                      <p:tavLst>
                                        <p:tav tm="0">
                                          <p:val>
                                            <p:strVal val="0"/>
                                          </p:val>
                                        </p:tav>
                                        <p:tav tm="100000">
                                          <p:val>
                                            <p:strVal val="#ppt_w"/>
                                          </p:val>
                                        </p:tav>
                                      </p:tavLst>
                                    </p:anim>
                                    <p:anim calcmode="lin" valueType="num">
                                      <p:cBhvr additive="base">
                                        <p:cTn id="109" dur="300" fill="hold"/>
                                        <p:tgtEl>
                                          <p:spTgt spid="27"/>
                                        </p:tgtEl>
                                        <p:attrNameLst>
                                          <p:attrName>ppt_h</p:attrName>
                                        </p:attrNameLst>
                                      </p:cBhvr>
                                      <p:tavLst>
                                        <p:tav tm="0">
                                          <p:val>
                                            <p:strVal val="0"/>
                                          </p:val>
                                        </p:tav>
                                        <p:tav tm="100000">
                                          <p:val>
                                            <p:strVal val="#ppt_h"/>
                                          </p:val>
                                        </p:tav>
                                      </p:tavLst>
                                    </p:anim>
                                    <p:animEffect transition="in" filter="fade">
                                      <p:cBhvr>
                                        <p:cTn id="110" dur="300"/>
                                        <p:tgtEl>
                                          <p:spTgt spid="27"/>
                                        </p:tgtEl>
                                      </p:cBhvr>
                                    </p:animEffect>
                                  </p:childTnLst>
                                </p:cTn>
                              </p:par>
                              <p:par>
                                <p:cTn id="116" presetID="53" presetClass="entr" presetSubtype="16" fill="hold" grpId="0" nodeType="withEffect">
                                  <p:stCondLst>
                                    <p:cond delay="11062"/>
                                  </p:stCondLst>
                                  <p:childTnLst>
                                    <p:set>
                                      <p:cBhvr>
                                        <p:cTn id="112" dur="1" fill="hold">
                                          <p:stCondLst>
                                            <p:cond delay="0"/>
                                          </p:stCondLst>
                                        </p:cTn>
                                        <p:tgtEl>
                                          <p:spTgt spid="11"/>
                                        </p:tgtEl>
                                        <p:attrNameLst>
                                          <p:attrName>style.visibility</p:attrName>
                                        </p:attrNameLst>
                                      </p:cBhvr>
                                      <p:to>
                                        <p:strVal val="visible"/>
                                      </p:to>
                                    </p:set>
                                    <p:anim calcmode="lin" valueType="num">
                                      <p:cBhvr additive="base">
                                        <p:cTn id="113" dur="500" fill="hold"/>
                                        <p:tgtEl>
                                          <p:spTgt spid="11"/>
                                        </p:tgtEl>
                                        <p:attrNameLst>
                                          <p:attrName>ppt_w</p:attrName>
                                        </p:attrNameLst>
                                      </p:cBhvr>
                                      <p:tavLst>
                                        <p:tav tm="0">
                                          <p:val>
                                            <p:strVal val="0"/>
                                          </p:val>
                                        </p:tav>
                                        <p:tav tm="100000">
                                          <p:val>
                                            <p:strVal val="#ppt_w"/>
                                          </p:val>
                                        </p:tav>
                                      </p:tavLst>
                                    </p:anim>
                                    <p:anim calcmode="lin" valueType="num">
                                      <p:cBhvr additive="base">
                                        <p:cTn id="114" dur="500" fill="hold"/>
                                        <p:tgtEl>
                                          <p:spTgt spid="11"/>
                                        </p:tgtEl>
                                        <p:attrNameLst>
                                          <p:attrName>ppt_h</p:attrName>
                                        </p:attrNameLst>
                                      </p:cBhvr>
                                      <p:tavLst>
                                        <p:tav tm="0">
                                          <p:val>
                                            <p:strVal val="0"/>
                                          </p:val>
                                        </p:tav>
                                        <p:tav tm="100000">
                                          <p:val>
                                            <p:strVal val="#ppt_h"/>
                                          </p:val>
                                        </p:tav>
                                      </p:tavLst>
                                    </p:anim>
                                    <p:animEffect transition="in" filter="fade">
                                      <p:cBhvr>
                                        <p:cTn id="115" dur="500"/>
                                        <p:tgtEl>
                                          <p:spTgt spid="11"/>
                                        </p:tgtEl>
                                      </p:cBhvr>
                                    </p:animEffect>
                                  </p:childTnLst>
                                </p:cTn>
                              </p:par>
                              <p:par>
                                <p:cTn id="118" presetID="8" presetClass="emph" presetSubtype="0" fill="hold" grpId="1" nodeType="withEffect" repeatCount="indefinite">
                                  <p:stCondLst>
                                    <p:cond delay="11084"/>
                                  </p:stCondLst>
                                  <p:childTnLst>
                                    <p:animRot by="21600000">
                                      <p:cBhvr>
                                        <p:cTn id="117" dur="1500" fill="hold"/>
                                        <p:tgtEl>
                                          <p:spTgt spid="27"/>
                                        </p:tgtEl>
                                        <p:attrNameLst>
                                          <p:attrName>r</p:attrName>
                                        </p:attrNameLst>
                                      </p:cBhvr>
                                    </p:animRot>
                                  </p:childTnLst>
                                </p:cTn>
                              </p:par>
                              <p:par>
                                <p:cTn id="123" presetID="53" presetClass="entr" presetSubtype="16" fill="hold" grpId="0" nodeType="withEffect">
                                  <p:stCondLst>
                                    <p:cond delay="11106"/>
                                  </p:stCondLst>
                                  <p:childTnLst>
                                    <p:set>
                                      <p:cBhvr>
                                        <p:cTn id="119" dur="1" fill="hold">
                                          <p:stCondLst>
                                            <p:cond delay="0"/>
                                          </p:stCondLst>
                                        </p:cTn>
                                        <p:tgtEl>
                                          <p:spTgt spid="12"/>
                                        </p:tgtEl>
                                        <p:attrNameLst>
                                          <p:attrName>style.visibility</p:attrName>
                                        </p:attrNameLst>
                                      </p:cBhvr>
                                      <p:to>
                                        <p:strVal val="visible"/>
                                      </p:to>
                                    </p:set>
                                    <p:anim calcmode="lin" valueType="num">
                                      <p:cBhvr additive="base">
                                        <p:cTn id="120" dur="400" fill="hold"/>
                                        <p:tgtEl>
                                          <p:spTgt spid="12"/>
                                        </p:tgtEl>
                                        <p:attrNameLst>
                                          <p:attrName>ppt_w</p:attrName>
                                        </p:attrNameLst>
                                      </p:cBhvr>
                                      <p:tavLst>
                                        <p:tav tm="0">
                                          <p:val>
                                            <p:strVal val="0"/>
                                          </p:val>
                                        </p:tav>
                                        <p:tav tm="100000">
                                          <p:val>
                                            <p:strVal val="#ppt_w"/>
                                          </p:val>
                                        </p:tav>
                                      </p:tavLst>
                                    </p:anim>
                                    <p:anim calcmode="lin" valueType="num">
                                      <p:cBhvr additive="base">
                                        <p:cTn id="121" dur="400" fill="hold"/>
                                        <p:tgtEl>
                                          <p:spTgt spid="12"/>
                                        </p:tgtEl>
                                        <p:attrNameLst>
                                          <p:attrName>ppt_h</p:attrName>
                                        </p:attrNameLst>
                                      </p:cBhvr>
                                      <p:tavLst>
                                        <p:tav tm="0">
                                          <p:val>
                                            <p:strVal val="0"/>
                                          </p:val>
                                        </p:tav>
                                        <p:tav tm="100000">
                                          <p:val>
                                            <p:strVal val="#ppt_h"/>
                                          </p:val>
                                        </p:tav>
                                      </p:tavLst>
                                    </p:anim>
                                    <p:animEffect transition="in" filter="fade">
                                      <p:cBhvr>
                                        <p:cTn id="122" dur="400"/>
                                        <p:tgtEl>
                                          <p:spTgt spid="12"/>
                                        </p:tgtEl>
                                      </p:cBhvr>
                                    </p:animEffect>
                                  </p:childTnLst>
                                </p:cTn>
                              </p:par>
                              <p:par>
                                <p:cTn id="126" presetID="10" presetClass="exit" presetSubtype="0" fill="hold" grpId="1" nodeType="withEffect">
                                  <p:stCondLst>
                                    <p:cond delay="11128"/>
                                  </p:stCondLst>
                                  <p:childTnLst>
                                    <p:animEffect transition="out" filter="fade">
                                      <p:cBhvr>
                                        <p:cTn id="124" dur="220"/>
                                        <p:tgtEl>
                                          <p:spTgt spid="19"/>
                                        </p:tgtEl>
                                      </p:cBhvr>
                                    </p:animEffect>
                                    <p:set>
                                      <p:cBhvr>
                                        <p:cTn id="125" dur="1" fill="hold">
                                          <p:stCondLst>
                                            <p:cond delay="219"/>
                                          </p:stCondLst>
                                        </p:cTn>
                                        <p:tgtEl>
                                          <p:spTgt spid="19"/>
                                        </p:tgtEl>
                                        <p:attrNameLst>
                                          <p:attrName>style.visibility</p:attrName>
                                        </p:attrNameLst>
                                      </p:cBhvr>
                                      <p:to>
                                        <p:strVal val="hidden"/>
                                      </p:to>
                                    </p:set>
                                  </p:childTnLst>
                                </p:cTn>
                              </p:par>
                              <p:par>
                                <p:cTn id="129" presetID="10" presetClass="entr" presetSubtype="0" fill="hold" grpId="0" nodeType="withEffect">
                                  <p:stCondLst>
                                    <p:cond delay="11150"/>
                                  </p:stCondLst>
                                  <p:childTnLst>
                                    <p:set>
                                      <p:cBhvr>
                                        <p:cTn id="127" dur="1" fill="hold">
                                          <p:stCondLst>
                                            <p:cond delay="0"/>
                                          </p:stCondLst>
                                        </p:cTn>
                                        <p:tgtEl>
                                          <p:spTgt spid="20"/>
                                        </p:tgtEl>
                                        <p:attrNameLst>
                                          <p:attrName>style.visibility</p:attrName>
                                        </p:attrNameLst>
                                      </p:cBhvr>
                                      <p:to>
                                        <p:strVal val="visible"/>
                                      </p:to>
                                    </p:set>
                                    <p:animEffect transition="in" filter="fade">
                                      <p:cBhvr>
                                        <p:cTn id="128" dur="220"/>
                                        <p:tgtEl>
                                          <p:spTgt spid="20"/>
                                        </p:tgtEl>
                                      </p:cBhvr>
                                    </p:animEffect>
                                  </p:childTnLst>
                                </p:cTn>
                              </p:par>
                              <p:par>
                                <p:cTn id="132" presetID="10" presetClass="exit" presetSubtype="0" fill="hold" grpId="1" nodeType="withEffect">
                                  <p:stCondLst>
                                    <p:cond delay="20900"/>
                                  </p:stCondLst>
                                  <p:childTnLst>
                                    <p:animEffect transition="out" filter="fade">
                                      <p:cBhvr>
                                        <p:cTn id="130" dur="200"/>
                                        <p:tgtEl>
                                          <p:spTgt spid="36"/>
                                        </p:tgtEl>
                                      </p:cBhvr>
                                    </p:animEffect>
                                    <p:set>
                                      <p:cBhvr>
                                        <p:cTn id="131" dur="1" fill="hold">
                                          <p:stCondLst>
                                            <p:cond delay="199"/>
                                          </p:stCondLst>
                                        </p:cTn>
                                        <p:tgtEl>
                                          <p:spTgt spid="36"/>
                                        </p:tgtEl>
                                        <p:attrNameLst>
                                          <p:attrName>style.visibility</p:attrName>
                                        </p:attrNameLst>
                                      </p:cBhvr>
                                      <p:to>
                                        <p:strVal val="hidden"/>
                                      </p:to>
                                    </p:set>
                                  </p:childTnLst>
                                </p:cTn>
                              </p:par>
                              <p:par>
                                <p:cTn id="135" presetID="10" presetClass="exit" presetSubtype="0" fill="hold" grpId="1" nodeType="withEffect">
                                  <p:stCondLst>
                                    <p:cond delay="20935"/>
                                  </p:stCondLst>
                                  <p:childTnLst>
                                    <p:animEffect transition="out" filter="fade">
                                      <p:cBhvr>
                                        <p:cTn id="133" dur="250"/>
                                        <p:tgtEl>
                                          <p:spTgt spid="11"/>
                                        </p:tgtEl>
                                      </p:cBhvr>
                                    </p:animEffect>
                                    <p:set>
                                      <p:cBhvr>
                                        <p:cTn id="134" dur="1" fill="hold">
                                          <p:stCondLst>
                                            <p:cond delay="249"/>
                                          </p:stCondLst>
                                        </p:cTn>
                                        <p:tgtEl>
                                          <p:spTgt spid="11"/>
                                        </p:tgtEl>
                                        <p:attrNameLst>
                                          <p:attrName>style.visibility</p:attrName>
                                        </p:attrNameLst>
                                      </p:cBhvr>
                                      <p:to>
                                        <p:strVal val="hidden"/>
                                      </p:to>
                                    </p:set>
                                  </p:childTnLst>
                                </p:cTn>
                              </p:par>
                              <p:par>
                                <p:cTn id="138" presetID="10" presetClass="exit" presetSubtype="0" fill="hold" grpId="1" nodeType="withEffect">
                                  <p:stCondLst>
                                    <p:cond delay="20970"/>
                                  </p:stCondLst>
                                  <p:childTnLst>
                                    <p:animEffect transition="out" filter="fade">
                                      <p:cBhvr>
                                        <p:cTn id="136" dur="250"/>
                                        <p:tgtEl>
                                          <p:spTgt spid="12"/>
                                        </p:tgtEl>
                                      </p:cBhvr>
                                    </p:animEffect>
                                    <p:set>
                                      <p:cBhvr>
                                        <p:cTn id="137" dur="1" fill="hold">
                                          <p:stCondLst>
                                            <p:cond delay="249"/>
                                          </p:stCondLst>
                                        </p:cTn>
                                        <p:tgtEl>
                                          <p:spTgt spid="12"/>
                                        </p:tgtEl>
                                        <p:attrNameLst>
                                          <p:attrName>style.visibility</p:attrName>
                                        </p:attrNameLst>
                                      </p:cBhvr>
                                      <p:to>
                                        <p:strVal val="hidden"/>
                                      </p:to>
                                    </p:set>
                                  </p:childTnLst>
                                </p:cTn>
                              </p:par>
                              <p:par>
                                <p:cTn id="141" presetID="10" presetClass="exit" presetSubtype="0" fill="hold" grpId="2" nodeType="withEffect">
                                  <p:stCondLst>
                                    <p:cond delay="21005"/>
                                  </p:stCondLst>
                                  <p:childTnLst>
                                    <p:animEffect transition="out" filter="fade">
                                      <p:cBhvr>
                                        <p:cTn id="139" dur="250"/>
                                        <p:tgtEl>
                                          <p:spTgt spid="27"/>
                                        </p:tgtEl>
                                      </p:cBhvr>
                                    </p:animEffect>
                                    <p:set>
                                      <p:cBhvr>
                                        <p:cTn id="140" dur="1" fill="hold">
                                          <p:stCondLst>
                                            <p:cond delay="249"/>
                                          </p:stCondLst>
                                        </p:cTn>
                                        <p:tgtEl>
                                          <p:spTgt spid="27"/>
                                        </p:tgtEl>
                                        <p:attrNameLst>
                                          <p:attrName>style.visibility</p:attrName>
                                        </p:attrNameLst>
                                      </p:cBhvr>
                                      <p:to>
                                        <p:strVal val="hidden"/>
                                      </p:to>
                                    </p:set>
                                  </p:childTnLst>
                                </p:cTn>
                              </p:par>
                              <p:par>
                                <p:cTn id="144" presetID="10" presetClass="exit" presetSubtype="0" fill="hold" grpId="1" nodeType="withEffect">
                                  <p:stCondLst>
                                    <p:cond delay="21040"/>
                                  </p:stCondLst>
                                  <p:childTnLst>
                                    <p:animEffect transition="out" filter="fade">
                                      <p:cBhvr>
                                        <p:cTn id="142" dur="200"/>
                                        <p:tgtEl>
                                          <p:spTgt spid="37"/>
                                        </p:tgtEl>
                                      </p:cBhvr>
                                    </p:animEffect>
                                    <p:set>
                                      <p:cBhvr>
                                        <p:cTn id="143" dur="1" fill="hold">
                                          <p:stCondLst>
                                            <p:cond delay="199"/>
                                          </p:stCondLst>
                                        </p:cTn>
                                        <p:tgtEl>
                                          <p:spTgt spid="37"/>
                                        </p:tgtEl>
                                        <p:attrNameLst>
                                          <p:attrName>style.visibility</p:attrName>
                                        </p:attrNameLst>
                                      </p:cBhvr>
                                      <p:to>
                                        <p:strVal val="hidden"/>
                                      </p:to>
                                    </p:set>
                                  </p:childTnLst>
                                </p:cTn>
                              </p:par>
                              <p:par>
                                <p:cTn id="147" presetID="10" presetClass="exit" presetSubtype="0" fill="hold" grpId="1" nodeType="withEffect">
                                  <p:stCondLst>
                                    <p:cond delay="21075"/>
                                  </p:stCondLst>
                                  <p:childTnLst>
                                    <p:animEffect transition="out" filter="fade">
                                      <p:cBhvr>
                                        <p:cTn id="145" dur="200"/>
                                        <p:tgtEl>
                                          <p:spTgt spid="38"/>
                                        </p:tgtEl>
                                      </p:cBhvr>
                                    </p:animEffect>
                                    <p:set>
                                      <p:cBhvr>
                                        <p:cTn id="146" dur="1" fill="hold">
                                          <p:stCondLst>
                                            <p:cond delay="199"/>
                                          </p:stCondLst>
                                        </p:cTn>
                                        <p:tgtEl>
                                          <p:spTgt spid="38"/>
                                        </p:tgtEl>
                                        <p:attrNameLst>
                                          <p:attrName>style.visibility</p:attrName>
                                        </p:attrNameLst>
                                      </p:cBhvr>
                                      <p:to>
                                        <p:strVal val="hidden"/>
                                      </p:to>
                                    </p:set>
                                  </p:childTnLst>
                                </p:cTn>
                              </p:par>
                              <p:par>
                                <p:cTn id="152" presetID="42" presetClass="entr" presetSubtype="0" fill="hold" grpId="0" nodeType="withEffect">
                                  <p:stCondLst>
                                    <p:cond delay="21110"/>
                                  </p:stCondLst>
                                  <p:childTnLst>
                                    <p:set>
                                      <p:cBhvr>
                                        <p:cTn id="148" dur="1" fill="hold">
                                          <p:stCondLst>
                                            <p:cond delay="0"/>
                                          </p:stCondLst>
                                        </p:cTn>
                                        <p:tgtEl>
                                          <p:spTgt spid="39"/>
                                        </p:tgtEl>
                                        <p:attrNameLst>
                                          <p:attrName>style.visibility</p:attrName>
                                        </p:attrNameLst>
                                      </p:cBhvr>
                                      <p:to>
                                        <p:strVal val="visible"/>
                                      </p:to>
                                    </p:set>
                                    <p:animEffect transition="in" filter="fade">
                                      <p:cBhvr>
                                        <p:cTn id="149" dur="400"/>
                                        <p:tgtEl>
                                          <p:spTgt spid="39"/>
                                        </p:tgtEl>
                                      </p:cBhvr>
                                    </p:animEffect>
                                    <p:anim calcmode="lin" valueType="num">
                                      <p:cBhvr additive="base">
                                        <p:cTn id="150" dur="400" fill="hold"/>
                                        <p:tgtEl>
                                          <p:spTgt spid="39"/>
                                        </p:tgtEl>
                                        <p:attrNameLst>
                                          <p:attrName>ppt_x</p:attrName>
                                        </p:attrNameLst>
                                      </p:cBhvr>
                                      <p:tavLst>
                                        <p:tav tm="0">
                                          <p:val>
                                            <p:strVal val="#ppt_x-.05"/>
                                          </p:val>
                                        </p:tav>
                                        <p:tav tm="100000">
                                          <p:val>
                                            <p:strVal val="#ppt_x"/>
                                          </p:val>
                                        </p:tav>
                                      </p:tavLst>
                                    </p:anim>
                                    <p:anim calcmode="lin" valueType="num">
                                      <p:cBhvr additive="base">
                                        <p:cTn id="151" dur="400" fill="hold"/>
                                        <p:tgtEl>
                                          <p:spTgt spid="39"/>
                                        </p:tgtEl>
                                        <p:attrNameLst>
                                          <p:attrName>ppt_y</p:attrName>
                                        </p:attrNameLst>
                                      </p:cBhvr>
                                      <p:tavLst>
                                        <p:tav tm="0">
                                          <p:val>
                                            <p:strVal val="#ppt_y"/>
                                          </p:val>
                                        </p:tav>
                                        <p:tav tm="100000">
                                          <p:val>
                                            <p:strVal val="#ppt_y"/>
                                          </p:val>
                                        </p:tav>
                                      </p:tavLst>
                                    </p:anim>
                                  </p:childTnLst>
                                </p:cTn>
                              </p:par>
                              <p:par>
                                <p:cTn id="155" presetID="22" presetClass="entr" presetSubtype="8" fill="hold" grpId="0" nodeType="withEffect">
                                  <p:stCondLst>
                                    <p:cond delay="21145"/>
                                  </p:stCondLst>
                                  <p:childTnLst>
                                    <p:set>
                                      <p:cBhvr>
                                        <p:cTn id="153" dur="1" fill="hold">
                                          <p:stCondLst>
                                            <p:cond delay="0"/>
                                          </p:stCondLst>
                                        </p:cTn>
                                        <p:tgtEl>
                                          <p:spTgt spid="13"/>
                                        </p:tgtEl>
                                        <p:attrNameLst>
                                          <p:attrName>style.visibility</p:attrName>
                                        </p:attrNameLst>
                                      </p:cBhvr>
                                      <p:to>
                                        <p:strVal val="visible"/>
                                      </p:to>
                                    </p:set>
                                    <p:animEffect transition="in" filter="wipe(left)">
                                      <p:cBhvr>
                                        <p:cTn id="154" dur="600"/>
                                        <p:tgtEl>
                                          <p:spTgt spid="13"/>
                                        </p:tgtEl>
                                      </p:cBhvr>
                                    </p:animEffect>
                                  </p:childTnLst>
                                </p:cTn>
                              </p:par>
                              <p:par>
                                <p:cTn id="160" presetID="42" presetClass="entr" presetSubtype="0" fill="hold" grpId="0" nodeType="withEffect">
                                  <p:stCondLst>
                                    <p:cond delay="21180"/>
                                  </p:stCondLst>
                                  <p:childTnLst>
                                    <p:set>
                                      <p:cBhvr>
                                        <p:cTn id="156" dur="1" fill="hold">
                                          <p:stCondLst>
                                            <p:cond delay="0"/>
                                          </p:stCondLst>
                                        </p:cTn>
                                        <p:tgtEl>
                                          <p:spTgt spid="40"/>
                                        </p:tgtEl>
                                        <p:attrNameLst>
                                          <p:attrName>style.visibility</p:attrName>
                                        </p:attrNameLst>
                                      </p:cBhvr>
                                      <p:to>
                                        <p:strVal val="visible"/>
                                      </p:to>
                                    </p:set>
                                    <p:animEffect transition="in" filter="fade">
                                      <p:cBhvr>
                                        <p:cTn id="157" dur="300"/>
                                        <p:tgtEl>
                                          <p:spTgt spid="40"/>
                                        </p:tgtEl>
                                      </p:cBhvr>
                                    </p:animEffect>
                                    <p:anim calcmode="lin" valueType="num">
                                      <p:cBhvr additive="base">
                                        <p:cTn id="158" dur="300" fill="hold"/>
                                        <p:tgtEl>
                                          <p:spTgt spid="40"/>
                                        </p:tgtEl>
                                        <p:attrNameLst>
                                          <p:attrName>ppt_x</p:attrName>
                                        </p:attrNameLst>
                                      </p:cBhvr>
                                      <p:tavLst>
                                        <p:tav tm="0">
                                          <p:val>
                                            <p:strVal val="#ppt_x-.05"/>
                                          </p:val>
                                        </p:tav>
                                        <p:tav tm="100000">
                                          <p:val>
                                            <p:strVal val="#ppt_x"/>
                                          </p:val>
                                        </p:tav>
                                      </p:tavLst>
                                    </p:anim>
                                    <p:anim calcmode="lin" valueType="num">
                                      <p:cBhvr additive="base">
                                        <p:cTn id="159" dur="300" fill="hold"/>
                                        <p:tgtEl>
                                          <p:spTgt spid="40"/>
                                        </p:tgtEl>
                                        <p:attrNameLst>
                                          <p:attrName>ppt_y</p:attrName>
                                        </p:attrNameLst>
                                      </p:cBhvr>
                                      <p:tavLst>
                                        <p:tav tm="0">
                                          <p:val>
                                            <p:strVal val="#ppt_y"/>
                                          </p:val>
                                        </p:tav>
                                        <p:tav tm="100000">
                                          <p:val>
                                            <p:strVal val="#ppt_y"/>
                                          </p:val>
                                        </p:tav>
                                      </p:tavLst>
                                    </p:anim>
                                  </p:childTnLst>
                                </p:cTn>
                              </p:par>
                              <p:par>
                                <p:cTn id="163" presetID="10" presetClass="entr" presetSubtype="0" fill="hold" grpId="0" nodeType="withEffect">
                                  <p:stCondLst>
                                    <p:cond delay="21215"/>
                                  </p:stCondLst>
                                  <p:childTnLst>
                                    <p:set>
                                      <p:cBhvr>
                                        <p:cTn id="161" dur="1" fill="hold">
                                          <p:stCondLst>
                                            <p:cond delay="0"/>
                                          </p:stCondLst>
                                        </p:cTn>
                                        <p:tgtEl>
                                          <p:spTgt spid="41"/>
                                        </p:tgtEl>
                                        <p:attrNameLst>
                                          <p:attrName>style.visibility</p:attrName>
                                        </p:attrNameLst>
                                      </p:cBhvr>
                                      <p:to>
                                        <p:strVal val="visible"/>
                                      </p:to>
                                    </p:set>
                                    <p:animEffect transition="in" filter="fade">
                                      <p:cBhvr>
                                        <p:cTn id="162" dur="200"/>
                                        <p:tgtEl>
                                          <p:spTgt spid="41"/>
                                        </p:tgtEl>
                                      </p:cBhvr>
                                    </p:animEffect>
                                  </p:childTnLst>
                                </p:cTn>
                              </p:par>
                              <p:par>
                                <p:cTn id="167" presetID="2" presetClass="entr" presetSubtype="8" fill="hold" grpId="0" nodeType="withEffect">
                                  <p:stCondLst>
                                    <p:cond delay="21250"/>
                                  </p:stCondLst>
                                  <p:childTnLst>
                                    <p:set>
                                      <p:cBhvr>
                                        <p:cTn id="164" dur="1" fill="hold">
                                          <p:stCondLst>
                                            <p:cond delay="0"/>
                                          </p:stCondLst>
                                        </p:cTn>
                                        <p:tgtEl>
                                          <p:spTgt spid="14"/>
                                        </p:tgtEl>
                                        <p:attrNameLst>
                                          <p:attrName>style.visibility</p:attrName>
                                        </p:attrNameLst>
                                      </p:cBhvr>
                                      <p:to>
                                        <p:strVal val="visible"/>
                                      </p:to>
                                    </p:set>
                                    <p:anim calcmode="lin" valueType="num">
                                      <p:cBhvr additive="base">
                                        <p:cTn id="165" dur="2300" fill="hold"/>
                                        <p:tgtEl>
                                          <p:spTgt spid="14"/>
                                        </p:tgtEl>
                                        <p:attrNameLst>
                                          <p:attrName>ppt_x</p:attrName>
                                        </p:attrNameLst>
                                      </p:cBhvr>
                                      <p:tavLst>
                                        <p:tav tm="0">
                                          <p:val>
                                            <p:strVal val="0-#ppt_w/2"/>
                                          </p:val>
                                        </p:tav>
                                        <p:tav tm="100000">
                                          <p:val>
                                            <p:strVal val="1+#ppt_w/2"/>
                                          </p:val>
                                        </p:tav>
                                      </p:tavLst>
                                    </p:anim>
                                    <p:anim calcmode="lin" valueType="num">
                                      <p:cBhvr additive="base">
                                        <p:cTn id="166" dur="2300" fill="hold"/>
                                        <p:tgtEl>
                                          <p:spTgt spid="14"/>
                                        </p:tgtEl>
                                        <p:attrNameLst>
                                          <p:attrName>ppt_y</p:attrName>
                                        </p:attrNameLst>
                                      </p:cBhvr>
                                      <p:tavLst>
                                        <p:tav tm="0">
                                          <p:val>
                                            <p:strVal val="#ppt_y"/>
                                          </p:val>
                                        </p:tav>
                                        <p:tav tm="100000">
                                          <p:val>
                                            <p:strVal val="#ppt_y"/>
                                          </p:val>
                                        </p:tav>
                                      </p:tavLst>
                                    </p:anim>
                                  </p:childTnLst>
                                </p:cTn>
                              </p:par>
                              <p:par>
                                <p:cTn id="170" presetID="10" presetClass="exit" presetSubtype="0" fill="hold" grpId="1" nodeType="withEffect">
                                  <p:stCondLst>
                                    <p:cond delay="25265"/>
                                  </p:stCondLst>
                                  <p:childTnLst>
                                    <p:animEffect transition="out" filter="fade">
                                      <p:cBhvr>
                                        <p:cTn id="168" dur="250"/>
                                        <p:tgtEl>
                                          <p:spTgt spid="13"/>
                                        </p:tgtEl>
                                      </p:cBhvr>
                                    </p:animEffect>
                                    <p:set>
                                      <p:cBhvr>
                                        <p:cTn id="169" dur="1" fill="hold">
                                          <p:stCondLst>
                                            <p:cond delay="249"/>
                                          </p:stCondLst>
                                        </p:cTn>
                                        <p:tgtEl>
                                          <p:spTgt spid="13"/>
                                        </p:tgtEl>
                                        <p:attrNameLst>
                                          <p:attrName>style.visibility</p:attrName>
                                        </p:attrNameLst>
                                      </p:cBhvr>
                                      <p:to>
                                        <p:strVal val="hidden"/>
                                      </p:to>
                                    </p:set>
                                  </p:childTnLst>
                                </p:cTn>
                              </p:par>
                              <p:par>
                                <p:cTn id="173" presetID="10" presetClass="entr" presetSubtype="0" fill="hold" grpId="0" nodeType="withEffect">
                                  <p:stCondLst>
                                    <p:cond delay="25335"/>
                                  </p:stCondLst>
                                  <p:childTnLst>
                                    <p:set>
                                      <p:cBhvr>
                                        <p:cTn id="171" dur="1" fill="hold">
                                          <p:stCondLst>
                                            <p:cond delay="0"/>
                                          </p:stCondLst>
                                        </p:cTn>
                                        <p:tgtEl>
                                          <p:spTgt spid="42"/>
                                        </p:tgtEl>
                                        <p:attrNameLst>
                                          <p:attrName>style.visibility</p:attrName>
                                        </p:attrNameLst>
                                      </p:cBhvr>
                                      <p:to>
                                        <p:strVal val="visible"/>
                                      </p:to>
                                    </p:set>
                                    <p:animEffect transition="in" filter="fade">
                                      <p:cBhvr>
                                        <p:cTn id="172" dur="80"/>
                                        <p:tgtEl>
                                          <p:spTgt spid="42"/>
                                        </p:tgtEl>
                                      </p:cBhvr>
                                    </p:animEffect>
                                  </p:childTnLst>
                                </p:cTn>
                              </p:par>
                              <p:par>
                                <p:cTn id="178" presetID="53" presetClass="entr" presetSubtype="16" fill="hold" grpId="0" nodeType="withEffect">
                                  <p:stCondLst>
                                    <p:cond delay="25405"/>
                                  </p:stCondLst>
                                  <p:childTnLst>
                                    <p:set>
                                      <p:cBhvr>
                                        <p:cTn id="174" dur="1" fill="hold">
                                          <p:stCondLst>
                                            <p:cond delay="0"/>
                                          </p:stCondLst>
                                        </p:cTn>
                                        <p:tgtEl>
                                          <p:spTgt spid="7"/>
                                        </p:tgtEl>
                                        <p:attrNameLst>
                                          <p:attrName>style.visibility</p:attrName>
                                        </p:attrNameLst>
                                      </p:cBhvr>
                                      <p:to>
                                        <p:strVal val="visible"/>
                                      </p:to>
                                    </p:set>
                                    <p:anim calcmode="lin" valueType="num">
                                      <p:cBhvr additive="base">
                                        <p:cTn id="175" dur="300" fill="hold"/>
                                        <p:tgtEl>
                                          <p:spTgt spid="7"/>
                                        </p:tgtEl>
                                        <p:attrNameLst>
                                          <p:attrName>ppt_w</p:attrName>
                                        </p:attrNameLst>
                                      </p:cBhvr>
                                      <p:tavLst>
                                        <p:tav tm="0">
                                          <p:val>
                                            <p:strVal val="0"/>
                                          </p:val>
                                        </p:tav>
                                        <p:tav tm="100000">
                                          <p:val>
                                            <p:strVal val="#ppt_w"/>
                                          </p:val>
                                        </p:tav>
                                      </p:tavLst>
                                    </p:anim>
                                    <p:anim calcmode="lin" valueType="num">
                                      <p:cBhvr additive="base">
                                        <p:cTn id="176" dur="300" fill="hold"/>
                                        <p:tgtEl>
                                          <p:spTgt spid="7"/>
                                        </p:tgtEl>
                                        <p:attrNameLst>
                                          <p:attrName>ppt_h</p:attrName>
                                        </p:attrNameLst>
                                      </p:cBhvr>
                                      <p:tavLst>
                                        <p:tav tm="0">
                                          <p:val>
                                            <p:strVal val="0"/>
                                          </p:val>
                                        </p:tav>
                                        <p:tav tm="100000">
                                          <p:val>
                                            <p:strVal val="#ppt_h"/>
                                          </p:val>
                                        </p:tav>
                                      </p:tavLst>
                                    </p:anim>
                                    <p:animEffect transition="in" filter="fade">
                                      <p:cBhvr>
                                        <p:cTn id="177" dur="300"/>
                                        <p:tgtEl>
                                          <p:spTgt spid="7"/>
                                        </p:tgtEl>
                                      </p:cBhvr>
                                    </p:animEffect>
                                  </p:childTnLst>
                                </p:cTn>
                              </p:par>
                              <p:par>
                                <p:cTn id="181" presetID="10" presetClass="exit" presetSubtype="0" fill="hold" grpId="1" nodeType="withEffect">
                                  <p:stCondLst>
                                    <p:cond delay="25455"/>
                                  </p:stCondLst>
                                  <p:childTnLst>
                                    <p:animEffect transition="out" filter="fade">
                                      <p:cBhvr>
                                        <p:cTn id="179" dur="300"/>
                                        <p:tgtEl>
                                          <p:spTgt spid="42"/>
                                        </p:tgtEl>
                                      </p:cBhvr>
                                    </p:animEffect>
                                    <p:set>
                                      <p:cBhvr>
                                        <p:cTn id="180" dur="1" fill="hold">
                                          <p:stCondLst>
                                            <p:cond delay="299"/>
                                          </p:stCondLst>
                                        </p:cTn>
                                        <p:tgtEl>
                                          <p:spTgt spid="42"/>
                                        </p:tgtEl>
                                        <p:attrNameLst>
                                          <p:attrName>style.visibility</p:attrName>
                                        </p:attrNameLst>
                                      </p:cBhvr>
                                      <p:to>
                                        <p:strVal val="hidden"/>
                                      </p:to>
                                    </p:set>
                                  </p:childTnLst>
                                </p:cTn>
                              </p:par>
                              <p:par>
                                <p:cTn id="185" presetID="2" presetClass="entr" presetSubtype="8" fill="hold" grpId="0" nodeType="withEffect">
                                  <p:stCondLst>
                                    <p:cond delay="25475"/>
                                  </p:stCondLst>
                                  <p:childTnLst>
                                    <p:set>
                                      <p:cBhvr>
                                        <p:cTn id="182" dur="1" fill="hold">
                                          <p:stCondLst>
                                            <p:cond delay="0"/>
                                          </p:stCondLst>
                                        </p:cTn>
                                        <p:tgtEl>
                                          <p:spTgt spid="15"/>
                                        </p:tgtEl>
                                        <p:attrNameLst>
                                          <p:attrName>style.visibility</p:attrName>
                                        </p:attrNameLst>
                                      </p:cBhvr>
                                      <p:to>
                                        <p:strVal val="visible"/>
                                      </p:to>
                                    </p:set>
                                    <p:anim calcmode="lin" valueType="num">
                                      <p:cBhvr additive="base">
                                        <p:cTn id="183" dur="2600" fill="hold"/>
                                        <p:tgtEl>
                                          <p:spTgt spid="15"/>
                                        </p:tgtEl>
                                        <p:attrNameLst>
                                          <p:attrName>ppt_x</p:attrName>
                                        </p:attrNameLst>
                                      </p:cBhvr>
                                      <p:tavLst>
                                        <p:tav tm="0">
                                          <p:val>
                                            <p:strVal val="0-#ppt_w/2"/>
                                          </p:val>
                                        </p:tav>
                                        <p:tav tm="100000">
                                          <p:val>
                                            <p:strVal val="1+#ppt_w/2"/>
                                          </p:val>
                                        </p:tav>
                                      </p:tavLst>
                                    </p:anim>
                                    <p:anim calcmode="lin" valueType="num">
                                      <p:cBhvr additive="base">
                                        <p:cTn id="184" dur="2600" fill="hold"/>
                                        <p:tgtEl>
                                          <p:spTgt spid="15"/>
                                        </p:tgtEl>
                                        <p:attrNameLst>
                                          <p:attrName>ppt_y</p:attrName>
                                        </p:attrNameLst>
                                      </p:cBhvr>
                                      <p:tavLst>
                                        <p:tav tm="0">
                                          <p:val>
                                            <p:strVal val="#ppt_y"/>
                                          </p:val>
                                        </p:tav>
                                        <p:tav tm="100000">
                                          <p:val>
                                            <p:strVal val="#ppt_y"/>
                                          </p:val>
                                        </p:tav>
                                      </p:tavLst>
                                    </p:anim>
                                  </p:childTnLst>
                                </p:cTn>
                              </p:par>
                              <p:par>
                                <p:cTn id="188" presetID="10" presetClass="exit" presetSubtype="0" fill="hold" grpId="1" nodeType="withEffect">
                                  <p:stCondLst>
                                    <p:cond delay="30250"/>
                                  </p:stCondLst>
                                  <p:childTnLst>
                                    <p:animEffect transition="out" filter="fade">
                                      <p:cBhvr>
                                        <p:cTn id="186" dur="300"/>
                                        <p:tgtEl>
                                          <p:spTgt spid="7"/>
                                        </p:tgtEl>
                                      </p:cBhvr>
                                    </p:animEffect>
                                    <p:set>
                                      <p:cBhvr>
                                        <p:cTn id="187" dur="1" fill="hold">
                                          <p:stCondLst>
                                            <p:cond delay="299"/>
                                          </p:stCondLst>
                                        </p:cTn>
                                        <p:tgtEl>
                                          <p:spTgt spid="7"/>
                                        </p:tgtEl>
                                        <p:attrNameLst>
                                          <p:attrName>style.visibility</p:attrName>
                                        </p:attrNameLst>
                                      </p:cBhvr>
                                      <p:to>
                                        <p:strVal val="hidden"/>
                                      </p:to>
                                    </p:set>
                                  </p:childTnLst>
                                </p:cTn>
                              </p:par>
                              <p:par>
                                <p:cTn id="191" presetID="10" presetClass="exit" presetSubtype="0" fill="hold" grpId="1" nodeType="withEffect">
                                  <p:stCondLst>
                                    <p:cond delay="30600"/>
                                  </p:stCondLst>
                                  <p:childTnLst>
                                    <p:animEffect transition="out" filter="fade">
                                      <p:cBhvr>
                                        <p:cTn id="189" dur="200"/>
                                        <p:tgtEl>
                                          <p:spTgt spid="39"/>
                                        </p:tgtEl>
                                      </p:cBhvr>
                                    </p:animEffect>
                                    <p:set>
                                      <p:cBhvr>
                                        <p:cTn id="190" dur="1" fill="hold">
                                          <p:stCondLst>
                                            <p:cond delay="199"/>
                                          </p:stCondLst>
                                        </p:cTn>
                                        <p:tgtEl>
                                          <p:spTgt spid="39"/>
                                        </p:tgtEl>
                                        <p:attrNameLst>
                                          <p:attrName>style.visibility</p:attrName>
                                        </p:attrNameLst>
                                      </p:cBhvr>
                                      <p:to>
                                        <p:strVal val="hidden"/>
                                      </p:to>
                                    </p:set>
                                  </p:childTnLst>
                                </p:cTn>
                              </p:par>
                              <p:par>
                                <p:cTn id="196" presetID="42" presetClass="entr" presetSubtype="0" fill="hold" grpId="0" nodeType="withEffect">
                                  <p:stCondLst>
                                    <p:cond delay="30619"/>
                                  </p:stCondLst>
                                  <p:childTnLst>
                                    <p:set>
                                      <p:cBhvr>
                                        <p:cTn id="192" dur="1" fill="hold">
                                          <p:stCondLst>
                                            <p:cond delay="0"/>
                                          </p:stCondLst>
                                        </p:cTn>
                                        <p:tgtEl>
                                          <p:spTgt spid="43"/>
                                        </p:tgtEl>
                                        <p:attrNameLst>
                                          <p:attrName>style.visibility</p:attrName>
                                        </p:attrNameLst>
                                      </p:cBhvr>
                                      <p:to>
                                        <p:strVal val="visible"/>
                                      </p:to>
                                    </p:set>
                                    <p:animEffect transition="in" filter="fade">
                                      <p:cBhvr>
                                        <p:cTn id="193" dur="400"/>
                                        <p:tgtEl>
                                          <p:spTgt spid="43"/>
                                        </p:tgtEl>
                                      </p:cBhvr>
                                    </p:animEffect>
                                    <p:anim calcmode="lin" valueType="num">
                                      <p:cBhvr additive="base">
                                        <p:cTn id="194" dur="400" fill="hold"/>
                                        <p:tgtEl>
                                          <p:spTgt spid="43"/>
                                        </p:tgtEl>
                                        <p:attrNameLst>
                                          <p:attrName>ppt_x</p:attrName>
                                        </p:attrNameLst>
                                      </p:cBhvr>
                                      <p:tavLst>
                                        <p:tav tm="0">
                                          <p:val>
                                            <p:strVal val="#ppt_x-.05"/>
                                          </p:val>
                                        </p:tav>
                                        <p:tav tm="100000">
                                          <p:val>
                                            <p:strVal val="#ppt_x"/>
                                          </p:val>
                                        </p:tav>
                                      </p:tavLst>
                                    </p:anim>
                                    <p:anim calcmode="lin" valueType="num">
                                      <p:cBhvr additive="base">
                                        <p:cTn id="195" dur="400" fill="hold"/>
                                        <p:tgtEl>
                                          <p:spTgt spid="43"/>
                                        </p:tgtEl>
                                        <p:attrNameLst>
                                          <p:attrName>ppt_y</p:attrName>
                                        </p:attrNameLst>
                                      </p:cBhvr>
                                      <p:tavLst>
                                        <p:tav tm="0">
                                          <p:val>
                                            <p:strVal val="#ppt_y"/>
                                          </p:val>
                                        </p:tav>
                                        <p:tav tm="100000">
                                          <p:val>
                                            <p:strVal val="#ppt_y"/>
                                          </p:val>
                                        </p:tav>
                                      </p:tavLst>
                                    </p:anim>
                                  </p:childTnLst>
                                </p:cTn>
                              </p:par>
                              <p:par>
                                <p:cTn id="199" presetID="10" presetClass="exit" presetSubtype="0" fill="hold" grpId="1" nodeType="withEffect">
                                  <p:stCondLst>
                                    <p:cond delay="30638"/>
                                  </p:stCondLst>
                                  <p:childTnLst>
                                    <p:animEffect transition="out" filter="fade">
                                      <p:cBhvr>
                                        <p:cTn id="197" dur="200"/>
                                        <p:tgtEl>
                                          <p:spTgt spid="40"/>
                                        </p:tgtEl>
                                      </p:cBhvr>
                                    </p:animEffect>
                                    <p:set>
                                      <p:cBhvr>
                                        <p:cTn id="198" dur="1" fill="hold">
                                          <p:stCondLst>
                                            <p:cond delay="199"/>
                                          </p:stCondLst>
                                        </p:cTn>
                                        <p:tgtEl>
                                          <p:spTgt spid="40"/>
                                        </p:tgtEl>
                                        <p:attrNameLst>
                                          <p:attrName>style.visibility</p:attrName>
                                        </p:attrNameLst>
                                      </p:cBhvr>
                                      <p:to>
                                        <p:strVal val="hidden"/>
                                      </p:to>
                                    </p:set>
                                  </p:childTnLst>
                                </p:cTn>
                              </p:par>
                              <p:par>
                                <p:cTn id="202" presetID="10" presetClass="exit" presetSubtype="0" fill="hold" grpId="1" nodeType="withEffect">
                                  <p:stCondLst>
                                    <p:cond delay="30658"/>
                                  </p:stCondLst>
                                  <p:childTnLst>
                                    <p:animEffect transition="out" filter="fade">
                                      <p:cBhvr>
                                        <p:cTn id="200" dur="200"/>
                                        <p:tgtEl>
                                          <p:spTgt spid="41"/>
                                        </p:tgtEl>
                                      </p:cBhvr>
                                    </p:animEffect>
                                    <p:set>
                                      <p:cBhvr>
                                        <p:cTn id="201" dur="1" fill="hold">
                                          <p:stCondLst>
                                            <p:cond delay="199"/>
                                          </p:stCondLst>
                                        </p:cTn>
                                        <p:tgtEl>
                                          <p:spTgt spid="41"/>
                                        </p:tgtEl>
                                        <p:attrNameLst>
                                          <p:attrName>style.visibility</p:attrName>
                                        </p:attrNameLst>
                                      </p:cBhvr>
                                      <p:to>
                                        <p:strVal val="hidden"/>
                                      </p:to>
                                    </p:set>
                                  </p:childTnLst>
                                </p:cTn>
                              </p:par>
                              <p:par>
                                <p:cTn id="205" presetID="10" presetClass="exit" presetSubtype="0" fill="hold" grpId="1" nodeType="withEffect">
                                  <p:stCondLst>
                                    <p:cond delay="30677"/>
                                  </p:stCondLst>
                                  <p:childTnLst>
                                    <p:animEffect transition="out" filter="fade">
                                      <p:cBhvr>
                                        <p:cTn id="203" dur="220"/>
                                        <p:tgtEl>
                                          <p:spTgt spid="20"/>
                                        </p:tgtEl>
                                      </p:cBhvr>
                                    </p:animEffect>
                                    <p:set>
                                      <p:cBhvr>
                                        <p:cTn id="204" dur="1" fill="hold">
                                          <p:stCondLst>
                                            <p:cond delay="219"/>
                                          </p:stCondLst>
                                        </p:cTn>
                                        <p:tgtEl>
                                          <p:spTgt spid="20"/>
                                        </p:tgtEl>
                                        <p:attrNameLst>
                                          <p:attrName>style.visibility</p:attrName>
                                        </p:attrNameLst>
                                      </p:cBhvr>
                                      <p:to>
                                        <p:strVal val="hidden"/>
                                      </p:to>
                                    </p:set>
                                  </p:childTnLst>
                                </p:cTn>
                              </p:par>
                              <p:par>
                                <p:cTn id="208" presetID="10" presetClass="entr" presetSubtype="0" fill="hold" grpId="0" nodeType="withEffect">
                                  <p:stCondLst>
                                    <p:cond delay="30697"/>
                                  </p:stCondLst>
                                  <p:childTnLst>
                                    <p:set>
                                      <p:cBhvr>
                                        <p:cTn id="206" dur="1" fill="hold">
                                          <p:stCondLst>
                                            <p:cond delay="0"/>
                                          </p:stCondLst>
                                        </p:cTn>
                                        <p:tgtEl>
                                          <p:spTgt spid="21"/>
                                        </p:tgtEl>
                                        <p:attrNameLst>
                                          <p:attrName>style.visibility</p:attrName>
                                        </p:attrNameLst>
                                      </p:cBhvr>
                                      <p:to>
                                        <p:strVal val="visible"/>
                                      </p:to>
                                    </p:set>
                                    <p:animEffect transition="in" filter="fade">
                                      <p:cBhvr>
                                        <p:cTn id="207" dur="220"/>
                                        <p:tgtEl>
                                          <p:spTgt spid="21"/>
                                        </p:tgtEl>
                                      </p:cBhvr>
                                    </p:animEffect>
                                  </p:childTnLst>
                                </p:cTn>
                              </p:par>
                              <p:par>
                                <p:cTn id="211" presetID="10" presetClass="exit" presetSubtype="0" fill="hold" grpId="1" nodeType="withEffect">
                                  <p:stCondLst>
                                    <p:cond delay="30716"/>
                                  </p:stCondLst>
                                  <p:childTnLst>
                                    <p:animEffect transition="out" filter="fade">
                                      <p:cBhvr>
                                        <p:cTn id="209" dur="220"/>
                                        <p:tgtEl>
                                          <p:spTgt spid="23"/>
                                        </p:tgtEl>
                                      </p:cBhvr>
                                    </p:animEffect>
                                    <p:set>
                                      <p:cBhvr>
                                        <p:cTn id="210" dur="1" fill="hold">
                                          <p:stCondLst>
                                            <p:cond delay="219"/>
                                          </p:stCondLst>
                                        </p:cTn>
                                        <p:tgtEl>
                                          <p:spTgt spid="23"/>
                                        </p:tgtEl>
                                        <p:attrNameLst>
                                          <p:attrName>style.visibility</p:attrName>
                                        </p:attrNameLst>
                                      </p:cBhvr>
                                      <p:to>
                                        <p:strVal val="hidden"/>
                                      </p:to>
                                    </p:set>
                                  </p:childTnLst>
                                </p:cTn>
                              </p:par>
                              <p:par>
                                <p:cTn id="214" presetID="10" presetClass="entr" presetSubtype="0" fill="hold" grpId="0" nodeType="withEffect">
                                  <p:stCondLst>
                                    <p:cond delay="30736"/>
                                  </p:stCondLst>
                                  <p:childTnLst>
                                    <p:set>
                                      <p:cBhvr>
                                        <p:cTn id="212" dur="1" fill="hold">
                                          <p:stCondLst>
                                            <p:cond delay="0"/>
                                          </p:stCondLst>
                                        </p:cTn>
                                        <p:tgtEl>
                                          <p:spTgt spid="24"/>
                                        </p:tgtEl>
                                        <p:attrNameLst>
                                          <p:attrName>style.visibility</p:attrName>
                                        </p:attrNameLst>
                                      </p:cBhvr>
                                      <p:to>
                                        <p:strVal val="visible"/>
                                      </p:to>
                                    </p:set>
                                    <p:animEffect transition="in" filter="fade">
                                      <p:cBhvr>
                                        <p:cTn id="213" dur="220"/>
                                        <p:tgtEl>
                                          <p:spTgt spid="24"/>
                                        </p:tgtEl>
                                      </p:cBhvr>
                                    </p:animEffect>
                                  </p:childTnLst>
                                </p:cTn>
                              </p:par>
                              <p:par>
                                <p:cTn id="218" presetID="2" presetClass="entr" presetSubtype="8" fill="hold" grpId="0" nodeType="withEffect">
                                  <p:stCondLst>
                                    <p:cond delay="30755"/>
                                  </p:stCondLst>
                                  <p:childTnLst>
                                    <p:set>
                                      <p:cBhvr>
                                        <p:cTn id="215" dur="1" fill="hold">
                                          <p:stCondLst>
                                            <p:cond delay="0"/>
                                          </p:stCondLst>
                                        </p:cTn>
                                        <p:tgtEl>
                                          <p:spTgt spid="16"/>
                                        </p:tgtEl>
                                        <p:attrNameLst>
                                          <p:attrName>style.visibility</p:attrName>
                                        </p:attrNameLst>
                                      </p:cBhvr>
                                      <p:to>
                                        <p:strVal val="visible"/>
                                      </p:to>
                                    </p:set>
                                    <p:anim calcmode="lin" valueType="num">
                                      <p:cBhvr additive="base">
                                        <p:cTn id="216" dur="600" fill="hold"/>
                                        <p:tgtEl>
                                          <p:spTgt spid="16"/>
                                        </p:tgtEl>
                                        <p:attrNameLst>
                                          <p:attrName>ppt_x</p:attrName>
                                        </p:attrNameLst>
                                      </p:cBhvr>
                                      <p:tavLst>
                                        <p:tav tm="0">
                                          <p:val>
                                            <p:strVal val="0-#ppt_w/2"/>
                                          </p:val>
                                        </p:tav>
                                        <p:tav tm="100000">
                                          <p:val>
                                            <p:strVal val="#ppt_x"/>
                                          </p:val>
                                        </p:tav>
                                      </p:tavLst>
                                    </p:anim>
                                    <p:anim calcmode="lin" valueType="num">
                                      <p:cBhvr additive="base">
                                        <p:cTn id="217" dur="600" fill="hold"/>
                                        <p:tgtEl>
                                          <p:spTgt spid="16"/>
                                        </p:tgtEl>
                                        <p:attrNameLst>
                                          <p:attrName>ppt_y</p:attrName>
                                        </p:attrNameLst>
                                      </p:cBhvr>
                                      <p:tavLst>
                                        <p:tav tm="0">
                                          <p:val>
                                            <p:strVal val="#ppt_y"/>
                                          </p:val>
                                        </p:tav>
                                        <p:tav tm="100000">
                                          <p:val>
                                            <p:strVal val="#ppt_y"/>
                                          </p:val>
                                        </p:tav>
                                      </p:tavLst>
                                    </p:anim>
                                  </p:childTnLst>
                                </p:cTn>
                              </p:par>
                              <p:par>
                                <p:cTn id="223" presetID="42" presetClass="entr" presetSubtype="0" fill="hold" grpId="0" nodeType="withEffect">
                                  <p:stCondLst>
                                    <p:cond delay="30775"/>
                                  </p:stCondLst>
                                  <p:childTnLst>
                                    <p:set>
                                      <p:cBhvr>
                                        <p:cTn id="219" dur="1" fill="hold">
                                          <p:stCondLst>
                                            <p:cond delay="0"/>
                                          </p:stCondLst>
                                        </p:cTn>
                                        <p:tgtEl>
                                          <p:spTgt spid="44"/>
                                        </p:tgtEl>
                                        <p:attrNameLst>
                                          <p:attrName>style.visibility</p:attrName>
                                        </p:attrNameLst>
                                      </p:cBhvr>
                                      <p:to>
                                        <p:strVal val="visible"/>
                                      </p:to>
                                    </p:set>
                                    <p:animEffect transition="in" filter="fade">
                                      <p:cBhvr>
                                        <p:cTn id="220" dur="300"/>
                                        <p:tgtEl>
                                          <p:spTgt spid="44"/>
                                        </p:tgtEl>
                                      </p:cBhvr>
                                    </p:animEffect>
                                    <p:anim calcmode="lin" valueType="num">
                                      <p:cBhvr additive="base">
                                        <p:cTn id="221" dur="300" fill="hold"/>
                                        <p:tgtEl>
                                          <p:spTgt spid="44"/>
                                        </p:tgtEl>
                                        <p:attrNameLst>
                                          <p:attrName>ppt_x</p:attrName>
                                        </p:attrNameLst>
                                      </p:cBhvr>
                                      <p:tavLst>
                                        <p:tav tm="0">
                                          <p:val>
                                            <p:strVal val="#ppt_x-.05"/>
                                          </p:val>
                                        </p:tav>
                                        <p:tav tm="100000">
                                          <p:val>
                                            <p:strVal val="#ppt_x"/>
                                          </p:val>
                                        </p:tav>
                                      </p:tavLst>
                                    </p:anim>
                                    <p:anim calcmode="lin" valueType="num">
                                      <p:cBhvr additive="base">
                                        <p:cTn id="222" dur="300" fill="hold"/>
                                        <p:tgtEl>
                                          <p:spTgt spid="44"/>
                                        </p:tgtEl>
                                        <p:attrNameLst>
                                          <p:attrName>ppt_y</p:attrName>
                                        </p:attrNameLst>
                                      </p:cBhvr>
                                      <p:tavLst>
                                        <p:tav tm="0">
                                          <p:val>
                                            <p:strVal val="#ppt_y"/>
                                          </p:val>
                                        </p:tav>
                                        <p:tav tm="100000">
                                          <p:val>
                                            <p:strVal val="#ppt_y"/>
                                          </p:val>
                                        </p:tav>
                                      </p:tavLst>
                                    </p:anim>
                                  </p:childTnLst>
                                </p:cTn>
                              </p:par>
                              <p:par>
                                <p:cTn id="226" presetID="10" presetClass="entr" presetSubtype="0" fill="hold" grpId="0" nodeType="withEffect">
                                  <p:stCondLst>
                                    <p:cond delay="30794"/>
                                  </p:stCondLst>
                                  <p:childTnLst>
                                    <p:set>
                                      <p:cBhvr>
                                        <p:cTn id="224" dur="1" fill="hold">
                                          <p:stCondLst>
                                            <p:cond delay="0"/>
                                          </p:stCondLst>
                                        </p:cTn>
                                        <p:tgtEl>
                                          <p:spTgt spid="45"/>
                                        </p:tgtEl>
                                        <p:attrNameLst>
                                          <p:attrName>style.visibility</p:attrName>
                                        </p:attrNameLst>
                                      </p:cBhvr>
                                      <p:to>
                                        <p:strVal val="visible"/>
                                      </p:to>
                                    </p:set>
                                    <p:animEffect transition="in" filter="fade">
                                      <p:cBhvr>
                                        <p:cTn id="225" dur="200"/>
                                        <p:tgtEl>
                                          <p:spTgt spid="45"/>
                                        </p:tgtEl>
                                      </p:cBhvr>
                                    </p:animEffect>
                                  </p:childTnLst>
                                </p:cTn>
                              </p:par>
                              <p:par>
                                <p:cTn id="231" presetID="53" presetClass="entr" presetSubtype="32" fill="hold" grpId="0" nodeType="withEffect">
                                  <p:stCondLst>
                                    <p:cond delay="30813"/>
                                  </p:stCondLst>
                                  <p:childTnLst>
                                    <p:set>
                                      <p:cBhvr>
                                        <p:cTn id="227" dur="1" fill="hold">
                                          <p:stCondLst>
                                            <p:cond delay="0"/>
                                          </p:stCondLst>
                                        </p:cTn>
                                        <p:tgtEl>
                                          <p:spTgt spid="17"/>
                                        </p:tgtEl>
                                        <p:attrNameLst>
                                          <p:attrName>style.visibility</p:attrName>
                                        </p:attrNameLst>
                                      </p:cBhvr>
                                      <p:to>
                                        <p:strVal val="visible"/>
                                      </p:to>
                                    </p:set>
                                    <p:anim calcmode="lin" valueType="num">
                                      <p:cBhvr additive="base">
                                        <p:cTn id="228" dur="400" fill="hold"/>
                                        <p:tgtEl>
                                          <p:spTgt spid="17"/>
                                        </p:tgtEl>
                                        <p:attrNameLst>
                                          <p:attrName>ppt_w</p:attrName>
                                        </p:attrNameLst>
                                      </p:cBhvr>
                                      <p:tavLst>
                                        <p:tav tm="0">
                                          <p:val>
                                            <p:strVal val="#ppt_w*2.4"/>
                                          </p:val>
                                        </p:tav>
                                        <p:tav tm="100000">
                                          <p:val>
                                            <p:strVal val="#ppt_w"/>
                                          </p:val>
                                        </p:tav>
                                      </p:tavLst>
                                    </p:anim>
                                    <p:anim calcmode="lin" valueType="num">
                                      <p:cBhvr additive="base">
                                        <p:cTn id="229" dur="400" fill="hold"/>
                                        <p:tgtEl>
                                          <p:spTgt spid="17"/>
                                        </p:tgtEl>
                                        <p:attrNameLst>
                                          <p:attrName>ppt_h</p:attrName>
                                        </p:attrNameLst>
                                      </p:cBhvr>
                                      <p:tavLst>
                                        <p:tav tm="0">
                                          <p:val>
                                            <p:strVal val="#ppt_h*2.4"/>
                                          </p:val>
                                        </p:tav>
                                        <p:tav tm="100000">
                                          <p:val>
                                            <p:strVal val="#ppt_h"/>
                                          </p:val>
                                        </p:tav>
                                      </p:tavLst>
                                    </p:anim>
                                    <p:animEffect transition="in" filter="fade">
                                      <p:cBhvr>
                                        <p:cTn id="230" dur="400"/>
                                        <p:tgtEl>
                                          <p:spTgt spid="17"/>
                                        </p:tgtEl>
                                      </p:cBhvr>
                                    </p:animEffect>
                                  </p:childTnLst>
                                </p:cTn>
                              </p:par>
                              <p:par>
                                <p:cTn id="236" presetID="53" presetClass="entr" presetSubtype="32" fill="hold" grpId="0" nodeType="withEffect">
                                  <p:stCondLst>
                                    <p:cond delay="30833"/>
                                  </p:stCondLst>
                                  <p:childTnLst>
                                    <p:set>
                                      <p:cBhvr>
                                        <p:cTn id="232" dur="1" fill="hold">
                                          <p:stCondLst>
                                            <p:cond delay="0"/>
                                          </p:stCondLst>
                                        </p:cTn>
                                        <p:tgtEl>
                                          <p:spTgt spid="18"/>
                                        </p:tgtEl>
                                        <p:attrNameLst>
                                          <p:attrName>style.visibility</p:attrName>
                                        </p:attrNameLst>
                                      </p:cBhvr>
                                      <p:to>
                                        <p:strVal val="visible"/>
                                      </p:to>
                                    </p:set>
                                    <p:anim calcmode="lin" valueType="num">
                                      <p:cBhvr additive="base">
                                        <p:cTn id="233" dur="400" fill="hold"/>
                                        <p:tgtEl>
                                          <p:spTgt spid="18"/>
                                        </p:tgtEl>
                                        <p:attrNameLst>
                                          <p:attrName>ppt_w</p:attrName>
                                        </p:attrNameLst>
                                      </p:cBhvr>
                                      <p:tavLst>
                                        <p:tav tm="0">
                                          <p:val>
                                            <p:strVal val="#ppt_w*2.4"/>
                                          </p:val>
                                        </p:tav>
                                        <p:tav tm="100000">
                                          <p:val>
                                            <p:strVal val="#ppt_w"/>
                                          </p:val>
                                        </p:tav>
                                      </p:tavLst>
                                    </p:anim>
                                    <p:anim calcmode="lin" valueType="num">
                                      <p:cBhvr additive="base">
                                        <p:cTn id="234" dur="400" fill="hold"/>
                                        <p:tgtEl>
                                          <p:spTgt spid="18"/>
                                        </p:tgtEl>
                                        <p:attrNameLst>
                                          <p:attrName>ppt_h</p:attrName>
                                        </p:attrNameLst>
                                      </p:cBhvr>
                                      <p:tavLst>
                                        <p:tav tm="0">
                                          <p:val>
                                            <p:strVal val="#ppt_h*2.4"/>
                                          </p:val>
                                        </p:tav>
                                        <p:tav tm="100000">
                                          <p:val>
                                            <p:strVal val="#ppt_h"/>
                                          </p:val>
                                        </p:tav>
                                      </p:tavLst>
                                    </p:anim>
                                    <p:animEffect transition="in" filter="fade">
                                      <p:cBhvr>
                                        <p:cTn id="235" dur="400"/>
                                        <p:tgtEl>
                                          <p:spTgt spid="18"/>
                                        </p:tgtEl>
                                      </p:cBhvr>
                                    </p:animEffect>
                                  </p:childTnLst>
                                </p:cTn>
                              </p:par>
                              <p:par>
                                <p:cTn id="241" presetID="53" presetClass="entr" presetSubtype="16" fill="hold" grpId="0" nodeType="withEffect">
                                  <p:stCondLst>
                                    <p:cond delay="30852"/>
                                  </p:stCondLst>
                                  <p:childTnLst>
                                    <p:set>
                                      <p:cBhvr>
                                        <p:cTn id="237" dur="1" fill="hold">
                                          <p:stCondLst>
                                            <p:cond delay="0"/>
                                          </p:stCondLst>
                                        </p:cTn>
                                        <p:tgtEl>
                                          <p:spTgt spid="28"/>
                                        </p:tgtEl>
                                        <p:attrNameLst>
                                          <p:attrName>style.visibility</p:attrName>
                                        </p:attrNameLst>
                                      </p:cBhvr>
                                      <p:to>
                                        <p:strVal val="visible"/>
                                      </p:to>
                                    </p:set>
                                    <p:anim calcmode="lin" valueType="num">
                                      <p:cBhvr additive="base">
                                        <p:cTn id="238" dur="300" fill="hold"/>
                                        <p:tgtEl>
                                          <p:spTgt spid="28"/>
                                        </p:tgtEl>
                                        <p:attrNameLst>
                                          <p:attrName>ppt_w</p:attrName>
                                        </p:attrNameLst>
                                      </p:cBhvr>
                                      <p:tavLst>
                                        <p:tav tm="0">
                                          <p:val>
                                            <p:strVal val="0"/>
                                          </p:val>
                                        </p:tav>
                                        <p:tav tm="100000">
                                          <p:val>
                                            <p:strVal val="#ppt_w"/>
                                          </p:val>
                                        </p:tav>
                                      </p:tavLst>
                                    </p:anim>
                                    <p:anim calcmode="lin" valueType="num">
                                      <p:cBhvr additive="base">
                                        <p:cTn id="239" dur="300" fill="hold"/>
                                        <p:tgtEl>
                                          <p:spTgt spid="28"/>
                                        </p:tgtEl>
                                        <p:attrNameLst>
                                          <p:attrName>ppt_h</p:attrName>
                                        </p:attrNameLst>
                                      </p:cBhvr>
                                      <p:tavLst>
                                        <p:tav tm="0">
                                          <p:val>
                                            <p:strVal val="0"/>
                                          </p:val>
                                        </p:tav>
                                        <p:tav tm="100000">
                                          <p:val>
                                            <p:strVal val="#ppt_h"/>
                                          </p:val>
                                        </p:tav>
                                      </p:tavLst>
                                    </p:anim>
                                    <p:animEffect transition="in" filter="fade">
                                      <p:cBhvr>
                                        <p:cTn id="240" dur="300"/>
                                        <p:tgtEl>
                                          <p:spTgt spid="28"/>
                                        </p:tgtEl>
                                      </p:cBhvr>
                                    </p:animEffect>
                                  </p:childTnLst>
                                </p:cTn>
                              </p:par>
                              <p:par>
                                <p:cTn id="246" presetID="53" presetClass="entr" presetSubtype="16" fill="hold" grpId="0" nodeType="withEffect">
                                  <p:stCondLst>
                                    <p:cond delay="30872"/>
                                  </p:stCondLst>
                                  <p:childTnLst>
                                    <p:set>
                                      <p:cBhvr>
                                        <p:cTn id="242" dur="1" fill="hold">
                                          <p:stCondLst>
                                            <p:cond delay="0"/>
                                          </p:stCondLst>
                                        </p:cTn>
                                        <p:tgtEl>
                                          <p:spTgt spid="29"/>
                                        </p:tgtEl>
                                        <p:attrNameLst>
                                          <p:attrName>style.visibility</p:attrName>
                                        </p:attrNameLst>
                                      </p:cBhvr>
                                      <p:to>
                                        <p:strVal val="visible"/>
                                      </p:to>
                                    </p:set>
                                    <p:anim calcmode="lin" valueType="num">
                                      <p:cBhvr additive="base">
                                        <p:cTn id="243" dur="300" fill="hold"/>
                                        <p:tgtEl>
                                          <p:spTgt spid="29"/>
                                        </p:tgtEl>
                                        <p:attrNameLst>
                                          <p:attrName>ppt_w</p:attrName>
                                        </p:attrNameLst>
                                      </p:cBhvr>
                                      <p:tavLst>
                                        <p:tav tm="0">
                                          <p:val>
                                            <p:strVal val="0"/>
                                          </p:val>
                                        </p:tav>
                                        <p:tav tm="100000">
                                          <p:val>
                                            <p:strVal val="#ppt_w"/>
                                          </p:val>
                                        </p:tav>
                                      </p:tavLst>
                                    </p:anim>
                                    <p:anim calcmode="lin" valueType="num">
                                      <p:cBhvr additive="base">
                                        <p:cTn id="244" dur="300" fill="hold"/>
                                        <p:tgtEl>
                                          <p:spTgt spid="29"/>
                                        </p:tgtEl>
                                        <p:attrNameLst>
                                          <p:attrName>ppt_h</p:attrName>
                                        </p:attrNameLst>
                                      </p:cBhvr>
                                      <p:tavLst>
                                        <p:tav tm="0">
                                          <p:val>
                                            <p:strVal val="0"/>
                                          </p:val>
                                        </p:tav>
                                        <p:tav tm="100000">
                                          <p:val>
                                            <p:strVal val="#ppt_h"/>
                                          </p:val>
                                        </p:tav>
                                      </p:tavLst>
                                    </p:anim>
                                    <p:animEffect transition="in" filter="fade">
                                      <p:cBhvr>
                                        <p:cTn id="245" dur="300"/>
                                        <p:tgtEl>
                                          <p:spTgt spid="29"/>
                                        </p:tgtEl>
                                      </p:cBhvr>
                                    </p:animEffect>
                                  </p:childTnLst>
                                </p:cTn>
                              </p:par>
                              <p:par>
                                <p:cTn id="251" presetID="53" presetClass="entr" presetSubtype="16" fill="hold" grpId="0" nodeType="withEffect">
                                  <p:stCondLst>
                                    <p:cond delay="30891"/>
                                  </p:stCondLst>
                                  <p:childTnLst>
                                    <p:set>
                                      <p:cBhvr>
                                        <p:cTn id="247" dur="1" fill="hold">
                                          <p:stCondLst>
                                            <p:cond delay="0"/>
                                          </p:stCondLst>
                                        </p:cTn>
                                        <p:tgtEl>
                                          <p:spTgt spid="30"/>
                                        </p:tgtEl>
                                        <p:attrNameLst>
                                          <p:attrName>style.visibility</p:attrName>
                                        </p:attrNameLst>
                                      </p:cBhvr>
                                      <p:to>
                                        <p:strVal val="visible"/>
                                      </p:to>
                                    </p:set>
                                    <p:anim calcmode="lin" valueType="num">
                                      <p:cBhvr additive="base">
                                        <p:cTn id="248" dur="300" fill="hold"/>
                                        <p:tgtEl>
                                          <p:spTgt spid="30"/>
                                        </p:tgtEl>
                                        <p:attrNameLst>
                                          <p:attrName>ppt_w</p:attrName>
                                        </p:attrNameLst>
                                      </p:cBhvr>
                                      <p:tavLst>
                                        <p:tav tm="0">
                                          <p:val>
                                            <p:strVal val="0"/>
                                          </p:val>
                                        </p:tav>
                                        <p:tav tm="100000">
                                          <p:val>
                                            <p:strVal val="#ppt_w"/>
                                          </p:val>
                                        </p:tav>
                                      </p:tavLst>
                                    </p:anim>
                                    <p:anim calcmode="lin" valueType="num">
                                      <p:cBhvr additive="base">
                                        <p:cTn id="249" dur="300" fill="hold"/>
                                        <p:tgtEl>
                                          <p:spTgt spid="30"/>
                                        </p:tgtEl>
                                        <p:attrNameLst>
                                          <p:attrName>ppt_h</p:attrName>
                                        </p:attrNameLst>
                                      </p:cBhvr>
                                      <p:tavLst>
                                        <p:tav tm="0">
                                          <p:val>
                                            <p:strVal val="0"/>
                                          </p:val>
                                        </p:tav>
                                        <p:tav tm="100000">
                                          <p:val>
                                            <p:strVal val="#ppt_h"/>
                                          </p:val>
                                        </p:tav>
                                      </p:tavLst>
                                    </p:anim>
                                    <p:animEffect transition="in" filter="fade">
                                      <p:cBhvr>
                                        <p:cTn id="250" dur="300"/>
                                        <p:tgtEl>
                                          <p:spTgt spid="30"/>
                                        </p:tgtEl>
                                      </p:cBhvr>
                                    </p:animEffect>
                                  </p:childTnLst>
                                </p:cTn>
                              </p:par>
                              <p:par>
                                <p:cTn id="253" presetID="6" presetClass="emph" presetSubtype="0" fill="hold" grpId="1" nodeType="withEffect" autoRev="1" repeatCount="indefinite">
                                  <p:stCondLst>
                                    <p:cond delay="30911"/>
                                  </p:stCondLst>
                                  <p:childTnLst>
                                    <p:animScale>
                                      <p:cBhvr>
                                        <p:cTn id="252" dur="600" fill="hold"/>
                                        <p:tgtEl>
                                          <p:spTgt spid="28"/>
                                        </p:tgtEl>
                                      </p:cBhvr>
                                      <p:by x="125000" y="125000"/>
                                    </p:animScale>
                                  </p:childTnLst>
                                </p:cTn>
                              </p:par>
                              <p:par>
                                <p:cTn id="255" presetID="6" presetClass="emph" presetSubtype="0" fill="hold" grpId="1" nodeType="withEffect" autoRev="1" repeatCount="indefinite">
                                  <p:stCondLst>
                                    <p:cond delay="30930"/>
                                  </p:stCondLst>
                                  <p:childTnLst>
                                    <p:animScale>
                                      <p:cBhvr>
                                        <p:cTn id="254" dur="600" fill="hold"/>
                                        <p:tgtEl>
                                          <p:spTgt spid="29"/>
                                        </p:tgtEl>
                                      </p:cBhvr>
                                      <p:by x="125000" y="125000"/>
                                    </p:animScale>
                                  </p:childTnLst>
                                </p:cTn>
                              </p:par>
                              <p:par>
                                <p:cTn id="257" presetID="6" presetClass="emph" presetSubtype="0" fill="hold" grpId="1" nodeType="withEffect" autoRev="1" repeatCount="indefinite">
                                  <p:stCondLst>
                                    <p:cond delay="30950"/>
                                  </p:stCondLst>
                                  <p:childTnLst>
                                    <p:animScale>
                                      <p:cBhvr>
                                        <p:cTn id="256" dur="600" fill="hold"/>
                                        <p:tgtEl>
                                          <p:spTgt spid="30"/>
                                        </p:tgtEl>
                                      </p:cBhvr>
                                      <p:by x="125000" y="125000"/>
                                    </p:animScale>
                                  </p:childTnLst>
                                </p:cTn>
                              </p:par>
                              <p:par>
                                <p:cTn id="260" presetID="10" presetClass="exit" presetSubtype="0" fill="hold" grpId="1" nodeType="withEffect">
                                  <p:stCondLst>
                                    <p:cond delay="34830"/>
                                  </p:stCondLst>
                                  <p:childTnLst>
                                    <p:animEffect transition="out" filter="fade">
                                      <p:cBhvr>
                                        <p:cTn id="258" dur="200"/>
                                        <p:tgtEl>
                                          <p:spTgt spid="44"/>
                                        </p:tgtEl>
                                      </p:cBhvr>
                                    </p:animEffect>
                                    <p:set>
                                      <p:cBhvr>
                                        <p:cTn id="259" dur="1" fill="hold">
                                          <p:stCondLst>
                                            <p:cond delay="199"/>
                                          </p:stCondLst>
                                        </p:cTn>
                                        <p:tgtEl>
                                          <p:spTgt spid="44"/>
                                        </p:tgtEl>
                                        <p:attrNameLst>
                                          <p:attrName>style.visibility</p:attrName>
                                        </p:attrNameLst>
                                      </p:cBhvr>
                                      <p:to>
                                        <p:strVal val="hidden"/>
                                      </p:to>
                                    </p:set>
                                  </p:childTnLst>
                                </p:cTn>
                              </p:par>
                              <p:par>
                                <p:cTn id="263" presetID="10" presetClass="exit" presetSubtype="0" fill="hold" grpId="1" nodeType="withEffect">
                                  <p:stCondLst>
                                    <p:cond delay="34873"/>
                                  </p:stCondLst>
                                  <p:childTnLst>
                                    <p:animEffect transition="out" filter="fade">
                                      <p:cBhvr>
                                        <p:cTn id="261" dur="200"/>
                                        <p:tgtEl>
                                          <p:spTgt spid="45"/>
                                        </p:tgtEl>
                                      </p:cBhvr>
                                    </p:animEffect>
                                    <p:set>
                                      <p:cBhvr>
                                        <p:cTn id="262" dur="1" fill="hold">
                                          <p:stCondLst>
                                            <p:cond delay="199"/>
                                          </p:stCondLst>
                                        </p:cTn>
                                        <p:tgtEl>
                                          <p:spTgt spid="45"/>
                                        </p:tgtEl>
                                        <p:attrNameLst>
                                          <p:attrName>style.visibility</p:attrName>
                                        </p:attrNameLst>
                                      </p:cBhvr>
                                      <p:to>
                                        <p:strVal val="hidden"/>
                                      </p:to>
                                    </p:set>
                                  </p:childTnLst>
                                </p:cTn>
                              </p:par>
                              <p:par>
                                <p:cTn id="266" presetID="10" presetClass="exit" presetSubtype="0" fill="hold" grpId="1" nodeType="withEffect">
                                  <p:stCondLst>
                                    <p:cond delay="34917"/>
                                  </p:stCondLst>
                                  <p:childTnLst>
                                    <p:animEffect transition="out" filter="fade">
                                      <p:cBhvr>
                                        <p:cTn id="264" dur="220"/>
                                        <p:tgtEl>
                                          <p:spTgt spid="21"/>
                                        </p:tgtEl>
                                      </p:cBhvr>
                                    </p:animEffect>
                                    <p:set>
                                      <p:cBhvr>
                                        <p:cTn id="265" dur="1" fill="hold">
                                          <p:stCondLst>
                                            <p:cond delay="219"/>
                                          </p:stCondLst>
                                        </p:cTn>
                                        <p:tgtEl>
                                          <p:spTgt spid="21"/>
                                        </p:tgtEl>
                                        <p:attrNameLst>
                                          <p:attrName>style.visibility</p:attrName>
                                        </p:attrNameLst>
                                      </p:cBhvr>
                                      <p:to>
                                        <p:strVal val="hidden"/>
                                      </p:to>
                                    </p:set>
                                  </p:childTnLst>
                                </p:cTn>
                              </p:par>
                              <p:par>
                                <p:cTn id="269" presetID="10" presetClass="entr" presetSubtype="0" fill="hold" grpId="0" nodeType="withEffect">
                                  <p:stCondLst>
                                    <p:cond delay="34961"/>
                                  </p:stCondLst>
                                  <p:childTnLst>
                                    <p:set>
                                      <p:cBhvr>
                                        <p:cTn id="267" dur="1" fill="hold">
                                          <p:stCondLst>
                                            <p:cond delay="0"/>
                                          </p:stCondLst>
                                        </p:cTn>
                                        <p:tgtEl>
                                          <p:spTgt spid="22"/>
                                        </p:tgtEl>
                                        <p:attrNameLst>
                                          <p:attrName>style.visibility</p:attrName>
                                        </p:attrNameLst>
                                      </p:cBhvr>
                                      <p:to>
                                        <p:strVal val="visible"/>
                                      </p:to>
                                    </p:set>
                                    <p:animEffect transition="in" filter="fade">
                                      <p:cBhvr>
                                        <p:cTn id="268" dur="220"/>
                                        <p:tgtEl>
                                          <p:spTgt spid="22"/>
                                        </p:tgtEl>
                                      </p:cBhvr>
                                    </p:animEffect>
                                  </p:childTnLst>
                                </p:cTn>
                              </p:par>
                              <p:par>
                                <p:cTn id="274" presetID="42" presetClass="entr" presetSubtype="0" fill="hold" grpId="0" nodeType="withEffect">
                                  <p:stCondLst>
                                    <p:cond delay="35005"/>
                                  </p:stCondLst>
                                  <p:childTnLst>
                                    <p:set>
                                      <p:cBhvr>
                                        <p:cTn id="270" dur="1" fill="hold">
                                          <p:stCondLst>
                                            <p:cond delay="0"/>
                                          </p:stCondLst>
                                        </p:cTn>
                                        <p:tgtEl>
                                          <p:spTgt spid="46"/>
                                        </p:tgtEl>
                                        <p:attrNameLst>
                                          <p:attrName>style.visibility</p:attrName>
                                        </p:attrNameLst>
                                      </p:cBhvr>
                                      <p:to>
                                        <p:strVal val="visible"/>
                                      </p:to>
                                    </p:set>
                                    <p:animEffect transition="in" filter="fade">
                                      <p:cBhvr>
                                        <p:cTn id="271" dur="300"/>
                                        <p:tgtEl>
                                          <p:spTgt spid="46"/>
                                        </p:tgtEl>
                                      </p:cBhvr>
                                    </p:animEffect>
                                    <p:anim calcmode="lin" valueType="num">
                                      <p:cBhvr additive="base">
                                        <p:cTn id="272" dur="300" fill="hold"/>
                                        <p:tgtEl>
                                          <p:spTgt spid="46"/>
                                        </p:tgtEl>
                                        <p:attrNameLst>
                                          <p:attrName>ppt_x</p:attrName>
                                        </p:attrNameLst>
                                      </p:cBhvr>
                                      <p:tavLst>
                                        <p:tav tm="0">
                                          <p:val>
                                            <p:strVal val="#ppt_x-.05"/>
                                          </p:val>
                                        </p:tav>
                                        <p:tav tm="100000">
                                          <p:val>
                                            <p:strVal val="#ppt_x"/>
                                          </p:val>
                                        </p:tav>
                                      </p:tavLst>
                                    </p:anim>
                                    <p:anim calcmode="lin" valueType="num">
                                      <p:cBhvr additive="base">
                                        <p:cTn id="273" dur="300" fill="hold"/>
                                        <p:tgtEl>
                                          <p:spTgt spid="46"/>
                                        </p:tgtEl>
                                        <p:attrNameLst>
                                          <p:attrName>ppt_y</p:attrName>
                                        </p:attrNameLst>
                                      </p:cBhvr>
                                      <p:tavLst>
                                        <p:tav tm="0">
                                          <p:val>
                                            <p:strVal val="#ppt_y"/>
                                          </p:val>
                                        </p:tav>
                                        <p:tav tm="100000">
                                          <p:val>
                                            <p:strVal val="#ppt_y"/>
                                          </p:val>
                                        </p:tav>
                                      </p:tavLst>
                                    </p:anim>
                                  </p:childTnLst>
                                </p:cTn>
                              </p:par>
                              <p:par>
                                <p:cTn id="279" presetID="53" presetClass="entr" presetSubtype="16" fill="hold" grpId="0" nodeType="withEffect">
                                  <p:stCondLst>
                                    <p:cond delay="35048"/>
                                  </p:stCondLst>
                                  <p:childTnLst>
                                    <p:set>
                                      <p:cBhvr>
                                        <p:cTn id="275" dur="1" fill="hold">
                                          <p:stCondLst>
                                            <p:cond delay="0"/>
                                          </p:stCondLst>
                                        </p:cTn>
                                        <p:tgtEl>
                                          <p:spTgt spid="26"/>
                                        </p:tgtEl>
                                        <p:attrNameLst>
                                          <p:attrName>style.visibility</p:attrName>
                                        </p:attrNameLst>
                                      </p:cBhvr>
                                      <p:to>
                                        <p:strVal val="visible"/>
                                      </p:to>
                                    </p:set>
                                    <p:anim calcmode="lin" valueType="num">
                                      <p:cBhvr additive="base">
                                        <p:cTn id="276" dur="300" fill="hold"/>
                                        <p:tgtEl>
                                          <p:spTgt spid="26"/>
                                        </p:tgtEl>
                                        <p:attrNameLst>
                                          <p:attrName>ppt_w</p:attrName>
                                        </p:attrNameLst>
                                      </p:cBhvr>
                                      <p:tavLst>
                                        <p:tav tm="0">
                                          <p:val>
                                            <p:strVal val="0"/>
                                          </p:val>
                                        </p:tav>
                                        <p:tav tm="100000">
                                          <p:val>
                                            <p:strVal val="#ppt_w"/>
                                          </p:val>
                                        </p:tav>
                                      </p:tavLst>
                                    </p:anim>
                                    <p:anim calcmode="lin" valueType="num">
                                      <p:cBhvr additive="base">
                                        <p:cTn id="277" dur="300" fill="hold"/>
                                        <p:tgtEl>
                                          <p:spTgt spid="26"/>
                                        </p:tgtEl>
                                        <p:attrNameLst>
                                          <p:attrName>ppt_h</p:attrName>
                                        </p:attrNameLst>
                                      </p:cBhvr>
                                      <p:tavLst>
                                        <p:tav tm="0">
                                          <p:val>
                                            <p:strVal val="0"/>
                                          </p:val>
                                        </p:tav>
                                        <p:tav tm="100000">
                                          <p:val>
                                            <p:strVal val="#ppt_h"/>
                                          </p:val>
                                        </p:tav>
                                      </p:tavLst>
                                    </p:anim>
                                    <p:animEffect transition="in" filter="fade">
                                      <p:cBhvr>
                                        <p:cTn id="278" dur="300"/>
                                        <p:tgtEl>
                                          <p:spTgt spid="26"/>
                                        </p:tgtEl>
                                      </p:cBhvr>
                                    </p:animEffect>
                                  </p:childTnLst>
                                </p:cTn>
                              </p:par>
                              <p:par>
                                <p:cTn id="282" presetID="10" presetClass="entr" presetSubtype="0" fill="hold" grpId="0" nodeType="withEffect">
                                  <p:stCondLst>
                                    <p:cond delay="35092"/>
                                  </p:stCondLst>
                                  <p:childTnLst>
                                    <p:set>
                                      <p:cBhvr>
                                        <p:cTn id="280" dur="1" fill="hold">
                                          <p:stCondLst>
                                            <p:cond delay="0"/>
                                          </p:stCondLst>
                                        </p:cTn>
                                        <p:tgtEl>
                                          <p:spTgt spid="47"/>
                                        </p:tgtEl>
                                        <p:attrNameLst>
                                          <p:attrName>style.visibility</p:attrName>
                                        </p:attrNameLst>
                                      </p:cBhvr>
                                      <p:to>
                                        <p:strVal val="visible"/>
                                      </p:to>
                                    </p:set>
                                    <p:animEffect transition="in" filter="fade">
                                      <p:cBhvr>
                                        <p:cTn id="281" dur="200"/>
                                        <p:tgtEl>
                                          <p:spTgt spid="47"/>
                                        </p:tgtEl>
                                      </p:cBhvr>
                                    </p:animEffect>
                                  </p:childTnLst>
                                </p:cTn>
                              </p:par>
                              <p:par>
                                <p:cTn id="285" presetID="10" presetClass="exit" presetSubtype="0" fill="hold" grpId="1" nodeType="withEffect">
                                  <p:stCondLst>
                                    <p:cond delay="35136"/>
                                  </p:stCondLst>
                                  <p:childTnLst>
                                    <p:animEffect transition="out" filter="fade">
                                      <p:cBhvr>
                                        <p:cTn id="283" dur="200"/>
                                        <p:tgtEl>
                                          <p:spTgt spid="43"/>
                                        </p:tgtEl>
                                      </p:cBhvr>
                                    </p:animEffect>
                                    <p:set>
                                      <p:cBhvr>
                                        <p:cTn id="284" dur="1" fill="hold">
                                          <p:stCondLst>
                                            <p:cond delay="199"/>
                                          </p:stCondLst>
                                        </p:cTn>
                                        <p:tgtEl>
                                          <p:spTgt spid="43"/>
                                        </p:tgtEl>
                                        <p:attrNameLst>
                                          <p:attrName>style.visibility</p:attrName>
                                        </p:attrNameLst>
                                      </p:cBhvr>
                                      <p:to>
                                        <p:strVal val="hidden"/>
                                      </p:to>
                                    </p:set>
                                  </p:childTnLst>
                                </p:cTn>
                              </p:par>
                              <p:par>
                                <p:cTn id="288" presetID="22" presetClass="entr" presetSubtype="8" fill="hold" grpId="0" nodeType="withEffect">
                                  <p:stCondLst>
                                    <p:cond delay="35180"/>
                                  </p:stCondLst>
                                  <p:childTnLst>
                                    <p:set>
                                      <p:cBhvr>
                                        <p:cTn id="286" dur="1" fill="hold">
                                          <p:stCondLst>
                                            <p:cond delay="0"/>
                                          </p:stCondLst>
                                        </p:cTn>
                                        <p:tgtEl>
                                          <p:spTgt spid="48"/>
                                        </p:tgtEl>
                                        <p:attrNameLst>
                                          <p:attrName>style.visibility</p:attrName>
                                        </p:attrNameLst>
                                      </p:cBhvr>
                                      <p:to>
                                        <p:strVal val="visible"/>
                                      </p:to>
                                    </p:set>
                                    <p:animEffect transition="in" filter="wipe(left)">
                                      <p:cBhvr>
                                        <p:cTn id="287" dur="6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2" grpId="0" animBg="1"/>
      <p:bldP spid="3" grpId="0" animBg="1"/>
      <p:bldP spid="2" grpId="1" animBg="1"/>
      <p:bldP spid="32" grpId="1" animBg="1"/>
      <p:bldP spid="6" grpId="0" animBg="1"/>
      <p:bldP spid="31" grpId="0" animBg="1"/>
      <p:bldP spid="33" grpId="0" animBg="1"/>
      <p:bldP spid="19" grpId="0" animBg="1"/>
      <p:bldP spid="34" grpId="0" animBg="1"/>
      <p:bldP spid="35" grpId="0" animBg="1"/>
      <p:bldP spid="8" grpId="0" animBg="1"/>
      <p:bldP spid="25" grpId="0" animBg="1"/>
      <p:bldP spid="25" grpId="1" animBg="1"/>
      <p:bldP spid="9" grpId="0" animBg="1"/>
      <p:bldP spid="10" grpId="0" animBg="1"/>
      <p:bldP spid="33" grpId="1" animBg="1"/>
      <p:bldP spid="8" grpId="1" animBg="1"/>
      <p:bldP spid="9" grpId="1" animBg="1"/>
      <p:bldP spid="10" grpId="1" animBg="1"/>
      <p:bldP spid="25" grpId="2" animBg="1"/>
      <p:bldP spid="36" grpId="0" animBg="1"/>
      <p:bldP spid="34" grpId="1" animBg="1"/>
      <p:bldP spid="35" grpId="1" animBg="1"/>
      <p:bldP spid="23" grpId="0" animBg="1"/>
      <p:bldP spid="37" grpId="0" animBg="1"/>
      <p:bldP spid="38" grpId="0" animBg="1"/>
      <p:bldP spid="27" grpId="0" animBg="1"/>
      <p:bldP spid="11" grpId="0" animBg="1"/>
      <p:bldP spid="27" grpId="1" animBg="1"/>
      <p:bldP spid="12" grpId="0" animBg="1"/>
      <p:bldP spid="19" grpId="1" animBg="1"/>
      <p:bldP spid="20" grpId="0" animBg="1"/>
      <p:bldP spid="36" grpId="1" animBg="1"/>
      <p:bldP spid="11" grpId="1" animBg="1"/>
      <p:bldP spid="12" grpId="1" animBg="1"/>
      <p:bldP spid="27" grpId="2" animBg="1"/>
      <p:bldP spid="37" grpId="1" animBg="1"/>
      <p:bldP spid="38" grpId="1" animBg="1"/>
      <p:bldP spid="39" grpId="0" animBg="1"/>
      <p:bldP spid="13" grpId="0" animBg="1"/>
      <p:bldP spid="40" grpId="0" animBg="1"/>
      <p:bldP spid="41" grpId="0" animBg="1"/>
      <p:bldP spid="14" grpId="0" animBg="1"/>
      <p:bldP spid="13" grpId="1" animBg="1"/>
      <p:bldP spid="42" grpId="0" animBg="1"/>
      <p:bldP spid="7" grpId="0" animBg="1"/>
      <p:bldP spid="42" grpId="1" animBg="1"/>
      <p:bldP spid="15" grpId="0" animBg="1"/>
      <p:bldP spid="7" grpId="1" animBg="1"/>
      <p:bldP spid="39" grpId="1" animBg="1"/>
      <p:bldP spid="43" grpId="0" animBg="1"/>
      <p:bldP spid="40" grpId="1" animBg="1"/>
      <p:bldP spid="41" grpId="1" animBg="1"/>
      <p:bldP spid="20" grpId="1" animBg="1"/>
      <p:bldP spid="21" grpId="0" animBg="1"/>
      <p:bldP spid="23" grpId="1" animBg="1"/>
      <p:bldP spid="24" grpId="0" animBg="1"/>
      <p:bldP spid="16" grpId="0" animBg="1"/>
      <p:bldP spid="44" grpId="0" animBg="1"/>
      <p:bldP spid="45" grpId="0" animBg="1"/>
      <p:bldP spid="17" grpId="0" animBg="1"/>
      <p:bldP spid="18" grpId="0" animBg="1"/>
      <p:bldP spid="28" grpId="0" animBg="1"/>
      <p:bldP spid="29" grpId="0" animBg="1"/>
      <p:bldP spid="30" grpId="0" animBg="1"/>
      <p:bldP spid="28" grpId="1" animBg="1"/>
      <p:bldP spid="29" grpId="1" animBg="1"/>
      <p:bldP spid="30" grpId="1" animBg="1"/>
      <p:bldP spid="44" grpId="1" animBg="1"/>
      <p:bldP spid="45" grpId="1" animBg="1"/>
      <p:bldP spid="21" grpId="1" animBg="1"/>
      <p:bldP spid="22" grpId="0" animBg="1"/>
      <p:bldP spid="46" grpId="0" animBg="1"/>
      <p:bldP spid="26" grpId="0" animBg="1"/>
      <p:bldP spid="47" grpId="0" animBg="1"/>
      <p:bldP spid="43" grpId="1" animBg="1"/>
      <p:bldP spid="48"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paused badge"/>
          <p:cNvSpPr/>
          <p:nvPr/>
        </p:nvSpPr>
        <p:spPr>
          <a:xfrm>
            <a:off x="548640" y="310896"/>
            <a:ext cx="1417320" cy="329184"/>
          </a:xfrm>
          <a:prstGeom prst="roundRect">
            <a:avLst>
              <a:gd name="adj" fmla="val 16667"/>
            </a:avLst>
          </a:prstGeom>
          <a:solidFill>
            <a:srgbClr val="FFD84D"/>
          </a:solidFill>
          <a:ln/>
        </p:spPr>
      </p:sp>
      <p:pic>
        <p:nvPicPr>
          <p:cNvPr id="3" name="pause icon" descr="Paused">    </p:cNvPr>
          <p:cNvPicPr>
            <a:picLocks noChangeAspect="1"/>
          </p:cNvPicPr>
          <p:nvPr/>
        </p:nvPicPr>
        <p:blipFill>
          <a:blip r:embed="rId1"/>
          <a:stretch>
            <a:fillRect/>
          </a:stretch>
        </p:blipFill>
        <p:spPr>
          <a:xfrm>
            <a:off x="667512" y="393192"/>
            <a:ext cx="164592" cy="164592"/>
          </a:xfrm>
          <a:prstGeom prst="rect">
            <a:avLst/>
          </a:prstGeom>
        </p:spPr>
      </p:pic>
      <p:sp>
        <p:nvSpPr>
          <p:cNvPr id="4" name="Text 1"/>
          <p:cNvSpPr txBox="1"/>
          <p:nvPr/>
        </p:nvSpPr>
        <p:spPr>
          <a:xfrm>
            <a:off x="896112" y="310896"/>
            <a:ext cx="1005840" cy="329184"/>
          </a:xfrm>
          <a:prstGeom prst="rect">
            <a:avLst/>
          </a:prstGeom>
          <a:noFill/>
          <a:ln/>
        </p:spPr>
        <p:txBody>
          <a:bodyPr wrap="square" lIns="0" tIns="0" rIns="0" bIns="0" rtlCol="0" anchor="ctr"/>
          <a:lstStyle/>
          <a:p>
            <a:pPr indent="0" marL="0">
              <a:buNone/>
            </a:pPr>
            <a:r>
              <a:rPr lang="en-US" sz="1300" b="1" spc="200" kern="0" dirty="0">
                <a:solidFill>
                  <a:srgbClr val="0D0D0F"/>
                </a:solidFill>
                <a:latin typeface="Courier New" pitchFamily="34" charset="0"/>
                <a:ea typeface="Courier New" pitchFamily="34" charset="-122"/>
                <a:cs typeface="Courier New" pitchFamily="34" charset="-120"/>
              </a:rPr>
              <a:t>PAUSED</a:t>
            </a:r>
            <a:endParaRPr lang="en-US" sz="1300" dirty="0"/>
          </a:p>
        </p:txBody>
      </p:sp>
      <p:sp>
        <p:nvSpPr>
          <p:cNvPr id="5" name="Text 2"/>
          <p:cNvSpPr txBox="1"/>
          <p:nvPr/>
        </p:nvSpPr>
        <p:spPr>
          <a:xfrm>
            <a:off x="2148840" y="310896"/>
            <a:ext cx="8229600" cy="329184"/>
          </a:xfrm>
          <a:prstGeom prst="rect">
            <a:avLst/>
          </a:prstGeom>
          <a:noFill/>
          <a:ln/>
        </p:spPr>
        <p:txBody>
          <a:bodyPr wrap="square" lIns="0" tIns="0" rIns="0" bIns="0" rtlCol="0" anchor="ctr"/>
          <a:lstStyle/>
          <a:p>
            <a:pPr indent="0" marL="0">
              <a:buNone/>
            </a:pPr>
            <a:r>
              <a:rPr lang="en-US" sz="1300" b="1" spc="200" kern="0" dirty="0">
                <a:solidFill>
                  <a:srgbClr val="FFD84D"/>
                </a:solidFill>
                <a:latin typeface="Courier New" pitchFamily="34" charset="0"/>
                <a:ea typeface="Courier New" pitchFamily="34" charset="-122"/>
                <a:cs typeface="Courier New" pitchFamily="34" charset="-120"/>
              </a:rPr>
              <a:t>END OF ACT I  ·  WHAT IS HAPPENING HERE?</a:t>
            </a:r>
            <a:endParaRPr lang="en-US" sz="1300" dirty="0"/>
          </a:p>
        </p:txBody>
      </p:sp>
      <p:sp>
        <p:nvSpPr>
          <p:cNvPr id="6" name="Text 0"/>
          <p:cNvSpPr/>
          <p:nvPr>
            <p:ph idx="100" type="title" hasCustomPrompt="1"/>
          </p:nvPr>
        </p:nvSpPr>
        <p:spPr>
          <a:xfrm>
            <a:off x="548640" y="731520"/>
            <a:ext cx="11094415" cy="731520"/>
          </a:xfrm>
          <a:prstGeom prst="rect">
            <a:avLst/>
          </a:prstGeom>
          <a:noFill/>
          <a:ln/>
        </p:spPr>
        <p:txBody>
          <a:bodyPr wrap="square" lIns="0" tIns="0" rIns="0" bIns="0" rtlCol="0" anchor="ctr"/>
          <a:lstStyle/>
          <a:p>
            <a:pPr algn="l" indent="0" marL="0">
              <a:buNone/>
            </a:pPr>
            <a:r>
              <a:rPr lang="en-US" sz="3000" b="1" dirty="0">
                <a:solidFill>
                  <a:schemeClr val="bg1"/>
                </a:solidFill>
              </a:rPr>
              <a:t>From legal bidding to grey deals: the enterprise model</a:t>
            </a:r>
            <a:endParaRPr lang="en-US" sz="3000" dirty="0"/>
          </a:p>
        </p:txBody>
      </p:sp>
      <p:sp>
        <p:nvSpPr>
          <p:cNvPr id="7" name="spectrum 1"/>
          <p:cNvSpPr/>
          <p:nvPr/>
        </p:nvSpPr>
        <p:spPr>
          <a:xfrm>
            <a:off x="548640" y="2148840"/>
            <a:ext cx="2218883" cy="292608"/>
          </a:xfrm>
          <a:prstGeom prst="rect">
            <a:avLst/>
          </a:prstGeom>
          <a:solidFill>
            <a:srgbClr val="4F8A5B"/>
          </a:solidFill>
          <a:ln/>
        </p:spPr>
      </p:sp>
      <p:sp>
        <p:nvSpPr>
          <p:cNvPr id="8" name="spectrum 2"/>
          <p:cNvSpPr/>
          <p:nvPr/>
        </p:nvSpPr>
        <p:spPr>
          <a:xfrm>
            <a:off x="2767523" y="2148840"/>
            <a:ext cx="2218883" cy="292608"/>
          </a:xfrm>
          <a:prstGeom prst="rect">
            <a:avLst/>
          </a:prstGeom>
          <a:solidFill>
            <a:srgbClr val="7E9A55"/>
          </a:solidFill>
          <a:ln/>
        </p:spPr>
      </p:sp>
      <p:sp>
        <p:nvSpPr>
          <p:cNvPr id="9" name="spectrum 3"/>
          <p:cNvSpPr/>
          <p:nvPr/>
        </p:nvSpPr>
        <p:spPr>
          <a:xfrm>
            <a:off x="4986406" y="2148840"/>
            <a:ext cx="2218883" cy="292608"/>
          </a:xfrm>
          <a:prstGeom prst="rect">
            <a:avLst/>
          </a:prstGeom>
          <a:solidFill>
            <a:srgbClr val="C9A227"/>
          </a:solidFill>
          <a:ln/>
        </p:spPr>
      </p:sp>
      <p:sp>
        <p:nvSpPr>
          <p:cNvPr id="10" name="spectrum 4"/>
          <p:cNvSpPr/>
          <p:nvPr/>
        </p:nvSpPr>
        <p:spPr>
          <a:xfrm>
            <a:off x="7205289" y="2148840"/>
            <a:ext cx="2218883" cy="292608"/>
          </a:xfrm>
          <a:prstGeom prst="rect">
            <a:avLst/>
          </a:prstGeom>
          <a:solidFill>
            <a:srgbClr val="D9772B"/>
          </a:solidFill>
          <a:ln/>
        </p:spPr>
      </p:sp>
      <p:sp>
        <p:nvSpPr>
          <p:cNvPr id="11" name="spectrum 5"/>
          <p:cNvSpPr/>
          <p:nvPr/>
        </p:nvSpPr>
        <p:spPr>
          <a:xfrm>
            <a:off x="9424172" y="2148840"/>
            <a:ext cx="2218883" cy="292608"/>
          </a:xfrm>
          <a:prstGeom prst="rect">
            <a:avLst/>
          </a:prstGeom>
          <a:solidFill>
            <a:srgbClr val="E5383B"/>
          </a:solidFill>
          <a:ln/>
        </p:spPr>
      </p:sp>
      <p:sp>
        <p:nvSpPr>
          <p:cNvPr id="12" name="Text 9"/>
          <p:cNvSpPr txBox="1"/>
          <p:nvPr/>
        </p:nvSpPr>
        <p:spPr>
          <a:xfrm>
            <a:off x="548640" y="1783080"/>
            <a:ext cx="2743200" cy="274320"/>
          </a:xfrm>
          <a:prstGeom prst="rect">
            <a:avLst/>
          </a:prstGeom>
          <a:noFill/>
          <a:ln/>
        </p:spPr>
        <p:txBody>
          <a:bodyPr wrap="square" lIns="0" tIns="0" rIns="0" bIns="0" rtlCol="0" anchor="ctr"/>
          <a:lstStyle/>
          <a:p>
            <a:pPr indent="0" marL="0">
              <a:buNone/>
            </a:pPr>
            <a:r>
              <a:rPr lang="en-US" sz="1100" b="1" dirty="0">
                <a:solidFill>
                  <a:srgbClr val="8FC79B"/>
                </a:solidFill>
                <a:latin typeface="Courier New" pitchFamily="34" charset="0"/>
                <a:ea typeface="Courier New" pitchFamily="34" charset="-122"/>
                <a:cs typeface="Courier New" pitchFamily="34" charset="-120"/>
              </a:rPr>
              <a:t>LEGAL BUSINESS</a:t>
            </a:r>
            <a:endParaRPr lang="en-US" sz="1100" dirty="0"/>
          </a:p>
        </p:txBody>
      </p:sp>
      <p:sp>
        <p:nvSpPr>
          <p:cNvPr id="13" name="Text 10"/>
          <p:cNvSpPr txBox="1"/>
          <p:nvPr/>
        </p:nvSpPr>
        <p:spPr>
          <a:xfrm>
            <a:off x="8899855" y="1783080"/>
            <a:ext cx="2743200" cy="274320"/>
          </a:xfrm>
          <a:prstGeom prst="rect">
            <a:avLst/>
          </a:prstGeom>
          <a:noFill/>
          <a:ln/>
        </p:spPr>
        <p:txBody>
          <a:bodyPr wrap="square" lIns="0" tIns="0" rIns="0" bIns="0" rtlCol="0" anchor="ctr"/>
          <a:lstStyle/>
          <a:p>
            <a:pPr algn="r" indent="0" marL="0">
              <a:buNone/>
            </a:pPr>
            <a:r>
              <a:rPr lang="en-US" sz="1100" b="1" dirty="0">
                <a:solidFill>
                  <a:srgbClr val="FF8A8C"/>
                </a:solidFill>
                <a:latin typeface="Courier New" pitchFamily="34" charset="0"/>
                <a:ea typeface="Courier New" pitchFamily="34" charset="-122"/>
                <a:cs typeface="Courier New" pitchFamily="34" charset="-120"/>
              </a:rPr>
              <a:t>ILLEGAL ENTERPRISE</a:t>
            </a:r>
            <a:endParaRPr lang="en-US" sz="1100" dirty="0"/>
          </a:p>
        </p:txBody>
      </p:sp>
      <p:sp>
        <p:nvSpPr>
          <p:cNvPr id="14" name="marker 1"/>
          <p:cNvSpPr/>
          <p:nvPr/>
        </p:nvSpPr>
        <p:spPr>
          <a:xfrm>
            <a:off x="1326465" y="2487168"/>
            <a:ext cx="219456" cy="182880"/>
          </a:xfrm>
          <a:prstGeom prst="triangle">
            <a:avLst/>
          </a:prstGeom>
          <a:solidFill>
            <a:schemeClr val="bg1"/>
          </a:solidFill>
          <a:ln/>
        </p:spPr>
      </p:sp>
      <p:sp>
        <p:nvSpPr>
          <p:cNvPr id="15" name="Text 12"/>
          <p:cNvSpPr txBox="1"/>
          <p:nvPr/>
        </p:nvSpPr>
        <p:spPr>
          <a:xfrm>
            <a:off x="548640" y="2697480"/>
            <a:ext cx="2560320" cy="320040"/>
          </a:xfrm>
          <a:prstGeom prst="rect">
            <a:avLst/>
          </a:prstGeom>
          <a:noFill/>
          <a:ln/>
        </p:spPr>
        <p:txBody>
          <a:bodyPr wrap="square" lIns="0" tIns="0" rIns="0" bIns="0" rtlCol="0" anchor="ctr"/>
          <a:lstStyle/>
          <a:p>
            <a:pPr algn="l" indent="0" marL="0">
              <a:buNone/>
            </a:pPr>
            <a:r>
              <a:rPr lang="en-US" sz="1300" b="1" dirty="0">
                <a:solidFill>
                  <a:schemeClr val="bg1"/>
                </a:solidFill>
              </a:rPr>
              <a:t>Bidding on “crumbs”</a:t>
            </a:r>
            <a:endParaRPr lang="en-US" sz="1300" dirty="0"/>
          </a:p>
        </p:txBody>
      </p:sp>
      <p:sp>
        <p:nvSpPr>
          <p:cNvPr id="16" name="marker 2"/>
          <p:cNvSpPr/>
          <p:nvPr/>
        </p:nvSpPr>
        <p:spPr>
          <a:xfrm>
            <a:off x="5431399" y="2487168"/>
            <a:ext cx="219456" cy="182880"/>
          </a:xfrm>
          <a:prstGeom prst="triangle">
            <a:avLst/>
          </a:prstGeom>
          <a:solidFill>
            <a:schemeClr val="bg1"/>
          </a:solidFill>
          <a:ln/>
        </p:spPr>
      </p:sp>
      <p:sp>
        <p:nvSpPr>
          <p:cNvPr id="17" name="Text 14"/>
          <p:cNvSpPr txBox="1"/>
          <p:nvPr/>
        </p:nvSpPr>
        <p:spPr>
          <a:xfrm>
            <a:off x="4260967" y="2697480"/>
            <a:ext cx="2560320" cy="320040"/>
          </a:xfrm>
          <a:prstGeom prst="rect">
            <a:avLst/>
          </a:prstGeom>
          <a:noFill/>
          <a:ln/>
        </p:spPr>
        <p:txBody>
          <a:bodyPr wrap="square" lIns="0" tIns="0" rIns="0" bIns="0" rtlCol="0" anchor="ctr"/>
          <a:lstStyle/>
          <a:p>
            <a:pPr algn="ctr" indent="0" marL="0">
              <a:buNone/>
            </a:pPr>
            <a:r>
              <a:rPr lang="en-US" sz="1300" b="1" dirty="0">
                <a:solidFill>
                  <a:schemeClr val="bg1"/>
                </a:solidFill>
              </a:rPr>
              <a:t>Fixers in Jordan</a:t>
            </a:r>
            <a:endParaRPr lang="en-US" sz="1300" dirty="0"/>
          </a:p>
        </p:txBody>
      </p:sp>
      <p:sp>
        <p:nvSpPr>
          <p:cNvPr id="18" name="marker 3"/>
          <p:cNvSpPr/>
          <p:nvPr/>
        </p:nvSpPr>
        <p:spPr>
          <a:xfrm>
            <a:off x="9980109" y="2487168"/>
            <a:ext cx="219456" cy="182880"/>
          </a:xfrm>
          <a:prstGeom prst="triangle">
            <a:avLst/>
          </a:prstGeom>
          <a:solidFill>
            <a:schemeClr val="bg1"/>
          </a:solidFill>
          <a:ln/>
        </p:spPr>
      </p:sp>
      <p:sp>
        <p:nvSpPr>
          <p:cNvPr id="19" name="Text 16"/>
          <p:cNvSpPr txBox="1"/>
          <p:nvPr/>
        </p:nvSpPr>
        <p:spPr>
          <a:xfrm>
            <a:off x="8809677" y="2697480"/>
            <a:ext cx="2560320" cy="320040"/>
          </a:xfrm>
          <a:prstGeom prst="rect">
            <a:avLst/>
          </a:prstGeom>
          <a:noFill/>
          <a:ln/>
        </p:spPr>
        <p:txBody>
          <a:bodyPr wrap="square" lIns="0" tIns="0" rIns="0" bIns="0" rtlCol="0" anchor="ctr"/>
          <a:lstStyle/>
          <a:p>
            <a:pPr algn="r" indent="0" marL="0">
              <a:buNone/>
            </a:pPr>
            <a:r>
              <a:rPr lang="en-US" sz="1300" b="1" dirty="0">
                <a:solidFill>
                  <a:schemeClr val="bg1"/>
                </a:solidFill>
              </a:rPr>
              <a:t>Repackaging banned ammo (Act III)</a:t>
            </a:r>
            <a:endParaRPr lang="en-US" sz="1300" dirty="0"/>
          </a:p>
        </p:txBody>
      </p:sp>
      <p:sp>
        <p:nvSpPr>
          <p:cNvPr id="20" name="Text 17"/>
          <p:cNvSpPr txBox="1"/>
          <p:nvPr/>
        </p:nvSpPr>
        <p:spPr>
          <a:xfrm>
            <a:off x="548640" y="3108960"/>
            <a:ext cx="11094415" cy="411480"/>
          </a:xfrm>
          <a:prstGeom prst="rect">
            <a:avLst/>
          </a:prstGeom>
          <a:noFill/>
          <a:ln/>
        </p:spPr>
        <p:txBody>
          <a:bodyPr wrap="square" lIns="0" tIns="0" rIns="0" bIns="0" rtlCol="0" anchor="ctr"/>
          <a:lstStyle/>
          <a:p>
            <a:pPr indent="0" marL="0">
              <a:buNone/>
            </a:pPr>
            <a:r>
              <a:rPr lang="en-US" sz="1400" i="1" dirty="0">
                <a:solidFill>
                  <a:srgbClr val="A9ADB5"/>
                </a:solidFill>
              </a:rPr>
              <a:t>Smith (1980): legal and illegal businesses sit on one spectrum and respond to the same market demand. AEY slides along it as profits grow.</a:t>
            </a:r>
            <a:endParaRPr lang="en-US" sz="1400" dirty="0"/>
          </a:p>
        </p:txBody>
      </p:sp>
      <p:sp>
        <p:nvSpPr>
          <p:cNvPr id="21" name="Strain / anomie"/>
          <p:cNvSpPr/>
          <p:nvPr/>
        </p:nvSpPr>
        <p:spPr>
          <a:xfrm>
            <a:off x="548640" y="3703320"/>
            <a:ext cx="3560978" cy="2194560"/>
          </a:xfrm>
          <a:prstGeom prst="rect">
            <a:avLst/>
          </a:prstGeom>
          <a:solidFill>
            <a:srgbClr val="1B1D22"/>
          </a:solidFill>
          <a:ln w="12700">
            <a:solidFill>
              <a:srgbClr val="33363D"/>
            </a:solidFill>
            <a:prstDash val="solid"/>
          </a:ln>
        </p:spPr>
      </p:sp>
      <p:sp>
        <p:nvSpPr>
          <p:cNvPr id="22" name="Text 19"/>
          <p:cNvSpPr txBox="1"/>
          <p:nvPr/>
        </p:nvSpPr>
        <p:spPr>
          <a:xfrm>
            <a:off x="777240" y="3840480"/>
            <a:ext cx="3103778" cy="731520"/>
          </a:xfrm>
          <a:prstGeom prst="rect">
            <a:avLst/>
          </a:prstGeom>
          <a:noFill/>
          <a:ln/>
        </p:spPr>
        <p:txBody>
          <a:bodyPr wrap="square" lIns="0" tIns="0" rIns="0" bIns="0" rtlCol="0" anchor="t"/>
          <a:lstStyle/>
          <a:p>
            <a:pPr indent="0" marL="0">
              <a:buNone/>
            </a:pPr>
            <a:r>
              <a:rPr lang="en-US" sz="1600" b="1" dirty="0">
                <a:solidFill>
                  <a:srgbClr val="FFD84D"/>
                </a:solidFill>
                <a:latin typeface="Bookman Old Style" pitchFamily="34" charset="0"/>
                <a:ea typeface="Bookman Old Style" pitchFamily="34" charset="-122"/>
                <a:cs typeface="Bookman Old Style" pitchFamily="34" charset="-120"/>
              </a:rPr>
              <a:t>Strain / anomie</a:t>
            </a:r>
            <a:endParaRPr lang="en-US" sz="1600" dirty="0"/>
          </a:p>
          <a:p>
            <a:pPr indent="0" marL="0">
              <a:buNone/>
            </a:pPr>
            <a:r>
              <a:rPr lang="en-US" sz="1100" dirty="0">
                <a:solidFill>
                  <a:srgbClr val="A9ADB5"/>
                </a:solidFill>
              </a:rPr>
              <a:t>Merton (1938); Messner &amp; Rosenfeld (1994)</a:t>
            </a:r>
            <a:endParaRPr lang="en-US" sz="1600" dirty="0"/>
          </a:p>
        </p:txBody>
      </p:sp>
      <p:sp>
        <p:nvSpPr>
          <p:cNvPr id="23" name="Text 20"/>
          <p:cNvSpPr txBox="1"/>
          <p:nvPr/>
        </p:nvSpPr>
        <p:spPr>
          <a:xfrm>
            <a:off x="777240" y="4617720"/>
            <a:ext cx="3103778" cy="1188720"/>
          </a:xfrm>
          <a:prstGeom prst="rect">
            <a:avLst/>
          </a:prstGeom>
          <a:noFill/>
          <a:ln/>
        </p:spPr>
        <p:txBody>
          <a:bodyPr wrap="square" lIns="0" tIns="0" rIns="0" bIns="0" rtlCol="0" anchor="t"/>
          <a:lstStyle/>
          <a:p>
            <a:pPr indent="0" marL="0">
              <a:buNone/>
            </a:pPr>
            <a:r>
              <a:rPr lang="en-US" sz="1500" dirty="0">
                <a:solidFill>
                  <a:schemeClr val="bg1"/>
                </a:solidFill>
              </a:rPr>
              <a:t>Broke with a baby on the way, David “innovates”: legitimate goal, illegitimate means.</a:t>
            </a:r>
            <a:endParaRPr lang="en-US" sz="1500" dirty="0"/>
          </a:p>
        </p:txBody>
      </p:sp>
      <p:sp>
        <p:nvSpPr>
          <p:cNvPr id="24" name="Differential association"/>
          <p:cNvSpPr/>
          <p:nvPr/>
        </p:nvSpPr>
        <p:spPr>
          <a:xfrm>
            <a:off x="4274210" y="3703320"/>
            <a:ext cx="3560978" cy="2194560"/>
          </a:xfrm>
          <a:prstGeom prst="rect">
            <a:avLst/>
          </a:prstGeom>
          <a:solidFill>
            <a:srgbClr val="1B1D22"/>
          </a:solidFill>
          <a:ln w="12700">
            <a:solidFill>
              <a:srgbClr val="33363D"/>
            </a:solidFill>
            <a:prstDash val="solid"/>
          </a:ln>
        </p:spPr>
      </p:sp>
      <p:sp>
        <p:nvSpPr>
          <p:cNvPr id="25" name="Text 22"/>
          <p:cNvSpPr txBox="1"/>
          <p:nvPr/>
        </p:nvSpPr>
        <p:spPr>
          <a:xfrm>
            <a:off x="4502810" y="3840480"/>
            <a:ext cx="3103778" cy="731520"/>
          </a:xfrm>
          <a:prstGeom prst="rect">
            <a:avLst/>
          </a:prstGeom>
          <a:noFill/>
          <a:ln/>
        </p:spPr>
        <p:txBody>
          <a:bodyPr wrap="square" lIns="0" tIns="0" rIns="0" bIns="0" rtlCol="0" anchor="t"/>
          <a:lstStyle/>
          <a:p>
            <a:pPr indent="0" marL="0">
              <a:buNone/>
            </a:pPr>
            <a:r>
              <a:rPr lang="en-US" sz="1600" b="1" dirty="0">
                <a:solidFill>
                  <a:srgbClr val="FFD84D"/>
                </a:solidFill>
                <a:latin typeface="Bookman Old Style" pitchFamily="34" charset="0"/>
                <a:ea typeface="Bookman Old Style" pitchFamily="34" charset="-122"/>
                <a:cs typeface="Bookman Old Style" pitchFamily="34" charset="-120"/>
              </a:rPr>
              <a:t>Differential association</a:t>
            </a:r>
            <a:endParaRPr lang="en-US" sz="1600" dirty="0"/>
          </a:p>
          <a:p>
            <a:pPr indent="0" marL="0">
              <a:buNone/>
            </a:pPr>
            <a:r>
              <a:rPr lang="en-US" sz="1100" dirty="0">
                <a:solidFill>
                  <a:srgbClr val="A9ADB5"/>
                </a:solidFill>
              </a:rPr>
              <a:t>Sutherland (1940)</a:t>
            </a:r>
            <a:endParaRPr lang="en-US" sz="1600" dirty="0"/>
          </a:p>
        </p:txBody>
      </p:sp>
      <p:sp>
        <p:nvSpPr>
          <p:cNvPr id="26" name="Text 23"/>
          <p:cNvSpPr txBox="1"/>
          <p:nvPr/>
        </p:nvSpPr>
        <p:spPr>
          <a:xfrm>
            <a:off x="4502810" y="4617720"/>
            <a:ext cx="3103778" cy="1188720"/>
          </a:xfrm>
          <a:prstGeom prst="rect">
            <a:avLst/>
          </a:prstGeom>
          <a:noFill/>
          <a:ln/>
        </p:spPr>
        <p:txBody>
          <a:bodyPr wrap="square" lIns="0" tIns="0" rIns="0" bIns="0" rtlCol="0" anchor="t"/>
          <a:lstStyle/>
          <a:p>
            <a:pPr indent="0" marL="0">
              <a:buNone/>
            </a:pPr>
            <a:r>
              <a:rPr lang="en-US" sz="1500" dirty="0">
                <a:solidFill>
                  <a:schemeClr val="bg1"/>
                </a:solidFill>
              </a:rPr>
              <a:t>David learns the methods and the excuses of the trade from Efraim.</a:t>
            </a:r>
            <a:endParaRPr lang="en-US" sz="1500" dirty="0"/>
          </a:p>
        </p:txBody>
      </p:sp>
      <p:sp>
        <p:nvSpPr>
          <p:cNvPr id="27" name="Rational choice"/>
          <p:cNvSpPr/>
          <p:nvPr/>
        </p:nvSpPr>
        <p:spPr>
          <a:xfrm>
            <a:off x="7999781" y="3703320"/>
            <a:ext cx="3560978" cy="2194560"/>
          </a:xfrm>
          <a:prstGeom prst="rect">
            <a:avLst/>
          </a:prstGeom>
          <a:solidFill>
            <a:srgbClr val="1B1D22"/>
          </a:solidFill>
          <a:ln w="12700">
            <a:solidFill>
              <a:srgbClr val="33363D"/>
            </a:solidFill>
            <a:prstDash val="solid"/>
          </a:ln>
        </p:spPr>
      </p:sp>
      <p:sp>
        <p:nvSpPr>
          <p:cNvPr id="28" name="Text 25"/>
          <p:cNvSpPr txBox="1"/>
          <p:nvPr/>
        </p:nvSpPr>
        <p:spPr>
          <a:xfrm>
            <a:off x="8228381" y="3840480"/>
            <a:ext cx="3103778" cy="731520"/>
          </a:xfrm>
          <a:prstGeom prst="rect">
            <a:avLst/>
          </a:prstGeom>
          <a:noFill/>
          <a:ln/>
        </p:spPr>
        <p:txBody>
          <a:bodyPr wrap="square" lIns="0" tIns="0" rIns="0" bIns="0" rtlCol="0" anchor="t"/>
          <a:lstStyle/>
          <a:p>
            <a:pPr indent="0" marL="0">
              <a:buNone/>
            </a:pPr>
            <a:r>
              <a:rPr lang="en-US" sz="1600" b="1" dirty="0">
                <a:solidFill>
                  <a:srgbClr val="FFD84D"/>
                </a:solidFill>
                <a:latin typeface="Bookman Old Style" pitchFamily="34" charset="0"/>
                <a:ea typeface="Bookman Old Style" pitchFamily="34" charset="-122"/>
                <a:cs typeface="Bookman Old Style" pitchFamily="34" charset="-120"/>
              </a:rPr>
              <a:t>Rational choice</a:t>
            </a:r>
            <a:endParaRPr lang="en-US" sz="1600" dirty="0"/>
          </a:p>
          <a:p>
            <a:pPr indent="0" marL="0">
              <a:buNone/>
            </a:pPr>
            <a:r>
              <a:rPr lang="en-US" sz="1100" dirty="0">
                <a:solidFill>
                  <a:srgbClr val="A9ADB5"/>
                </a:solidFill>
              </a:rPr>
              <a:t>Cornish &amp; Clarke (1986)</a:t>
            </a:r>
            <a:endParaRPr lang="en-US" sz="1600" dirty="0"/>
          </a:p>
        </p:txBody>
      </p:sp>
      <p:sp>
        <p:nvSpPr>
          <p:cNvPr id="29" name="Text 26"/>
          <p:cNvSpPr txBox="1"/>
          <p:nvPr/>
        </p:nvSpPr>
        <p:spPr>
          <a:xfrm>
            <a:off x="8228381" y="4617720"/>
            <a:ext cx="3103778" cy="1188720"/>
          </a:xfrm>
          <a:prstGeom prst="rect">
            <a:avLst/>
          </a:prstGeom>
          <a:noFill/>
          <a:ln/>
        </p:spPr>
        <p:txBody>
          <a:bodyPr wrap="square" lIns="0" tIns="0" rIns="0" bIns="0" rtlCol="0" anchor="t"/>
          <a:lstStyle/>
          <a:p>
            <a:pPr indent="0" marL="0">
              <a:buNone/>
            </a:pPr>
            <a:r>
              <a:rPr lang="en-US" sz="1500" dirty="0">
                <a:solidFill>
                  <a:schemeClr val="bg1"/>
                </a:solidFill>
              </a:rPr>
              <a:t>Each step is a calculation: big reward, small chance of being caught.</a:t>
            </a:r>
            <a:endParaRPr lang="en-US" sz="1500" dirty="0"/>
          </a:p>
        </p:txBody>
      </p:sp>
      <p:sp>
        <p:nvSpPr>
          <p:cNvPr id="25" name="Slide Number Placeholder 0"/>
          <p:cNvSpPr>
            <a:spLocks noGrp="1"/>
          </p:cNvSpPr>
          <p:nvPr>
            <p:ph type="sldNum" sz="quarter" idx="4294967295"/>
          </p:nvPr>
        </p:nvSpPr>
        <p:spPr>
          <a:xfrm>
            <a:off x="11094415" y="6400800"/>
            <a:ext cx="54864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6E727A"/>
                </a:solidFill>
                <a:latin typeface="Courier New"/>
                <a:ea typeface="Courier New"/>
                <a:cs typeface="Courier New"/>
              </a:defRPr>
            </a:lvl1pPr>
          </a:lstStyle>
          <a:p>
            <a:pPr algn="r"/>
            <a:fld id="{F7021451-1387-4CA6-816F-3879F97B5CBC}" type="slidenum">
              <a:rPr b="1" lang="en-US"/>
              <a:t>4</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6" fill="hold">
                      <p:stCondLst>
                        <p:cond delay="indefinite"/>
                        <p:cond evt="onBegin" delay="0">
                          <p:tn val="2"/>
                        </p:cond>
                      </p:stCondLst>
                      <p:childTnLst>
                        <p:par>
                          <p:cTn id="127" fill="hold">
                            <p:stCondLst>
                              <p:cond delay="0"/>
                            </p:stCondLst>
                            <p:childTnLst>
                              <p:par>
                                <p:cTn id="7" presetID="53" presetClass="entr" presetSubtype="32" fill="hold" grpId="0" nodeType="afterEffect">
                                  <p:stCondLst>
                                    <p:cond delay="0"/>
                                  </p:stCondLst>
                                  <p:childTnLst>
                                    <p:set>
                                      <p:cBhvr>
                                        <p:cTn id="3" dur="1" fill="hold">
                                          <p:stCondLst>
                                            <p:cond delay="0"/>
                                          </p:stCondLst>
                                        </p:cTn>
                                        <p:tgtEl>
                                          <p:spTgt spid="2"/>
                                        </p:tgtEl>
                                        <p:attrNameLst>
                                          <p:attrName>style.visibility</p:attrName>
                                        </p:attrNameLst>
                                      </p:cBhvr>
                                      <p:to>
                                        <p:strVal val="visible"/>
                                      </p:to>
                                    </p:set>
                                    <p:anim calcmode="lin" valueType="num">
                                      <p:cBhvr additive="base">
                                        <p:cTn id="4" dur="450" fill="hold"/>
                                        <p:tgtEl>
                                          <p:spTgt spid="2"/>
                                        </p:tgtEl>
                                        <p:attrNameLst>
                                          <p:attrName>ppt_w</p:attrName>
                                        </p:attrNameLst>
                                      </p:cBhvr>
                                      <p:tavLst>
                                        <p:tav tm="0">
                                          <p:val>
                                            <p:strVal val="#ppt_w*2.4"/>
                                          </p:val>
                                        </p:tav>
                                        <p:tav tm="100000">
                                          <p:val>
                                            <p:strVal val="#ppt_w"/>
                                          </p:val>
                                        </p:tav>
                                      </p:tavLst>
                                    </p:anim>
                                    <p:anim calcmode="lin" valueType="num">
                                      <p:cBhvr additive="base">
                                        <p:cTn id="5" dur="450" fill="hold"/>
                                        <p:tgtEl>
                                          <p:spTgt spid="2"/>
                                        </p:tgtEl>
                                        <p:attrNameLst>
                                          <p:attrName>ppt_h</p:attrName>
                                        </p:attrNameLst>
                                      </p:cBhvr>
                                      <p:tavLst>
                                        <p:tav tm="0">
                                          <p:val>
                                            <p:strVal val="#ppt_h*2.4"/>
                                          </p:val>
                                        </p:tav>
                                        <p:tav tm="100000">
                                          <p:val>
                                            <p:strVal val="#ppt_h"/>
                                          </p:val>
                                        </p:tav>
                                      </p:tavLst>
                                    </p:anim>
                                    <p:animEffect transition="in" filter="fade">
                                      <p:cBhvr>
                                        <p:cTn id="6" dur="450"/>
                                        <p:tgtEl>
                                          <p:spTgt spid="2"/>
                                        </p:tgtEl>
                                      </p:cBhvr>
                                    </p:animEffect>
                                  </p:childTnLst>
                                </p:cTn>
                              </p:par>
                              <p:par>
                                <p:cTn id="12" presetID="53" presetClass="entr" presetSubtype="32"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anim calcmode="lin" valueType="num">
                                      <p:cBhvr additive="base">
                                        <p:cTn id="9" dur="450" fill="hold"/>
                                        <p:tgtEl>
                                          <p:spTgt spid="3"/>
                                        </p:tgtEl>
                                        <p:attrNameLst>
                                          <p:attrName>ppt_w</p:attrName>
                                        </p:attrNameLst>
                                      </p:cBhvr>
                                      <p:tavLst>
                                        <p:tav tm="0">
                                          <p:val>
                                            <p:strVal val="#ppt_w*2.4"/>
                                          </p:val>
                                        </p:tav>
                                        <p:tav tm="100000">
                                          <p:val>
                                            <p:strVal val="#ppt_w"/>
                                          </p:val>
                                        </p:tav>
                                      </p:tavLst>
                                    </p:anim>
                                    <p:anim calcmode="lin" valueType="num">
                                      <p:cBhvr additive="base">
                                        <p:cTn id="10" dur="450" fill="hold"/>
                                        <p:tgtEl>
                                          <p:spTgt spid="3"/>
                                        </p:tgtEl>
                                        <p:attrNameLst>
                                          <p:attrName>ppt_h</p:attrName>
                                        </p:attrNameLst>
                                      </p:cBhvr>
                                      <p:tavLst>
                                        <p:tav tm="0">
                                          <p:val>
                                            <p:strVal val="#ppt_h*2.4"/>
                                          </p:val>
                                        </p:tav>
                                        <p:tav tm="100000">
                                          <p:val>
                                            <p:strVal val="#ppt_h"/>
                                          </p:val>
                                        </p:tav>
                                      </p:tavLst>
                                    </p:anim>
                                    <p:animEffect transition="in" filter="fade">
                                      <p:cBhvr>
                                        <p:cTn id="11" dur="450"/>
                                        <p:tgtEl>
                                          <p:spTgt spid="3"/>
                                        </p:tgtEl>
                                      </p:cBhvr>
                                    </p:animEffect>
                                  </p:childTnLst>
                                </p:cTn>
                              </p:par>
                              <p:par>
                                <p:cTn id="17" presetID="53" presetClass="entr" presetSubtype="32" fill="hold" grpId="0" nodeType="withEffect">
                                  <p:stCondLst>
                                    <p:cond delay="0"/>
                                  </p:stCondLst>
                                  <p:childTnLst>
                                    <p:set>
                                      <p:cBhvr>
                                        <p:cTn id="13" dur="1" fill="hold">
                                          <p:stCondLst>
                                            <p:cond delay="0"/>
                                          </p:stCondLst>
                                        </p:cTn>
                                        <p:tgtEl>
                                          <p:spTgt spid="4"/>
                                        </p:tgtEl>
                                        <p:attrNameLst>
                                          <p:attrName>style.visibility</p:attrName>
                                        </p:attrNameLst>
                                      </p:cBhvr>
                                      <p:to>
                                        <p:strVal val="visible"/>
                                      </p:to>
                                    </p:set>
                                    <p:anim calcmode="lin" valueType="num">
                                      <p:cBhvr additive="base">
                                        <p:cTn id="14" dur="450" fill="hold"/>
                                        <p:tgtEl>
                                          <p:spTgt spid="4"/>
                                        </p:tgtEl>
                                        <p:attrNameLst>
                                          <p:attrName>ppt_w</p:attrName>
                                        </p:attrNameLst>
                                      </p:cBhvr>
                                      <p:tavLst>
                                        <p:tav tm="0">
                                          <p:val>
                                            <p:strVal val="#ppt_w*2.4"/>
                                          </p:val>
                                        </p:tav>
                                        <p:tav tm="100000">
                                          <p:val>
                                            <p:strVal val="#ppt_w"/>
                                          </p:val>
                                        </p:tav>
                                      </p:tavLst>
                                    </p:anim>
                                    <p:anim calcmode="lin" valueType="num">
                                      <p:cBhvr additive="base">
                                        <p:cTn id="15" dur="450" fill="hold"/>
                                        <p:tgtEl>
                                          <p:spTgt spid="4"/>
                                        </p:tgtEl>
                                        <p:attrNameLst>
                                          <p:attrName>ppt_h</p:attrName>
                                        </p:attrNameLst>
                                      </p:cBhvr>
                                      <p:tavLst>
                                        <p:tav tm="0">
                                          <p:val>
                                            <p:strVal val="#ppt_h*2.4"/>
                                          </p:val>
                                        </p:tav>
                                        <p:tav tm="100000">
                                          <p:val>
                                            <p:strVal val="#ppt_h"/>
                                          </p:val>
                                        </p:tav>
                                      </p:tavLst>
                                    </p:anim>
                                    <p:animEffect transition="in" filter="fade">
                                      <p:cBhvr>
                                        <p:cTn id="16" dur="450"/>
                                        <p:tgtEl>
                                          <p:spTgt spid="4"/>
                                        </p:tgtEl>
                                      </p:cBhvr>
                                    </p:animEffect>
                                  </p:childTnLst>
                                </p:cTn>
                              </p:par>
                              <p:par>
                                <p:cTn id="22" presetID="42" presetClass="entr" presetSubtype="0" fill="hold" grpId="0" nodeType="withEffect">
                                  <p:stCondLst>
                                    <p:cond delay="40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700"/>
                                        <p:tgtEl>
                                          <p:spTgt spid="6"/>
                                        </p:tgtEl>
                                      </p:cBhvr>
                                    </p:animEffect>
                                    <p:anim calcmode="lin" valueType="num">
                                      <p:cBhvr additive="base">
                                        <p:cTn id="20" dur="700" fill="hold"/>
                                        <p:tgtEl>
                                          <p:spTgt spid="6"/>
                                        </p:tgtEl>
                                        <p:attrNameLst>
                                          <p:attrName>ppt_x</p:attrName>
                                        </p:attrNameLst>
                                      </p:cBhvr>
                                      <p:tavLst>
                                        <p:tav tm="0">
                                          <p:val>
                                            <p:strVal val="#ppt_x"/>
                                          </p:val>
                                        </p:tav>
                                        <p:tav tm="100000">
                                          <p:val>
                                            <p:strVal val="#ppt_x"/>
                                          </p:val>
                                        </p:tav>
                                      </p:tavLst>
                                    </p:anim>
                                    <p:anim calcmode="lin" valueType="num">
                                      <p:cBhvr additive="base">
                                        <p:cTn id="21" dur="700" fill="hold"/>
                                        <p:tgtEl>
                                          <p:spTgt spid="6"/>
                                        </p:tgtEl>
                                        <p:attrNameLst>
                                          <p:attrName>ppt_y</p:attrName>
                                        </p:attrNameLst>
                                      </p:cBhvr>
                                      <p:tavLst>
                                        <p:tav tm="0">
                                          <p:val>
                                            <p:strVal val="#ppt_y+.06"/>
                                          </p:val>
                                        </p:tav>
                                        <p:tav tm="100000">
                                          <p:val>
                                            <p:strVal val="#ppt_y"/>
                                          </p:val>
                                        </p:tav>
                                      </p:tavLst>
                                    </p:anim>
                                  </p:childTnLst>
                                </p:cTn>
                              </p:par>
                              <p:par>
                                <p:cTn id="24" presetID="1" presetClass="entr" presetSubtype="0" fill="hold" grpId="0" nodeType="withEffect">
                                  <p:stCondLst>
                                    <p:cond delay="500"/>
                                  </p:stCondLst>
                                  <p:iterate type="lt">
                                    <p:tmAbs val="30"/>
                                  </p:iterate>
                                  <p:childTnLst>
                                    <p:set>
                                      <p:cBhvr>
                                        <p:cTn id="23" dur="1" fill="hold">
                                          <p:stCondLst>
                                            <p:cond delay="0"/>
                                          </p:stCondLst>
                                        </p:cTn>
                                        <p:tgtEl>
                                          <p:spTgt spid="5"/>
                                        </p:tgtEl>
                                        <p:attrNameLst>
                                          <p:attrName>style.visibility</p:attrName>
                                        </p:attrNameLst>
                                      </p:cBhvr>
                                      <p:to>
                                        <p:strVal val="visible"/>
                                      </p:to>
                                    </p:set>
                                  </p:childTnLst>
                                </p:cTn>
                              </p:par>
                              <p:par>
                                <p:cTn id="27" presetID="10" presetClass="entr" presetSubtype="0" fill="hold" grpId="0" nodeType="withEffect">
                                  <p:stCondLst>
                                    <p:cond delay="800"/>
                                  </p:stCondLst>
                                  <p:childTnLst>
                                    <p:set>
                                      <p:cBhvr>
                                        <p:cTn id="25" dur="1" fill="hold">
                                          <p:stCondLst>
                                            <p:cond delay="0"/>
                                          </p:stCondLst>
                                        </p:cTn>
                                        <p:tgtEl>
                                          <p:spTgt spid="12"/>
                                        </p:tgtEl>
                                        <p:attrNameLst>
                                          <p:attrName>style.visibility</p:attrName>
                                        </p:attrNameLst>
                                      </p:cBhvr>
                                      <p:to>
                                        <p:strVal val="visible"/>
                                      </p:to>
                                    </p:set>
                                    <p:animEffect transition="in" filter="fade">
                                      <p:cBhvr>
                                        <p:cTn id="26" dur="500"/>
                                        <p:tgtEl>
                                          <p:spTgt spid="12"/>
                                        </p:tgtEl>
                                      </p:cBhvr>
                                    </p:animEffect>
                                  </p:childTnLst>
                                </p:cTn>
                              </p:par>
                              <p:par>
                                <p:cTn id="30" presetID="10" presetClass="entr" presetSubtype="0" fill="hold" grpId="0" nodeType="withEffect">
                                  <p:stCondLst>
                                    <p:cond delay="800"/>
                                  </p:stCondLst>
                                  <p:childTnLst>
                                    <p:set>
                                      <p:cBhvr>
                                        <p:cTn id="28" dur="1" fill="hold">
                                          <p:stCondLst>
                                            <p:cond delay="0"/>
                                          </p:stCondLst>
                                        </p:cTn>
                                        <p:tgtEl>
                                          <p:spTgt spid="13"/>
                                        </p:tgtEl>
                                        <p:attrNameLst>
                                          <p:attrName>style.visibility</p:attrName>
                                        </p:attrNameLst>
                                      </p:cBhvr>
                                      <p:to>
                                        <p:strVal val="visible"/>
                                      </p:to>
                                    </p:set>
                                    <p:animEffect transition="in" filter="fade">
                                      <p:cBhvr>
                                        <p:cTn id="29" dur="500"/>
                                        <p:tgtEl>
                                          <p:spTgt spid="13"/>
                                        </p:tgtEl>
                                      </p:cBhvr>
                                    </p:animEffect>
                                  </p:childTnLst>
                                </p:cTn>
                              </p:par>
                              <p:par>
                                <p:cTn id="32" presetID="6" presetClass="emph" presetSubtype="0" fill="hold" grpId="1" nodeType="withEffect" autoRev="1" repeatCount="indefinite">
                                  <p:stCondLst>
                                    <p:cond delay="900"/>
                                  </p:stCondLst>
                                  <p:childTnLst>
                                    <p:animScale>
                                      <p:cBhvr>
                                        <p:cTn id="31" dur="800" fill="hold"/>
                                        <p:tgtEl>
                                          <p:spTgt spid="2"/>
                                        </p:tgtEl>
                                      </p:cBhvr>
                                      <p:by x="106000" y="106000"/>
                                    </p:animScale>
                                  </p:childTnLst>
                                </p:cTn>
                              </p:par>
                              <p:par>
                                <p:cTn id="35" presetID="22" presetClass="entr" presetSubtype="8" fill="hold" grpId="0" nodeType="withEffect">
                                  <p:stCondLst>
                                    <p:cond delay="1000"/>
                                  </p:stCondLst>
                                  <p:childTnLst>
                                    <p:set>
                                      <p:cBhvr>
                                        <p:cTn id="33" dur="1" fill="hold">
                                          <p:stCondLst>
                                            <p:cond delay="0"/>
                                          </p:stCondLst>
                                        </p:cTn>
                                        <p:tgtEl>
                                          <p:spTgt spid="7"/>
                                        </p:tgtEl>
                                        <p:attrNameLst>
                                          <p:attrName>style.visibility</p:attrName>
                                        </p:attrNameLst>
                                      </p:cBhvr>
                                      <p:to>
                                        <p:strVal val="visible"/>
                                      </p:to>
                                    </p:set>
                                    <p:animEffect transition="in" filter="wipe(left)">
                                      <p:cBhvr>
                                        <p:cTn id="34" dur="450"/>
                                        <p:tgtEl>
                                          <p:spTgt spid="7"/>
                                        </p:tgtEl>
                                      </p:cBhvr>
                                    </p:animEffect>
                                  </p:childTnLst>
                                </p:cTn>
                              </p:par>
                              <p:par>
                                <p:cTn id="38" presetID="22" presetClass="entr" presetSubtype="8" fill="hold" grpId="0" nodeType="withEffect">
                                  <p:stCondLst>
                                    <p:cond delay="1300"/>
                                  </p:stCondLst>
                                  <p:childTnLst>
                                    <p:set>
                                      <p:cBhvr>
                                        <p:cTn id="36" dur="1" fill="hold">
                                          <p:stCondLst>
                                            <p:cond delay="0"/>
                                          </p:stCondLst>
                                        </p:cTn>
                                        <p:tgtEl>
                                          <p:spTgt spid="8"/>
                                        </p:tgtEl>
                                        <p:attrNameLst>
                                          <p:attrName>style.visibility</p:attrName>
                                        </p:attrNameLst>
                                      </p:cBhvr>
                                      <p:to>
                                        <p:strVal val="visible"/>
                                      </p:to>
                                    </p:set>
                                    <p:animEffect transition="in" filter="wipe(left)">
                                      <p:cBhvr>
                                        <p:cTn id="37" dur="450"/>
                                        <p:tgtEl>
                                          <p:spTgt spid="8"/>
                                        </p:tgtEl>
                                      </p:cBhvr>
                                    </p:animEffect>
                                  </p:childTnLst>
                                </p:cTn>
                              </p:par>
                              <p:par>
                                <p:cTn id="41" presetID="22" presetClass="entr" presetSubtype="8" fill="hold" grpId="0" nodeType="withEffect">
                                  <p:stCondLst>
                                    <p:cond delay="1600"/>
                                  </p:stCondLst>
                                  <p:childTnLst>
                                    <p:set>
                                      <p:cBhvr>
                                        <p:cTn id="39" dur="1" fill="hold">
                                          <p:stCondLst>
                                            <p:cond delay="0"/>
                                          </p:stCondLst>
                                        </p:cTn>
                                        <p:tgtEl>
                                          <p:spTgt spid="9"/>
                                        </p:tgtEl>
                                        <p:attrNameLst>
                                          <p:attrName>style.visibility</p:attrName>
                                        </p:attrNameLst>
                                      </p:cBhvr>
                                      <p:to>
                                        <p:strVal val="visible"/>
                                      </p:to>
                                    </p:set>
                                    <p:animEffect transition="in" filter="wipe(left)">
                                      <p:cBhvr>
                                        <p:cTn id="40" dur="450"/>
                                        <p:tgtEl>
                                          <p:spTgt spid="9"/>
                                        </p:tgtEl>
                                      </p:cBhvr>
                                    </p:animEffect>
                                  </p:childTnLst>
                                </p:cTn>
                              </p:par>
                              <p:par>
                                <p:cTn id="44" presetID="22" presetClass="entr" presetSubtype="8" fill="hold" grpId="0" nodeType="withEffect">
                                  <p:stCondLst>
                                    <p:cond delay="1900"/>
                                  </p:stCondLst>
                                  <p:childTnLst>
                                    <p:set>
                                      <p:cBhvr>
                                        <p:cTn id="42" dur="1" fill="hold">
                                          <p:stCondLst>
                                            <p:cond delay="0"/>
                                          </p:stCondLst>
                                        </p:cTn>
                                        <p:tgtEl>
                                          <p:spTgt spid="10"/>
                                        </p:tgtEl>
                                        <p:attrNameLst>
                                          <p:attrName>style.visibility</p:attrName>
                                        </p:attrNameLst>
                                      </p:cBhvr>
                                      <p:to>
                                        <p:strVal val="visible"/>
                                      </p:to>
                                    </p:set>
                                    <p:animEffect transition="in" filter="wipe(left)">
                                      <p:cBhvr>
                                        <p:cTn id="43" dur="450"/>
                                        <p:tgtEl>
                                          <p:spTgt spid="10"/>
                                        </p:tgtEl>
                                      </p:cBhvr>
                                    </p:animEffect>
                                  </p:childTnLst>
                                </p:cTn>
                              </p:par>
                              <p:par>
                                <p:cTn id="47" presetID="22" presetClass="entr" presetSubtype="8" fill="hold" grpId="0" nodeType="withEffect">
                                  <p:stCondLst>
                                    <p:cond delay="2200"/>
                                  </p:stCondLst>
                                  <p:childTnLst>
                                    <p:set>
                                      <p:cBhvr>
                                        <p:cTn id="45" dur="1" fill="hold">
                                          <p:stCondLst>
                                            <p:cond delay="0"/>
                                          </p:stCondLst>
                                        </p:cTn>
                                        <p:tgtEl>
                                          <p:spTgt spid="11"/>
                                        </p:tgtEl>
                                        <p:attrNameLst>
                                          <p:attrName>style.visibility</p:attrName>
                                        </p:attrNameLst>
                                      </p:cBhvr>
                                      <p:to>
                                        <p:strVal val="visible"/>
                                      </p:to>
                                    </p:set>
                                    <p:animEffect transition="in" filter="wipe(left)">
                                      <p:cBhvr>
                                        <p:cTn id="46" dur="450"/>
                                        <p:tgtEl>
                                          <p:spTgt spid="11"/>
                                        </p:tgtEl>
                                      </p:cBhvr>
                                    </p:animEffect>
                                  </p:childTnLst>
                                </p:cTn>
                              </p:par>
                              <p:par>
                                <p:cTn id="52" presetID="42" presetClass="entr" presetSubtype="0" fill="hold" grpId="0" nodeType="withEffect">
                                  <p:stCondLst>
                                    <p:cond delay="2700"/>
                                  </p:stCondLst>
                                  <p:childTnLst>
                                    <p:set>
                                      <p:cBhvr>
                                        <p:cTn id="48" dur="1" fill="hold">
                                          <p:stCondLst>
                                            <p:cond delay="0"/>
                                          </p:stCondLst>
                                        </p:cTn>
                                        <p:tgtEl>
                                          <p:spTgt spid="14"/>
                                        </p:tgtEl>
                                        <p:attrNameLst>
                                          <p:attrName>style.visibility</p:attrName>
                                        </p:attrNameLst>
                                      </p:cBhvr>
                                      <p:to>
                                        <p:strVal val="visible"/>
                                      </p:to>
                                    </p:set>
                                    <p:animEffect transition="in" filter="fade">
                                      <p:cBhvr>
                                        <p:cTn id="49" dur="450"/>
                                        <p:tgtEl>
                                          <p:spTgt spid="14"/>
                                        </p:tgtEl>
                                      </p:cBhvr>
                                    </p:animEffect>
                                    <p:anim calcmode="lin" valueType="num">
                                      <p:cBhvr additive="base">
                                        <p:cTn id="50" dur="450" fill="hold"/>
                                        <p:tgtEl>
                                          <p:spTgt spid="14"/>
                                        </p:tgtEl>
                                        <p:attrNameLst>
                                          <p:attrName>ppt_x</p:attrName>
                                        </p:attrNameLst>
                                      </p:cBhvr>
                                      <p:tavLst>
                                        <p:tav tm="0">
                                          <p:val>
                                            <p:strVal val="#ppt_x"/>
                                          </p:val>
                                        </p:tav>
                                        <p:tav tm="100000">
                                          <p:val>
                                            <p:strVal val="#ppt_x"/>
                                          </p:val>
                                        </p:tav>
                                      </p:tavLst>
                                    </p:anim>
                                    <p:anim calcmode="lin" valueType="num">
                                      <p:cBhvr additive="base">
                                        <p:cTn id="51" dur="450" fill="hold"/>
                                        <p:tgtEl>
                                          <p:spTgt spid="14"/>
                                        </p:tgtEl>
                                        <p:attrNameLst>
                                          <p:attrName>ppt_y</p:attrName>
                                        </p:attrNameLst>
                                      </p:cBhvr>
                                      <p:tavLst>
                                        <p:tav tm="0">
                                          <p:val>
                                            <p:strVal val="#ppt_y-.06"/>
                                          </p:val>
                                        </p:tav>
                                        <p:tav tm="100000">
                                          <p:val>
                                            <p:strVal val="#ppt_y"/>
                                          </p:val>
                                        </p:tav>
                                      </p:tavLst>
                                    </p:anim>
                                  </p:childTnLst>
                                </p:cTn>
                              </p:par>
                              <p:par>
                                <p:cTn id="57" presetID="42" presetClass="entr" presetSubtype="0" fill="hold" grpId="0" nodeType="withEffect">
                                  <p:stCondLst>
                                    <p:cond delay="2850"/>
                                  </p:stCondLst>
                                  <p:childTnLst>
                                    <p:set>
                                      <p:cBhvr>
                                        <p:cTn id="53" dur="1" fill="hold">
                                          <p:stCondLst>
                                            <p:cond delay="0"/>
                                          </p:stCondLst>
                                        </p:cTn>
                                        <p:tgtEl>
                                          <p:spTgt spid="15"/>
                                        </p:tgtEl>
                                        <p:attrNameLst>
                                          <p:attrName>style.visibility</p:attrName>
                                        </p:attrNameLst>
                                      </p:cBhvr>
                                      <p:to>
                                        <p:strVal val="visible"/>
                                      </p:to>
                                    </p:set>
                                    <p:animEffect transition="in" filter="fade">
                                      <p:cBhvr>
                                        <p:cTn id="54" dur="500"/>
                                        <p:tgtEl>
                                          <p:spTgt spid="15"/>
                                        </p:tgtEl>
                                      </p:cBhvr>
                                    </p:animEffect>
                                    <p:anim calcmode="lin" valueType="num">
                                      <p:cBhvr additive="base">
                                        <p:cTn id="55" dur="500" fill="hold"/>
                                        <p:tgtEl>
                                          <p:spTgt spid="15"/>
                                        </p:tgtEl>
                                        <p:attrNameLst>
                                          <p:attrName>ppt_x</p:attrName>
                                        </p:attrNameLst>
                                      </p:cBhvr>
                                      <p:tavLst>
                                        <p:tav tm="0">
                                          <p:val>
                                            <p:strVal val="#ppt_x"/>
                                          </p:val>
                                        </p:tav>
                                        <p:tav tm="100000">
                                          <p:val>
                                            <p:strVal val="#ppt_x"/>
                                          </p:val>
                                        </p:tav>
                                      </p:tavLst>
                                    </p:anim>
                                    <p:anim calcmode="lin" valueType="num">
                                      <p:cBhvr additive="base">
                                        <p:cTn id="56" dur="500" fill="hold"/>
                                        <p:tgtEl>
                                          <p:spTgt spid="15"/>
                                        </p:tgtEl>
                                        <p:attrNameLst>
                                          <p:attrName>ppt_y</p:attrName>
                                        </p:attrNameLst>
                                      </p:cBhvr>
                                      <p:tavLst>
                                        <p:tav tm="0">
                                          <p:val>
                                            <p:strVal val="#ppt_y+.06"/>
                                          </p:val>
                                        </p:tav>
                                        <p:tav tm="100000">
                                          <p:val>
                                            <p:strVal val="#ppt_y"/>
                                          </p:val>
                                        </p:tav>
                                      </p:tavLst>
                                    </p:anim>
                                  </p:childTnLst>
                                </p:cTn>
                              </p:par>
                              <p:par>
                                <p:cTn id="62" presetID="42" presetClass="entr" presetSubtype="0" fill="hold" grpId="0" nodeType="withEffect">
                                  <p:stCondLst>
                                    <p:cond delay="3200"/>
                                  </p:stCondLst>
                                  <p:childTnLst>
                                    <p:set>
                                      <p:cBhvr>
                                        <p:cTn id="58" dur="1" fill="hold">
                                          <p:stCondLst>
                                            <p:cond delay="0"/>
                                          </p:stCondLst>
                                        </p:cTn>
                                        <p:tgtEl>
                                          <p:spTgt spid="16"/>
                                        </p:tgtEl>
                                        <p:attrNameLst>
                                          <p:attrName>style.visibility</p:attrName>
                                        </p:attrNameLst>
                                      </p:cBhvr>
                                      <p:to>
                                        <p:strVal val="visible"/>
                                      </p:to>
                                    </p:set>
                                    <p:animEffect transition="in" filter="fade">
                                      <p:cBhvr>
                                        <p:cTn id="59" dur="450"/>
                                        <p:tgtEl>
                                          <p:spTgt spid="16"/>
                                        </p:tgtEl>
                                      </p:cBhvr>
                                    </p:animEffect>
                                    <p:anim calcmode="lin" valueType="num">
                                      <p:cBhvr additive="base">
                                        <p:cTn id="60" dur="450" fill="hold"/>
                                        <p:tgtEl>
                                          <p:spTgt spid="16"/>
                                        </p:tgtEl>
                                        <p:attrNameLst>
                                          <p:attrName>ppt_x</p:attrName>
                                        </p:attrNameLst>
                                      </p:cBhvr>
                                      <p:tavLst>
                                        <p:tav tm="0">
                                          <p:val>
                                            <p:strVal val="#ppt_x"/>
                                          </p:val>
                                        </p:tav>
                                        <p:tav tm="100000">
                                          <p:val>
                                            <p:strVal val="#ppt_x"/>
                                          </p:val>
                                        </p:tav>
                                      </p:tavLst>
                                    </p:anim>
                                    <p:anim calcmode="lin" valueType="num">
                                      <p:cBhvr additive="base">
                                        <p:cTn id="61" dur="450" fill="hold"/>
                                        <p:tgtEl>
                                          <p:spTgt spid="16"/>
                                        </p:tgtEl>
                                        <p:attrNameLst>
                                          <p:attrName>ppt_y</p:attrName>
                                        </p:attrNameLst>
                                      </p:cBhvr>
                                      <p:tavLst>
                                        <p:tav tm="0">
                                          <p:val>
                                            <p:strVal val="#ppt_y-.06"/>
                                          </p:val>
                                        </p:tav>
                                        <p:tav tm="100000">
                                          <p:val>
                                            <p:strVal val="#ppt_y"/>
                                          </p:val>
                                        </p:tav>
                                      </p:tavLst>
                                    </p:anim>
                                  </p:childTnLst>
                                </p:cTn>
                              </p:par>
                              <p:par>
                                <p:cTn id="67" presetID="42" presetClass="entr" presetSubtype="0" fill="hold" grpId="0" nodeType="withEffect">
                                  <p:stCondLst>
                                    <p:cond delay="3350"/>
                                  </p:stCondLst>
                                  <p:childTnLst>
                                    <p:set>
                                      <p:cBhvr>
                                        <p:cTn id="63" dur="1" fill="hold">
                                          <p:stCondLst>
                                            <p:cond delay="0"/>
                                          </p:stCondLst>
                                        </p:cTn>
                                        <p:tgtEl>
                                          <p:spTgt spid="17"/>
                                        </p:tgtEl>
                                        <p:attrNameLst>
                                          <p:attrName>style.visibility</p:attrName>
                                        </p:attrNameLst>
                                      </p:cBhvr>
                                      <p:to>
                                        <p:strVal val="visible"/>
                                      </p:to>
                                    </p:set>
                                    <p:animEffect transition="in" filter="fade">
                                      <p:cBhvr>
                                        <p:cTn id="64" dur="500"/>
                                        <p:tgtEl>
                                          <p:spTgt spid="17"/>
                                        </p:tgtEl>
                                      </p:cBhvr>
                                    </p:animEffect>
                                    <p:anim calcmode="lin" valueType="num">
                                      <p:cBhvr additive="base">
                                        <p:cTn id="65" dur="500" fill="hold"/>
                                        <p:tgtEl>
                                          <p:spTgt spid="17"/>
                                        </p:tgtEl>
                                        <p:attrNameLst>
                                          <p:attrName>ppt_x</p:attrName>
                                        </p:attrNameLst>
                                      </p:cBhvr>
                                      <p:tavLst>
                                        <p:tav tm="0">
                                          <p:val>
                                            <p:strVal val="#ppt_x"/>
                                          </p:val>
                                        </p:tav>
                                        <p:tav tm="100000">
                                          <p:val>
                                            <p:strVal val="#ppt_x"/>
                                          </p:val>
                                        </p:tav>
                                      </p:tavLst>
                                    </p:anim>
                                    <p:anim calcmode="lin" valueType="num">
                                      <p:cBhvr additive="base">
                                        <p:cTn id="66" dur="500" fill="hold"/>
                                        <p:tgtEl>
                                          <p:spTgt spid="17"/>
                                        </p:tgtEl>
                                        <p:attrNameLst>
                                          <p:attrName>ppt_y</p:attrName>
                                        </p:attrNameLst>
                                      </p:cBhvr>
                                      <p:tavLst>
                                        <p:tav tm="0">
                                          <p:val>
                                            <p:strVal val="#ppt_y+.06"/>
                                          </p:val>
                                        </p:tav>
                                        <p:tav tm="100000">
                                          <p:val>
                                            <p:strVal val="#ppt_y"/>
                                          </p:val>
                                        </p:tav>
                                      </p:tavLst>
                                    </p:anim>
                                  </p:childTnLst>
                                </p:cTn>
                              </p:par>
                              <p:par>
                                <p:cTn id="72" presetID="42" presetClass="entr" presetSubtype="0" fill="hold" grpId="0" nodeType="withEffect">
                                  <p:stCondLst>
                                    <p:cond delay="3700"/>
                                  </p:stCondLst>
                                  <p:childTnLst>
                                    <p:set>
                                      <p:cBhvr>
                                        <p:cTn id="68" dur="1" fill="hold">
                                          <p:stCondLst>
                                            <p:cond delay="0"/>
                                          </p:stCondLst>
                                        </p:cTn>
                                        <p:tgtEl>
                                          <p:spTgt spid="18"/>
                                        </p:tgtEl>
                                        <p:attrNameLst>
                                          <p:attrName>style.visibility</p:attrName>
                                        </p:attrNameLst>
                                      </p:cBhvr>
                                      <p:to>
                                        <p:strVal val="visible"/>
                                      </p:to>
                                    </p:set>
                                    <p:animEffect transition="in" filter="fade">
                                      <p:cBhvr>
                                        <p:cTn id="69" dur="450"/>
                                        <p:tgtEl>
                                          <p:spTgt spid="18"/>
                                        </p:tgtEl>
                                      </p:cBhvr>
                                    </p:animEffect>
                                    <p:anim calcmode="lin" valueType="num">
                                      <p:cBhvr additive="base">
                                        <p:cTn id="70" dur="450" fill="hold"/>
                                        <p:tgtEl>
                                          <p:spTgt spid="18"/>
                                        </p:tgtEl>
                                        <p:attrNameLst>
                                          <p:attrName>ppt_x</p:attrName>
                                        </p:attrNameLst>
                                      </p:cBhvr>
                                      <p:tavLst>
                                        <p:tav tm="0">
                                          <p:val>
                                            <p:strVal val="#ppt_x"/>
                                          </p:val>
                                        </p:tav>
                                        <p:tav tm="100000">
                                          <p:val>
                                            <p:strVal val="#ppt_x"/>
                                          </p:val>
                                        </p:tav>
                                      </p:tavLst>
                                    </p:anim>
                                    <p:anim calcmode="lin" valueType="num">
                                      <p:cBhvr additive="base">
                                        <p:cTn id="71" dur="450" fill="hold"/>
                                        <p:tgtEl>
                                          <p:spTgt spid="18"/>
                                        </p:tgtEl>
                                        <p:attrNameLst>
                                          <p:attrName>ppt_y</p:attrName>
                                        </p:attrNameLst>
                                      </p:cBhvr>
                                      <p:tavLst>
                                        <p:tav tm="0">
                                          <p:val>
                                            <p:strVal val="#ppt_y-.06"/>
                                          </p:val>
                                        </p:tav>
                                        <p:tav tm="100000">
                                          <p:val>
                                            <p:strVal val="#ppt_y"/>
                                          </p:val>
                                        </p:tav>
                                      </p:tavLst>
                                    </p:anim>
                                  </p:childTnLst>
                                </p:cTn>
                              </p:par>
                              <p:par>
                                <p:cTn id="77" presetID="42" presetClass="entr" presetSubtype="0" fill="hold" grpId="0" nodeType="withEffect">
                                  <p:stCondLst>
                                    <p:cond delay="3850"/>
                                  </p:stCondLst>
                                  <p:childTnLst>
                                    <p:set>
                                      <p:cBhvr>
                                        <p:cTn id="73" dur="1" fill="hold">
                                          <p:stCondLst>
                                            <p:cond delay="0"/>
                                          </p:stCondLst>
                                        </p:cTn>
                                        <p:tgtEl>
                                          <p:spTgt spid="19"/>
                                        </p:tgtEl>
                                        <p:attrNameLst>
                                          <p:attrName>style.visibility</p:attrName>
                                        </p:attrNameLst>
                                      </p:cBhvr>
                                      <p:to>
                                        <p:strVal val="visible"/>
                                      </p:to>
                                    </p:set>
                                    <p:animEffect transition="in" filter="fade">
                                      <p:cBhvr>
                                        <p:cTn id="74" dur="500"/>
                                        <p:tgtEl>
                                          <p:spTgt spid="19"/>
                                        </p:tgtEl>
                                      </p:cBhvr>
                                    </p:animEffect>
                                    <p:anim calcmode="lin" valueType="num">
                                      <p:cBhvr additive="base">
                                        <p:cTn id="75" dur="500" fill="hold"/>
                                        <p:tgtEl>
                                          <p:spTgt spid="19"/>
                                        </p:tgtEl>
                                        <p:attrNameLst>
                                          <p:attrName>ppt_x</p:attrName>
                                        </p:attrNameLst>
                                      </p:cBhvr>
                                      <p:tavLst>
                                        <p:tav tm="0">
                                          <p:val>
                                            <p:strVal val="#ppt_x"/>
                                          </p:val>
                                        </p:tav>
                                        <p:tav tm="100000">
                                          <p:val>
                                            <p:strVal val="#ppt_x"/>
                                          </p:val>
                                        </p:tav>
                                      </p:tavLst>
                                    </p:anim>
                                    <p:anim calcmode="lin" valueType="num">
                                      <p:cBhvr additive="base">
                                        <p:cTn id="76" dur="500" fill="hold"/>
                                        <p:tgtEl>
                                          <p:spTgt spid="19"/>
                                        </p:tgtEl>
                                        <p:attrNameLst>
                                          <p:attrName>ppt_y</p:attrName>
                                        </p:attrNameLst>
                                      </p:cBhvr>
                                      <p:tavLst>
                                        <p:tav tm="0">
                                          <p:val>
                                            <p:strVal val="#ppt_y+.06"/>
                                          </p:val>
                                        </p:tav>
                                        <p:tav tm="100000">
                                          <p:val>
                                            <p:strVal val="#ppt_y"/>
                                          </p:val>
                                        </p:tav>
                                      </p:tavLst>
                                    </p:anim>
                                  </p:childTnLst>
                                </p:cTn>
                              </p:par>
                              <p:par>
                                <p:cTn id="80" presetID="10" presetClass="entr" presetSubtype="0" fill="hold" grpId="0" nodeType="withEffect">
                                  <p:stCondLst>
                                    <p:cond delay="4300"/>
                                  </p:stCondLst>
                                  <p:childTnLst>
                                    <p:set>
                                      <p:cBhvr>
                                        <p:cTn id="78" dur="1" fill="hold">
                                          <p:stCondLst>
                                            <p:cond delay="0"/>
                                          </p:stCondLst>
                                        </p:cTn>
                                        <p:tgtEl>
                                          <p:spTgt spid="20"/>
                                        </p:tgtEl>
                                        <p:attrNameLst>
                                          <p:attrName>style.visibility</p:attrName>
                                        </p:attrNameLst>
                                      </p:cBhvr>
                                      <p:to>
                                        <p:strVal val="visible"/>
                                      </p:to>
                                    </p:set>
                                    <p:animEffect transition="in" filter="fade">
                                      <p:cBhvr>
                                        <p:cTn id="79" dur="600"/>
                                        <p:tgtEl>
                                          <p:spTgt spid="20"/>
                                        </p:tgtEl>
                                      </p:cBhvr>
                                    </p:animEffect>
                                  </p:childTnLst>
                                </p:cTn>
                              </p:par>
                              <p:par>
                                <p:cTn id="85" presetID="42" presetClass="entr" presetSubtype="0" fill="hold" grpId="0" nodeType="withEffect">
                                  <p:stCondLst>
                                    <p:cond delay="4700"/>
                                  </p:stCondLst>
                                  <p:childTnLst>
                                    <p:set>
                                      <p:cBhvr>
                                        <p:cTn id="81" dur="1" fill="hold">
                                          <p:stCondLst>
                                            <p:cond delay="0"/>
                                          </p:stCondLst>
                                        </p:cTn>
                                        <p:tgtEl>
                                          <p:spTgt spid="21"/>
                                        </p:tgtEl>
                                        <p:attrNameLst>
                                          <p:attrName>style.visibility</p:attrName>
                                        </p:attrNameLst>
                                      </p:cBhvr>
                                      <p:to>
                                        <p:strVal val="visible"/>
                                      </p:to>
                                    </p:set>
                                    <p:animEffect transition="in" filter="fade">
                                      <p:cBhvr>
                                        <p:cTn id="82" dur="700"/>
                                        <p:tgtEl>
                                          <p:spTgt spid="21"/>
                                        </p:tgtEl>
                                      </p:cBhvr>
                                    </p:animEffect>
                                    <p:anim calcmode="lin" valueType="num">
                                      <p:cBhvr additive="base">
                                        <p:cTn id="83" dur="700" fill="hold"/>
                                        <p:tgtEl>
                                          <p:spTgt spid="21"/>
                                        </p:tgtEl>
                                        <p:attrNameLst>
                                          <p:attrName>ppt_x</p:attrName>
                                        </p:attrNameLst>
                                      </p:cBhvr>
                                      <p:tavLst>
                                        <p:tav tm="0">
                                          <p:val>
                                            <p:strVal val="#ppt_x"/>
                                          </p:val>
                                        </p:tav>
                                        <p:tav tm="100000">
                                          <p:val>
                                            <p:strVal val="#ppt_x"/>
                                          </p:val>
                                        </p:tav>
                                      </p:tavLst>
                                    </p:anim>
                                    <p:anim calcmode="lin" valueType="num">
                                      <p:cBhvr additive="base">
                                        <p:cTn id="84" dur="700" fill="hold"/>
                                        <p:tgtEl>
                                          <p:spTgt spid="21"/>
                                        </p:tgtEl>
                                        <p:attrNameLst>
                                          <p:attrName>ppt_y</p:attrName>
                                        </p:attrNameLst>
                                      </p:cBhvr>
                                      <p:tavLst>
                                        <p:tav tm="0">
                                          <p:val>
                                            <p:strVal val="#ppt_y+.06"/>
                                          </p:val>
                                        </p:tav>
                                        <p:tav tm="100000">
                                          <p:val>
                                            <p:strVal val="#ppt_y"/>
                                          </p:val>
                                        </p:tav>
                                      </p:tavLst>
                                    </p:anim>
                                  </p:childTnLst>
                                </p:cTn>
                              </p:par>
                              <p:par>
                                <p:cTn id="90" presetID="42" presetClass="entr" presetSubtype="0" fill="hold" grpId="0" nodeType="withEffect">
                                  <p:stCondLst>
                                    <p:cond delay="4700"/>
                                  </p:stCondLst>
                                  <p:childTnLst>
                                    <p:set>
                                      <p:cBhvr>
                                        <p:cTn id="86" dur="1" fill="hold">
                                          <p:stCondLst>
                                            <p:cond delay="0"/>
                                          </p:stCondLst>
                                        </p:cTn>
                                        <p:tgtEl>
                                          <p:spTgt spid="22"/>
                                        </p:tgtEl>
                                        <p:attrNameLst>
                                          <p:attrName>style.visibility</p:attrName>
                                        </p:attrNameLst>
                                      </p:cBhvr>
                                      <p:to>
                                        <p:strVal val="visible"/>
                                      </p:to>
                                    </p:set>
                                    <p:animEffect transition="in" filter="fade">
                                      <p:cBhvr>
                                        <p:cTn id="87" dur="700"/>
                                        <p:tgtEl>
                                          <p:spTgt spid="22"/>
                                        </p:tgtEl>
                                      </p:cBhvr>
                                    </p:animEffect>
                                    <p:anim calcmode="lin" valueType="num">
                                      <p:cBhvr additive="base">
                                        <p:cTn id="88" dur="700" fill="hold"/>
                                        <p:tgtEl>
                                          <p:spTgt spid="22"/>
                                        </p:tgtEl>
                                        <p:attrNameLst>
                                          <p:attrName>ppt_x</p:attrName>
                                        </p:attrNameLst>
                                      </p:cBhvr>
                                      <p:tavLst>
                                        <p:tav tm="0">
                                          <p:val>
                                            <p:strVal val="#ppt_x"/>
                                          </p:val>
                                        </p:tav>
                                        <p:tav tm="100000">
                                          <p:val>
                                            <p:strVal val="#ppt_x"/>
                                          </p:val>
                                        </p:tav>
                                      </p:tavLst>
                                    </p:anim>
                                    <p:anim calcmode="lin" valueType="num">
                                      <p:cBhvr additive="base">
                                        <p:cTn id="89" dur="700" fill="hold"/>
                                        <p:tgtEl>
                                          <p:spTgt spid="22"/>
                                        </p:tgtEl>
                                        <p:attrNameLst>
                                          <p:attrName>ppt_y</p:attrName>
                                        </p:attrNameLst>
                                      </p:cBhvr>
                                      <p:tavLst>
                                        <p:tav tm="0">
                                          <p:val>
                                            <p:strVal val="#ppt_y+.06"/>
                                          </p:val>
                                        </p:tav>
                                        <p:tav tm="100000">
                                          <p:val>
                                            <p:strVal val="#ppt_y"/>
                                          </p:val>
                                        </p:tav>
                                      </p:tavLst>
                                    </p:anim>
                                  </p:childTnLst>
                                </p:cTn>
                              </p:par>
                              <p:par>
                                <p:cTn id="95" presetID="42" presetClass="entr" presetSubtype="0" fill="hold" grpId="0" nodeType="withEffect">
                                  <p:stCondLst>
                                    <p:cond delay="4700"/>
                                  </p:stCondLst>
                                  <p:childTnLst>
                                    <p:set>
                                      <p:cBhvr>
                                        <p:cTn id="91" dur="1" fill="hold">
                                          <p:stCondLst>
                                            <p:cond delay="0"/>
                                          </p:stCondLst>
                                        </p:cTn>
                                        <p:tgtEl>
                                          <p:spTgt spid="23"/>
                                        </p:tgtEl>
                                        <p:attrNameLst>
                                          <p:attrName>style.visibility</p:attrName>
                                        </p:attrNameLst>
                                      </p:cBhvr>
                                      <p:to>
                                        <p:strVal val="visible"/>
                                      </p:to>
                                    </p:set>
                                    <p:animEffect transition="in" filter="fade">
                                      <p:cBhvr>
                                        <p:cTn id="92" dur="700"/>
                                        <p:tgtEl>
                                          <p:spTgt spid="23"/>
                                        </p:tgtEl>
                                      </p:cBhvr>
                                    </p:animEffect>
                                    <p:anim calcmode="lin" valueType="num">
                                      <p:cBhvr additive="base">
                                        <p:cTn id="93" dur="700" fill="hold"/>
                                        <p:tgtEl>
                                          <p:spTgt spid="23"/>
                                        </p:tgtEl>
                                        <p:attrNameLst>
                                          <p:attrName>ppt_x</p:attrName>
                                        </p:attrNameLst>
                                      </p:cBhvr>
                                      <p:tavLst>
                                        <p:tav tm="0">
                                          <p:val>
                                            <p:strVal val="#ppt_x"/>
                                          </p:val>
                                        </p:tav>
                                        <p:tav tm="100000">
                                          <p:val>
                                            <p:strVal val="#ppt_x"/>
                                          </p:val>
                                        </p:tav>
                                      </p:tavLst>
                                    </p:anim>
                                    <p:anim calcmode="lin" valueType="num">
                                      <p:cBhvr additive="base">
                                        <p:cTn id="94" dur="700" fill="hold"/>
                                        <p:tgtEl>
                                          <p:spTgt spid="23"/>
                                        </p:tgtEl>
                                        <p:attrNameLst>
                                          <p:attrName>ppt_y</p:attrName>
                                        </p:attrNameLst>
                                      </p:cBhvr>
                                      <p:tavLst>
                                        <p:tav tm="0">
                                          <p:val>
                                            <p:strVal val="#ppt_y+.06"/>
                                          </p:val>
                                        </p:tav>
                                        <p:tav tm="100000">
                                          <p:val>
                                            <p:strVal val="#ppt_y"/>
                                          </p:val>
                                        </p:tav>
                                      </p:tavLst>
                                    </p:anim>
                                  </p:childTnLst>
                                </p:cTn>
                              </p:par>
                              <p:par>
                                <p:cTn id="100" presetID="42" presetClass="entr" presetSubtype="0" fill="hold" grpId="0" nodeType="withEffect">
                                  <p:stCondLst>
                                    <p:cond delay="5100"/>
                                  </p:stCondLst>
                                  <p:childTnLst>
                                    <p:set>
                                      <p:cBhvr>
                                        <p:cTn id="96" dur="1" fill="hold">
                                          <p:stCondLst>
                                            <p:cond delay="0"/>
                                          </p:stCondLst>
                                        </p:cTn>
                                        <p:tgtEl>
                                          <p:spTgt spid="24"/>
                                        </p:tgtEl>
                                        <p:attrNameLst>
                                          <p:attrName>style.visibility</p:attrName>
                                        </p:attrNameLst>
                                      </p:cBhvr>
                                      <p:to>
                                        <p:strVal val="visible"/>
                                      </p:to>
                                    </p:set>
                                    <p:animEffect transition="in" filter="fade">
                                      <p:cBhvr>
                                        <p:cTn id="97" dur="700"/>
                                        <p:tgtEl>
                                          <p:spTgt spid="24"/>
                                        </p:tgtEl>
                                      </p:cBhvr>
                                    </p:animEffect>
                                    <p:anim calcmode="lin" valueType="num">
                                      <p:cBhvr additive="base">
                                        <p:cTn id="98" dur="700" fill="hold"/>
                                        <p:tgtEl>
                                          <p:spTgt spid="24"/>
                                        </p:tgtEl>
                                        <p:attrNameLst>
                                          <p:attrName>ppt_x</p:attrName>
                                        </p:attrNameLst>
                                      </p:cBhvr>
                                      <p:tavLst>
                                        <p:tav tm="0">
                                          <p:val>
                                            <p:strVal val="#ppt_x"/>
                                          </p:val>
                                        </p:tav>
                                        <p:tav tm="100000">
                                          <p:val>
                                            <p:strVal val="#ppt_x"/>
                                          </p:val>
                                        </p:tav>
                                      </p:tavLst>
                                    </p:anim>
                                    <p:anim calcmode="lin" valueType="num">
                                      <p:cBhvr additive="base">
                                        <p:cTn id="99" dur="700" fill="hold"/>
                                        <p:tgtEl>
                                          <p:spTgt spid="24"/>
                                        </p:tgtEl>
                                        <p:attrNameLst>
                                          <p:attrName>ppt_y</p:attrName>
                                        </p:attrNameLst>
                                      </p:cBhvr>
                                      <p:tavLst>
                                        <p:tav tm="0">
                                          <p:val>
                                            <p:strVal val="#ppt_y+.06"/>
                                          </p:val>
                                        </p:tav>
                                        <p:tav tm="100000">
                                          <p:val>
                                            <p:strVal val="#ppt_y"/>
                                          </p:val>
                                        </p:tav>
                                      </p:tavLst>
                                    </p:anim>
                                  </p:childTnLst>
                                </p:cTn>
                              </p:par>
                              <p:par>
                                <p:cTn id="105" presetID="42" presetClass="entr" presetSubtype="0" fill="hold" grpId="0" nodeType="withEffect">
                                  <p:stCondLst>
                                    <p:cond delay="5100"/>
                                  </p:stCondLst>
                                  <p:childTnLst>
                                    <p:set>
                                      <p:cBhvr>
                                        <p:cTn id="101" dur="1" fill="hold">
                                          <p:stCondLst>
                                            <p:cond delay="0"/>
                                          </p:stCondLst>
                                        </p:cTn>
                                        <p:tgtEl>
                                          <p:spTgt spid="25"/>
                                        </p:tgtEl>
                                        <p:attrNameLst>
                                          <p:attrName>style.visibility</p:attrName>
                                        </p:attrNameLst>
                                      </p:cBhvr>
                                      <p:to>
                                        <p:strVal val="visible"/>
                                      </p:to>
                                    </p:set>
                                    <p:animEffect transition="in" filter="fade">
                                      <p:cBhvr>
                                        <p:cTn id="102" dur="700"/>
                                        <p:tgtEl>
                                          <p:spTgt spid="25"/>
                                        </p:tgtEl>
                                      </p:cBhvr>
                                    </p:animEffect>
                                    <p:anim calcmode="lin" valueType="num">
                                      <p:cBhvr additive="base">
                                        <p:cTn id="103" dur="700" fill="hold"/>
                                        <p:tgtEl>
                                          <p:spTgt spid="25"/>
                                        </p:tgtEl>
                                        <p:attrNameLst>
                                          <p:attrName>ppt_x</p:attrName>
                                        </p:attrNameLst>
                                      </p:cBhvr>
                                      <p:tavLst>
                                        <p:tav tm="0">
                                          <p:val>
                                            <p:strVal val="#ppt_x"/>
                                          </p:val>
                                        </p:tav>
                                        <p:tav tm="100000">
                                          <p:val>
                                            <p:strVal val="#ppt_x"/>
                                          </p:val>
                                        </p:tav>
                                      </p:tavLst>
                                    </p:anim>
                                    <p:anim calcmode="lin" valueType="num">
                                      <p:cBhvr additive="base">
                                        <p:cTn id="104" dur="700" fill="hold"/>
                                        <p:tgtEl>
                                          <p:spTgt spid="25"/>
                                        </p:tgtEl>
                                        <p:attrNameLst>
                                          <p:attrName>ppt_y</p:attrName>
                                        </p:attrNameLst>
                                      </p:cBhvr>
                                      <p:tavLst>
                                        <p:tav tm="0">
                                          <p:val>
                                            <p:strVal val="#ppt_y+.06"/>
                                          </p:val>
                                        </p:tav>
                                        <p:tav tm="100000">
                                          <p:val>
                                            <p:strVal val="#ppt_y"/>
                                          </p:val>
                                        </p:tav>
                                      </p:tavLst>
                                    </p:anim>
                                  </p:childTnLst>
                                </p:cTn>
                              </p:par>
                              <p:par>
                                <p:cTn id="110" presetID="42" presetClass="entr" presetSubtype="0" fill="hold" grpId="0" nodeType="withEffect">
                                  <p:stCondLst>
                                    <p:cond delay="5100"/>
                                  </p:stCondLst>
                                  <p:childTnLst>
                                    <p:set>
                                      <p:cBhvr>
                                        <p:cTn id="106" dur="1" fill="hold">
                                          <p:stCondLst>
                                            <p:cond delay="0"/>
                                          </p:stCondLst>
                                        </p:cTn>
                                        <p:tgtEl>
                                          <p:spTgt spid="26"/>
                                        </p:tgtEl>
                                        <p:attrNameLst>
                                          <p:attrName>style.visibility</p:attrName>
                                        </p:attrNameLst>
                                      </p:cBhvr>
                                      <p:to>
                                        <p:strVal val="visible"/>
                                      </p:to>
                                    </p:set>
                                    <p:animEffect transition="in" filter="fade">
                                      <p:cBhvr>
                                        <p:cTn id="107" dur="700"/>
                                        <p:tgtEl>
                                          <p:spTgt spid="26"/>
                                        </p:tgtEl>
                                      </p:cBhvr>
                                    </p:animEffect>
                                    <p:anim calcmode="lin" valueType="num">
                                      <p:cBhvr additive="base">
                                        <p:cTn id="108" dur="700" fill="hold"/>
                                        <p:tgtEl>
                                          <p:spTgt spid="26"/>
                                        </p:tgtEl>
                                        <p:attrNameLst>
                                          <p:attrName>ppt_x</p:attrName>
                                        </p:attrNameLst>
                                      </p:cBhvr>
                                      <p:tavLst>
                                        <p:tav tm="0">
                                          <p:val>
                                            <p:strVal val="#ppt_x"/>
                                          </p:val>
                                        </p:tav>
                                        <p:tav tm="100000">
                                          <p:val>
                                            <p:strVal val="#ppt_x"/>
                                          </p:val>
                                        </p:tav>
                                      </p:tavLst>
                                    </p:anim>
                                    <p:anim calcmode="lin" valueType="num">
                                      <p:cBhvr additive="base">
                                        <p:cTn id="109" dur="700" fill="hold"/>
                                        <p:tgtEl>
                                          <p:spTgt spid="26"/>
                                        </p:tgtEl>
                                        <p:attrNameLst>
                                          <p:attrName>ppt_y</p:attrName>
                                        </p:attrNameLst>
                                      </p:cBhvr>
                                      <p:tavLst>
                                        <p:tav tm="0">
                                          <p:val>
                                            <p:strVal val="#ppt_y+.06"/>
                                          </p:val>
                                        </p:tav>
                                        <p:tav tm="100000">
                                          <p:val>
                                            <p:strVal val="#ppt_y"/>
                                          </p:val>
                                        </p:tav>
                                      </p:tavLst>
                                    </p:anim>
                                  </p:childTnLst>
                                </p:cTn>
                              </p:par>
                              <p:par>
                                <p:cTn id="115" presetID="42" presetClass="entr" presetSubtype="0" fill="hold" grpId="0" nodeType="withEffect">
                                  <p:stCondLst>
                                    <p:cond delay="5500"/>
                                  </p:stCondLst>
                                  <p:childTnLst>
                                    <p:set>
                                      <p:cBhvr>
                                        <p:cTn id="111" dur="1" fill="hold">
                                          <p:stCondLst>
                                            <p:cond delay="0"/>
                                          </p:stCondLst>
                                        </p:cTn>
                                        <p:tgtEl>
                                          <p:spTgt spid="27"/>
                                        </p:tgtEl>
                                        <p:attrNameLst>
                                          <p:attrName>style.visibility</p:attrName>
                                        </p:attrNameLst>
                                      </p:cBhvr>
                                      <p:to>
                                        <p:strVal val="visible"/>
                                      </p:to>
                                    </p:set>
                                    <p:animEffect transition="in" filter="fade">
                                      <p:cBhvr>
                                        <p:cTn id="112" dur="700"/>
                                        <p:tgtEl>
                                          <p:spTgt spid="27"/>
                                        </p:tgtEl>
                                      </p:cBhvr>
                                    </p:animEffect>
                                    <p:anim calcmode="lin" valueType="num">
                                      <p:cBhvr additive="base">
                                        <p:cTn id="113" dur="700" fill="hold"/>
                                        <p:tgtEl>
                                          <p:spTgt spid="27"/>
                                        </p:tgtEl>
                                        <p:attrNameLst>
                                          <p:attrName>ppt_x</p:attrName>
                                        </p:attrNameLst>
                                      </p:cBhvr>
                                      <p:tavLst>
                                        <p:tav tm="0">
                                          <p:val>
                                            <p:strVal val="#ppt_x"/>
                                          </p:val>
                                        </p:tav>
                                        <p:tav tm="100000">
                                          <p:val>
                                            <p:strVal val="#ppt_x"/>
                                          </p:val>
                                        </p:tav>
                                      </p:tavLst>
                                    </p:anim>
                                    <p:anim calcmode="lin" valueType="num">
                                      <p:cBhvr additive="base">
                                        <p:cTn id="114" dur="700" fill="hold"/>
                                        <p:tgtEl>
                                          <p:spTgt spid="27"/>
                                        </p:tgtEl>
                                        <p:attrNameLst>
                                          <p:attrName>ppt_y</p:attrName>
                                        </p:attrNameLst>
                                      </p:cBhvr>
                                      <p:tavLst>
                                        <p:tav tm="0">
                                          <p:val>
                                            <p:strVal val="#ppt_y+.06"/>
                                          </p:val>
                                        </p:tav>
                                        <p:tav tm="100000">
                                          <p:val>
                                            <p:strVal val="#ppt_y"/>
                                          </p:val>
                                        </p:tav>
                                      </p:tavLst>
                                    </p:anim>
                                  </p:childTnLst>
                                </p:cTn>
                              </p:par>
                              <p:par>
                                <p:cTn id="120" presetID="42" presetClass="entr" presetSubtype="0" fill="hold" grpId="0" nodeType="withEffect">
                                  <p:stCondLst>
                                    <p:cond delay="5500"/>
                                  </p:stCondLst>
                                  <p:childTnLst>
                                    <p:set>
                                      <p:cBhvr>
                                        <p:cTn id="116" dur="1" fill="hold">
                                          <p:stCondLst>
                                            <p:cond delay="0"/>
                                          </p:stCondLst>
                                        </p:cTn>
                                        <p:tgtEl>
                                          <p:spTgt spid="28"/>
                                        </p:tgtEl>
                                        <p:attrNameLst>
                                          <p:attrName>style.visibility</p:attrName>
                                        </p:attrNameLst>
                                      </p:cBhvr>
                                      <p:to>
                                        <p:strVal val="visible"/>
                                      </p:to>
                                    </p:set>
                                    <p:animEffect transition="in" filter="fade">
                                      <p:cBhvr>
                                        <p:cTn id="117" dur="700"/>
                                        <p:tgtEl>
                                          <p:spTgt spid="28"/>
                                        </p:tgtEl>
                                      </p:cBhvr>
                                    </p:animEffect>
                                    <p:anim calcmode="lin" valueType="num">
                                      <p:cBhvr additive="base">
                                        <p:cTn id="118" dur="700" fill="hold"/>
                                        <p:tgtEl>
                                          <p:spTgt spid="28"/>
                                        </p:tgtEl>
                                        <p:attrNameLst>
                                          <p:attrName>ppt_x</p:attrName>
                                        </p:attrNameLst>
                                      </p:cBhvr>
                                      <p:tavLst>
                                        <p:tav tm="0">
                                          <p:val>
                                            <p:strVal val="#ppt_x"/>
                                          </p:val>
                                        </p:tav>
                                        <p:tav tm="100000">
                                          <p:val>
                                            <p:strVal val="#ppt_x"/>
                                          </p:val>
                                        </p:tav>
                                      </p:tavLst>
                                    </p:anim>
                                    <p:anim calcmode="lin" valueType="num">
                                      <p:cBhvr additive="base">
                                        <p:cTn id="119" dur="700" fill="hold"/>
                                        <p:tgtEl>
                                          <p:spTgt spid="28"/>
                                        </p:tgtEl>
                                        <p:attrNameLst>
                                          <p:attrName>ppt_y</p:attrName>
                                        </p:attrNameLst>
                                      </p:cBhvr>
                                      <p:tavLst>
                                        <p:tav tm="0">
                                          <p:val>
                                            <p:strVal val="#ppt_y+.06"/>
                                          </p:val>
                                        </p:tav>
                                        <p:tav tm="100000">
                                          <p:val>
                                            <p:strVal val="#ppt_y"/>
                                          </p:val>
                                        </p:tav>
                                      </p:tavLst>
                                    </p:anim>
                                  </p:childTnLst>
                                </p:cTn>
                              </p:par>
                              <p:par>
                                <p:cTn id="125" presetID="42" presetClass="entr" presetSubtype="0" fill="hold" grpId="0" nodeType="withEffect">
                                  <p:stCondLst>
                                    <p:cond delay="5500"/>
                                  </p:stCondLst>
                                  <p:childTnLst>
                                    <p:set>
                                      <p:cBhvr>
                                        <p:cTn id="121" dur="1" fill="hold">
                                          <p:stCondLst>
                                            <p:cond delay="0"/>
                                          </p:stCondLst>
                                        </p:cTn>
                                        <p:tgtEl>
                                          <p:spTgt spid="29"/>
                                        </p:tgtEl>
                                        <p:attrNameLst>
                                          <p:attrName>style.visibility</p:attrName>
                                        </p:attrNameLst>
                                      </p:cBhvr>
                                      <p:to>
                                        <p:strVal val="visible"/>
                                      </p:to>
                                    </p:set>
                                    <p:animEffect transition="in" filter="fade">
                                      <p:cBhvr>
                                        <p:cTn id="122" dur="700"/>
                                        <p:tgtEl>
                                          <p:spTgt spid="29"/>
                                        </p:tgtEl>
                                      </p:cBhvr>
                                    </p:animEffect>
                                    <p:anim calcmode="lin" valueType="num">
                                      <p:cBhvr additive="base">
                                        <p:cTn id="123" dur="700" fill="hold"/>
                                        <p:tgtEl>
                                          <p:spTgt spid="29"/>
                                        </p:tgtEl>
                                        <p:attrNameLst>
                                          <p:attrName>ppt_x</p:attrName>
                                        </p:attrNameLst>
                                      </p:cBhvr>
                                      <p:tavLst>
                                        <p:tav tm="0">
                                          <p:val>
                                            <p:strVal val="#ppt_x"/>
                                          </p:val>
                                        </p:tav>
                                        <p:tav tm="100000">
                                          <p:val>
                                            <p:strVal val="#ppt_x"/>
                                          </p:val>
                                        </p:tav>
                                      </p:tavLst>
                                    </p:anim>
                                    <p:anim calcmode="lin" valueType="num">
                                      <p:cBhvr additive="base">
                                        <p:cTn id="124" dur="700" fill="hold"/>
                                        <p:tgtEl>
                                          <p:spTgt spid="29"/>
                                        </p:tgtEl>
                                        <p:attrNameLst>
                                          <p:attrName>ppt_y</p:attrName>
                                        </p:attrNameLst>
                                      </p:cBhvr>
                                      <p:tavLst>
                                        <p:tav tm="0">
                                          <p:val>
                                            <p:strVal val="#ppt_y+.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6" grpId="0" animBg="1"/>
      <p:bldP spid="5" grpId="0" animBg="1"/>
      <p:bldP spid="12" grpId="0" animBg="1"/>
      <p:bldP spid="13" grpId="0" animBg="1"/>
      <p:bldP spid="2" grpId="1" animBg="1"/>
      <p:bldP spid="7" grpId="0" animBg="1"/>
      <p:bldP spid="8" grpId="0" animBg="1"/>
      <p:bldP spid="9" grpId="0" animBg="1"/>
      <p:bldP spid="10" grpId="0" animBg="1"/>
      <p:bldP spid="11"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rec dot"/>
          <p:cNvSpPr/>
          <p:nvPr/>
        </p:nvSpPr>
        <p:spPr>
          <a:xfrm>
            <a:off x="548640" y="384048"/>
            <a:ext cx="182880" cy="182880"/>
          </a:xfrm>
          <a:prstGeom prst="ellipse">
            <a:avLst/>
          </a:prstGeom>
          <a:solidFill>
            <a:srgbClr val="E5383B"/>
          </a:solidFill>
          <a:ln/>
        </p:spPr>
      </p:sp>
      <p:sp>
        <p:nvSpPr>
          <p:cNvPr id="3" name="Text 1"/>
          <p:cNvSpPr txBox="1"/>
          <p:nvPr/>
        </p:nvSpPr>
        <p:spPr>
          <a:xfrm>
            <a:off x="841248" y="329184"/>
            <a:ext cx="8229600" cy="292608"/>
          </a:xfrm>
          <a:prstGeom prst="rect">
            <a:avLst/>
          </a:prstGeom>
          <a:noFill/>
          <a:ln/>
        </p:spPr>
        <p:txBody>
          <a:bodyPr wrap="square" lIns="0" tIns="0" rIns="0" bIns="0" rtlCol="0" anchor="ctr"/>
          <a:lstStyle/>
          <a:p>
            <a:pPr indent="0" marL="0">
              <a:buNone/>
            </a:pPr>
            <a:r>
              <a:rPr lang="en-US" sz="1300" b="1" spc="200" kern="0" dirty="0">
                <a:solidFill>
                  <a:srgbClr val="D9D6CF"/>
                </a:solidFill>
                <a:latin typeface="Courier New" pitchFamily="34" charset="0"/>
                <a:ea typeface="Courier New" pitchFamily="34" charset="-122"/>
                <a:cs typeface="Courier New" pitchFamily="34" charset="-120"/>
              </a:rPr>
              <a:t>ACT II  ·  THE DEAL  ·  ▶ PLAYBACK</a:t>
            </a:r>
            <a:endParaRPr lang="en-US" sz="1300" dirty="0"/>
          </a:p>
        </p:txBody>
      </p:sp>
      <p:sp>
        <p:nvSpPr>
          <p:cNvPr id="4" name="cutscene act2"/>
          <p:cNvSpPr/>
          <p:nvPr/>
        </p:nvSpPr>
        <p:spPr>
          <a:xfrm>
            <a:off x="512064" y="832104"/>
            <a:ext cx="11167567" cy="5422392"/>
          </a:xfrm>
          <a:prstGeom prst="rect">
            <a:avLst/>
          </a:prstGeom>
          <a:solidFill>
            <a:srgbClr val="050506"/>
          </a:solidFill>
          <a:ln w="12700">
            <a:solidFill>
              <a:srgbClr val="33363D"/>
            </a:solidFill>
            <a:prstDash val="solid"/>
          </a:ln>
        </p:spPr>
      </p:sp>
      <p:pic>
        <p:nvPicPr>
          <p:cNvPr id="6" name="bg" descr="preencoded.png">    </p:cNvPr>
          <p:cNvPicPr>
            <a:picLocks noChangeAspect="1"/>
          </p:cNvPicPr>
          <p:nvPr/>
        </p:nvPicPr>
        <p:blipFill>
          <a:blip r:embed="rId1"/>
          <a:stretch>
            <a:fillRect/>
          </a:stretch>
        </p:blipFill>
        <p:spPr>
          <a:xfrm>
            <a:off x="548640" y="868680"/>
            <a:ext cx="11094415" cy="5349240"/>
          </a:xfrm>
          <a:prstGeom prst="rect">
            <a:avLst/>
          </a:prstGeom>
        </p:spPr>
      </p:pic>
      <p:pic>
        <p:nvPicPr>
          <p:cNvPr id="7" name="albania" descr="preencoded.png">    </p:cNvPr>
          <p:cNvPicPr>
            <a:picLocks noChangeAspect="1"/>
          </p:cNvPicPr>
          <p:nvPr/>
        </p:nvPicPr>
        <p:blipFill>
          <a:blip r:embed="rId2"/>
          <a:stretch>
            <a:fillRect/>
          </a:stretch>
        </p:blipFill>
        <p:spPr>
          <a:xfrm>
            <a:off x="548640" y="868680"/>
            <a:ext cx="11094415" cy="5349240"/>
          </a:xfrm>
          <a:prstGeom prst="rect">
            <a:avLst/>
          </a:prstGeom>
        </p:spPr>
      </p:pic>
      <p:pic>
        <p:nvPicPr>
          <p:cNvPr id="8" name="speed" descr="preencoded.png">    </p:cNvPr>
          <p:cNvPicPr>
            <a:picLocks noChangeAspect="1"/>
          </p:cNvPicPr>
          <p:nvPr/>
        </p:nvPicPr>
        <p:blipFill>
          <a:blip r:embed="rId3"/>
          <a:stretch>
            <a:fillRect/>
          </a:stretch>
        </p:blipFill>
        <p:spPr>
          <a:xfrm>
            <a:off x="548640" y="868680"/>
            <a:ext cx="11094415" cy="5349240"/>
          </a:xfrm>
          <a:prstGeom prst="rect">
            <a:avLst/>
          </a:prstGeom>
        </p:spPr>
      </p:pic>
      <p:pic>
        <p:nvPicPr>
          <p:cNvPr id="9" name="burst" descr="burst">    </p:cNvPr>
          <p:cNvPicPr>
            <a:picLocks noChangeAspect="1"/>
          </p:cNvPicPr>
          <p:nvPr/>
        </p:nvPicPr>
        <p:blipFill>
          <a:blip r:embed="rId4"/>
          <a:stretch>
            <a:fillRect/>
          </a:stretch>
        </p:blipFill>
        <p:spPr>
          <a:xfrm>
            <a:off x="4343400" y="914400"/>
            <a:ext cx="3566160" cy="3566160"/>
          </a:xfrm>
          <a:prstGeom prst="rect">
            <a:avLst/>
          </a:prstGeom>
        </p:spPr>
      </p:pic>
      <p:pic>
        <p:nvPicPr>
          <p:cNvPr id="10" name="crate a" descr="crate a">    </p:cNvPr>
          <p:cNvPicPr>
            <a:picLocks noChangeAspect="1"/>
          </p:cNvPicPr>
          <p:nvPr/>
        </p:nvPicPr>
        <p:blipFill>
          <a:blip r:embed="rId5"/>
          <a:stretch>
            <a:fillRect/>
          </a:stretch>
        </p:blipFill>
        <p:spPr>
          <a:xfrm>
            <a:off x="4297680" y="2880360"/>
            <a:ext cx="1828800" cy="1335024"/>
          </a:xfrm>
          <a:prstGeom prst="rect">
            <a:avLst/>
          </a:prstGeom>
        </p:spPr>
      </p:pic>
      <p:pic>
        <p:nvPicPr>
          <p:cNvPr id="11" name="crate b" descr="crate b">    </p:cNvPr>
          <p:cNvPicPr>
            <a:picLocks noChangeAspect="1"/>
          </p:cNvPicPr>
          <p:nvPr/>
        </p:nvPicPr>
        <p:blipFill>
          <a:blip r:embed="rId6"/>
          <a:stretch>
            <a:fillRect/>
          </a:stretch>
        </p:blipFill>
        <p:spPr>
          <a:xfrm>
            <a:off x="6172200" y="2880360"/>
            <a:ext cx="1828800" cy="1335024"/>
          </a:xfrm>
          <a:prstGeom prst="rect">
            <a:avLst/>
          </a:prstGeom>
        </p:spPr>
      </p:pic>
      <p:pic>
        <p:nvPicPr>
          <p:cNvPr id="12" name="crate c" descr="crate c">    </p:cNvPr>
          <p:cNvPicPr>
            <a:picLocks noChangeAspect="1"/>
          </p:cNvPicPr>
          <p:nvPr/>
        </p:nvPicPr>
        <p:blipFill>
          <a:blip r:embed="rId7"/>
          <a:stretch>
            <a:fillRect/>
          </a:stretch>
        </p:blipFill>
        <p:spPr>
          <a:xfrm>
            <a:off x="5230368" y="1645920"/>
            <a:ext cx="1828800" cy="1335024"/>
          </a:xfrm>
          <a:prstGeom prst="rect">
            <a:avLst/>
          </a:prstGeom>
        </p:spPr>
      </p:pic>
      <p:sp>
        <p:nvSpPr>
          <p:cNvPr id="13" name="rounds"/>
          <p:cNvSpPr/>
          <p:nvPr/>
        </p:nvSpPr>
        <p:spPr>
          <a:xfrm>
            <a:off x="4297680" y="4242816"/>
            <a:ext cx="3703320" cy="365760"/>
          </a:xfrm>
          <a:prstGeom prst="roundRect">
            <a:avLst>
              <a:gd name="adj" fmla="val 15000"/>
            </a:avLst>
          </a:prstGeom>
          <a:solidFill>
            <a:srgbClr val="FFD84D"/>
          </a:solidFill>
          <a:ln/>
        </p:spPr>
        <p:txBody>
          <a:bodyPr wrap="square" lIns="0" tIns="0" rIns="0" bIns="0" rtlCol="0" anchor="ctr"/>
          <a:lstStyle/>
          <a:p>
            <a:pPr algn="ctr" indent="0" marL="0">
              <a:buNone/>
            </a:pPr>
            <a:r>
              <a:rPr lang="en-US" sz="1400" b="1" dirty="0">
                <a:solidFill>
                  <a:srgbClr val="0D0D0F"/>
                </a:solidFill>
                <a:latin typeface="Courier New" pitchFamily="34" charset="0"/>
                <a:ea typeface="Courier New" pitchFamily="34" charset="-122"/>
                <a:cs typeface="Courier New" pitchFamily="34" charset="-120"/>
              </a:rPr>
              <a:t>≈ 100 MILLION ROUNDS</a:t>
            </a:r>
            <a:endParaRPr lang="en-US" sz="1400" dirty="0"/>
          </a:p>
        </p:txBody>
      </p:sp>
      <p:pic>
        <p:nvPicPr>
          <p:cNvPr id="14" name="laptop" descr="laptop">    </p:cNvPr>
          <p:cNvPicPr>
            <a:picLocks noChangeAspect="1"/>
          </p:cNvPicPr>
          <p:nvPr/>
        </p:nvPicPr>
        <p:blipFill>
          <a:blip r:embed="rId8"/>
          <a:stretch>
            <a:fillRect/>
          </a:stretch>
        </p:blipFill>
        <p:spPr>
          <a:xfrm>
            <a:off x="4800600" y="1188720"/>
            <a:ext cx="2377440" cy="1618488"/>
          </a:xfrm>
          <a:prstGeom prst="rect">
            <a:avLst/>
          </a:prstGeom>
        </p:spPr>
      </p:pic>
      <p:sp>
        <p:nvSpPr>
          <p:cNvPr id="15" name="lowest"/>
          <p:cNvSpPr/>
          <p:nvPr/>
        </p:nvSpPr>
        <p:spPr>
          <a:xfrm>
            <a:off x="4846320" y="2926080"/>
            <a:ext cx="2286000" cy="384048"/>
          </a:xfrm>
          <a:prstGeom prst="roundRect">
            <a:avLst>
              <a:gd name="adj" fmla="val 14286"/>
            </a:avLst>
          </a:prstGeom>
          <a:solidFill>
            <a:srgbClr val="2EA85A"/>
          </a:solidFill>
          <a:ln/>
        </p:spPr>
        <p:txBody>
          <a:bodyPr wrap="square" lIns="0" tIns="0" rIns="0" bIns="0" rtlCol="0" anchor="ctr"/>
          <a:lstStyle/>
          <a:p>
            <a:pPr algn="ctr" indent="0" marL="0">
              <a:buNone/>
            </a:pPr>
            <a:r>
              <a:rPr lang="en-US" sz="1400" b="1" dirty="0">
                <a:solidFill>
                  <a:srgbClr val="0D0D0F"/>
                </a:solidFill>
                <a:latin typeface="Courier New" pitchFamily="34" charset="0"/>
                <a:ea typeface="Courier New" pitchFamily="34" charset="-122"/>
                <a:cs typeface="Courier New" pitchFamily="34" charset="-120"/>
              </a:rPr>
              <a:t>AEY · LOWEST BID</a:t>
            </a:r>
            <a:endParaRPr lang="en-US" sz="1400" dirty="0"/>
          </a:p>
        </p:txBody>
      </p:sp>
      <p:pic>
        <p:nvPicPr>
          <p:cNvPr id="16" name="contract" descr="contract">    </p:cNvPr>
          <p:cNvPicPr>
            <a:picLocks noChangeAspect="1"/>
          </p:cNvPicPr>
          <p:nvPr/>
        </p:nvPicPr>
        <p:blipFill>
          <a:blip r:embed="rId9"/>
          <a:stretch>
            <a:fillRect/>
          </a:stretch>
        </p:blipFill>
        <p:spPr>
          <a:xfrm>
            <a:off x="5212080" y="1097280"/>
            <a:ext cx="1828800" cy="2286000"/>
          </a:xfrm>
          <a:prstGeom prst="rect">
            <a:avLst/>
          </a:prstGeom>
        </p:spPr>
      </p:pic>
      <p:pic>
        <p:nvPicPr>
          <p:cNvPr id="17" name="awarded" descr="awarded">    </p:cNvPr>
          <p:cNvPicPr>
            <a:picLocks noChangeAspect="1"/>
          </p:cNvPicPr>
          <p:nvPr/>
        </p:nvPicPr>
        <p:blipFill>
          <a:blip r:embed="rId10"/>
          <a:stretch>
            <a:fillRect/>
          </a:stretch>
        </p:blipFill>
        <p:spPr>
          <a:xfrm rot="-600000">
            <a:off x="4526280" y="2331720"/>
            <a:ext cx="3108960" cy="1161288"/>
          </a:xfrm>
          <a:prstGeom prst="rect">
            <a:avLst/>
          </a:prstGeom>
        </p:spPr>
      </p:pic>
      <p:pic>
        <p:nvPicPr>
          <p:cNvPr id="18" name="scissors" descr="scissors">    </p:cNvPr>
          <p:cNvPicPr>
            <a:picLocks noChangeAspect="1"/>
          </p:cNvPicPr>
          <p:nvPr/>
        </p:nvPicPr>
        <p:blipFill>
          <a:blip r:embed="rId11"/>
          <a:stretch>
            <a:fillRect/>
          </a:stretch>
        </p:blipFill>
        <p:spPr>
          <a:xfrm>
            <a:off x="5852160" y="2103120"/>
            <a:ext cx="914400" cy="914400"/>
          </a:xfrm>
          <a:prstGeom prst="rect">
            <a:avLst/>
          </a:prstGeom>
        </p:spPr>
      </p:pic>
      <p:sp>
        <p:nvSpPr>
          <p:cNvPr id="19" name="cut line"/>
          <p:cNvSpPr/>
          <p:nvPr/>
        </p:nvSpPr>
        <p:spPr>
          <a:xfrm>
            <a:off x="5394960" y="3108960"/>
            <a:ext cx="3154680" cy="0"/>
          </a:xfrm>
          <a:prstGeom prst="line">
            <a:avLst/>
          </a:prstGeom>
          <a:noFill/>
          <a:ln w="50800">
            <a:solidFill>
              <a:srgbClr val="E5383B"/>
            </a:solidFill>
            <a:prstDash val="dash"/>
          </a:ln>
        </p:spPr>
      </p:sp>
      <p:pic>
        <p:nvPicPr>
          <p:cNvPr id="20" name="david" descr="david">    </p:cNvPr>
          <p:cNvPicPr>
            <a:picLocks noChangeAspect="1"/>
          </p:cNvPicPr>
          <p:nvPr/>
        </p:nvPicPr>
        <p:blipFill>
          <a:blip r:embed="rId12"/>
          <a:stretch>
            <a:fillRect/>
          </a:stretch>
        </p:blipFill>
        <p:spPr>
          <a:xfrm>
            <a:off x="685800" y="1645920"/>
            <a:ext cx="2902857" cy="4572000"/>
          </a:xfrm>
          <a:prstGeom prst="rect">
            <a:avLst/>
          </a:prstGeom>
        </p:spPr>
      </p:pic>
      <p:pic>
        <p:nvPicPr>
          <p:cNvPr id="21" name="efraim smirk" descr="efraim smirk">    </p:cNvPr>
          <p:cNvPicPr>
            <a:picLocks noChangeAspect="1"/>
          </p:cNvPicPr>
          <p:nvPr/>
        </p:nvPicPr>
        <p:blipFill>
          <a:blip r:embed="rId13"/>
          <a:stretch>
            <a:fillRect/>
          </a:stretch>
        </p:blipFill>
        <p:spPr>
          <a:xfrm>
            <a:off x="2423160" y="1645920"/>
            <a:ext cx="2902857" cy="4572000"/>
          </a:xfrm>
          <a:prstGeom prst="rect">
            <a:avLst/>
          </a:prstGeom>
        </p:spPr>
      </p:pic>
      <p:pic>
        <p:nvPicPr>
          <p:cNvPr id="22" name="efraim grin" descr="efraim grin">    </p:cNvPr>
          <p:cNvPicPr>
            <a:picLocks noChangeAspect="1"/>
          </p:cNvPicPr>
          <p:nvPr/>
        </p:nvPicPr>
        <p:blipFill>
          <a:blip r:embed="rId14"/>
          <a:stretch>
            <a:fillRect/>
          </a:stretch>
        </p:blipFill>
        <p:spPr>
          <a:xfrm>
            <a:off x="2423160" y="1645920"/>
            <a:ext cx="2902857" cy="4572000"/>
          </a:xfrm>
          <a:prstGeom prst="rect">
            <a:avLst/>
          </a:prstGeom>
        </p:spPr>
      </p:pic>
      <p:pic>
        <p:nvPicPr>
          <p:cNvPr id="23" name="efraim scheme" descr="efraim scheme">    </p:cNvPr>
          <p:cNvPicPr>
            <a:picLocks noChangeAspect="1"/>
          </p:cNvPicPr>
          <p:nvPr/>
        </p:nvPicPr>
        <p:blipFill>
          <a:blip r:embed="rId15"/>
          <a:stretch>
            <a:fillRect/>
          </a:stretch>
        </p:blipFill>
        <p:spPr>
          <a:xfrm>
            <a:off x="2423160" y="1645920"/>
            <a:ext cx="2902857" cy="4572000"/>
          </a:xfrm>
          <a:prstGeom prst="rect">
            <a:avLst/>
          </a:prstGeom>
        </p:spPr>
      </p:pic>
      <p:pic>
        <p:nvPicPr>
          <p:cNvPr id="24" name="henry" descr="henry">    </p:cNvPr>
          <p:cNvPicPr>
            <a:picLocks noChangeAspect="1"/>
          </p:cNvPicPr>
          <p:nvPr/>
        </p:nvPicPr>
        <p:blipFill>
          <a:blip r:embed="rId16"/>
          <a:stretch>
            <a:fillRect/>
          </a:stretch>
        </p:blipFill>
        <p:spPr>
          <a:xfrm>
            <a:off x="8595360" y="1645920"/>
            <a:ext cx="2902857" cy="4572000"/>
          </a:xfrm>
          <a:prstGeom prst="rect">
            <a:avLst/>
          </a:prstGeom>
        </p:spPr>
      </p:pic>
      <p:pic>
        <p:nvPicPr>
          <p:cNvPr id="25" name="henry angry" descr="henry angry">    </p:cNvPr>
          <p:cNvPicPr>
            <a:picLocks noChangeAspect="1"/>
          </p:cNvPicPr>
          <p:nvPr/>
        </p:nvPicPr>
        <p:blipFill>
          <a:blip r:embed="rId17"/>
          <a:stretch>
            <a:fillRect/>
          </a:stretch>
        </p:blipFill>
        <p:spPr>
          <a:xfrm>
            <a:off x="8595360" y="1645920"/>
            <a:ext cx="2902857" cy="4572000"/>
          </a:xfrm>
          <a:prstGeom prst="rect">
            <a:avLst/>
          </a:prstGeom>
        </p:spPr>
      </p:pic>
      <p:pic>
        <p:nvPicPr>
          <p:cNvPr id="26" name="watch" descr="watch">    </p:cNvPr>
          <p:cNvPicPr>
            <a:picLocks noChangeAspect="1"/>
          </p:cNvPicPr>
          <p:nvPr/>
        </p:nvPicPr>
        <p:blipFill>
          <a:blip r:embed="rId18"/>
          <a:stretch>
            <a:fillRect/>
          </a:stretch>
        </p:blipFill>
        <p:spPr>
          <a:xfrm rot="-600000">
            <a:off x="8686800" y="3840480"/>
            <a:ext cx="2697480" cy="1005840"/>
          </a:xfrm>
          <a:prstGeom prst="rect">
            <a:avLst/>
          </a:prstGeom>
        </p:spPr>
      </p:pic>
      <p:pic>
        <p:nvPicPr>
          <p:cNvPr id="27" name="glint" descr="glint">    </p:cNvPr>
          <p:cNvPicPr>
            <a:picLocks noChangeAspect="1"/>
          </p:cNvPicPr>
          <p:nvPr/>
        </p:nvPicPr>
        <p:blipFill>
          <a:blip r:embed="rId19"/>
          <a:stretch>
            <a:fillRect/>
          </a:stretch>
        </p:blipFill>
        <p:spPr>
          <a:xfrm>
            <a:off x="9372600" y="3017520"/>
            <a:ext cx="457200" cy="457200"/>
          </a:xfrm>
          <a:prstGeom prst="rect">
            <a:avLst/>
          </a:prstGeom>
        </p:spPr>
      </p:pic>
      <p:pic>
        <p:nvPicPr>
          <p:cNvPr id="28" name="vein" descr="vein">    </p:cNvPr>
          <p:cNvPicPr>
            <a:picLocks noChangeAspect="1"/>
          </p:cNvPicPr>
          <p:nvPr/>
        </p:nvPicPr>
        <p:blipFill>
          <a:blip r:embed="rId20"/>
          <a:stretch>
            <a:fillRect/>
          </a:stretch>
        </p:blipFill>
        <p:spPr>
          <a:xfrm>
            <a:off x="10561320" y="2057400"/>
            <a:ext cx="502920" cy="502920"/>
          </a:xfrm>
          <a:prstGeom prst="rect">
            <a:avLst/>
          </a:prstGeom>
        </p:spPr>
      </p:pic>
      <p:sp>
        <p:nvSpPr>
          <p:cNvPr id="29" name="dialogue box"/>
          <p:cNvSpPr/>
          <p:nvPr/>
        </p:nvSpPr>
        <p:spPr>
          <a:xfrm>
            <a:off x="914400" y="4919472"/>
            <a:ext cx="10360152" cy="1143000"/>
          </a:xfrm>
          <a:prstGeom prst="roundRect">
            <a:avLst>
              <a:gd name="adj" fmla="val 6400"/>
            </a:avLst>
          </a:prstGeom>
          <a:solidFill>
            <a:srgbClr val="0B1020">
              <a:alpha val="88000"/>
            </a:srgbClr>
          </a:solidFill>
          <a:ln w="19050">
            <a:solidFill>
              <a:srgbClr val="FFD84D"/>
            </a:solidFill>
            <a:prstDash val="solid"/>
          </a:ln>
        </p:spPr>
      </p:sp>
      <p:pic>
        <p:nvPicPr>
          <p:cNvPr id="30" name="eyecatch" descr="preencoded.png">    </p:cNvPr>
          <p:cNvPicPr>
            <a:picLocks noChangeAspect="1"/>
          </p:cNvPicPr>
          <p:nvPr/>
        </p:nvPicPr>
        <p:blipFill>
          <a:blip r:embed="rId21"/>
          <a:stretch>
            <a:fillRect/>
          </a:stretch>
        </p:blipFill>
        <p:spPr>
          <a:xfrm>
            <a:off x="548640" y="868680"/>
            <a:ext cx="11094415" cy="5349240"/>
          </a:xfrm>
          <a:prstGeom prst="rect">
            <a:avLst/>
          </a:prstGeom>
        </p:spPr>
      </p:pic>
      <p:sp>
        <p:nvSpPr>
          <p:cNvPr id="31" name="chip 1"/>
          <p:cNvSpPr/>
          <p:nvPr/>
        </p:nvSpPr>
        <p:spPr>
          <a:xfrm>
            <a:off x="685800" y="978408"/>
            <a:ext cx="3108960" cy="365760"/>
          </a:xfrm>
          <a:prstGeom prst="roundRect">
            <a:avLst>
              <a:gd name="adj" fmla="val 12500"/>
            </a:avLst>
          </a:prstGeom>
          <a:solidFill>
            <a:srgbClr val="0D0D0F">
              <a:alpha val="85000"/>
            </a:srgbClr>
          </a:solidFill>
          <a:ln w="12700">
            <a:solidFill>
              <a:srgbClr val="FFD84D"/>
            </a:solidFill>
          </a:ln>
        </p:spPr>
        <p:txBody>
          <a:bodyPr wrap="square" lIns="0" tIns="0" rIns="0" bIns="0" rtlCol="0" anchor="ctr"/>
          <a:lstStyle/>
          <a:p>
            <a:pPr algn="ctr" indent="0" marL="0">
              <a:buNone/>
            </a:pPr>
            <a:r>
              <a:rPr lang="en-US" sz="1300" b="1" spc="200" kern="0" dirty="0">
                <a:solidFill>
                  <a:srgbClr val="FFD84D"/>
                </a:solidFill>
                <a:latin typeface="Courier New" pitchFamily="34" charset="0"/>
                <a:ea typeface="Courier New" pitchFamily="34" charset="-122"/>
                <a:cs typeface="Courier New" pitchFamily="34" charset="-120"/>
              </a:rPr>
              <a:t>SCENE 5 · LAS VEGAS</a:t>
            </a:r>
            <a:endParaRPr lang="en-US" sz="1300" dirty="0"/>
          </a:p>
        </p:txBody>
      </p:sp>
      <p:sp>
        <p:nvSpPr>
          <p:cNvPr id="32" name="name 1"/>
          <p:cNvSpPr/>
          <p:nvPr/>
        </p:nvSpPr>
        <p:spPr>
          <a:xfrm>
            <a:off x="1188720" y="4681728"/>
            <a:ext cx="1737360" cy="384048"/>
          </a:xfrm>
          <a:prstGeom prst="roundRect">
            <a:avLst>
              <a:gd name="adj" fmla="val 14286"/>
            </a:avLst>
          </a:prstGeom>
          <a:solidFill>
            <a:srgbClr val="FFD84D"/>
          </a:solidFill>
          <a:ln/>
        </p:spPr>
        <p:txBody>
          <a:bodyPr wrap="square" lIns="0" tIns="0" rIns="0" bIns="0" rtlCol="0" anchor="ctr"/>
          <a:lstStyle/>
          <a:p>
            <a:pPr algn="ctr" indent="0" marL="0">
              <a:buNone/>
            </a:pPr>
            <a:r>
              <a:rPr lang="en-US" sz="1300" b="1" spc="200" kern="0" dirty="0">
                <a:solidFill>
                  <a:srgbClr val="0D0D0F"/>
                </a:solidFill>
                <a:latin typeface="Courier New" pitchFamily="34" charset="0"/>
                <a:ea typeface="Courier New" pitchFamily="34" charset="-122"/>
                <a:cs typeface="Courier New" pitchFamily="34" charset="-120"/>
              </a:rPr>
              <a:t>HENRY</a:t>
            </a:r>
            <a:endParaRPr lang="en-US" sz="1300" dirty="0"/>
          </a:p>
        </p:txBody>
      </p:sp>
      <p:sp>
        <p:nvSpPr>
          <p:cNvPr id="33" name="line 1"/>
          <p:cNvSpPr txBox="1"/>
          <p:nvPr/>
        </p:nvSpPr>
        <p:spPr>
          <a:xfrm>
            <a:off x="1234440" y="5102352"/>
            <a:ext cx="9738360" cy="868680"/>
          </a:xfrm>
          <a:prstGeom prst="rect">
            <a:avLst/>
          </a:prstGeom>
          <a:noFill/>
          <a:ln/>
        </p:spPr>
        <p:txBody>
          <a:bodyPr wrap="square" lIns="0" tIns="0" rIns="0" bIns="0" rtlCol="0" anchor="t"/>
          <a:lstStyle/>
          <a:p>
            <a:pPr indent="0" marL="0">
              <a:buNone/>
            </a:pPr>
            <a:r>
              <a:rPr lang="en-US" sz="1800" dirty="0">
                <a:solidFill>
                  <a:srgbClr val="F3F1EC"/>
                </a:solidFill>
              </a:rPr>
              <a:t>I’m on a watch list, so I can’t sell to the U.S. government. Your clean little company can.</a:t>
            </a:r>
            <a:endParaRPr lang="en-US" sz="1800" dirty="0"/>
          </a:p>
        </p:txBody>
      </p:sp>
      <p:sp>
        <p:nvSpPr>
          <p:cNvPr id="34" name="chip 2"/>
          <p:cNvSpPr/>
          <p:nvPr/>
        </p:nvSpPr>
        <p:spPr>
          <a:xfrm>
            <a:off x="685800" y="978408"/>
            <a:ext cx="3108960" cy="365760"/>
          </a:xfrm>
          <a:prstGeom prst="roundRect">
            <a:avLst>
              <a:gd name="adj" fmla="val 12500"/>
            </a:avLst>
          </a:prstGeom>
          <a:solidFill>
            <a:srgbClr val="0D0D0F">
              <a:alpha val="85000"/>
            </a:srgbClr>
          </a:solidFill>
          <a:ln w="12700">
            <a:solidFill>
              <a:srgbClr val="FFD84D"/>
            </a:solidFill>
          </a:ln>
        </p:spPr>
        <p:txBody>
          <a:bodyPr wrap="square" lIns="0" tIns="0" rIns="0" bIns="0" rtlCol="0" anchor="ctr"/>
          <a:lstStyle/>
          <a:p>
            <a:pPr algn="ctr" indent="0" marL="0">
              <a:buNone/>
            </a:pPr>
            <a:r>
              <a:rPr lang="en-US" sz="1300" b="1" spc="200" kern="0" dirty="0">
                <a:solidFill>
                  <a:srgbClr val="FFD84D"/>
                </a:solidFill>
                <a:latin typeface="Courier New" pitchFamily="34" charset="0"/>
                <a:ea typeface="Courier New" pitchFamily="34" charset="-122"/>
                <a:cs typeface="Courier New" pitchFamily="34" charset="-120"/>
              </a:rPr>
              <a:t>SCENE 6 · ALBANIA</a:t>
            </a:r>
            <a:endParaRPr lang="en-US" sz="1300" dirty="0"/>
          </a:p>
        </p:txBody>
      </p:sp>
      <p:sp>
        <p:nvSpPr>
          <p:cNvPr id="35" name="name 2"/>
          <p:cNvSpPr/>
          <p:nvPr/>
        </p:nvSpPr>
        <p:spPr>
          <a:xfrm>
            <a:off x="1188720" y="4681728"/>
            <a:ext cx="1737360" cy="384048"/>
          </a:xfrm>
          <a:prstGeom prst="roundRect">
            <a:avLst>
              <a:gd name="adj" fmla="val 14286"/>
            </a:avLst>
          </a:prstGeom>
          <a:solidFill>
            <a:srgbClr val="FFD84D"/>
          </a:solidFill>
          <a:ln/>
        </p:spPr>
        <p:txBody>
          <a:bodyPr wrap="square" lIns="0" tIns="0" rIns="0" bIns="0" rtlCol="0" anchor="ctr"/>
          <a:lstStyle/>
          <a:p>
            <a:pPr algn="ctr" indent="0" marL="0">
              <a:buNone/>
            </a:pPr>
            <a:r>
              <a:rPr lang="en-US" sz="1300" b="1" spc="200" kern="0" dirty="0">
                <a:solidFill>
                  <a:srgbClr val="0D0D0F"/>
                </a:solidFill>
                <a:latin typeface="Courier New" pitchFamily="34" charset="0"/>
                <a:ea typeface="Courier New" pitchFamily="34" charset="-122"/>
                <a:cs typeface="Courier New" pitchFamily="34" charset="-120"/>
              </a:rPr>
              <a:t>HENRY</a:t>
            </a:r>
            <a:endParaRPr lang="en-US" sz="1300" dirty="0"/>
          </a:p>
        </p:txBody>
      </p:sp>
      <p:sp>
        <p:nvSpPr>
          <p:cNvPr id="36" name="line 2"/>
          <p:cNvSpPr txBox="1"/>
          <p:nvPr/>
        </p:nvSpPr>
        <p:spPr>
          <a:xfrm>
            <a:off x="1234440" y="5102352"/>
            <a:ext cx="9738360" cy="868680"/>
          </a:xfrm>
          <a:prstGeom prst="rect">
            <a:avLst/>
          </a:prstGeom>
          <a:noFill/>
          <a:ln/>
        </p:spPr>
        <p:txBody>
          <a:bodyPr wrap="square" lIns="0" tIns="0" rIns="0" bIns="0" rtlCol="0" anchor="t"/>
          <a:lstStyle/>
          <a:p>
            <a:pPr indent="0" marL="0">
              <a:buNone/>
            </a:pPr>
            <a:r>
              <a:rPr lang="en-US" sz="1800" dirty="0">
                <a:solidFill>
                  <a:srgbClr val="F3F1EC"/>
                </a:solidFill>
              </a:rPr>
              <a:t>A hundred million old rounds, sitting in Albania. Cheap.</a:t>
            </a:r>
            <a:endParaRPr lang="en-US" sz="1800" dirty="0"/>
          </a:p>
        </p:txBody>
      </p:sp>
      <p:sp>
        <p:nvSpPr>
          <p:cNvPr id="37" name="chip 3"/>
          <p:cNvSpPr/>
          <p:nvPr/>
        </p:nvSpPr>
        <p:spPr>
          <a:xfrm>
            <a:off x="685800" y="978408"/>
            <a:ext cx="3108960" cy="365760"/>
          </a:xfrm>
          <a:prstGeom prst="roundRect">
            <a:avLst>
              <a:gd name="adj" fmla="val 12500"/>
            </a:avLst>
          </a:prstGeom>
          <a:solidFill>
            <a:srgbClr val="0D0D0F">
              <a:alpha val="85000"/>
            </a:srgbClr>
          </a:solidFill>
          <a:ln w="12700">
            <a:solidFill>
              <a:srgbClr val="FFD84D"/>
            </a:solidFill>
          </a:ln>
        </p:spPr>
        <p:txBody>
          <a:bodyPr wrap="square" lIns="0" tIns="0" rIns="0" bIns="0" rtlCol="0" anchor="ctr"/>
          <a:lstStyle/>
          <a:p>
            <a:pPr algn="ctr" indent="0" marL="0">
              <a:buNone/>
            </a:pPr>
            <a:r>
              <a:rPr lang="en-US" sz="1300" b="1" spc="200" kern="0" dirty="0">
                <a:solidFill>
                  <a:srgbClr val="FFD84D"/>
                </a:solidFill>
                <a:latin typeface="Courier New" pitchFamily="34" charset="0"/>
                <a:ea typeface="Courier New" pitchFamily="34" charset="-122"/>
                <a:cs typeface="Courier New" pitchFamily="34" charset="-120"/>
              </a:rPr>
              <a:t>SCENE 7 · THE BID</a:t>
            </a:r>
            <a:endParaRPr lang="en-US" sz="1300" dirty="0"/>
          </a:p>
        </p:txBody>
      </p:sp>
      <p:sp>
        <p:nvSpPr>
          <p:cNvPr id="38" name="name 3"/>
          <p:cNvSpPr/>
          <p:nvPr/>
        </p:nvSpPr>
        <p:spPr>
          <a:xfrm>
            <a:off x="1188720" y="4681728"/>
            <a:ext cx="1737360" cy="384048"/>
          </a:xfrm>
          <a:prstGeom prst="roundRect">
            <a:avLst>
              <a:gd name="adj" fmla="val 14286"/>
            </a:avLst>
          </a:prstGeom>
          <a:solidFill>
            <a:srgbClr val="FFD84D"/>
          </a:solidFill>
          <a:ln/>
        </p:spPr>
        <p:txBody>
          <a:bodyPr wrap="square" lIns="0" tIns="0" rIns="0" bIns="0" rtlCol="0" anchor="ctr"/>
          <a:lstStyle/>
          <a:p>
            <a:pPr algn="ctr" indent="0" marL="0">
              <a:buNone/>
            </a:pPr>
            <a:r>
              <a:rPr lang="en-US" sz="1300" b="1" spc="200" kern="0" dirty="0">
                <a:solidFill>
                  <a:srgbClr val="0D0D0F"/>
                </a:solidFill>
                <a:latin typeface="Courier New" pitchFamily="34" charset="0"/>
                <a:ea typeface="Courier New" pitchFamily="34" charset="-122"/>
                <a:cs typeface="Courier New" pitchFamily="34" charset="-120"/>
              </a:rPr>
              <a:t>EFRAIM</a:t>
            </a:r>
            <a:endParaRPr lang="en-US" sz="1300" dirty="0"/>
          </a:p>
        </p:txBody>
      </p:sp>
      <p:sp>
        <p:nvSpPr>
          <p:cNvPr id="39" name="line 3"/>
          <p:cNvSpPr txBox="1"/>
          <p:nvPr/>
        </p:nvSpPr>
        <p:spPr>
          <a:xfrm>
            <a:off x="1234440" y="5102352"/>
            <a:ext cx="9738360" cy="868680"/>
          </a:xfrm>
          <a:prstGeom prst="rect">
            <a:avLst/>
          </a:prstGeom>
          <a:noFill/>
          <a:ln/>
        </p:spPr>
        <p:txBody>
          <a:bodyPr wrap="square" lIns="0" tIns="0" rIns="0" bIns="0" rtlCol="0" anchor="t"/>
          <a:lstStyle/>
          <a:p>
            <a:pPr indent="0" marL="0">
              <a:buNone/>
            </a:pPr>
            <a:r>
              <a:rPr lang="en-US" sz="1800" dirty="0">
                <a:solidFill>
                  <a:srgbClr val="F3F1EC"/>
                </a:solidFill>
              </a:rPr>
              <a:t>Cheap supply means we underbid everyone… and win the Afghan army contract.</a:t>
            </a:r>
            <a:endParaRPr lang="en-US" sz="1800" dirty="0"/>
          </a:p>
        </p:txBody>
      </p:sp>
      <p:pic>
        <p:nvPicPr>
          <p:cNvPr id="40" name="flash 1" descr="preencoded.png">    </p:cNvPr>
          <p:cNvPicPr>
            <a:picLocks noChangeAspect="1"/>
          </p:cNvPicPr>
          <p:nvPr/>
        </p:nvPicPr>
        <p:blipFill>
          <a:blip r:embed="rId22"/>
          <a:stretch>
            <a:fillRect/>
          </a:stretch>
        </p:blipFill>
        <p:spPr>
          <a:xfrm>
            <a:off x="548640" y="868680"/>
            <a:ext cx="11094415" cy="5349240"/>
          </a:xfrm>
          <a:prstGeom prst="rect">
            <a:avLst/>
          </a:prstGeom>
        </p:spPr>
      </p:pic>
      <p:sp>
        <p:nvSpPr>
          <p:cNvPr id="41" name="name 4"/>
          <p:cNvSpPr/>
          <p:nvPr/>
        </p:nvSpPr>
        <p:spPr>
          <a:xfrm>
            <a:off x="1188720" y="4681728"/>
            <a:ext cx="1737360" cy="384048"/>
          </a:xfrm>
          <a:prstGeom prst="roundRect">
            <a:avLst>
              <a:gd name="adj" fmla="val 14286"/>
            </a:avLst>
          </a:prstGeom>
          <a:solidFill>
            <a:srgbClr val="FFD84D"/>
          </a:solidFill>
          <a:ln/>
        </p:spPr>
        <p:txBody>
          <a:bodyPr wrap="square" lIns="0" tIns="0" rIns="0" bIns="0" rtlCol="0" anchor="ctr"/>
          <a:lstStyle/>
          <a:p>
            <a:pPr algn="ctr" indent="0" marL="0">
              <a:buNone/>
            </a:pPr>
            <a:r>
              <a:rPr lang="en-US" sz="1300" b="1" spc="200" kern="0" dirty="0">
                <a:solidFill>
                  <a:srgbClr val="0D0D0F"/>
                </a:solidFill>
                <a:latin typeface="Courier New" pitchFamily="34" charset="0"/>
                <a:ea typeface="Courier New" pitchFamily="34" charset="-122"/>
                <a:cs typeface="Courier New" pitchFamily="34" charset="-120"/>
              </a:rPr>
              <a:t>EFRAIM</a:t>
            </a:r>
            <a:endParaRPr lang="en-US" sz="1300" dirty="0"/>
          </a:p>
        </p:txBody>
      </p:sp>
      <p:sp>
        <p:nvSpPr>
          <p:cNvPr id="42" name="line 4"/>
          <p:cNvSpPr txBox="1"/>
          <p:nvPr/>
        </p:nvSpPr>
        <p:spPr>
          <a:xfrm>
            <a:off x="1234440" y="5102352"/>
            <a:ext cx="9738360" cy="868680"/>
          </a:xfrm>
          <a:prstGeom prst="rect">
            <a:avLst/>
          </a:prstGeom>
          <a:noFill/>
          <a:ln/>
        </p:spPr>
        <p:txBody>
          <a:bodyPr wrap="square" lIns="0" tIns="0" rIns="0" bIns="0" rtlCol="0" anchor="t"/>
          <a:lstStyle/>
          <a:p>
            <a:pPr indent="0" marL="0">
              <a:buNone/>
            </a:pPr>
            <a:r>
              <a:rPr lang="en-US" sz="1800" dirty="0">
                <a:solidFill>
                  <a:srgbClr val="F3F1EC"/>
                </a:solidFill>
              </a:rPr>
              <a:t>Three hundred million dollars! We’re in the big league now.</a:t>
            </a:r>
            <a:endParaRPr lang="en-US" sz="1800" dirty="0"/>
          </a:p>
        </p:txBody>
      </p:sp>
      <p:sp>
        <p:nvSpPr>
          <p:cNvPr id="43" name="chip 4"/>
          <p:cNvSpPr/>
          <p:nvPr/>
        </p:nvSpPr>
        <p:spPr>
          <a:xfrm>
            <a:off x="685800" y="978408"/>
            <a:ext cx="3108960" cy="365760"/>
          </a:xfrm>
          <a:prstGeom prst="roundRect">
            <a:avLst>
              <a:gd name="adj" fmla="val 12500"/>
            </a:avLst>
          </a:prstGeom>
          <a:solidFill>
            <a:srgbClr val="0D0D0F">
              <a:alpha val="85000"/>
            </a:srgbClr>
          </a:solidFill>
          <a:ln w="12700">
            <a:solidFill>
              <a:srgbClr val="FFD84D"/>
            </a:solidFill>
          </a:ln>
        </p:spPr>
        <p:txBody>
          <a:bodyPr wrap="square" lIns="0" tIns="0" rIns="0" bIns="0" rtlCol="0" anchor="ctr"/>
          <a:lstStyle/>
          <a:p>
            <a:pPr algn="ctr" indent="0" marL="0">
              <a:buNone/>
            </a:pPr>
            <a:r>
              <a:rPr lang="en-US" sz="1300" b="1" spc="200" kern="0" dirty="0">
                <a:solidFill>
                  <a:srgbClr val="FFD84D"/>
                </a:solidFill>
                <a:latin typeface="Courier New" pitchFamily="34" charset="0"/>
                <a:ea typeface="Courier New" pitchFamily="34" charset="-122"/>
                <a:cs typeface="Courier New" pitchFamily="34" charset="-120"/>
              </a:rPr>
              <a:t>SCENE 8 · THE SPLIT</a:t>
            </a:r>
            <a:endParaRPr lang="en-US" sz="1300" dirty="0"/>
          </a:p>
        </p:txBody>
      </p:sp>
      <p:sp>
        <p:nvSpPr>
          <p:cNvPr id="44" name="name 5"/>
          <p:cNvSpPr/>
          <p:nvPr/>
        </p:nvSpPr>
        <p:spPr>
          <a:xfrm>
            <a:off x="1188720" y="4681728"/>
            <a:ext cx="1737360" cy="384048"/>
          </a:xfrm>
          <a:prstGeom prst="roundRect">
            <a:avLst>
              <a:gd name="adj" fmla="val 14286"/>
            </a:avLst>
          </a:prstGeom>
          <a:solidFill>
            <a:srgbClr val="FFD84D"/>
          </a:solidFill>
          <a:ln/>
        </p:spPr>
        <p:txBody>
          <a:bodyPr wrap="square" lIns="0" tIns="0" rIns="0" bIns="0" rtlCol="0" anchor="ctr"/>
          <a:lstStyle/>
          <a:p>
            <a:pPr algn="ctr" indent="0" marL="0">
              <a:buNone/>
            </a:pPr>
            <a:r>
              <a:rPr lang="en-US" sz="1300" b="1" spc="200" kern="0" dirty="0">
                <a:solidFill>
                  <a:srgbClr val="0D0D0F"/>
                </a:solidFill>
                <a:latin typeface="Courier New" pitchFamily="34" charset="0"/>
                <a:ea typeface="Courier New" pitchFamily="34" charset="-122"/>
                <a:cs typeface="Courier New" pitchFamily="34" charset="-120"/>
              </a:rPr>
              <a:t>EFRAIM</a:t>
            </a:r>
            <a:endParaRPr lang="en-US" sz="1300" dirty="0"/>
          </a:p>
        </p:txBody>
      </p:sp>
      <p:sp>
        <p:nvSpPr>
          <p:cNvPr id="45" name="line 5"/>
          <p:cNvSpPr txBox="1"/>
          <p:nvPr/>
        </p:nvSpPr>
        <p:spPr>
          <a:xfrm>
            <a:off x="1234440" y="5102352"/>
            <a:ext cx="9738360" cy="868680"/>
          </a:xfrm>
          <a:prstGeom prst="rect">
            <a:avLst/>
          </a:prstGeom>
          <a:noFill/>
          <a:ln/>
        </p:spPr>
        <p:txBody>
          <a:bodyPr wrap="square" lIns="0" tIns="0" rIns="0" bIns="0" rtlCol="0" anchor="t"/>
          <a:lstStyle/>
          <a:p>
            <a:pPr indent="0" marL="0">
              <a:buNone/>
            </a:pPr>
            <a:r>
              <a:rPr lang="en-US" sz="1800" dirty="0">
                <a:solidFill>
                  <a:srgbClr val="F3F1EC"/>
                </a:solidFill>
              </a:rPr>
              <a:t>(whispering) …and we don’t need Henry anymore.</a:t>
            </a:r>
            <a:endParaRPr lang="en-US" sz="1800" dirty="0"/>
          </a:p>
        </p:txBody>
      </p:sp>
      <p:pic>
        <p:nvPicPr>
          <p:cNvPr id="46" name="flash 2" descr="preencoded.png">    </p:cNvPr>
          <p:cNvPicPr>
            <a:picLocks noChangeAspect="1"/>
          </p:cNvPicPr>
          <p:nvPr/>
        </p:nvPicPr>
        <p:blipFill>
          <a:blip r:embed="rId23"/>
          <a:stretch>
            <a:fillRect/>
          </a:stretch>
        </p:blipFill>
        <p:spPr>
          <a:xfrm>
            <a:off x="548640" y="868680"/>
            <a:ext cx="11094415" cy="5349240"/>
          </a:xfrm>
          <a:prstGeom prst="rect">
            <a:avLst/>
          </a:prstGeom>
        </p:spPr>
      </p:pic>
      <p:sp>
        <p:nvSpPr>
          <p:cNvPr id="47" name="quote"/>
          <p:cNvSpPr/>
          <p:nvPr/>
        </p:nvSpPr>
        <p:spPr>
          <a:xfrm>
            <a:off x="548640" y="4206240"/>
            <a:ext cx="11094415" cy="548640"/>
          </a:xfrm>
          <a:prstGeom prst="rect">
            <a:avLst/>
          </a:prstGeom>
          <a:solidFill>
            <a:srgbClr val="000000">
              <a:alpha val="70000"/>
            </a:srgbClr>
          </a:solidFill>
          <a:ln/>
        </p:spPr>
        <p:txBody>
          <a:bodyPr wrap="square" lIns="0" tIns="0" rIns="0" bIns="0" rtlCol="0" anchor="ctr"/>
          <a:lstStyle/>
          <a:p>
            <a:pPr algn="ctr" indent="0" marL="0">
              <a:buNone/>
            </a:pPr>
            <a:r>
              <a:rPr lang="en-US" sz="2000" b="1" i="1" dirty="0">
                <a:solidFill>
                  <a:srgbClr val="FFD84D"/>
                </a:solidFill>
              </a:rPr>
              <a:t>“Everybody in the chain takes a cut.”</a:t>
            </a:r>
            <a:endParaRPr lang="en-US" sz="2000" dirty="0"/>
          </a:p>
        </p:txBody>
      </p:sp>
    </p:spTree>
  </p:cSld>
  <p:clrMapOvr>
    <a:masterClrMapping/>
  </p:clrMapOvr>
  <p:transition spd="slow">
    <p:fade thruBlk="1"/>
  </p:transition>
  <p:timing>
    <p:tnLst>
      <p:par>
        <p:cTn id="1" dur="indefinite" restart="never" nodeType="tmRoot">
          <p:childTnLst>
            <p:seq concurrent="1" nextAc="seek">
              <p:cTn id="2" dur="indefinite" nodeType="mainSeq">
                <p:childTnLst>
                  <p:par>
                    <p:cTn id="296" fill="hold">
                      <p:stCondLst>
                        <p:cond delay="indefinite"/>
                        <p:cond evt="onBegin" delay="0">
                          <p:tn val="2"/>
                        </p:cond>
                      </p:stCondLst>
                      <p:childTnLst>
                        <p:par>
                          <p:cTn id="297" fill="hold">
                            <p:stCondLst>
                              <p:cond delay="0"/>
                            </p:stCondLst>
                            <p:childTnLst>
                              <p:par>
                                <p:cTn id="7" presetID="53" presetClass="entr" presetSubtype="16" fill="hold" grpId="0" nodeType="afterEffect">
                                  <p:stCondLst>
                                    <p:cond delay="0"/>
                                  </p:stCondLst>
                                  <p:childTnLst>
                                    <p:set>
                                      <p:cBhvr>
                                        <p:cTn id="3" dur="1" fill="hold">
                                          <p:stCondLst>
                                            <p:cond delay="0"/>
                                          </p:stCondLst>
                                        </p:cTn>
                                        <p:tgtEl>
                                          <p:spTgt spid="2"/>
                                        </p:tgtEl>
                                        <p:attrNameLst>
                                          <p:attrName>style.visibility</p:attrName>
                                        </p:attrNameLst>
                                      </p:cBhvr>
                                      <p:to>
                                        <p:strVal val="visible"/>
                                      </p:to>
                                    </p:set>
                                    <p:anim calcmode="lin" valueType="num">
                                      <p:cBhvr additive="base">
                                        <p:cTn id="4" dur="400" fill="hold"/>
                                        <p:tgtEl>
                                          <p:spTgt spid="2"/>
                                        </p:tgtEl>
                                        <p:attrNameLst>
                                          <p:attrName>ppt_w</p:attrName>
                                        </p:attrNameLst>
                                      </p:cBhvr>
                                      <p:tavLst>
                                        <p:tav tm="0">
                                          <p:val>
                                            <p:strVal val="0"/>
                                          </p:val>
                                        </p:tav>
                                        <p:tav tm="100000">
                                          <p:val>
                                            <p:strVal val="#ppt_w"/>
                                          </p:val>
                                        </p:tav>
                                      </p:tavLst>
                                    </p:anim>
                                    <p:anim calcmode="lin" valueType="num">
                                      <p:cBhvr additive="base">
                                        <p:cTn id="5" dur="400" fill="hold"/>
                                        <p:tgtEl>
                                          <p:spTgt spid="2"/>
                                        </p:tgtEl>
                                        <p:attrNameLst>
                                          <p:attrName>ppt_h</p:attrName>
                                        </p:attrNameLst>
                                      </p:cBhvr>
                                      <p:tavLst>
                                        <p:tav tm="0">
                                          <p:val>
                                            <p:strVal val="0"/>
                                          </p:val>
                                        </p:tav>
                                        <p:tav tm="100000">
                                          <p:val>
                                            <p:strVal val="#ppt_h"/>
                                          </p:val>
                                        </p:tav>
                                      </p:tavLst>
                                    </p:anim>
                                    <p:animEffect transition="in" filter="fade">
                                      <p:cBhvr>
                                        <p:cTn id="6" dur="400"/>
                                        <p:tgtEl>
                                          <p:spTgt spid="2"/>
                                        </p:tgtEl>
                                      </p:cBhvr>
                                    </p:animEffect>
                                  </p:childTnLst>
                                </p:cTn>
                              </p:par>
                              <p:par>
                                <p:cTn id="12" presetID="42" presetClass="entr" presetSubtype="0" fill="hold" grpId="0" nodeType="withEffect">
                                  <p:stCondLst>
                                    <p:cond delay="0"/>
                                  </p:stCondLst>
                                  <p:childTnLst>
                                    <p:set>
                                      <p:cBhvr>
                                        <p:cTn id="8" dur="1" fill="hold">
                                          <p:stCondLst>
                                            <p:cond delay="0"/>
                                          </p:stCondLst>
                                        </p:cTn>
                                        <p:tgtEl>
                                          <p:spTgt spid="30"/>
                                        </p:tgtEl>
                                        <p:attrNameLst>
                                          <p:attrName>style.visibility</p:attrName>
                                        </p:attrNameLst>
                                      </p:cBhvr>
                                      <p:to>
                                        <p:strVal val="visible"/>
                                      </p:to>
                                    </p:set>
                                    <p:animEffect transition="in" filter="fade">
                                      <p:cBhvr>
                                        <p:cTn id="9" dur="350"/>
                                        <p:tgtEl>
                                          <p:spTgt spid="30"/>
                                        </p:tgtEl>
                                      </p:cBhvr>
                                    </p:animEffect>
                                    <p:anim calcmode="lin" valueType="num">
                                      <p:cBhvr additive="base">
                                        <p:cTn id="10" dur="350" fill="hold"/>
                                        <p:tgtEl>
                                          <p:spTgt spid="30"/>
                                        </p:tgtEl>
                                        <p:attrNameLst>
                                          <p:attrName>ppt_x</p:attrName>
                                        </p:attrNameLst>
                                      </p:cBhvr>
                                      <p:tavLst>
                                        <p:tav tm="0">
                                          <p:val>
                                            <p:strVal val="#ppt_x-.05"/>
                                          </p:val>
                                        </p:tav>
                                        <p:tav tm="100000">
                                          <p:val>
                                            <p:strVal val="#ppt_x"/>
                                          </p:val>
                                        </p:tav>
                                      </p:tavLst>
                                    </p:anim>
                                    <p:anim calcmode="lin" valueType="num">
                                      <p:cBhvr additive="base">
                                        <p:cTn id="11" dur="350" fill="hold"/>
                                        <p:tgtEl>
                                          <p:spTgt spid="30"/>
                                        </p:tgtEl>
                                        <p:attrNameLst>
                                          <p:attrName>ppt_y</p:attrName>
                                        </p:attrNameLst>
                                      </p:cBhvr>
                                      <p:tavLst>
                                        <p:tav tm="0">
                                          <p:val>
                                            <p:strVal val="#ppt_y"/>
                                          </p:val>
                                        </p:tav>
                                        <p:tav tm="100000">
                                          <p:val>
                                            <p:strVal val="#ppt_y"/>
                                          </p:val>
                                        </p:tav>
                                      </p:tavLst>
                                    </p:anim>
                                  </p:childTnLst>
                                </p:cTn>
                              </p:par>
                              <p:par>
                                <p:cTn id="15" presetID="10" presetClass="entr" presetSubtype="0" fill="hold" grpId="0" nodeType="withEffect">
                                  <p:stCondLst>
                                    <p:cond delay="20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200"/>
                                        <p:tgtEl>
                                          <p:spTgt spid="3"/>
                                        </p:tgtEl>
                                      </p:cBhvr>
                                    </p:animEffect>
                                  </p:childTnLst>
                                </p:cTn>
                              </p:par>
                              <p:par>
                                <p:cTn id="17" presetID="6" presetClass="emph" presetSubtype="0" fill="hold" grpId="1" nodeType="withEffect" autoRev="1" repeatCount="indefinite">
                                  <p:stCondLst>
                                    <p:cond delay="500"/>
                                  </p:stCondLst>
                                  <p:childTnLst>
                                    <p:animScale>
                                      <p:cBhvr>
                                        <p:cTn id="16" dur="650" fill="hold"/>
                                        <p:tgtEl>
                                          <p:spTgt spid="2"/>
                                        </p:tgtEl>
                                      </p:cBhvr>
                                      <p:by x="135000" y="135000"/>
                                    </p:animScale>
                                  </p:childTnLst>
                                </p:cTn>
                              </p:par>
                              <p:par>
                                <p:cTn id="20" presetID="10" presetClass="exit" presetSubtype="0" fill="hold" grpId="1" nodeType="withEffect">
                                  <p:stCondLst>
                                    <p:cond delay="650"/>
                                  </p:stCondLst>
                                  <p:childTnLst>
                                    <p:animEffect transition="out" filter="fade">
                                      <p:cBhvr>
                                        <p:cTn id="18" dur="250"/>
                                        <p:tgtEl>
                                          <p:spTgt spid="30"/>
                                        </p:tgtEl>
                                      </p:cBhvr>
                                    </p:animEffect>
                                    <p:set>
                                      <p:cBhvr>
                                        <p:cTn id="19" dur="1" fill="hold">
                                          <p:stCondLst>
                                            <p:cond delay="249"/>
                                          </p:stCondLst>
                                        </p:cTn>
                                        <p:tgtEl>
                                          <p:spTgt spid="30"/>
                                        </p:tgtEl>
                                        <p:attrNameLst>
                                          <p:attrName>style.visibility</p:attrName>
                                        </p:attrNameLst>
                                      </p:cBhvr>
                                      <p:to>
                                        <p:strVal val="hidden"/>
                                      </p:to>
                                    </p:set>
                                  </p:childTnLst>
                                </p:cTn>
                              </p:par>
                              <p:par>
                                <p:cTn id="23" presetID="10" presetClass="entr" presetSubtype="0" fill="hold" grpId="0" nodeType="withEffect">
                                  <p:stCondLst>
                                    <p:cond delay="90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600"/>
                                        <p:tgtEl>
                                          <p:spTgt spid="6"/>
                                        </p:tgtEl>
                                      </p:cBhvr>
                                    </p:animEffect>
                                  </p:childTnLst>
                                </p:cTn>
                              </p:par>
                              <p:par>
                                <p:cTn id="28" presetID="42" presetClass="entr" presetSubtype="0" fill="hold" grpId="0" nodeType="withEffect">
                                  <p:stCondLst>
                                    <p:cond delay="935"/>
                                  </p:stCondLst>
                                  <p:childTnLst>
                                    <p:set>
                                      <p:cBhvr>
                                        <p:cTn id="24" dur="1" fill="hold">
                                          <p:stCondLst>
                                            <p:cond delay="0"/>
                                          </p:stCondLst>
                                        </p:cTn>
                                        <p:tgtEl>
                                          <p:spTgt spid="29"/>
                                        </p:tgtEl>
                                        <p:attrNameLst>
                                          <p:attrName>style.visibility</p:attrName>
                                        </p:attrNameLst>
                                      </p:cBhvr>
                                      <p:to>
                                        <p:strVal val="visible"/>
                                      </p:to>
                                    </p:set>
                                    <p:animEffect transition="in" filter="fade">
                                      <p:cBhvr>
                                        <p:cTn id="25" dur="500"/>
                                        <p:tgtEl>
                                          <p:spTgt spid="29"/>
                                        </p:tgtEl>
                                      </p:cBhvr>
                                    </p:animEffect>
                                    <p:anim calcmode="lin" valueType="num">
                                      <p:cBhvr additive="base">
                                        <p:cTn id="26" dur="500" fill="hold"/>
                                        <p:tgtEl>
                                          <p:spTgt spid="29"/>
                                        </p:tgtEl>
                                        <p:attrNameLst>
                                          <p:attrName>ppt_x</p:attrName>
                                        </p:attrNameLst>
                                      </p:cBhvr>
                                      <p:tavLst>
                                        <p:tav tm="0">
                                          <p:val>
                                            <p:strVal val="#ppt_x"/>
                                          </p:val>
                                        </p:tav>
                                        <p:tav tm="100000">
                                          <p:val>
                                            <p:strVal val="#ppt_x"/>
                                          </p:val>
                                        </p:tav>
                                      </p:tavLst>
                                    </p:anim>
                                    <p:anim calcmode="lin" valueType="num">
                                      <p:cBhvr additive="base">
                                        <p:cTn id="27" dur="500" fill="hold"/>
                                        <p:tgtEl>
                                          <p:spTgt spid="29"/>
                                        </p:tgtEl>
                                        <p:attrNameLst>
                                          <p:attrName>ppt_y</p:attrName>
                                        </p:attrNameLst>
                                      </p:cBhvr>
                                      <p:tavLst>
                                        <p:tav tm="0">
                                          <p:val>
                                            <p:strVal val="#ppt_y+.06"/>
                                          </p:val>
                                        </p:tav>
                                        <p:tav tm="100000">
                                          <p:val>
                                            <p:strVal val="#ppt_y"/>
                                          </p:val>
                                        </p:tav>
                                      </p:tavLst>
                                    </p:anim>
                                  </p:childTnLst>
                                </p:cTn>
                              </p:par>
                              <p:par>
                                <p:cTn id="33" presetID="42" presetClass="entr" presetSubtype="0" fill="hold" grpId="0" nodeType="withEffect">
                                  <p:stCondLst>
                                    <p:cond delay="970"/>
                                  </p:stCondLst>
                                  <p:childTnLst>
                                    <p:set>
                                      <p:cBhvr>
                                        <p:cTn id="29" dur="1" fill="hold">
                                          <p:stCondLst>
                                            <p:cond delay="0"/>
                                          </p:stCondLst>
                                        </p:cTn>
                                        <p:tgtEl>
                                          <p:spTgt spid="31"/>
                                        </p:tgtEl>
                                        <p:attrNameLst>
                                          <p:attrName>style.visibility</p:attrName>
                                        </p:attrNameLst>
                                      </p:cBhvr>
                                      <p:to>
                                        <p:strVal val="visible"/>
                                      </p:to>
                                    </p:set>
                                    <p:animEffect transition="in" filter="fade">
                                      <p:cBhvr>
                                        <p:cTn id="30" dur="400"/>
                                        <p:tgtEl>
                                          <p:spTgt spid="31"/>
                                        </p:tgtEl>
                                      </p:cBhvr>
                                    </p:animEffect>
                                    <p:anim calcmode="lin" valueType="num">
                                      <p:cBhvr additive="base">
                                        <p:cTn id="31" dur="400" fill="hold"/>
                                        <p:tgtEl>
                                          <p:spTgt spid="31"/>
                                        </p:tgtEl>
                                        <p:attrNameLst>
                                          <p:attrName>ppt_x</p:attrName>
                                        </p:attrNameLst>
                                      </p:cBhvr>
                                      <p:tavLst>
                                        <p:tav tm="0">
                                          <p:val>
                                            <p:strVal val="#ppt_x-.05"/>
                                          </p:val>
                                        </p:tav>
                                        <p:tav tm="100000">
                                          <p:val>
                                            <p:strVal val="#ppt_x"/>
                                          </p:val>
                                        </p:tav>
                                      </p:tavLst>
                                    </p:anim>
                                    <p:anim calcmode="lin" valueType="num">
                                      <p:cBhvr additive="base">
                                        <p:cTn id="32" dur="400" fill="hold"/>
                                        <p:tgtEl>
                                          <p:spTgt spid="31"/>
                                        </p:tgtEl>
                                        <p:attrNameLst>
                                          <p:attrName>ppt_y</p:attrName>
                                        </p:attrNameLst>
                                      </p:cBhvr>
                                      <p:tavLst>
                                        <p:tav tm="0">
                                          <p:val>
                                            <p:strVal val="#ppt_y"/>
                                          </p:val>
                                        </p:tav>
                                        <p:tav tm="100000">
                                          <p:val>
                                            <p:strVal val="#ppt_y"/>
                                          </p:val>
                                        </p:tav>
                                      </p:tavLst>
                                    </p:anim>
                                  </p:childTnLst>
                                </p:cTn>
                              </p:par>
                              <p:par>
                                <p:cTn id="38" presetID="42" presetClass="entr" presetSubtype="0" fill="hold" grpId="0" nodeType="withEffect">
                                  <p:stCondLst>
                                    <p:cond delay="1005"/>
                                  </p:stCondLst>
                                  <p:childTnLst>
                                    <p:set>
                                      <p:cBhvr>
                                        <p:cTn id="34" dur="1" fill="hold">
                                          <p:stCondLst>
                                            <p:cond delay="0"/>
                                          </p:stCondLst>
                                        </p:cTn>
                                        <p:tgtEl>
                                          <p:spTgt spid="20"/>
                                        </p:tgtEl>
                                        <p:attrNameLst>
                                          <p:attrName>style.visibility</p:attrName>
                                        </p:attrNameLst>
                                      </p:cBhvr>
                                      <p:to>
                                        <p:strVal val="visible"/>
                                      </p:to>
                                    </p:set>
                                    <p:animEffect transition="in" filter="fade">
                                      <p:cBhvr>
                                        <p:cTn id="35" dur="500"/>
                                        <p:tgtEl>
                                          <p:spTgt spid="20"/>
                                        </p:tgtEl>
                                      </p:cBhvr>
                                    </p:animEffect>
                                    <p:anim calcmode="lin" valueType="num">
                                      <p:cBhvr additive="base">
                                        <p:cTn id="36" dur="500" fill="hold"/>
                                        <p:tgtEl>
                                          <p:spTgt spid="20"/>
                                        </p:tgtEl>
                                        <p:attrNameLst>
                                          <p:attrName>ppt_x</p:attrName>
                                        </p:attrNameLst>
                                      </p:cBhvr>
                                      <p:tavLst>
                                        <p:tav tm="0">
                                          <p:val>
                                            <p:strVal val="#ppt_x-.05"/>
                                          </p:val>
                                        </p:tav>
                                        <p:tav tm="100000">
                                          <p:val>
                                            <p:strVal val="#ppt_x"/>
                                          </p:val>
                                        </p:tav>
                                      </p:tavLst>
                                    </p:anim>
                                    <p:anim calcmode="lin" valueType="num">
                                      <p:cBhvr additive="base">
                                        <p:cTn id="37" dur="500" fill="hold"/>
                                        <p:tgtEl>
                                          <p:spTgt spid="20"/>
                                        </p:tgtEl>
                                        <p:attrNameLst>
                                          <p:attrName>ppt_y</p:attrName>
                                        </p:attrNameLst>
                                      </p:cBhvr>
                                      <p:tavLst>
                                        <p:tav tm="0">
                                          <p:val>
                                            <p:strVal val="#ppt_y"/>
                                          </p:val>
                                        </p:tav>
                                        <p:tav tm="100000">
                                          <p:val>
                                            <p:strVal val="#ppt_y"/>
                                          </p:val>
                                        </p:tav>
                                      </p:tavLst>
                                    </p:anim>
                                  </p:childTnLst>
                                </p:cTn>
                              </p:par>
                              <p:par>
                                <p:cTn id="43" presetID="42" presetClass="entr" presetSubtype="0" fill="hold" grpId="0" nodeType="withEffect">
                                  <p:stCondLst>
                                    <p:cond delay="1040"/>
                                  </p:stCondLst>
                                  <p:childTnLst>
                                    <p:set>
                                      <p:cBhvr>
                                        <p:cTn id="39" dur="1" fill="hold">
                                          <p:stCondLst>
                                            <p:cond delay="0"/>
                                          </p:stCondLst>
                                        </p:cTn>
                                        <p:tgtEl>
                                          <p:spTgt spid="21"/>
                                        </p:tgtEl>
                                        <p:attrNameLst>
                                          <p:attrName>style.visibility</p:attrName>
                                        </p:attrNameLst>
                                      </p:cBhvr>
                                      <p:to>
                                        <p:strVal val="visible"/>
                                      </p:to>
                                    </p:set>
                                    <p:animEffect transition="in" filter="fade">
                                      <p:cBhvr>
                                        <p:cTn id="40" dur="500"/>
                                        <p:tgtEl>
                                          <p:spTgt spid="21"/>
                                        </p:tgtEl>
                                      </p:cBhvr>
                                    </p:animEffect>
                                    <p:anim calcmode="lin" valueType="num">
                                      <p:cBhvr additive="base">
                                        <p:cTn id="41" dur="500" fill="hold"/>
                                        <p:tgtEl>
                                          <p:spTgt spid="21"/>
                                        </p:tgtEl>
                                        <p:attrNameLst>
                                          <p:attrName>ppt_x</p:attrName>
                                        </p:attrNameLst>
                                      </p:cBhvr>
                                      <p:tavLst>
                                        <p:tav tm="0">
                                          <p:val>
                                            <p:strVal val="#ppt_x-.05"/>
                                          </p:val>
                                        </p:tav>
                                        <p:tav tm="100000">
                                          <p:val>
                                            <p:strVal val="#ppt_x"/>
                                          </p:val>
                                        </p:tav>
                                      </p:tavLst>
                                    </p:anim>
                                    <p:anim calcmode="lin" valueType="num">
                                      <p:cBhvr additive="base">
                                        <p:cTn id="42" dur="500" fill="hold"/>
                                        <p:tgtEl>
                                          <p:spTgt spid="21"/>
                                        </p:tgtEl>
                                        <p:attrNameLst>
                                          <p:attrName>ppt_y</p:attrName>
                                        </p:attrNameLst>
                                      </p:cBhvr>
                                      <p:tavLst>
                                        <p:tav tm="0">
                                          <p:val>
                                            <p:strVal val="#ppt_y"/>
                                          </p:val>
                                        </p:tav>
                                        <p:tav tm="100000">
                                          <p:val>
                                            <p:strVal val="#ppt_y"/>
                                          </p:val>
                                        </p:tav>
                                      </p:tavLst>
                                    </p:anim>
                                  </p:childTnLst>
                                </p:cTn>
                              </p:par>
                              <p:par>
                                <p:cTn id="48" presetID="42" presetClass="entr" presetSubtype="0" fill="hold" grpId="0" nodeType="withEffect">
                                  <p:stCondLst>
                                    <p:cond delay="1075"/>
                                  </p:stCondLst>
                                  <p:childTnLst>
                                    <p:set>
                                      <p:cBhvr>
                                        <p:cTn id="44" dur="1" fill="hold">
                                          <p:stCondLst>
                                            <p:cond delay="0"/>
                                          </p:stCondLst>
                                        </p:cTn>
                                        <p:tgtEl>
                                          <p:spTgt spid="24"/>
                                        </p:tgtEl>
                                        <p:attrNameLst>
                                          <p:attrName>style.visibility</p:attrName>
                                        </p:attrNameLst>
                                      </p:cBhvr>
                                      <p:to>
                                        <p:strVal val="visible"/>
                                      </p:to>
                                    </p:set>
                                    <p:animEffect transition="in" filter="fade">
                                      <p:cBhvr>
                                        <p:cTn id="45" dur="500"/>
                                        <p:tgtEl>
                                          <p:spTgt spid="24"/>
                                        </p:tgtEl>
                                      </p:cBhvr>
                                    </p:animEffect>
                                    <p:anim calcmode="lin" valueType="num">
                                      <p:cBhvr additive="base">
                                        <p:cTn id="46" dur="500" fill="hold"/>
                                        <p:tgtEl>
                                          <p:spTgt spid="24"/>
                                        </p:tgtEl>
                                        <p:attrNameLst>
                                          <p:attrName>ppt_x</p:attrName>
                                        </p:attrNameLst>
                                      </p:cBhvr>
                                      <p:tavLst>
                                        <p:tav tm="0">
                                          <p:val>
                                            <p:strVal val="#ppt_x+.05"/>
                                          </p:val>
                                        </p:tav>
                                        <p:tav tm="100000">
                                          <p:val>
                                            <p:strVal val="#ppt_x"/>
                                          </p:val>
                                        </p:tav>
                                      </p:tavLst>
                                    </p:anim>
                                    <p:anim calcmode="lin" valueType="num">
                                      <p:cBhvr additive="base">
                                        <p:cTn id="47" dur="500" fill="hold"/>
                                        <p:tgtEl>
                                          <p:spTgt spid="24"/>
                                        </p:tgtEl>
                                        <p:attrNameLst>
                                          <p:attrName>ppt_y</p:attrName>
                                        </p:attrNameLst>
                                      </p:cBhvr>
                                      <p:tavLst>
                                        <p:tav tm="0">
                                          <p:val>
                                            <p:strVal val="#ppt_y"/>
                                          </p:val>
                                        </p:tav>
                                        <p:tav tm="100000">
                                          <p:val>
                                            <p:strVal val="#ppt_y"/>
                                          </p:val>
                                        </p:tav>
                                      </p:tavLst>
                                    </p:anim>
                                  </p:childTnLst>
                                </p:cTn>
                              </p:par>
                              <p:par>
                                <p:cTn id="53" presetID="42" presetClass="entr" presetSubtype="0" fill="hold" grpId="0" nodeType="withEffect">
                                  <p:stCondLst>
                                    <p:cond delay="1110"/>
                                  </p:stCondLst>
                                  <p:childTnLst>
                                    <p:set>
                                      <p:cBhvr>
                                        <p:cTn id="49" dur="1" fill="hold">
                                          <p:stCondLst>
                                            <p:cond delay="0"/>
                                          </p:stCondLst>
                                        </p:cTn>
                                        <p:tgtEl>
                                          <p:spTgt spid="32"/>
                                        </p:tgtEl>
                                        <p:attrNameLst>
                                          <p:attrName>style.visibility</p:attrName>
                                        </p:attrNameLst>
                                      </p:cBhvr>
                                      <p:to>
                                        <p:strVal val="visible"/>
                                      </p:to>
                                    </p:set>
                                    <p:animEffect transition="in" filter="fade">
                                      <p:cBhvr>
                                        <p:cTn id="50" dur="300"/>
                                        <p:tgtEl>
                                          <p:spTgt spid="32"/>
                                        </p:tgtEl>
                                      </p:cBhvr>
                                    </p:animEffect>
                                    <p:anim calcmode="lin" valueType="num">
                                      <p:cBhvr additive="base">
                                        <p:cTn id="51" dur="300" fill="hold"/>
                                        <p:tgtEl>
                                          <p:spTgt spid="32"/>
                                        </p:tgtEl>
                                        <p:attrNameLst>
                                          <p:attrName>ppt_x</p:attrName>
                                        </p:attrNameLst>
                                      </p:cBhvr>
                                      <p:tavLst>
                                        <p:tav tm="0">
                                          <p:val>
                                            <p:strVal val="#ppt_x-.05"/>
                                          </p:val>
                                        </p:tav>
                                        <p:tav tm="100000">
                                          <p:val>
                                            <p:strVal val="#ppt_x"/>
                                          </p:val>
                                        </p:tav>
                                      </p:tavLst>
                                    </p:anim>
                                    <p:anim calcmode="lin" valueType="num">
                                      <p:cBhvr additive="base">
                                        <p:cTn id="52" dur="300" fill="hold"/>
                                        <p:tgtEl>
                                          <p:spTgt spid="32"/>
                                        </p:tgtEl>
                                        <p:attrNameLst>
                                          <p:attrName>ppt_y</p:attrName>
                                        </p:attrNameLst>
                                      </p:cBhvr>
                                      <p:tavLst>
                                        <p:tav tm="0">
                                          <p:val>
                                            <p:strVal val="#ppt_y"/>
                                          </p:val>
                                        </p:tav>
                                        <p:tav tm="100000">
                                          <p:val>
                                            <p:strVal val="#ppt_y"/>
                                          </p:val>
                                        </p:tav>
                                      </p:tavLst>
                                    </p:anim>
                                  </p:childTnLst>
                                </p:cTn>
                              </p:par>
                              <p:par>
                                <p:cTn id="56" presetID="10" presetClass="entr" presetSubtype="0" fill="hold" grpId="0" nodeType="withEffect">
                                  <p:stCondLst>
                                    <p:cond delay="1145"/>
                                  </p:stCondLst>
                                  <p:childTnLst>
                                    <p:set>
                                      <p:cBhvr>
                                        <p:cTn id="54" dur="1" fill="hold">
                                          <p:stCondLst>
                                            <p:cond delay="0"/>
                                          </p:stCondLst>
                                        </p:cTn>
                                        <p:tgtEl>
                                          <p:spTgt spid="33"/>
                                        </p:tgtEl>
                                        <p:attrNameLst>
                                          <p:attrName>style.visibility</p:attrName>
                                        </p:attrNameLst>
                                      </p:cBhvr>
                                      <p:to>
                                        <p:strVal val="visible"/>
                                      </p:to>
                                    </p:set>
                                    <p:animEffect transition="in" filter="fade">
                                      <p:cBhvr>
                                        <p:cTn id="55" dur="200"/>
                                        <p:tgtEl>
                                          <p:spTgt spid="33"/>
                                        </p:tgtEl>
                                      </p:cBhvr>
                                    </p:animEffect>
                                  </p:childTnLst>
                                </p:cTn>
                              </p:par>
                              <p:par>
                                <p:cTn id="61" presetID="53" presetClass="entr" presetSubtype="16" fill="hold" grpId="0" nodeType="withEffect">
                                  <p:stCondLst>
                                    <p:cond delay="1180"/>
                                  </p:stCondLst>
                                  <p:childTnLst>
                                    <p:set>
                                      <p:cBhvr>
                                        <p:cTn id="57" dur="1" fill="hold">
                                          <p:stCondLst>
                                            <p:cond delay="0"/>
                                          </p:stCondLst>
                                        </p:cTn>
                                        <p:tgtEl>
                                          <p:spTgt spid="27"/>
                                        </p:tgtEl>
                                        <p:attrNameLst>
                                          <p:attrName>style.visibility</p:attrName>
                                        </p:attrNameLst>
                                      </p:cBhvr>
                                      <p:to>
                                        <p:strVal val="visible"/>
                                      </p:to>
                                    </p:set>
                                    <p:anim calcmode="lin" valueType="num">
                                      <p:cBhvr additive="base">
                                        <p:cTn id="58" dur="300" fill="hold"/>
                                        <p:tgtEl>
                                          <p:spTgt spid="27"/>
                                        </p:tgtEl>
                                        <p:attrNameLst>
                                          <p:attrName>ppt_w</p:attrName>
                                        </p:attrNameLst>
                                      </p:cBhvr>
                                      <p:tavLst>
                                        <p:tav tm="0">
                                          <p:val>
                                            <p:strVal val="0"/>
                                          </p:val>
                                        </p:tav>
                                        <p:tav tm="100000">
                                          <p:val>
                                            <p:strVal val="#ppt_w"/>
                                          </p:val>
                                        </p:tav>
                                      </p:tavLst>
                                    </p:anim>
                                    <p:anim calcmode="lin" valueType="num">
                                      <p:cBhvr additive="base">
                                        <p:cTn id="59" dur="300" fill="hold"/>
                                        <p:tgtEl>
                                          <p:spTgt spid="27"/>
                                        </p:tgtEl>
                                        <p:attrNameLst>
                                          <p:attrName>ppt_h</p:attrName>
                                        </p:attrNameLst>
                                      </p:cBhvr>
                                      <p:tavLst>
                                        <p:tav tm="0">
                                          <p:val>
                                            <p:strVal val="0"/>
                                          </p:val>
                                        </p:tav>
                                        <p:tav tm="100000">
                                          <p:val>
                                            <p:strVal val="#ppt_h"/>
                                          </p:val>
                                        </p:tav>
                                      </p:tavLst>
                                    </p:anim>
                                    <p:animEffect transition="in" filter="fade">
                                      <p:cBhvr>
                                        <p:cTn id="60" dur="300"/>
                                        <p:tgtEl>
                                          <p:spTgt spid="27"/>
                                        </p:tgtEl>
                                      </p:cBhvr>
                                    </p:animEffect>
                                  </p:childTnLst>
                                </p:cTn>
                              </p:par>
                              <p:par>
                                <p:cTn id="63" presetID="8" presetClass="emph" presetSubtype="0" fill="hold" grpId="1" nodeType="withEffect" repeatCount="indefinite">
                                  <p:stCondLst>
                                    <p:cond delay="1215"/>
                                  </p:stCondLst>
                                  <p:childTnLst>
                                    <p:animRot by="21600000">
                                      <p:cBhvr>
                                        <p:cTn id="62" dur="1500" fill="hold"/>
                                        <p:tgtEl>
                                          <p:spTgt spid="27"/>
                                        </p:tgtEl>
                                        <p:attrNameLst>
                                          <p:attrName>r</p:attrName>
                                        </p:attrNameLst>
                                      </p:cBhvr>
                                    </p:animRot>
                                  </p:childTnLst>
                                </p:cTn>
                              </p:par>
                              <p:par>
                                <p:cTn id="68" presetID="53" presetClass="entr" presetSubtype="32" fill="hold" grpId="0" nodeType="withEffect">
                                  <p:stCondLst>
                                    <p:cond delay="1250"/>
                                  </p:stCondLst>
                                  <p:childTnLst>
                                    <p:set>
                                      <p:cBhvr>
                                        <p:cTn id="64" dur="1" fill="hold">
                                          <p:stCondLst>
                                            <p:cond delay="0"/>
                                          </p:stCondLst>
                                        </p:cTn>
                                        <p:tgtEl>
                                          <p:spTgt spid="26"/>
                                        </p:tgtEl>
                                        <p:attrNameLst>
                                          <p:attrName>style.visibility</p:attrName>
                                        </p:attrNameLst>
                                      </p:cBhvr>
                                      <p:to>
                                        <p:strVal val="visible"/>
                                      </p:to>
                                    </p:set>
                                    <p:anim calcmode="lin" valueType="num">
                                      <p:cBhvr additive="base">
                                        <p:cTn id="65" dur="450" fill="hold"/>
                                        <p:tgtEl>
                                          <p:spTgt spid="26"/>
                                        </p:tgtEl>
                                        <p:attrNameLst>
                                          <p:attrName>ppt_w</p:attrName>
                                        </p:attrNameLst>
                                      </p:cBhvr>
                                      <p:tavLst>
                                        <p:tav tm="0">
                                          <p:val>
                                            <p:strVal val="#ppt_w*2.4"/>
                                          </p:val>
                                        </p:tav>
                                        <p:tav tm="100000">
                                          <p:val>
                                            <p:strVal val="#ppt_w"/>
                                          </p:val>
                                        </p:tav>
                                      </p:tavLst>
                                    </p:anim>
                                    <p:anim calcmode="lin" valueType="num">
                                      <p:cBhvr additive="base">
                                        <p:cTn id="66" dur="450" fill="hold"/>
                                        <p:tgtEl>
                                          <p:spTgt spid="26"/>
                                        </p:tgtEl>
                                        <p:attrNameLst>
                                          <p:attrName>ppt_h</p:attrName>
                                        </p:attrNameLst>
                                      </p:cBhvr>
                                      <p:tavLst>
                                        <p:tav tm="0">
                                          <p:val>
                                            <p:strVal val="#ppt_h*2.4"/>
                                          </p:val>
                                        </p:tav>
                                        <p:tav tm="100000">
                                          <p:val>
                                            <p:strVal val="#ppt_h"/>
                                          </p:val>
                                        </p:tav>
                                      </p:tavLst>
                                    </p:anim>
                                    <p:animEffect transition="in" filter="fade">
                                      <p:cBhvr>
                                        <p:cTn id="67" dur="450"/>
                                        <p:tgtEl>
                                          <p:spTgt spid="26"/>
                                        </p:tgtEl>
                                      </p:cBhvr>
                                    </p:animEffect>
                                  </p:childTnLst>
                                </p:cTn>
                              </p:par>
                              <p:par>
                                <p:cTn id="71" presetID="10" presetClass="exit" presetSubtype="0" fill="hold" grpId="1" nodeType="withEffect">
                                  <p:stCondLst>
                                    <p:cond delay="15900"/>
                                  </p:stCondLst>
                                  <p:childTnLst>
                                    <p:animEffect transition="out" filter="fade">
                                      <p:cBhvr>
                                        <p:cTn id="69" dur="200"/>
                                        <p:tgtEl>
                                          <p:spTgt spid="31"/>
                                        </p:tgtEl>
                                      </p:cBhvr>
                                    </p:animEffect>
                                    <p:set>
                                      <p:cBhvr>
                                        <p:cTn id="70" dur="1" fill="hold">
                                          <p:stCondLst>
                                            <p:cond delay="199"/>
                                          </p:stCondLst>
                                        </p:cTn>
                                        <p:tgtEl>
                                          <p:spTgt spid="31"/>
                                        </p:tgtEl>
                                        <p:attrNameLst>
                                          <p:attrName>style.visibility</p:attrName>
                                        </p:attrNameLst>
                                      </p:cBhvr>
                                      <p:to>
                                        <p:strVal val="hidden"/>
                                      </p:to>
                                    </p:set>
                                  </p:childTnLst>
                                </p:cTn>
                              </p:par>
                              <p:par>
                                <p:cTn id="74" presetID="10" presetClass="exit" presetSubtype="0" fill="hold" grpId="1" nodeType="withEffect">
                                  <p:stCondLst>
                                    <p:cond delay="15929"/>
                                  </p:stCondLst>
                                  <p:childTnLst>
                                    <p:animEffect transition="out" filter="fade">
                                      <p:cBhvr>
                                        <p:cTn id="72" dur="250"/>
                                        <p:tgtEl>
                                          <p:spTgt spid="26"/>
                                        </p:tgtEl>
                                      </p:cBhvr>
                                    </p:animEffect>
                                    <p:set>
                                      <p:cBhvr>
                                        <p:cTn id="73" dur="1" fill="hold">
                                          <p:stCondLst>
                                            <p:cond delay="249"/>
                                          </p:stCondLst>
                                        </p:cTn>
                                        <p:tgtEl>
                                          <p:spTgt spid="26"/>
                                        </p:tgtEl>
                                        <p:attrNameLst>
                                          <p:attrName>style.visibility</p:attrName>
                                        </p:attrNameLst>
                                      </p:cBhvr>
                                      <p:to>
                                        <p:strVal val="hidden"/>
                                      </p:to>
                                    </p:set>
                                  </p:childTnLst>
                                </p:cTn>
                              </p:par>
                              <p:par>
                                <p:cTn id="77" presetID="10" presetClass="exit" presetSubtype="0" fill="hold" grpId="2" nodeType="withEffect">
                                  <p:stCondLst>
                                    <p:cond delay="15958"/>
                                  </p:stCondLst>
                                  <p:childTnLst>
                                    <p:animEffect transition="out" filter="fade">
                                      <p:cBhvr>
                                        <p:cTn id="75" dur="250"/>
                                        <p:tgtEl>
                                          <p:spTgt spid="27"/>
                                        </p:tgtEl>
                                      </p:cBhvr>
                                    </p:animEffect>
                                    <p:set>
                                      <p:cBhvr>
                                        <p:cTn id="76" dur="1" fill="hold">
                                          <p:stCondLst>
                                            <p:cond delay="249"/>
                                          </p:stCondLst>
                                        </p:cTn>
                                        <p:tgtEl>
                                          <p:spTgt spid="27"/>
                                        </p:tgtEl>
                                        <p:attrNameLst>
                                          <p:attrName>style.visibility</p:attrName>
                                        </p:attrNameLst>
                                      </p:cBhvr>
                                      <p:to>
                                        <p:strVal val="hidden"/>
                                      </p:to>
                                    </p:set>
                                  </p:childTnLst>
                                </p:cTn>
                              </p:par>
                              <p:par>
                                <p:cTn id="82" presetID="42" presetClass="entr" presetSubtype="0" fill="hold" grpId="0" nodeType="withEffect">
                                  <p:stCondLst>
                                    <p:cond delay="15987"/>
                                  </p:stCondLst>
                                  <p:childTnLst>
                                    <p:set>
                                      <p:cBhvr>
                                        <p:cTn id="78" dur="1" fill="hold">
                                          <p:stCondLst>
                                            <p:cond delay="0"/>
                                          </p:stCondLst>
                                        </p:cTn>
                                        <p:tgtEl>
                                          <p:spTgt spid="34"/>
                                        </p:tgtEl>
                                        <p:attrNameLst>
                                          <p:attrName>style.visibility</p:attrName>
                                        </p:attrNameLst>
                                      </p:cBhvr>
                                      <p:to>
                                        <p:strVal val="visible"/>
                                      </p:to>
                                    </p:set>
                                    <p:animEffect transition="in" filter="fade">
                                      <p:cBhvr>
                                        <p:cTn id="79" dur="400"/>
                                        <p:tgtEl>
                                          <p:spTgt spid="34"/>
                                        </p:tgtEl>
                                      </p:cBhvr>
                                    </p:animEffect>
                                    <p:anim calcmode="lin" valueType="num">
                                      <p:cBhvr additive="base">
                                        <p:cTn id="80" dur="400" fill="hold"/>
                                        <p:tgtEl>
                                          <p:spTgt spid="34"/>
                                        </p:tgtEl>
                                        <p:attrNameLst>
                                          <p:attrName>ppt_x</p:attrName>
                                        </p:attrNameLst>
                                      </p:cBhvr>
                                      <p:tavLst>
                                        <p:tav tm="0">
                                          <p:val>
                                            <p:strVal val="#ppt_x-.05"/>
                                          </p:val>
                                        </p:tav>
                                        <p:tav tm="100000">
                                          <p:val>
                                            <p:strVal val="#ppt_x"/>
                                          </p:val>
                                        </p:tav>
                                      </p:tavLst>
                                    </p:anim>
                                    <p:anim calcmode="lin" valueType="num">
                                      <p:cBhvr additive="base">
                                        <p:cTn id="81" dur="400" fill="hold"/>
                                        <p:tgtEl>
                                          <p:spTgt spid="34"/>
                                        </p:tgtEl>
                                        <p:attrNameLst>
                                          <p:attrName>ppt_y</p:attrName>
                                        </p:attrNameLst>
                                      </p:cBhvr>
                                      <p:tavLst>
                                        <p:tav tm="0">
                                          <p:val>
                                            <p:strVal val="#ppt_y"/>
                                          </p:val>
                                        </p:tav>
                                        <p:tav tm="100000">
                                          <p:val>
                                            <p:strVal val="#ppt_y"/>
                                          </p:val>
                                        </p:tav>
                                      </p:tavLst>
                                    </p:anim>
                                  </p:childTnLst>
                                </p:cTn>
                              </p:par>
                              <p:par>
                                <p:cTn id="85" presetID="10" presetClass="exit" presetSubtype="0" fill="hold" grpId="1" nodeType="withEffect">
                                  <p:stCondLst>
                                    <p:cond delay="16016"/>
                                  </p:stCondLst>
                                  <p:childTnLst>
                                    <p:animEffect transition="out" filter="fade">
                                      <p:cBhvr>
                                        <p:cTn id="83" dur="200"/>
                                        <p:tgtEl>
                                          <p:spTgt spid="32"/>
                                        </p:tgtEl>
                                      </p:cBhvr>
                                    </p:animEffect>
                                    <p:set>
                                      <p:cBhvr>
                                        <p:cTn id="84" dur="1" fill="hold">
                                          <p:stCondLst>
                                            <p:cond delay="199"/>
                                          </p:stCondLst>
                                        </p:cTn>
                                        <p:tgtEl>
                                          <p:spTgt spid="32"/>
                                        </p:tgtEl>
                                        <p:attrNameLst>
                                          <p:attrName>style.visibility</p:attrName>
                                        </p:attrNameLst>
                                      </p:cBhvr>
                                      <p:to>
                                        <p:strVal val="hidden"/>
                                      </p:to>
                                    </p:set>
                                  </p:childTnLst>
                                </p:cTn>
                              </p:par>
                              <p:par>
                                <p:cTn id="88" presetID="10" presetClass="exit" presetSubtype="0" fill="hold" grpId="1" nodeType="withEffect">
                                  <p:stCondLst>
                                    <p:cond delay="16045"/>
                                  </p:stCondLst>
                                  <p:childTnLst>
                                    <p:animEffect transition="out" filter="fade">
                                      <p:cBhvr>
                                        <p:cTn id="86" dur="200"/>
                                        <p:tgtEl>
                                          <p:spTgt spid="33"/>
                                        </p:tgtEl>
                                      </p:cBhvr>
                                    </p:animEffect>
                                    <p:set>
                                      <p:cBhvr>
                                        <p:cTn id="87" dur="1" fill="hold">
                                          <p:stCondLst>
                                            <p:cond delay="199"/>
                                          </p:stCondLst>
                                        </p:cTn>
                                        <p:tgtEl>
                                          <p:spTgt spid="33"/>
                                        </p:tgtEl>
                                        <p:attrNameLst>
                                          <p:attrName>style.visibility</p:attrName>
                                        </p:attrNameLst>
                                      </p:cBhvr>
                                      <p:to>
                                        <p:strVal val="hidden"/>
                                      </p:to>
                                    </p:set>
                                  </p:childTnLst>
                                </p:cTn>
                              </p:par>
                              <p:par>
                                <p:cTn id="91" presetID="10" presetClass="entr" presetSubtype="0" fill="hold" grpId="0" nodeType="withEffect">
                                  <p:stCondLst>
                                    <p:cond delay="16075"/>
                                  </p:stCondLst>
                                  <p:childTnLst>
                                    <p:set>
                                      <p:cBhvr>
                                        <p:cTn id="89" dur="1" fill="hold">
                                          <p:stCondLst>
                                            <p:cond delay="0"/>
                                          </p:stCondLst>
                                        </p:cTn>
                                        <p:tgtEl>
                                          <p:spTgt spid="7"/>
                                        </p:tgtEl>
                                        <p:attrNameLst>
                                          <p:attrName>style.visibility</p:attrName>
                                        </p:attrNameLst>
                                      </p:cBhvr>
                                      <p:to>
                                        <p:strVal val="visible"/>
                                      </p:to>
                                    </p:set>
                                    <p:animEffect transition="in" filter="fade">
                                      <p:cBhvr>
                                        <p:cTn id="90" dur="600"/>
                                        <p:tgtEl>
                                          <p:spTgt spid="7"/>
                                        </p:tgtEl>
                                      </p:cBhvr>
                                    </p:animEffect>
                                  </p:childTnLst>
                                </p:cTn>
                              </p:par>
                              <p:par>
                                <p:cTn id="96" presetID="42" presetClass="entr" presetSubtype="0" fill="hold" grpId="0" nodeType="withEffect">
                                  <p:stCondLst>
                                    <p:cond delay="16104"/>
                                  </p:stCondLst>
                                  <p:childTnLst>
                                    <p:set>
                                      <p:cBhvr>
                                        <p:cTn id="92" dur="1" fill="hold">
                                          <p:stCondLst>
                                            <p:cond delay="0"/>
                                          </p:stCondLst>
                                        </p:cTn>
                                        <p:tgtEl>
                                          <p:spTgt spid="35"/>
                                        </p:tgtEl>
                                        <p:attrNameLst>
                                          <p:attrName>style.visibility</p:attrName>
                                        </p:attrNameLst>
                                      </p:cBhvr>
                                      <p:to>
                                        <p:strVal val="visible"/>
                                      </p:to>
                                    </p:set>
                                    <p:animEffect transition="in" filter="fade">
                                      <p:cBhvr>
                                        <p:cTn id="93" dur="300"/>
                                        <p:tgtEl>
                                          <p:spTgt spid="35"/>
                                        </p:tgtEl>
                                      </p:cBhvr>
                                    </p:animEffect>
                                    <p:anim calcmode="lin" valueType="num">
                                      <p:cBhvr additive="base">
                                        <p:cTn id="94" dur="300" fill="hold"/>
                                        <p:tgtEl>
                                          <p:spTgt spid="35"/>
                                        </p:tgtEl>
                                        <p:attrNameLst>
                                          <p:attrName>ppt_x</p:attrName>
                                        </p:attrNameLst>
                                      </p:cBhvr>
                                      <p:tavLst>
                                        <p:tav tm="0">
                                          <p:val>
                                            <p:strVal val="#ppt_x-.05"/>
                                          </p:val>
                                        </p:tav>
                                        <p:tav tm="100000">
                                          <p:val>
                                            <p:strVal val="#ppt_x"/>
                                          </p:val>
                                        </p:tav>
                                      </p:tavLst>
                                    </p:anim>
                                    <p:anim calcmode="lin" valueType="num">
                                      <p:cBhvr additive="base">
                                        <p:cTn id="95" dur="300" fill="hold"/>
                                        <p:tgtEl>
                                          <p:spTgt spid="35"/>
                                        </p:tgtEl>
                                        <p:attrNameLst>
                                          <p:attrName>ppt_y</p:attrName>
                                        </p:attrNameLst>
                                      </p:cBhvr>
                                      <p:tavLst>
                                        <p:tav tm="0">
                                          <p:val>
                                            <p:strVal val="#ppt_y"/>
                                          </p:val>
                                        </p:tav>
                                        <p:tav tm="100000">
                                          <p:val>
                                            <p:strVal val="#ppt_y"/>
                                          </p:val>
                                        </p:tav>
                                      </p:tavLst>
                                    </p:anim>
                                  </p:childTnLst>
                                </p:cTn>
                              </p:par>
                              <p:par>
                                <p:cTn id="99" presetID="10" presetClass="entr" presetSubtype="0" fill="hold" grpId="0" nodeType="withEffect">
                                  <p:stCondLst>
                                    <p:cond delay="16133"/>
                                  </p:stCondLst>
                                  <p:childTnLst>
                                    <p:set>
                                      <p:cBhvr>
                                        <p:cTn id="97" dur="1" fill="hold">
                                          <p:stCondLst>
                                            <p:cond delay="0"/>
                                          </p:stCondLst>
                                        </p:cTn>
                                        <p:tgtEl>
                                          <p:spTgt spid="36"/>
                                        </p:tgtEl>
                                        <p:attrNameLst>
                                          <p:attrName>style.visibility</p:attrName>
                                        </p:attrNameLst>
                                      </p:cBhvr>
                                      <p:to>
                                        <p:strVal val="visible"/>
                                      </p:to>
                                    </p:set>
                                    <p:animEffect transition="in" filter="fade">
                                      <p:cBhvr>
                                        <p:cTn id="98" dur="200"/>
                                        <p:tgtEl>
                                          <p:spTgt spid="36"/>
                                        </p:tgtEl>
                                      </p:cBhvr>
                                    </p:animEffect>
                                  </p:childTnLst>
                                </p:cTn>
                              </p:par>
                              <p:par>
                                <p:cTn id="104" presetID="42" presetClass="entr" presetSubtype="0" fill="hold" grpId="0" nodeType="withEffect">
                                  <p:stCondLst>
                                    <p:cond delay="16162"/>
                                  </p:stCondLst>
                                  <p:childTnLst>
                                    <p:set>
                                      <p:cBhvr>
                                        <p:cTn id="100" dur="1" fill="hold">
                                          <p:stCondLst>
                                            <p:cond delay="0"/>
                                          </p:stCondLst>
                                        </p:cTn>
                                        <p:tgtEl>
                                          <p:spTgt spid="10"/>
                                        </p:tgtEl>
                                        <p:attrNameLst>
                                          <p:attrName>style.visibility</p:attrName>
                                        </p:attrNameLst>
                                      </p:cBhvr>
                                      <p:to>
                                        <p:strVal val="visible"/>
                                      </p:to>
                                    </p:set>
                                    <p:animEffect transition="in" filter="fade">
                                      <p:cBhvr>
                                        <p:cTn id="101" dur="500"/>
                                        <p:tgtEl>
                                          <p:spTgt spid="10"/>
                                        </p:tgtEl>
                                      </p:cBhvr>
                                    </p:animEffect>
                                    <p:anim calcmode="lin" valueType="num">
                                      <p:cBhvr additive="base">
                                        <p:cTn id="102" dur="500" fill="hold"/>
                                        <p:tgtEl>
                                          <p:spTgt spid="10"/>
                                        </p:tgtEl>
                                        <p:attrNameLst>
                                          <p:attrName>ppt_x</p:attrName>
                                        </p:attrNameLst>
                                      </p:cBhvr>
                                      <p:tavLst>
                                        <p:tav tm="0">
                                          <p:val>
                                            <p:strVal val="#ppt_x"/>
                                          </p:val>
                                        </p:tav>
                                        <p:tav tm="100000">
                                          <p:val>
                                            <p:strVal val="#ppt_x"/>
                                          </p:val>
                                        </p:tav>
                                      </p:tavLst>
                                    </p:anim>
                                    <p:anim calcmode="lin" valueType="num">
                                      <p:cBhvr additive="base">
                                        <p:cTn id="103" dur="500" fill="hold"/>
                                        <p:tgtEl>
                                          <p:spTgt spid="10"/>
                                        </p:tgtEl>
                                        <p:attrNameLst>
                                          <p:attrName>ppt_y</p:attrName>
                                        </p:attrNameLst>
                                      </p:cBhvr>
                                      <p:tavLst>
                                        <p:tav tm="0">
                                          <p:val>
                                            <p:strVal val="#ppt_y+.06"/>
                                          </p:val>
                                        </p:tav>
                                        <p:tav tm="100000">
                                          <p:val>
                                            <p:strVal val="#ppt_y"/>
                                          </p:val>
                                        </p:tav>
                                      </p:tavLst>
                                    </p:anim>
                                  </p:childTnLst>
                                </p:cTn>
                              </p:par>
                              <p:par>
                                <p:cTn id="109" presetID="42" presetClass="entr" presetSubtype="0" fill="hold" grpId="0" nodeType="withEffect">
                                  <p:stCondLst>
                                    <p:cond delay="16191"/>
                                  </p:stCondLst>
                                  <p:childTnLst>
                                    <p:set>
                                      <p:cBhvr>
                                        <p:cTn id="105" dur="1" fill="hold">
                                          <p:stCondLst>
                                            <p:cond delay="0"/>
                                          </p:stCondLst>
                                        </p:cTn>
                                        <p:tgtEl>
                                          <p:spTgt spid="11"/>
                                        </p:tgtEl>
                                        <p:attrNameLst>
                                          <p:attrName>style.visibility</p:attrName>
                                        </p:attrNameLst>
                                      </p:cBhvr>
                                      <p:to>
                                        <p:strVal val="visible"/>
                                      </p:to>
                                    </p:set>
                                    <p:animEffect transition="in" filter="fade">
                                      <p:cBhvr>
                                        <p:cTn id="106" dur="500"/>
                                        <p:tgtEl>
                                          <p:spTgt spid="11"/>
                                        </p:tgtEl>
                                      </p:cBhvr>
                                    </p:animEffect>
                                    <p:anim calcmode="lin" valueType="num">
                                      <p:cBhvr additive="base">
                                        <p:cTn id="107" dur="500" fill="hold"/>
                                        <p:tgtEl>
                                          <p:spTgt spid="11"/>
                                        </p:tgtEl>
                                        <p:attrNameLst>
                                          <p:attrName>ppt_x</p:attrName>
                                        </p:attrNameLst>
                                      </p:cBhvr>
                                      <p:tavLst>
                                        <p:tav tm="0">
                                          <p:val>
                                            <p:strVal val="#ppt_x"/>
                                          </p:val>
                                        </p:tav>
                                        <p:tav tm="100000">
                                          <p:val>
                                            <p:strVal val="#ppt_x"/>
                                          </p:val>
                                        </p:tav>
                                      </p:tavLst>
                                    </p:anim>
                                    <p:anim calcmode="lin" valueType="num">
                                      <p:cBhvr additive="base">
                                        <p:cTn id="108" dur="500" fill="hold"/>
                                        <p:tgtEl>
                                          <p:spTgt spid="11"/>
                                        </p:tgtEl>
                                        <p:attrNameLst>
                                          <p:attrName>ppt_y</p:attrName>
                                        </p:attrNameLst>
                                      </p:cBhvr>
                                      <p:tavLst>
                                        <p:tav tm="0">
                                          <p:val>
                                            <p:strVal val="#ppt_y+.06"/>
                                          </p:val>
                                        </p:tav>
                                        <p:tav tm="100000">
                                          <p:val>
                                            <p:strVal val="#ppt_y"/>
                                          </p:val>
                                        </p:tav>
                                      </p:tavLst>
                                    </p:anim>
                                  </p:childTnLst>
                                </p:cTn>
                              </p:par>
                              <p:par>
                                <p:cTn id="113" presetID="2" presetClass="entr" presetSubtype="1" fill="hold" grpId="0" nodeType="withEffect">
                                  <p:stCondLst>
                                    <p:cond delay="16220"/>
                                  </p:stCondLst>
                                  <p:childTnLst>
                                    <p:set>
                                      <p:cBhvr>
                                        <p:cTn id="110" dur="1" fill="hold">
                                          <p:stCondLst>
                                            <p:cond delay="0"/>
                                          </p:stCondLst>
                                        </p:cTn>
                                        <p:tgtEl>
                                          <p:spTgt spid="12"/>
                                        </p:tgtEl>
                                        <p:attrNameLst>
                                          <p:attrName>style.visibility</p:attrName>
                                        </p:attrNameLst>
                                      </p:cBhvr>
                                      <p:to>
                                        <p:strVal val="visible"/>
                                      </p:to>
                                    </p:set>
                                    <p:anim calcmode="lin" valueType="num">
                                      <p:cBhvr additive="base">
                                        <p:cTn id="111" dur="600" fill="hold"/>
                                        <p:tgtEl>
                                          <p:spTgt spid="12"/>
                                        </p:tgtEl>
                                        <p:attrNameLst>
                                          <p:attrName>ppt_x</p:attrName>
                                        </p:attrNameLst>
                                      </p:cBhvr>
                                      <p:tavLst>
                                        <p:tav tm="0">
                                          <p:val>
                                            <p:strVal val="#ppt_x"/>
                                          </p:val>
                                        </p:tav>
                                        <p:tav tm="100000">
                                          <p:val>
                                            <p:strVal val="#ppt_x"/>
                                          </p:val>
                                        </p:tav>
                                      </p:tavLst>
                                    </p:anim>
                                    <p:anim calcmode="lin" valueType="num">
                                      <p:cBhvr additive="base">
                                        <p:cTn id="112" dur="600" fill="hold"/>
                                        <p:tgtEl>
                                          <p:spTgt spid="12"/>
                                        </p:tgtEl>
                                        <p:attrNameLst>
                                          <p:attrName>ppt_y</p:attrName>
                                        </p:attrNameLst>
                                      </p:cBhvr>
                                      <p:tavLst>
                                        <p:tav tm="0">
                                          <p:val>
                                            <p:strVal val="0-#ppt_h/2"/>
                                          </p:val>
                                        </p:tav>
                                        <p:tav tm="100000">
                                          <p:val>
                                            <p:strVal val="#ppt_y"/>
                                          </p:val>
                                        </p:tav>
                                      </p:tavLst>
                                    </p:anim>
                                  </p:childTnLst>
                                </p:cTn>
                              </p:par>
                              <p:par>
                                <p:cTn id="118" presetID="53" presetClass="entr" presetSubtype="16" fill="hold" grpId="0" nodeType="withEffect">
                                  <p:stCondLst>
                                    <p:cond delay="16250"/>
                                  </p:stCondLst>
                                  <p:childTnLst>
                                    <p:set>
                                      <p:cBhvr>
                                        <p:cTn id="114" dur="1" fill="hold">
                                          <p:stCondLst>
                                            <p:cond delay="0"/>
                                          </p:stCondLst>
                                        </p:cTn>
                                        <p:tgtEl>
                                          <p:spTgt spid="13"/>
                                        </p:tgtEl>
                                        <p:attrNameLst>
                                          <p:attrName>style.visibility</p:attrName>
                                        </p:attrNameLst>
                                      </p:cBhvr>
                                      <p:to>
                                        <p:strVal val="visible"/>
                                      </p:to>
                                    </p:set>
                                    <p:anim calcmode="lin" valueType="num">
                                      <p:cBhvr additive="base">
                                        <p:cTn id="115" dur="400" fill="hold"/>
                                        <p:tgtEl>
                                          <p:spTgt spid="13"/>
                                        </p:tgtEl>
                                        <p:attrNameLst>
                                          <p:attrName>ppt_w</p:attrName>
                                        </p:attrNameLst>
                                      </p:cBhvr>
                                      <p:tavLst>
                                        <p:tav tm="0">
                                          <p:val>
                                            <p:strVal val="0"/>
                                          </p:val>
                                        </p:tav>
                                        <p:tav tm="100000">
                                          <p:val>
                                            <p:strVal val="#ppt_w"/>
                                          </p:val>
                                        </p:tav>
                                      </p:tavLst>
                                    </p:anim>
                                    <p:anim calcmode="lin" valueType="num">
                                      <p:cBhvr additive="base">
                                        <p:cTn id="116" dur="400" fill="hold"/>
                                        <p:tgtEl>
                                          <p:spTgt spid="13"/>
                                        </p:tgtEl>
                                        <p:attrNameLst>
                                          <p:attrName>ppt_h</p:attrName>
                                        </p:attrNameLst>
                                      </p:cBhvr>
                                      <p:tavLst>
                                        <p:tav tm="0">
                                          <p:val>
                                            <p:strVal val="0"/>
                                          </p:val>
                                        </p:tav>
                                        <p:tav tm="100000">
                                          <p:val>
                                            <p:strVal val="#ppt_h"/>
                                          </p:val>
                                        </p:tav>
                                      </p:tavLst>
                                    </p:anim>
                                    <p:animEffect transition="in" filter="fade">
                                      <p:cBhvr>
                                        <p:cTn id="117" dur="400"/>
                                        <p:tgtEl>
                                          <p:spTgt spid="13"/>
                                        </p:tgtEl>
                                      </p:cBhvr>
                                    </p:animEffect>
                                  </p:childTnLst>
                                </p:cTn>
                              </p:par>
                              <p:par>
                                <p:cTn id="121" presetID="10" presetClass="exit" presetSubtype="0" fill="hold" grpId="1" nodeType="withEffect">
                                  <p:stCondLst>
                                    <p:cond delay="22000"/>
                                  </p:stCondLst>
                                  <p:childTnLst>
                                    <p:animEffect transition="out" filter="fade">
                                      <p:cBhvr>
                                        <p:cTn id="119" dur="200"/>
                                        <p:tgtEl>
                                          <p:spTgt spid="34"/>
                                        </p:tgtEl>
                                      </p:cBhvr>
                                    </p:animEffect>
                                    <p:set>
                                      <p:cBhvr>
                                        <p:cTn id="120" dur="1" fill="hold">
                                          <p:stCondLst>
                                            <p:cond delay="199"/>
                                          </p:stCondLst>
                                        </p:cTn>
                                        <p:tgtEl>
                                          <p:spTgt spid="34"/>
                                        </p:tgtEl>
                                        <p:attrNameLst>
                                          <p:attrName>style.visibility</p:attrName>
                                        </p:attrNameLst>
                                      </p:cBhvr>
                                      <p:to>
                                        <p:strVal val="hidden"/>
                                      </p:to>
                                    </p:set>
                                  </p:childTnLst>
                                </p:cTn>
                              </p:par>
                              <p:par>
                                <p:cTn id="124" presetID="10" presetClass="exit" presetSubtype="0" fill="hold" grpId="1" nodeType="withEffect">
                                  <p:stCondLst>
                                    <p:cond delay="22029"/>
                                  </p:stCondLst>
                                  <p:childTnLst>
                                    <p:animEffect transition="out" filter="fade">
                                      <p:cBhvr>
                                        <p:cTn id="122" dur="250"/>
                                        <p:tgtEl>
                                          <p:spTgt spid="10"/>
                                        </p:tgtEl>
                                      </p:cBhvr>
                                    </p:animEffect>
                                    <p:set>
                                      <p:cBhvr>
                                        <p:cTn id="123" dur="1" fill="hold">
                                          <p:stCondLst>
                                            <p:cond delay="249"/>
                                          </p:stCondLst>
                                        </p:cTn>
                                        <p:tgtEl>
                                          <p:spTgt spid="10"/>
                                        </p:tgtEl>
                                        <p:attrNameLst>
                                          <p:attrName>style.visibility</p:attrName>
                                        </p:attrNameLst>
                                      </p:cBhvr>
                                      <p:to>
                                        <p:strVal val="hidden"/>
                                      </p:to>
                                    </p:set>
                                  </p:childTnLst>
                                </p:cTn>
                              </p:par>
                              <p:par>
                                <p:cTn id="127" presetID="10" presetClass="exit" presetSubtype="0" fill="hold" grpId="1" nodeType="withEffect">
                                  <p:stCondLst>
                                    <p:cond delay="22058"/>
                                  </p:stCondLst>
                                  <p:childTnLst>
                                    <p:animEffect transition="out" filter="fade">
                                      <p:cBhvr>
                                        <p:cTn id="125" dur="250"/>
                                        <p:tgtEl>
                                          <p:spTgt spid="11"/>
                                        </p:tgtEl>
                                      </p:cBhvr>
                                    </p:animEffect>
                                    <p:set>
                                      <p:cBhvr>
                                        <p:cTn id="126" dur="1" fill="hold">
                                          <p:stCondLst>
                                            <p:cond delay="249"/>
                                          </p:stCondLst>
                                        </p:cTn>
                                        <p:tgtEl>
                                          <p:spTgt spid="11"/>
                                        </p:tgtEl>
                                        <p:attrNameLst>
                                          <p:attrName>style.visibility</p:attrName>
                                        </p:attrNameLst>
                                      </p:cBhvr>
                                      <p:to>
                                        <p:strVal val="hidden"/>
                                      </p:to>
                                    </p:set>
                                  </p:childTnLst>
                                </p:cTn>
                              </p:par>
                              <p:par>
                                <p:cTn id="130" presetID="10" presetClass="exit" presetSubtype="0" fill="hold" grpId="1" nodeType="withEffect">
                                  <p:stCondLst>
                                    <p:cond delay="22087"/>
                                  </p:stCondLst>
                                  <p:childTnLst>
                                    <p:animEffect transition="out" filter="fade">
                                      <p:cBhvr>
                                        <p:cTn id="128" dur="250"/>
                                        <p:tgtEl>
                                          <p:spTgt spid="12"/>
                                        </p:tgtEl>
                                      </p:cBhvr>
                                    </p:animEffect>
                                    <p:set>
                                      <p:cBhvr>
                                        <p:cTn id="129" dur="1" fill="hold">
                                          <p:stCondLst>
                                            <p:cond delay="249"/>
                                          </p:stCondLst>
                                        </p:cTn>
                                        <p:tgtEl>
                                          <p:spTgt spid="12"/>
                                        </p:tgtEl>
                                        <p:attrNameLst>
                                          <p:attrName>style.visibility</p:attrName>
                                        </p:attrNameLst>
                                      </p:cBhvr>
                                      <p:to>
                                        <p:strVal val="hidden"/>
                                      </p:to>
                                    </p:set>
                                  </p:childTnLst>
                                </p:cTn>
                              </p:par>
                              <p:par>
                                <p:cTn id="133" presetID="10" presetClass="exit" presetSubtype="0" fill="hold" grpId="1" nodeType="withEffect">
                                  <p:stCondLst>
                                    <p:cond delay="22116"/>
                                  </p:stCondLst>
                                  <p:childTnLst>
                                    <p:animEffect transition="out" filter="fade">
                                      <p:cBhvr>
                                        <p:cTn id="131" dur="250"/>
                                        <p:tgtEl>
                                          <p:spTgt spid="13"/>
                                        </p:tgtEl>
                                      </p:cBhvr>
                                    </p:animEffect>
                                    <p:set>
                                      <p:cBhvr>
                                        <p:cTn id="132" dur="1" fill="hold">
                                          <p:stCondLst>
                                            <p:cond delay="249"/>
                                          </p:stCondLst>
                                        </p:cTn>
                                        <p:tgtEl>
                                          <p:spTgt spid="13"/>
                                        </p:tgtEl>
                                        <p:attrNameLst>
                                          <p:attrName>style.visibility</p:attrName>
                                        </p:attrNameLst>
                                      </p:cBhvr>
                                      <p:to>
                                        <p:strVal val="hidden"/>
                                      </p:to>
                                    </p:set>
                                  </p:childTnLst>
                                </p:cTn>
                              </p:par>
                              <p:par>
                                <p:cTn id="136" presetID="10" presetClass="exit" presetSubtype="0" fill="hold" grpId="1" nodeType="withEffect">
                                  <p:stCondLst>
                                    <p:cond delay="22145"/>
                                  </p:stCondLst>
                                  <p:childTnLst>
                                    <p:animEffect transition="out" filter="fade">
                                      <p:cBhvr>
                                        <p:cTn id="134" dur="250"/>
                                        <p:tgtEl>
                                          <p:spTgt spid="7"/>
                                        </p:tgtEl>
                                      </p:cBhvr>
                                    </p:animEffect>
                                    <p:set>
                                      <p:cBhvr>
                                        <p:cTn id="135" dur="1" fill="hold">
                                          <p:stCondLst>
                                            <p:cond delay="249"/>
                                          </p:stCondLst>
                                        </p:cTn>
                                        <p:tgtEl>
                                          <p:spTgt spid="7"/>
                                        </p:tgtEl>
                                        <p:attrNameLst>
                                          <p:attrName>style.visibility</p:attrName>
                                        </p:attrNameLst>
                                      </p:cBhvr>
                                      <p:to>
                                        <p:strVal val="hidden"/>
                                      </p:to>
                                    </p:set>
                                  </p:childTnLst>
                                </p:cTn>
                              </p:par>
                              <p:par>
                                <p:cTn id="141" presetID="42" presetClass="entr" presetSubtype="0" fill="hold" grpId="0" nodeType="withEffect">
                                  <p:stCondLst>
                                    <p:cond delay="22175"/>
                                  </p:stCondLst>
                                  <p:childTnLst>
                                    <p:set>
                                      <p:cBhvr>
                                        <p:cTn id="137" dur="1" fill="hold">
                                          <p:stCondLst>
                                            <p:cond delay="0"/>
                                          </p:stCondLst>
                                        </p:cTn>
                                        <p:tgtEl>
                                          <p:spTgt spid="37"/>
                                        </p:tgtEl>
                                        <p:attrNameLst>
                                          <p:attrName>style.visibility</p:attrName>
                                        </p:attrNameLst>
                                      </p:cBhvr>
                                      <p:to>
                                        <p:strVal val="visible"/>
                                      </p:to>
                                    </p:set>
                                    <p:animEffect transition="in" filter="fade">
                                      <p:cBhvr>
                                        <p:cTn id="138" dur="400"/>
                                        <p:tgtEl>
                                          <p:spTgt spid="37"/>
                                        </p:tgtEl>
                                      </p:cBhvr>
                                    </p:animEffect>
                                    <p:anim calcmode="lin" valueType="num">
                                      <p:cBhvr additive="base">
                                        <p:cTn id="139" dur="400" fill="hold"/>
                                        <p:tgtEl>
                                          <p:spTgt spid="37"/>
                                        </p:tgtEl>
                                        <p:attrNameLst>
                                          <p:attrName>ppt_x</p:attrName>
                                        </p:attrNameLst>
                                      </p:cBhvr>
                                      <p:tavLst>
                                        <p:tav tm="0">
                                          <p:val>
                                            <p:strVal val="#ppt_x-.05"/>
                                          </p:val>
                                        </p:tav>
                                        <p:tav tm="100000">
                                          <p:val>
                                            <p:strVal val="#ppt_x"/>
                                          </p:val>
                                        </p:tav>
                                      </p:tavLst>
                                    </p:anim>
                                    <p:anim calcmode="lin" valueType="num">
                                      <p:cBhvr additive="base">
                                        <p:cTn id="140" dur="400" fill="hold"/>
                                        <p:tgtEl>
                                          <p:spTgt spid="37"/>
                                        </p:tgtEl>
                                        <p:attrNameLst>
                                          <p:attrName>ppt_y</p:attrName>
                                        </p:attrNameLst>
                                      </p:cBhvr>
                                      <p:tavLst>
                                        <p:tav tm="0">
                                          <p:val>
                                            <p:strVal val="#ppt_y"/>
                                          </p:val>
                                        </p:tav>
                                        <p:tav tm="100000">
                                          <p:val>
                                            <p:strVal val="#ppt_y"/>
                                          </p:val>
                                        </p:tav>
                                      </p:tavLst>
                                    </p:anim>
                                  </p:childTnLst>
                                </p:cTn>
                              </p:par>
                              <p:par>
                                <p:cTn id="144" presetID="10" presetClass="exit" presetSubtype="0" fill="hold" grpId="1" nodeType="withEffect">
                                  <p:stCondLst>
                                    <p:cond delay="22204"/>
                                  </p:stCondLst>
                                  <p:childTnLst>
                                    <p:animEffect transition="out" filter="fade">
                                      <p:cBhvr>
                                        <p:cTn id="142" dur="200"/>
                                        <p:tgtEl>
                                          <p:spTgt spid="35"/>
                                        </p:tgtEl>
                                      </p:cBhvr>
                                    </p:animEffect>
                                    <p:set>
                                      <p:cBhvr>
                                        <p:cTn id="143" dur="1" fill="hold">
                                          <p:stCondLst>
                                            <p:cond delay="199"/>
                                          </p:stCondLst>
                                        </p:cTn>
                                        <p:tgtEl>
                                          <p:spTgt spid="35"/>
                                        </p:tgtEl>
                                        <p:attrNameLst>
                                          <p:attrName>style.visibility</p:attrName>
                                        </p:attrNameLst>
                                      </p:cBhvr>
                                      <p:to>
                                        <p:strVal val="hidden"/>
                                      </p:to>
                                    </p:set>
                                  </p:childTnLst>
                                </p:cTn>
                              </p:par>
                              <p:par>
                                <p:cTn id="147" presetID="10" presetClass="exit" presetSubtype="0" fill="hold" grpId="1" nodeType="withEffect">
                                  <p:stCondLst>
                                    <p:cond delay="22233"/>
                                  </p:stCondLst>
                                  <p:childTnLst>
                                    <p:animEffect transition="out" filter="fade">
                                      <p:cBhvr>
                                        <p:cTn id="145" dur="200"/>
                                        <p:tgtEl>
                                          <p:spTgt spid="36"/>
                                        </p:tgtEl>
                                      </p:cBhvr>
                                    </p:animEffect>
                                    <p:set>
                                      <p:cBhvr>
                                        <p:cTn id="146" dur="1" fill="hold">
                                          <p:stCondLst>
                                            <p:cond delay="199"/>
                                          </p:stCondLst>
                                        </p:cTn>
                                        <p:tgtEl>
                                          <p:spTgt spid="36"/>
                                        </p:tgtEl>
                                        <p:attrNameLst>
                                          <p:attrName>style.visibility</p:attrName>
                                        </p:attrNameLst>
                                      </p:cBhvr>
                                      <p:to>
                                        <p:strVal val="hidden"/>
                                      </p:to>
                                    </p:set>
                                  </p:childTnLst>
                                </p:cTn>
                              </p:par>
                              <p:par>
                                <p:cTn id="152" presetID="53" presetClass="entr" presetSubtype="16" fill="hold" grpId="0" nodeType="withEffect">
                                  <p:stCondLst>
                                    <p:cond delay="22262"/>
                                  </p:stCondLst>
                                  <p:childTnLst>
                                    <p:set>
                                      <p:cBhvr>
                                        <p:cTn id="148" dur="1" fill="hold">
                                          <p:stCondLst>
                                            <p:cond delay="0"/>
                                          </p:stCondLst>
                                        </p:cTn>
                                        <p:tgtEl>
                                          <p:spTgt spid="14"/>
                                        </p:tgtEl>
                                        <p:attrNameLst>
                                          <p:attrName>style.visibility</p:attrName>
                                        </p:attrNameLst>
                                      </p:cBhvr>
                                      <p:to>
                                        <p:strVal val="visible"/>
                                      </p:to>
                                    </p:set>
                                    <p:anim calcmode="lin" valueType="num">
                                      <p:cBhvr additive="base">
                                        <p:cTn id="149" dur="450" fill="hold"/>
                                        <p:tgtEl>
                                          <p:spTgt spid="14"/>
                                        </p:tgtEl>
                                        <p:attrNameLst>
                                          <p:attrName>ppt_w</p:attrName>
                                        </p:attrNameLst>
                                      </p:cBhvr>
                                      <p:tavLst>
                                        <p:tav tm="0">
                                          <p:val>
                                            <p:strVal val="0"/>
                                          </p:val>
                                        </p:tav>
                                        <p:tav tm="100000">
                                          <p:val>
                                            <p:strVal val="#ppt_w"/>
                                          </p:val>
                                        </p:tav>
                                      </p:tavLst>
                                    </p:anim>
                                    <p:anim calcmode="lin" valueType="num">
                                      <p:cBhvr additive="base">
                                        <p:cTn id="150" dur="450" fill="hold"/>
                                        <p:tgtEl>
                                          <p:spTgt spid="14"/>
                                        </p:tgtEl>
                                        <p:attrNameLst>
                                          <p:attrName>ppt_h</p:attrName>
                                        </p:attrNameLst>
                                      </p:cBhvr>
                                      <p:tavLst>
                                        <p:tav tm="0">
                                          <p:val>
                                            <p:strVal val="0"/>
                                          </p:val>
                                        </p:tav>
                                        <p:tav tm="100000">
                                          <p:val>
                                            <p:strVal val="#ppt_h"/>
                                          </p:val>
                                        </p:tav>
                                      </p:tavLst>
                                    </p:anim>
                                    <p:animEffect transition="in" filter="fade">
                                      <p:cBhvr>
                                        <p:cTn id="151" dur="450"/>
                                        <p:tgtEl>
                                          <p:spTgt spid="14"/>
                                        </p:tgtEl>
                                      </p:cBhvr>
                                    </p:animEffect>
                                  </p:childTnLst>
                                </p:cTn>
                              </p:par>
                              <p:par>
                                <p:cTn id="157" presetID="42" presetClass="entr" presetSubtype="0" fill="hold" grpId="0" nodeType="withEffect">
                                  <p:stCondLst>
                                    <p:cond delay="22291"/>
                                  </p:stCondLst>
                                  <p:childTnLst>
                                    <p:set>
                                      <p:cBhvr>
                                        <p:cTn id="153" dur="1" fill="hold">
                                          <p:stCondLst>
                                            <p:cond delay="0"/>
                                          </p:stCondLst>
                                        </p:cTn>
                                        <p:tgtEl>
                                          <p:spTgt spid="38"/>
                                        </p:tgtEl>
                                        <p:attrNameLst>
                                          <p:attrName>style.visibility</p:attrName>
                                        </p:attrNameLst>
                                      </p:cBhvr>
                                      <p:to>
                                        <p:strVal val="visible"/>
                                      </p:to>
                                    </p:set>
                                    <p:animEffect transition="in" filter="fade">
                                      <p:cBhvr>
                                        <p:cTn id="154" dur="300"/>
                                        <p:tgtEl>
                                          <p:spTgt spid="38"/>
                                        </p:tgtEl>
                                      </p:cBhvr>
                                    </p:animEffect>
                                    <p:anim calcmode="lin" valueType="num">
                                      <p:cBhvr additive="base">
                                        <p:cTn id="155" dur="300" fill="hold"/>
                                        <p:tgtEl>
                                          <p:spTgt spid="38"/>
                                        </p:tgtEl>
                                        <p:attrNameLst>
                                          <p:attrName>ppt_x</p:attrName>
                                        </p:attrNameLst>
                                      </p:cBhvr>
                                      <p:tavLst>
                                        <p:tav tm="0">
                                          <p:val>
                                            <p:strVal val="#ppt_x-.05"/>
                                          </p:val>
                                        </p:tav>
                                        <p:tav tm="100000">
                                          <p:val>
                                            <p:strVal val="#ppt_x"/>
                                          </p:val>
                                        </p:tav>
                                      </p:tavLst>
                                    </p:anim>
                                    <p:anim calcmode="lin" valueType="num">
                                      <p:cBhvr additive="base">
                                        <p:cTn id="156" dur="300" fill="hold"/>
                                        <p:tgtEl>
                                          <p:spTgt spid="38"/>
                                        </p:tgtEl>
                                        <p:attrNameLst>
                                          <p:attrName>ppt_y</p:attrName>
                                        </p:attrNameLst>
                                      </p:cBhvr>
                                      <p:tavLst>
                                        <p:tav tm="0">
                                          <p:val>
                                            <p:strVal val="#ppt_y"/>
                                          </p:val>
                                        </p:tav>
                                        <p:tav tm="100000">
                                          <p:val>
                                            <p:strVal val="#ppt_y"/>
                                          </p:val>
                                        </p:tav>
                                      </p:tavLst>
                                    </p:anim>
                                  </p:childTnLst>
                                </p:cTn>
                              </p:par>
                              <p:par>
                                <p:cTn id="160" presetID="10" presetClass="entr" presetSubtype="0" fill="hold" grpId="0" nodeType="withEffect">
                                  <p:stCondLst>
                                    <p:cond delay="22320"/>
                                  </p:stCondLst>
                                  <p:childTnLst>
                                    <p:set>
                                      <p:cBhvr>
                                        <p:cTn id="158" dur="1" fill="hold">
                                          <p:stCondLst>
                                            <p:cond delay="0"/>
                                          </p:stCondLst>
                                        </p:cTn>
                                        <p:tgtEl>
                                          <p:spTgt spid="39"/>
                                        </p:tgtEl>
                                        <p:attrNameLst>
                                          <p:attrName>style.visibility</p:attrName>
                                        </p:attrNameLst>
                                      </p:cBhvr>
                                      <p:to>
                                        <p:strVal val="visible"/>
                                      </p:to>
                                    </p:set>
                                    <p:animEffect transition="in" filter="fade">
                                      <p:cBhvr>
                                        <p:cTn id="159" dur="200"/>
                                        <p:tgtEl>
                                          <p:spTgt spid="39"/>
                                        </p:tgtEl>
                                      </p:cBhvr>
                                    </p:animEffect>
                                  </p:childTnLst>
                                </p:cTn>
                              </p:par>
                              <p:par>
                                <p:cTn id="165" presetID="53" presetClass="entr" presetSubtype="32" fill="hold" grpId="0" nodeType="withEffect">
                                  <p:stCondLst>
                                    <p:cond delay="22350"/>
                                  </p:stCondLst>
                                  <p:childTnLst>
                                    <p:set>
                                      <p:cBhvr>
                                        <p:cTn id="161" dur="1" fill="hold">
                                          <p:stCondLst>
                                            <p:cond delay="0"/>
                                          </p:stCondLst>
                                        </p:cTn>
                                        <p:tgtEl>
                                          <p:spTgt spid="15"/>
                                        </p:tgtEl>
                                        <p:attrNameLst>
                                          <p:attrName>style.visibility</p:attrName>
                                        </p:attrNameLst>
                                      </p:cBhvr>
                                      <p:to>
                                        <p:strVal val="visible"/>
                                      </p:to>
                                    </p:set>
                                    <p:anim calcmode="lin" valueType="num">
                                      <p:cBhvr additive="base">
                                        <p:cTn id="162" dur="400" fill="hold"/>
                                        <p:tgtEl>
                                          <p:spTgt spid="15"/>
                                        </p:tgtEl>
                                        <p:attrNameLst>
                                          <p:attrName>ppt_w</p:attrName>
                                        </p:attrNameLst>
                                      </p:cBhvr>
                                      <p:tavLst>
                                        <p:tav tm="0">
                                          <p:val>
                                            <p:strVal val="#ppt_w*2.4"/>
                                          </p:val>
                                        </p:tav>
                                        <p:tav tm="100000">
                                          <p:val>
                                            <p:strVal val="#ppt_w"/>
                                          </p:val>
                                        </p:tav>
                                      </p:tavLst>
                                    </p:anim>
                                    <p:anim calcmode="lin" valueType="num">
                                      <p:cBhvr additive="base">
                                        <p:cTn id="163" dur="400" fill="hold"/>
                                        <p:tgtEl>
                                          <p:spTgt spid="15"/>
                                        </p:tgtEl>
                                        <p:attrNameLst>
                                          <p:attrName>ppt_h</p:attrName>
                                        </p:attrNameLst>
                                      </p:cBhvr>
                                      <p:tavLst>
                                        <p:tav tm="0">
                                          <p:val>
                                            <p:strVal val="#ppt_h*2.4"/>
                                          </p:val>
                                        </p:tav>
                                        <p:tav tm="100000">
                                          <p:val>
                                            <p:strVal val="#ppt_h"/>
                                          </p:val>
                                        </p:tav>
                                      </p:tavLst>
                                    </p:anim>
                                    <p:animEffect transition="in" filter="fade">
                                      <p:cBhvr>
                                        <p:cTn id="164" dur="400"/>
                                        <p:tgtEl>
                                          <p:spTgt spid="15"/>
                                        </p:tgtEl>
                                      </p:cBhvr>
                                    </p:animEffect>
                                  </p:childTnLst>
                                </p:cTn>
                              </p:par>
                              <p:par>
                                <p:cTn id="168" presetID="10" presetClass="exit" presetSubtype="0" fill="hold" grpId="1" nodeType="withEffect">
                                  <p:stCondLst>
                                    <p:cond delay="26050"/>
                                  </p:stCondLst>
                                  <p:childTnLst>
                                    <p:animEffect transition="out" filter="fade">
                                      <p:cBhvr>
                                        <p:cTn id="166" dur="250"/>
                                        <p:tgtEl>
                                          <p:spTgt spid="14"/>
                                        </p:tgtEl>
                                      </p:cBhvr>
                                    </p:animEffect>
                                    <p:set>
                                      <p:cBhvr>
                                        <p:cTn id="167" dur="1" fill="hold">
                                          <p:stCondLst>
                                            <p:cond delay="249"/>
                                          </p:stCondLst>
                                        </p:cTn>
                                        <p:tgtEl>
                                          <p:spTgt spid="14"/>
                                        </p:tgtEl>
                                        <p:attrNameLst>
                                          <p:attrName>style.visibility</p:attrName>
                                        </p:attrNameLst>
                                      </p:cBhvr>
                                      <p:to>
                                        <p:strVal val="hidden"/>
                                      </p:to>
                                    </p:set>
                                  </p:childTnLst>
                                </p:cTn>
                              </p:par>
                              <p:par>
                                <p:cTn id="171" presetID="10" presetClass="exit" presetSubtype="0" fill="hold" grpId="1" nodeType="withEffect">
                                  <p:stCondLst>
                                    <p:cond delay="26073"/>
                                  </p:stCondLst>
                                  <p:childTnLst>
                                    <p:animEffect transition="out" filter="fade">
                                      <p:cBhvr>
                                        <p:cTn id="169" dur="250"/>
                                        <p:tgtEl>
                                          <p:spTgt spid="15"/>
                                        </p:tgtEl>
                                      </p:cBhvr>
                                    </p:animEffect>
                                    <p:set>
                                      <p:cBhvr>
                                        <p:cTn id="170" dur="1" fill="hold">
                                          <p:stCondLst>
                                            <p:cond delay="249"/>
                                          </p:stCondLst>
                                        </p:cTn>
                                        <p:tgtEl>
                                          <p:spTgt spid="15"/>
                                        </p:tgtEl>
                                        <p:attrNameLst>
                                          <p:attrName>style.visibility</p:attrName>
                                        </p:attrNameLst>
                                      </p:cBhvr>
                                      <p:to>
                                        <p:strVal val="hidden"/>
                                      </p:to>
                                    </p:set>
                                  </p:childTnLst>
                                </p:cTn>
                              </p:par>
                              <p:par>
                                <p:cTn id="174" presetID="10" presetClass="entr" presetSubtype="0" fill="hold" grpId="0" nodeType="withEffect">
                                  <p:stCondLst>
                                    <p:cond delay="26096"/>
                                  </p:stCondLst>
                                  <p:childTnLst>
                                    <p:set>
                                      <p:cBhvr>
                                        <p:cTn id="172" dur="1" fill="hold">
                                          <p:stCondLst>
                                            <p:cond delay="0"/>
                                          </p:stCondLst>
                                        </p:cTn>
                                        <p:tgtEl>
                                          <p:spTgt spid="40"/>
                                        </p:tgtEl>
                                        <p:attrNameLst>
                                          <p:attrName>style.visibility</p:attrName>
                                        </p:attrNameLst>
                                      </p:cBhvr>
                                      <p:to>
                                        <p:strVal val="visible"/>
                                      </p:to>
                                    </p:set>
                                    <p:animEffect transition="in" filter="fade">
                                      <p:cBhvr>
                                        <p:cTn id="173" dur="80"/>
                                        <p:tgtEl>
                                          <p:spTgt spid="40"/>
                                        </p:tgtEl>
                                      </p:cBhvr>
                                    </p:animEffect>
                                  </p:childTnLst>
                                </p:cTn>
                              </p:par>
                              <p:par>
                                <p:cTn id="179" presetID="53" presetClass="entr" presetSubtype="16" fill="hold" grpId="0" nodeType="withEffect">
                                  <p:stCondLst>
                                    <p:cond delay="26120"/>
                                  </p:stCondLst>
                                  <p:childTnLst>
                                    <p:set>
                                      <p:cBhvr>
                                        <p:cTn id="175" dur="1" fill="hold">
                                          <p:stCondLst>
                                            <p:cond delay="0"/>
                                          </p:stCondLst>
                                        </p:cTn>
                                        <p:tgtEl>
                                          <p:spTgt spid="8"/>
                                        </p:tgtEl>
                                        <p:attrNameLst>
                                          <p:attrName>style.visibility</p:attrName>
                                        </p:attrNameLst>
                                      </p:cBhvr>
                                      <p:to>
                                        <p:strVal val="visible"/>
                                      </p:to>
                                    </p:set>
                                    <p:anim calcmode="lin" valueType="num">
                                      <p:cBhvr additive="base">
                                        <p:cTn id="176" dur="300" fill="hold"/>
                                        <p:tgtEl>
                                          <p:spTgt spid="8"/>
                                        </p:tgtEl>
                                        <p:attrNameLst>
                                          <p:attrName>ppt_w</p:attrName>
                                        </p:attrNameLst>
                                      </p:cBhvr>
                                      <p:tavLst>
                                        <p:tav tm="0">
                                          <p:val>
                                            <p:strVal val="0"/>
                                          </p:val>
                                        </p:tav>
                                        <p:tav tm="100000">
                                          <p:val>
                                            <p:strVal val="#ppt_w"/>
                                          </p:val>
                                        </p:tav>
                                      </p:tavLst>
                                    </p:anim>
                                    <p:anim calcmode="lin" valueType="num">
                                      <p:cBhvr additive="base">
                                        <p:cTn id="177" dur="300" fill="hold"/>
                                        <p:tgtEl>
                                          <p:spTgt spid="8"/>
                                        </p:tgtEl>
                                        <p:attrNameLst>
                                          <p:attrName>ppt_h</p:attrName>
                                        </p:attrNameLst>
                                      </p:cBhvr>
                                      <p:tavLst>
                                        <p:tav tm="0">
                                          <p:val>
                                            <p:strVal val="0"/>
                                          </p:val>
                                        </p:tav>
                                        <p:tav tm="100000">
                                          <p:val>
                                            <p:strVal val="#ppt_h"/>
                                          </p:val>
                                        </p:tav>
                                      </p:tavLst>
                                    </p:anim>
                                    <p:animEffect transition="in" filter="fade">
                                      <p:cBhvr>
                                        <p:cTn id="178" dur="300"/>
                                        <p:tgtEl>
                                          <p:spTgt spid="8"/>
                                        </p:tgtEl>
                                      </p:cBhvr>
                                    </p:animEffect>
                                  </p:childTnLst>
                                </p:cTn>
                              </p:par>
                              <p:par>
                                <p:cTn id="184" presetID="53" presetClass="entr" presetSubtype="16" fill="hold" grpId="0" nodeType="withEffect">
                                  <p:stCondLst>
                                    <p:cond delay="26143"/>
                                  </p:stCondLst>
                                  <p:childTnLst>
                                    <p:set>
                                      <p:cBhvr>
                                        <p:cTn id="180" dur="1" fill="hold">
                                          <p:stCondLst>
                                            <p:cond delay="0"/>
                                          </p:stCondLst>
                                        </p:cTn>
                                        <p:tgtEl>
                                          <p:spTgt spid="9"/>
                                        </p:tgtEl>
                                        <p:attrNameLst>
                                          <p:attrName>style.visibility</p:attrName>
                                        </p:attrNameLst>
                                      </p:cBhvr>
                                      <p:to>
                                        <p:strVal val="visible"/>
                                      </p:to>
                                    </p:set>
                                    <p:anim calcmode="lin" valueType="num">
                                      <p:cBhvr additive="base">
                                        <p:cTn id="181" dur="350" fill="hold"/>
                                        <p:tgtEl>
                                          <p:spTgt spid="9"/>
                                        </p:tgtEl>
                                        <p:attrNameLst>
                                          <p:attrName>ppt_w</p:attrName>
                                        </p:attrNameLst>
                                      </p:cBhvr>
                                      <p:tavLst>
                                        <p:tav tm="0">
                                          <p:val>
                                            <p:strVal val="0"/>
                                          </p:val>
                                        </p:tav>
                                        <p:tav tm="100000">
                                          <p:val>
                                            <p:strVal val="#ppt_w"/>
                                          </p:val>
                                        </p:tav>
                                      </p:tavLst>
                                    </p:anim>
                                    <p:anim calcmode="lin" valueType="num">
                                      <p:cBhvr additive="base">
                                        <p:cTn id="182" dur="350" fill="hold"/>
                                        <p:tgtEl>
                                          <p:spTgt spid="9"/>
                                        </p:tgtEl>
                                        <p:attrNameLst>
                                          <p:attrName>ppt_h</p:attrName>
                                        </p:attrNameLst>
                                      </p:cBhvr>
                                      <p:tavLst>
                                        <p:tav tm="0">
                                          <p:val>
                                            <p:strVal val="0"/>
                                          </p:val>
                                        </p:tav>
                                        <p:tav tm="100000">
                                          <p:val>
                                            <p:strVal val="#ppt_h"/>
                                          </p:val>
                                        </p:tav>
                                      </p:tavLst>
                                    </p:anim>
                                    <p:animEffect transition="in" filter="fade">
                                      <p:cBhvr>
                                        <p:cTn id="183" dur="350"/>
                                        <p:tgtEl>
                                          <p:spTgt spid="9"/>
                                        </p:tgtEl>
                                      </p:cBhvr>
                                    </p:animEffect>
                                  </p:childTnLst>
                                </p:cTn>
                              </p:par>
                              <p:par>
                                <p:cTn id="189" presetID="53" presetClass="entr" presetSubtype="32" fill="hold" grpId="0" nodeType="withEffect">
                                  <p:stCondLst>
                                    <p:cond delay="26190"/>
                                  </p:stCondLst>
                                  <p:childTnLst>
                                    <p:set>
                                      <p:cBhvr>
                                        <p:cTn id="185" dur="1" fill="hold">
                                          <p:stCondLst>
                                            <p:cond delay="0"/>
                                          </p:stCondLst>
                                        </p:cTn>
                                        <p:tgtEl>
                                          <p:spTgt spid="16"/>
                                        </p:tgtEl>
                                        <p:attrNameLst>
                                          <p:attrName>style.visibility</p:attrName>
                                        </p:attrNameLst>
                                      </p:cBhvr>
                                      <p:to>
                                        <p:strVal val="visible"/>
                                      </p:to>
                                    </p:set>
                                    <p:anim calcmode="lin" valueType="num">
                                      <p:cBhvr additive="base">
                                        <p:cTn id="186" dur="450" fill="hold"/>
                                        <p:tgtEl>
                                          <p:spTgt spid="16"/>
                                        </p:tgtEl>
                                        <p:attrNameLst>
                                          <p:attrName>ppt_w</p:attrName>
                                        </p:attrNameLst>
                                      </p:cBhvr>
                                      <p:tavLst>
                                        <p:tav tm="0">
                                          <p:val>
                                            <p:strVal val="#ppt_w*2.4"/>
                                          </p:val>
                                        </p:tav>
                                        <p:tav tm="100000">
                                          <p:val>
                                            <p:strVal val="#ppt_w"/>
                                          </p:val>
                                        </p:tav>
                                      </p:tavLst>
                                    </p:anim>
                                    <p:anim calcmode="lin" valueType="num">
                                      <p:cBhvr additive="base">
                                        <p:cTn id="187" dur="450" fill="hold"/>
                                        <p:tgtEl>
                                          <p:spTgt spid="16"/>
                                        </p:tgtEl>
                                        <p:attrNameLst>
                                          <p:attrName>ppt_h</p:attrName>
                                        </p:attrNameLst>
                                      </p:cBhvr>
                                      <p:tavLst>
                                        <p:tav tm="0">
                                          <p:val>
                                            <p:strVal val="#ppt_h*2.4"/>
                                          </p:val>
                                        </p:tav>
                                        <p:tav tm="100000">
                                          <p:val>
                                            <p:strVal val="#ppt_h"/>
                                          </p:val>
                                        </p:tav>
                                      </p:tavLst>
                                    </p:anim>
                                    <p:animEffect transition="in" filter="fade">
                                      <p:cBhvr>
                                        <p:cTn id="188" dur="450"/>
                                        <p:tgtEl>
                                          <p:spTgt spid="16"/>
                                        </p:tgtEl>
                                      </p:cBhvr>
                                    </p:animEffect>
                                  </p:childTnLst>
                                </p:cTn>
                              </p:par>
                              <p:par>
                                <p:cTn id="192" presetID="10" presetClass="exit" presetSubtype="0" fill="hold" grpId="1" nodeType="withEffect">
                                  <p:stCondLst>
                                    <p:cond delay="26213"/>
                                  </p:stCondLst>
                                  <p:childTnLst>
                                    <p:animEffect transition="out" filter="fade">
                                      <p:cBhvr>
                                        <p:cTn id="190" dur="200"/>
                                        <p:tgtEl>
                                          <p:spTgt spid="38"/>
                                        </p:tgtEl>
                                      </p:cBhvr>
                                    </p:animEffect>
                                    <p:set>
                                      <p:cBhvr>
                                        <p:cTn id="191" dur="1" fill="hold">
                                          <p:stCondLst>
                                            <p:cond delay="199"/>
                                          </p:stCondLst>
                                        </p:cTn>
                                        <p:tgtEl>
                                          <p:spTgt spid="38"/>
                                        </p:tgtEl>
                                        <p:attrNameLst>
                                          <p:attrName>style.visibility</p:attrName>
                                        </p:attrNameLst>
                                      </p:cBhvr>
                                      <p:to>
                                        <p:strVal val="hidden"/>
                                      </p:to>
                                    </p:set>
                                  </p:childTnLst>
                                </p:cTn>
                              </p:par>
                              <p:par>
                                <p:cTn id="195" presetID="10" presetClass="exit" presetSubtype="0" fill="hold" grpId="1" nodeType="withEffect">
                                  <p:stCondLst>
                                    <p:cond delay="26216"/>
                                  </p:stCondLst>
                                  <p:childTnLst>
                                    <p:animEffect transition="out" filter="fade">
                                      <p:cBhvr>
                                        <p:cTn id="193" dur="300"/>
                                        <p:tgtEl>
                                          <p:spTgt spid="40"/>
                                        </p:tgtEl>
                                      </p:cBhvr>
                                    </p:animEffect>
                                    <p:set>
                                      <p:cBhvr>
                                        <p:cTn id="194" dur="1" fill="hold">
                                          <p:stCondLst>
                                            <p:cond delay="299"/>
                                          </p:stCondLst>
                                        </p:cTn>
                                        <p:tgtEl>
                                          <p:spTgt spid="40"/>
                                        </p:tgtEl>
                                        <p:attrNameLst>
                                          <p:attrName>style.visibility</p:attrName>
                                        </p:attrNameLst>
                                      </p:cBhvr>
                                      <p:to>
                                        <p:strVal val="hidden"/>
                                      </p:to>
                                    </p:set>
                                  </p:childTnLst>
                                </p:cTn>
                              </p:par>
                              <p:par>
                                <p:cTn id="198" presetID="10" presetClass="exit" presetSubtype="0" fill="hold" grpId="1" nodeType="withEffect">
                                  <p:stCondLst>
                                    <p:cond delay="26236"/>
                                  </p:stCondLst>
                                  <p:childTnLst>
                                    <p:animEffect transition="out" filter="fade">
                                      <p:cBhvr>
                                        <p:cTn id="196" dur="200"/>
                                        <p:tgtEl>
                                          <p:spTgt spid="39"/>
                                        </p:tgtEl>
                                      </p:cBhvr>
                                    </p:animEffect>
                                    <p:set>
                                      <p:cBhvr>
                                        <p:cTn id="197" dur="1" fill="hold">
                                          <p:stCondLst>
                                            <p:cond delay="199"/>
                                          </p:stCondLst>
                                        </p:cTn>
                                        <p:tgtEl>
                                          <p:spTgt spid="39"/>
                                        </p:tgtEl>
                                        <p:attrNameLst>
                                          <p:attrName>style.visibility</p:attrName>
                                        </p:attrNameLst>
                                      </p:cBhvr>
                                      <p:to>
                                        <p:strVal val="hidden"/>
                                      </p:to>
                                    </p:set>
                                  </p:childTnLst>
                                </p:cTn>
                              </p:par>
                              <p:par>
                                <p:cTn id="201" presetID="10" presetClass="exit" presetSubtype="0" fill="hold" grpId="1" nodeType="withEffect">
                                  <p:stCondLst>
                                    <p:cond delay="26260"/>
                                  </p:stCondLst>
                                  <p:childTnLst>
                                    <p:animEffect transition="out" filter="fade">
                                      <p:cBhvr>
                                        <p:cTn id="199" dur="220"/>
                                        <p:tgtEl>
                                          <p:spTgt spid="21"/>
                                        </p:tgtEl>
                                      </p:cBhvr>
                                    </p:animEffect>
                                    <p:set>
                                      <p:cBhvr>
                                        <p:cTn id="200" dur="1" fill="hold">
                                          <p:stCondLst>
                                            <p:cond delay="219"/>
                                          </p:stCondLst>
                                        </p:cTn>
                                        <p:tgtEl>
                                          <p:spTgt spid="21"/>
                                        </p:tgtEl>
                                        <p:attrNameLst>
                                          <p:attrName>style.visibility</p:attrName>
                                        </p:attrNameLst>
                                      </p:cBhvr>
                                      <p:to>
                                        <p:strVal val="hidden"/>
                                      </p:to>
                                    </p:set>
                                  </p:childTnLst>
                                </p:cTn>
                              </p:par>
                              <p:par>
                                <p:cTn id="204" presetID="10" presetClass="entr" presetSubtype="0" fill="hold" grpId="0" nodeType="withEffect">
                                  <p:stCondLst>
                                    <p:cond delay="26283"/>
                                  </p:stCondLst>
                                  <p:childTnLst>
                                    <p:set>
                                      <p:cBhvr>
                                        <p:cTn id="202" dur="1" fill="hold">
                                          <p:stCondLst>
                                            <p:cond delay="0"/>
                                          </p:stCondLst>
                                        </p:cTn>
                                        <p:tgtEl>
                                          <p:spTgt spid="22"/>
                                        </p:tgtEl>
                                        <p:attrNameLst>
                                          <p:attrName>style.visibility</p:attrName>
                                        </p:attrNameLst>
                                      </p:cBhvr>
                                      <p:to>
                                        <p:strVal val="visible"/>
                                      </p:to>
                                    </p:set>
                                    <p:animEffect transition="in" filter="fade">
                                      <p:cBhvr>
                                        <p:cTn id="203" dur="220"/>
                                        <p:tgtEl>
                                          <p:spTgt spid="22"/>
                                        </p:tgtEl>
                                      </p:cBhvr>
                                    </p:animEffect>
                                  </p:childTnLst>
                                </p:cTn>
                              </p:par>
                              <p:par>
                                <p:cTn id="209" presetID="42" presetClass="entr" presetSubtype="0" fill="hold" grpId="0" nodeType="withEffect">
                                  <p:stCondLst>
                                    <p:cond delay="26306"/>
                                  </p:stCondLst>
                                  <p:childTnLst>
                                    <p:set>
                                      <p:cBhvr>
                                        <p:cTn id="205" dur="1" fill="hold">
                                          <p:stCondLst>
                                            <p:cond delay="0"/>
                                          </p:stCondLst>
                                        </p:cTn>
                                        <p:tgtEl>
                                          <p:spTgt spid="41"/>
                                        </p:tgtEl>
                                        <p:attrNameLst>
                                          <p:attrName>style.visibility</p:attrName>
                                        </p:attrNameLst>
                                      </p:cBhvr>
                                      <p:to>
                                        <p:strVal val="visible"/>
                                      </p:to>
                                    </p:set>
                                    <p:animEffect transition="in" filter="fade">
                                      <p:cBhvr>
                                        <p:cTn id="206" dur="300"/>
                                        <p:tgtEl>
                                          <p:spTgt spid="41"/>
                                        </p:tgtEl>
                                      </p:cBhvr>
                                    </p:animEffect>
                                    <p:anim calcmode="lin" valueType="num">
                                      <p:cBhvr additive="base">
                                        <p:cTn id="207" dur="300" fill="hold"/>
                                        <p:tgtEl>
                                          <p:spTgt spid="41"/>
                                        </p:tgtEl>
                                        <p:attrNameLst>
                                          <p:attrName>ppt_x</p:attrName>
                                        </p:attrNameLst>
                                      </p:cBhvr>
                                      <p:tavLst>
                                        <p:tav tm="0">
                                          <p:val>
                                            <p:strVal val="#ppt_x-.05"/>
                                          </p:val>
                                        </p:tav>
                                        <p:tav tm="100000">
                                          <p:val>
                                            <p:strVal val="#ppt_x"/>
                                          </p:val>
                                        </p:tav>
                                      </p:tavLst>
                                    </p:anim>
                                    <p:anim calcmode="lin" valueType="num">
                                      <p:cBhvr additive="base">
                                        <p:cTn id="208" dur="300" fill="hold"/>
                                        <p:tgtEl>
                                          <p:spTgt spid="41"/>
                                        </p:tgtEl>
                                        <p:attrNameLst>
                                          <p:attrName>ppt_y</p:attrName>
                                        </p:attrNameLst>
                                      </p:cBhvr>
                                      <p:tavLst>
                                        <p:tav tm="0">
                                          <p:val>
                                            <p:strVal val="#ppt_y"/>
                                          </p:val>
                                        </p:tav>
                                        <p:tav tm="100000">
                                          <p:val>
                                            <p:strVal val="#ppt_y"/>
                                          </p:val>
                                        </p:tav>
                                      </p:tavLst>
                                    </p:anim>
                                  </p:childTnLst>
                                </p:cTn>
                              </p:par>
                              <p:par>
                                <p:cTn id="211" presetID="8" presetClass="emph" presetSubtype="0" fill="hold" grpId="1" nodeType="withEffect" repeatCount="indefinite">
                                  <p:stCondLst>
                                    <p:cond delay="26330"/>
                                  </p:stCondLst>
                                  <p:childTnLst>
                                    <p:animRot by="21600000">
                                      <p:cBhvr>
                                        <p:cTn id="210" dur="9000" fill="hold"/>
                                        <p:tgtEl>
                                          <p:spTgt spid="9"/>
                                        </p:tgtEl>
                                        <p:attrNameLst>
                                          <p:attrName>r</p:attrName>
                                        </p:attrNameLst>
                                      </p:cBhvr>
                                    </p:animRot>
                                  </p:childTnLst>
                                </p:cTn>
                              </p:par>
                              <p:par>
                                <p:cTn id="214" presetID="10" presetClass="entr" presetSubtype="0" fill="hold" grpId="0" nodeType="withEffect">
                                  <p:stCondLst>
                                    <p:cond delay="26353"/>
                                  </p:stCondLst>
                                  <p:childTnLst>
                                    <p:set>
                                      <p:cBhvr>
                                        <p:cTn id="212" dur="1" fill="hold">
                                          <p:stCondLst>
                                            <p:cond delay="0"/>
                                          </p:stCondLst>
                                        </p:cTn>
                                        <p:tgtEl>
                                          <p:spTgt spid="42"/>
                                        </p:tgtEl>
                                        <p:attrNameLst>
                                          <p:attrName>style.visibility</p:attrName>
                                        </p:attrNameLst>
                                      </p:cBhvr>
                                      <p:to>
                                        <p:strVal val="visible"/>
                                      </p:to>
                                    </p:set>
                                    <p:animEffect transition="in" filter="fade">
                                      <p:cBhvr>
                                        <p:cTn id="213" dur="200"/>
                                        <p:tgtEl>
                                          <p:spTgt spid="42"/>
                                        </p:tgtEl>
                                      </p:cBhvr>
                                    </p:animEffect>
                                  </p:childTnLst>
                                </p:cTn>
                              </p:par>
                              <p:par>
                                <p:cTn id="216" presetID="0" presetClass="path" presetSubtype="0" fill="hold" grpId="1" nodeType="withEffect" autoRev="1" repeatCount="6000">
                                  <p:stCondLst>
                                    <p:cond delay="26376"/>
                                  </p:stCondLst>
                                  <p:childTnLst>
                                    <p:animMotion origin="layout" path="M 0 0 L 0 -0.012 E" pathEditMode="relative" ptsTypes="AA">
                                      <p:cBhvr>
                                        <p:cTn id="215" dur="260" fill="hold"/>
                                        <p:tgtEl>
                                          <p:spTgt spid="22"/>
                                        </p:tgtEl>
                                        <p:attrNameLst>
                                          <p:attrName>ppt_x</p:attrName>
                                          <p:attrName>ppt_y</p:attrName>
                                        </p:attrNameLst>
                                      </p:cBhvr>
                                    </p:animMotion>
                                  </p:childTnLst>
                                </p:cTn>
                              </p:par>
                              <p:par>
                                <p:cTn id="221" presetID="53" presetClass="entr" presetSubtype="32" fill="hold" grpId="0" nodeType="withEffect">
                                  <p:stCondLst>
                                    <p:cond delay="26400"/>
                                  </p:stCondLst>
                                  <p:childTnLst>
                                    <p:set>
                                      <p:cBhvr>
                                        <p:cTn id="217" dur="1" fill="hold">
                                          <p:stCondLst>
                                            <p:cond delay="0"/>
                                          </p:stCondLst>
                                        </p:cTn>
                                        <p:tgtEl>
                                          <p:spTgt spid="17"/>
                                        </p:tgtEl>
                                        <p:attrNameLst>
                                          <p:attrName>style.visibility</p:attrName>
                                        </p:attrNameLst>
                                      </p:cBhvr>
                                      <p:to>
                                        <p:strVal val="visible"/>
                                      </p:to>
                                    </p:set>
                                    <p:anim calcmode="lin" valueType="num">
                                      <p:cBhvr additive="base">
                                        <p:cTn id="218" dur="450" fill="hold"/>
                                        <p:tgtEl>
                                          <p:spTgt spid="17"/>
                                        </p:tgtEl>
                                        <p:attrNameLst>
                                          <p:attrName>ppt_w</p:attrName>
                                        </p:attrNameLst>
                                      </p:cBhvr>
                                      <p:tavLst>
                                        <p:tav tm="0">
                                          <p:val>
                                            <p:strVal val="#ppt_w*2.4"/>
                                          </p:val>
                                        </p:tav>
                                        <p:tav tm="100000">
                                          <p:val>
                                            <p:strVal val="#ppt_w"/>
                                          </p:val>
                                        </p:tav>
                                      </p:tavLst>
                                    </p:anim>
                                    <p:anim calcmode="lin" valueType="num">
                                      <p:cBhvr additive="base">
                                        <p:cTn id="219" dur="450" fill="hold"/>
                                        <p:tgtEl>
                                          <p:spTgt spid="17"/>
                                        </p:tgtEl>
                                        <p:attrNameLst>
                                          <p:attrName>ppt_h</p:attrName>
                                        </p:attrNameLst>
                                      </p:cBhvr>
                                      <p:tavLst>
                                        <p:tav tm="0">
                                          <p:val>
                                            <p:strVal val="#ppt_h*2.4"/>
                                          </p:val>
                                        </p:tav>
                                        <p:tav tm="100000">
                                          <p:val>
                                            <p:strVal val="#ppt_h"/>
                                          </p:val>
                                        </p:tav>
                                      </p:tavLst>
                                    </p:anim>
                                    <p:animEffect transition="in" filter="fade">
                                      <p:cBhvr>
                                        <p:cTn id="220" dur="450"/>
                                        <p:tgtEl>
                                          <p:spTgt spid="17"/>
                                        </p:tgtEl>
                                      </p:cBhvr>
                                    </p:animEffect>
                                  </p:childTnLst>
                                </p:cTn>
                              </p:par>
                              <p:par>
                                <p:cTn id="224" presetID="10" presetClass="exit" presetSubtype="0" fill="hold" grpId="1" nodeType="withEffect">
                                  <p:stCondLst>
                                    <p:cond delay="31000"/>
                                  </p:stCondLst>
                                  <p:childTnLst>
                                    <p:animEffect transition="out" filter="fade">
                                      <p:cBhvr>
                                        <p:cTn id="222" dur="200"/>
                                        <p:tgtEl>
                                          <p:spTgt spid="37"/>
                                        </p:tgtEl>
                                      </p:cBhvr>
                                    </p:animEffect>
                                    <p:set>
                                      <p:cBhvr>
                                        <p:cTn id="223" dur="1" fill="hold">
                                          <p:stCondLst>
                                            <p:cond delay="199"/>
                                          </p:stCondLst>
                                        </p:cTn>
                                        <p:tgtEl>
                                          <p:spTgt spid="37"/>
                                        </p:tgtEl>
                                        <p:attrNameLst>
                                          <p:attrName>style.visibility</p:attrName>
                                        </p:attrNameLst>
                                      </p:cBhvr>
                                      <p:to>
                                        <p:strVal val="hidden"/>
                                      </p:to>
                                    </p:set>
                                  </p:childTnLst>
                                </p:cTn>
                              </p:par>
                              <p:par>
                                <p:cTn id="227" presetID="10" presetClass="exit" presetSubtype="0" fill="hold" grpId="1" nodeType="withEffect">
                                  <p:stCondLst>
                                    <p:cond delay="31025"/>
                                  </p:stCondLst>
                                  <p:childTnLst>
                                    <p:animEffect transition="out" filter="fade">
                                      <p:cBhvr>
                                        <p:cTn id="225" dur="250"/>
                                        <p:tgtEl>
                                          <p:spTgt spid="8"/>
                                        </p:tgtEl>
                                      </p:cBhvr>
                                    </p:animEffect>
                                    <p:set>
                                      <p:cBhvr>
                                        <p:cTn id="226" dur="1" fill="hold">
                                          <p:stCondLst>
                                            <p:cond delay="249"/>
                                          </p:stCondLst>
                                        </p:cTn>
                                        <p:tgtEl>
                                          <p:spTgt spid="8"/>
                                        </p:tgtEl>
                                        <p:attrNameLst>
                                          <p:attrName>style.visibility</p:attrName>
                                        </p:attrNameLst>
                                      </p:cBhvr>
                                      <p:to>
                                        <p:strVal val="hidden"/>
                                      </p:to>
                                    </p:set>
                                  </p:childTnLst>
                                </p:cTn>
                              </p:par>
                              <p:par>
                                <p:cTn id="230" presetID="10" presetClass="exit" presetSubtype="0" fill="hold" grpId="2" nodeType="withEffect">
                                  <p:stCondLst>
                                    <p:cond delay="31050"/>
                                  </p:stCondLst>
                                  <p:childTnLst>
                                    <p:animEffect transition="out" filter="fade">
                                      <p:cBhvr>
                                        <p:cTn id="228" dur="250"/>
                                        <p:tgtEl>
                                          <p:spTgt spid="9"/>
                                        </p:tgtEl>
                                      </p:cBhvr>
                                    </p:animEffect>
                                    <p:set>
                                      <p:cBhvr>
                                        <p:cTn id="229" dur="1" fill="hold">
                                          <p:stCondLst>
                                            <p:cond delay="249"/>
                                          </p:stCondLst>
                                        </p:cTn>
                                        <p:tgtEl>
                                          <p:spTgt spid="9"/>
                                        </p:tgtEl>
                                        <p:attrNameLst>
                                          <p:attrName>style.visibility</p:attrName>
                                        </p:attrNameLst>
                                      </p:cBhvr>
                                      <p:to>
                                        <p:strVal val="hidden"/>
                                      </p:to>
                                    </p:set>
                                  </p:childTnLst>
                                </p:cTn>
                              </p:par>
                              <p:par>
                                <p:cTn id="233" presetID="10" presetClass="exit" presetSubtype="0" fill="hold" grpId="1" nodeType="withEffect">
                                  <p:stCondLst>
                                    <p:cond delay="31075"/>
                                  </p:stCondLst>
                                  <p:childTnLst>
                                    <p:animEffect transition="out" filter="fade">
                                      <p:cBhvr>
                                        <p:cTn id="231" dur="250"/>
                                        <p:tgtEl>
                                          <p:spTgt spid="16"/>
                                        </p:tgtEl>
                                      </p:cBhvr>
                                    </p:animEffect>
                                    <p:set>
                                      <p:cBhvr>
                                        <p:cTn id="232" dur="1" fill="hold">
                                          <p:stCondLst>
                                            <p:cond delay="249"/>
                                          </p:stCondLst>
                                        </p:cTn>
                                        <p:tgtEl>
                                          <p:spTgt spid="16"/>
                                        </p:tgtEl>
                                        <p:attrNameLst>
                                          <p:attrName>style.visibility</p:attrName>
                                        </p:attrNameLst>
                                      </p:cBhvr>
                                      <p:to>
                                        <p:strVal val="hidden"/>
                                      </p:to>
                                    </p:set>
                                  </p:childTnLst>
                                </p:cTn>
                              </p:par>
                              <p:par>
                                <p:cTn id="236" presetID="10" presetClass="exit" presetSubtype="0" fill="hold" grpId="1" nodeType="withEffect">
                                  <p:stCondLst>
                                    <p:cond delay="31100"/>
                                  </p:stCondLst>
                                  <p:childTnLst>
                                    <p:animEffect transition="out" filter="fade">
                                      <p:cBhvr>
                                        <p:cTn id="234" dur="250"/>
                                        <p:tgtEl>
                                          <p:spTgt spid="17"/>
                                        </p:tgtEl>
                                      </p:cBhvr>
                                    </p:animEffect>
                                    <p:set>
                                      <p:cBhvr>
                                        <p:cTn id="235" dur="1" fill="hold">
                                          <p:stCondLst>
                                            <p:cond delay="249"/>
                                          </p:stCondLst>
                                        </p:cTn>
                                        <p:tgtEl>
                                          <p:spTgt spid="17"/>
                                        </p:tgtEl>
                                        <p:attrNameLst>
                                          <p:attrName>style.visibility</p:attrName>
                                        </p:attrNameLst>
                                      </p:cBhvr>
                                      <p:to>
                                        <p:strVal val="hidden"/>
                                      </p:to>
                                    </p:set>
                                  </p:childTnLst>
                                </p:cTn>
                              </p:par>
                              <p:par>
                                <p:cTn id="241" presetID="42" presetClass="entr" presetSubtype="0" fill="hold" grpId="0" nodeType="withEffect">
                                  <p:stCondLst>
                                    <p:cond delay="31125"/>
                                  </p:stCondLst>
                                  <p:childTnLst>
                                    <p:set>
                                      <p:cBhvr>
                                        <p:cTn id="237" dur="1" fill="hold">
                                          <p:stCondLst>
                                            <p:cond delay="0"/>
                                          </p:stCondLst>
                                        </p:cTn>
                                        <p:tgtEl>
                                          <p:spTgt spid="43"/>
                                        </p:tgtEl>
                                        <p:attrNameLst>
                                          <p:attrName>style.visibility</p:attrName>
                                        </p:attrNameLst>
                                      </p:cBhvr>
                                      <p:to>
                                        <p:strVal val="visible"/>
                                      </p:to>
                                    </p:set>
                                    <p:animEffect transition="in" filter="fade">
                                      <p:cBhvr>
                                        <p:cTn id="238" dur="400"/>
                                        <p:tgtEl>
                                          <p:spTgt spid="43"/>
                                        </p:tgtEl>
                                      </p:cBhvr>
                                    </p:animEffect>
                                    <p:anim calcmode="lin" valueType="num">
                                      <p:cBhvr additive="base">
                                        <p:cTn id="239" dur="400" fill="hold"/>
                                        <p:tgtEl>
                                          <p:spTgt spid="43"/>
                                        </p:tgtEl>
                                        <p:attrNameLst>
                                          <p:attrName>ppt_x</p:attrName>
                                        </p:attrNameLst>
                                      </p:cBhvr>
                                      <p:tavLst>
                                        <p:tav tm="0">
                                          <p:val>
                                            <p:strVal val="#ppt_x-.05"/>
                                          </p:val>
                                        </p:tav>
                                        <p:tav tm="100000">
                                          <p:val>
                                            <p:strVal val="#ppt_x"/>
                                          </p:val>
                                        </p:tav>
                                      </p:tavLst>
                                    </p:anim>
                                    <p:anim calcmode="lin" valueType="num">
                                      <p:cBhvr additive="base">
                                        <p:cTn id="240" dur="400" fill="hold"/>
                                        <p:tgtEl>
                                          <p:spTgt spid="43"/>
                                        </p:tgtEl>
                                        <p:attrNameLst>
                                          <p:attrName>ppt_y</p:attrName>
                                        </p:attrNameLst>
                                      </p:cBhvr>
                                      <p:tavLst>
                                        <p:tav tm="0">
                                          <p:val>
                                            <p:strVal val="#ppt_y"/>
                                          </p:val>
                                        </p:tav>
                                        <p:tav tm="100000">
                                          <p:val>
                                            <p:strVal val="#ppt_y"/>
                                          </p:val>
                                        </p:tav>
                                      </p:tavLst>
                                    </p:anim>
                                  </p:childTnLst>
                                </p:cTn>
                              </p:par>
                              <p:par>
                                <p:cTn id="244" presetID="10" presetClass="exit" presetSubtype="0" fill="hold" grpId="1" nodeType="withEffect">
                                  <p:stCondLst>
                                    <p:cond delay="31150"/>
                                  </p:stCondLst>
                                  <p:childTnLst>
                                    <p:animEffect transition="out" filter="fade">
                                      <p:cBhvr>
                                        <p:cTn id="242" dur="200"/>
                                        <p:tgtEl>
                                          <p:spTgt spid="41"/>
                                        </p:tgtEl>
                                      </p:cBhvr>
                                    </p:animEffect>
                                    <p:set>
                                      <p:cBhvr>
                                        <p:cTn id="243" dur="1" fill="hold">
                                          <p:stCondLst>
                                            <p:cond delay="199"/>
                                          </p:stCondLst>
                                        </p:cTn>
                                        <p:tgtEl>
                                          <p:spTgt spid="41"/>
                                        </p:tgtEl>
                                        <p:attrNameLst>
                                          <p:attrName>style.visibility</p:attrName>
                                        </p:attrNameLst>
                                      </p:cBhvr>
                                      <p:to>
                                        <p:strVal val="hidden"/>
                                      </p:to>
                                    </p:set>
                                  </p:childTnLst>
                                </p:cTn>
                              </p:par>
                              <p:par>
                                <p:cTn id="247" presetID="10" presetClass="exit" presetSubtype="0" fill="hold" grpId="1" nodeType="withEffect">
                                  <p:stCondLst>
                                    <p:cond delay="31175"/>
                                  </p:stCondLst>
                                  <p:childTnLst>
                                    <p:animEffect transition="out" filter="fade">
                                      <p:cBhvr>
                                        <p:cTn id="245" dur="200"/>
                                        <p:tgtEl>
                                          <p:spTgt spid="42"/>
                                        </p:tgtEl>
                                      </p:cBhvr>
                                    </p:animEffect>
                                    <p:set>
                                      <p:cBhvr>
                                        <p:cTn id="246" dur="1" fill="hold">
                                          <p:stCondLst>
                                            <p:cond delay="199"/>
                                          </p:stCondLst>
                                        </p:cTn>
                                        <p:tgtEl>
                                          <p:spTgt spid="42"/>
                                        </p:tgtEl>
                                        <p:attrNameLst>
                                          <p:attrName>style.visibility</p:attrName>
                                        </p:attrNameLst>
                                      </p:cBhvr>
                                      <p:to>
                                        <p:strVal val="hidden"/>
                                      </p:to>
                                    </p:set>
                                  </p:childTnLst>
                                </p:cTn>
                              </p:par>
                              <p:par>
                                <p:cTn id="250" presetID="10" presetClass="exit" presetSubtype="0" fill="hold" grpId="2" nodeType="withEffect">
                                  <p:stCondLst>
                                    <p:cond delay="31200"/>
                                  </p:stCondLst>
                                  <p:childTnLst>
                                    <p:animEffect transition="out" filter="fade">
                                      <p:cBhvr>
                                        <p:cTn id="248" dur="220"/>
                                        <p:tgtEl>
                                          <p:spTgt spid="22"/>
                                        </p:tgtEl>
                                      </p:cBhvr>
                                    </p:animEffect>
                                    <p:set>
                                      <p:cBhvr>
                                        <p:cTn id="249" dur="1" fill="hold">
                                          <p:stCondLst>
                                            <p:cond delay="219"/>
                                          </p:stCondLst>
                                        </p:cTn>
                                        <p:tgtEl>
                                          <p:spTgt spid="22"/>
                                        </p:tgtEl>
                                        <p:attrNameLst>
                                          <p:attrName>style.visibility</p:attrName>
                                        </p:attrNameLst>
                                      </p:cBhvr>
                                      <p:to>
                                        <p:strVal val="hidden"/>
                                      </p:to>
                                    </p:set>
                                  </p:childTnLst>
                                </p:cTn>
                              </p:par>
                              <p:par>
                                <p:cTn id="253" presetID="10" presetClass="entr" presetSubtype="0" fill="hold" grpId="0" nodeType="withEffect">
                                  <p:stCondLst>
                                    <p:cond delay="31225"/>
                                  </p:stCondLst>
                                  <p:childTnLst>
                                    <p:set>
                                      <p:cBhvr>
                                        <p:cTn id="251" dur="1" fill="hold">
                                          <p:stCondLst>
                                            <p:cond delay="0"/>
                                          </p:stCondLst>
                                        </p:cTn>
                                        <p:tgtEl>
                                          <p:spTgt spid="23"/>
                                        </p:tgtEl>
                                        <p:attrNameLst>
                                          <p:attrName>style.visibility</p:attrName>
                                        </p:attrNameLst>
                                      </p:cBhvr>
                                      <p:to>
                                        <p:strVal val="visible"/>
                                      </p:to>
                                    </p:set>
                                    <p:animEffect transition="in" filter="fade">
                                      <p:cBhvr>
                                        <p:cTn id="252" dur="220"/>
                                        <p:tgtEl>
                                          <p:spTgt spid="23"/>
                                        </p:tgtEl>
                                      </p:cBhvr>
                                    </p:animEffect>
                                  </p:childTnLst>
                                </p:cTn>
                              </p:par>
                              <p:par>
                                <p:cTn id="258" presetID="42" presetClass="entr" presetSubtype="0" fill="hold" grpId="0" nodeType="withEffect">
                                  <p:stCondLst>
                                    <p:cond delay="31250"/>
                                  </p:stCondLst>
                                  <p:childTnLst>
                                    <p:set>
                                      <p:cBhvr>
                                        <p:cTn id="254" dur="1" fill="hold">
                                          <p:stCondLst>
                                            <p:cond delay="0"/>
                                          </p:stCondLst>
                                        </p:cTn>
                                        <p:tgtEl>
                                          <p:spTgt spid="44"/>
                                        </p:tgtEl>
                                        <p:attrNameLst>
                                          <p:attrName>style.visibility</p:attrName>
                                        </p:attrNameLst>
                                      </p:cBhvr>
                                      <p:to>
                                        <p:strVal val="visible"/>
                                      </p:to>
                                    </p:set>
                                    <p:animEffect transition="in" filter="fade">
                                      <p:cBhvr>
                                        <p:cTn id="255" dur="300"/>
                                        <p:tgtEl>
                                          <p:spTgt spid="44"/>
                                        </p:tgtEl>
                                      </p:cBhvr>
                                    </p:animEffect>
                                    <p:anim calcmode="lin" valueType="num">
                                      <p:cBhvr additive="base">
                                        <p:cTn id="256" dur="300" fill="hold"/>
                                        <p:tgtEl>
                                          <p:spTgt spid="44"/>
                                        </p:tgtEl>
                                        <p:attrNameLst>
                                          <p:attrName>ppt_x</p:attrName>
                                        </p:attrNameLst>
                                      </p:cBhvr>
                                      <p:tavLst>
                                        <p:tav tm="0">
                                          <p:val>
                                            <p:strVal val="#ppt_x-.05"/>
                                          </p:val>
                                        </p:tav>
                                        <p:tav tm="100000">
                                          <p:val>
                                            <p:strVal val="#ppt_x"/>
                                          </p:val>
                                        </p:tav>
                                      </p:tavLst>
                                    </p:anim>
                                    <p:anim calcmode="lin" valueType="num">
                                      <p:cBhvr additive="base">
                                        <p:cTn id="257" dur="300" fill="hold"/>
                                        <p:tgtEl>
                                          <p:spTgt spid="44"/>
                                        </p:tgtEl>
                                        <p:attrNameLst>
                                          <p:attrName>ppt_y</p:attrName>
                                        </p:attrNameLst>
                                      </p:cBhvr>
                                      <p:tavLst>
                                        <p:tav tm="0">
                                          <p:val>
                                            <p:strVal val="#ppt_y"/>
                                          </p:val>
                                        </p:tav>
                                        <p:tav tm="100000">
                                          <p:val>
                                            <p:strVal val="#ppt_y"/>
                                          </p:val>
                                        </p:tav>
                                      </p:tavLst>
                                    </p:anim>
                                  </p:childTnLst>
                                </p:cTn>
                              </p:par>
                              <p:par>
                                <p:cTn id="261" presetID="10" presetClass="entr" presetSubtype="0" fill="hold" grpId="0" nodeType="withEffect">
                                  <p:stCondLst>
                                    <p:cond delay="31275"/>
                                  </p:stCondLst>
                                  <p:childTnLst>
                                    <p:set>
                                      <p:cBhvr>
                                        <p:cTn id="259" dur="1" fill="hold">
                                          <p:stCondLst>
                                            <p:cond delay="0"/>
                                          </p:stCondLst>
                                        </p:cTn>
                                        <p:tgtEl>
                                          <p:spTgt spid="45"/>
                                        </p:tgtEl>
                                        <p:attrNameLst>
                                          <p:attrName>style.visibility</p:attrName>
                                        </p:attrNameLst>
                                      </p:cBhvr>
                                      <p:to>
                                        <p:strVal val="visible"/>
                                      </p:to>
                                    </p:set>
                                    <p:animEffect transition="in" filter="fade">
                                      <p:cBhvr>
                                        <p:cTn id="260" dur="200"/>
                                        <p:tgtEl>
                                          <p:spTgt spid="45"/>
                                        </p:tgtEl>
                                      </p:cBhvr>
                                    </p:animEffect>
                                  </p:childTnLst>
                                </p:cTn>
                              </p:par>
                              <p:par>
                                <p:cTn id="266" presetID="53" presetClass="entr" presetSubtype="16" fill="hold" grpId="0" nodeType="withEffect">
                                  <p:stCondLst>
                                    <p:cond delay="31300"/>
                                  </p:stCondLst>
                                  <p:childTnLst>
                                    <p:set>
                                      <p:cBhvr>
                                        <p:cTn id="262" dur="1" fill="hold">
                                          <p:stCondLst>
                                            <p:cond delay="0"/>
                                          </p:stCondLst>
                                        </p:cTn>
                                        <p:tgtEl>
                                          <p:spTgt spid="18"/>
                                        </p:tgtEl>
                                        <p:attrNameLst>
                                          <p:attrName>style.visibility</p:attrName>
                                        </p:attrNameLst>
                                      </p:cBhvr>
                                      <p:to>
                                        <p:strVal val="visible"/>
                                      </p:to>
                                    </p:set>
                                    <p:anim calcmode="lin" valueType="num">
                                      <p:cBhvr additive="base">
                                        <p:cTn id="263" dur="400" fill="hold"/>
                                        <p:tgtEl>
                                          <p:spTgt spid="18"/>
                                        </p:tgtEl>
                                        <p:attrNameLst>
                                          <p:attrName>ppt_w</p:attrName>
                                        </p:attrNameLst>
                                      </p:cBhvr>
                                      <p:tavLst>
                                        <p:tav tm="0">
                                          <p:val>
                                            <p:strVal val="0"/>
                                          </p:val>
                                        </p:tav>
                                        <p:tav tm="100000">
                                          <p:val>
                                            <p:strVal val="#ppt_w"/>
                                          </p:val>
                                        </p:tav>
                                      </p:tavLst>
                                    </p:anim>
                                    <p:anim calcmode="lin" valueType="num">
                                      <p:cBhvr additive="base">
                                        <p:cTn id="264" dur="400" fill="hold"/>
                                        <p:tgtEl>
                                          <p:spTgt spid="18"/>
                                        </p:tgtEl>
                                        <p:attrNameLst>
                                          <p:attrName>ppt_h</p:attrName>
                                        </p:attrNameLst>
                                      </p:cBhvr>
                                      <p:tavLst>
                                        <p:tav tm="0">
                                          <p:val>
                                            <p:strVal val="0"/>
                                          </p:val>
                                        </p:tav>
                                        <p:tav tm="100000">
                                          <p:val>
                                            <p:strVal val="#ppt_h"/>
                                          </p:val>
                                        </p:tav>
                                      </p:tavLst>
                                    </p:anim>
                                    <p:animEffect transition="in" filter="fade">
                                      <p:cBhvr>
                                        <p:cTn id="265" dur="400"/>
                                        <p:tgtEl>
                                          <p:spTgt spid="18"/>
                                        </p:tgtEl>
                                      </p:cBhvr>
                                    </p:animEffect>
                                  </p:childTnLst>
                                </p:cTn>
                              </p:par>
                              <p:par>
                                <p:cTn id="268" presetID="32" presetClass="emph" presetSubtype="0" fill="hold" grpId="1" nodeType="withEffect" autoRev="1" repeatCount="8000">
                                  <p:stCondLst>
                                    <p:cond delay="31325"/>
                                  </p:stCondLst>
                                  <p:childTnLst>
                                    <p:animRot by="240000">
                                      <p:cBhvr>
                                        <p:cTn id="267" dur="120" fill="hold"/>
                                        <p:tgtEl>
                                          <p:spTgt spid="18"/>
                                        </p:tgtEl>
                                        <p:attrNameLst>
                                          <p:attrName>r</p:attrName>
                                        </p:attrNameLst>
                                      </p:cBhvr>
                                    </p:animRot>
                                  </p:childTnLst>
                                </p:cTn>
                              </p:par>
                              <p:par>
                                <p:cTn id="271" presetID="22" presetClass="entr" presetSubtype="8" fill="hold" grpId="0" nodeType="withEffect">
                                  <p:stCondLst>
                                    <p:cond delay="31350"/>
                                  </p:stCondLst>
                                  <p:childTnLst>
                                    <p:set>
                                      <p:cBhvr>
                                        <p:cTn id="269" dur="1" fill="hold">
                                          <p:stCondLst>
                                            <p:cond delay="0"/>
                                          </p:stCondLst>
                                        </p:cTn>
                                        <p:tgtEl>
                                          <p:spTgt spid="19"/>
                                        </p:tgtEl>
                                        <p:attrNameLst>
                                          <p:attrName>style.visibility</p:attrName>
                                        </p:attrNameLst>
                                      </p:cBhvr>
                                      <p:to>
                                        <p:strVal val="visible"/>
                                      </p:to>
                                    </p:set>
                                    <p:animEffect transition="in" filter="wipe(left)">
                                      <p:cBhvr>
                                        <p:cTn id="270" dur="600"/>
                                        <p:tgtEl>
                                          <p:spTgt spid="19"/>
                                        </p:tgtEl>
                                      </p:cBhvr>
                                    </p:animEffect>
                                  </p:childTnLst>
                                </p:cTn>
                              </p:par>
                              <p:par>
                                <p:cTn id="274" presetID="10" presetClass="entr" presetSubtype="0" fill="hold" grpId="0" nodeType="withEffect">
                                  <p:stCondLst>
                                    <p:cond delay="35050"/>
                                  </p:stCondLst>
                                  <p:childTnLst>
                                    <p:set>
                                      <p:cBhvr>
                                        <p:cTn id="272" dur="1" fill="hold">
                                          <p:stCondLst>
                                            <p:cond delay="0"/>
                                          </p:stCondLst>
                                        </p:cTn>
                                        <p:tgtEl>
                                          <p:spTgt spid="46"/>
                                        </p:tgtEl>
                                        <p:attrNameLst>
                                          <p:attrName>style.visibility</p:attrName>
                                        </p:attrNameLst>
                                      </p:cBhvr>
                                      <p:to>
                                        <p:strVal val="visible"/>
                                      </p:to>
                                    </p:set>
                                    <p:animEffect transition="in" filter="fade">
                                      <p:cBhvr>
                                        <p:cTn id="273" dur="80"/>
                                        <p:tgtEl>
                                          <p:spTgt spid="46"/>
                                        </p:tgtEl>
                                      </p:cBhvr>
                                    </p:animEffect>
                                  </p:childTnLst>
                                </p:cTn>
                              </p:par>
                              <p:par>
                                <p:cTn id="277" presetID="10" presetClass="exit" presetSubtype="0" fill="hold" grpId="1" nodeType="withEffect">
                                  <p:stCondLst>
                                    <p:cond delay="35100"/>
                                  </p:stCondLst>
                                  <p:childTnLst>
                                    <p:animEffect transition="out" filter="fade">
                                      <p:cBhvr>
                                        <p:cTn id="275" dur="220"/>
                                        <p:tgtEl>
                                          <p:spTgt spid="24"/>
                                        </p:tgtEl>
                                      </p:cBhvr>
                                    </p:animEffect>
                                    <p:set>
                                      <p:cBhvr>
                                        <p:cTn id="276" dur="1" fill="hold">
                                          <p:stCondLst>
                                            <p:cond delay="219"/>
                                          </p:stCondLst>
                                        </p:cTn>
                                        <p:tgtEl>
                                          <p:spTgt spid="24"/>
                                        </p:tgtEl>
                                        <p:attrNameLst>
                                          <p:attrName>style.visibility</p:attrName>
                                        </p:attrNameLst>
                                      </p:cBhvr>
                                      <p:to>
                                        <p:strVal val="hidden"/>
                                      </p:to>
                                    </p:set>
                                  </p:childTnLst>
                                </p:cTn>
                              </p:par>
                              <p:par>
                                <p:cTn id="280" presetID="10" presetClass="entr" presetSubtype="0" fill="hold" grpId="0" nodeType="withEffect">
                                  <p:stCondLst>
                                    <p:cond delay="35150"/>
                                  </p:stCondLst>
                                  <p:childTnLst>
                                    <p:set>
                                      <p:cBhvr>
                                        <p:cTn id="278" dur="1" fill="hold">
                                          <p:stCondLst>
                                            <p:cond delay="0"/>
                                          </p:stCondLst>
                                        </p:cTn>
                                        <p:tgtEl>
                                          <p:spTgt spid="25"/>
                                        </p:tgtEl>
                                        <p:attrNameLst>
                                          <p:attrName>style.visibility</p:attrName>
                                        </p:attrNameLst>
                                      </p:cBhvr>
                                      <p:to>
                                        <p:strVal val="visible"/>
                                      </p:to>
                                    </p:set>
                                    <p:animEffect transition="in" filter="fade">
                                      <p:cBhvr>
                                        <p:cTn id="279" dur="220"/>
                                        <p:tgtEl>
                                          <p:spTgt spid="25"/>
                                        </p:tgtEl>
                                      </p:cBhvr>
                                    </p:animEffect>
                                  </p:childTnLst>
                                </p:cTn>
                              </p:par>
                              <p:par>
                                <p:cTn id="283" presetID="10" presetClass="exit" presetSubtype="0" fill="hold" grpId="1" nodeType="withEffect">
                                  <p:stCondLst>
                                    <p:cond delay="35170"/>
                                  </p:stCondLst>
                                  <p:childTnLst>
                                    <p:animEffect transition="out" filter="fade">
                                      <p:cBhvr>
                                        <p:cTn id="281" dur="300"/>
                                        <p:tgtEl>
                                          <p:spTgt spid="46"/>
                                        </p:tgtEl>
                                      </p:cBhvr>
                                    </p:animEffect>
                                    <p:set>
                                      <p:cBhvr>
                                        <p:cTn id="282" dur="1" fill="hold">
                                          <p:stCondLst>
                                            <p:cond delay="299"/>
                                          </p:stCondLst>
                                        </p:cTn>
                                        <p:tgtEl>
                                          <p:spTgt spid="46"/>
                                        </p:tgtEl>
                                        <p:attrNameLst>
                                          <p:attrName>style.visibility</p:attrName>
                                        </p:attrNameLst>
                                      </p:cBhvr>
                                      <p:to>
                                        <p:strVal val="hidden"/>
                                      </p:to>
                                    </p:set>
                                  </p:childTnLst>
                                </p:cTn>
                              </p:par>
                              <p:par>
                                <p:cTn id="285" presetID="0" presetClass="path" presetSubtype="0" fill="hold" grpId="1" nodeType="withEffect" autoRev="1" repeatCount="6000">
                                  <p:stCondLst>
                                    <p:cond delay="35250"/>
                                  </p:stCondLst>
                                  <p:childTnLst>
                                    <p:animMotion origin="layout" path="M 0 0 L 0.008 0 E" pathEditMode="relative" ptsTypes="AA">
                                      <p:cBhvr>
                                        <p:cTn id="284" dur="60" fill="hold"/>
                                        <p:tgtEl>
                                          <p:spTgt spid="25"/>
                                        </p:tgtEl>
                                        <p:attrNameLst>
                                          <p:attrName>ppt_x</p:attrName>
                                          <p:attrName>ppt_y</p:attrName>
                                        </p:attrNameLst>
                                      </p:cBhvr>
                                    </p:animMotion>
                                  </p:childTnLst>
                                </p:cTn>
                              </p:par>
                              <p:par>
                                <p:cTn id="290" presetID="53" presetClass="entr" presetSubtype="16" fill="hold" grpId="0" nodeType="withEffect">
                                  <p:stCondLst>
                                    <p:cond delay="35300"/>
                                  </p:stCondLst>
                                  <p:childTnLst>
                                    <p:set>
                                      <p:cBhvr>
                                        <p:cTn id="286" dur="1" fill="hold">
                                          <p:stCondLst>
                                            <p:cond delay="0"/>
                                          </p:stCondLst>
                                        </p:cTn>
                                        <p:tgtEl>
                                          <p:spTgt spid="28"/>
                                        </p:tgtEl>
                                        <p:attrNameLst>
                                          <p:attrName>style.visibility</p:attrName>
                                        </p:attrNameLst>
                                      </p:cBhvr>
                                      <p:to>
                                        <p:strVal val="visible"/>
                                      </p:to>
                                    </p:set>
                                    <p:anim calcmode="lin" valueType="num">
                                      <p:cBhvr additive="base">
                                        <p:cTn id="287" dur="300" fill="hold"/>
                                        <p:tgtEl>
                                          <p:spTgt spid="28"/>
                                        </p:tgtEl>
                                        <p:attrNameLst>
                                          <p:attrName>ppt_w</p:attrName>
                                        </p:attrNameLst>
                                      </p:cBhvr>
                                      <p:tavLst>
                                        <p:tav tm="0">
                                          <p:val>
                                            <p:strVal val="0"/>
                                          </p:val>
                                        </p:tav>
                                        <p:tav tm="100000">
                                          <p:val>
                                            <p:strVal val="#ppt_w"/>
                                          </p:val>
                                        </p:tav>
                                      </p:tavLst>
                                    </p:anim>
                                    <p:anim calcmode="lin" valueType="num">
                                      <p:cBhvr additive="base">
                                        <p:cTn id="288" dur="300" fill="hold"/>
                                        <p:tgtEl>
                                          <p:spTgt spid="28"/>
                                        </p:tgtEl>
                                        <p:attrNameLst>
                                          <p:attrName>ppt_h</p:attrName>
                                        </p:attrNameLst>
                                      </p:cBhvr>
                                      <p:tavLst>
                                        <p:tav tm="0">
                                          <p:val>
                                            <p:strVal val="0"/>
                                          </p:val>
                                        </p:tav>
                                        <p:tav tm="100000">
                                          <p:val>
                                            <p:strVal val="#ppt_h"/>
                                          </p:val>
                                        </p:tav>
                                      </p:tavLst>
                                    </p:anim>
                                    <p:animEffect transition="in" filter="fade">
                                      <p:cBhvr>
                                        <p:cTn id="289" dur="300"/>
                                        <p:tgtEl>
                                          <p:spTgt spid="28"/>
                                        </p:tgtEl>
                                      </p:cBhvr>
                                    </p:animEffect>
                                  </p:childTnLst>
                                </p:cTn>
                              </p:par>
                              <p:par>
                                <p:cTn id="292" presetID="6" presetClass="emph" presetSubtype="0" fill="hold" grpId="1" nodeType="withEffect" autoRev="1" repeatCount="indefinite">
                                  <p:stCondLst>
                                    <p:cond delay="35350"/>
                                  </p:stCondLst>
                                  <p:childTnLst>
                                    <p:animScale>
                                      <p:cBhvr>
                                        <p:cTn id="291" dur="400" fill="hold"/>
                                        <p:tgtEl>
                                          <p:spTgt spid="28"/>
                                        </p:tgtEl>
                                      </p:cBhvr>
                                      <p:by x="120000" y="120000"/>
                                    </p:animScale>
                                  </p:childTnLst>
                                </p:cTn>
                              </p:par>
                              <p:par>
                                <p:cTn id="295" presetID="22" presetClass="entr" presetSubtype="8" fill="hold" grpId="0" nodeType="withEffect">
                                  <p:stCondLst>
                                    <p:cond delay="35400"/>
                                  </p:stCondLst>
                                  <p:childTnLst>
                                    <p:set>
                                      <p:cBhvr>
                                        <p:cTn id="293" dur="1" fill="hold">
                                          <p:stCondLst>
                                            <p:cond delay="0"/>
                                          </p:stCondLst>
                                        </p:cTn>
                                        <p:tgtEl>
                                          <p:spTgt spid="47"/>
                                        </p:tgtEl>
                                        <p:attrNameLst>
                                          <p:attrName>style.visibility</p:attrName>
                                        </p:attrNameLst>
                                      </p:cBhvr>
                                      <p:to>
                                        <p:strVal val="visible"/>
                                      </p:to>
                                    </p:set>
                                    <p:animEffect transition="in" filter="wipe(left)">
                                      <p:cBhvr>
                                        <p:cTn id="294" dur="6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0" grpId="0" animBg="1"/>
      <p:bldP spid="3" grpId="0" animBg="1"/>
      <p:bldP spid="2" grpId="1" animBg="1"/>
      <p:bldP spid="30" grpId="1" animBg="1"/>
      <p:bldP spid="6" grpId="0" animBg="1"/>
      <p:bldP spid="29" grpId="0" animBg="1"/>
      <p:bldP spid="31" grpId="0" animBg="1"/>
      <p:bldP spid="20" grpId="0" animBg="1"/>
      <p:bldP spid="21" grpId="0" animBg="1"/>
      <p:bldP spid="24" grpId="0" animBg="1"/>
      <p:bldP spid="32" grpId="0" animBg="1"/>
      <p:bldP spid="33" grpId="0" animBg="1"/>
      <p:bldP spid="27" grpId="0" animBg="1"/>
      <p:bldP spid="27" grpId="1" animBg="1"/>
      <p:bldP spid="26" grpId="0" animBg="1"/>
      <p:bldP spid="31" grpId="1" animBg="1"/>
      <p:bldP spid="26" grpId="1" animBg="1"/>
      <p:bldP spid="27" grpId="2" animBg="1"/>
      <p:bldP spid="34" grpId="0" animBg="1"/>
      <p:bldP spid="32" grpId="1" animBg="1"/>
      <p:bldP spid="33" grpId="1" animBg="1"/>
      <p:bldP spid="7" grpId="0" animBg="1"/>
      <p:bldP spid="35" grpId="0" animBg="1"/>
      <p:bldP spid="36" grpId="0" animBg="1"/>
      <p:bldP spid="10" grpId="0" animBg="1"/>
      <p:bldP spid="11" grpId="0" animBg="1"/>
      <p:bldP spid="12" grpId="0" animBg="1"/>
      <p:bldP spid="13" grpId="0" animBg="1"/>
      <p:bldP spid="34" grpId="1" animBg="1"/>
      <p:bldP spid="10" grpId="1" animBg="1"/>
      <p:bldP spid="11" grpId="1" animBg="1"/>
      <p:bldP spid="12" grpId="1" animBg="1"/>
      <p:bldP spid="13" grpId="1" animBg="1"/>
      <p:bldP spid="7" grpId="1" animBg="1"/>
      <p:bldP spid="37" grpId="0" animBg="1"/>
      <p:bldP spid="35" grpId="1" animBg="1"/>
      <p:bldP spid="36" grpId="1" animBg="1"/>
      <p:bldP spid="14" grpId="0" animBg="1"/>
      <p:bldP spid="38" grpId="0" animBg="1"/>
      <p:bldP spid="39" grpId="0" animBg="1"/>
      <p:bldP spid="15" grpId="0" animBg="1"/>
      <p:bldP spid="14" grpId="1" animBg="1"/>
      <p:bldP spid="15" grpId="1" animBg="1"/>
      <p:bldP spid="40" grpId="0" animBg="1"/>
      <p:bldP spid="8" grpId="0" animBg="1"/>
      <p:bldP spid="9" grpId="0" animBg="1"/>
      <p:bldP spid="16" grpId="0" animBg="1"/>
      <p:bldP spid="38" grpId="1" animBg="1"/>
      <p:bldP spid="40" grpId="1" animBg="1"/>
      <p:bldP spid="39" grpId="1" animBg="1"/>
      <p:bldP spid="21" grpId="1" animBg="1"/>
      <p:bldP spid="22" grpId="0" animBg="1"/>
      <p:bldP spid="41" grpId="0" animBg="1"/>
      <p:bldP spid="9" grpId="1" animBg="1"/>
      <p:bldP spid="42" grpId="0" animBg="1"/>
      <p:bldP spid="22" grpId="1" animBg="1"/>
      <p:bldP spid="17" grpId="0" animBg="1"/>
      <p:bldP spid="37" grpId="1" animBg="1"/>
      <p:bldP spid="8" grpId="1" animBg="1"/>
      <p:bldP spid="9" grpId="2" animBg="1"/>
      <p:bldP spid="16" grpId="1" animBg="1"/>
      <p:bldP spid="17" grpId="1" animBg="1"/>
      <p:bldP spid="43" grpId="0" animBg="1"/>
      <p:bldP spid="41" grpId="1" animBg="1"/>
      <p:bldP spid="42" grpId="1" animBg="1"/>
      <p:bldP spid="22" grpId="2" animBg="1"/>
      <p:bldP spid="23" grpId="0" animBg="1"/>
      <p:bldP spid="44" grpId="0" animBg="1"/>
      <p:bldP spid="45" grpId="0" animBg="1"/>
      <p:bldP spid="18" grpId="0" animBg="1"/>
      <p:bldP spid="18" grpId="1" animBg="1"/>
      <p:bldP spid="19" grpId="0" animBg="1"/>
      <p:bldP spid="46" grpId="0" animBg="1"/>
      <p:bldP spid="24" grpId="1" animBg="1"/>
      <p:bldP spid="25" grpId="0" animBg="1"/>
      <p:bldP spid="46" grpId="1" animBg="1"/>
      <p:bldP spid="25" grpId="1" animBg="1"/>
      <p:bldP spid="28" grpId="0" animBg="1"/>
      <p:bldP spid="28" grpId="1" animBg="1"/>
      <p:bldP spid="47"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paused badge"/>
          <p:cNvSpPr/>
          <p:nvPr/>
        </p:nvSpPr>
        <p:spPr>
          <a:xfrm>
            <a:off x="548640" y="310896"/>
            <a:ext cx="1417320" cy="329184"/>
          </a:xfrm>
          <a:prstGeom prst="roundRect">
            <a:avLst>
              <a:gd name="adj" fmla="val 16667"/>
            </a:avLst>
          </a:prstGeom>
          <a:solidFill>
            <a:srgbClr val="FFD84D"/>
          </a:solidFill>
          <a:ln/>
        </p:spPr>
      </p:sp>
      <p:pic>
        <p:nvPicPr>
          <p:cNvPr id="3" name="pause icon" descr="Paused">    </p:cNvPr>
          <p:cNvPicPr>
            <a:picLocks noChangeAspect="1"/>
          </p:cNvPicPr>
          <p:nvPr/>
        </p:nvPicPr>
        <p:blipFill>
          <a:blip r:embed="rId1"/>
          <a:stretch>
            <a:fillRect/>
          </a:stretch>
        </p:blipFill>
        <p:spPr>
          <a:xfrm>
            <a:off x="667512" y="393192"/>
            <a:ext cx="164592" cy="164592"/>
          </a:xfrm>
          <a:prstGeom prst="rect">
            <a:avLst/>
          </a:prstGeom>
        </p:spPr>
      </p:pic>
      <p:sp>
        <p:nvSpPr>
          <p:cNvPr id="4" name="Text 1"/>
          <p:cNvSpPr txBox="1"/>
          <p:nvPr/>
        </p:nvSpPr>
        <p:spPr>
          <a:xfrm>
            <a:off x="896112" y="310896"/>
            <a:ext cx="1005840" cy="329184"/>
          </a:xfrm>
          <a:prstGeom prst="rect">
            <a:avLst/>
          </a:prstGeom>
          <a:noFill/>
          <a:ln/>
        </p:spPr>
        <p:txBody>
          <a:bodyPr wrap="square" lIns="0" tIns="0" rIns="0" bIns="0" rtlCol="0" anchor="ctr"/>
          <a:lstStyle/>
          <a:p>
            <a:pPr indent="0" marL="0">
              <a:buNone/>
            </a:pPr>
            <a:r>
              <a:rPr lang="en-US" sz="1300" b="1" spc="200" kern="0" dirty="0">
                <a:solidFill>
                  <a:srgbClr val="0D0D0F"/>
                </a:solidFill>
                <a:latin typeface="Courier New" pitchFamily="34" charset="0"/>
                <a:ea typeface="Courier New" pitchFamily="34" charset="-122"/>
                <a:cs typeface="Courier New" pitchFamily="34" charset="-120"/>
              </a:rPr>
              <a:t>PAUSED</a:t>
            </a:r>
            <a:endParaRPr lang="en-US" sz="1300" dirty="0"/>
          </a:p>
        </p:txBody>
      </p:sp>
      <p:sp>
        <p:nvSpPr>
          <p:cNvPr id="5" name="Text 2"/>
          <p:cNvSpPr txBox="1"/>
          <p:nvPr/>
        </p:nvSpPr>
        <p:spPr>
          <a:xfrm>
            <a:off x="2148840" y="310896"/>
            <a:ext cx="8229600" cy="329184"/>
          </a:xfrm>
          <a:prstGeom prst="rect">
            <a:avLst/>
          </a:prstGeom>
          <a:noFill/>
          <a:ln/>
        </p:spPr>
        <p:txBody>
          <a:bodyPr wrap="square" lIns="0" tIns="0" rIns="0" bIns="0" rtlCol="0" anchor="ctr"/>
          <a:lstStyle/>
          <a:p>
            <a:pPr indent="0" marL="0">
              <a:buNone/>
            </a:pPr>
            <a:r>
              <a:rPr lang="en-US" sz="1300" b="1" spc="200" kern="0" dirty="0">
                <a:solidFill>
                  <a:srgbClr val="FFD84D"/>
                </a:solidFill>
                <a:latin typeface="Courier New" pitchFamily="34" charset="0"/>
                <a:ea typeface="Courier New" pitchFamily="34" charset="-122"/>
                <a:cs typeface="Courier New" pitchFamily="34" charset="-120"/>
              </a:rPr>
              <a:t>ACT II  ·  IS THIS ORGANIZED CRIME?</a:t>
            </a:r>
            <a:endParaRPr lang="en-US" sz="1300" dirty="0"/>
          </a:p>
        </p:txBody>
      </p:sp>
      <p:sp>
        <p:nvSpPr>
          <p:cNvPr id="6" name="Text 0"/>
          <p:cNvSpPr/>
          <p:nvPr>
            <p:ph idx="100" type="title" hasCustomPrompt="1"/>
          </p:nvPr>
        </p:nvSpPr>
        <p:spPr>
          <a:xfrm>
            <a:off x="548640" y="731520"/>
            <a:ext cx="11094415" cy="731520"/>
          </a:xfrm>
          <a:prstGeom prst="rect">
            <a:avLst/>
          </a:prstGeom>
          <a:noFill/>
          <a:ln/>
        </p:spPr>
        <p:txBody>
          <a:bodyPr wrap="square" lIns="0" tIns="0" rIns="0" bIns="0" rtlCol="0" anchor="ctr"/>
          <a:lstStyle/>
          <a:p>
            <a:pPr algn="l" indent="0" marL="0">
              <a:buNone/>
            </a:pPr>
            <a:r>
              <a:rPr lang="en-US" sz="3000" b="1" dirty="0">
                <a:solidFill>
                  <a:schemeClr val="bg1"/>
                </a:solidFill>
              </a:rPr>
              <a:t>The UN says yes. Abadinsky’s mafia model says mostly no</a:t>
            </a:r>
            <a:endParaRPr lang="en-US" sz="3000" dirty="0"/>
          </a:p>
        </p:txBody>
      </p:sp>
      <p:sp>
        <p:nvSpPr>
          <p:cNvPr id="7" name="untoc"/>
          <p:cNvSpPr/>
          <p:nvPr/>
        </p:nvSpPr>
        <p:spPr>
          <a:xfrm>
            <a:off x="548640" y="1691640"/>
            <a:ext cx="5387188" cy="4160520"/>
          </a:xfrm>
          <a:prstGeom prst="rect">
            <a:avLst/>
          </a:prstGeom>
          <a:solidFill>
            <a:srgbClr val="1B1D22"/>
          </a:solidFill>
          <a:ln w="19050">
            <a:solidFill>
              <a:srgbClr val="4F8A5B"/>
            </a:solidFill>
            <a:prstDash val="solid"/>
          </a:ln>
        </p:spPr>
      </p:sp>
      <p:sp>
        <p:nvSpPr>
          <p:cNvPr id="8" name="Text 5"/>
          <p:cNvSpPr txBox="1"/>
          <p:nvPr/>
        </p:nvSpPr>
        <p:spPr>
          <a:xfrm>
            <a:off x="822960" y="1828800"/>
            <a:ext cx="4838548" cy="292608"/>
          </a:xfrm>
          <a:prstGeom prst="rect">
            <a:avLst/>
          </a:prstGeom>
          <a:noFill/>
          <a:ln/>
        </p:spPr>
        <p:txBody>
          <a:bodyPr wrap="square" lIns="0" tIns="0" rIns="0" bIns="0" rtlCol="0" anchor="ctr"/>
          <a:lstStyle/>
          <a:p>
            <a:pPr indent="0" marL="0">
              <a:buNone/>
            </a:pPr>
            <a:r>
              <a:rPr lang="en-US" sz="1200" b="1" dirty="0">
                <a:solidFill>
                  <a:srgbClr val="8FC79B"/>
                </a:solidFill>
                <a:latin typeface="Courier New" pitchFamily="34" charset="0"/>
                <a:ea typeface="Courier New" pitchFamily="34" charset="-122"/>
                <a:cs typeface="Courier New" pitchFamily="34" charset="-120"/>
              </a:rPr>
              <a:t>UNTOC, ARTICLE 2 (UNODC, 2004)</a:t>
            </a:r>
            <a:endParaRPr lang="en-US" sz="1200" dirty="0"/>
          </a:p>
        </p:txBody>
      </p:sp>
      <p:sp>
        <p:nvSpPr>
          <p:cNvPr id="9" name="3+ persons in a structured group circle"/>
          <p:cNvSpPr/>
          <p:nvPr/>
        </p:nvSpPr>
        <p:spPr>
          <a:xfrm>
            <a:off x="822960" y="2313432"/>
            <a:ext cx="457200" cy="457200"/>
          </a:xfrm>
          <a:prstGeom prst="ellipse">
            <a:avLst/>
          </a:prstGeom>
          <a:solidFill>
            <a:srgbClr val="4F8A5B"/>
          </a:solidFill>
          <a:ln/>
        </p:spPr>
      </p:sp>
      <p:pic>
        <p:nvPicPr>
          <p:cNvPr id="10" name="3+ persons in a structured group icon" descr="3+ persons in a structured group">    </p:cNvPr>
          <p:cNvPicPr>
            <a:picLocks noChangeAspect="1"/>
          </p:cNvPicPr>
          <p:nvPr/>
        </p:nvPicPr>
        <p:blipFill>
          <a:blip r:embed="rId2"/>
          <a:stretch>
            <a:fillRect/>
          </a:stretch>
        </p:blipFill>
        <p:spPr>
          <a:xfrm>
            <a:off x="932688" y="2423160"/>
            <a:ext cx="237744" cy="237744"/>
          </a:xfrm>
          <a:prstGeom prst="rect">
            <a:avLst/>
          </a:prstGeom>
        </p:spPr>
      </p:pic>
      <p:sp>
        <p:nvSpPr>
          <p:cNvPr id="11" name="Text 7"/>
          <p:cNvSpPr txBox="1"/>
          <p:nvPr/>
        </p:nvSpPr>
        <p:spPr>
          <a:xfrm>
            <a:off x="1417320" y="2240280"/>
            <a:ext cx="4289908" cy="685800"/>
          </a:xfrm>
          <a:prstGeom prst="rect">
            <a:avLst/>
          </a:prstGeom>
          <a:noFill/>
          <a:ln/>
        </p:spPr>
        <p:txBody>
          <a:bodyPr wrap="square" lIns="0" tIns="0" rIns="0" bIns="0" rtlCol="0" anchor="ctr"/>
          <a:lstStyle/>
          <a:p>
            <a:pPr indent="0" marL="0">
              <a:buNone/>
            </a:pPr>
            <a:r>
              <a:rPr lang="en-US" sz="1500" b="1" dirty="0">
                <a:solidFill>
                  <a:schemeClr val="bg1"/>
                </a:solidFill>
              </a:rPr>
              <a:t>3+ persons in a structured group</a:t>
            </a:r>
            <a:endParaRPr lang="en-US" sz="1500" dirty="0"/>
          </a:p>
          <a:p>
            <a:pPr indent="0" marL="0">
              <a:buNone/>
            </a:pPr>
            <a:r>
              <a:rPr lang="en-US" sz="1300" dirty="0">
                <a:solidFill>
                  <a:srgbClr val="A9ADB5"/>
                </a:solidFill>
              </a:rPr>
              <a:t>Efraim, David, financier, Henry, suppliers</a:t>
            </a:r>
            <a:endParaRPr lang="en-US" sz="1500" dirty="0"/>
          </a:p>
        </p:txBody>
      </p:sp>
      <p:sp>
        <p:nvSpPr>
          <p:cNvPr id="12" name="Existing for a period of time circle"/>
          <p:cNvSpPr/>
          <p:nvPr/>
        </p:nvSpPr>
        <p:spPr>
          <a:xfrm>
            <a:off x="822960" y="3182112"/>
            <a:ext cx="457200" cy="457200"/>
          </a:xfrm>
          <a:prstGeom prst="ellipse">
            <a:avLst/>
          </a:prstGeom>
          <a:solidFill>
            <a:srgbClr val="4F8A5B"/>
          </a:solidFill>
          <a:ln/>
        </p:spPr>
      </p:sp>
      <p:pic>
        <p:nvPicPr>
          <p:cNvPr id="13" name="Existing for a period of time icon" descr="Existing for a period of time">    </p:cNvPr>
          <p:cNvPicPr>
            <a:picLocks noChangeAspect="1"/>
          </p:cNvPicPr>
          <p:nvPr/>
        </p:nvPicPr>
        <p:blipFill>
          <a:blip r:embed="rId3"/>
          <a:stretch>
            <a:fillRect/>
          </a:stretch>
        </p:blipFill>
        <p:spPr>
          <a:xfrm>
            <a:off x="932688" y="3291840"/>
            <a:ext cx="237744" cy="237744"/>
          </a:xfrm>
          <a:prstGeom prst="rect">
            <a:avLst/>
          </a:prstGeom>
        </p:spPr>
      </p:pic>
      <p:sp>
        <p:nvSpPr>
          <p:cNvPr id="14" name="Text 9"/>
          <p:cNvSpPr txBox="1"/>
          <p:nvPr/>
        </p:nvSpPr>
        <p:spPr>
          <a:xfrm>
            <a:off x="1417320" y="3108960"/>
            <a:ext cx="4289908" cy="685800"/>
          </a:xfrm>
          <a:prstGeom prst="rect">
            <a:avLst/>
          </a:prstGeom>
          <a:noFill/>
          <a:ln/>
        </p:spPr>
        <p:txBody>
          <a:bodyPr wrap="square" lIns="0" tIns="0" rIns="0" bIns="0" rtlCol="0" anchor="ctr"/>
          <a:lstStyle/>
          <a:p>
            <a:pPr indent="0" marL="0">
              <a:buNone/>
            </a:pPr>
            <a:r>
              <a:rPr lang="en-US" sz="1500" b="1" dirty="0">
                <a:solidFill>
                  <a:schemeClr val="bg1"/>
                </a:solidFill>
              </a:rPr>
              <a:t>Existing for a period of time</a:t>
            </a:r>
            <a:endParaRPr lang="en-US" sz="1500" dirty="0"/>
          </a:p>
          <a:p>
            <a:pPr indent="0" marL="0">
              <a:buNone/>
            </a:pPr>
            <a:r>
              <a:rPr lang="en-US" sz="1300" dirty="0">
                <a:solidFill>
                  <a:srgbClr val="A9ADB5"/>
                </a:solidFill>
              </a:rPr>
              <a:t>Several years of operation</a:t>
            </a:r>
            <a:endParaRPr lang="en-US" sz="1500" dirty="0"/>
          </a:p>
        </p:txBody>
      </p:sp>
      <p:sp>
        <p:nvSpPr>
          <p:cNvPr id="15" name="Committing serious crime circle"/>
          <p:cNvSpPr/>
          <p:nvPr/>
        </p:nvSpPr>
        <p:spPr>
          <a:xfrm>
            <a:off x="822960" y="4050792"/>
            <a:ext cx="457200" cy="457200"/>
          </a:xfrm>
          <a:prstGeom prst="ellipse">
            <a:avLst/>
          </a:prstGeom>
          <a:solidFill>
            <a:srgbClr val="4F8A5B"/>
          </a:solidFill>
          <a:ln/>
        </p:spPr>
      </p:sp>
      <p:pic>
        <p:nvPicPr>
          <p:cNvPr id="16" name="Committing serious crime icon" descr="Committing serious crime">    </p:cNvPr>
          <p:cNvPicPr>
            <a:picLocks noChangeAspect="1"/>
          </p:cNvPicPr>
          <p:nvPr/>
        </p:nvPicPr>
        <p:blipFill>
          <a:blip r:embed="rId4"/>
          <a:stretch>
            <a:fillRect/>
          </a:stretch>
        </p:blipFill>
        <p:spPr>
          <a:xfrm>
            <a:off x="932688" y="4160520"/>
            <a:ext cx="237744" cy="237744"/>
          </a:xfrm>
          <a:prstGeom prst="rect">
            <a:avLst/>
          </a:prstGeom>
        </p:spPr>
      </p:pic>
      <p:sp>
        <p:nvSpPr>
          <p:cNvPr id="17" name="Text 11"/>
          <p:cNvSpPr txBox="1"/>
          <p:nvPr/>
        </p:nvSpPr>
        <p:spPr>
          <a:xfrm>
            <a:off x="1417320" y="3977640"/>
            <a:ext cx="4289908" cy="685800"/>
          </a:xfrm>
          <a:prstGeom prst="rect">
            <a:avLst/>
          </a:prstGeom>
          <a:noFill/>
          <a:ln/>
        </p:spPr>
        <p:txBody>
          <a:bodyPr wrap="square" lIns="0" tIns="0" rIns="0" bIns="0" rtlCol="0" anchor="ctr"/>
          <a:lstStyle/>
          <a:p>
            <a:pPr indent="0" marL="0">
              <a:buNone/>
            </a:pPr>
            <a:r>
              <a:rPr lang="en-US" sz="1500" b="1" dirty="0">
                <a:solidFill>
                  <a:schemeClr val="bg1"/>
                </a:solidFill>
              </a:rPr>
              <a:t>Committing serious crime</a:t>
            </a:r>
            <a:endParaRPr lang="en-US" sz="1500" dirty="0"/>
          </a:p>
          <a:p>
            <a:pPr indent="0" marL="0">
              <a:buNone/>
            </a:pPr>
            <a:r>
              <a:rPr lang="en-US" sz="1300" dirty="0">
                <a:solidFill>
                  <a:srgbClr val="A9ADB5"/>
                </a:solidFill>
              </a:rPr>
              <a:t>Fraud, conspiracy, embargo breach</a:t>
            </a:r>
            <a:endParaRPr lang="en-US" sz="1500" dirty="0"/>
          </a:p>
        </p:txBody>
      </p:sp>
      <p:sp>
        <p:nvSpPr>
          <p:cNvPr id="18" name="For material benefit circle"/>
          <p:cNvSpPr/>
          <p:nvPr/>
        </p:nvSpPr>
        <p:spPr>
          <a:xfrm>
            <a:off x="822960" y="4919472"/>
            <a:ext cx="457200" cy="457200"/>
          </a:xfrm>
          <a:prstGeom prst="ellipse">
            <a:avLst/>
          </a:prstGeom>
          <a:solidFill>
            <a:srgbClr val="4F8A5B"/>
          </a:solidFill>
          <a:ln/>
        </p:spPr>
      </p:sp>
      <p:pic>
        <p:nvPicPr>
          <p:cNvPr id="19" name="For material benefit icon" descr="For material benefit">    </p:cNvPr>
          <p:cNvPicPr>
            <a:picLocks noChangeAspect="1"/>
          </p:cNvPicPr>
          <p:nvPr/>
        </p:nvPicPr>
        <p:blipFill>
          <a:blip r:embed="rId5"/>
          <a:stretch>
            <a:fillRect/>
          </a:stretch>
        </p:blipFill>
        <p:spPr>
          <a:xfrm>
            <a:off x="932688" y="5029200"/>
            <a:ext cx="237744" cy="237744"/>
          </a:xfrm>
          <a:prstGeom prst="rect">
            <a:avLst/>
          </a:prstGeom>
        </p:spPr>
      </p:pic>
      <p:sp>
        <p:nvSpPr>
          <p:cNvPr id="20" name="Text 13"/>
          <p:cNvSpPr txBox="1"/>
          <p:nvPr/>
        </p:nvSpPr>
        <p:spPr>
          <a:xfrm>
            <a:off x="1417320" y="4846320"/>
            <a:ext cx="4289908" cy="685800"/>
          </a:xfrm>
          <a:prstGeom prst="rect">
            <a:avLst/>
          </a:prstGeom>
          <a:noFill/>
          <a:ln/>
        </p:spPr>
        <p:txBody>
          <a:bodyPr wrap="square" lIns="0" tIns="0" rIns="0" bIns="0" rtlCol="0" anchor="ctr"/>
          <a:lstStyle/>
          <a:p>
            <a:pPr indent="0" marL="0">
              <a:buNone/>
            </a:pPr>
            <a:r>
              <a:rPr lang="en-US" sz="1500" b="1" dirty="0">
                <a:solidFill>
                  <a:schemeClr val="bg1"/>
                </a:solidFill>
              </a:rPr>
              <a:t>For material benefit</a:t>
            </a:r>
            <a:endParaRPr lang="en-US" sz="1500" dirty="0"/>
          </a:p>
          <a:p>
            <a:pPr indent="0" marL="0">
              <a:buNone/>
            </a:pPr>
            <a:r>
              <a:rPr lang="en-US" sz="1300" dirty="0">
                <a:solidFill>
                  <a:srgbClr val="A9ADB5"/>
                </a:solidFill>
              </a:rPr>
              <a:t>Millions in profit</a:t>
            </a:r>
            <a:endParaRPr lang="en-US" sz="1500" dirty="0"/>
          </a:p>
        </p:txBody>
      </p:sp>
      <p:sp>
        <p:nvSpPr>
          <p:cNvPr id="21" name="abadinsky"/>
          <p:cNvSpPr/>
          <p:nvPr/>
        </p:nvSpPr>
        <p:spPr>
          <a:xfrm>
            <a:off x="6255868" y="1691640"/>
            <a:ext cx="5387188" cy="4160520"/>
          </a:xfrm>
          <a:prstGeom prst="rect">
            <a:avLst/>
          </a:prstGeom>
          <a:solidFill>
            <a:srgbClr val="1B1D22"/>
          </a:solidFill>
          <a:ln w="19050">
            <a:solidFill>
              <a:srgbClr val="E5383B"/>
            </a:solidFill>
            <a:prstDash val="solid"/>
          </a:ln>
        </p:spPr>
      </p:sp>
      <p:sp>
        <p:nvSpPr>
          <p:cNvPr id="22" name="Text 15"/>
          <p:cNvSpPr txBox="1"/>
          <p:nvPr/>
        </p:nvSpPr>
        <p:spPr>
          <a:xfrm>
            <a:off x="6530188" y="1828800"/>
            <a:ext cx="4838548" cy="292608"/>
          </a:xfrm>
          <a:prstGeom prst="rect">
            <a:avLst/>
          </a:prstGeom>
          <a:noFill/>
          <a:ln/>
        </p:spPr>
        <p:txBody>
          <a:bodyPr wrap="square" lIns="0" tIns="0" rIns="0" bIns="0" rtlCol="0" anchor="ctr"/>
          <a:lstStyle/>
          <a:p>
            <a:pPr indent="0" marL="0">
              <a:buNone/>
            </a:pPr>
            <a:r>
              <a:rPr lang="en-US" sz="1200" b="1" dirty="0">
                <a:solidFill>
                  <a:srgbClr val="FF8A8C"/>
                </a:solidFill>
                <a:latin typeface="Courier New" pitchFamily="34" charset="0"/>
                <a:ea typeface="Courier New" pitchFamily="34" charset="-122"/>
                <a:cs typeface="Courier New" pitchFamily="34" charset="-120"/>
              </a:rPr>
              <a:t>ABADINSKY’S (2013) ATTRIBUTES</a:t>
            </a:r>
            <a:endParaRPr lang="en-US" sz="1200" dirty="0"/>
          </a:p>
        </p:txBody>
      </p:sp>
      <p:sp>
        <p:nvSpPr>
          <p:cNvPr id="23" name="Hierarchy and ranks circle"/>
          <p:cNvSpPr/>
          <p:nvPr/>
        </p:nvSpPr>
        <p:spPr>
          <a:xfrm>
            <a:off x="6530188" y="2313432"/>
            <a:ext cx="457200" cy="457200"/>
          </a:xfrm>
          <a:prstGeom prst="ellipse">
            <a:avLst/>
          </a:prstGeom>
          <a:solidFill>
            <a:srgbClr val="E5383B"/>
          </a:solidFill>
          <a:ln/>
        </p:spPr>
      </p:sp>
      <p:pic>
        <p:nvPicPr>
          <p:cNvPr id="24" name="Hierarchy and ranks icon" descr="Hierarchy and ranks">    </p:cNvPr>
          <p:cNvPicPr>
            <a:picLocks noChangeAspect="1"/>
          </p:cNvPicPr>
          <p:nvPr/>
        </p:nvPicPr>
        <p:blipFill>
          <a:blip r:embed="rId6"/>
          <a:stretch>
            <a:fillRect/>
          </a:stretch>
        </p:blipFill>
        <p:spPr>
          <a:xfrm>
            <a:off x="6639916" y="2423160"/>
            <a:ext cx="237744" cy="237744"/>
          </a:xfrm>
          <a:prstGeom prst="rect">
            <a:avLst/>
          </a:prstGeom>
        </p:spPr>
      </p:pic>
      <p:sp>
        <p:nvSpPr>
          <p:cNvPr id="25" name="Text 17"/>
          <p:cNvSpPr txBox="1"/>
          <p:nvPr/>
        </p:nvSpPr>
        <p:spPr>
          <a:xfrm>
            <a:off x="7124548" y="2240280"/>
            <a:ext cx="4289908" cy="685800"/>
          </a:xfrm>
          <a:prstGeom prst="rect">
            <a:avLst/>
          </a:prstGeom>
          <a:noFill/>
          <a:ln/>
        </p:spPr>
        <p:txBody>
          <a:bodyPr wrap="square" lIns="0" tIns="0" rIns="0" bIns="0" rtlCol="0" anchor="ctr"/>
          <a:lstStyle/>
          <a:p>
            <a:pPr indent="0" marL="0">
              <a:buNone/>
            </a:pPr>
            <a:r>
              <a:rPr lang="en-US" sz="1500" b="1" dirty="0">
                <a:solidFill>
                  <a:schemeClr val="bg1"/>
                </a:solidFill>
              </a:rPr>
              <a:t>Hierarchy and ranks</a:t>
            </a:r>
            <a:endParaRPr lang="en-US" sz="1500" dirty="0"/>
          </a:p>
          <a:p>
            <a:pPr indent="0" marL="0">
              <a:buNone/>
            </a:pPr>
            <a:r>
              <a:rPr lang="en-US" sz="1300" dirty="0">
                <a:solidFill>
                  <a:srgbClr val="A9ADB5"/>
                </a:solidFill>
              </a:rPr>
              <a:t>Does not fit</a:t>
            </a:r>
            <a:endParaRPr lang="en-US" sz="1500" dirty="0"/>
          </a:p>
        </p:txBody>
      </p:sp>
      <p:sp>
        <p:nvSpPr>
          <p:cNvPr id="26" name="Exclusive membership and rituals circle"/>
          <p:cNvSpPr/>
          <p:nvPr/>
        </p:nvSpPr>
        <p:spPr>
          <a:xfrm>
            <a:off x="6530188" y="3182112"/>
            <a:ext cx="457200" cy="457200"/>
          </a:xfrm>
          <a:prstGeom prst="ellipse">
            <a:avLst/>
          </a:prstGeom>
          <a:solidFill>
            <a:srgbClr val="E5383B"/>
          </a:solidFill>
          <a:ln/>
        </p:spPr>
      </p:sp>
      <p:pic>
        <p:nvPicPr>
          <p:cNvPr id="27" name="Exclusive membership and rituals icon" descr="Exclusive membership and rituals">    </p:cNvPr>
          <p:cNvPicPr>
            <a:picLocks noChangeAspect="1"/>
          </p:cNvPicPr>
          <p:nvPr/>
        </p:nvPicPr>
        <p:blipFill>
          <a:blip r:embed="rId7"/>
          <a:stretch>
            <a:fillRect/>
          </a:stretch>
        </p:blipFill>
        <p:spPr>
          <a:xfrm>
            <a:off x="6639916" y="3291840"/>
            <a:ext cx="237744" cy="237744"/>
          </a:xfrm>
          <a:prstGeom prst="rect">
            <a:avLst/>
          </a:prstGeom>
        </p:spPr>
      </p:pic>
      <p:sp>
        <p:nvSpPr>
          <p:cNvPr id="28" name="Text 19"/>
          <p:cNvSpPr txBox="1"/>
          <p:nvPr/>
        </p:nvSpPr>
        <p:spPr>
          <a:xfrm>
            <a:off x="7124548" y="3108960"/>
            <a:ext cx="4289908" cy="685800"/>
          </a:xfrm>
          <a:prstGeom prst="rect">
            <a:avLst/>
          </a:prstGeom>
          <a:noFill/>
          <a:ln/>
        </p:spPr>
        <p:txBody>
          <a:bodyPr wrap="square" lIns="0" tIns="0" rIns="0" bIns="0" rtlCol="0" anchor="ctr"/>
          <a:lstStyle/>
          <a:p>
            <a:pPr indent="0" marL="0">
              <a:buNone/>
            </a:pPr>
            <a:r>
              <a:rPr lang="en-US" sz="1500" b="1" dirty="0">
                <a:solidFill>
                  <a:schemeClr val="bg1"/>
                </a:solidFill>
              </a:rPr>
              <a:t>Exclusive membership and rituals</a:t>
            </a:r>
            <a:endParaRPr lang="en-US" sz="1500" dirty="0"/>
          </a:p>
          <a:p>
            <a:pPr indent="0" marL="0">
              <a:buNone/>
            </a:pPr>
            <a:r>
              <a:rPr lang="en-US" sz="1300" dirty="0">
                <a:solidFill>
                  <a:srgbClr val="A9ADB5"/>
                </a:solidFill>
              </a:rPr>
              <a:t>Does not fit</a:t>
            </a:r>
            <a:endParaRPr lang="en-US" sz="1500" dirty="0"/>
          </a:p>
        </p:txBody>
      </p:sp>
      <p:sp>
        <p:nvSpPr>
          <p:cNvPr id="29" name="Survives arrest of leaders circle"/>
          <p:cNvSpPr/>
          <p:nvPr/>
        </p:nvSpPr>
        <p:spPr>
          <a:xfrm>
            <a:off x="6530188" y="4050792"/>
            <a:ext cx="457200" cy="457200"/>
          </a:xfrm>
          <a:prstGeom prst="ellipse">
            <a:avLst/>
          </a:prstGeom>
          <a:solidFill>
            <a:srgbClr val="E5383B"/>
          </a:solidFill>
          <a:ln/>
        </p:spPr>
      </p:sp>
      <p:pic>
        <p:nvPicPr>
          <p:cNvPr id="30" name="Survives arrest of leaders icon" descr="Survives arrest of leaders">    </p:cNvPr>
          <p:cNvPicPr>
            <a:picLocks noChangeAspect="1"/>
          </p:cNvPicPr>
          <p:nvPr/>
        </p:nvPicPr>
        <p:blipFill>
          <a:blip r:embed="rId8"/>
          <a:stretch>
            <a:fillRect/>
          </a:stretch>
        </p:blipFill>
        <p:spPr>
          <a:xfrm>
            <a:off x="6639916" y="4160520"/>
            <a:ext cx="237744" cy="237744"/>
          </a:xfrm>
          <a:prstGeom prst="rect">
            <a:avLst/>
          </a:prstGeom>
        </p:spPr>
      </p:pic>
      <p:sp>
        <p:nvSpPr>
          <p:cNvPr id="31" name="Text 21"/>
          <p:cNvSpPr txBox="1"/>
          <p:nvPr/>
        </p:nvSpPr>
        <p:spPr>
          <a:xfrm>
            <a:off x="7124548" y="3977640"/>
            <a:ext cx="4289908" cy="685800"/>
          </a:xfrm>
          <a:prstGeom prst="rect">
            <a:avLst/>
          </a:prstGeom>
          <a:noFill/>
          <a:ln/>
        </p:spPr>
        <p:txBody>
          <a:bodyPr wrap="square" lIns="0" tIns="0" rIns="0" bIns="0" rtlCol="0" anchor="ctr"/>
          <a:lstStyle/>
          <a:p>
            <a:pPr indent="0" marL="0">
              <a:buNone/>
            </a:pPr>
            <a:r>
              <a:rPr lang="en-US" sz="1500" b="1" dirty="0">
                <a:solidFill>
                  <a:schemeClr val="bg1"/>
                </a:solidFill>
              </a:rPr>
              <a:t>Survives arrest of leaders</a:t>
            </a:r>
            <a:endParaRPr lang="en-US" sz="1500" dirty="0"/>
          </a:p>
          <a:p>
            <a:pPr indent="0" marL="0">
              <a:buNone/>
            </a:pPr>
            <a:r>
              <a:rPr lang="en-US" sz="1300" dirty="0">
                <a:solidFill>
                  <a:srgbClr val="A9ADB5"/>
                </a:solidFill>
              </a:rPr>
              <a:t>Does not fit</a:t>
            </a:r>
            <a:endParaRPr lang="en-US" sz="1500" dirty="0"/>
          </a:p>
        </p:txBody>
      </p:sp>
      <p:sp>
        <p:nvSpPr>
          <p:cNvPr id="32" name="Profit-driven, specialized roles circle"/>
          <p:cNvSpPr/>
          <p:nvPr/>
        </p:nvSpPr>
        <p:spPr>
          <a:xfrm>
            <a:off x="6530188" y="4919472"/>
            <a:ext cx="457200" cy="457200"/>
          </a:xfrm>
          <a:prstGeom prst="ellipse">
            <a:avLst/>
          </a:prstGeom>
          <a:solidFill>
            <a:srgbClr val="4F8A5B"/>
          </a:solidFill>
          <a:ln/>
        </p:spPr>
      </p:sp>
      <p:pic>
        <p:nvPicPr>
          <p:cNvPr id="33" name="Profit-driven, specialized roles icon" descr="Profit-driven, specialized roles">    </p:cNvPr>
          <p:cNvPicPr>
            <a:picLocks noChangeAspect="1"/>
          </p:cNvPicPr>
          <p:nvPr/>
        </p:nvPicPr>
        <p:blipFill>
          <a:blip r:embed="rId9"/>
          <a:stretch>
            <a:fillRect/>
          </a:stretch>
        </p:blipFill>
        <p:spPr>
          <a:xfrm>
            <a:off x="6639916" y="5029200"/>
            <a:ext cx="237744" cy="237744"/>
          </a:xfrm>
          <a:prstGeom prst="rect">
            <a:avLst/>
          </a:prstGeom>
        </p:spPr>
      </p:pic>
      <p:sp>
        <p:nvSpPr>
          <p:cNvPr id="34" name="Text 23"/>
          <p:cNvSpPr txBox="1"/>
          <p:nvPr/>
        </p:nvSpPr>
        <p:spPr>
          <a:xfrm>
            <a:off x="7124548" y="4846320"/>
            <a:ext cx="4289908" cy="685800"/>
          </a:xfrm>
          <a:prstGeom prst="rect">
            <a:avLst/>
          </a:prstGeom>
          <a:noFill/>
          <a:ln/>
        </p:spPr>
        <p:txBody>
          <a:bodyPr wrap="square" lIns="0" tIns="0" rIns="0" bIns="0" rtlCol="0" anchor="ctr"/>
          <a:lstStyle/>
          <a:p>
            <a:pPr indent="0" marL="0">
              <a:buNone/>
            </a:pPr>
            <a:r>
              <a:rPr lang="en-US" sz="1500" b="1" dirty="0">
                <a:solidFill>
                  <a:schemeClr val="bg1"/>
                </a:solidFill>
              </a:rPr>
              <a:t>Profit-driven, specialized roles</a:t>
            </a:r>
            <a:endParaRPr lang="en-US" sz="1500" dirty="0"/>
          </a:p>
          <a:p>
            <a:pPr indent="0" marL="0">
              <a:buNone/>
            </a:pPr>
            <a:r>
              <a:rPr lang="en-US" sz="1300" dirty="0">
                <a:solidFill>
                  <a:srgbClr val="A9ADB5"/>
                </a:solidFill>
              </a:rPr>
              <a:t>Fits</a:t>
            </a:r>
            <a:endParaRPr lang="en-US" sz="1500" dirty="0"/>
          </a:p>
        </p:txBody>
      </p:sp>
      <p:sp>
        <p:nvSpPr>
          <p:cNvPr id="35" name="subtitle"/>
          <p:cNvSpPr txBox="1"/>
          <p:nvPr/>
        </p:nvSpPr>
        <p:spPr>
          <a:xfrm>
            <a:off x="1005840" y="5897880"/>
            <a:ext cx="10180015" cy="502920"/>
          </a:xfrm>
          <a:prstGeom prst="rect">
            <a:avLst/>
          </a:prstGeom>
          <a:noFill/>
          <a:ln/>
        </p:spPr>
        <p:txBody>
          <a:bodyPr wrap="square" lIns="0" tIns="0" rIns="0" bIns="0" rtlCol="0" anchor="ctr"/>
          <a:lstStyle/>
          <a:p>
            <a:pPr algn="ctr" indent="0" marL="0">
              <a:buNone/>
            </a:pPr>
            <a:r>
              <a:rPr lang="en-US" sz="1800" i="1" dirty="0">
                <a:solidFill>
                  <a:srgbClr val="FFD84D"/>
                </a:solidFill>
              </a:rPr>
              <a:t>Our verdict: organized white-collar crime, a legal company committing organized, transnational fraud</a:t>
            </a:r>
            <a:endParaRPr lang="en-US" sz="1800" dirty="0"/>
          </a:p>
        </p:txBody>
      </p:sp>
      <p:sp>
        <p:nvSpPr>
          <p:cNvPr id="25" name="Slide Number Placeholder 0"/>
          <p:cNvSpPr>
            <a:spLocks noGrp="1"/>
          </p:cNvSpPr>
          <p:nvPr>
            <p:ph type="sldNum" sz="quarter" idx="4294967295"/>
          </p:nvPr>
        </p:nvSpPr>
        <p:spPr>
          <a:xfrm>
            <a:off x="11094415" y="6400800"/>
            <a:ext cx="54864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6E727A"/>
                </a:solidFill>
                <a:latin typeface="Courier New"/>
                <a:ea typeface="Courier New"/>
                <a:cs typeface="Courier New"/>
              </a:defRPr>
            </a:lvl1pPr>
          </a:lstStyle>
          <a:p>
            <a:pPr algn="r"/>
            <a:fld id="{F7021451-1387-4CA6-816F-3879F97B5CBC}" type="slidenum">
              <a:rPr b="1" lang="en-US"/>
              <a:t>6</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63" fill="hold">
                      <p:stCondLst>
                        <p:cond delay="indefinite"/>
                        <p:cond evt="onBegin" delay="0">
                          <p:tn val="2"/>
                        </p:cond>
                      </p:stCondLst>
                      <p:childTnLst>
                        <p:par>
                          <p:cTn id="164" fill="hold">
                            <p:stCondLst>
                              <p:cond delay="0"/>
                            </p:stCondLst>
                            <p:childTnLst>
                              <p:par>
                                <p:cTn id="7" presetID="53" presetClass="entr" presetSubtype="32" fill="hold" grpId="0" nodeType="afterEffect">
                                  <p:stCondLst>
                                    <p:cond delay="0"/>
                                  </p:stCondLst>
                                  <p:childTnLst>
                                    <p:set>
                                      <p:cBhvr>
                                        <p:cTn id="3" dur="1" fill="hold">
                                          <p:stCondLst>
                                            <p:cond delay="0"/>
                                          </p:stCondLst>
                                        </p:cTn>
                                        <p:tgtEl>
                                          <p:spTgt spid="2"/>
                                        </p:tgtEl>
                                        <p:attrNameLst>
                                          <p:attrName>style.visibility</p:attrName>
                                        </p:attrNameLst>
                                      </p:cBhvr>
                                      <p:to>
                                        <p:strVal val="visible"/>
                                      </p:to>
                                    </p:set>
                                    <p:anim calcmode="lin" valueType="num">
                                      <p:cBhvr additive="base">
                                        <p:cTn id="4" dur="450" fill="hold"/>
                                        <p:tgtEl>
                                          <p:spTgt spid="2"/>
                                        </p:tgtEl>
                                        <p:attrNameLst>
                                          <p:attrName>ppt_w</p:attrName>
                                        </p:attrNameLst>
                                      </p:cBhvr>
                                      <p:tavLst>
                                        <p:tav tm="0">
                                          <p:val>
                                            <p:strVal val="#ppt_w*2.4"/>
                                          </p:val>
                                        </p:tav>
                                        <p:tav tm="100000">
                                          <p:val>
                                            <p:strVal val="#ppt_w"/>
                                          </p:val>
                                        </p:tav>
                                      </p:tavLst>
                                    </p:anim>
                                    <p:anim calcmode="lin" valueType="num">
                                      <p:cBhvr additive="base">
                                        <p:cTn id="5" dur="450" fill="hold"/>
                                        <p:tgtEl>
                                          <p:spTgt spid="2"/>
                                        </p:tgtEl>
                                        <p:attrNameLst>
                                          <p:attrName>ppt_h</p:attrName>
                                        </p:attrNameLst>
                                      </p:cBhvr>
                                      <p:tavLst>
                                        <p:tav tm="0">
                                          <p:val>
                                            <p:strVal val="#ppt_h*2.4"/>
                                          </p:val>
                                        </p:tav>
                                        <p:tav tm="100000">
                                          <p:val>
                                            <p:strVal val="#ppt_h"/>
                                          </p:val>
                                        </p:tav>
                                      </p:tavLst>
                                    </p:anim>
                                    <p:animEffect transition="in" filter="fade">
                                      <p:cBhvr>
                                        <p:cTn id="6" dur="450"/>
                                        <p:tgtEl>
                                          <p:spTgt spid="2"/>
                                        </p:tgtEl>
                                      </p:cBhvr>
                                    </p:animEffect>
                                  </p:childTnLst>
                                </p:cTn>
                              </p:par>
                              <p:par>
                                <p:cTn id="12" presetID="53" presetClass="entr" presetSubtype="32"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anim calcmode="lin" valueType="num">
                                      <p:cBhvr additive="base">
                                        <p:cTn id="9" dur="450" fill="hold"/>
                                        <p:tgtEl>
                                          <p:spTgt spid="3"/>
                                        </p:tgtEl>
                                        <p:attrNameLst>
                                          <p:attrName>ppt_w</p:attrName>
                                        </p:attrNameLst>
                                      </p:cBhvr>
                                      <p:tavLst>
                                        <p:tav tm="0">
                                          <p:val>
                                            <p:strVal val="#ppt_w*2.4"/>
                                          </p:val>
                                        </p:tav>
                                        <p:tav tm="100000">
                                          <p:val>
                                            <p:strVal val="#ppt_w"/>
                                          </p:val>
                                        </p:tav>
                                      </p:tavLst>
                                    </p:anim>
                                    <p:anim calcmode="lin" valueType="num">
                                      <p:cBhvr additive="base">
                                        <p:cTn id="10" dur="450" fill="hold"/>
                                        <p:tgtEl>
                                          <p:spTgt spid="3"/>
                                        </p:tgtEl>
                                        <p:attrNameLst>
                                          <p:attrName>ppt_h</p:attrName>
                                        </p:attrNameLst>
                                      </p:cBhvr>
                                      <p:tavLst>
                                        <p:tav tm="0">
                                          <p:val>
                                            <p:strVal val="#ppt_h*2.4"/>
                                          </p:val>
                                        </p:tav>
                                        <p:tav tm="100000">
                                          <p:val>
                                            <p:strVal val="#ppt_h"/>
                                          </p:val>
                                        </p:tav>
                                      </p:tavLst>
                                    </p:anim>
                                    <p:animEffect transition="in" filter="fade">
                                      <p:cBhvr>
                                        <p:cTn id="11" dur="450"/>
                                        <p:tgtEl>
                                          <p:spTgt spid="3"/>
                                        </p:tgtEl>
                                      </p:cBhvr>
                                    </p:animEffect>
                                  </p:childTnLst>
                                </p:cTn>
                              </p:par>
                              <p:par>
                                <p:cTn id="17" presetID="53" presetClass="entr" presetSubtype="32" fill="hold" grpId="0" nodeType="withEffect">
                                  <p:stCondLst>
                                    <p:cond delay="0"/>
                                  </p:stCondLst>
                                  <p:childTnLst>
                                    <p:set>
                                      <p:cBhvr>
                                        <p:cTn id="13" dur="1" fill="hold">
                                          <p:stCondLst>
                                            <p:cond delay="0"/>
                                          </p:stCondLst>
                                        </p:cTn>
                                        <p:tgtEl>
                                          <p:spTgt spid="4"/>
                                        </p:tgtEl>
                                        <p:attrNameLst>
                                          <p:attrName>style.visibility</p:attrName>
                                        </p:attrNameLst>
                                      </p:cBhvr>
                                      <p:to>
                                        <p:strVal val="visible"/>
                                      </p:to>
                                    </p:set>
                                    <p:anim calcmode="lin" valueType="num">
                                      <p:cBhvr additive="base">
                                        <p:cTn id="14" dur="450" fill="hold"/>
                                        <p:tgtEl>
                                          <p:spTgt spid="4"/>
                                        </p:tgtEl>
                                        <p:attrNameLst>
                                          <p:attrName>ppt_w</p:attrName>
                                        </p:attrNameLst>
                                      </p:cBhvr>
                                      <p:tavLst>
                                        <p:tav tm="0">
                                          <p:val>
                                            <p:strVal val="#ppt_w*2.4"/>
                                          </p:val>
                                        </p:tav>
                                        <p:tav tm="100000">
                                          <p:val>
                                            <p:strVal val="#ppt_w"/>
                                          </p:val>
                                        </p:tav>
                                      </p:tavLst>
                                    </p:anim>
                                    <p:anim calcmode="lin" valueType="num">
                                      <p:cBhvr additive="base">
                                        <p:cTn id="15" dur="450" fill="hold"/>
                                        <p:tgtEl>
                                          <p:spTgt spid="4"/>
                                        </p:tgtEl>
                                        <p:attrNameLst>
                                          <p:attrName>ppt_h</p:attrName>
                                        </p:attrNameLst>
                                      </p:cBhvr>
                                      <p:tavLst>
                                        <p:tav tm="0">
                                          <p:val>
                                            <p:strVal val="#ppt_h*2.4"/>
                                          </p:val>
                                        </p:tav>
                                        <p:tav tm="100000">
                                          <p:val>
                                            <p:strVal val="#ppt_h"/>
                                          </p:val>
                                        </p:tav>
                                      </p:tavLst>
                                    </p:anim>
                                    <p:animEffect transition="in" filter="fade">
                                      <p:cBhvr>
                                        <p:cTn id="16" dur="450"/>
                                        <p:tgtEl>
                                          <p:spTgt spid="4"/>
                                        </p:tgtEl>
                                      </p:cBhvr>
                                    </p:animEffect>
                                  </p:childTnLst>
                                </p:cTn>
                              </p:par>
                              <p:par>
                                <p:cTn id="22" presetID="42" presetClass="entr" presetSubtype="0" fill="hold" grpId="0" nodeType="withEffect">
                                  <p:stCondLst>
                                    <p:cond delay="40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700"/>
                                        <p:tgtEl>
                                          <p:spTgt spid="6"/>
                                        </p:tgtEl>
                                      </p:cBhvr>
                                    </p:animEffect>
                                    <p:anim calcmode="lin" valueType="num">
                                      <p:cBhvr additive="base">
                                        <p:cTn id="20" dur="700" fill="hold"/>
                                        <p:tgtEl>
                                          <p:spTgt spid="6"/>
                                        </p:tgtEl>
                                        <p:attrNameLst>
                                          <p:attrName>ppt_x</p:attrName>
                                        </p:attrNameLst>
                                      </p:cBhvr>
                                      <p:tavLst>
                                        <p:tav tm="0">
                                          <p:val>
                                            <p:strVal val="#ppt_x"/>
                                          </p:val>
                                        </p:tav>
                                        <p:tav tm="100000">
                                          <p:val>
                                            <p:strVal val="#ppt_x"/>
                                          </p:val>
                                        </p:tav>
                                      </p:tavLst>
                                    </p:anim>
                                    <p:anim calcmode="lin" valueType="num">
                                      <p:cBhvr additive="base">
                                        <p:cTn id="21" dur="700" fill="hold"/>
                                        <p:tgtEl>
                                          <p:spTgt spid="6"/>
                                        </p:tgtEl>
                                        <p:attrNameLst>
                                          <p:attrName>ppt_y</p:attrName>
                                        </p:attrNameLst>
                                      </p:cBhvr>
                                      <p:tavLst>
                                        <p:tav tm="0">
                                          <p:val>
                                            <p:strVal val="#ppt_y+.06"/>
                                          </p:val>
                                        </p:tav>
                                        <p:tav tm="100000">
                                          <p:val>
                                            <p:strVal val="#ppt_y"/>
                                          </p:val>
                                        </p:tav>
                                      </p:tavLst>
                                    </p:anim>
                                  </p:childTnLst>
                                </p:cTn>
                              </p:par>
                              <p:par>
                                <p:cTn id="24" presetID="1" presetClass="entr" presetSubtype="0" fill="hold" grpId="0" nodeType="withEffect">
                                  <p:stCondLst>
                                    <p:cond delay="500"/>
                                  </p:stCondLst>
                                  <p:iterate type="lt">
                                    <p:tmAbs val="30"/>
                                  </p:iterate>
                                  <p:childTnLst>
                                    <p:set>
                                      <p:cBhvr>
                                        <p:cTn id="23" dur="1" fill="hold">
                                          <p:stCondLst>
                                            <p:cond delay="0"/>
                                          </p:stCondLst>
                                        </p:cTn>
                                        <p:tgtEl>
                                          <p:spTgt spid="5"/>
                                        </p:tgtEl>
                                        <p:attrNameLst>
                                          <p:attrName>style.visibility</p:attrName>
                                        </p:attrNameLst>
                                      </p:cBhvr>
                                      <p:to>
                                        <p:strVal val="visible"/>
                                      </p:to>
                                    </p:set>
                                  </p:childTnLst>
                                </p:cTn>
                              </p:par>
                              <p:par>
                                <p:cTn id="26" presetID="6" presetClass="emph" presetSubtype="0" fill="hold" grpId="1" nodeType="withEffect" autoRev="1" repeatCount="indefinite">
                                  <p:stCondLst>
                                    <p:cond delay="900"/>
                                  </p:stCondLst>
                                  <p:childTnLst>
                                    <p:animScale>
                                      <p:cBhvr>
                                        <p:cTn id="25" dur="800" fill="hold"/>
                                        <p:tgtEl>
                                          <p:spTgt spid="2"/>
                                        </p:tgtEl>
                                      </p:cBhvr>
                                      <p:by x="106000" y="106000"/>
                                    </p:animScale>
                                  </p:childTnLst>
                                </p:cTn>
                              </p:par>
                              <p:par>
                                <p:cTn id="31" presetID="53" presetClass="entr" presetSubtype="16" fill="hold" grpId="0" nodeType="withEffect">
                                  <p:stCondLst>
                                    <p:cond delay="900"/>
                                  </p:stCondLst>
                                  <p:childTnLst>
                                    <p:set>
                                      <p:cBhvr>
                                        <p:cTn id="27" dur="1" fill="hold">
                                          <p:stCondLst>
                                            <p:cond delay="0"/>
                                          </p:stCondLst>
                                        </p:cTn>
                                        <p:tgtEl>
                                          <p:spTgt spid="7"/>
                                        </p:tgtEl>
                                        <p:attrNameLst>
                                          <p:attrName>style.visibility</p:attrName>
                                        </p:attrNameLst>
                                      </p:cBhvr>
                                      <p:to>
                                        <p:strVal val="visible"/>
                                      </p:to>
                                    </p:set>
                                    <p:anim calcmode="lin" valueType="num">
                                      <p:cBhvr additive="base">
                                        <p:cTn id="28" dur="600" fill="hold"/>
                                        <p:tgtEl>
                                          <p:spTgt spid="7"/>
                                        </p:tgtEl>
                                        <p:attrNameLst>
                                          <p:attrName>ppt_w</p:attrName>
                                        </p:attrNameLst>
                                      </p:cBhvr>
                                      <p:tavLst>
                                        <p:tav tm="0">
                                          <p:val>
                                            <p:strVal val="0"/>
                                          </p:val>
                                        </p:tav>
                                        <p:tav tm="100000">
                                          <p:val>
                                            <p:strVal val="#ppt_w"/>
                                          </p:val>
                                        </p:tav>
                                      </p:tavLst>
                                    </p:anim>
                                    <p:anim calcmode="lin" valueType="num">
                                      <p:cBhvr additive="base">
                                        <p:cTn id="29" dur="600" fill="hold"/>
                                        <p:tgtEl>
                                          <p:spTgt spid="7"/>
                                        </p:tgtEl>
                                        <p:attrNameLst>
                                          <p:attrName>ppt_h</p:attrName>
                                        </p:attrNameLst>
                                      </p:cBhvr>
                                      <p:tavLst>
                                        <p:tav tm="0">
                                          <p:val>
                                            <p:strVal val="0"/>
                                          </p:val>
                                        </p:tav>
                                        <p:tav tm="100000">
                                          <p:val>
                                            <p:strVal val="#ppt_h"/>
                                          </p:val>
                                        </p:tav>
                                      </p:tavLst>
                                    </p:anim>
                                    <p:animEffect transition="in" filter="fade">
                                      <p:cBhvr>
                                        <p:cTn id="30" dur="600"/>
                                        <p:tgtEl>
                                          <p:spTgt spid="7"/>
                                        </p:tgtEl>
                                      </p:cBhvr>
                                    </p:animEffect>
                                  </p:childTnLst>
                                </p:cTn>
                              </p:par>
                              <p:par>
                                <p:cTn id="33" presetID="1" presetClass="entr" presetSubtype="0" fill="hold" grpId="0" nodeType="withEffect">
                                  <p:stCondLst>
                                    <p:cond delay="1400"/>
                                  </p:stCondLst>
                                  <p:iterate type="lt">
                                    <p:tmAbs val="25"/>
                                  </p:iterate>
                                  <p:childTnLst>
                                    <p:set>
                                      <p:cBhvr>
                                        <p:cTn id="32" dur="1" fill="hold">
                                          <p:stCondLst>
                                            <p:cond delay="0"/>
                                          </p:stCondLst>
                                        </p:cTn>
                                        <p:tgtEl>
                                          <p:spTgt spid="8"/>
                                        </p:tgtEl>
                                        <p:attrNameLst>
                                          <p:attrName>style.visibility</p:attrName>
                                        </p:attrNameLst>
                                      </p:cBhvr>
                                      <p:to>
                                        <p:strVal val="visible"/>
                                      </p:to>
                                    </p:set>
                                  </p:childTnLst>
                                </p:cTn>
                              </p:par>
                              <p:par>
                                <p:cTn id="38" presetID="53" presetClass="entr" presetSubtype="32" fill="hold" grpId="0" nodeType="withEffect">
                                  <p:stCondLst>
                                    <p:cond delay="1900"/>
                                  </p:stCondLst>
                                  <p:childTnLst>
                                    <p:set>
                                      <p:cBhvr>
                                        <p:cTn id="34" dur="1" fill="hold">
                                          <p:stCondLst>
                                            <p:cond delay="0"/>
                                          </p:stCondLst>
                                        </p:cTn>
                                        <p:tgtEl>
                                          <p:spTgt spid="9"/>
                                        </p:tgtEl>
                                        <p:attrNameLst>
                                          <p:attrName>style.visibility</p:attrName>
                                        </p:attrNameLst>
                                      </p:cBhvr>
                                      <p:to>
                                        <p:strVal val="visible"/>
                                      </p:to>
                                    </p:set>
                                    <p:anim calcmode="lin" valueType="num">
                                      <p:cBhvr additive="base">
                                        <p:cTn id="35" dur="400" fill="hold"/>
                                        <p:tgtEl>
                                          <p:spTgt spid="9"/>
                                        </p:tgtEl>
                                        <p:attrNameLst>
                                          <p:attrName>ppt_w</p:attrName>
                                        </p:attrNameLst>
                                      </p:cBhvr>
                                      <p:tavLst>
                                        <p:tav tm="0">
                                          <p:val>
                                            <p:strVal val="#ppt_w*2.4"/>
                                          </p:val>
                                        </p:tav>
                                        <p:tav tm="100000">
                                          <p:val>
                                            <p:strVal val="#ppt_w"/>
                                          </p:val>
                                        </p:tav>
                                      </p:tavLst>
                                    </p:anim>
                                    <p:anim calcmode="lin" valueType="num">
                                      <p:cBhvr additive="base">
                                        <p:cTn id="36" dur="400" fill="hold"/>
                                        <p:tgtEl>
                                          <p:spTgt spid="9"/>
                                        </p:tgtEl>
                                        <p:attrNameLst>
                                          <p:attrName>ppt_h</p:attrName>
                                        </p:attrNameLst>
                                      </p:cBhvr>
                                      <p:tavLst>
                                        <p:tav tm="0">
                                          <p:val>
                                            <p:strVal val="#ppt_h*2.4"/>
                                          </p:val>
                                        </p:tav>
                                        <p:tav tm="100000">
                                          <p:val>
                                            <p:strVal val="#ppt_h"/>
                                          </p:val>
                                        </p:tav>
                                      </p:tavLst>
                                    </p:anim>
                                    <p:animEffect transition="in" filter="fade">
                                      <p:cBhvr>
                                        <p:cTn id="37" dur="400"/>
                                        <p:tgtEl>
                                          <p:spTgt spid="9"/>
                                        </p:tgtEl>
                                      </p:cBhvr>
                                    </p:animEffect>
                                  </p:childTnLst>
                                </p:cTn>
                              </p:par>
                              <p:par>
                                <p:cTn id="43" presetID="53" presetClass="entr" presetSubtype="32" fill="hold" grpId="0" nodeType="withEffect">
                                  <p:stCondLst>
                                    <p:cond delay="1900"/>
                                  </p:stCondLst>
                                  <p:childTnLst>
                                    <p:set>
                                      <p:cBhvr>
                                        <p:cTn id="39" dur="1" fill="hold">
                                          <p:stCondLst>
                                            <p:cond delay="0"/>
                                          </p:stCondLst>
                                        </p:cTn>
                                        <p:tgtEl>
                                          <p:spTgt spid="10"/>
                                        </p:tgtEl>
                                        <p:attrNameLst>
                                          <p:attrName>style.visibility</p:attrName>
                                        </p:attrNameLst>
                                      </p:cBhvr>
                                      <p:to>
                                        <p:strVal val="visible"/>
                                      </p:to>
                                    </p:set>
                                    <p:anim calcmode="lin" valueType="num">
                                      <p:cBhvr additive="base">
                                        <p:cTn id="40" dur="400" fill="hold"/>
                                        <p:tgtEl>
                                          <p:spTgt spid="10"/>
                                        </p:tgtEl>
                                        <p:attrNameLst>
                                          <p:attrName>ppt_w</p:attrName>
                                        </p:attrNameLst>
                                      </p:cBhvr>
                                      <p:tavLst>
                                        <p:tav tm="0">
                                          <p:val>
                                            <p:strVal val="#ppt_w*2.4"/>
                                          </p:val>
                                        </p:tav>
                                        <p:tav tm="100000">
                                          <p:val>
                                            <p:strVal val="#ppt_w"/>
                                          </p:val>
                                        </p:tav>
                                      </p:tavLst>
                                    </p:anim>
                                    <p:anim calcmode="lin" valueType="num">
                                      <p:cBhvr additive="base">
                                        <p:cTn id="41" dur="400" fill="hold"/>
                                        <p:tgtEl>
                                          <p:spTgt spid="10"/>
                                        </p:tgtEl>
                                        <p:attrNameLst>
                                          <p:attrName>ppt_h</p:attrName>
                                        </p:attrNameLst>
                                      </p:cBhvr>
                                      <p:tavLst>
                                        <p:tav tm="0">
                                          <p:val>
                                            <p:strVal val="#ppt_h*2.4"/>
                                          </p:val>
                                        </p:tav>
                                        <p:tav tm="100000">
                                          <p:val>
                                            <p:strVal val="#ppt_h"/>
                                          </p:val>
                                        </p:tav>
                                      </p:tavLst>
                                    </p:anim>
                                    <p:animEffect transition="in" filter="fade">
                                      <p:cBhvr>
                                        <p:cTn id="42" dur="400"/>
                                        <p:tgtEl>
                                          <p:spTgt spid="10"/>
                                        </p:tgtEl>
                                      </p:cBhvr>
                                    </p:animEffect>
                                  </p:childTnLst>
                                </p:cTn>
                              </p:par>
                              <p:par>
                                <p:cTn id="48" presetID="42" presetClass="entr" presetSubtype="0" fill="hold" grpId="0" nodeType="withEffect">
                                  <p:stCondLst>
                                    <p:cond delay="1900"/>
                                  </p:stCondLst>
                                  <p:childTnLst>
                                    <p:set>
                                      <p:cBhvr>
                                        <p:cTn id="44" dur="1" fill="hold">
                                          <p:stCondLst>
                                            <p:cond delay="0"/>
                                          </p:stCondLst>
                                        </p:cTn>
                                        <p:tgtEl>
                                          <p:spTgt spid="11"/>
                                        </p:tgtEl>
                                        <p:attrNameLst>
                                          <p:attrName>style.visibility</p:attrName>
                                        </p:attrNameLst>
                                      </p:cBhvr>
                                      <p:to>
                                        <p:strVal val="visible"/>
                                      </p:to>
                                    </p:set>
                                    <p:animEffect transition="in" filter="fade">
                                      <p:cBhvr>
                                        <p:cTn id="45" dur="500"/>
                                        <p:tgtEl>
                                          <p:spTgt spid="11"/>
                                        </p:tgtEl>
                                      </p:cBhvr>
                                    </p:animEffect>
                                    <p:anim calcmode="lin" valueType="num">
                                      <p:cBhvr additive="base">
                                        <p:cTn id="46" dur="500" fill="hold"/>
                                        <p:tgtEl>
                                          <p:spTgt spid="11"/>
                                        </p:tgtEl>
                                        <p:attrNameLst>
                                          <p:attrName>ppt_x</p:attrName>
                                        </p:attrNameLst>
                                      </p:cBhvr>
                                      <p:tavLst>
                                        <p:tav tm="0">
                                          <p:val>
                                            <p:strVal val="#ppt_x"/>
                                          </p:val>
                                        </p:tav>
                                        <p:tav tm="100000">
                                          <p:val>
                                            <p:strVal val="#ppt_x"/>
                                          </p:val>
                                        </p:tav>
                                      </p:tavLst>
                                    </p:anim>
                                    <p:anim calcmode="lin" valueType="num">
                                      <p:cBhvr additive="base">
                                        <p:cTn id="47" dur="500" fill="hold"/>
                                        <p:tgtEl>
                                          <p:spTgt spid="11"/>
                                        </p:tgtEl>
                                        <p:attrNameLst>
                                          <p:attrName>ppt_y</p:attrName>
                                        </p:attrNameLst>
                                      </p:cBhvr>
                                      <p:tavLst>
                                        <p:tav tm="0">
                                          <p:val>
                                            <p:strVal val="#ppt_y+.06"/>
                                          </p:val>
                                        </p:tav>
                                        <p:tav tm="100000">
                                          <p:val>
                                            <p:strVal val="#ppt_y"/>
                                          </p:val>
                                        </p:tav>
                                      </p:tavLst>
                                    </p:anim>
                                  </p:childTnLst>
                                </p:cTn>
                              </p:par>
                              <p:par>
                                <p:cTn id="53" presetID="53" presetClass="entr" presetSubtype="32" fill="hold" grpId="0" nodeType="withEffect">
                                  <p:stCondLst>
                                    <p:cond delay="2350"/>
                                  </p:stCondLst>
                                  <p:childTnLst>
                                    <p:set>
                                      <p:cBhvr>
                                        <p:cTn id="49" dur="1" fill="hold">
                                          <p:stCondLst>
                                            <p:cond delay="0"/>
                                          </p:stCondLst>
                                        </p:cTn>
                                        <p:tgtEl>
                                          <p:spTgt spid="12"/>
                                        </p:tgtEl>
                                        <p:attrNameLst>
                                          <p:attrName>style.visibility</p:attrName>
                                        </p:attrNameLst>
                                      </p:cBhvr>
                                      <p:to>
                                        <p:strVal val="visible"/>
                                      </p:to>
                                    </p:set>
                                    <p:anim calcmode="lin" valueType="num">
                                      <p:cBhvr additive="base">
                                        <p:cTn id="50" dur="400" fill="hold"/>
                                        <p:tgtEl>
                                          <p:spTgt spid="12"/>
                                        </p:tgtEl>
                                        <p:attrNameLst>
                                          <p:attrName>ppt_w</p:attrName>
                                        </p:attrNameLst>
                                      </p:cBhvr>
                                      <p:tavLst>
                                        <p:tav tm="0">
                                          <p:val>
                                            <p:strVal val="#ppt_w*2.4"/>
                                          </p:val>
                                        </p:tav>
                                        <p:tav tm="100000">
                                          <p:val>
                                            <p:strVal val="#ppt_w"/>
                                          </p:val>
                                        </p:tav>
                                      </p:tavLst>
                                    </p:anim>
                                    <p:anim calcmode="lin" valueType="num">
                                      <p:cBhvr additive="base">
                                        <p:cTn id="51" dur="400" fill="hold"/>
                                        <p:tgtEl>
                                          <p:spTgt spid="12"/>
                                        </p:tgtEl>
                                        <p:attrNameLst>
                                          <p:attrName>ppt_h</p:attrName>
                                        </p:attrNameLst>
                                      </p:cBhvr>
                                      <p:tavLst>
                                        <p:tav tm="0">
                                          <p:val>
                                            <p:strVal val="#ppt_h*2.4"/>
                                          </p:val>
                                        </p:tav>
                                        <p:tav tm="100000">
                                          <p:val>
                                            <p:strVal val="#ppt_h"/>
                                          </p:val>
                                        </p:tav>
                                      </p:tavLst>
                                    </p:anim>
                                    <p:animEffect transition="in" filter="fade">
                                      <p:cBhvr>
                                        <p:cTn id="52" dur="400"/>
                                        <p:tgtEl>
                                          <p:spTgt spid="12"/>
                                        </p:tgtEl>
                                      </p:cBhvr>
                                    </p:animEffect>
                                  </p:childTnLst>
                                </p:cTn>
                              </p:par>
                              <p:par>
                                <p:cTn id="58" presetID="53" presetClass="entr" presetSubtype="32" fill="hold" grpId="0" nodeType="withEffect">
                                  <p:stCondLst>
                                    <p:cond delay="2350"/>
                                  </p:stCondLst>
                                  <p:childTnLst>
                                    <p:set>
                                      <p:cBhvr>
                                        <p:cTn id="54" dur="1" fill="hold">
                                          <p:stCondLst>
                                            <p:cond delay="0"/>
                                          </p:stCondLst>
                                        </p:cTn>
                                        <p:tgtEl>
                                          <p:spTgt spid="13"/>
                                        </p:tgtEl>
                                        <p:attrNameLst>
                                          <p:attrName>style.visibility</p:attrName>
                                        </p:attrNameLst>
                                      </p:cBhvr>
                                      <p:to>
                                        <p:strVal val="visible"/>
                                      </p:to>
                                    </p:set>
                                    <p:anim calcmode="lin" valueType="num">
                                      <p:cBhvr additive="base">
                                        <p:cTn id="55" dur="400" fill="hold"/>
                                        <p:tgtEl>
                                          <p:spTgt spid="13"/>
                                        </p:tgtEl>
                                        <p:attrNameLst>
                                          <p:attrName>ppt_w</p:attrName>
                                        </p:attrNameLst>
                                      </p:cBhvr>
                                      <p:tavLst>
                                        <p:tav tm="0">
                                          <p:val>
                                            <p:strVal val="#ppt_w*2.4"/>
                                          </p:val>
                                        </p:tav>
                                        <p:tav tm="100000">
                                          <p:val>
                                            <p:strVal val="#ppt_w"/>
                                          </p:val>
                                        </p:tav>
                                      </p:tavLst>
                                    </p:anim>
                                    <p:anim calcmode="lin" valueType="num">
                                      <p:cBhvr additive="base">
                                        <p:cTn id="56" dur="400" fill="hold"/>
                                        <p:tgtEl>
                                          <p:spTgt spid="13"/>
                                        </p:tgtEl>
                                        <p:attrNameLst>
                                          <p:attrName>ppt_h</p:attrName>
                                        </p:attrNameLst>
                                      </p:cBhvr>
                                      <p:tavLst>
                                        <p:tav tm="0">
                                          <p:val>
                                            <p:strVal val="#ppt_h*2.4"/>
                                          </p:val>
                                        </p:tav>
                                        <p:tav tm="100000">
                                          <p:val>
                                            <p:strVal val="#ppt_h"/>
                                          </p:val>
                                        </p:tav>
                                      </p:tavLst>
                                    </p:anim>
                                    <p:animEffect transition="in" filter="fade">
                                      <p:cBhvr>
                                        <p:cTn id="57" dur="400"/>
                                        <p:tgtEl>
                                          <p:spTgt spid="13"/>
                                        </p:tgtEl>
                                      </p:cBhvr>
                                    </p:animEffect>
                                  </p:childTnLst>
                                </p:cTn>
                              </p:par>
                              <p:par>
                                <p:cTn id="63" presetID="42" presetClass="entr" presetSubtype="0" fill="hold" grpId="0" nodeType="withEffect">
                                  <p:stCondLst>
                                    <p:cond delay="2350"/>
                                  </p:stCondLst>
                                  <p:childTnLst>
                                    <p:set>
                                      <p:cBhvr>
                                        <p:cTn id="59" dur="1" fill="hold">
                                          <p:stCondLst>
                                            <p:cond delay="0"/>
                                          </p:stCondLst>
                                        </p:cTn>
                                        <p:tgtEl>
                                          <p:spTgt spid="14"/>
                                        </p:tgtEl>
                                        <p:attrNameLst>
                                          <p:attrName>style.visibility</p:attrName>
                                        </p:attrNameLst>
                                      </p:cBhvr>
                                      <p:to>
                                        <p:strVal val="visible"/>
                                      </p:to>
                                    </p:set>
                                    <p:animEffect transition="in" filter="fade">
                                      <p:cBhvr>
                                        <p:cTn id="60" dur="500"/>
                                        <p:tgtEl>
                                          <p:spTgt spid="14"/>
                                        </p:tgtEl>
                                      </p:cBhvr>
                                    </p:animEffect>
                                    <p:anim calcmode="lin" valueType="num">
                                      <p:cBhvr additive="base">
                                        <p:cTn id="61" dur="500" fill="hold"/>
                                        <p:tgtEl>
                                          <p:spTgt spid="14"/>
                                        </p:tgtEl>
                                        <p:attrNameLst>
                                          <p:attrName>ppt_x</p:attrName>
                                        </p:attrNameLst>
                                      </p:cBhvr>
                                      <p:tavLst>
                                        <p:tav tm="0">
                                          <p:val>
                                            <p:strVal val="#ppt_x"/>
                                          </p:val>
                                        </p:tav>
                                        <p:tav tm="100000">
                                          <p:val>
                                            <p:strVal val="#ppt_x"/>
                                          </p:val>
                                        </p:tav>
                                      </p:tavLst>
                                    </p:anim>
                                    <p:anim calcmode="lin" valueType="num">
                                      <p:cBhvr additive="base">
                                        <p:cTn id="62" dur="500" fill="hold"/>
                                        <p:tgtEl>
                                          <p:spTgt spid="14"/>
                                        </p:tgtEl>
                                        <p:attrNameLst>
                                          <p:attrName>ppt_y</p:attrName>
                                        </p:attrNameLst>
                                      </p:cBhvr>
                                      <p:tavLst>
                                        <p:tav tm="0">
                                          <p:val>
                                            <p:strVal val="#ppt_y+.06"/>
                                          </p:val>
                                        </p:tav>
                                        <p:tav tm="100000">
                                          <p:val>
                                            <p:strVal val="#ppt_y"/>
                                          </p:val>
                                        </p:tav>
                                      </p:tavLst>
                                    </p:anim>
                                  </p:childTnLst>
                                </p:cTn>
                              </p:par>
                              <p:par>
                                <p:cTn id="68" presetID="53" presetClass="entr" presetSubtype="32" fill="hold" grpId="0" nodeType="withEffect">
                                  <p:stCondLst>
                                    <p:cond delay="2800"/>
                                  </p:stCondLst>
                                  <p:childTnLst>
                                    <p:set>
                                      <p:cBhvr>
                                        <p:cTn id="64" dur="1" fill="hold">
                                          <p:stCondLst>
                                            <p:cond delay="0"/>
                                          </p:stCondLst>
                                        </p:cTn>
                                        <p:tgtEl>
                                          <p:spTgt spid="15"/>
                                        </p:tgtEl>
                                        <p:attrNameLst>
                                          <p:attrName>style.visibility</p:attrName>
                                        </p:attrNameLst>
                                      </p:cBhvr>
                                      <p:to>
                                        <p:strVal val="visible"/>
                                      </p:to>
                                    </p:set>
                                    <p:anim calcmode="lin" valueType="num">
                                      <p:cBhvr additive="base">
                                        <p:cTn id="65" dur="400" fill="hold"/>
                                        <p:tgtEl>
                                          <p:spTgt spid="15"/>
                                        </p:tgtEl>
                                        <p:attrNameLst>
                                          <p:attrName>ppt_w</p:attrName>
                                        </p:attrNameLst>
                                      </p:cBhvr>
                                      <p:tavLst>
                                        <p:tav tm="0">
                                          <p:val>
                                            <p:strVal val="#ppt_w*2.4"/>
                                          </p:val>
                                        </p:tav>
                                        <p:tav tm="100000">
                                          <p:val>
                                            <p:strVal val="#ppt_w"/>
                                          </p:val>
                                        </p:tav>
                                      </p:tavLst>
                                    </p:anim>
                                    <p:anim calcmode="lin" valueType="num">
                                      <p:cBhvr additive="base">
                                        <p:cTn id="66" dur="400" fill="hold"/>
                                        <p:tgtEl>
                                          <p:spTgt spid="15"/>
                                        </p:tgtEl>
                                        <p:attrNameLst>
                                          <p:attrName>ppt_h</p:attrName>
                                        </p:attrNameLst>
                                      </p:cBhvr>
                                      <p:tavLst>
                                        <p:tav tm="0">
                                          <p:val>
                                            <p:strVal val="#ppt_h*2.4"/>
                                          </p:val>
                                        </p:tav>
                                        <p:tav tm="100000">
                                          <p:val>
                                            <p:strVal val="#ppt_h"/>
                                          </p:val>
                                        </p:tav>
                                      </p:tavLst>
                                    </p:anim>
                                    <p:animEffect transition="in" filter="fade">
                                      <p:cBhvr>
                                        <p:cTn id="67" dur="400"/>
                                        <p:tgtEl>
                                          <p:spTgt spid="15"/>
                                        </p:tgtEl>
                                      </p:cBhvr>
                                    </p:animEffect>
                                  </p:childTnLst>
                                </p:cTn>
                              </p:par>
                              <p:par>
                                <p:cTn id="73" presetID="53" presetClass="entr" presetSubtype="32" fill="hold" grpId="0" nodeType="withEffect">
                                  <p:stCondLst>
                                    <p:cond delay="2800"/>
                                  </p:stCondLst>
                                  <p:childTnLst>
                                    <p:set>
                                      <p:cBhvr>
                                        <p:cTn id="69" dur="1" fill="hold">
                                          <p:stCondLst>
                                            <p:cond delay="0"/>
                                          </p:stCondLst>
                                        </p:cTn>
                                        <p:tgtEl>
                                          <p:spTgt spid="16"/>
                                        </p:tgtEl>
                                        <p:attrNameLst>
                                          <p:attrName>style.visibility</p:attrName>
                                        </p:attrNameLst>
                                      </p:cBhvr>
                                      <p:to>
                                        <p:strVal val="visible"/>
                                      </p:to>
                                    </p:set>
                                    <p:anim calcmode="lin" valueType="num">
                                      <p:cBhvr additive="base">
                                        <p:cTn id="70" dur="400" fill="hold"/>
                                        <p:tgtEl>
                                          <p:spTgt spid="16"/>
                                        </p:tgtEl>
                                        <p:attrNameLst>
                                          <p:attrName>ppt_w</p:attrName>
                                        </p:attrNameLst>
                                      </p:cBhvr>
                                      <p:tavLst>
                                        <p:tav tm="0">
                                          <p:val>
                                            <p:strVal val="#ppt_w*2.4"/>
                                          </p:val>
                                        </p:tav>
                                        <p:tav tm="100000">
                                          <p:val>
                                            <p:strVal val="#ppt_w"/>
                                          </p:val>
                                        </p:tav>
                                      </p:tavLst>
                                    </p:anim>
                                    <p:anim calcmode="lin" valueType="num">
                                      <p:cBhvr additive="base">
                                        <p:cTn id="71" dur="400" fill="hold"/>
                                        <p:tgtEl>
                                          <p:spTgt spid="16"/>
                                        </p:tgtEl>
                                        <p:attrNameLst>
                                          <p:attrName>ppt_h</p:attrName>
                                        </p:attrNameLst>
                                      </p:cBhvr>
                                      <p:tavLst>
                                        <p:tav tm="0">
                                          <p:val>
                                            <p:strVal val="#ppt_h*2.4"/>
                                          </p:val>
                                        </p:tav>
                                        <p:tav tm="100000">
                                          <p:val>
                                            <p:strVal val="#ppt_h"/>
                                          </p:val>
                                        </p:tav>
                                      </p:tavLst>
                                    </p:anim>
                                    <p:animEffect transition="in" filter="fade">
                                      <p:cBhvr>
                                        <p:cTn id="72" dur="400"/>
                                        <p:tgtEl>
                                          <p:spTgt spid="16"/>
                                        </p:tgtEl>
                                      </p:cBhvr>
                                    </p:animEffect>
                                  </p:childTnLst>
                                </p:cTn>
                              </p:par>
                              <p:par>
                                <p:cTn id="78" presetID="42" presetClass="entr" presetSubtype="0" fill="hold" grpId="0" nodeType="withEffect">
                                  <p:stCondLst>
                                    <p:cond delay="2800"/>
                                  </p:stCondLst>
                                  <p:childTnLst>
                                    <p:set>
                                      <p:cBhvr>
                                        <p:cTn id="74" dur="1" fill="hold">
                                          <p:stCondLst>
                                            <p:cond delay="0"/>
                                          </p:stCondLst>
                                        </p:cTn>
                                        <p:tgtEl>
                                          <p:spTgt spid="17"/>
                                        </p:tgtEl>
                                        <p:attrNameLst>
                                          <p:attrName>style.visibility</p:attrName>
                                        </p:attrNameLst>
                                      </p:cBhvr>
                                      <p:to>
                                        <p:strVal val="visible"/>
                                      </p:to>
                                    </p:set>
                                    <p:animEffect transition="in" filter="fade">
                                      <p:cBhvr>
                                        <p:cTn id="75" dur="500"/>
                                        <p:tgtEl>
                                          <p:spTgt spid="17"/>
                                        </p:tgtEl>
                                      </p:cBhvr>
                                    </p:animEffect>
                                    <p:anim calcmode="lin" valueType="num">
                                      <p:cBhvr additive="base">
                                        <p:cTn id="76" dur="500" fill="hold"/>
                                        <p:tgtEl>
                                          <p:spTgt spid="17"/>
                                        </p:tgtEl>
                                        <p:attrNameLst>
                                          <p:attrName>ppt_x</p:attrName>
                                        </p:attrNameLst>
                                      </p:cBhvr>
                                      <p:tavLst>
                                        <p:tav tm="0">
                                          <p:val>
                                            <p:strVal val="#ppt_x"/>
                                          </p:val>
                                        </p:tav>
                                        <p:tav tm="100000">
                                          <p:val>
                                            <p:strVal val="#ppt_x"/>
                                          </p:val>
                                        </p:tav>
                                      </p:tavLst>
                                    </p:anim>
                                    <p:anim calcmode="lin" valueType="num">
                                      <p:cBhvr additive="base">
                                        <p:cTn id="77" dur="500" fill="hold"/>
                                        <p:tgtEl>
                                          <p:spTgt spid="17"/>
                                        </p:tgtEl>
                                        <p:attrNameLst>
                                          <p:attrName>ppt_y</p:attrName>
                                        </p:attrNameLst>
                                      </p:cBhvr>
                                      <p:tavLst>
                                        <p:tav tm="0">
                                          <p:val>
                                            <p:strVal val="#ppt_y+.06"/>
                                          </p:val>
                                        </p:tav>
                                        <p:tav tm="100000">
                                          <p:val>
                                            <p:strVal val="#ppt_y"/>
                                          </p:val>
                                        </p:tav>
                                      </p:tavLst>
                                    </p:anim>
                                  </p:childTnLst>
                                </p:cTn>
                              </p:par>
                              <p:par>
                                <p:cTn id="83" presetID="53" presetClass="entr" presetSubtype="32" fill="hold" grpId="0" nodeType="withEffect">
                                  <p:stCondLst>
                                    <p:cond delay="3250"/>
                                  </p:stCondLst>
                                  <p:childTnLst>
                                    <p:set>
                                      <p:cBhvr>
                                        <p:cTn id="79" dur="1" fill="hold">
                                          <p:stCondLst>
                                            <p:cond delay="0"/>
                                          </p:stCondLst>
                                        </p:cTn>
                                        <p:tgtEl>
                                          <p:spTgt spid="18"/>
                                        </p:tgtEl>
                                        <p:attrNameLst>
                                          <p:attrName>style.visibility</p:attrName>
                                        </p:attrNameLst>
                                      </p:cBhvr>
                                      <p:to>
                                        <p:strVal val="visible"/>
                                      </p:to>
                                    </p:set>
                                    <p:anim calcmode="lin" valueType="num">
                                      <p:cBhvr additive="base">
                                        <p:cTn id="80" dur="400" fill="hold"/>
                                        <p:tgtEl>
                                          <p:spTgt spid="18"/>
                                        </p:tgtEl>
                                        <p:attrNameLst>
                                          <p:attrName>ppt_w</p:attrName>
                                        </p:attrNameLst>
                                      </p:cBhvr>
                                      <p:tavLst>
                                        <p:tav tm="0">
                                          <p:val>
                                            <p:strVal val="#ppt_w*2.4"/>
                                          </p:val>
                                        </p:tav>
                                        <p:tav tm="100000">
                                          <p:val>
                                            <p:strVal val="#ppt_w"/>
                                          </p:val>
                                        </p:tav>
                                      </p:tavLst>
                                    </p:anim>
                                    <p:anim calcmode="lin" valueType="num">
                                      <p:cBhvr additive="base">
                                        <p:cTn id="81" dur="400" fill="hold"/>
                                        <p:tgtEl>
                                          <p:spTgt spid="18"/>
                                        </p:tgtEl>
                                        <p:attrNameLst>
                                          <p:attrName>ppt_h</p:attrName>
                                        </p:attrNameLst>
                                      </p:cBhvr>
                                      <p:tavLst>
                                        <p:tav tm="0">
                                          <p:val>
                                            <p:strVal val="#ppt_h*2.4"/>
                                          </p:val>
                                        </p:tav>
                                        <p:tav tm="100000">
                                          <p:val>
                                            <p:strVal val="#ppt_h"/>
                                          </p:val>
                                        </p:tav>
                                      </p:tavLst>
                                    </p:anim>
                                    <p:animEffect transition="in" filter="fade">
                                      <p:cBhvr>
                                        <p:cTn id="82" dur="400"/>
                                        <p:tgtEl>
                                          <p:spTgt spid="18"/>
                                        </p:tgtEl>
                                      </p:cBhvr>
                                    </p:animEffect>
                                  </p:childTnLst>
                                </p:cTn>
                              </p:par>
                              <p:par>
                                <p:cTn id="88" presetID="53" presetClass="entr" presetSubtype="32" fill="hold" grpId="0" nodeType="withEffect">
                                  <p:stCondLst>
                                    <p:cond delay="3250"/>
                                  </p:stCondLst>
                                  <p:childTnLst>
                                    <p:set>
                                      <p:cBhvr>
                                        <p:cTn id="84" dur="1" fill="hold">
                                          <p:stCondLst>
                                            <p:cond delay="0"/>
                                          </p:stCondLst>
                                        </p:cTn>
                                        <p:tgtEl>
                                          <p:spTgt spid="19"/>
                                        </p:tgtEl>
                                        <p:attrNameLst>
                                          <p:attrName>style.visibility</p:attrName>
                                        </p:attrNameLst>
                                      </p:cBhvr>
                                      <p:to>
                                        <p:strVal val="visible"/>
                                      </p:to>
                                    </p:set>
                                    <p:anim calcmode="lin" valueType="num">
                                      <p:cBhvr additive="base">
                                        <p:cTn id="85" dur="400" fill="hold"/>
                                        <p:tgtEl>
                                          <p:spTgt spid="19"/>
                                        </p:tgtEl>
                                        <p:attrNameLst>
                                          <p:attrName>ppt_w</p:attrName>
                                        </p:attrNameLst>
                                      </p:cBhvr>
                                      <p:tavLst>
                                        <p:tav tm="0">
                                          <p:val>
                                            <p:strVal val="#ppt_w*2.4"/>
                                          </p:val>
                                        </p:tav>
                                        <p:tav tm="100000">
                                          <p:val>
                                            <p:strVal val="#ppt_w"/>
                                          </p:val>
                                        </p:tav>
                                      </p:tavLst>
                                    </p:anim>
                                    <p:anim calcmode="lin" valueType="num">
                                      <p:cBhvr additive="base">
                                        <p:cTn id="86" dur="400" fill="hold"/>
                                        <p:tgtEl>
                                          <p:spTgt spid="19"/>
                                        </p:tgtEl>
                                        <p:attrNameLst>
                                          <p:attrName>ppt_h</p:attrName>
                                        </p:attrNameLst>
                                      </p:cBhvr>
                                      <p:tavLst>
                                        <p:tav tm="0">
                                          <p:val>
                                            <p:strVal val="#ppt_h*2.4"/>
                                          </p:val>
                                        </p:tav>
                                        <p:tav tm="100000">
                                          <p:val>
                                            <p:strVal val="#ppt_h"/>
                                          </p:val>
                                        </p:tav>
                                      </p:tavLst>
                                    </p:anim>
                                    <p:animEffect transition="in" filter="fade">
                                      <p:cBhvr>
                                        <p:cTn id="87" dur="400"/>
                                        <p:tgtEl>
                                          <p:spTgt spid="19"/>
                                        </p:tgtEl>
                                      </p:cBhvr>
                                    </p:animEffect>
                                  </p:childTnLst>
                                </p:cTn>
                              </p:par>
                              <p:par>
                                <p:cTn id="93" presetID="42" presetClass="entr" presetSubtype="0" fill="hold" grpId="0" nodeType="withEffect">
                                  <p:stCondLst>
                                    <p:cond delay="3250"/>
                                  </p:stCondLst>
                                  <p:childTnLst>
                                    <p:set>
                                      <p:cBhvr>
                                        <p:cTn id="89" dur="1" fill="hold">
                                          <p:stCondLst>
                                            <p:cond delay="0"/>
                                          </p:stCondLst>
                                        </p:cTn>
                                        <p:tgtEl>
                                          <p:spTgt spid="20"/>
                                        </p:tgtEl>
                                        <p:attrNameLst>
                                          <p:attrName>style.visibility</p:attrName>
                                        </p:attrNameLst>
                                      </p:cBhvr>
                                      <p:to>
                                        <p:strVal val="visible"/>
                                      </p:to>
                                    </p:set>
                                    <p:animEffect transition="in" filter="fade">
                                      <p:cBhvr>
                                        <p:cTn id="90" dur="500"/>
                                        <p:tgtEl>
                                          <p:spTgt spid="20"/>
                                        </p:tgtEl>
                                      </p:cBhvr>
                                    </p:animEffect>
                                    <p:anim calcmode="lin" valueType="num">
                                      <p:cBhvr additive="base">
                                        <p:cTn id="91" dur="500" fill="hold"/>
                                        <p:tgtEl>
                                          <p:spTgt spid="20"/>
                                        </p:tgtEl>
                                        <p:attrNameLst>
                                          <p:attrName>ppt_x</p:attrName>
                                        </p:attrNameLst>
                                      </p:cBhvr>
                                      <p:tavLst>
                                        <p:tav tm="0">
                                          <p:val>
                                            <p:strVal val="#ppt_x"/>
                                          </p:val>
                                        </p:tav>
                                        <p:tav tm="100000">
                                          <p:val>
                                            <p:strVal val="#ppt_x"/>
                                          </p:val>
                                        </p:tav>
                                      </p:tavLst>
                                    </p:anim>
                                    <p:anim calcmode="lin" valueType="num">
                                      <p:cBhvr additive="base">
                                        <p:cTn id="92" dur="500" fill="hold"/>
                                        <p:tgtEl>
                                          <p:spTgt spid="20"/>
                                        </p:tgtEl>
                                        <p:attrNameLst>
                                          <p:attrName>ppt_y</p:attrName>
                                        </p:attrNameLst>
                                      </p:cBhvr>
                                      <p:tavLst>
                                        <p:tav tm="0">
                                          <p:val>
                                            <p:strVal val="#ppt_y+.06"/>
                                          </p:val>
                                        </p:tav>
                                        <p:tav tm="100000">
                                          <p:val>
                                            <p:strVal val="#ppt_y"/>
                                          </p:val>
                                        </p:tav>
                                      </p:tavLst>
                                    </p:anim>
                                  </p:childTnLst>
                                </p:cTn>
                              </p:par>
                              <p:par>
                                <p:cTn id="98" presetID="53" presetClass="entr" presetSubtype="16" fill="hold" grpId="0" nodeType="withEffect">
                                  <p:stCondLst>
                                    <p:cond delay="3300"/>
                                  </p:stCondLst>
                                  <p:childTnLst>
                                    <p:set>
                                      <p:cBhvr>
                                        <p:cTn id="94" dur="1" fill="hold">
                                          <p:stCondLst>
                                            <p:cond delay="0"/>
                                          </p:stCondLst>
                                        </p:cTn>
                                        <p:tgtEl>
                                          <p:spTgt spid="21"/>
                                        </p:tgtEl>
                                        <p:attrNameLst>
                                          <p:attrName>style.visibility</p:attrName>
                                        </p:attrNameLst>
                                      </p:cBhvr>
                                      <p:to>
                                        <p:strVal val="visible"/>
                                      </p:to>
                                    </p:set>
                                    <p:anim calcmode="lin" valueType="num">
                                      <p:cBhvr additive="base">
                                        <p:cTn id="95" dur="600" fill="hold"/>
                                        <p:tgtEl>
                                          <p:spTgt spid="21"/>
                                        </p:tgtEl>
                                        <p:attrNameLst>
                                          <p:attrName>ppt_w</p:attrName>
                                        </p:attrNameLst>
                                      </p:cBhvr>
                                      <p:tavLst>
                                        <p:tav tm="0">
                                          <p:val>
                                            <p:strVal val="0"/>
                                          </p:val>
                                        </p:tav>
                                        <p:tav tm="100000">
                                          <p:val>
                                            <p:strVal val="#ppt_w"/>
                                          </p:val>
                                        </p:tav>
                                      </p:tavLst>
                                    </p:anim>
                                    <p:anim calcmode="lin" valueType="num">
                                      <p:cBhvr additive="base">
                                        <p:cTn id="96" dur="600" fill="hold"/>
                                        <p:tgtEl>
                                          <p:spTgt spid="21"/>
                                        </p:tgtEl>
                                        <p:attrNameLst>
                                          <p:attrName>ppt_h</p:attrName>
                                        </p:attrNameLst>
                                      </p:cBhvr>
                                      <p:tavLst>
                                        <p:tav tm="0">
                                          <p:val>
                                            <p:strVal val="0"/>
                                          </p:val>
                                        </p:tav>
                                        <p:tav tm="100000">
                                          <p:val>
                                            <p:strVal val="#ppt_h"/>
                                          </p:val>
                                        </p:tav>
                                      </p:tavLst>
                                    </p:anim>
                                    <p:animEffect transition="in" filter="fade">
                                      <p:cBhvr>
                                        <p:cTn id="97" dur="600"/>
                                        <p:tgtEl>
                                          <p:spTgt spid="21"/>
                                        </p:tgtEl>
                                      </p:cBhvr>
                                    </p:animEffect>
                                  </p:childTnLst>
                                </p:cTn>
                              </p:par>
                              <p:par>
                                <p:cTn id="100" presetID="1" presetClass="entr" presetSubtype="0" fill="hold" grpId="0" nodeType="withEffect">
                                  <p:stCondLst>
                                    <p:cond delay="3800"/>
                                  </p:stCondLst>
                                  <p:iterate type="lt">
                                    <p:tmAbs val="25"/>
                                  </p:iterate>
                                  <p:childTnLst>
                                    <p:set>
                                      <p:cBhvr>
                                        <p:cTn id="99" dur="1" fill="hold">
                                          <p:stCondLst>
                                            <p:cond delay="0"/>
                                          </p:stCondLst>
                                        </p:cTn>
                                        <p:tgtEl>
                                          <p:spTgt spid="22"/>
                                        </p:tgtEl>
                                        <p:attrNameLst>
                                          <p:attrName>style.visibility</p:attrName>
                                        </p:attrNameLst>
                                      </p:cBhvr>
                                      <p:to>
                                        <p:strVal val="visible"/>
                                      </p:to>
                                    </p:set>
                                  </p:childTnLst>
                                </p:cTn>
                              </p:par>
                              <p:par>
                                <p:cTn id="105" presetID="53" presetClass="entr" presetSubtype="32" fill="hold" grpId="0" nodeType="withEffect">
                                  <p:stCondLst>
                                    <p:cond delay="4300"/>
                                  </p:stCondLst>
                                  <p:childTnLst>
                                    <p:set>
                                      <p:cBhvr>
                                        <p:cTn id="101" dur="1" fill="hold">
                                          <p:stCondLst>
                                            <p:cond delay="0"/>
                                          </p:stCondLst>
                                        </p:cTn>
                                        <p:tgtEl>
                                          <p:spTgt spid="23"/>
                                        </p:tgtEl>
                                        <p:attrNameLst>
                                          <p:attrName>style.visibility</p:attrName>
                                        </p:attrNameLst>
                                      </p:cBhvr>
                                      <p:to>
                                        <p:strVal val="visible"/>
                                      </p:to>
                                    </p:set>
                                    <p:anim calcmode="lin" valueType="num">
                                      <p:cBhvr additive="base">
                                        <p:cTn id="102" dur="400" fill="hold"/>
                                        <p:tgtEl>
                                          <p:spTgt spid="23"/>
                                        </p:tgtEl>
                                        <p:attrNameLst>
                                          <p:attrName>ppt_w</p:attrName>
                                        </p:attrNameLst>
                                      </p:cBhvr>
                                      <p:tavLst>
                                        <p:tav tm="0">
                                          <p:val>
                                            <p:strVal val="#ppt_w*2.4"/>
                                          </p:val>
                                        </p:tav>
                                        <p:tav tm="100000">
                                          <p:val>
                                            <p:strVal val="#ppt_w"/>
                                          </p:val>
                                        </p:tav>
                                      </p:tavLst>
                                    </p:anim>
                                    <p:anim calcmode="lin" valueType="num">
                                      <p:cBhvr additive="base">
                                        <p:cTn id="103" dur="400" fill="hold"/>
                                        <p:tgtEl>
                                          <p:spTgt spid="23"/>
                                        </p:tgtEl>
                                        <p:attrNameLst>
                                          <p:attrName>ppt_h</p:attrName>
                                        </p:attrNameLst>
                                      </p:cBhvr>
                                      <p:tavLst>
                                        <p:tav tm="0">
                                          <p:val>
                                            <p:strVal val="#ppt_h*2.4"/>
                                          </p:val>
                                        </p:tav>
                                        <p:tav tm="100000">
                                          <p:val>
                                            <p:strVal val="#ppt_h"/>
                                          </p:val>
                                        </p:tav>
                                      </p:tavLst>
                                    </p:anim>
                                    <p:animEffect transition="in" filter="fade">
                                      <p:cBhvr>
                                        <p:cTn id="104" dur="400"/>
                                        <p:tgtEl>
                                          <p:spTgt spid="23"/>
                                        </p:tgtEl>
                                      </p:cBhvr>
                                    </p:animEffect>
                                  </p:childTnLst>
                                </p:cTn>
                              </p:par>
                              <p:par>
                                <p:cTn id="110" presetID="53" presetClass="entr" presetSubtype="32" fill="hold" grpId="0" nodeType="withEffect">
                                  <p:stCondLst>
                                    <p:cond delay="4300"/>
                                  </p:stCondLst>
                                  <p:childTnLst>
                                    <p:set>
                                      <p:cBhvr>
                                        <p:cTn id="106" dur="1" fill="hold">
                                          <p:stCondLst>
                                            <p:cond delay="0"/>
                                          </p:stCondLst>
                                        </p:cTn>
                                        <p:tgtEl>
                                          <p:spTgt spid="24"/>
                                        </p:tgtEl>
                                        <p:attrNameLst>
                                          <p:attrName>style.visibility</p:attrName>
                                        </p:attrNameLst>
                                      </p:cBhvr>
                                      <p:to>
                                        <p:strVal val="visible"/>
                                      </p:to>
                                    </p:set>
                                    <p:anim calcmode="lin" valueType="num">
                                      <p:cBhvr additive="base">
                                        <p:cTn id="107" dur="400" fill="hold"/>
                                        <p:tgtEl>
                                          <p:spTgt spid="24"/>
                                        </p:tgtEl>
                                        <p:attrNameLst>
                                          <p:attrName>ppt_w</p:attrName>
                                        </p:attrNameLst>
                                      </p:cBhvr>
                                      <p:tavLst>
                                        <p:tav tm="0">
                                          <p:val>
                                            <p:strVal val="#ppt_w*2.4"/>
                                          </p:val>
                                        </p:tav>
                                        <p:tav tm="100000">
                                          <p:val>
                                            <p:strVal val="#ppt_w"/>
                                          </p:val>
                                        </p:tav>
                                      </p:tavLst>
                                    </p:anim>
                                    <p:anim calcmode="lin" valueType="num">
                                      <p:cBhvr additive="base">
                                        <p:cTn id="108" dur="400" fill="hold"/>
                                        <p:tgtEl>
                                          <p:spTgt spid="24"/>
                                        </p:tgtEl>
                                        <p:attrNameLst>
                                          <p:attrName>ppt_h</p:attrName>
                                        </p:attrNameLst>
                                      </p:cBhvr>
                                      <p:tavLst>
                                        <p:tav tm="0">
                                          <p:val>
                                            <p:strVal val="#ppt_h*2.4"/>
                                          </p:val>
                                        </p:tav>
                                        <p:tav tm="100000">
                                          <p:val>
                                            <p:strVal val="#ppt_h"/>
                                          </p:val>
                                        </p:tav>
                                      </p:tavLst>
                                    </p:anim>
                                    <p:animEffect transition="in" filter="fade">
                                      <p:cBhvr>
                                        <p:cTn id="109" dur="400"/>
                                        <p:tgtEl>
                                          <p:spTgt spid="24"/>
                                        </p:tgtEl>
                                      </p:cBhvr>
                                    </p:animEffect>
                                  </p:childTnLst>
                                </p:cTn>
                              </p:par>
                              <p:par>
                                <p:cTn id="115" presetID="42" presetClass="entr" presetSubtype="0" fill="hold" grpId="0" nodeType="withEffect">
                                  <p:stCondLst>
                                    <p:cond delay="4300"/>
                                  </p:stCondLst>
                                  <p:childTnLst>
                                    <p:set>
                                      <p:cBhvr>
                                        <p:cTn id="111" dur="1" fill="hold">
                                          <p:stCondLst>
                                            <p:cond delay="0"/>
                                          </p:stCondLst>
                                        </p:cTn>
                                        <p:tgtEl>
                                          <p:spTgt spid="25"/>
                                        </p:tgtEl>
                                        <p:attrNameLst>
                                          <p:attrName>style.visibility</p:attrName>
                                        </p:attrNameLst>
                                      </p:cBhvr>
                                      <p:to>
                                        <p:strVal val="visible"/>
                                      </p:to>
                                    </p:set>
                                    <p:animEffect transition="in" filter="fade">
                                      <p:cBhvr>
                                        <p:cTn id="112" dur="500"/>
                                        <p:tgtEl>
                                          <p:spTgt spid="25"/>
                                        </p:tgtEl>
                                      </p:cBhvr>
                                    </p:animEffect>
                                    <p:anim calcmode="lin" valueType="num">
                                      <p:cBhvr additive="base">
                                        <p:cTn id="113" dur="500" fill="hold"/>
                                        <p:tgtEl>
                                          <p:spTgt spid="25"/>
                                        </p:tgtEl>
                                        <p:attrNameLst>
                                          <p:attrName>ppt_x</p:attrName>
                                        </p:attrNameLst>
                                      </p:cBhvr>
                                      <p:tavLst>
                                        <p:tav tm="0">
                                          <p:val>
                                            <p:strVal val="#ppt_x"/>
                                          </p:val>
                                        </p:tav>
                                        <p:tav tm="100000">
                                          <p:val>
                                            <p:strVal val="#ppt_x"/>
                                          </p:val>
                                        </p:tav>
                                      </p:tavLst>
                                    </p:anim>
                                    <p:anim calcmode="lin" valueType="num">
                                      <p:cBhvr additive="base">
                                        <p:cTn id="114" dur="500" fill="hold"/>
                                        <p:tgtEl>
                                          <p:spTgt spid="25"/>
                                        </p:tgtEl>
                                        <p:attrNameLst>
                                          <p:attrName>ppt_y</p:attrName>
                                        </p:attrNameLst>
                                      </p:cBhvr>
                                      <p:tavLst>
                                        <p:tav tm="0">
                                          <p:val>
                                            <p:strVal val="#ppt_y+.06"/>
                                          </p:val>
                                        </p:tav>
                                        <p:tav tm="100000">
                                          <p:val>
                                            <p:strVal val="#ppt_y"/>
                                          </p:val>
                                        </p:tav>
                                      </p:tavLst>
                                    </p:anim>
                                  </p:childTnLst>
                                </p:cTn>
                              </p:par>
                              <p:par>
                                <p:cTn id="120" presetID="53" presetClass="entr" presetSubtype="32" fill="hold" grpId="0" nodeType="withEffect">
                                  <p:stCondLst>
                                    <p:cond delay="4750"/>
                                  </p:stCondLst>
                                  <p:childTnLst>
                                    <p:set>
                                      <p:cBhvr>
                                        <p:cTn id="116" dur="1" fill="hold">
                                          <p:stCondLst>
                                            <p:cond delay="0"/>
                                          </p:stCondLst>
                                        </p:cTn>
                                        <p:tgtEl>
                                          <p:spTgt spid="26"/>
                                        </p:tgtEl>
                                        <p:attrNameLst>
                                          <p:attrName>style.visibility</p:attrName>
                                        </p:attrNameLst>
                                      </p:cBhvr>
                                      <p:to>
                                        <p:strVal val="visible"/>
                                      </p:to>
                                    </p:set>
                                    <p:anim calcmode="lin" valueType="num">
                                      <p:cBhvr additive="base">
                                        <p:cTn id="117" dur="400" fill="hold"/>
                                        <p:tgtEl>
                                          <p:spTgt spid="26"/>
                                        </p:tgtEl>
                                        <p:attrNameLst>
                                          <p:attrName>ppt_w</p:attrName>
                                        </p:attrNameLst>
                                      </p:cBhvr>
                                      <p:tavLst>
                                        <p:tav tm="0">
                                          <p:val>
                                            <p:strVal val="#ppt_w*2.4"/>
                                          </p:val>
                                        </p:tav>
                                        <p:tav tm="100000">
                                          <p:val>
                                            <p:strVal val="#ppt_w"/>
                                          </p:val>
                                        </p:tav>
                                      </p:tavLst>
                                    </p:anim>
                                    <p:anim calcmode="lin" valueType="num">
                                      <p:cBhvr additive="base">
                                        <p:cTn id="118" dur="400" fill="hold"/>
                                        <p:tgtEl>
                                          <p:spTgt spid="26"/>
                                        </p:tgtEl>
                                        <p:attrNameLst>
                                          <p:attrName>ppt_h</p:attrName>
                                        </p:attrNameLst>
                                      </p:cBhvr>
                                      <p:tavLst>
                                        <p:tav tm="0">
                                          <p:val>
                                            <p:strVal val="#ppt_h*2.4"/>
                                          </p:val>
                                        </p:tav>
                                        <p:tav tm="100000">
                                          <p:val>
                                            <p:strVal val="#ppt_h"/>
                                          </p:val>
                                        </p:tav>
                                      </p:tavLst>
                                    </p:anim>
                                    <p:animEffect transition="in" filter="fade">
                                      <p:cBhvr>
                                        <p:cTn id="119" dur="400"/>
                                        <p:tgtEl>
                                          <p:spTgt spid="26"/>
                                        </p:tgtEl>
                                      </p:cBhvr>
                                    </p:animEffect>
                                  </p:childTnLst>
                                </p:cTn>
                              </p:par>
                              <p:par>
                                <p:cTn id="125" presetID="53" presetClass="entr" presetSubtype="32" fill="hold" grpId="0" nodeType="withEffect">
                                  <p:stCondLst>
                                    <p:cond delay="4750"/>
                                  </p:stCondLst>
                                  <p:childTnLst>
                                    <p:set>
                                      <p:cBhvr>
                                        <p:cTn id="121" dur="1" fill="hold">
                                          <p:stCondLst>
                                            <p:cond delay="0"/>
                                          </p:stCondLst>
                                        </p:cTn>
                                        <p:tgtEl>
                                          <p:spTgt spid="27"/>
                                        </p:tgtEl>
                                        <p:attrNameLst>
                                          <p:attrName>style.visibility</p:attrName>
                                        </p:attrNameLst>
                                      </p:cBhvr>
                                      <p:to>
                                        <p:strVal val="visible"/>
                                      </p:to>
                                    </p:set>
                                    <p:anim calcmode="lin" valueType="num">
                                      <p:cBhvr additive="base">
                                        <p:cTn id="122" dur="400" fill="hold"/>
                                        <p:tgtEl>
                                          <p:spTgt spid="27"/>
                                        </p:tgtEl>
                                        <p:attrNameLst>
                                          <p:attrName>ppt_w</p:attrName>
                                        </p:attrNameLst>
                                      </p:cBhvr>
                                      <p:tavLst>
                                        <p:tav tm="0">
                                          <p:val>
                                            <p:strVal val="#ppt_w*2.4"/>
                                          </p:val>
                                        </p:tav>
                                        <p:tav tm="100000">
                                          <p:val>
                                            <p:strVal val="#ppt_w"/>
                                          </p:val>
                                        </p:tav>
                                      </p:tavLst>
                                    </p:anim>
                                    <p:anim calcmode="lin" valueType="num">
                                      <p:cBhvr additive="base">
                                        <p:cTn id="123" dur="400" fill="hold"/>
                                        <p:tgtEl>
                                          <p:spTgt spid="27"/>
                                        </p:tgtEl>
                                        <p:attrNameLst>
                                          <p:attrName>ppt_h</p:attrName>
                                        </p:attrNameLst>
                                      </p:cBhvr>
                                      <p:tavLst>
                                        <p:tav tm="0">
                                          <p:val>
                                            <p:strVal val="#ppt_h*2.4"/>
                                          </p:val>
                                        </p:tav>
                                        <p:tav tm="100000">
                                          <p:val>
                                            <p:strVal val="#ppt_h"/>
                                          </p:val>
                                        </p:tav>
                                      </p:tavLst>
                                    </p:anim>
                                    <p:animEffect transition="in" filter="fade">
                                      <p:cBhvr>
                                        <p:cTn id="124" dur="400"/>
                                        <p:tgtEl>
                                          <p:spTgt spid="27"/>
                                        </p:tgtEl>
                                      </p:cBhvr>
                                    </p:animEffect>
                                  </p:childTnLst>
                                </p:cTn>
                              </p:par>
                              <p:par>
                                <p:cTn id="130" presetID="42" presetClass="entr" presetSubtype="0" fill="hold" grpId="0" nodeType="withEffect">
                                  <p:stCondLst>
                                    <p:cond delay="4750"/>
                                  </p:stCondLst>
                                  <p:childTnLst>
                                    <p:set>
                                      <p:cBhvr>
                                        <p:cTn id="126" dur="1" fill="hold">
                                          <p:stCondLst>
                                            <p:cond delay="0"/>
                                          </p:stCondLst>
                                        </p:cTn>
                                        <p:tgtEl>
                                          <p:spTgt spid="28"/>
                                        </p:tgtEl>
                                        <p:attrNameLst>
                                          <p:attrName>style.visibility</p:attrName>
                                        </p:attrNameLst>
                                      </p:cBhvr>
                                      <p:to>
                                        <p:strVal val="visible"/>
                                      </p:to>
                                    </p:set>
                                    <p:animEffect transition="in" filter="fade">
                                      <p:cBhvr>
                                        <p:cTn id="127" dur="500"/>
                                        <p:tgtEl>
                                          <p:spTgt spid="28"/>
                                        </p:tgtEl>
                                      </p:cBhvr>
                                    </p:animEffect>
                                    <p:anim calcmode="lin" valueType="num">
                                      <p:cBhvr additive="base">
                                        <p:cTn id="128" dur="500" fill="hold"/>
                                        <p:tgtEl>
                                          <p:spTgt spid="28"/>
                                        </p:tgtEl>
                                        <p:attrNameLst>
                                          <p:attrName>ppt_x</p:attrName>
                                        </p:attrNameLst>
                                      </p:cBhvr>
                                      <p:tavLst>
                                        <p:tav tm="0">
                                          <p:val>
                                            <p:strVal val="#ppt_x"/>
                                          </p:val>
                                        </p:tav>
                                        <p:tav tm="100000">
                                          <p:val>
                                            <p:strVal val="#ppt_x"/>
                                          </p:val>
                                        </p:tav>
                                      </p:tavLst>
                                    </p:anim>
                                    <p:anim calcmode="lin" valueType="num">
                                      <p:cBhvr additive="base">
                                        <p:cTn id="129" dur="500" fill="hold"/>
                                        <p:tgtEl>
                                          <p:spTgt spid="28"/>
                                        </p:tgtEl>
                                        <p:attrNameLst>
                                          <p:attrName>ppt_y</p:attrName>
                                        </p:attrNameLst>
                                      </p:cBhvr>
                                      <p:tavLst>
                                        <p:tav tm="0">
                                          <p:val>
                                            <p:strVal val="#ppt_y+.06"/>
                                          </p:val>
                                        </p:tav>
                                        <p:tav tm="100000">
                                          <p:val>
                                            <p:strVal val="#ppt_y"/>
                                          </p:val>
                                        </p:tav>
                                      </p:tavLst>
                                    </p:anim>
                                  </p:childTnLst>
                                </p:cTn>
                              </p:par>
                              <p:par>
                                <p:cTn id="135" presetID="53" presetClass="entr" presetSubtype="32" fill="hold" grpId="0" nodeType="withEffect">
                                  <p:stCondLst>
                                    <p:cond delay="5200"/>
                                  </p:stCondLst>
                                  <p:childTnLst>
                                    <p:set>
                                      <p:cBhvr>
                                        <p:cTn id="131" dur="1" fill="hold">
                                          <p:stCondLst>
                                            <p:cond delay="0"/>
                                          </p:stCondLst>
                                        </p:cTn>
                                        <p:tgtEl>
                                          <p:spTgt spid="29"/>
                                        </p:tgtEl>
                                        <p:attrNameLst>
                                          <p:attrName>style.visibility</p:attrName>
                                        </p:attrNameLst>
                                      </p:cBhvr>
                                      <p:to>
                                        <p:strVal val="visible"/>
                                      </p:to>
                                    </p:set>
                                    <p:anim calcmode="lin" valueType="num">
                                      <p:cBhvr additive="base">
                                        <p:cTn id="132" dur="400" fill="hold"/>
                                        <p:tgtEl>
                                          <p:spTgt spid="29"/>
                                        </p:tgtEl>
                                        <p:attrNameLst>
                                          <p:attrName>ppt_w</p:attrName>
                                        </p:attrNameLst>
                                      </p:cBhvr>
                                      <p:tavLst>
                                        <p:tav tm="0">
                                          <p:val>
                                            <p:strVal val="#ppt_w*2.4"/>
                                          </p:val>
                                        </p:tav>
                                        <p:tav tm="100000">
                                          <p:val>
                                            <p:strVal val="#ppt_w"/>
                                          </p:val>
                                        </p:tav>
                                      </p:tavLst>
                                    </p:anim>
                                    <p:anim calcmode="lin" valueType="num">
                                      <p:cBhvr additive="base">
                                        <p:cTn id="133" dur="400" fill="hold"/>
                                        <p:tgtEl>
                                          <p:spTgt spid="29"/>
                                        </p:tgtEl>
                                        <p:attrNameLst>
                                          <p:attrName>ppt_h</p:attrName>
                                        </p:attrNameLst>
                                      </p:cBhvr>
                                      <p:tavLst>
                                        <p:tav tm="0">
                                          <p:val>
                                            <p:strVal val="#ppt_h*2.4"/>
                                          </p:val>
                                        </p:tav>
                                        <p:tav tm="100000">
                                          <p:val>
                                            <p:strVal val="#ppt_h"/>
                                          </p:val>
                                        </p:tav>
                                      </p:tavLst>
                                    </p:anim>
                                    <p:animEffect transition="in" filter="fade">
                                      <p:cBhvr>
                                        <p:cTn id="134" dur="400"/>
                                        <p:tgtEl>
                                          <p:spTgt spid="29"/>
                                        </p:tgtEl>
                                      </p:cBhvr>
                                    </p:animEffect>
                                  </p:childTnLst>
                                </p:cTn>
                              </p:par>
                              <p:par>
                                <p:cTn id="140" presetID="53" presetClass="entr" presetSubtype="32" fill="hold" grpId="0" nodeType="withEffect">
                                  <p:stCondLst>
                                    <p:cond delay="5200"/>
                                  </p:stCondLst>
                                  <p:childTnLst>
                                    <p:set>
                                      <p:cBhvr>
                                        <p:cTn id="136" dur="1" fill="hold">
                                          <p:stCondLst>
                                            <p:cond delay="0"/>
                                          </p:stCondLst>
                                        </p:cTn>
                                        <p:tgtEl>
                                          <p:spTgt spid="30"/>
                                        </p:tgtEl>
                                        <p:attrNameLst>
                                          <p:attrName>style.visibility</p:attrName>
                                        </p:attrNameLst>
                                      </p:cBhvr>
                                      <p:to>
                                        <p:strVal val="visible"/>
                                      </p:to>
                                    </p:set>
                                    <p:anim calcmode="lin" valueType="num">
                                      <p:cBhvr additive="base">
                                        <p:cTn id="137" dur="400" fill="hold"/>
                                        <p:tgtEl>
                                          <p:spTgt spid="30"/>
                                        </p:tgtEl>
                                        <p:attrNameLst>
                                          <p:attrName>ppt_w</p:attrName>
                                        </p:attrNameLst>
                                      </p:cBhvr>
                                      <p:tavLst>
                                        <p:tav tm="0">
                                          <p:val>
                                            <p:strVal val="#ppt_w*2.4"/>
                                          </p:val>
                                        </p:tav>
                                        <p:tav tm="100000">
                                          <p:val>
                                            <p:strVal val="#ppt_w"/>
                                          </p:val>
                                        </p:tav>
                                      </p:tavLst>
                                    </p:anim>
                                    <p:anim calcmode="lin" valueType="num">
                                      <p:cBhvr additive="base">
                                        <p:cTn id="138" dur="400" fill="hold"/>
                                        <p:tgtEl>
                                          <p:spTgt spid="30"/>
                                        </p:tgtEl>
                                        <p:attrNameLst>
                                          <p:attrName>ppt_h</p:attrName>
                                        </p:attrNameLst>
                                      </p:cBhvr>
                                      <p:tavLst>
                                        <p:tav tm="0">
                                          <p:val>
                                            <p:strVal val="#ppt_h*2.4"/>
                                          </p:val>
                                        </p:tav>
                                        <p:tav tm="100000">
                                          <p:val>
                                            <p:strVal val="#ppt_h"/>
                                          </p:val>
                                        </p:tav>
                                      </p:tavLst>
                                    </p:anim>
                                    <p:animEffect transition="in" filter="fade">
                                      <p:cBhvr>
                                        <p:cTn id="139" dur="400"/>
                                        <p:tgtEl>
                                          <p:spTgt spid="30"/>
                                        </p:tgtEl>
                                      </p:cBhvr>
                                    </p:animEffect>
                                  </p:childTnLst>
                                </p:cTn>
                              </p:par>
                              <p:par>
                                <p:cTn id="145" presetID="42" presetClass="entr" presetSubtype="0" fill="hold" grpId="0" nodeType="withEffect">
                                  <p:stCondLst>
                                    <p:cond delay="5200"/>
                                  </p:stCondLst>
                                  <p:childTnLst>
                                    <p:set>
                                      <p:cBhvr>
                                        <p:cTn id="141" dur="1" fill="hold">
                                          <p:stCondLst>
                                            <p:cond delay="0"/>
                                          </p:stCondLst>
                                        </p:cTn>
                                        <p:tgtEl>
                                          <p:spTgt spid="31"/>
                                        </p:tgtEl>
                                        <p:attrNameLst>
                                          <p:attrName>style.visibility</p:attrName>
                                        </p:attrNameLst>
                                      </p:cBhvr>
                                      <p:to>
                                        <p:strVal val="visible"/>
                                      </p:to>
                                    </p:set>
                                    <p:animEffect transition="in" filter="fade">
                                      <p:cBhvr>
                                        <p:cTn id="142" dur="500"/>
                                        <p:tgtEl>
                                          <p:spTgt spid="31"/>
                                        </p:tgtEl>
                                      </p:cBhvr>
                                    </p:animEffect>
                                    <p:anim calcmode="lin" valueType="num">
                                      <p:cBhvr additive="base">
                                        <p:cTn id="143" dur="500" fill="hold"/>
                                        <p:tgtEl>
                                          <p:spTgt spid="31"/>
                                        </p:tgtEl>
                                        <p:attrNameLst>
                                          <p:attrName>ppt_x</p:attrName>
                                        </p:attrNameLst>
                                      </p:cBhvr>
                                      <p:tavLst>
                                        <p:tav tm="0">
                                          <p:val>
                                            <p:strVal val="#ppt_x"/>
                                          </p:val>
                                        </p:tav>
                                        <p:tav tm="100000">
                                          <p:val>
                                            <p:strVal val="#ppt_x"/>
                                          </p:val>
                                        </p:tav>
                                      </p:tavLst>
                                    </p:anim>
                                    <p:anim calcmode="lin" valueType="num">
                                      <p:cBhvr additive="base">
                                        <p:cTn id="144" dur="500" fill="hold"/>
                                        <p:tgtEl>
                                          <p:spTgt spid="31"/>
                                        </p:tgtEl>
                                        <p:attrNameLst>
                                          <p:attrName>ppt_y</p:attrName>
                                        </p:attrNameLst>
                                      </p:cBhvr>
                                      <p:tavLst>
                                        <p:tav tm="0">
                                          <p:val>
                                            <p:strVal val="#ppt_y+.06"/>
                                          </p:val>
                                        </p:tav>
                                        <p:tav tm="100000">
                                          <p:val>
                                            <p:strVal val="#ppt_y"/>
                                          </p:val>
                                        </p:tav>
                                      </p:tavLst>
                                    </p:anim>
                                  </p:childTnLst>
                                </p:cTn>
                              </p:par>
                              <p:par>
                                <p:cTn id="150" presetID="53" presetClass="entr" presetSubtype="32" fill="hold" grpId="0" nodeType="withEffect">
                                  <p:stCondLst>
                                    <p:cond delay="5650"/>
                                  </p:stCondLst>
                                  <p:childTnLst>
                                    <p:set>
                                      <p:cBhvr>
                                        <p:cTn id="146" dur="1" fill="hold">
                                          <p:stCondLst>
                                            <p:cond delay="0"/>
                                          </p:stCondLst>
                                        </p:cTn>
                                        <p:tgtEl>
                                          <p:spTgt spid="32"/>
                                        </p:tgtEl>
                                        <p:attrNameLst>
                                          <p:attrName>style.visibility</p:attrName>
                                        </p:attrNameLst>
                                      </p:cBhvr>
                                      <p:to>
                                        <p:strVal val="visible"/>
                                      </p:to>
                                    </p:set>
                                    <p:anim calcmode="lin" valueType="num">
                                      <p:cBhvr additive="base">
                                        <p:cTn id="147" dur="400" fill="hold"/>
                                        <p:tgtEl>
                                          <p:spTgt spid="32"/>
                                        </p:tgtEl>
                                        <p:attrNameLst>
                                          <p:attrName>ppt_w</p:attrName>
                                        </p:attrNameLst>
                                      </p:cBhvr>
                                      <p:tavLst>
                                        <p:tav tm="0">
                                          <p:val>
                                            <p:strVal val="#ppt_w*2.4"/>
                                          </p:val>
                                        </p:tav>
                                        <p:tav tm="100000">
                                          <p:val>
                                            <p:strVal val="#ppt_w"/>
                                          </p:val>
                                        </p:tav>
                                      </p:tavLst>
                                    </p:anim>
                                    <p:anim calcmode="lin" valueType="num">
                                      <p:cBhvr additive="base">
                                        <p:cTn id="148" dur="400" fill="hold"/>
                                        <p:tgtEl>
                                          <p:spTgt spid="32"/>
                                        </p:tgtEl>
                                        <p:attrNameLst>
                                          <p:attrName>ppt_h</p:attrName>
                                        </p:attrNameLst>
                                      </p:cBhvr>
                                      <p:tavLst>
                                        <p:tav tm="0">
                                          <p:val>
                                            <p:strVal val="#ppt_h*2.4"/>
                                          </p:val>
                                        </p:tav>
                                        <p:tav tm="100000">
                                          <p:val>
                                            <p:strVal val="#ppt_h"/>
                                          </p:val>
                                        </p:tav>
                                      </p:tavLst>
                                    </p:anim>
                                    <p:animEffect transition="in" filter="fade">
                                      <p:cBhvr>
                                        <p:cTn id="149" dur="400"/>
                                        <p:tgtEl>
                                          <p:spTgt spid="32"/>
                                        </p:tgtEl>
                                      </p:cBhvr>
                                    </p:animEffect>
                                  </p:childTnLst>
                                </p:cTn>
                              </p:par>
                              <p:par>
                                <p:cTn id="155" presetID="53" presetClass="entr" presetSubtype="32" fill="hold" grpId="0" nodeType="withEffect">
                                  <p:stCondLst>
                                    <p:cond delay="5650"/>
                                  </p:stCondLst>
                                  <p:childTnLst>
                                    <p:set>
                                      <p:cBhvr>
                                        <p:cTn id="151" dur="1" fill="hold">
                                          <p:stCondLst>
                                            <p:cond delay="0"/>
                                          </p:stCondLst>
                                        </p:cTn>
                                        <p:tgtEl>
                                          <p:spTgt spid="33"/>
                                        </p:tgtEl>
                                        <p:attrNameLst>
                                          <p:attrName>style.visibility</p:attrName>
                                        </p:attrNameLst>
                                      </p:cBhvr>
                                      <p:to>
                                        <p:strVal val="visible"/>
                                      </p:to>
                                    </p:set>
                                    <p:anim calcmode="lin" valueType="num">
                                      <p:cBhvr additive="base">
                                        <p:cTn id="152" dur="400" fill="hold"/>
                                        <p:tgtEl>
                                          <p:spTgt spid="33"/>
                                        </p:tgtEl>
                                        <p:attrNameLst>
                                          <p:attrName>ppt_w</p:attrName>
                                        </p:attrNameLst>
                                      </p:cBhvr>
                                      <p:tavLst>
                                        <p:tav tm="0">
                                          <p:val>
                                            <p:strVal val="#ppt_w*2.4"/>
                                          </p:val>
                                        </p:tav>
                                        <p:tav tm="100000">
                                          <p:val>
                                            <p:strVal val="#ppt_w"/>
                                          </p:val>
                                        </p:tav>
                                      </p:tavLst>
                                    </p:anim>
                                    <p:anim calcmode="lin" valueType="num">
                                      <p:cBhvr additive="base">
                                        <p:cTn id="153" dur="400" fill="hold"/>
                                        <p:tgtEl>
                                          <p:spTgt spid="33"/>
                                        </p:tgtEl>
                                        <p:attrNameLst>
                                          <p:attrName>ppt_h</p:attrName>
                                        </p:attrNameLst>
                                      </p:cBhvr>
                                      <p:tavLst>
                                        <p:tav tm="0">
                                          <p:val>
                                            <p:strVal val="#ppt_h*2.4"/>
                                          </p:val>
                                        </p:tav>
                                        <p:tav tm="100000">
                                          <p:val>
                                            <p:strVal val="#ppt_h"/>
                                          </p:val>
                                        </p:tav>
                                      </p:tavLst>
                                    </p:anim>
                                    <p:animEffect transition="in" filter="fade">
                                      <p:cBhvr>
                                        <p:cTn id="154" dur="400"/>
                                        <p:tgtEl>
                                          <p:spTgt spid="33"/>
                                        </p:tgtEl>
                                      </p:cBhvr>
                                    </p:animEffect>
                                  </p:childTnLst>
                                </p:cTn>
                              </p:par>
                              <p:par>
                                <p:cTn id="160" presetID="42" presetClass="entr" presetSubtype="0" fill="hold" grpId="0" nodeType="withEffect">
                                  <p:stCondLst>
                                    <p:cond delay="5650"/>
                                  </p:stCondLst>
                                  <p:childTnLst>
                                    <p:set>
                                      <p:cBhvr>
                                        <p:cTn id="156" dur="1" fill="hold">
                                          <p:stCondLst>
                                            <p:cond delay="0"/>
                                          </p:stCondLst>
                                        </p:cTn>
                                        <p:tgtEl>
                                          <p:spTgt spid="34"/>
                                        </p:tgtEl>
                                        <p:attrNameLst>
                                          <p:attrName>style.visibility</p:attrName>
                                        </p:attrNameLst>
                                      </p:cBhvr>
                                      <p:to>
                                        <p:strVal val="visible"/>
                                      </p:to>
                                    </p:set>
                                    <p:animEffect transition="in" filter="fade">
                                      <p:cBhvr>
                                        <p:cTn id="157" dur="500"/>
                                        <p:tgtEl>
                                          <p:spTgt spid="34"/>
                                        </p:tgtEl>
                                      </p:cBhvr>
                                    </p:animEffect>
                                    <p:anim calcmode="lin" valueType="num">
                                      <p:cBhvr additive="base">
                                        <p:cTn id="158" dur="500" fill="hold"/>
                                        <p:tgtEl>
                                          <p:spTgt spid="34"/>
                                        </p:tgtEl>
                                        <p:attrNameLst>
                                          <p:attrName>ppt_x</p:attrName>
                                        </p:attrNameLst>
                                      </p:cBhvr>
                                      <p:tavLst>
                                        <p:tav tm="0">
                                          <p:val>
                                            <p:strVal val="#ppt_x"/>
                                          </p:val>
                                        </p:tav>
                                        <p:tav tm="100000">
                                          <p:val>
                                            <p:strVal val="#ppt_x"/>
                                          </p:val>
                                        </p:tav>
                                      </p:tavLst>
                                    </p:anim>
                                    <p:anim calcmode="lin" valueType="num">
                                      <p:cBhvr additive="base">
                                        <p:cTn id="159" dur="500" fill="hold"/>
                                        <p:tgtEl>
                                          <p:spTgt spid="34"/>
                                        </p:tgtEl>
                                        <p:attrNameLst>
                                          <p:attrName>ppt_y</p:attrName>
                                        </p:attrNameLst>
                                      </p:cBhvr>
                                      <p:tavLst>
                                        <p:tav tm="0">
                                          <p:val>
                                            <p:strVal val="#ppt_y+.06"/>
                                          </p:val>
                                        </p:tav>
                                        <p:tav tm="100000">
                                          <p:val>
                                            <p:strVal val="#ppt_y"/>
                                          </p:val>
                                        </p:tav>
                                      </p:tavLst>
                                    </p:anim>
                                  </p:childTnLst>
                                </p:cTn>
                              </p:par>
                              <p:par>
                                <p:cTn id="162" presetID="1" presetClass="entr" presetSubtype="0" fill="hold" grpId="0" nodeType="withEffect">
                                  <p:stCondLst>
                                    <p:cond delay="5800"/>
                                  </p:stCondLst>
                                  <p:iterate type="lt">
                                    <p:tmAbs val="35"/>
                                  </p:iterate>
                                  <p:childTnLst>
                                    <p:set>
                                      <p:cBhvr>
                                        <p:cTn id="161" dur="1" fill="hold">
                                          <p:stCondLst>
                                            <p:cond delay="0"/>
                                          </p:stCondLst>
                                        </p:cTn>
                                        <p:tgtEl>
                                          <p:spTgt spid="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6" grpId="0" animBg="1"/>
      <p:bldP spid="5" grpId="0" animBg="1"/>
      <p:bldP spid="2" grpId="1"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paused badge"/>
          <p:cNvSpPr/>
          <p:nvPr/>
        </p:nvSpPr>
        <p:spPr>
          <a:xfrm>
            <a:off x="548640" y="310896"/>
            <a:ext cx="1417320" cy="329184"/>
          </a:xfrm>
          <a:prstGeom prst="roundRect">
            <a:avLst>
              <a:gd name="adj" fmla="val 16667"/>
            </a:avLst>
          </a:prstGeom>
          <a:solidFill>
            <a:srgbClr val="FFD84D"/>
          </a:solidFill>
          <a:ln/>
        </p:spPr>
      </p:sp>
      <p:pic>
        <p:nvPicPr>
          <p:cNvPr id="3" name="pause icon" descr="Paused">    </p:cNvPr>
          <p:cNvPicPr>
            <a:picLocks noChangeAspect="1"/>
          </p:cNvPicPr>
          <p:nvPr/>
        </p:nvPicPr>
        <p:blipFill>
          <a:blip r:embed="rId1"/>
          <a:stretch>
            <a:fillRect/>
          </a:stretch>
        </p:blipFill>
        <p:spPr>
          <a:xfrm>
            <a:off x="667512" y="393192"/>
            <a:ext cx="164592" cy="164592"/>
          </a:xfrm>
          <a:prstGeom prst="rect">
            <a:avLst/>
          </a:prstGeom>
        </p:spPr>
      </p:pic>
      <p:sp>
        <p:nvSpPr>
          <p:cNvPr id="4" name="Text 1"/>
          <p:cNvSpPr txBox="1"/>
          <p:nvPr/>
        </p:nvSpPr>
        <p:spPr>
          <a:xfrm>
            <a:off x="896112" y="310896"/>
            <a:ext cx="1005840" cy="329184"/>
          </a:xfrm>
          <a:prstGeom prst="rect">
            <a:avLst/>
          </a:prstGeom>
          <a:noFill/>
          <a:ln/>
        </p:spPr>
        <p:txBody>
          <a:bodyPr wrap="square" lIns="0" tIns="0" rIns="0" bIns="0" rtlCol="0" anchor="ctr"/>
          <a:lstStyle/>
          <a:p>
            <a:pPr indent="0" marL="0">
              <a:buNone/>
            </a:pPr>
            <a:r>
              <a:rPr lang="en-US" sz="1300" b="1" spc="200" kern="0" dirty="0">
                <a:solidFill>
                  <a:srgbClr val="0D0D0F"/>
                </a:solidFill>
                <a:latin typeface="Courier New" pitchFamily="34" charset="0"/>
                <a:ea typeface="Courier New" pitchFamily="34" charset="-122"/>
                <a:cs typeface="Courier New" pitchFamily="34" charset="-120"/>
              </a:rPr>
              <a:t>PAUSED</a:t>
            </a:r>
            <a:endParaRPr lang="en-US" sz="1300" dirty="0"/>
          </a:p>
        </p:txBody>
      </p:sp>
      <p:sp>
        <p:nvSpPr>
          <p:cNvPr id="5" name="Text 2"/>
          <p:cNvSpPr txBox="1"/>
          <p:nvPr/>
        </p:nvSpPr>
        <p:spPr>
          <a:xfrm>
            <a:off x="2148840" y="310896"/>
            <a:ext cx="8229600" cy="329184"/>
          </a:xfrm>
          <a:prstGeom prst="rect">
            <a:avLst/>
          </a:prstGeom>
          <a:noFill/>
          <a:ln/>
        </p:spPr>
        <p:txBody>
          <a:bodyPr wrap="square" lIns="0" tIns="0" rIns="0" bIns="0" rtlCol="0" anchor="ctr"/>
          <a:lstStyle/>
          <a:p>
            <a:pPr indent="0" marL="0">
              <a:buNone/>
            </a:pPr>
            <a:r>
              <a:rPr lang="en-US" sz="1300" b="1" spc="200" kern="0" dirty="0">
                <a:solidFill>
                  <a:srgbClr val="FFD84D"/>
                </a:solidFill>
                <a:latin typeface="Courier New" pitchFamily="34" charset="0"/>
                <a:ea typeface="Courier New" pitchFamily="34" charset="-122"/>
                <a:cs typeface="Courier New" pitchFamily="34" charset="-120"/>
              </a:rPr>
              <a:t>ACT II  ·  WHO HOLDS THE POWER?</a:t>
            </a:r>
            <a:endParaRPr lang="en-US" sz="1300" dirty="0"/>
          </a:p>
        </p:txBody>
      </p:sp>
      <p:sp>
        <p:nvSpPr>
          <p:cNvPr id="6" name="Text 0"/>
          <p:cNvSpPr/>
          <p:nvPr>
            <p:ph idx="100" type="title" hasCustomPrompt="1"/>
          </p:nvPr>
        </p:nvSpPr>
        <p:spPr>
          <a:xfrm>
            <a:off x="548640" y="731520"/>
            <a:ext cx="11094415" cy="731520"/>
          </a:xfrm>
          <a:prstGeom prst="rect">
            <a:avLst/>
          </a:prstGeom>
          <a:noFill/>
          <a:ln/>
        </p:spPr>
        <p:txBody>
          <a:bodyPr wrap="square" lIns="0" tIns="0" rIns="0" bIns="0" rtlCol="0" anchor="ctr"/>
          <a:lstStyle/>
          <a:p>
            <a:pPr algn="l" indent="0" marL="0">
              <a:buNone/>
            </a:pPr>
            <a:r>
              <a:rPr lang="en-US" sz="3000" b="1" dirty="0">
                <a:solidFill>
                  <a:schemeClr val="bg1"/>
                </a:solidFill>
              </a:rPr>
              <a:t>The brokers in the middle held the power</a:t>
            </a:r>
            <a:endParaRPr lang="en-US" sz="3000" dirty="0"/>
          </a:p>
        </p:txBody>
      </p:sp>
      <p:sp>
        <p:nvSpPr>
          <p:cNvPr id="7" name="pent-aey"/>
          <p:cNvSpPr/>
          <p:nvPr/>
        </p:nvSpPr>
        <p:spPr>
          <a:xfrm>
            <a:off x="1572768" y="2761488"/>
            <a:ext cx="2743200" cy="1051560"/>
          </a:xfrm>
          <a:prstGeom prst="line">
            <a:avLst/>
          </a:prstGeom>
          <a:noFill/>
          <a:ln w="38100">
            <a:solidFill>
              <a:srgbClr val="FFD84D"/>
            </a:solidFill>
            <a:prstDash val="solid"/>
          </a:ln>
        </p:spPr>
      </p:sp>
      <p:sp>
        <p:nvSpPr>
          <p:cNvPr id="8" name="aey-henry"/>
          <p:cNvSpPr/>
          <p:nvPr/>
        </p:nvSpPr>
        <p:spPr>
          <a:xfrm flipV="1">
            <a:off x="4315968" y="2761488"/>
            <a:ext cx="2743200" cy="1051560"/>
          </a:xfrm>
          <a:prstGeom prst="line">
            <a:avLst/>
          </a:prstGeom>
          <a:noFill/>
          <a:ln w="38100">
            <a:solidFill>
              <a:srgbClr val="FFD84D"/>
            </a:solidFill>
            <a:prstDash val="solid"/>
          </a:ln>
        </p:spPr>
      </p:sp>
      <p:sp>
        <p:nvSpPr>
          <p:cNvPr id="9" name="henry-alb"/>
          <p:cNvSpPr/>
          <p:nvPr/>
        </p:nvSpPr>
        <p:spPr>
          <a:xfrm>
            <a:off x="7059168" y="2761488"/>
            <a:ext cx="914" cy="2194560"/>
          </a:xfrm>
          <a:prstGeom prst="line">
            <a:avLst/>
          </a:prstGeom>
          <a:noFill/>
          <a:ln w="19050">
            <a:solidFill>
              <a:srgbClr val="4A4E57"/>
            </a:solidFill>
            <a:prstDash val="solid"/>
          </a:ln>
        </p:spPr>
      </p:sp>
      <p:sp>
        <p:nvSpPr>
          <p:cNvPr id="10" name="fin-aey"/>
          <p:cNvSpPr/>
          <p:nvPr/>
        </p:nvSpPr>
        <p:spPr>
          <a:xfrm flipV="1">
            <a:off x="1572768" y="3813048"/>
            <a:ext cx="2743200" cy="1143000"/>
          </a:xfrm>
          <a:prstGeom prst="line">
            <a:avLst/>
          </a:prstGeom>
          <a:noFill/>
          <a:ln w="19050">
            <a:solidFill>
              <a:srgbClr val="4A4E57"/>
            </a:solidFill>
            <a:prstDash val="solid"/>
          </a:ln>
        </p:spPr>
      </p:sp>
      <p:sp>
        <p:nvSpPr>
          <p:cNvPr id="11" name="aey-alb"/>
          <p:cNvSpPr/>
          <p:nvPr/>
        </p:nvSpPr>
        <p:spPr>
          <a:xfrm>
            <a:off x="4315968" y="3813048"/>
            <a:ext cx="2743200" cy="1143000"/>
          </a:xfrm>
          <a:prstGeom prst="line">
            <a:avLst/>
          </a:prstGeom>
          <a:noFill/>
          <a:ln w="19050">
            <a:solidFill>
              <a:srgbClr val="4A4E57"/>
            </a:solidFill>
            <a:prstDash val="solid"/>
          </a:ln>
        </p:spPr>
      </p:sp>
      <p:sp>
        <p:nvSpPr>
          <p:cNvPr id="12" name="pent-afg"/>
          <p:cNvSpPr/>
          <p:nvPr/>
        </p:nvSpPr>
        <p:spPr>
          <a:xfrm flipV="1">
            <a:off x="1572768" y="1984248"/>
            <a:ext cx="2743200" cy="777240"/>
          </a:xfrm>
          <a:prstGeom prst="line">
            <a:avLst/>
          </a:prstGeom>
          <a:noFill/>
          <a:ln w="19050">
            <a:solidFill>
              <a:srgbClr val="4A4E57"/>
            </a:solidFill>
            <a:prstDash val="dash"/>
          </a:ln>
        </p:spPr>
      </p:sp>
      <p:sp>
        <p:nvSpPr>
          <p:cNvPr id="13" name="alb-afg"/>
          <p:cNvSpPr/>
          <p:nvPr/>
        </p:nvSpPr>
        <p:spPr>
          <a:xfrm>
            <a:off x="4315968" y="1984248"/>
            <a:ext cx="2743200" cy="2971800"/>
          </a:xfrm>
          <a:prstGeom prst="line">
            <a:avLst/>
          </a:prstGeom>
          <a:noFill/>
          <a:ln w="19050">
            <a:solidFill>
              <a:srgbClr val="4A4E57"/>
            </a:solidFill>
            <a:prstDash val="dash"/>
          </a:ln>
        </p:spPr>
      </p:sp>
      <p:sp>
        <p:nvSpPr>
          <p:cNvPr id="14" name="US Army circle"/>
          <p:cNvSpPr/>
          <p:nvPr/>
        </p:nvSpPr>
        <p:spPr>
          <a:xfrm>
            <a:off x="1188720" y="2377440"/>
            <a:ext cx="768096" cy="768096"/>
          </a:xfrm>
          <a:prstGeom prst="ellipse">
            <a:avLst/>
          </a:prstGeom>
          <a:solidFill>
            <a:srgbClr val="3A3D44"/>
          </a:solidFill>
          <a:ln/>
        </p:spPr>
      </p:sp>
      <p:pic>
        <p:nvPicPr>
          <p:cNvPr id="15" name="US Army icon" descr="US Army">    </p:cNvPr>
          <p:cNvPicPr>
            <a:picLocks noChangeAspect="1"/>
          </p:cNvPicPr>
          <p:nvPr/>
        </p:nvPicPr>
        <p:blipFill>
          <a:blip r:embed="rId2"/>
          <a:stretch>
            <a:fillRect/>
          </a:stretch>
        </p:blipFill>
        <p:spPr>
          <a:xfrm>
            <a:off x="1373063" y="2561783"/>
            <a:ext cx="399410" cy="399410"/>
          </a:xfrm>
          <a:prstGeom prst="rect">
            <a:avLst/>
          </a:prstGeom>
        </p:spPr>
      </p:pic>
      <p:sp>
        <p:nvSpPr>
          <p:cNvPr id="16" name="Text 12"/>
          <p:cNvSpPr txBox="1"/>
          <p:nvPr/>
        </p:nvSpPr>
        <p:spPr>
          <a:xfrm>
            <a:off x="411480" y="3182112"/>
            <a:ext cx="2331720" cy="502920"/>
          </a:xfrm>
          <a:prstGeom prst="rect">
            <a:avLst/>
          </a:prstGeom>
          <a:noFill/>
          <a:ln/>
        </p:spPr>
        <p:txBody>
          <a:bodyPr wrap="square" lIns="0" tIns="0" rIns="0" bIns="0" rtlCol="0" anchor="t"/>
          <a:lstStyle/>
          <a:p>
            <a:pPr algn="ctr" indent="0" marL="0">
              <a:buNone/>
            </a:pPr>
            <a:r>
              <a:rPr lang="en-US" sz="1300" b="1" dirty="0">
                <a:solidFill>
                  <a:schemeClr val="bg1"/>
                </a:solidFill>
              </a:rPr>
              <a:t>US Army</a:t>
            </a:r>
            <a:endParaRPr lang="en-US" sz="1300" dirty="0"/>
          </a:p>
          <a:p>
            <a:pPr algn="ctr" indent="0" marL="0">
              <a:buNone/>
            </a:pPr>
            <a:r>
              <a:rPr lang="en-US" sz="1100" dirty="0">
                <a:solidFill>
                  <a:srgbClr val="A9ADB5"/>
                </a:solidFill>
              </a:rPr>
              <a:t>Open online tenders</a:t>
            </a:r>
            <a:endParaRPr lang="en-US" sz="1300" dirty="0"/>
          </a:p>
        </p:txBody>
      </p:sp>
      <p:sp>
        <p:nvSpPr>
          <p:cNvPr id="17" name="AEY (Efraim + David) circle"/>
          <p:cNvSpPr/>
          <p:nvPr/>
        </p:nvSpPr>
        <p:spPr>
          <a:xfrm>
            <a:off x="3931920" y="3429000"/>
            <a:ext cx="768096" cy="768096"/>
          </a:xfrm>
          <a:prstGeom prst="ellipse">
            <a:avLst/>
          </a:prstGeom>
          <a:solidFill>
            <a:srgbClr val="E5383B"/>
          </a:solidFill>
          <a:ln/>
        </p:spPr>
      </p:sp>
      <p:pic>
        <p:nvPicPr>
          <p:cNvPr id="18" name="AEY (Efraim + David) icon" descr="AEY (Efraim + David)">    </p:cNvPr>
          <p:cNvPicPr>
            <a:picLocks noChangeAspect="1"/>
          </p:cNvPicPr>
          <p:nvPr/>
        </p:nvPicPr>
        <p:blipFill>
          <a:blip r:embed="rId3"/>
          <a:stretch>
            <a:fillRect/>
          </a:stretch>
        </p:blipFill>
        <p:spPr>
          <a:xfrm>
            <a:off x="4116263" y="3613343"/>
            <a:ext cx="399410" cy="399410"/>
          </a:xfrm>
          <a:prstGeom prst="rect">
            <a:avLst/>
          </a:prstGeom>
        </p:spPr>
      </p:pic>
      <p:sp>
        <p:nvSpPr>
          <p:cNvPr id="19" name="Text 14"/>
          <p:cNvSpPr txBox="1"/>
          <p:nvPr/>
        </p:nvSpPr>
        <p:spPr>
          <a:xfrm>
            <a:off x="3154680" y="4233672"/>
            <a:ext cx="2331720" cy="502920"/>
          </a:xfrm>
          <a:prstGeom prst="rect">
            <a:avLst/>
          </a:prstGeom>
          <a:noFill/>
          <a:ln/>
        </p:spPr>
        <p:txBody>
          <a:bodyPr wrap="square" lIns="0" tIns="0" rIns="0" bIns="0" rtlCol="0" anchor="t"/>
          <a:lstStyle/>
          <a:p>
            <a:pPr algn="ctr" indent="0" marL="0">
              <a:buNone/>
            </a:pPr>
            <a:r>
              <a:rPr lang="en-US" sz="1300" b="1" dirty="0">
                <a:solidFill>
                  <a:schemeClr val="bg1"/>
                </a:solidFill>
              </a:rPr>
              <a:t>AEY (Efraim + David)</a:t>
            </a:r>
            <a:endParaRPr lang="en-US" sz="1300" dirty="0"/>
          </a:p>
          <a:p>
            <a:pPr algn="ctr" indent="0" marL="0">
              <a:buNone/>
            </a:pPr>
            <a:r>
              <a:rPr lang="en-US" sz="1100" b="1" dirty="0">
                <a:solidFill>
                  <a:srgbClr val="FF8A8C"/>
                </a:solidFill>
              </a:rPr>
              <a:t>BROKER · clean US name</a:t>
            </a:r>
            <a:endParaRPr lang="en-US" sz="1300" dirty="0"/>
          </a:p>
        </p:txBody>
      </p:sp>
      <p:sp>
        <p:nvSpPr>
          <p:cNvPr id="20" name="Henry Girard circle"/>
          <p:cNvSpPr/>
          <p:nvPr/>
        </p:nvSpPr>
        <p:spPr>
          <a:xfrm>
            <a:off x="6675120" y="2377440"/>
            <a:ext cx="768096" cy="768096"/>
          </a:xfrm>
          <a:prstGeom prst="ellipse">
            <a:avLst/>
          </a:prstGeom>
          <a:solidFill>
            <a:srgbClr val="E5383B"/>
          </a:solidFill>
          <a:ln/>
        </p:spPr>
      </p:sp>
      <p:pic>
        <p:nvPicPr>
          <p:cNvPr id="21" name="Henry Girard icon" descr="Henry Girard">    </p:cNvPr>
          <p:cNvPicPr>
            <a:picLocks noChangeAspect="1"/>
          </p:cNvPicPr>
          <p:nvPr/>
        </p:nvPicPr>
        <p:blipFill>
          <a:blip r:embed="rId4"/>
          <a:stretch>
            <a:fillRect/>
          </a:stretch>
        </p:blipFill>
        <p:spPr>
          <a:xfrm>
            <a:off x="6859463" y="2561783"/>
            <a:ext cx="399410" cy="399410"/>
          </a:xfrm>
          <a:prstGeom prst="rect">
            <a:avLst/>
          </a:prstGeom>
        </p:spPr>
      </p:pic>
      <p:sp>
        <p:nvSpPr>
          <p:cNvPr id="22" name="Text 16"/>
          <p:cNvSpPr txBox="1"/>
          <p:nvPr/>
        </p:nvSpPr>
        <p:spPr>
          <a:xfrm>
            <a:off x="5897880" y="3182112"/>
            <a:ext cx="2331720" cy="502920"/>
          </a:xfrm>
          <a:prstGeom prst="rect">
            <a:avLst/>
          </a:prstGeom>
          <a:noFill/>
          <a:ln/>
        </p:spPr>
        <p:txBody>
          <a:bodyPr wrap="square" lIns="0" tIns="0" rIns="0" bIns="0" rtlCol="0" anchor="t"/>
          <a:lstStyle/>
          <a:p>
            <a:pPr algn="ctr" indent="0" marL="0">
              <a:buNone/>
            </a:pPr>
            <a:r>
              <a:rPr lang="en-US" sz="1300" b="1" dirty="0">
                <a:solidFill>
                  <a:schemeClr val="bg1"/>
                </a:solidFill>
              </a:rPr>
              <a:t>Henry Girard</a:t>
            </a:r>
            <a:endParaRPr lang="en-US" sz="1300" dirty="0"/>
          </a:p>
          <a:p>
            <a:pPr algn="ctr" indent="0" marL="0">
              <a:buNone/>
            </a:pPr>
            <a:r>
              <a:rPr lang="en-US" sz="1100" b="1" dirty="0">
                <a:solidFill>
                  <a:srgbClr val="FF8A8C"/>
                </a:solidFill>
              </a:rPr>
              <a:t>BROKER · watch-listed</a:t>
            </a:r>
            <a:endParaRPr lang="en-US" sz="1300" dirty="0"/>
          </a:p>
        </p:txBody>
      </p:sp>
      <p:sp>
        <p:nvSpPr>
          <p:cNvPr id="23" name="Albanian stockpile circle"/>
          <p:cNvSpPr/>
          <p:nvPr/>
        </p:nvSpPr>
        <p:spPr>
          <a:xfrm>
            <a:off x="6675120" y="4572000"/>
            <a:ext cx="768096" cy="768096"/>
          </a:xfrm>
          <a:prstGeom prst="ellipse">
            <a:avLst/>
          </a:prstGeom>
          <a:solidFill>
            <a:srgbClr val="3A3D44"/>
          </a:solidFill>
          <a:ln/>
        </p:spPr>
      </p:sp>
      <p:pic>
        <p:nvPicPr>
          <p:cNvPr id="24" name="Albanian stockpile icon" descr="Albanian stockpile">    </p:cNvPr>
          <p:cNvPicPr>
            <a:picLocks noChangeAspect="1"/>
          </p:cNvPicPr>
          <p:nvPr/>
        </p:nvPicPr>
        <p:blipFill>
          <a:blip r:embed="rId5"/>
          <a:stretch>
            <a:fillRect/>
          </a:stretch>
        </p:blipFill>
        <p:spPr>
          <a:xfrm>
            <a:off x="6859463" y="4756343"/>
            <a:ext cx="399410" cy="399410"/>
          </a:xfrm>
          <a:prstGeom prst="rect">
            <a:avLst/>
          </a:prstGeom>
        </p:spPr>
      </p:pic>
      <p:sp>
        <p:nvSpPr>
          <p:cNvPr id="25" name="Text 18"/>
          <p:cNvSpPr txBox="1"/>
          <p:nvPr/>
        </p:nvSpPr>
        <p:spPr>
          <a:xfrm>
            <a:off x="5897880" y="5376672"/>
            <a:ext cx="2331720" cy="502920"/>
          </a:xfrm>
          <a:prstGeom prst="rect">
            <a:avLst/>
          </a:prstGeom>
          <a:noFill/>
          <a:ln/>
        </p:spPr>
        <p:txBody>
          <a:bodyPr wrap="square" lIns="0" tIns="0" rIns="0" bIns="0" rtlCol="0" anchor="t"/>
          <a:lstStyle/>
          <a:p>
            <a:pPr algn="ctr" indent="0" marL="0">
              <a:buNone/>
            </a:pPr>
            <a:r>
              <a:rPr lang="en-US" sz="1300" b="1" dirty="0">
                <a:solidFill>
                  <a:schemeClr val="bg1"/>
                </a:solidFill>
              </a:rPr>
              <a:t>Albanian stockpile</a:t>
            </a:r>
            <a:endParaRPr lang="en-US" sz="1300" dirty="0"/>
          </a:p>
          <a:p>
            <a:pPr algn="ctr" indent="0" marL="0">
              <a:buNone/>
            </a:pPr>
            <a:r>
              <a:rPr lang="en-US" sz="1100" dirty="0">
                <a:solidFill>
                  <a:srgbClr val="A9ADB5"/>
                </a:solidFill>
              </a:rPr>
              <a:t>Supply + officials</a:t>
            </a:r>
            <a:endParaRPr lang="en-US" sz="1300" dirty="0"/>
          </a:p>
        </p:txBody>
      </p:sp>
      <p:sp>
        <p:nvSpPr>
          <p:cNvPr id="26" name="Afghan army circle"/>
          <p:cNvSpPr/>
          <p:nvPr/>
        </p:nvSpPr>
        <p:spPr>
          <a:xfrm>
            <a:off x="3931920" y="1600200"/>
            <a:ext cx="768096" cy="768096"/>
          </a:xfrm>
          <a:prstGeom prst="ellipse">
            <a:avLst/>
          </a:prstGeom>
          <a:solidFill>
            <a:srgbClr val="3A3D44"/>
          </a:solidFill>
          <a:ln/>
        </p:spPr>
      </p:sp>
      <p:pic>
        <p:nvPicPr>
          <p:cNvPr id="27" name="Afghan army icon" descr="Afghan army">    </p:cNvPr>
          <p:cNvPicPr>
            <a:picLocks noChangeAspect="1"/>
          </p:cNvPicPr>
          <p:nvPr/>
        </p:nvPicPr>
        <p:blipFill>
          <a:blip r:embed="rId6"/>
          <a:stretch>
            <a:fillRect/>
          </a:stretch>
        </p:blipFill>
        <p:spPr>
          <a:xfrm>
            <a:off x="4116263" y="1784543"/>
            <a:ext cx="399410" cy="399410"/>
          </a:xfrm>
          <a:prstGeom prst="rect">
            <a:avLst/>
          </a:prstGeom>
        </p:spPr>
      </p:pic>
      <p:sp>
        <p:nvSpPr>
          <p:cNvPr id="28" name="Text 20"/>
          <p:cNvSpPr txBox="1"/>
          <p:nvPr/>
        </p:nvSpPr>
        <p:spPr>
          <a:xfrm>
            <a:off x="3154680" y="2404872"/>
            <a:ext cx="2331720" cy="502920"/>
          </a:xfrm>
          <a:prstGeom prst="rect">
            <a:avLst/>
          </a:prstGeom>
          <a:noFill/>
          <a:ln/>
        </p:spPr>
        <p:txBody>
          <a:bodyPr wrap="square" lIns="0" tIns="0" rIns="0" bIns="0" rtlCol="0" anchor="t"/>
          <a:lstStyle/>
          <a:p>
            <a:pPr algn="ctr" indent="0" marL="0">
              <a:buNone/>
            </a:pPr>
            <a:r>
              <a:rPr lang="en-US" sz="1300" b="1" dirty="0">
                <a:solidFill>
                  <a:schemeClr val="bg1"/>
                </a:solidFill>
              </a:rPr>
              <a:t>Afghan army</a:t>
            </a:r>
            <a:endParaRPr lang="en-US" sz="1300" dirty="0"/>
          </a:p>
          <a:p>
            <a:pPr algn="ctr" indent="0" marL="0">
              <a:buNone/>
            </a:pPr>
            <a:r>
              <a:rPr lang="en-US" sz="1100" dirty="0">
                <a:solidFill>
                  <a:srgbClr val="A9ADB5"/>
                </a:solidFill>
              </a:rPr>
              <a:t>End user · victim</a:t>
            </a:r>
            <a:endParaRPr lang="en-US" sz="1300" dirty="0"/>
          </a:p>
        </p:txBody>
      </p:sp>
      <p:sp>
        <p:nvSpPr>
          <p:cNvPr id="29" name="Financier circle"/>
          <p:cNvSpPr/>
          <p:nvPr/>
        </p:nvSpPr>
        <p:spPr>
          <a:xfrm>
            <a:off x="1188720" y="4572000"/>
            <a:ext cx="768096" cy="768096"/>
          </a:xfrm>
          <a:prstGeom prst="ellipse">
            <a:avLst/>
          </a:prstGeom>
          <a:solidFill>
            <a:srgbClr val="3A3D44"/>
          </a:solidFill>
          <a:ln/>
        </p:spPr>
      </p:sp>
      <p:pic>
        <p:nvPicPr>
          <p:cNvPr id="30" name="Financier icon" descr="Financier">    </p:cNvPr>
          <p:cNvPicPr>
            <a:picLocks noChangeAspect="1"/>
          </p:cNvPicPr>
          <p:nvPr/>
        </p:nvPicPr>
        <p:blipFill>
          <a:blip r:embed="rId7"/>
          <a:stretch>
            <a:fillRect/>
          </a:stretch>
        </p:blipFill>
        <p:spPr>
          <a:xfrm>
            <a:off x="1373063" y="4756343"/>
            <a:ext cx="399410" cy="399410"/>
          </a:xfrm>
          <a:prstGeom prst="rect">
            <a:avLst/>
          </a:prstGeom>
        </p:spPr>
      </p:pic>
      <p:sp>
        <p:nvSpPr>
          <p:cNvPr id="31" name="Text 22"/>
          <p:cNvSpPr txBox="1"/>
          <p:nvPr/>
        </p:nvSpPr>
        <p:spPr>
          <a:xfrm>
            <a:off x="411480" y="5376672"/>
            <a:ext cx="2331720" cy="502920"/>
          </a:xfrm>
          <a:prstGeom prst="rect">
            <a:avLst/>
          </a:prstGeom>
          <a:noFill/>
          <a:ln/>
        </p:spPr>
        <p:txBody>
          <a:bodyPr wrap="square" lIns="0" tIns="0" rIns="0" bIns="0" rtlCol="0" anchor="t"/>
          <a:lstStyle/>
          <a:p>
            <a:pPr algn="ctr" indent="0" marL="0">
              <a:buNone/>
            </a:pPr>
            <a:r>
              <a:rPr lang="en-US" sz="1300" b="1" dirty="0">
                <a:solidFill>
                  <a:schemeClr val="bg1"/>
                </a:solidFill>
              </a:rPr>
              <a:t>Financier</a:t>
            </a:r>
            <a:endParaRPr lang="en-US" sz="1300" dirty="0"/>
          </a:p>
          <a:p>
            <a:pPr algn="ctr" indent="0" marL="0">
              <a:buNone/>
            </a:pPr>
            <a:r>
              <a:rPr lang="en-US" sz="1100" dirty="0">
                <a:solidFill>
                  <a:srgbClr val="A9ADB5"/>
                </a:solidFill>
              </a:rPr>
              <a:t>Funds the deal</a:t>
            </a:r>
            <a:endParaRPr lang="en-US" sz="1300" dirty="0"/>
          </a:p>
        </p:txBody>
      </p:sp>
      <p:sp>
        <p:nvSpPr>
          <p:cNvPr id="32" name="Network model"/>
          <p:cNvSpPr/>
          <p:nvPr/>
        </p:nvSpPr>
        <p:spPr>
          <a:xfrm>
            <a:off x="8732520" y="1691640"/>
            <a:ext cx="2910535" cy="1280160"/>
          </a:xfrm>
          <a:prstGeom prst="rect">
            <a:avLst/>
          </a:prstGeom>
          <a:solidFill>
            <a:srgbClr val="1B1D22"/>
          </a:solidFill>
          <a:ln w="12700">
            <a:solidFill>
              <a:srgbClr val="FFD84D"/>
            </a:solidFill>
            <a:prstDash val="solid"/>
          </a:ln>
        </p:spPr>
      </p:sp>
      <p:sp>
        <p:nvSpPr>
          <p:cNvPr id="33" name="Text 24"/>
          <p:cNvSpPr txBox="1"/>
          <p:nvPr/>
        </p:nvSpPr>
        <p:spPr>
          <a:xfrm>
            <a:off x="8915400" y="1783080"/>
            <a:ext cx="2544775" cy="1097280"/>
          </a:xfrm>
          <a:prstGeom prst="rect">
            <a:avLst/>
          </a:prstGeom>
          <a:noFill/>
          <a:ln/>
        </p:spPr>
        <p:txBody>
          <a:bodyPr wrap="square" lIns="0" tIns="0" rIns="0" bIns="0" rtlCol="0" anchor="ctr"/>
          <a:lstStyle/>
          <a:p>
            <a:pPr indent="0" marL="0">
              <a:buNone/>
            </a:pPr>
            <a:r>
              <a:rPr lang="en-US" sz="1400" b="1" dirty="0">
                <a:solidFill>
                  <a:srgbClr val="FFD84D"/>
                </a:solidFill>
                <a:latin typeface="Bookman Old Style" pitchFamily="34" charset="0"/>
                <a:ea typeface="Bookman Old Style" pitchFamily="34" charset="-122"/>
                <a:cs typeface="Bookman Old Style" pitchFamily="34" charset="-120"/>
              </a:rPr>
              <a:t>Network model  </a:t>
            </a:r>
            <a:pPr indent="0" marL="0">
              <a:buNone/>
            </a:pPr>
            <a:r>
              <a:rPr lang="en-US" sz="1100" dirty="0">
                <a:solidFill>
                  <a:srgbClr val="A9ADB5"/>
                </a:solidFill>
              </a:rPr>
              <a:t>Morselli (2009)</a:t>
            </a:r>
            <a:endParaRPr lang="en-US" sz="1400" dirty="0"/>
          </a:p>
          <a:p>
            <a:pPr indent="0" marL="0">
              <a:buNone/>
            </a:pPr>
            <a:r>
              <a:rPr lang="en-US" sz="1300" dirty="0">
                <a:solidFill>
                  <a:schemeClr val="bg1"/>
                </a:solidFill>
              </a:rPr>
              <a:t>Power belongs to brokers who connect worlds that can’t reach each other.</a:t>
            </a:r>
            <a:endParaRPr lang="en-US" sz="1400" dirty="0"/>
          </a:p>
        </p:txBody>
      </p:sp>
      <p:sp>
        <p:nvSpPr>
          <p:cNvPr id="34" name="Patron–client"/>
          <p:cNvSpPr/>
          <p:nvPr/>
        </p:nvSpPr>
        <p:spPr>
          <a:xfrm>
            <a:off x="8732520" y="3108960"/>
            <a:ext cx="2910535" cy="1280160"/>
          </a:xfrm>
          <a:prstGeom prst="rect">
            <a:avLst/>
          </a:prstGeom>
          <a:solidFill>
            <a:srgbClr val="1B1D22"/>
          </a:solidFill>
          <a:ln w="12700">
            <a:solidFill>
              <a:srgbClr val="FFD84D"/>
            </a:solidFill>
            <a:prstDash val="solid"/>
          </a:ln>
        </p:spPr>
      </p:sp>
      <p:sp>
        <p:nvSpPr>
          <p:cNvPr id="35" name="Text 26"/>
          <p:cNvSpPr txBox="1"/>
          <p:nvPr/>
        </p:nvSpPr>
        <p:spPr>
          <a:xfrm>
            <a:off x="8915400" y="3200400"/>
            <a:ext cx="2544775" cy="1097280"/>
          </a:xfrm>
          <a:prstGeom prst="rect">
            <a:avLst/>
          </a:prstGeom>
          <a:noFill/>
          <a:ln/>
        </p:spPr>
        <p:txBody>
          <a:bodyPr wrap="square" lIns="0" tIns="0" rIns="0" bIns="0" rtlCol="0" anchor="ctr"/>
          <a:lstStyle/>
          <a:p>
            <a:pPr indent="0" marL="0">
              <a:buNone/>
            </a:pPr>
            <a:r>
              <a:rPr lang="en-US" sz="1400" b="1" dirty="0">
                <a:solidFill>
                  <a:srgbClr val="FFD84D"/>
                </a:solidFill>
                <a:latin typeface="Bookman Old Style" pitchFamily="34" charset="0"/>
                <a:ea typeface="Bookman Old Style" pitchFamily="34" charset="-122"/>
                <a:cs typeface="Bookman Old Style" pitchFamily="34" charset="-120"/>
              </a:rPr>
              <a:t>Patron–client  </a:t>
            </a:r>
            <a:pPr indent="0" marL="0">
              <a:buNone/>
            </a:pPr>
            <a:r>
              <a:rPr lang="en-US" sz="1100" dirty="0">
                <a:solidFill>
                  <a:srgbClr val="A9ADB5"/>
                </a:solidFill>
              </a:rPr>
              <a:t>Albini (1971)</a:t>
            </a:r>
            <a:endParaRPr lang="en-US" sz="1400" dirty="0"/>
          </a:p>
          <a:p>
            <a:pPr indent="0" marL="0">
              <a:buNone/>
            </a:pPr>
            <a:r>
              <a:rPr lang="en-US" sz="1300" dirty="0">
                <a:solidFill>
                  <a:schemeClr val="bg1"/>
                </a:solidFill>
              </a:rPr>
              <a:t>Henry trades access to supply for a share of the profits.</a:t>
            </a:r>
            <a:endParaRPr lang="en-US" sz="1400" dirty="0"/>
          </a:p>
        </p:txBody>
      </p:sp>
      <p:sp>
        <p:nvSpPr>
          <p:cNvPr id="36" name="Hierarchical model"/>
          <p:cNvSpPr/>
          <p:nvPr/>
        </p:nvSpPr>
        <p:spPr>
          <a:xfrm>
            <a:off x="8732520" y="4526280"/>
            <a:ext cx="2910535" cy="1280160"/>
          </a:xfrm>
          <a:prstGeom prst="rect">
            <a:avLst/>
          </a:prstGeom>
          <a:solidFill>
            <a:srgbClr val="1B1D22"/>
          </a:solidFill>
          <a:ln w="12700">
            <a:solidFill>
              <a:srgbClr val="33363D"/>
            </a:solidFill>
            <a:prstDash val="solid"/>
          </a:ln>
        </p:spPr>
      </p:sp>
      <p:sp>
        <p:nvSpPr>
          <p:cNvPr id="37" name="Text 28"/>
          <p:cNvSpPr txBox="1"/>
          <p:nvPr/>
        </p:nvSpPr>
        <p:spPr>
          <a:xfrm>
            <a:off x="8915400" y="4617720"/>
            <a:ext cx="2544775" cy="1097280"/>
          </a:xfrm>
          <a:prstGeom prst="rect">
            <a:avLst/>
          </a:prstGeom>
          <a:noFill/>
          <a:ln/>
        </p:spPr>
        <p:txBody>
          <a:bodyPr wrap="square" lIns="0" tIns="0" rIns="0" bIns="0" rtlCol="0" anchor="ctr"/>
          <a:lstStyle/>
          <a:p>
            <a:pPr indent="0" marL="0">
              <a:buNone/>
            </a:pPr>
            <a:r>
              <a:rPr lang="en-US" sz="1400" b="1" dirty="0">
                <a:solidFill>
                  <a:srgbClr val="A9ADB5"/>
                </a:solidFill>
                <a:latin typeface="Bookman Old Style" pitchFamily="34" charset="0"/>
                <a:ea typeface="Bookman Old Style" pitchFamily="34" charset="-122"/>
                <a:cs typeface="Bookman Old Style" pitchFamily="34" charset="-120"/>
              </a:rPr>
              <a:t>Hierarchical model  </a:t>
            </a:r>
            <a:pPr indent="0" marL="0">
              <a:buNone/>
            </a:pPr>
            <a:r>
              <a:rPr lang="en-US" sz="1100" dirty="0">
                <a:solidFill>
                  <a:srgbClr val="A9ADB5"/>
                </a:solidFill>
              </a:rPr>
              <a:t>Cressey (1969)</a:t>
            </a:r>
            <a:endParaRPr lang="en-US" sz="1400" dirty="0"/>
          </a:p>
          <a:p>
            <a:pPr indent="0" marL="0">
              <a:buNone/>
            </a:pPr>
            <a:r>
              <a:rPr lang="en-US" sz="1300" dirty="0">
                <a:solidFill>
                  <a:schemeClr val="bg1"/>
                </a:solidFill>
              </a:rPr>
              <a:t>Does not fit: no ranks, no code, no “family”.</a:t>
            </a:r>
            <a:endParaRPr lang="en-US" sz="1400" dirty="0"/>
          </a:p>
        </p:txBody>
      </p:sp>
      <p:sp>
        <p:nvSpPr>
          <p:cNvPr id="25" name="Slide Number Placeholder 0"/>
          <p:cNvSpPr>
            <a:spLocks noGrp="1"/>
          </p:cNvSpPr>
          <p:nvPr>
            <p:ph type="sldNum" sz="quarter" idx="4294967295"/>
          </p:nvPr>
        </p:nvSpPr>
        <p:spPr>
          <a:xfrm>
            <a:off x="11094415" y="6400800"/>
            <a:ext cx="54864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6E727A"/>
                </a:solidFill>
                <a:latin typeface="Courier New"/>
                <a:ea typeface="Courier New"/>
                <a:cs typeface="Courier New"/>
              </a:defRPr>
            </a:lvl1pPr>
          </a:lstStyle>
          <a:p>
            <a:pPr algn="r"/>
            <a:fld id="{F7021451-1387-4CA6-816F-3879F97B5CBC}" type="slidenum">
              <a:rPr b="1" lang="en-US"/>
              <a:t>7</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64" fill="hold">
                      <p:stCondLst>
                        <p:cond delay="indefinite"/>
                        <p:cond evt="onBegin" delay="0">
                          <p:tn val="2"/>
                        </p:cond>
                      </p:stCondLst>
                      <p:childTnLst>
                        <p:par>
                          <p:cTn id="165" fill="hold">
                            <p:stCondLst>
                              <p:cond delay="0"/>
                            </p:stCondLst>
                            <p:childTnLst>
                              <p:par>
                                <p:cTn id="7" presetID="53" presetClass="entr" presetSubtype="32" fill="hold" grpId="0" nodeType="afterEffect">
                                  <p:stCondLst>
                                    <p:cond delay="0"/>
                                  </p:stCondLst>
                                  <p:childTnLst>
                                    <p:set>
                                      <p:cBhvr>
                                        <p:cTn id="3" dur="1" fill="hold">
                                          <p:stCondLst>
                                            <p:cond delay="0"/>
                                          </p:stCondLst>
                                        </p:cTn>
                                        <p:tgtEl>
                                          <p:spTgt spid="2"/>
                                        </p:tgtEl>
                                        <p:attrNameLst>
                                          <p:attrName>style.visibility</p:attrName>
                                        </p:attrNameLst>
                                      </p:cBhvr>
                                      <p:to>
                                        <p:strVal val="visible"/>
                                      </p:to>
                                    </p:set>
                                    <p:anim calcmode="lin" valueType="num">
                                      <p:cBhvr additive="base">
                                        <p:cTn id="4" dur="450" fill="hold"/>
                                        <p:tgtEl>
                                          <p:spTgt spid="2"/>
                                        </p:tgtEl>
                                        <p:attrNameLst>
                                          <p:attrName>ppt_w</p:attrName>
                                        </p:attrNameLst>
                                      </p:cBhvr>
                                      <p:tavLst>
                                        <p:tav tm="0">
                                          <p:val>
                                            <p:strVal val="#ppt_w*2.4"/>
                                          </p:val>
                                        </p:tav>
                                        <p:tav tm="100000">
                                          <p:val>
                                            <p:strVal val="#ppt_w"/>
                                          </p:val>
                                        </p:tav>
                                      </p:tavLst>
                                    </p:anim>
                                    <p:anim calcmode="lin" valueType="num">
                                      <p:cBhvr additive="base">
                                        <p:cTn id="5" dur="450" fill="hold"/>
                                        <p:tgtEl>
                                          <p:spTgt spid="2"/>
                                        </p:tgtEl>
                                        <p:attrNameLst>
                                          <p:attrName>ppt_h</p:attrName>
                                        </p:attrNameLst>
                                      </p:cBhvr>
                                      <p:tavLst>
                                        <p:tav tm="0">
                                          <p:val>
                                            <p:strVal val="#ppt_h*2.4"/>
                                          </p:val>
                                        </p:tav>
                                        <p:tav tm="100000">
                                          <p:val>
                                            <p:strVal val="#ppt_h"/>
                                          </p:val>
                                        </p:tav>
                                      </p:tavLst>
                                    </p:anim>
                                    <p:animEffect transition="in" filter="fade">
                                      <p:cBhvr>
                                        <p:cTn id="6" dur="450"/>
                                        <p:tgtEl>
                                          <p:spTgt spid="2"/>
                                        </p:tgtEl>
                                      </p:cBhvr>
                                    </p:animEffect>
                                  </p:childTnLst>
                                </p:cTn>
                              </p:par>
                              <p:par>
                                <p:cTn id="12" presetID="53" presetClass="entr" presetSubtype="32"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anim calcmode="lin" valueType="num">
                                      <p:cBhvr additive="base">
                                        <p:cTn id="9" dur="450" fill="hold"/>
                                        <p:tgtEl>
                                          <p:spTgt spid="3"/>
                                        </p:tgtEl>
                                        <p:attrNameLst>
                                          <p:attrName>ppt_w</p:attrName>
                                        </p:attrNameLst>
                                      </p:cBhvr>
                                      <p:tavLst>
                                        <p:tav tm="0">
                                          <p:val>
                                            <p:strVal val="#ppt_w*2.4"/>
                                          </p:val>
                                        </p:tav>
                                        <p:tav tm="100000">
                                          <p:val>
                                            <p:strVal val="#ppt_w"/>
                                          </p:val>
                                        </p:tav>
                                      </p:tavLst>
                                    </p:anim>
                                    <p:anim calcmode="lin" valueType="num">
                                      <p:cBhvr additive="base">
                                        <p:cTn id="10" dur="450" fill="hold"/>
                                        <p:tgtEl>
                                          <p:spTgt spid="3"/>
                                        </p:tgtEl>
                                        <p:attrNameLst>
                                          <p:attrName>ppt_h</p:attrName>
                                        </p:attrNameLst>
                                      </p:cBhvr>
                                      <p:tavLst>
                                        <p:tav tm="0">
                                          <p:val>
                                            <p:strVal val="#ppt_h*2.4"/>
                                          </p:val>
                                        </p:tav>
                                        <p:tav tm="100000">
                                          <p:val>
                                            <p:strVal val="#ppt_h"/>
                                          </p:val>
                                        </p:tav>
                                      </p:tavLst>
                                    </p:anim>
                                    <p:animEffect transition="in" filter="fade">
                                      <p:cBhvr>
                                        <p:cTn id="11" dur="450"/>
                                        <p:tgtEl>
                                          <p:spTgt spid="3"/>
                                        </p:tgtEl>
                                      </p:cBhvr>
                                    </p:animEffect>
                                  </p:childTnLst>
                                </p:cTn>
                              </p:par>
                              <p:par>
                                <p:cTn id="17" presetID="53" presetClass="entr" presetSubtype="32" fill="hold" grpId="0" nodeType="withEffect">
                                  <p:stCondLst>
                                    <p:cond delay="0"/>
                                  </p:stCondLst>
                                  <p:childTnLst>
                                    <p:set>
                                      <p:cBhvr>
                                        <p:cTn id="13" dur="1" fill="hold">
                                          <p:stCondLst>
                                            <p:cond delay="0"/>
                                          </p:stCondLst>
                                        </p:cTn>
                                        <p:tgtEl>
                                          <p:spTgt spid="4"/>
                                        </p:tgtEl>
                                        <p:attrNameLst>
                                          <p:attrName>style.visibility</p:attrName>
                                        </p:attrNameLst>
                                      </p:cBhvr>
                                      <p:to>
                                        <p:strVal val="visible"/>
                                      </p:to>
                                    </p:set>
                                    <p:anim calcmode="lin" valueType="num">
                                      <p:cBhvr additive="base">
                                        <p:cTn id="14" dur="450" fill="hold"/>
                                        <p:tgtEl>
                                          <p:spTgt spid="4"/>
                                        </p:tgtEl>
                                        <p:attrNameLst>
                                          <p:attrName>ppt_w</p:attrName>
                                        </p:attrNameLst>
                                      </p:cBhvr>
                                      <p:tavLst>
                                        <p:tav tm="0">
                                          <p:val>
                                            <p:strVal val="#ppt_w*2.4"/>
                                          </p:val>
                                        </p:tav>
                                        <p:tav tm="100000">
                                          <p:val>
                                            <p:strVal val="#ppt_w"/>
                                          </p:val>
                                        </p:tav>
                                      </p:tavLst>
                                    </p:anim>
                                    <p:anim calcmode="lin" valueType="num">
                                      <p:cBhvr additive="base">
                                        <p:cTn id="15" dur="450" fill="hold"/>
                                        <p:tgtEl>
                                          <p:spTgt spid="4"/>
                                        </p:tgtEl>
                                        <p:attrNameLst>
                                          <p:attrName>ppt_h</p:attrName>
                                        </p:attrNameLst>
                                      </p:cBhvr>
                                      <p:tavLst>
                                        <p:tav tm="0">
                                          <p:val>
                                            <p:strVal val="#ppt_h*2.4"/>
                                          </p:val>
                                        </p:tav>
                                        <p:tav tm="100000">
                                          <p:val>
                                            <p:strVal val="#ppt_h"/>
                                          </p:val>
                                        </p:tav>
                                      </p:tavLst>
                                    </p:anim>
                                    <p:animEffect transition="in" filter="fade">
                                      <p:cBhvr>
                                        <p:cTn id="16" dur="450"/>
                                        <p:tgtEl>
                                          <p:spTgt spid="4"/>
                                        </p:tgtEl>
                                      </p:cBhvr>
                                    </p:animEffect>
                                  </p:childTnLst>
                                </p:cTn>
                              </p:par>
                              <p:par>
                                <p:cTn id="22" presetID="42" presetClass="entr" presetSubtype="0" fill="hold" grpId="0" nodeType="withEffect">
                                  <p:stCondLst>
                                    <p:cond delay="40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700"/>
                                        <p:tgtEl>
                                          <p:spTgt spid="6"/>
                                        </p:tgtEl>
                                      </p:cBhvr>
                                    </p:animEffect>
                                    <p:anim calcmode="lin" valueType="num">
                                      <p:cBhvr additive="base">
                                        <p:cTn id="20" dur="700" fill="hold"/>
                                        <p:tgtEl>
                                          <p:spTgt spid="6"/>
                                        </p:tgtEl>
                                        <p:attrNameLst>
                                          <p:attrName>ppt_x</p:attrName>
                                        </p:attrNameLst>
                                      </p:cBhvr>
                                      <p:tavLst>
                                        <p:tav tm="0">
                                          <p:val>
                                            <p:strVal val="#ppt_x"/>
                                          </p:val>
                                        </p:tav>
                                        <p:tav tm="100000">
                                          <p:val>
                                            <p:strVal val="#ppt_x"/>
                                          </p:val>
                                        </p:tav>
                                      </p:tavLst>
                                    </p:anim>
                                    <p:anim calcmode="lin" valueType="num">
                                      <p:cBhvr additive="base">
                                        <p:cTn id="21" dur="700" fill="hold"/>
                                        <p:tgtEl>
                                          <p:spTgt spid="6"/>
                                        </p:tgtEl>
                                        <p:attrNameLst>
                                          <p:attrName>ppt_y</p:attrName>
                                        </p:attrNameLst>
                                      </p:cBhvr>
                                      <p:tavLst>
                                        <p:tav tm="0">
                                          <p:val>
                                            <p:strVal val="#ppt_y+.06"/>
                                          </p:val>
                                        </p:tav>
                                        <p:tav tm="100000">
                                          <p:val>
                                            <p:strVal val="#ppt_y"/>
                                          </p:val>
                                        </p:tav>
                                      </p:tavLst>
                                    </p:anim>
                                  </p:childTnLst>
                                </p:cTn>
                              </p:par>
                              <p:par>
                                <p:cTn id="24" presetID="1" presetClass="entr" presetSubtype="0" fill="hold" grpId="0" nodeType="withEffect">
                                  <p:stCondLst>
                                    <p:cond delay="500"/>
                                  </p:stCondLst>
                                  <p:iterate type="lt">
                                    <p:tmAbs val="30"/>
                                  </p:iterate>
                                  <p:childTnLst>
                                    <p:set>
                                      <p:cBhvr>
                                        <p:cTn id="23" dur="1" fill="hold">
                                          <p:stCondLst>
                                            <p:cond delay="0"/>
                                          </p:stCondLst>
                                        </p:cTn>
                                        <p:tgtEl>
                                          <p:spTgt spid="5"/>
                                        </p:tgtEl>
                                        <p:attrNameLst>
                                          <p:attrName>style.visibility</p:attrName>
                                        </p:attrNameLst>
                                      </p:cBhvr>
                                      <p:to>
                                        <p:strVal val="visible"/>
                                      </p:to>
                                    </p:set>
                                  </p:childTnLst>
                                </p:cTn>
                              </p:par>
                              <p:par>
                                <p:cTn id="26" presetID="6" presetClass="emph" presetSubtype="0" fill="hold" grpId="1" nodeType="withEffect" autoRev="1" repeatCount="indefinite">
                                  <p:stCondLst>
                                    <p:cond delay="900"/>
                                  </p:stCondLst>
                                  <p:childTnLst>
                                    <p:animScale>
                                      <p:cBhvr>
                                        <p:cTn id="25" dur="800" fill="hold"/>
                                        <p:tgtEl>
                                          <p:spTgt spid="2"/>
                                        </p:tgtEl>
                                      </p:cBhvr>
                                      <p:by x="106000" y="106000"/>
                                    </p:animScale>
                                  </p:childTnLst>
                                </p:cTn>
                              </p:par>
                              <p:par>
                                <p:cTn id="31" presetID="53" presetClass="entr" presetSubtype="16" fill="hold" grpId="0" nodeType="withEffect">
                                  <p:stCondLst>
                                    <p:cond delay="900"/>
                                  </p:stCondLst>
                                  <p:childTnLst>
                                    <p:set>
                                      <p:cBhvr>
                                        <p:cTn id="27" dur="1" fill="hold">
                                          <p:stCondLst>
                                            <p:cond delay="0"/>
                                          </p:stCondLst>
                                        </p:cTn>
                                        <p:tgtEl>
                                          <p:spTgt spid="14"/>
                                        </p:tgtEl>
                                        <p:attrNameLst>
                                          <p:attrName>style.visibility</p:attrName>
                                        </p:attrNameLst>
                                      </p:cBhvr>
                                      <p:to>
                                        <p:strVal val="visible"/>
                                      </p:to>
                                    </p:set>
                                    <p:anim calcmode="lin" valueType="num">
                                      <p:cBhvr additive="base">
                                        <p:cTn id="28" dur="450" fill="hold"/>
                                        <p:tgtEl>
                                          <p:spTgt spid="14"/>
                                        </p:tgtEl>
                                        <p:attrNameLst>
                                          <p:attrName>ppt_w</p:attrName>
                                        </p:attrNameLst>
                                      </p:cBhvr>
                                      <p:tavLst>
                                        <p:tav tm="0">
                                          <p:val>
                                            <p:strVal val="0"/>
                                          </p:val>
                                        </p:tav>
                                        <p:tav tm="100000">
                                          <p:val>
                                            <p:strVal val="#ppt_w"/>
                                          </p:val>
                                        </p:tav>
                                      </p:tavLst>
                                    </p:anim>
                                    <p:anim calcmode="lin" valueType="num">
                                      <p:cBhvr additive="base">
                                        <p:cTn id="29" dur="450" fill="hold"/>
                                        <p:tgtEl>
                                          <p:spTgt spid="14"/>
                                        </p:tgtEl>
                                        <p:attrNameLst>
                                          <p:attrName>ppt_h</p:attrName>
                                        </p:attrNameLst>
                                      </p:cBhvr>
                                      <p:tavLst>
                                        <p:tav tm="0">
                                          <p:val>
                                            <p:strVal val="0"/>
                                          </p:val>
                                        </p:tav>
                                        <p:tav tm="100000">
                                          <p:val>
                                            <p:strVal val="#ppt_h"/>
                                          </p:val>
                                        </p:tav>
                                      </p:tavLst>
                                    </p:anim>
                                    <p:animEffect transition="in" filter="fade">
                                      <p:cBhvr>
                                        <p:cTn id="30" dur="450"/>
                                        <p:tgtEl>
                                          <p:spTgt spid="14"/>
                                        </p:tgtEl>
                                      </p:cBhvr>
                                    </p:animEffect>
                                  </p:childTnLst>
                                </p:cTn>
                              </p:par>
                              <p:par>
                                <p:cTn id="36" presetID="53" presetClass="entr" presetSubtype="16" fill="hold" grpId="0" nodeType="withEffect">
                                  <p:stCondLst>
                                    <p:cond delay="900"/>
                                  </p:stCondLst>
                                  <p:childTnLst>
                                    <p:set>
                                      <p:cBhvr>
                                        <p:cTn id="32" dur="1" fill="hold">
                                          <p:stCondLst>
                                            <p:cond delay="0"/>
                                          </p:stCondLst>
                                        </p:cTn>
                                        <p:tgtEl>
                                          <p:spTgt spid="15"/>
                                        </p:tgtEl>
                                        <p:attrNameLst>
                                          <p:attrName>style.visibility</p:attrName>
                                        </p:attrNameLst>
                                      </p:cBhvr>
                                      <p:to>
                                        <p:strVal val="visible"/>
                                      </p:to>
                                    </p:set>
                                    <p:anim calcmode="lin" valueType="num">
                                      <p:cBhvr additive="base">
                                        <p:cTn id="33" dur="450" fill="hold"/>
                                        <p:tgtEl>
                                          <p:spTgt spid="15"/>
                                        </p:tgtEl>
                                        <p:attrNameLst>
                                          <p:attrName>ppt_w</p:attrName>
                                        </p:attrNameLst>
                                      </p:cBhvr>
                                      <p:tavLst>
                                        <p:tav tm="0">
                                          <p:val>
                                            <p:strVal val="0"/>
                                          </p:val>
                                        </p:tav>
                                        <p:tav tm="100000">
                                          <p:val>
                                            <p:strVal val="#ppt_w"/>
                                          </p:val>
                                        </p:tav>
                                      </p:tavLst>
                                    </p:anim>
                                    <p:anim calcmode="lin" valueType="num">
                                      <p:cBhvr additive="base">
                                        <p:cTn id="34" dur="450" fill="hold"/>
                                        <p:tgtEl>
                                          <p:spTgt spid="15"/>
                                        </p:tgtEl>
                                        <p:attrNameLst>
                                          <p:attrName>ppt_h</p:attrName>
                                        </p:attrNameLst>
                                      </p:cBhvr>
                                      <p:tavLst>
                                        <p:tav tm="0">
                                          <p:val>
                                            <p:strVal val="0"/>
                                          </p:val>
                                        </p:tav>
                                        <p:tav tm="100000">
                                          <p:val>
                                            <p:strVal val="#ppt_h"/>
                                          </p:val>
                                        </p:tav>
                                      </p:tavLst>
                                    </p:anim>
                                    <p:animEffect transition="in" filter="fade">
                                      <p:cBhvr>
                                        <p:cTn id="35" dur="450"/>
                                        <p:tgtEl>
                                          <p:spTgt spid="15"/>
                                        </p:tgtEl>
                                      </p:cBhvr>
                                    </p:animEffect>
                                  </p:childTnLst>
                                </p:cTn>
                              </p:par>
                              <p:par>
                                <p:cTn id="39" presetID="10" presetClass="entr" presetSubtype="0" fill="hold" grpId="0" nodeType="withEffect">
                                  <p:stCondLst>
                                    <p:cond delay="1100"/>
                                  </p:stCondLst>
                                  <p:childTnLst>
                                    <p:set>
                                      <p:cBhvr>
                                        <p:cTn id="37" dur="1" fill="hold">
                                          <p:stCondLst>
                                            <p:cond delay="0"/>
                                          </p:stCondLst>
                                        </p:cTn>
                                        <p:tgtEl>
                                          <p:spTgt spid="16"/>
                                        </p:tgtEl>
                                        <p:attrNameLst>
                                          <p:attrName>style.visibility</p:attrName>
                                        </p:attrNameLst>
                                      </p:cBhvr>
                                      <p:to>
                                        <p:strVal val="visible"/>
                                      </p:to>
                                    </p:set>
                                    <p:animEffect transition="in" filter="fade">
                                      <p:cBhvr>
                                        <p:cTn id="38" dur="500"/>
                                        <p:tgtEl>
                                          <p:spTgt spid="16"/>
                                        </p:tgtEl>
                                      </p:cBhvr>
                                    </p:animEffect>
                                  </p:childTnLst>
                                </p:cTn>
                              </p:par>
                              <p:par>
                                <p:cTn id="44" presetID="53" presetClass="entr" presetSubtype="16" fill="hold" grpId="0" nodeType="withEffect">
                                  <p:stCondLst>
                                    <p:cond delay="1150"/>
                                  </p:stCondLst>
                                  <p:childTnLst>
                                    <p:set>
                                      <p:cBhvr>
                                        <p:cTn id="40" dur="1" fill="hold">
                                          <p:stCondLst>
                                            <p:cond delay="0"/>
                                          </p:stCondLst>
                                        </p:cTn>
                                        <p:tgtEl>
                                          <p:spTgt spid="29"/>
                                        </p:tgtEl>
                                        <p:attrNameLst>
                                          <p:attrName>style.visibility</p:attrName>
                                        </p:attrNameLst>
                                      </p:cBhvr>
                                      <p:to>
                                        <p:strVal val="visible"/>
                                      </p:to>
                                    </p:set>
                                    <p:anim calcmode="lin" valueType="num">
                                      <p:cBhvr additive="base">
                                        <p:cTn id="41" dur="450" fill="hold"/>
                                        <p:tgtEl>
                                          <p:spTgt spid="29"/>
                                        </p:tgtEl>
                                        <p:attrNameLst>
                                          <p:attrName>ppt_w</p:attrName>
                                        </p:attrNameLst>
                                      </p:cBhvr>
                                      <p:tavLst>
                                        <p:tav tm="0">
                                          <p:val>
                                            <p:strVal val="0"/>
                                          </p:val>
                                        </p:tav>
                                        <p:tav tm="100000">
                                          <p:val>
                                            <p:strVal val="#ppt_w"/>
                                          </p:val>
                                        </p:tav>
                                      </p:tavLst>
                                    </p:anim>
                                    <p:anim calcmode="lin" valueType="num">
                                      <p:cBhvr additive="base">
                                        <p:cTn id="42" dur="450" fill="hold"/>
                                        <p:tgtEl>
                                          <p:spTgt spid="29"/>
                                        </p:tgtEl>
                                        <p:attrNameLst>
                                          <p:attrName>ppt_h</p:attrName>
                                        </p:attrNameLst>
                                      </p:cBhvr>
                                      <p:tavLst>
                                        <p:tav tm="0">
                                          <p:val>
                                            <p:strVal val="0"/>
                                          </p:val>
                                        </p:tav>
                                        <p:tav tm="100000">
                                          <p:val>
                                            <p:strVal val="#ppt_h"/>
                                          </p:val>
                                        </p:tav>
                                      </p:tavLst>
                                    </p:anim>
                                    <p:animEffect transition="in" filter="fade">
                                      <p:cBhvr>
                                        <p:cTn id="43" dur="450"/>
                                        <p:tgtEl>
                                          <p:spTgt spid="29"/>
                                        </p:tgtEl>
                                      </p:cBhvr>
                                    </p:animEffect>
                                  </p:childTnLst>
                                </p:cTn>
                              </p:par>
                              <p:par>
                                <p:cTn id="49" presetID="53" presetClass="entr" presetSubtype="16" fill="hold" grpId="0" nodeType="withEffect">
                                  <p:stCondLst>
                                    <p:cond delay="1150"/>
                                  </p:stCondLst>
                                  <p:childTnLst>
                                    <p:set>
                                      <p:cBhvr>
                                        <p:cTn id="45" dur="1" fill="hold">
                                          <p:stCondLst>
                                            <p:cond delay="0"/>
                                          </p:stCondLst>
                                        </p:cTn>
                                        <p:tgtEl>
                                          <p:spTgt spid="30"/>
                                        </p:tgtEl>
                                        <p:attrNameLst>
                                          <p:attrName>style.visibility</p:attrName>
                                        </p:attrNameLst>
                                      </p:cBhvr>
                                      <p:to>
                                        <p:strVal val="visible"/>
                                      </p:to>
                                    </p:set>
                                    <p:anim calcmode="lin" valueType="num">
                                      <p:cBhvr additive="base">
                                        <p:cTn id="46" dur="450" fill="hold"/>
                                        <p:tgtEl>
                                          <p:spTgt spid="30"/>
                                        </p:tgtEl>
                                        <p:attrNameLst>
                                          <p:attrName>ppt_w</p:attrName>
                                        </p:attrNameLst>
                                      </p:cBhvr>
                                      <p:tavLst>
                                        <p:tav tm="0">
                                          <p:val>
                                            <p:strVal val="0"/>
                                          </p:val>
                                        </p:tav>
                                        <p:tav tm="100000">
                                          <p:val>
                                            <p:strVal val="#ppt_w"/>
                                          </p:val>
                                        </p:tav>
                                      </p:tavLst>
                                    </p:anim>
                                    <p:anim calcmode="lin" valueType="num">
                                      <p:cBhvr additive="base">
                                        <p:cTn id="47" dur="450" fill="hold"/>
                                        <p:tgtEl>
                                          <p:spTgt spid="30"/>
                                        </p:tgtEl>
                                        <p:attrNameLst>
                                          <p:attrName>ppt_h</p:attrName>
                                        </p:attrNameLst>
                                      </p:cBhvr>
                                      <p:tavLst>
                                        <p:tav tm="0">
                                          <p:val>
                                            <p:strVal val="0"/>
                                          </p:val>
                                        </p:tav>
                                        <p:tav tm="100000">
                                          <p:val>
                                            <p:strVal val="#ppt_h"/>
                                          </p:val>
                                        </p:tav>
                                      </p:tavLst>
                                    </p:anim>
                                    <p:animEffect transition="in" filter="fade">
                                      <p:cBhvr>
                                        <p:cTn id="48" dur="450"/>
                                        <p:tgtEl>
                                          <p:spTgt spid="30"/>
                                        </p:tgtEl>
                                      </p:cBhvr>
                                    </p:animEffect>
                                  </p:childTnLst>
                                </p:cTn>
                              </p:par>
                              <p:par>
                                <p:cTn id="52" presetID="10" presetClass="entr" presetSubtype="0" fill="hold" grpId="0" nodeType="withEffect">
                                  <p:stCondLst>
                                    <p:cond delay="1350"/>
                                  </p:stCondLst>
                                  <p:childTnLst>
                                    <p:set>
                                      <p:cBhvr>
                                        <p:cTn id="50" dur="1" fill="hold">
                                          <p:stCondLst>
                                            <p:cond delay="0"/>
                                          </p:stCondLst>
                                        </p:cTn>
                                        <p:tgtEl>
                                          <p:spTgt spid="31"/>
                                        </p:tgtEl>
                                        <p:attrNameLst>
                                          <p:attrName>style.visibility</p:attrName>
                                        </p:attrNameLst>
                                      </p:cBhvr>
                                      <p:to>
                                        <p:strVal val="visible"/>
                                      </p:to>
                                    </p:set>
                                    <p:animEffect transition="in" filter="fade">
                                      <p:cBhvr>
                                        <p:cTn id="51" dur="500"/>
                                        <p:tgtEl>
                                          <p:spTgt spid="31"/>
                                        </p:tgtEl>
                                      </p:cBhvr>
                                    </p:animEffect>
                                  </p:childTnLst>
                                </p:cTn>
                              </p:par>
                              <p:par>
                                <p:cTn id="57" presetID="53" presetClass="entr" presetSubtype="16" fill="hold" grpId="0" nodeType="withEffect">
                                  <p:stCondLst>
                                    <p:cond delay="1400"/>
                                  </p:stCondLst>
                                  <p:childTnLst>
                                    <p:set>
                                      <p:cBhvr>
                                        <p:cTn id="53" dur="1" fill="hold">
                                          <p:stCondLst>
                                            <p:cond delay="0"/>
                                          </p:stCondLst>
                                        </p:cTn>
                                        <p:tgtEl>
                                          <p:spTgt spid="26"/>
                                        </p:tgtEl>
                                        <p:attrNameLst>
                                          <p:attrName>style.visibility</p:attrName>
                                        </p:attrNameLst>
                                      </p:cBhvr>
                                      <p:to>
                                        <p:strVal val="visible"/>
                                      </p:to>
                                    </p:set>
                                    <p:anim calcmode="lin" valueType="num">
                                      <p:cBhvr additive="base">
                                        <p:cTn id="54" dur="450" fill="hold"/>
                                        <p:tgtEl>
                                          <p:spTgt spid="26"/>
                                        </p:tgtEl>
                                        <p:attrNameLst>
                                          <p:attrName>ppt_w</p:attrName>
                                        </p:attrNameLst>
                                      </p:cBhvr>
                                      <p:tavLst>
                                        <p:tav tm="0">
                                          <p:val>
                                            <p:strVal val="0"/>
                                          </p:val>
                                        </p:tav>
                                        <p:tav tm="100000">
                                          <p:val>
                                            <p:strVal val="#ppt_w"/>
                                          </p:val>
                                        </p:tav>
                                      </p:tavLst>
                                    </p:anim>
                                    <p:anim calcmode="lin" valueType="num">
                                      <p:cBhvr additive="base">
                                        <p:cTn id="55" dur="450" fill="hold"/>
                                        <p:tgtEl>
                                          <p:spTgt spid="26"/>
                                        </p:tgtEl>
                                        <p:attrNameLst>
                                          <p:attrName>ppt_h</p:attrName>
                                        </p:attrNameLst>
                                      </p:cBhvr>
                                      <p:tavLst>
                                        <p:tav tm="0">
                                          <p:val>
                                            <p:strVal val="0"/>
                                          </p:val>
                                        </p:tav>
                                        <p:tav tm="100000">
                                          <p:val>
                                            <p:strVal val="#ppt_h"/>
                                          </p:val>
                                        </p:tav>
                                      </p:tavLst>
                                    </p:anim>
                                    <p:animEffect transition="in" filter="fade">
                                      <p:cBhvr>
                                        <p:cTn id="56" dur="450"/>
                                        <p:tgtEl>
                                          <p:spTgt spid="26"/>
                                        </p:tgtEl>
                                      </p:cBhvr>
                                    </p:animEffect>
                                  </p:childTnLst>
                                </p:cTn>
                              </p:par>
                              <p:par>
                                <p:cTn id="62" presetID="53" presetClass="entr" presetSubtype="16" fill="hold" grpId="0" nodeType="withEffect">
                                  <p:stCondLst>
                                    <p:cond delay="1400"/>
                                  </p:stCondLst>
                                  <p:childTnLst>
                                    <p:set>
                                      <p:cBhvr>
                                        <p:cTn id="58" dur="1" fill="hold">
                                          <p:stCondLst>
                                            <p:cond delay="0"/>
                                          </p:stCondLst>
                                        </p:cTn>
                                        <p:tgtEl>
                                          <p:spTgt spid="27"/>
                                        </p:tgtEl>
                                        <p:attrNameLst>
                                          <p:attrName>style.visibility</p:attrName>
                                        </p:attrNameLst>
                                      </p:cBhvr>
                                      <p:to>
                                        <p:strVal val="visible"/>
                                      </p:to>
                                    </p:set>
                                    <p:anim calcmode="lin" valueType="num">
                                      <p:cBhvr additive="base">
                                        <p:cTn id="59" dur="450" fill="hold"/>
                                        <p:tgtEl>
                                          <p:spTgt spid="27"/>
                                        </p:tgtEl>
                                        <p:attrNameLst>
                                          <p:attrName>ppt_w</p:attrName>
                                        </p:attrNameLst>
                                      </p:cBhvr>
                                      <p:tavLst>
                                        <p:tav tm="0">
                                          <p:val>
                                            <p:strVal val="0"/>
                                          </p:val>
                                        </p:tav>
                                        <p:tav tm="100000">
                                          <p:val>
                                            <p:strVal val="#ppt_w"/>
                                          </p:val>
                                        </p:tav>
                                      </p:tavLst>
                                    </p:anim>
                                    <p:anim calcmode="lin" valueType="num">
                                      <p:cBhvr additive="base">
                                        <p:cTn id="60" dur="450" fill="hold"/>
                                        <p:tgtEl>
                                          <p:spTgt spid="27"/>
                                        </p:tgtEl>
                                        <p:attrNameLst>
                                          <p:attrName>ppt_h</p:attrName>
                                        </p:attrNameLst>
                                      </p:cBhvr>
                                      <p:tavLst>
                                        <p:tav tm="0">
                                          <p:val>
                                            <p:strVal val="0"/>
                                          </p:val>
                                        </p:tav>
                                        <p:tav tm="100000">
                                          <p:val>
                                            <p:strVal val="#ppt_h"/>
                                          </p:val>
                                        </p:tav>
                                      </p:tavLst>
                                    </p:anim>
                                    <p:animEffect transition="in" filter="fade">
                                      <p:cBhvr>
                                        <p:cTn id="61" dur="450"/>
                                        <p:tgtEl>
                                          <p:spTgt spid="27"/>
                                        </p:tgtEl>
                                      </p:cBhvr>
                                    </p:animEffect>
                                  </p:childTnLst>
                                </p:cTn>
                              </p:par>
                              <p:par>
                                <p:cTn id="65" presetID="10" presetClass="entr" presetSubtype="0" fill="hold" grpId="0" nodeType="withEffect">
                                  <p:stCondLst>
                                    <p:cond delay="1600"/>
                                  </p:stCondLst>
                                  <p:childTnLst>
                                    <p:set>
                                      <p:cBhvr>
                                        <p:cTn id="63" dur="1" fill="hold">
                                          <p:stCondLst>
                                            <p:cond delay="0"/>
                                          </p:stCondLst>
                                        </p:cTn>
                                        <p:tgtEl>
                                          <p:spTgt spid="28"/>
                                        </p:tgtEl>
                                        <p:attrNameLst>
                                          <p:attrName>style.visibility</p:attrName>
                                        </p:attrNameLst>
                                      </p:cBhvr>
                                      <p:to>
                                        <p:strVal val="visible"/>
                                      </p:to>
                                    </p:set>
                                    <p:animEffect transition="in" filter="fade">
                                      <p:cBhvr>
                                        <p:cTn id="64" dur="500"/>
                                        <p:tgtEl>
                                          <p:spTgt spid="28"/>
                                        </p:tgtEl>
                                      </p:cBhvr>
                                    </p:animEffect>
                                  </p:childTnLst>
                                </p:cTn>
                              </p:par>
                              <p:par>
                                <p:cTn id="70" presetID="53" presetClass="entr" presetSubtype="16" fill="hold" grpId="0" nodeType="withEffect">
                                  <p:stCondLst>
                                    <p:cond delay="1650"/>
                                  </p:stCondLst>
                                  <p:childTnLst>
                                    <p:set>
                                      <p:cBhvr>
                                        <p:cTn id="66" dur="1" fill="hold">
                                          <p:stCondLst>
                                            <p:cond delay="0"/>
                                          </p:stCondLst>
                                        </p:cTn>
                                        <p:tgtEl>
                                          <p:spTgt spid="17"/>
                                        </p:tgtEl>
                                        <p:attrNameLst>
                                          <p:attrName>style.visibility</p:attrName>
                                        </p:attrNameLst>
                                      </p:cBhvr>
                                      <p:to>
                                        <p:strVal val="visible"/>
                                      </p:to>
                                    </p:set>
                                    <p:anim calcmode="lin" valueType="num">
                                      <p:cBhvr additive="base">
                                        <p:cTn id="67" dur="450" fill="hold"/>
                                        <p:tgtEl>
                                          <p:spTgt spid="17"/>
                                        </p:tgtEl>
                                        <p:attrNameLst>
                                          <p:attrName>ppt_w</p:attrName>
                                        </p:attrNameLst>
                                      </p:cBhvr>
                                      <p:tavLst>
                                        <p:tav tm="0">
                                          <p:val>
                                            <p:strVal val="0"/>
                                          </p:val>
                                        </p:tav>
                                        <p:tav tm="100000">
                                          <p:val>
                                            <p:strVal val="#ppt_w"/>
                                          </p:val>
                                        </p:tav>
                                      </p:tavLst>
                                    </p:anim>
                                    <p:anim calcmode="lin" valueType="num">
                                      <p:cBhvr additive="base">
                                        <p:cTn id="68" dur="450" fill="hold"/>
                                        <p:tgtEl>
                                          <p:spTgt spid="17"/>
                                        </p:tgtEl>
                                        <p:attrNameLst>
                                          <p:attrName>ppt_h</p:attrName>
                                        </p:attrNameLst>
                                      </p:cBhvr>
                                      <p:tavLst>
                                        <p:tav tm="0">
                                          <p:val>
                                            <p:strVal val="0"/>
                                          </p:val>
                                        </p:tav>
                                        <p:tav tm="100000">
                                          <p:val>
                                            <p:strVal val="#ppt_h"/>
                                          </p:val>
                                        </p:tav>
                                      </p:tavLst>
                                    </p:anim>
                                    <p:animEffect transition="in" filter="fade">
                                      <p:cBhvr>
                                        <p:cTn id="69" dur="450"/>
                                        <p:tgtEl>
                                          <p:spTgt spid="17"/>
                                        </p:tgtEl>
                                      </p:cBhvr>
                                    </p:animEffect>
                                  </p:childTnLst>
                                </p:cTn>
                              </p:par>
                              <p:par>
                                <p:cTn id="75" presetID="53" presetClass="entr" presetSubtype="16" fill="hold" grpId="0" nodeType="withEffect">
                                  <p:stCondLst>
                                    <p:cond delay="1650"/>
                                  </p:stCondLst>
                                  <p:childTnLst>
                                    <p:set>
                                      <p:cBhvr>
                                        <p:cTn id="71" dur="1" fill="hold">
                                          <p:stCondLst>
                                            <p:cond delay="0"/>
                                          </p:stCondLst>
                                        </p:cTn>
                                        <p:tgtEl>
                                          <p:spTgt spid="18"/>
                                        </p:tgtEl>
                                        <p:attrNameLst>
                                          <p:attrName>style.visibility</p:attrName>
                                        </p:attrNameLst>
                                      </p:cBhvr>
                                      <p:to>
                                        <p:strVal val="visible"/>
                                      </p:to>
                                    </p:set>
                                    <p:anim calcmode="lin" valueType="num">
                                      <p:cBhvr additive="base">
                                        <p:cTn id="72" dur="450" fill="hold"/>
                                        <p:tgtEl>
                                          <p:spTgt spid="18"/>
                                        </p:tgtEl>
                                        <p:attrNameLst>
                                          <p:attrName>ppt_w</p:attrName>
                                        </p:attrNameLst>
                                      </p:cBhvr>
                                      <p:tavLst>
                                        <p:tav tm="0">
                                          <p:val>
                                            <p:strVal val="0"/>
                                          </p:val>
                                        </p:tav>
                                        <p:tav tm="100000">
                                          <p:val>
                                            <p:strVal val="#ppt_w"/>
                                          </p:val>
                                        </p:tav>
                                      </p:tavLst>
                                    </p:anim>
                                    <p:anim calcmode="lin" valueType="num">
                                      <p:cBhvr additive="base">
                                        <p:cTn id="73" dur="450" fill="hold"/>
                                        <p:tgtEl>
                                          <p:spTgt spid="18"/>
                                        </p:tgtEl>
                                        <p:attrNameLst>
                                          <p:attrName>ppt_h</p:attrName>
                                        </p:attrNameLst>
                                      </p:cBhvr>
                                      <p:tavLst>
                                        <p:tav tm="0">
                                          <p:val>
                                            <p:strVal val="0"/>
                                          </p:val>
                                        </p:tav>
                                        <p:tav tm="100000">
                                          <p:val>
                                            <p:strVal val="#ppt_h"/>
                                          </p:val>
                                        </p:tav>
                                      </p:tavLst>
                                    </p:anim>
                                    <p:animEffect transition="in" filter="fade">
                                      <p:cBhvr>
                                        <p:cTn id="74" dur="450"/>
                                        <p:tgtEl>
                                          <p:spTgt spid="18"/>
                                        </p:tgtEl>
                                      </p:cBhvr>
                                    </p:animEffect>
                                  </p:childTnLst>
                                </p:cTn>
                              </p:par>
                              <p:par>
                                <p:cTn id="78" presetID="10" presetClass="entr" presetSubtype="0" fill="hold" grpId="0" nodeType="withEffect">
                                  <p:stCondLst>
                                    <p:cond delay="1850"/>
                                  </p:stCondLst>
                                  <p:childTnLst>
                                    <p:set>
                                      <p:cBhvr>
                                        <p:cTn id="76" dur="1" fill="hold">
                                          <p:stCondLst>
                                            <p:cond delay="0"/>
                                          </p:stCondLst>
                                        </p:cTn>
                                        <p:tgtEl>
                                          <p:spTgt spid="19"/>
                                        </p:tgtEl>
                                        <p:attrNameLst>
                                          <p:attrName>style.visibility</p:attrName>
                                        </p:attrNameLst>
                                      </p:cBhvr>
                                      <p:to>
                                        <p:strVal val="visible"/>
                                      </p:to>
                                    </p:set>
                                    <p:animEffect transition="in" filter="fade">
                                      <p:cBhvr>
                                        <p:cTn id="77" dur="500"/>
                                        <p:tgtEl>
                                          <p:spTgt spid="19"/>
                                        </p:tgtEl>
                                      </p:cBhvr>
                                    </p:animEffect>
                                  </p:childTnLst>
                                </p:cTn>
                              </p:par>
                              <p:par>
                                <p:cTn id="83" presetID="53" presetClass="entr" presetSubtype="16" fill="hold" grpId="0" nodeType="withEffect">
                                  <p:stCondLst>
                                    <p:cond delay="1900"/>
                                  </p:stCondLst>
                                  <p:childTnLst>
                                    <p:set>
                                      <p:cBhvr>
                                        <p:cTn id="79" dur="1" fill="hold">
                                          <p:stCondLst>
                                            <p:cond delay="0"/>
                                          </p:stCondLst>
                                        </p:cTn>
                                        <p:tgtEl>
                                          <p:spTgt spid="20"/>
                                        </p:tgtEl>
                                        <p:attrNameLst>
                                          <p:attrName>style.visibility</p:attrName>
                                        </p:attrNameLst>
                                      </p:cBhvr>
                                      <p:to>
                                        <p:strVal val="visible"/>
                                      </p:to>
                                    </p:set>
                                    <p:anim calcmode="lin" valueType="num">
                                      <p:cBhvr additive="base">
                                        <p:cTn id="80" dur="450" fill="hold"/>
                                        <p:tgtEl>
                                          <p:spTgt spid="20"/>
                                        </p:tgtEl>
                                        <p:attrNameLst>
                                          <p:attrName>ppt_w</p:attrName>
                                        </p:attrNameLst>
                                      </p:cBhvr>
                                      <p:tavLst>
                                        <p:tav tm="0">
                                          <p:val>
                                            <p:strVal val="0"/>
                                          </p:val>
                                        </p:tav>
                                        <p:tav tm="100000">
                                          <p:val>
                                            <p:strVal val="#ppt_w"/>
                                          </p:val>
                                        </p:tav>
                                      </p:tavLst>
                                    </p:anim>
                                    <p:anim calcmode="lin" valueType="num">
                                      <p:cBhvr additive="base">
                                        <p:cTn id="81" dur="450" fill="hold"/>
                                        <p:tgtEl>
                                          <p:spTgt spid="20"/>
                                        </p:tgtEl>
                                        <p:attrNameLst>
                                          <p:attrName>ppt_h</p:attrName>
                                        </p:attrNameLst>
                                      </p:cBhvr>
                                      <p:tavLst>
                                        <p:tav tm="0">
                                          <p:val>
                                            <p:strVal val="0"/>
                                          </p:val>
                                        </p:tav>
                                        <p:tav tm="100000">
                                          <p:val>
                                            <p:strVal val="#ppt_h"/>
                                          </p:val>
                                        </p:tav>
                                      </p:tavLst>
                                    </p:anim>
                                    <p:animEffect transition="in" filter="fade">
                                      <p:cBhvr>
                                        <p:cTn id="82" dur="450"/>
                                        <p:tgtEl>
                                          <p:spTgt spid="20"/>
                                        </p:tgtEl>
                                      </p:cBhvr>
                                    </p:animEffect>
                                  </p:childTnLst>
                                </p:cTn>
                              </p:par>
                              <p:par>
                                <p:cTn id="88" presetID="53" presetClass="entr" presetSubtype="16" fill="hold" grpId="0" nodeType="withEffect">
                                  <p:stCondLst>
                                    <p:cond delay="1900"/>
                                  </p:stCondLst>
                                  <p:childTnLst>
                                    <p:set>
                                      <p:cBhvr>
                                        <p:cTn id="84" dur="1" fill="hold">
                                          <p:stCondLst>
                                            <p:cond delay="0"/>
                                          </p:stCondLst>
                                        </p:cTn>
                                        <p:tgtEl>
                                          <p:spTgt spid="21"/>
                                        </p:tgtEl>
                                        <p:attrNameLst>
                                          <p:attrName>style.visibility</p:attrName>
                                        </p:attrNameLst>
                                      </p:cBhvr>
                                      <p:to>
                                        <p:strVal val="visible"/>
                                      </p:to>
                                    </p:set>
                                    <p:anim calcmode="lin" valueType="num">
                                      <p:cBhvr additive="base">
                                        <p:cTn id="85" dur="450" fill="hold"/>
                                        <p:tgtEl>
                                          <p:spTgt spid="21"/>
                                        </p:tgtEl>
                                        <p:attrNameLst>
                                          <p:attrName>ppt_w</p:attrName>
                                        </p:attrNameLst>
                                      </p:cBhvr>
                                      <p:tavLst>
                                        <p:tav tm="0">
                                          <p:val>
                                            <p:strVal val="0"/>
                                          </p:val>
                                        </p:tav>
                                        <p:tav tm="100000">
                                          <p:val>
                                            <p:strVal val="#ppt_w"/>
                                          </p:val>
                                        </p:tav>
                                      </p:tavLst>
                                    </p:anim>
                                    <p:anim calcmode="lin" valueType="num">
                                      <p:cBhvr additive="base">
                                        <p:cTn id="86" dur="450" fill="hold"/>
                                        <p:tgtEl>
                                          <p:spTgt spid="21"/>
                                        </p:tgtEl>
                                        <p:attrNameLst>
                                          <p:attrName>ppt_h</p:attrName>
                                        </p:attrNameLst>
                                      </p:cBhvr>
                                      <p:tavLst>
                                        <p:tav tm="0">
                                          <p:val>
                                            <p:strVal val="0"/>
                                          </p:val>
                                        </p:tav>
                                        <p:tav tm="100000">
                                          <p:val>
                                            <p:strVal val="#ppt_h"/>
                                          </p:val>
                                        </p:tav>
                                      </p:tavLst>
                                    </p:anim>
                                    <p:animEffect transition="in" filter="fade">
                                      <p:cBhvr>
                                        <p:cTn id="87" dur="450"/>
                                        <p:tgtEl>
                                          <p:spTgt spid="21"/>
                                        </p:tgtEl>
                                      </p:cBhvr>
                                    </p:animEffect>
                                  </p:childTnLst>
                                </p:cTn>
                              </p:par>
                              <p:par>
                                <p:cTn id="91" presetID="10" presetClass="entr" presetSubtype="0" fill="hold" grpId="0" nodeType="withEffect">
                                  <p:stCondLst>
                                    <p:cond delay="2100"/>
                                  </p:stCondLst>
                                  <p:childTnLst>
                                    <p:set>
                                      <p:cBhvr>
                                        <p:cTn id="89" dur="1" fill="hold">
                                          <p:stCondLst>
                                            <p:cond delay="0"/>
                                          </p:stCondLst>
                                        </p:cTn>
                                        <p:tgtEl>
                                          <p:spTgt spid="22"/>
                                        </p:tgtEl>
                                        <p:attrNameLst>
                                          <p:attrName>style.visibility</p:attrName>
                                        </p:attrNameLst>
                                      </p:cBhvr>
                                      <p:to>
                                        <p:strVal val="visible"/>
                                      </p:to>
                                    </p:set>
                                    <p:animEffect transition="in" filter="fade">
                                      <p:cBhvr>
                                        <p:cTn id="90" dur="500"/>
                                        <p:tgtEl>
                                          <p:spTgt spid="22"/>
                                        </p:tgtEl>
                                      </p:cBhvr>
                                    </p:animEffect>
                                  </p:childTnLst>
                                </p:cTn>
                              </p:par>
                              <p:par>
                                <p:cTn id="96" presetID="53" presetClass="entr" presetSubtype="16" fill="hold" grpId="0" nodeType="withEffect">
                                  <p:stCondLst>
                                    <p:cond delay="2150"/>
                                  </p:stCondLst>
                                  <p:childTnLst>
                                    <p:set>
                                      <p:cBhvr>
                                        <p:cTn id="92" dur="1" fill="hold">
                                          <p:stCondLst>
                                            <p:cond delay="0"/>
                                          </p:stCondLst>
                                        </p:cTn>
                                        <p:tgtEl>
                                          <p:spTgt spid="23"/>
                                        </p:tgtEl>
                                        <p:attrNameLst>
                                          <p:attrName>style.visibility</p:attrName>
                                        </p:attrNameLst>
                                      </p:cBhvr>
                                      <p:to>
                                        <p:strVal val="visible"/>
                                      </p:to>
                                    </p:set>
                                    <p:anim calcmode="lin" valueType="num">
                                      <p:cBhvr additive="base">
                                        <p:cTn id="93" dur="450" fill="hold"/>
                                        <p:tgtEl>
                                          <p:spTgt spid="23"/>
                                        </p:tgtEl>
                                        <p:attrNameLst>
                                          <p:attrName>ppt_w</p:attrName>
                                        </p:attrNameLst>
                                      </p:cBhvr>
                                      <p:tavLst>
                                        <p:tav tm="0">
                                          <p:val>
                                            <p:strVal val="0"/>
                                          </p:val>
                                        </p:tav>
                                        <p:tav tm="100000">
                                          <p:val>
                                            <p:strVal val="#ppt_w"/>
                                          </p:val>
                                        </p:tav>
                                      </p:tavLst>
                                    </p:anim>
                                    <p:anim calcmode="lin" valueType="num">
                                      <p:cBhvr additive="base">
                                        <p:cTn id="94" dur="450" fill="hold"/>
                                        <p:tgtEl>
                                          <p:spTgt spid="23"/>
                                        </p:tgtEl>
                                        <p:attrNameLst>
                                          <p:attrName>ppt_h</p:attrName>
                                        </p:attrNameLst>
                                      </p:cBhvr>
                                      <p:tavLst>
                                        <p:tav tm="0">
                                          <p:val>
                                            <p:strVal val="0"/>
                                          </p:val>
                                        </p:tav>
                                        <p:tav tm="100000">
                                          <p:val>
                                            <p:strVal val="#ppt_h"/>
                                          </p:val>
                                        </p:tav>
                                      </p:tavLst>
                                    </p:anim>
                                    <p:animEffect transition="in" filter="fade">
                                      <p:cBhvr>
                                        <p:cTn id="95" dur="450"/>
                                        <p:tgtEl>
                                          <p:spTgt spid="23"/>
                                        </p:tgtEl>
                                      </p:cBhvr>
                                    </p:animEffect>
                                  </p:childTnLst>
                                </p:cTn>
                              </p:par>
                              <p:par>
                                <p:cTn id="101" presetID="53" presetClass="entr" presetSubtype="16" fill="hold" grpId="0" nodeType="withEffect">
                                  <p:stCondLst>
                                    <p:cond delay="2150"/>
                                  </p:stCondLst>
                                  <p:childTnLst>
                                    <p:set>
                                      <p:cBhvr>
                                        <p:cTn id="97" dur="1" fill="hold">
                                          <p:stCondLst>
                                            <p:cond delay="0"/>
                                          </p:stCondLst>
                                        </p:cTn>
                                        <p:tgtEl>
                                          <p:spTgt spid="24"/>
                                        </p:tgtEl>
                                        <p:attrNameLst>
                                          <p:attrName>style.visibility</p:attrName>
                                        </p:attrNameLst>
                                      </p:cBhvr>
                                      <p:to>
                                        <p:strVal val="visible"/>
                                      </p:to>
                                    </p:set>
                                    <p:anim calcmode="lin" valueType="num">
                                      <p:cBhvr additive="base">
                                        <p:cTn id="98" dur="450" fill="hold"/>
                                        <p:tgtEl>
                                          <p:spTgt spid="24"/>
                                        </p:tgtEl>
                                        <p:attrNameLst>
                                          <p:attrName>ppt_w</p:attrName>
                                        </p:attrNameLst>
                                      </p:cBhvr>
                                      <p:tavLst>
                                        <p:tav tm="0">
                                          <p:val>
                                            <p:strVal val="0"/>
                                          </p:val>
                                        </p:tav>
                                        <p:tav tm="100000">
                                          <p:val>
                                            <p:strVal val="#ppt_w"/>
                                          </p:val>
                                        </p:tav>
                                      </p:tavLst>
                                    </p:anim>
                                    <p:anim calcmode="lin" valueType="num">
                                      <p:cBhvr additive="base">
                                        <p:cTn id="99" dur="450" fill="hold"/>
                                        <p:tgtEl>
                                          <p:spTgt spid="24"/>
                                        </p:tgtEl>
                                        <p:attrNameLst>
                                          <p:attrName>ppt_h</p:attrName>
                                        </p:attrNameLst>
                                      </p:cBhvr>
                                      <p:tavLst>
                                        <p:tav tm="0">
                                          <p:val>
                                            <p:strVal val="0"/>
                                          </p:val>
                                        </p:tav>
                                        <p:tav tm="100000">
                                          <p:val>
                                            <p:strVal val="#ppt_h"/>
                                          </p:val>
                                        </p:tav>
                                      </p:tavLst>
                                    </p:anim>
                                    <p:animEffect transition="in" filter="fade">
                                      <p:cBhvr>
                                        <p:cTn id="100" dur="450"/>
                                        <p:tgtEl>
                                          <p:spTgt spid="24"/>
                                        </p:tgtEl>
                                      </p:cBhvr>
                                    </p:animEffect>
                                  </p:childTnLst>
                                </p:cTn>
                              </p:par>
                              <p:par>
                                <p:cTn id="104" presetID="10" presetClass="entr" presetSubtype="0" fill="hold" grpId="0" nodeType="withEffect">
                                  <p:stCondLst>
                                    <p:cond delay="2350"/>
                                  </p:stCondLst>
                                  <p:childTnLst>
                                    <p:set>
                                      <p:cBhvr>
                                        <p:cTn id="102" dur="1" fill="hold">
                                          <p:stCondLst>
                                            <p:cond delay="0"/>
                                          </p:stCondLst>
                                        </p:cTn>
                                        <p:tgtEl>
                                          <p:spTgt spid="25"/>
                                        </p:tgtEl>
                                        <p:attrNameLst>
                                          <p:attrName>style.visibility</p:attrName>
                                        </p:attrNameLst>
                                      </p:cBhvr>
                                      <p:to>
                                        <p:strVal val="visible"/>
                                      </p:to>
                                    </p:set>
                                    <p:animEffect transition="in" filter="fade">
                                      <p:cBhvr>
                                        <p:cTn id="103" dur="500"/>
                                        <p:tgtEl>
                                          <p:spTgt spid="25"/>
                                        </p:tgtEl>
                                      </p:cBhvr>
                                    </p:animEffect>
                                  </p:childTnLst>
                                </p:cTn>
                              </p:par>
                              <p:par>
                                <p:cTn id="107" presetID="22" presetClass="entr" presetSubtype="8" fill="hold" grpId="0" nodeType="withEffect">
                                  <p:stCondLst>
                                    <p:cond delay="2600"/>
                                  </p:stCondLst>
                                  <p:childTnLst>
                                    <p:set>
                                      <p:cBhvr>
                                        <p:cTn id="105" dur="1" fill="hold">
                                          <p:stCondLst>
                                            <p:cond delay="0"/>
                                          </p:stCondLst>
                                        </p:cTn>
                                        <p:tgtEl>
                                          <p:spTgt spid="12"/>
                                        </p:tgtEl>
                                        <p:attrNameLst>
                                          <p:attrName>style.visibility</p:attrName>
                                        </p:attrNameLst>
                                      </p:cBhvr>
                                      <p:to>
                                        <p:strVal val="visible"/>
                                      </p:to>
                                    </p:set>
                                    <p:animEffect transition="in" filter="wipe(left)">
                                      <p:cBhvr>
                                        <p:cTn id="106" dur="600"/>
                                        <p:tgtEl>
                                          <p:spTgt spid="12"/>
                                        </p:tgtEl>
                                      </p:cBhvr>
                                    </p:animEffect>
                                  </p:childTnLst>
                                </p:cTn>
                              </p:par>
                              <p:par>
                                <p:cTn id="110" presetID="22" presetClass="entr" presetSubtype="8" fill="hold" grpId="0" nodeType="withEffect">
                                  <p:stCondLst>
                                    <p:cond delay="2850"/>
                                  </p:stCondLst>
                                  <p:childTnLst>
                                    <p:set>
                                      <p:cBhvr>
                                        <p:cTn id="108" dur="1" fill="hold">
                                          <p:stCondLst>
                                            <p:cond delay="0"/>
                                          </p:stCondLst>
                                        </p:cTn>
                                        <p:tgtEl>
                                          <p:spTgt spid="7"/>
                                        </p:tgtEl>
                                        <p:attrNameLst>
                                          <p:attrName>style.visibility</p:attrName>
                                        </p:attrNameLst>
                                      </p:cBhvr>
                                      <p:to>
                                        <p:strVal val="visible"/>
                                      </p:to>
                                    </p:set>
                                    <p:animEffect transition="in" filter="wipe(left)">
                                      <p:cBhvr>
                                        <p:cTn id="109" dur="600"/>
                                        <p:tgtEl>
                                          <p:spTgt spid="7"/>
                                        </p:tgtEl>
                                      </p:cBhvr>
                                    </p:animEffect>
                                  </p:childTnLst>
                                </p:cTn>
                              </p:par>
                              <p:par>
                                <p:cTn id="113" presetID="22" presetClass="entr" presetSubtype="8" fill="hold" grpId="0" nodeType="withEffect">
                                  <p:stCondLst>
                                    <p:cond delay="3100"/>
                                  </p:stCondLst>
                                  <p:childTnLst>
                                    <p:set>
                                      <p:cBhvr>
                                        <p:cTn id="111" dur="1" fill="hold">
                                          <p:stCondLst>
                                            <p:cond delay="0"/>
                                          </p:stCondLst>
                                        </p:cTn>
                                        <p:tgtEl>
                                          <p:spTgt spid="8"/>
                                        </p:tgtEl>
                                        <p:attrNameLst>
                                          <p:attrName>style.visibility</p:attrName>
                                        </p:attrNameLst>
                                      </p:cBhvr>
                                      <p:to>
                                        <p:strVal val="visible"/>
                                      </p:to>
                                    </p:set>
                                    <p:animEffect transition="in" filter="wipe(left)">
                                      <p:cBhvr>
                                        <p:cTn id="112" dur="600"/>
                                        <p:tgtEl>
                                          <p:spTgt spid="8"/>
                                        </p:tgtEl>
                                      </p:cBhvr>
                                    </p:animEffect>
                                  </p:childTnLst>
                                </p:cTn>
                              </p:par>
                              <p:par>
                                <p:cTn id="116" presetID="22" presetClass="entr" presetSubtype="8" fill="hold" grpId="0" nodeType="withEffect">
                                  <p:stCondLst>
                                    <p:cond delay="3350"/>
                                  </p:stCondLst>
                                  <p:childTnLst>
                                    <p:set>
                                      <p:cBhvr>
                                        <p:cTn id="114" dur="1" fill="hold">
                                          <p:stCondLst>
                                            <p:cond delay="0"/>
                                          </p:stCondLst>
                                        </p:cTn>
                                        <p:tgtEl>
                                          <p:spTgt spid="9"/>
                                        </p:tgtEl>
                                        <p:attrNameLst>
                                          <p:attrName>style.visibility</p:attrName>
                                        </p:attrNameLst>
                                      </p:cBhvr>
                                      <p:to>
                                        <p:strVal val="visible"/>
                                      </p:to>
                                    </p:set>
                                    <p:animEffect transition="in" filter="wipe(left)">
                                      <p:cBhvr>
                                        <p:cTn id="115" dur="600"/>
                                        <p:tgtEl>
                                          <p:spTgt spid="9"/>
                                        </p:tgtEl>
                                      </p:cBhvr>
                                    </p:animEffect>
                                  </p:childTnLst>
                                </p:cTn>
                              </p:par>
                              <p:par>
                                <p:cTn id="119" presetID="22" presetClass="entr" presetSubtype="8" fill="hold" grpId="0" nodeType="withEffect">
                                  <p:stCondLst>
                                    <p:cond delay="3600"/>
                                  </p:stCondLst>
                                  <p:childTnLst>
                                    <p:set>
                                      <p:cBhvr>
                                        <p:cTn id="117" dur="1" fill="hold">
                                          <p:stCondLst>
                                            <p:cond delay="0"/>
                                          </p:stCondLst>
                                        </p:cTn>
                                        <p:tgtEl>
                                          <p:spTgt spid="10"/>
                                        </p:tgtEl>
                                        <p:attrNameLst>
                                          <p:attrName>style.visibility</p:attrName>
                                        </p:attrNameLst>
                                      </p:cBhvr>
                                      <p:to>
                                        <p:strVal val="visible"/>
                                      </p:to>
                                    </p:set>
                                    <p:animEffect transition="in" filter="wipe(left)">
                                      <p:cBhvr>
                                        <p:cTn id="118" dur="600"/>
                                        <p:tgtEl>
                                          <p:spTgt spid="10"/>
                                        </p:tgtEl>
                                      </p:cBhvr>
                                    </p:animEffect>
                                  </p:childTnLst>
                                </p:cTn>
                              </p:par>
                              <p:par>
                                <p:cTn id="122" presetID="22" presetClass="entr" presetSubtype="8" fill="hold" grpId="0" nodeType="withEffect">
                                  <p:stCondLst>
                                    <p:cond delay="3850"/>
                                  </p:stCondLst>
                                  <p:childTnLst>
                                    <p:set>
                                      <p:cBhvr>
                                        <p:cTn id="120" dur="1" fill="hold">
                                          <p:stCondLst>
                                            <p:cond delay="0"/>
                                          </p:stCondLst>
                                        </p:cTn>
                                        <p:tgtEl>
                                          <p:spTgt spid="11"/>
                                        </p:tgtEl>
                                        <p:attrNameLst>
                                          <p:attrName>style.visibility</p:attrName>
                                        </p:attrNameLst>
                                      </p:cBhvr>
                                      <p:to>
                                        <p:strVal val="visible"/>
                                      </p:to>
                                    </p:set>
                                    <p:animEffect transition="in" filter="wipe(left)">
                                      <p:cBhvr>
                                        <p:cTn id="121" dur="600"/>
                                        <p:tgtEl>
                                          <p:spTgt spid="11"/>
                                        </p:tgtEl>
                                      </p:cBhvr>
                                    </p:animEffect>
                                  </p:childTnLst>
                                </p:cTn>
                              </p:par>
                              <p:par>
                                <p:cTn id="125" presetID="22" presetClass="entr" presetSubtype="8" fill="hold" grpId="0" nodeType="withEffect">
                                  <p:stCondLst>
                                    <p:cond delay="4100"/>
                                  </p:stCondLst>
                                  <p:childTnLst>
                                    <p:set>
                                      <p:cBhvr>
                                        <p:cTn id="123" dur="1" fill="hold">
                                          <p:stCondLst>
                                            <p:cond delay="0"/>
                                          </p:stCondLst>
                                        </p:cTn>
                                        <p:tgtEl>
                                          <p:spTgt spid="13"/>
                                        </p:tgtEl>
                                        <p:attrNameLst>
                                          <p:attrName>style.visibility</p:attrName>
                                        </p:attrNameLst>
                                      </p:cBhvr>
                                      <p:to>
                                        <p:strVal val="visible"/>
                                      </p:to>
                                    </p:set>
                                    <p:animEffect transition="in" filter="wipe(left)">
                                      <p:cBhvr>
                                        <p:cTn id="124" dur="600"/>
                                        <p:tgtEl>
                                          <p:spTgt spid="13"/>
                                        </p:tgtEl>
                                      </p:cBhvr>
                                    </p:animEffect>
                                  </p:childTnLst>
                                </p:cTn>
                              </p:par>
                              <p:par>
                                <p:cTn id="130" presetID="42" presetClass="entr" presetSubtype="0" fill="hold" grpId="0" nodeType="withEffect">
                                  <p:stCondLst>
                                    <p:cond delay="4400"/>
                                  </p:stCondLst>
                                  <p:childTnLst>
                                    <p:set>
                                      <p:cBhvr>
                                        <p:cTn id="126" dur="1" fill="hold">
                                          <p:stCondLst>
                                            <p:cond delay="0"/>
                                          </p:stCondLst>
                                        </p:cTn>
                                        <p:tgtEl>
                                          <p:spTgt spid="32"/>
                                        </p:tgtEl>
                                        <p:attrNameLst>
                                          <p:attrName>style.visibility</p:attrName>
                                        </p:attrNameLst>
                                      </p:cBhvr>
                                      <p:to>
                                        <p:strVal val="visible"/>
                                      </p:to>
                                    </p:set>
                                    <p:animEffect transition="in" filter="fade">
                                      <p:cBhvr>
                                        <p:cTn id="127" dur="800"/>
                                        <p:tgtEl>
                                          <p:spTgt spid="32"/>
                                        </p:tgtEl>
                                      </p:cBhvr>
                                    </p:animEffect>
                                    <p:anim calcmode="lin" valueType="num">
                                      <p:cBhvr additive="base">
                                        <p:cTn id="128" dur="800" fill="hold"/>
                                        <p:tgtEl>
                                          <p:spTgt spid="32"/>
                                        </p:tgtEl>
                                        <p:attrNameLst>
                                          <p:attrName>ppt_x</p:attrName>
                                        </p:attrNameLst>
                                      </p:cBhvr>
                                      <p:tavLst>
                                        <p:tav tm="0">
                                          <p:val>
                                            <p:strVal val="#ppt_x+.35"/>
                                          </p:val>
                                        </p:tav>
                                        <p:tav tm="100000">
                                          <p:val>
                                            <p:strVal val="#ppt_x"/>
                                          </p:val>
                                        </p:tav>
                                      </p:tavLst>
                                    </p:anim>
                                    <p:anim calcmode="lin" valueType="num">
                                      <p:cBhvr additive="base">
                                        <p:cTn id="129" dur="800" fill="hold"/>
                                        <p:tgtEl>
                                          <p:spTgt spid="32"/>
                                        </p:tgtEl>
                                        <p:attrNameLst>
                                          <p:attrName>ppt_y</p:attrName>
                                        </p:attrNameLst>
                                      </p:cBhvr>
                                      <p:tavLst>
                                        <p:tav tm="0">
                                          <p:val>
                                            <p:strVal val="#ppt_y"/>
                                          </p:val>
                                        </p:tav>
                                        <p:tav tm="100000">
                                          <p:val>
                                            <p:strVal val="#ppt_y"/>
                                          </p:val>
                                        </p:tav>
                                      </p:tavLst>
                                    </p:anim>
                                  </p:childTnLst>
                                </p:cTn>
                              </p:par>
                              <p:par>
                                <p:cTn id="135" presetID="42" presetClass="entr" presetSubtype="0" fill="hold" grpId="0" nodeType="withEffect">
                                  <p:stCondLst>
                                    <p:cond delay="4400"/>
                                  </p:stCondLst>
                                  <p:childTnLst>
                                    <p:set>
                                      <p:cBhvr>
                                        <p:cTn id="131" dur="1" fill="hold">
                                          <p:stCondLst>
                                            <p:cond delay="0"/>
                                          </p:stCondLst>
                                        </p:cTn>
                                        <p:tgtEl>
                                          <p:spTgt spid="33"/>
                                        </p:tgtEl>
                                        <p:attrNameLst>
                                          <p:attrName>style.visibility</p:attrName>
                                        </p:attrNameLst>
                                      </p:cBhvr>
                                      <p:to>
                                        <p:strVal val="visible"/>
                                      </p:to>
                                    </p:set>
                                    <p:animEffect transition="in" filter="fade">
                                      <p:cBhvr>
                                        <p:cTn id="132" dur="800"/>
                                        <p:tgtEl>
                                          <p:spTgt spid="33"/>
                                        </p:tgtEl>
                                      </p:cBhvr>
                                    </p:animEffect>
                                    <p:anim calcmode="lin" valueType="num">
                                      <p:cBhvr additive="base">
                                        <p:cTn id="133" dur="800" fill="hold"/>
                                        <p:tgtEl>
                                          <p:spTgt spid="33"/>
                                        </p:tgtEl>
                                        <p:attrNameLst>
                                          <p:attrName>ppt_x</p:attrName>
                                        </p:attrNameLst>
                                      </p:cBhvr>
                                      <p:tavLst>
                                        <p:tav tm="0">
                                          <p:val>
                                            <p:strVal val="#ppt_x+.35"/>
                                          </p:val>
                                        </p:tav>
                                        <p:tav tm="100000">
                                          <p:val>
                                            <p:strVal val="#ppt_x"/>
                                          </p:val>
                                        </p:tav>
                                      </p:tavLst>
                                    </p:anim>
                                    <p:anim calcmode="lin" valueType="num">
                                      <p:cBhvr additive="base">
                                        <p:cTn id="134" dur="800" fill="hold"/>
                                        <p:tgtEl>
                                          <p:spTgt spid="33"/>
                                        </p:tgtEl>
                                        <p:attrNameLst>
                                          <p:attrName>ppt_y</p:attrName>
                                        </p:attrNameLst>
                                      </p:cBhvr>
                                      <p:tavLst>
                                        <p:tav tm="0">
                                          <p:val>
                                            <p:strVal val="#ppt_y"/>
                                          </p:val>
                                        </p:tav>
                                        <p:tav tm="100000">
                                          <p:val>
                                            <p:strVal val="#ppt_y"/>
                                          </p:val>
                                        </p:tav>
                                      </p:tavLst>
                                    </p:anim>
                                  </p:childTnLst>
                                </p:cTn>
                              </p:par>
                              <p:par>
                                <p:cTn id="140" presetID="42" presetClass="entr" presetSubtype="0" fill="hold" grpId="0" nodeType="withEffect">
                                  <p:stCondLst>
                                    <p:cond delay="4800"/>
                                  </p:stCondLst>
                                  <p:childTnLst>
                                    <p:set>
                                      <p:cBhvr>
                                        <p:cTn id="136" dur="1" fill="hold">
                                          <p:stCondLst>
                                            <p:cond delay="0"/>
                                          </p:stCondLst>
                                        </p:cTn>
                                        <p:tgtEl>
                                          <p:spTgt spid="34"/>
                                        </p:tgtEl>
                                        <p:attrNameLst>
                                          <p:attrName>style.visibility</p:attrName>
                                        </p:attrNameLst>
                                      </p:cBhvr>
                                      <p:to>
                                        <p:strVal val="visible"/>
                                      </p:to>
                                    </p:set>
                                    <p:animEffect transition="in" filter="fade">
                                      <p:cBhvr>
                                        <p:cTn id="137" dur="800"/>
                                        <p:tgtEl>
                                          <p:spTgt spid="34"/>
                                        </p:tgtEl>
                                      </p:cBhvr>
                                    </p:animEffect>
                                    <p:anim calcmode="lin" valueType="num">
                                      <p:cBhvr additive="base">
                                        <p:cTn id="138" dur="800" fill="hold"/>
                                        <p:tgtEl>
                                          <p:spTgt spid="34"/>
                                        </p:tgtEl>
                                        <p:attrNameLst>
                                          <p:attrName>ppt_x</p:attrName>
                                        </p:attrNameLst>
                                      </p:cBhvr>
                                      <p:tavLst>
                                        <p:tav tm="0">
                                          <p:val>
                                            <p:strVal val="#ppt_x+.35"/>
                                          </p:val>
                                        </p:tav>
                                        <p:tav tm="100000">
                                          <p:val>
                                            <p:strVal val="#ppt_x"/>
                                          </p:val>
                                        </p:tav>
                                      </p:tavLst>
                                    </p:anim>
                                    <p:anim calcmode="lin" valueType="num">
                                      <p:cBhvr additive="base">
                                        <p:cTn id="139" dur="800" fill="hold"/>
                                        <p:tgtEl>
                                          <p:spTgt spid="34"/>
                                        </p:tgtEl>
                                        <p:attrNameLst>
                                          <p:attrName>ppt_y</p:attrName>
                                        </p:attrNameLst>
                                      </p:cBhvr>
                                      <p:tavLst>
                                        <p:tav tm="0">
                                          <p:val>
                                            <p:strVal val="#ppt_y"/>
                                          </p:val>
                                        </p:tav>
                                        <p:tav tm="100000">
                                          <p:val>
                                            <p:strVal val="#ppt_y"/>
                                          </p:val>
                                        </p:tav>
                                      </p:tavLst>
                                    </p:anim>
                                  </p:childTnLst>
                                </p:cTn>
                              </p:par>
                              <p:par>
                                <p:cTn id="145" presetID="42" presetClass="entr" presetSubtype="0" fill="hold" grpId="0" nodeType="withEffect">
                                  <p:stCondLst>
                                    <p:cond delay="4800"/>
                                  </p:stCondLst>
                                  <p:childTnLst>
                                    <p:set>
                                      <p:cBhvr>
                                        <p:cTn id="141" dur="1" fill="hold">
                                          <p:stCondLst>
                                            <p:cond delay="0"/>
                                          </p:stCondLst>
                                        </p:cTn>
                                        <p:tgtEl>
                                          <p:spTgt spid="35"/>
                                        </p:tgtEl>
                                        <p:attrNameLst>
                                          <p:attrName>style.visibility</p:attrName>
                                        </p:attrNameLst>
                                      </p:cBhvr>
                                      <p:to>
                                        <p:strVal val="visible"/>
                                      </p:to>
                                    </p:set>
                                    <p:animEffect transition="in" filter="fade">
                                      <p:cBhvr>
                                        <p:cTn id="142" dur="800"/>
                                        <p:tgtEl>
                                          <p:spTgt spid="35"/>
                                        </p:tgtEl>
                                      </p:cBhvr>
                                    </p:animEffect>
                                    <p:anim calcmode="lin" valueType="num">
                                      <p:cBhvr additive="base">
                                        <p:cTn id="143" dur="800" fill="hold"/>
                                        <p:tgtEl>
                                          <p:spTgt spid="35"/>
                                        </p:tgtEl>
                                        <p:attrNameLst>
                                          <p:attrName>ppt_x</p:attrName>
                                        </p:attrNameLst>
                                      </p:cBhvr>
                                      <p:tavLst>
                                        <p:tav tm="0">
                                          <p:val>
                                            <p:strVal val="#ppt_x+.35"/>
                                          </p:val>
                                        </p:tav>
                                        <p:tav tm="100000">
                                          <p:val>
                                            <p:strVal val="#ppt_x"/>
                                          </p:val>
                                        </p:tav>
                                      </p:tavLst>
                                    </p:anim>
                                    <p:anim calcmode="lin" valueType="num">
                                      <p:cBhvr additive="base">
                                        <p:cTn id="144" dur="800" fill="hold"/>
                                        <p:tgtEl>
                                          <p:spTgt spid="35"/>
                                        </p:tgtEl>
                                        <p:attrNameLst>
                                          <p:attrName>ppt_y</p:attrName>
                                        </p:attrNameLst>
                                      </p:cBhvr>
                                      <p:tavLst>
                                        <p:tav tm="0">
                                          <p:val>
                                            <p:strVal val="#ppt_y"/>
                                          </p:val>
                                        </p:tav>
                                        <p:tav tm="100000">
                                          <p:val>
                                            <p:strVal val="#ppt_y"/>
                                          </p:val>
                                        </p:tav>
                                      </p:tavLst>
                                    </p:anim>
                                  </p:childTnLst>
                                </p:cTn>
                              </p:par>
                              <p:par>
                                <p:cTn id="150" presetID="42" presetClass="entr" presetSubtype="0" fill="hold" grpId="0" nodeType="withEffect">
                                  <p:stCondLst>
                                    <p:cond delay="5200"/>
                                  </p:stCondLst>
                                  <p:childTnLst>
                                    <p:set>
                                      <p:cBhvr>
                                        <p:cTn id="146" dur="1" fill="hold">
                                          <p:stCondLst>
                                            <p:cond delay="0"/>
                                          </p:stCondLst>
                                        </p:cTn>
                                        <p:tgtEl>
                                          <p:spTgt spid="36"/>
                                        </p:tgtEl>
                                        <p:attrNameLst>
                                          <p:attrName>style.visibility</p:attrName>
                                        </p:attrNameLst>
                                      </p:cBhvr>
                                      <p:to>
                                        <p:strVal val="visible"/>
                                      </p:to>
                                    </p:set>
                                    <p:animEffect transition="in" filter="fade">
                                      <p:cBhvr>
                                        <p:cTn id="147" dur="800"/>
                                        <p:tgtEl>
                                          <p:spTgt spid="36"/>
                                        </p:tgtEl>
                                      </p:cBhvr>
                                    </p:animEffect>
                                    <p:anim calcmode="lin" valueType="num">
                                      <p:cBhvr additive="base">
                                        <p:cTn id="148" dur="800" fill="hold"/>
                                        <p:tgtEl>
                                          <p:spTgt spid="36"/>
                                        </p:tgtEl>
                                        <p:attrNameLst>
                                          <p:attrName>ppt_x</p:attrName>
                                        </p:attrNameLst>
                                      </p:cBhvr>
                                      <p:tavLst>
                                        <p:tav tm="0">
                                          <p:val>
                                            <p:strVal val="#ppt_x+.35"/>
                                          </p:val>
                                        </p:tav>
                                        <p:tav tm="100000">
                                          <p:val>
                                            <p:strVal val="#ppt_x"/>
                                          </p:val>
                                        </p:tav>
                                      </p:tavLst>
                                    </p:anim>
                                    <p:anim calcmode="lin" valueType="num">
                                      <p:cBhvr additive="base">
                                        <p:cTn id="149" dur="800" fill="hold"/>
                                        <p:tgtEl>
                                          <p:spTgt spid="36"/>
                                        </p:tgtEl>
                                        <p:attrNameLst>
                                          <p:attrName>ppt_y</p:attrName>
                                        </p:attrNameLst>
                                      </p:cBhvr>
                                      <p:tavLst>
                                        <p:tav tm="0">
                                          <p:val>
                                            <p:strVal val="#ppt_y"/>
                                          </p:val>
                                        </p:tav>
                                        <p:tav tm="100000">
                                          <p:val>
                                            <p:strVal val="#ppt_y"/>
                                          </p:val>
                                        </p:tav>
                                      </p:tavLst>
                                    </p:anim>
                                  </p:childTnLst>
                                </p:cTn>
                              </p:par>
                              <p:par>
                                <p:cTn id="155" presetID="42" presetClass="entr" presetSubtype="0" fill="hold" grpId="0" nodeType="withEffect">
                                  <p:stCondLst>
                                    <p:cond delay="5200"/>
                                  </p:stCondLst>
                                  <p:childTnLst>
                                    <p:set>
                                      <p:cBhvr>
                                        <p:cTn id="151" dur="1" fill="hold">
                                          <p:stCondLst>
                                            <p:cond delay="0"/>
                                          </p:stCondLst>
                                        </p:cTn>
                                        <p:tgtEl>
                                          <p:spTgt spid="37"/>
                                        </p:tgtEl>
                                        <p:attrNameLst>
                                          <p:attrName>style.visibility</p:attrName>
                                        </p:attrNameLst>
                                      </p:cBhvr>
                                      <p:to>
                                        <p:strVal val="visible"/>
                                      </p:to>
                                    </p:set>
                                    <p:animEffect transition="in" filter="fade">
                                      <p:cBhvr>
                                        <p:cTn id="152" dur="800"/>
                                        <p:tgtEl>
                                          <p:spTgt spid="37"/>
                                        </p:tgtEl>
                                      </p:cBhvr>
                                    </p:animEffect>
                                    <p:anim calcmode="lin" valueType="num">
                                      <p:cBhvr additive="base">
                                        <p:cTn id="153" dur="800" fill="hold"/>
                                        <p:tgtEl>
                                          <p:spTgt spid="37"/>
                                        </p:tgtEl>
                                        <p:attrNameLst>
                                          <p:attrName>ppt_x</p:attrName>
                                        </p:attrNameLst>
                                      </p:cBhvr>
                                      <p:tavLst>
                                        <p:tav tm="0">
                                          <p:val>
                                            <p:strVal val="#ppt_x+.35"/>
                                          </p:val>
                                        </p:tav>
                                        <p:tav tm="100000">
                                          <p:val>
                                            <p:strVal val="#ppt_x"/>
                                          </p:val>
                                        </p:tav>
                                      </p:tavLst>
                                    </p:anim>
                                    <p:anim calcmode="lin" valueType="num">
                                      <p:cBhvr additive="base">
                                        <p:cTn id="154" dur="800" fill="hold"/>
                                        <p:tgtEl>
                                          <p:spTgt spid="37"/>
                                        </p:tgtEl>
                                        <p:attrNameLst>
                                          <p:attrName>ppt_y</p:attrName>
                                        </p:attrNameLst>
                                      </p:cBhvr>
                                      <p:tavLst>
                                        <p:tav tm="0">
                                          <p:val>
                                            <p:strVal val="#ppt_y"/>
                                          </p:val>
                                        </p:tav>
                                        <p:tav tm="100000">
                                          <p:val>
                                            <p:strVal val="#ppt_y"/>
                                          </p:val>
                                        </p:tav>
                                      </p:tavLst>
                                    </p:anim>
                                  </p:childTnLst>
                                </p:cTn>
                              </p:par>
                              <p:par>
                                <p:cTn id="157" presetID="6" presetClass="emph" presetSubtype="0" fill="hold" grpId="1" nodeType="withEffect" autoRev="1" repeatCount="indefinite">
                                  <p:stCondLst>
                                    <p:cond delay="5800"/>
                                  </p:stCondLst>
                                  <p:childTnLst>
                                    <p:animScale>
                                      <p:cBhvr>
                                        <p:cTn id="156" dur="800" fill="hold"/>
                                        <p:tgtEl>
                                          <p:spTgt spid="17"/>
                                        </p:tgtEl>
                                      </p:cBhvr>
                                      <p:by x="112000" y="112000"/>
                                    </p:animScale>
                                  </p:childTnLst>
                                </p:cTn>
                              </p:par>
                              <p:par>
                                <p:cTn id="159" presetID="6" presetClass="emph" presetSubtype="0" fill="hold" grpId="1" nodeType="withEffect" autoRev="1" repeatCount="indefinite">
                                  <p:stCondLst>
                                    <p:cond delay="5800"/>
                                  </p:stCondLst>
                                  <p:childTnLst>
                                    <p:animScale>
                                      <p:cBhvr>
                                        <p:cTn id="158" dur="800" fill="hold"/>
                                        <p:tgtEl>
                                          <p:spTgt spid="18"/>
                                        </p:tgtEl>
                                      </p:cBhvr>
                                      <p:by x="112000" y="112000"/>
                                    </p:animScale>
                                  </p:childTnLst>
                                </p:cTn>
                              </p:par>
                              <p:par>
                                <p:cTn id="161" presetID="6" presetClass="emph" presetSubtype="0" fill="hold" grpId="1" nodeType="withEffect" autoRev="1" repeatCount="indefinite">
                                  <p:stCondLst>
                                    <p:cond delay="5800"/>
                                  </p:stCondLst>
                                  <p:childTnLst>
                                    <p:animScale>
                                      <p:cBhvr>
                                        <p:cTn id="160" dur="800" fill="hold"/>
                                        <p:tgtEl>
                                          <p:spTgt spid="20"/>
                                        </p:tgtEl>
                                      </p:cBhvr>
                                      <p:by x="112000" y="112000"/>
                                    </p:animScale>
                                  </p:childTnLst>
                                </p:cTn>
                              </p:par>
                              <p:par>
                                <p:cTn id="163" presetID="6" presetClass="emph" presetSubtype="0" fill="hold" grpId="1" nodeType="withEffect" autoRev="1" repeatCount="indefinite">
                                  <p:stCondLst>
                                    <p:cond delay="5800"/>
                                  </p:stCondLst>
                                  <p:childTnLst>
                                    <p:animScale>
                                      <p:cBhvr>
                                        <p:cTn id="162" dur="800" fill="hold"/>
                                        <p:tgtEl>
                                          <p:spTgt spid="21"/>
                                        </p:tgtEl>
                                      </p:cBhvr>
                                      <p:by x="112000" y="112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6" grpId="0" animBg="1"/>
      <p:bldP spid="5" grpId="0" animBg="1"/>
      <p:bldP spid="2" grpId="1" animBg="1"/>
      <p:bldP spid="14" grpId="0" animBg="1"/>
      <p:bldP spid="15" grpId="0" animBg="1"/>
      <p:bldP spid="16" grpId="0" animBg="1"/>
      <p:bldP spid="29" grpId="0" animBg="1"/>
      <p:bldP spid="30" grpId="0" animBg="1"/>
      <p:bldP spid="31" grpId="0" animBg="1"/>
      <p:bldP spid="26" grpId="0" animBg="1"/>
      <p:bldP spid="27" grpId="0" animBg="1"/>
      <p:bldP spid="28" grpId="0" animBg="1"/>
      <p:bldP spid="17" grpId="0" animBg="1"/>
      <p:bldP spid="18" grpId="0" animBg="1"/>
      <p:bldP spid="19" grpId="0" animBg="1"/>
      <p:bldP spid="20" grpId="0" animBg="1"/>
      <p:bldP spid="21" grpId="0" animBg="1"/>
      <p:bldP spid="22" grpId="0" animBg="1"/>
      <p:bldP spid="23" grpId="0" animBg="1"/>
      <p:bldP spid="24" grpId="0" animBg="1"/>
      <p:bldP spid="25" grpId="0" animBg="1"/>
      <p:bldP spid="12" grpId="0" animBg="1"/>
      <p:bldP spid="7" grpId="0" animBg="1"/>
      <p:bldP spid="8" grpId="0" animBg="1"/>
      <p:bldP spid="9" grpId="0" animBg="1"/>
      <p:bldP spid="10" grpId="0" animBg="1"/>
      <p:bldP spid="11" grpId="0" animBg="1"/>
      <p:bldP spid="13" grpId="0" animBg="1"/>
      <p:bldP spid="32" grpId="0" animBg="1"/>
      <p:bldP spid="33" grpId="0" animBg="1"/>
      <p:bldP spid="34" grpId="0" animBg="1"/>
      <p:bldP spid="35" grpId="0" animBg="1"/>
      <p:bldP spid="36" grpId="0" animBg="1"/>
      <p:bldP spid="37" grpId="0" animBg="1"/>
      <p:bldP spid="17" grpId="1" animBg="1"/>
      <p:bldP spid="18" grpId="1" animBg="1"/>
      <p:bldP spid="20" grpId="1" animBg="1"/>
      <p:bldP spid="21" grpId="1"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paused badge"/>
          <p:cNvSpPr/>
          <p:nvPr/>
        </p:nvSpPr>
        <p:spPr>
          <a:xfrm>
            <a:off x="548640" y="310896"/>
            <a:ext cx="1417320" cy="329184"/>
          </a:xfrm>
          <a:prstGeom prst="roundRect">
            <a:avLst>
              <a:gd name="adj" fmla="val 16667"/>
            </a:avLst>
          </a:prstGeom>
          <a:solidFill>
            <a:srgbClr val="FFD84D"/>
          </a:solidFill>
          <a:ln/>
        </p:spPr>
      </p:sp>
      <p:pic>
        <p:nvPicPr>
          <p:cNvPr id="3" name="pause icon" descr="Paused">    </p:cNvPr>
          <p:cNvPicPr>
            <a:picLocks noChangeAspect="1"/>
          </p:cNvPicPr>
          <p:nvPr/>
        </p:nvPicPr>
        <p:blipFill>
          <a:blip r:embed="rId1"/>
          <a:stretch>
            <a:fillRect/>
          </a:stretch>
        </p:blipFill>
        <p:spPr>
          <a:xfrm>
            <a:off x="667512" y="393192"/>
            <a:ext cx="164592" cy="164592"/>
          </a:xfrm>
          <a:prstGeom prst="rect">
            <a:avLst/>
          </a:prstGeom>
        </p:spPr>
      </p:pic>
      <p:sp>
        <p:nvSpPr>
          <p:cNvPr id="4" name="Text 1"/>
          <p:cNvSpPr txBox="1"/>
          <p:nvPr/>
        </p:nvSpPr>
        <p:spPr>
          <a:xfrm>
            <a:off x="896112" y="310896"/>
            <a:ext cx="1005840" cy="329184"/>
          </a:xfrm>
          <a:prstGeom prst="rect">
            <a:avLst/>
          </a:prstGeom>
          <a:noFill/>
          <a:ln/>
        </p:spPr>
        <p:txBody>
          <a:bodyPr wrap="square" lIns="0" tIns="0" rIns="0" bIns="0" rtlCol="0" anchor="ctr"/>
          <a:lstStyle/>
          <a:p>
            <a:pPr indent="0" marL="0">
              <a:buNone/>
            </a:pPr>
            <a:r>
              <a:rPr lang="en-US" sz="1300" b="1" spc="200" kern="0" dirty="0">
                <a:solidFill>
                  <a:srgbClr val="0D0D0F"/>
                </a:solidFill>
                <a:latin typeface="Courier New" pitchFamily="34" charset="0"/>
                <a:ea typeface="Courier New" pitchFamily="34" charset="-122"/>
                <a:cs typeface="Courier New" pitchFamily="34" charset="-120"/>
              </a:rPr>
              <a:t>PAUSED</a:t>
            </a:r>
            <a:endParaRPr lang="en-US" sz="1300" dirty="0"/>
          </a:p>
        </p:txBody>
      </p:sp>
      <p:sp>
        <p:nvSpPr>
          <p:cNvPr id="5" name="Text 2"/>
          <p:cNvSpPr txBox="1"/>
          <p:nvPr/>
        </p:nvSpPr>
        <p:spPr>
          <a:xfrm>
            <a:off x="2148840" y="310896"/>
            <a:ext cx="8229600" cy="329184"/>
          </a:xfrm>
          <a:prstGeom prst="rect">
            <a:avLst/>
          </a:prstGeom>
          <a:noFill/>
          <a:ln/>
        </p:spPr>
        <p:txBody>
          <a:bodyPr wrap="square" lIns="0" tIns="0" rIns="0" bIns="0" rtlCol="0" anchor="ctr"/>
          <a:lstStyle/>
          <a:p>
            <a:pPr indent="0" marL="0">
              <a:buNone/>
            </a:pPr>
            <a:r>
              <a:rPr lang="en-US" sz="1300" b="1" spc="200" kern="0" dirty="0">
                <a:solidFill>
                  <a:srgbClr val="FFD84D"/>
                </a:solidFill>
                <a:latin typeface="Courier New" pitchFamily="34" charset="0"/>
                <a:ea typeface="Courier New" pitchFamily="34" charset="-122"/>
                <a:cs typeface="Courier New" pitchFamily="34" charset="-120"/>
              </a:rPr>
              <a:t>ACT II  ·  WHERE IS THE CORRUPTION?</a:t>
            </a:r>
            <a:endParaRPr lang="en-US" sz="1300" dirty="0"/>
          </a:p>
        </p:txBody>
      </p:sp>
      <p:sp>
        <p:nvSpPr>
          <p:cNvPr id="6" name="Text 0"/>
          <p:cNvSpPr/>
          <p:nvPr>
            <p:ph idx="100" type="title" hasCustomPrompt="1"/>
          </p:nvPr>
        </p:nvSpPr>
        <p:spPr>
          <a:xfrm>
            <a:off x="548640" y="731520"/>
            <a:ext cx="11094415" cy="731520"/>
          </a:xfrm>
          <a:prstGeom prst="rect">
            <a:avLst/>
          </a:prstGeom>
          <a:noFill/>
          <a:ln/>
        </p:spPr>
        <p:txBody>
          <a:bodyPr wrap="square" lIns="0" tIns="0" rIns="0" bIns="0" rtlCol="0" anchor="ctr"/>
          <a:lstStyle/>
          <a:p>
            <a:pPr algn="l" indent="0" marL="0">
              <a:buNone/>
            </a:pPr>
            <a:r>
              <a:rPr lang="en-US" sz="3000" b="1" dirty="0">
                <a:solidFill>
                  <a:schemeClr val="bg1"/>
                </a:solidFill>
              </a:rPr>
              <a:t>Corruption = Monopoly + Discretion − Accountability</a:t>
            </a:r>
            <a:endParaRPr lang="en-US" sz="3000" dirty="0"/>
          </a:p>
        </p:txBody>
      </p:sp>
      <p:sp>
        <p:nvSpPr>
          <p:cNvPr id="7" name="Text 4"/>
          <p:cNvSpPr txBox="1"/>
          <p:nvPr/>
        </p:nvSpPr>
        <p:spPr>
          <a:xfrm>
            <a:off x="548640" y="1463040"/>
            <a:ext cx="11094415" cy="320040"/>
          </a:xfrm>
          <a:prstGeom prst="rect">
            <a:avLst/>
          </a:prstGeom>
          <a:noFill/>
          <a:ln/>
        </p:spPr>
        <p:txBody>
          <a:bodyPr wrap="square" lIns="0" tIns="0" rIns="0" bIns="0" rtlCol="0" anchor="ctr"/>
          <a:lstStyle/>
          <a:p>
            <a:pPr indent="0" marL="0">
              <a:buNone/>
            </a:pPr>
            <a:r>
              <a:rPr lang="en-US" sz="1400" i="1" dirty="0">
                <a:solidFill>
                  <a:srgbClr val="A9ADB5"/>
                </a:solidFill>
              </a:rPr>
              <a:t>Klitgaard (1988). Corruption: the abuse of entrusted power for private gain (Transparency International).</a:t>
            </a:r>
            <a:endParaRPr lang="en-US" sz="1400" dirty="0"/>
          </a:p>
        </p:txBody>
      </p:sp>
      <p:sp>
        <p:nvSpPr>
          <p:cNvPr id="8" name="MONOPOLY"/>
          <p:cNvSpPr/>
          <p:nvPr/>
        </p:nvSpPr>
        <p:spPr>
          <a:xfrm>
            <a:off x="548640" y="1965960"/>
            <a:ext cx="3560978" cy="2743200"/>
          </a:xfrm>
          <a:prstGeom prst="rect">
            <a:avLst/>
          </a:prstGeom>
          <a:solidFill>
            <a:srgbClr val="1B1D22"/>
          </a:solidFill>
          <a:ln w="12700">
            <a:solidFill>
              <a:srgbClr val="33363D"/>
            </a:solidFill>
            <a:prstDash val="solid"/>
          </a:ln>
        </p:spPr>
      </p:sp>
      <p:sp>
        <p:nvSpPr>
          <p:cNvPr id="9" name="Text 6"/>
          <p:cNvSpPr txBox="1"/>
          <p:nvPr/>
        </p:nvSpPr>
        <p:spPr>
          <a:xfrm>
            <a:off x="777240" y="2103120"/>
            <a:ext cx="914400" cy="914400"/>
          </a:xfrm>
          <a:prstGeom prst="rect">
            <a:avLst/>
          </a:prstGeom>
          <a:noFill/>
          <a:ln/>
        </p:spPr>
        <p:txBody>
          <a:bodyPr wrap="square" lIns="0" tIns="0" rIns="0" bIns="0" rtlCol="0" anchor="ctr"/>
          <a:lstStyle/>
          <a:p>
            <a:pPr indent="0" marL="0">
              <a:buNone/>
            </a:pPr>
            <a:r>
              <a:rPr lang="en-US" sz="5400" b="1" dirty="0">
                <a:solidFill>
                  <a:srgbClr val="FFD84D"/>
                </a:solidFill>
                <a:latin typeface="Bookman Old Style" pitchFamily="34" charset="0"/>
                <a:ea typeface="Bookman Old Style" pitchFamily="34" charset="-122"/>
                <a:cs typeface="Bookman Old Style" pitchFamily="34" charset="-120"/>
              </a:rPr>
              <a:t>M</a:t>
            </a:r>
            <a:endParaRPr lang="en-US" sz="5400" dirty="0"/>
          </a:p>
        </p:txBody>
      </p:sp>
      <p:sp>
        <p:nvSpPr>
          <p:cNvPr id="10" name="Text 7"/>
          <p:cNvSpPr txBox="1"/>
          <p:nvPr/>
        </p:nvSpPr>
        <p:spPr>
          <a:xfrm>
            <a:off x="1645920" y="2286000"/>
            <a:ext cx="2280818" cy="548640"/>
          </a:xfrm>
          <a:prstGeom prst="rect">
            <a:avLst/>
          </a:prstGeom>
          <a:noFill/>
          <a:ln/>
        </p:spPr>
        <p:txBody>
          <a:bodyPr wrap="square" lIns="0" tIns="0" rIns="0" bIns="0" rtlCol="0" anchor="ctr"/>
          <a:lstStyle/>
          <a:p>
            <a:pPr indent="0" marL="0">
              <a:buNone/>
            </a:pPr>
            <a:r>
              <a:rPr lang="en-US" sz="1300" b="1" dirty="0">
                <a:solidFill>
                  <a:srgbClr val="FFD84D"/>
                </a:solidFill>
                <a:latin typeface="Courier New" pitchFamily="34" charset="0"/>
                <a:ea typeface="Courier New" pitchFamily="34" charset="-122"/>
                <a:cs typeface="Courier New" pitchFamily="34" charset="-120"/>
              </a:rPr>
              <a:t>MONOPOLY</a:t>
            </a:r>
            <a:endParaRPr lang="en-US" sz="1300" dirty="0"/>
          </a:p>
        </p:txBody>
      </p:sp>
      <p:sp>
        <p:nvSpPr>
          <p:cNvPr id="11" name="Text 8"/>
          <p:cNvSpPr txBox="1"/>
          <p:nvPr/>
        </p:nvSpPr>
        <p:spPr>
          <a:xfrm>
            <a:off x="777240" y="3154680"/>
            <a:ext cx="3103778" cy="1463040"/>
          </a:xfrm>
          <a:prstGeom prst="rect">
            <a:avLst/>
          </a:prstGeom>
          <a:noFill/>
          <a:ln/>
        </p:spPr>
        <p:txBody>
          <a:bodyPr wrap="square" lIns="0" tIns="0" rIns="0" bIns="0" rtlCol="0" anchor="t"/>
          <a:lstStyle/>
          <a:p>
            <a:pPr indent="0" marL="0">
              <a:buNone/>
            </a:pPr>
            <a:r>
              <a:rPr lang="en-US" sz="1500" dirty="0">
                <a:solidFill>
                  <a:schemeClr val="bg1"/>
                </a:solidFill>
              </a:rPr>
              <a:t>Henry controls the only access to cheap Balkan ammunition, so everyone must pay him.</a:t>
            </a:r>
            <a:endParaRPr lang="en-US" sz="1500" dirty="0"/>
          </a:p>
        </p:txBody>
      </p:sp>
      <p:sp>
        <p:nvSpPr>
          <p:cNvPr id="12" name="DISCRETION"/>
          <p:cNvSpPr/>
          <p:nvPr/>
        </p:nvSpPr>
        <p:spPr>
          <a:xfrm>
            <a:off x="4274210" y="1965960"/>
            <a:ext cx="3560978" cy="2743200"/>
          </a:xfrm>
          <a:prstGeom prst="rect">
            <a:avLst/>
          </a:prstGeom>
          <a:solidFill>
            <a:srgbClr val="1B1D22"/>
          </a:solidFill>
          <a:ln w="12700">
            <a:solidFill>
              <a:srgbClr val="33363D"/>
            </a:solidFill>
            <a:prstDash val="solid"/>
          </a:ln>
        </p:spPr>
      </p:sp>
      <p:sp>
        <p:nvSpPr>
          <p:cNvPr id="13" name="Text 10"/>
          <p:cNvSpPr txBox="1"/>
          <p:nvPr/>
        </p:nvSpPr>
        <p:spPr>
          <a:xfrm>
            <a:off x="4502810" y="2103120"/>
            <a:ext cx="914400" cy="914400"/>
          </a:xfrm>
          <a:prstGeom prst="rect">
            <a:avLst/>
          </a:prstGeom>
          <a:noFill/>
          <a:ln/>
        </p:spPr>
        <p:txBody>
          <a:bodyPr wrap="square" lIns="0" tIns="0" rIns="0" bIns="0" rtlCol="0" anchor="ctr"/>
          <a:lstStyle/>
          <a:p>
            <a:pPr indent="0" marL="0">
              <a:buNone/>
            </a:pPr>
            <a:r>
              <a:rPr lang="en-US" sz="5400" b="1" dirty="0">
                <a:solidFill>
                  <a:srgbClr val="FFD84D"/>
                </a:solidFill>
                <a:latin typeface="Bookman Old Style" pitchFamily="34" charset="0"/>
                <a:ea typeface="Bookman Old Style" pitchFamily="34" charset="-122"/>
                <a:cs typeface="Bookman Old Style" pitchFamily="34" charset="-120"/>
              </a:rPr>
              <a:t>D</a:t>
            </a:r>
            <a:endParaRPr lang="en-US" sz="5400" dirty="0"/>
          </a:p>
        </p:txBody>
      </p:sp>
      <p:sp>
        <p:nvSpPr>
          <p:cNvPr id="14" name="Text 11"/>
          <p:cNvSpPr txBox="1"/>
          <p:nvPr/>
        </p:nvSpPr>
        <p:spPr>
          <a:xfrm>
            <a:off x="5371490" y="2286000"/>
            <a:ext cx="2280818" cy="548640"/>
          </a:xfrm>
          <a:prstGeom prst="rect">
            <a:avLst/>
          </a:prstGeom>
          <a:noFill/>
          <a:ln/>
        </p:spPr>
        <p:txBody>
          <a:bodyPr wrap="square" lIns="0" tIns="0" rIns="0" bIns="0" rtlCol="0" anchor="ctr"/>
          <a:lstStyle/>
          <a:p>
            <a:pPr indent="0" marL="0">
              <a:buNone/>
            </a:pPr>
            <a:r>
              <a:rPr lang="en-US" sz="1300" b="1" dirty="0">
                <a:solidFill>
                  <a:srgbClr val="FFD84D"/>
                </a:solidFill>
                <a:latin typeface="Courier New" pitchFamily="34" charset="0"/>
                <a:ea typeface="Courier New" pitchFamily="34" charset="-122"/>
                <a:cs typeface="Courier New" pitchFamily="34" charset="-120"/>
              </a:rPr>
              <a:t>DISCRETION</a:t>
            </a:r>
            <a:endParaRPr lang="en-US" sz="1300" dirty="0"/>
          </a:p>
        </p:txBody>
      </p:sp>
      <p:sp>
        <p:nvSpPr>
          <p:cNvPr id="15" name="Text 12"/>
          <p:cNvSpPr txBox="1"/>
          <p:nvPr/>
        </p:nvSpPr>
        <p:spPr>
          <a:xfrm>
            <a:off x="4502810" y="3154680"/>
            <a:ext cx="3103778" cy="1463040"/>
          </a:xfrm>
          <a:prstGeom prst="rect">
            <a:avLst/>
          </a:prstGeom>
          <a:noFill/>
          <a:ln/>
        </p:spPr>
        <p:txBody>
          <a:bodyPr wrap="square" lIns="0" tIns="0" rIns="0" bIns="0" rtlCol="0" anchor="t"/>
          <a:lstStyle/>
          <a:p>
            <a:pPr indent="0" marL="0">
              <a:buNone/>
            </a:pPr>
            <a:r>
              <a:rPr lang="en-US" sz="1500" dirty="0">
                <a:solidFill>
                  <a:schemeClr val="bg1"/>
                </a:solidFill>
              </a:rPr>
              <a:t>Officials, fixers and border agents in Jordan and Albania decide with little scrutiny; middlemen skim.</a:t>
            </a:r>
            <a:endParaRPr lang="en-US" sz="1500" dirty="0"/>
          </a:p>
        </p:txBody>
      </p:sp>
      <p:sp>
        <p:nvSpPr>
          <p:cNvPr id="16" name="LOW ACCOUNTABILITY"/>
          <p:cNvSpPr/>
          <p:nvPr/>
        </p:nvSpPr>
        <p:spPr>
          <a:xfrm>
            <a:off x="7999781" y="1965960"/>
            <a:ext cx="3560978" cy="2743200"/>
          </a:xfrm>
          <a:prstGeom prst="rect">
            <a:avLst/>
          </a:prstGeom>
          <a:solidFill>
            <a:srgbClr val="1B1D22"/>
          </a:solidFill>
          <a:ln w="12700">
            <a:solidFill>
              <a:srgbClr val="33363D"/>
            </a:solidFill>
            <a:prstDash val="solid"/>
          </a:ln>
        </p:spPr>
      </p:sp>
      <p:sp>
        <p:nvSpPr>
          <p:cNvPr id="17" name="Text 14"/>
          <p:cNvSpPr txBox="1"/>
          <p:nvPr/>
        </p:nvSpPr>
        <p:spPr>
          <a:xfrm>
            <a:off x="8228381" y="2103120"/>
            <a:ext cx="914400" cy="914400"/>
          </a:xfrm>
          <a:prstGeom prst="rect">
            <a:avLst/>
          </a:prstGeom>
          <a:noFill/>
          <a:ln/>
        </p:spPr>
        <p:txBody>
          <a:bodyPr wrap="square" lIns="0" tIns="0" rIns="0" bIns="0" rtlCol="0" anchor="ctr"/>
          <a:lstStyle/>
          <a:p>
            <a:pPr indent="0" marL="0">
              <a:buNone/>
            </a:pPr>
            <a:r>
              <a:rPr lang="en-US" sz="5400" b="1" dirty="0">
                <a:solidFill>
                  <a:srgbClr val="E5383B"/>
                </a:solidFill>
                <a:latin typeface="Bookman Old Style" pitchFamily="34" charset="0"/>
                <a:ea typeface="Bookman Old Style" pitchFamily="34" charset="-122"/>
                <a:cs typeface="Bookman Old Style" pitchFamily="34" charset="-120"/>
              </a:rPr>
              <a:t>A</a:t>
            </a:r>
            <a:endParaRPr lang="en-US" sz="5400" dirty="0"/>
          </a:p>
        </p:txBody>
      </p:sp>
      <p:sp>
        <p:nvSpPr>
          <p:cNvPr id="18" name="Text 15"/>
          <p:cNvSpPr txBox="1"/>
          <p:nvPr/>
        </p:nvSpPr>
        <p:spPr>
          <a:xfrm>
            <a:off x="9097061" y="2286000"/>
            <a:ext cx="2280818" cy="548640"/>
          </a:xfrm>
          <a:prstGeom prst="rect">
            <a:avLst/>
          </a:prstGeom>
          <a:noFill/>
          <a:ln/>
        </p:spPr>
        <p:txBody>
          <a:bodyPr wrap="square" lIns="0" tIns="0" rIns="0" bIns="0" rtlCol="0" anchor="ctr"/>
          <a:lstStyle/>
          <a:p>
            <a:pPr indent="0" marL="0">
              <a:buNone/>
            </a:pPr>
            <a:r>
              <a:rPr lang="en-US" sz="1300" b="1" dirty="0">
                <a:solidFill>
                  <a:srgbClr val="E5383B"/>
                </a:solidFill>
                <a:latin typeface="Courier New" pitchFamily="34" charset="0"/>
                <a:ea typeface="Courier New" pitchFamily="34" charset="-122"/>
                <a:cs typeface="Courier New" pitchFamily="34" charset="-120"/>
              </a:rPr>
              <a:t>LOW ACCOUNTABILITY</a:t>
            </a:r>
            <a:endParaRPr lang="en-US" sz="1300" dirty="0"/>
          </a:p>
        </p:txBody>
      </p:sp>
      <p:sp>
        <p:nvSpPr>
          <p:cNvPr id="19" name="Text 16"/>
          <p:cNvSpPr txBox="1"/>
          <p:nvPr/>
        </p:nvSpPr>
        <p:spPr>
          <a:xfrm>
            <a:off x="8228381" y="3154680"/>
            <a:ext cx="3103778" cy="1463040"/>
          </a:xfrm>
          <a:prstGeom prst="rect">
            <a:avLst/>
          </a:prstGeom>
          <a:noFill/>
          <a:ln/>
        </p:spPr>
        <p:txBody>
          <a:bodyPr wrap="square" lIns="0" tIns="0" rIns="0" bIns="0" rtlCol="0" anchor="t"/>
          <a:lstStyle/>
          <a:p>
            <a:pPr indent="0" marL="0">
              <a:buNone/>
            </a:pPr>
            <a:r>
              <a:rPr lang="en-US" sz="1500" dirty="0">
                <a:solidFill>
                  <a:schemeClr val="bg1"/>
                </a:solidFill>
              </a:rPr>
              <a:t>Wartime urgency: a company run by a man in his early twenties passes the Pentagon’s vetting.</a:t>
            </a:r>
            <a:endParaRPr lang="en-US" sz="1500" dirty="0"/>
          </a:p>
        </p:txBody>
      </p:sp>
      <p:sp>
        <p:nvSpPr>
          <p:cNvPr id="20" name="state-corporate"/>
          <p:cNvSpPr/>
          <p:nvPr/>
        </p:nvSpPr>
        <p:spPr>
          <a:xfrm>
            <a:off x="548640" y="4892040"/>
            <a:ext cx="11094415" cy="1051560"/>
          </a:xfrm>
          <a:prstGeom prst="rect">
            <a:avLst/>
          </a:prstGeom>
          <a:solidFill>
            <a:srgbClr val="1B1D22"/>
          </a:solidFill>
          <a:ln w="19050">
            <a:solidFill>
              <a:srgbClr val="E5383B"/>
            </a:solidFill>
            <a:prstDash val="solid"/>
          </a:ln>
        </p:spPr>
      </p:sp>
      <p:sp>
        <p:nvSpPr>
          <p:cNvPr id="21" name="Text 18"/>
          <p:cNvSpPr txBox="1"/>
          <p:nvPr/>
        </p:nvSpPr>
        <p:spPr>
          <a:xfrm>
            <a:off x="822960" y="4892040"/>
            <a:ext cx="10545775" cy="1051560"/>
          </a:xfrm>
          <a:prstGeom prst="rect">
            <a:avLst/>
          </a:prstGeom>
          <a:noFill/>
          <a:ln/>
        </p:spPr>
        <p:txBody>
          <a:bodyPr wrap="square" lIns="0" tIns="0" rIns="0" bIns="0" rtlCol="0" anchor="ctr"/>
          <a:lstStyle/>
          <a:p>
            <a:pPr indent="0" marL="0">
              <a:buNone/>
            </a:pPr>
            <a:r>
              <a:rPr lang="en-US" sz="1500" b="1" dirty="0">
                <a:solidFill>
                  <a:srgbClr val="FF8A8C"/>
                </a:solidFill>
              </a:rPr>
              <a:t>State-corporate crime (Kramer et al., 2002): </a:t>
            </a:r>
            <a:pPr indent="0" marL="0">
              <a:buNone/>
            </a:pPr>
            <a:r>
              <a:rPr lang="en-US" sz="1500" dirty="0">
                <a:solidFill>
                  <a:schemeClr val="bg1"/>
                </a:solidFill>
              </a:rPr>
              <a:t>the harm grew from a government policy of outsourcing war logistics to the lowest bidder. The crime–terror nexus appears too: a watch-listed dealer simply borrows a clean company name.</a:t>
            </a:r>
            <a:endParaRPr lang="en-US" sz="1500" dirty="0"/>
          </a:p>
        </p:txBody>
      </p:sp>
      <p:sp>
        <p:nvSpPr>
          <p:cNvPr id="25" name="Slide Number Placeholder 0"/>
          <p:cNvSpPr>
            <a:spLocks noGrp="1"/>
          </p:cNvSpPr>
          <p:nvPr>
            <p:ph type="sldNum" sz="quarter" idx="4294967295"/>
          </p:nvPr>
        </p:nvSpPr>
        <p:spPr>
          <a:xfrm>
            <a:off x="11094415" y="6400800"/>
            <a:ext cx="54864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6E727A"/>
                </a:solidFill>
                <a:latin typeface="Courier New"/>
                <a:ea typeface="Courier New"/>
                <a:cs typeface="Courier New"/>
              </a:defRPr>
            </a:lvl1pPr>
          </a:lstStyle>
          <a:p>
            <a:pPr algn="r"/>
            <a:fld id="{F7021451-1387-4CA6-816F-3879F97B5CBC}" type="slidenum">
              <a:rPr b="1" lang="en-US"/>
              <a:t>8</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96" fill="hold">
                      <p:stCondLst>
                        <p:cond delay="indefinite"/>
                        <p:cond evt="onBegin" delay="0">
                          <p:tn val="2"/>
                        </p:cond>
                      </p:stCondLst>
                      <p:childTnLst>
                        <p:par>
                          <p:cTn id="97" fill="hold">
                            <p:stCondLst>
                              <p:cond delay="0"/>
                            </p:stCondLst>
                            <p:childTnLst>
                              <p:par>
                                <p:cTn id="7" presetID="53" presetClass="entr" presetSubtype="32" fill="hold" grpId="0" nodeType="afterEffect">
                                  <p:stCondLst>
                                    <p:cond delay="0"/>
                                  </p:stCondLst>
                                  <p:childTnLst>
                                    <p:set>
                                      <p:cBhvr>
                                        <p:cTn id="3" dur="1" fill="hold">
                                          <p:stCondLst>
                                            <p:cond delay="0"/>
                                          </p:stCondLst>
                                        </p:cTn>
                                        <p:tgtEl>
                                          <p:spTgt spid="2"/>
                                        </p:tgtEl>
                                        <p:attrNameLst>
                                          <p:attrName>style.visibility</p:attrName>
                                        </p:attrNameLst>
                                      </p:cBhvr>
                                      <p:to>
                                        <p:strVal val="visible"/>
                                      </p:to>
                                    </p:set>
                                    <p:anim calcmode="lin" valueType="num">
                                      <p:cBhvr additive="base">
                                        <p:cTn id="4" dur="450" fill="hold"/>
                                        <p:tgtEl>
                                          <p:spTgt spid="2"/>
                                        </p:tgtEl>
                                        <p:attrNameLst>
                                          <p:attrName>ppt_w</p:attrName>
                                        </p:attrNameLst>
                                      </p:cBhvr>
                                      <p:tavLst>
                                        <p:tav tm="0">
                                          <p:val>
                                            <p:strVal val="#ppt_w*2.4"/>
                                          </p:val>
                                        </p:tav>
                                        <p:tav tm="100000">
                                          <p:val>
                                            <p:strVal val="#ppt_w"/>
                                          </p:val>
                                        </p:tav>
                                      </p:tavLst>
                                    </p:anim>
                                    <p:anim calcmode="lin" valueType="num">
                                      <p:cBhvr additive="base">
                                        <p:cTn id="5" dur="450" fill="hold"/>
                                        <p:tgtEl>
                                          <p:spTgt spid="2"/>
                                        </p:tgtEl>
                                        <p:attrNameLst>
                                          <p:attrName>ppt_h</p:attrName>
                                        </p:attrNameLst>
                                      </p:cBhvr>
                                      <p:tavLst>
                                        <p:tav tm="0">
                                          <p:val>
                                            <p:strVal val="#ppt_h*2.4"/>
                                          </p:val>
                                        </p:tav>
                                        <p:tav tm="100000">
                                          <p:val>
                                            <p:strVal val="#ppt_h"/>
                                          </p:val>
                                        </p:tav>
                                      </p:tavLst>
                                    </p:anim>
                                    <p:animEffect transition="in" filter="fade">
                                      <p:cBhvr>
                                        <p:cTn id="6" dur="450"/>
                                        <p:tgtEl>
                                          <p:spTgt spid="2"/>
                                        </p:tgtEl>
                                      </p:cBhvr>
                                    </p:animEffect>
                                  </p:childTnLst>
                                </p:cTn>
                              </p:par>
                              <p:par>
                                <p:cTn id="12" presetID="53" presetClass="entr" presetSubtype="32"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anim calcmode="lin" valueType="num">
                                      <p:cBhvr additive="base">
                                        <p:cTn id="9" dur="450" fill="hold"/>
                                        <p:tgtEl>
                                          <p:spTgt spid="3"/>
                                        </p:tgtEl>
                                        <p:attrNameLst>
                                          <p:attrName>ppt_w</p:attrName>
                                        </p:attrNameLst>
                                      </p:cBhvr>
                                      <p:tavLst>
                                        <p:tav tm="0">
                                          <p:val>
                                            <p:strVal val="#ppt_w*2.4"/>
                                          </p:val>
                                        </p:tav>
                                        <p:tav tm="100000">
                                          <p:val>
                                            <p:strVal val="#ppt_w"/>
                                          </p:val>
                                        </p:tav>
                                      </p:tavLst>
                                    </p:anim>
                                    <p:anim calcmode="lin" valueType="num">
                                      <p:cBhvr additive="base">
                                        <p:cTn id="10" dur="450" fill="hold"/>
                                        <p:tgtEl>
                                          <p:spTgt spid="3"/>
                                        </p:tgtEl>
                                        <p:attrNameLst>
                                          <p:attrName>ppt_h</p:attrName>
                                        </p:attrNameLst>
                                      </p:cBhvr>
                                      <p:tavLst>
                                        <p:tav tm="0">
                                          <p:val>
                                            <p:strVal val="#ppt_h*2.4"/>
                                          </p:val>
                                        </p:tav>
                                        <p:tav tm="100000">
                                          <p:val>
                                            <p:strVal val="#ppt_h"/>
                                          </p:val>
                                        </p:tav>
                                      </p:tavLst>
                                    </p:anim>
                                    <p:animEffect transition="in" filter="fade">
                                      <p:cBhvr>
                                        <p:cTn id="11" dur="450"/>
                                        <p:tgtEl>
                                          <p:spTgt spid="3"/>
                                        </p:tgtEl>
                                      </p:cBhvr>
                                    </p:animEffect>
                                  </p:childTnLst>
                                </p:cTn>
                              </p:par>
                              <p:par>
                                <p:cTn id="17" presetID="53" presetClass="entr" presetSubtype="32" fill="hold" grpId="0" nodeType="withEffect">
                                  <p:stCondLst>
                                    <p:cond delay="0"/>
                                  </p:stCondLst>
                                  <p:childTnLst>
                                    <p:set>
                                      <p:cBhvr>
                                        <p:cTn id="13" dur="1" fill="hold">
                                          <p:stCondLst>
                                            <p:cond delay="0"/>
                                          </p:stCondLst>
                                        </p:cTn>
                                        <p:tgtEl>
                                          <p:spTgt spid="4"/>
                                        </p:tgtEl>
                                        <p:attrNameLst>
                                          <p:attrName>style.visibility</p:attrName>
                                        </p:attrNameLst>
                                      </p:cBhvr>
                                      <p:to>
                                        <p:strVal val="visible"/>
                                      </p:to>
                                    </p:set>
                                    <p:anim calcmode="lin" valueType="num">
                                      <p:cBhvr additive="base">
                                        <p:cTn id="14" dur="450" fill="hold"/>
                                        <p:tgtEl>
                                          <p:spTgt spid="4"/>
                                        </p:tgtEl>
                                        <p:attrNameLst>
                                          <p:attrName>ppt_w</p:attrName>
                                        </p:attrNameLst>
                                      </p:cBhvr>
                                      <p:tavLst>
                                        <p:tav tm="0">
                                          <p:val>
                                            <p:strVal val="#ppt_w*2.4"/>
                                          </p:val>
                                        </p:tav>
                                        <p:tav tm="100000">
                                          <p:val>
                                            <p:strVal val="#ppt_w"/>
                                          </p:val>
                                        </p:tav>
                                      </p:tavLst>
                                    </p:anim>
                                    <p:anim calcmode="lin" valueType="num">
                                      <p:cBhvr additive="base">
                                        <p:cTn id="15" dur="450" fill="hold"/>
                                        <p:tgtEl>
                                          <p:spTgt spid="4"/>
                                        </p:tgtEl>
                                        <p:attrNameLst>
                                          <p:attrName>ppt_h</p:attrName>
                                        </p:attrNameLst>
                                      </p:cBhvr>
                                      <p:tavLst>
                                        <p:tav tm="0">
                                          <p:val>
                                            <p:strVal val="#ppt_h*2.4"/>
                                          </p:val>
                                        </p:tav>
                                        <p:tav tm="100000">
                                          <p:val>
                                            <p:strVal val="#ppt_h"/>
                                          </p:val>
                                        </p:tav>
                                      </p:tavLst>
                                    </p:anim>
                                    <p:animEffect transition="in" filter="fade">
                                      <p:cBhvr>
                                        <p:cTn id="16" dur="450"/>
                                        <p:tgtEl>
                                          <p:spTgt spid="4"/>
                                        </p:tgtEl>
                                      </p:cBhvr>
                                    </p:animEffect>
                                  </p:childTnLst>
                                </p:cTn>
                              </p:par>
                              <p:par>
                                <p:cTn id="22" presetID="42" presetClass="entr" presetSubtype="0" fill="hold" grpId="0" nodeType="withEffect">
                                  <p:stCondLst>
                                    <p:cond delay="40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700"/>
                                        <p:tgtEl>
                                          <p:spTgt spid="6"/>
                                        </p:tgtEl>
                                      </p:cBhvr>
                                    </p:animEffect>
                                    <p:anim calcmode="lin" valueType="num">
                                      <p:cBhvr additive="base">
                                        <p:cTn id="20" dur="700" fill="hold"/>
                                        <p:tgtEl>
                                          <p:spTgt spid="6"/>
                                        </p:tgtEl>
                                        <p:attrNameLst>
                                          <p:attrName>ppt_x</p:attrName>
                                        </p:attrNameLst>
                                      </p:cBhvr>
                                      <p:tavLst>
                                        <p:tav tm="0">
                                          <p:val>
                                            <p:strVal val="#ppt_x"/>
                                          </p:val>
                                        </p:tav>
                                        <p:tav tm="100000">
                                          <p:val>
                                            <p:strVal val="#ppt_x"/>
                                          </p:val>
                                        </p:tav>
                                      </p:tavLst>
                                    </p:anim>
                                    <p:anim calcmode="lin" valueType="num">
                                      <p:cBhvr additive="base">
                                        <p:cTn id="21" dur="700" fill="hold"/>
                                        <p:tgtEl>
                                          <p:spTgt spid="6"/>
                                        </p:tgtEl>
                                        <p:attrNameLst>
                                          <p:attrName>ppt_y</p:attrName>
                                        </p:attrNameLst>
                                      </p:cBhvr>
                                      <p:tavLst>
                                        <p:tav tm="0">
                                          <p:val>
                                            <p:strVal val="#ppt_y+.06"/>
                                          </p:val>
                                        </p:tav>
                                        <p:tav tm="100000">
                                          <p:val>
                                            <p:strVal val="#ppt_y"/>
                                          </p:val>
                                        </p:tav>
                                      </p:tavLst>
                                    </p:anim>
                                  </p:childTnLst>
                                </p:cTn>
                              </p:par>
                              <p:par>
                                <p:cTn id="24" presetID="1" presetClass="entr" presetSubtype="0" fill="hold" grpId="0" nodeType="withEffect">
                                  <p:stCondLst>
                                    <p:cond delay="500"/>
                                  </p:stCondLst>
                                  <p:iterate type="lt">
                                    <p:tmAbs val="30"/>
                                  </p:iterate>
                                  <p:childTnLst>
                                    <p:set>
                                      <p:cBhvr>
                                        <p:cTn id="23" dur="1" fill="hold">
                                          <p:stCondLst>
                                            <p:cond delay="0"/>
                                          </p:stCondLst>
                                        </p:cTn>
                                        <p:tgtEl>
                                          <p:spTgt spid="5"/>
                                        </p:tgtEl>
                                        <p:attrNameLst>
                                          <p:attrName>style.visibility</p:attrName>
                                        </p:attrNameLst>
                                      </p:cBhvr>
                                      <p:to>
                                        <p:strVal val="visible"/>
                                      </p:to>
                                    </p:set>
                                  </p:childTnLst>
                                </p:cTn>
                              </p:par>
                              <p:par>
                                <p:cTn id="26" presetID="6" presetClass="emph" presetSubtype="0" fill="hold" grpId="1" nodeType="withEffect" autoRev="1" repeatCount="indefinite">
                                  <p:stCondLst>
                                    <p:cond delay="900"/>
                                  </p:stCondLst>
                                  <p:childTnLst>
                                    <p:animScale>
                                      <p:cBhvr>
                                        <p:cTn id="25" dur="800" fill="hold"/>
                                        <p:tgtEl>
                                          <p:spTgt spid="2"/>
                                        </p:tgtEl>
                                      </p:cBhvr>
                                      <p:by x="106000" y="106000"/>
                                    </p:animScale>
                                  </p:childTnLst>
                                </p:cTn>
                              </p:par>
                              <p:par>
                                <p:cTn id="29" presetID="10" presetClass="entr" presetSubtype="0" fill="hold" grpId="0" nodeType="withEffect">
                                  <p:stCondLst>
                                    <p:cond delay="900"/>
                                  </p:stCondLst>
                                  <p:childTnLst>
                                    <p:set>
                                      <p:cBhvr>
                                        <p:cTn id="27" dur="1" fill="hold">
                                          <p:stCondLst>
                                            <p:cond delay="0"/>
                                          </p:stCondLst>
                                        </p:cTn>
                                        <p:tgtEl>
                                          <p:spTgt spid="7"/>
                                        </p:tgtEl>
                                        <p:attrNameLst>
                                          <p:attrName>style.visibility</p:attrName>
                                        </p:attrNameLst>
                                      </p:cBhvr>
                                      <p:to>
                                        <p:strVal val="visible"/>
                                      </p:to>
                                    </p:set>
                                    <p:animEffect transition="in" filter="fade">
                                      <p:cBhvr>
                                        <p:cTn id="28" dur="600"/>
                                        <p:tgtEl>
                                          <p:spTgt spid="7"/>
                                        </p:tgtEl>
                                      </p:cBhvr>
                                    </p:animEffect>
                                  </p:childTnLst>
                                </p:cTn>
                              </p:par>
                              <p:par>
                                <p:cTn id="34" presetID="42" presetClass="entr" presetSubtype="0" fill="hold" grpId="0" nodeType="withEffect">
                                  <p:stCondLst>
                                    <p:cond delay="1300"/>
                                  </p:stCondLst>
                                  <p:childTnLst>
                                    <p:set>
                                      <p:cBhvr>
                                        <p:cTn id="30" dur="1" fill="hold">
                                          <p:stCondLst>
                                            <p:cond delay="0"/>
                                          </p:stCondLst>
                                        </p:cTn>
                                        <p:tgtEl>
                                          <p:spTgt spid="8"/>
                                        </p:tgtEl>
                                        <p:attrNameLst>
                                          <p:attrName>style.visibility</p:attrName>
                                        </p:attrNameLst>
                                      </p:cBhvr>
                                      <p:to>
                                        <p:strVal val="visible"/>
                                      </p:to>
                                    </p:set>
                                    <p:animEffect transition="in" filter="fade">
                                      <p:cBhvr>
                                        <p:cTn id="31" dur="700"/>
                                        <p:tgtEl>
                                          <p:spTgt spid="8"/>
                                        </p:tgtEl>
                                      </p:cBhvr>
                                    </p:animEffect>
                                    <p:anim calcmode="lin" valueType="num">
                                      <p:cBhvr additive="base">
                                        <p:cTn id="32" dur="700" fill="hold"/>
                                        <p:tgtEl>
                                          <p:spTgt spid="8"/>
                                        </p:tgtEl>
                                        <p:attrNameLst>
                                          <p:attrName>ppt_x</p:attrName>
                                        </p:attrNameLst>
                                      </p:cBhvr>
                                      <p:tavLst>
                                        <p:tav tm="0">
                                          <p:val>
                                            <p:strVal val="#ppt_x"/>
                                          </p:val>
                                        </p:tav>
                                        <p:tav tm="100000">
                                          <p:val>
                                            <p:strVal val="#ppt_x"/>
                                          </p:val>
                                        </p:tav>
                                      </p:tavLst>
                                    </p:anim>
                                    <p:anim calcmode="lin" valueType="num">
                                      <p:cBhvr additive="base">
                                        <p:cTn id="33" dur="700" fill="hold"/>
                                        <p:tgtEl>
                                          <p:spTgt spid="8"/>
                                        </p:tgtEl>
                                        <p:attrNameLst>
                                          <p:attrName>ppt_y</p:attrName>
                                        </p:attrNameLst>
                                      </p:cBhvr>
                                      <p:tavLst>
                                        <p:tav tm="0">
                                          <p:val>
                                            <p:strVal val="#ppt_y+.06"/>
                                          </p:val>
                                        </p:tav>
                                        <p:tav tm="100000">
                                          <p:val>
                                            <p:strVal val="#ppt_y"/>
                                          </p:val>
                                        </p:tav>
                                      </p:tavLst>
                                    </p:anim>
                                  </p:childTnLst>
                                </p:cTn>
                              </p:par>
                              <p:par>
                                <p:cTn id="39" presetID="53" presetClass="entr" presetSubtype="32" fill="hold" grpId="0" nodeType="withEffect">
                                  <p:stCondLst>
                                    <p:cond delay="1500"/>
                                  </p:stCondLst>
                                  <p:childTnLst>
                                    <p:set>
                                      <p:cBhvr>
                                        <p:cTn id="35" dur="1" fill="hold">
                                          <p:stCondLst>
                                            <p:cond delay="0"/>
                                          </p:stCondLst>
                                        </p:cTn>
                                        <p:tgtEl>
                                          <p:spTgt spid="9"/>
                                        </p:tgtEl>
                                        <p:attrNameLst>
                                          <p:attrName>style.visibility</p:attrName>
                                        </p:attrNameLst>
                                      </p:cBhvr>
                                      <p:to>
                                        <p:strVal val="visible"/>
                                      </p:to>
                                    </p:set>
                                    <p:anim calcmode="lin" valueType="num">
                                      <p:cBhvr additive="base">
                                        <p:cTn id="36" dur="450" fill="hold"/>
                                        <p:tgtEl>
                                          <p:spTgt spid="9"/>
                                        </p:tgtEl>
                                        <p:attrNameLst>
                                          <p:attrName>ppt_w</p:attrName>
                                        </p:attrNameLst>
                                      </p:cBhvr>
                                      <p:tavLst>
                                        <p:tav tm="0">
                                          <p:val>
                                            <p:strVal val="#ppt_w*2.4"/>
                                          </p:val>
                                        </p:tav>
                                        <p:tav tm="100000">
                                          <p:val>
                                            <p:strVal val="#ppt_w"/>
                                          </p:val>
                                        </p:tav>
                                      </p:tavLst>
                                    </p:anim>
                                    <p:anim calcmode="lin" valueType="num">
                                      <p:cBhvr additive="base">
                                        <p:cTn id="37" dur="450" fill="hold"/>
                                        <p:tgtEl>
                                          <p:spTgt spid="9"/>
                                        </p:tgtEl>
                                        <p:attrNameLst>
                                          <p:attrName>ppt_h</p:attrName>
                                        </p:attrNameLst>
                                      </p:cBhvr>
                                      <p:tavLst>
                                        <p:tav tm="0">
                                          <p:val>
                                            <p:strVal val="#ppt_h*2.4"/>
                                          </p:val>
                                        </p:tav>
                                        <p:tav tm="100000">
                                          <p:val>
                                            <p:strVal val="#ppt_h"/>
                                          </p:val>
                                        </p:tav>
                                      </p:tavLst>
                                    </p:anim>
                                    <p:animEffect transition="in" filter="fade">
                                      <p:cBhvr>
                                        <p:cTn id="38" dur="450"/>
                                        <p:tgtEl>
                                          <p:spTgt spid="9"/>
                                        </p:tgtEl>
                                      </p:cBhvr>
                                    </p:animEffect>
                                  </p:childTnLst>
                                </p:cTn>
                              </p:par>
                              <p:par>
                                <p:cTn id="44" presetID="42" presetClass="entr" presetSubtype="0" fill="hold" grpId="0" nodeType="withEffect">
                                  <p:stCondLst>
                                    <p:cond delay="1600"/>
                                  </p:stCondLst>
                                  <p:childTnLst>
                                    <p:set>
                                      <p:cBhvr>
                                        <p:cTn id="40" dur="1" fill="hold">
                                          <p:stCondLst>
                                            <p:cond delay="0"/>
                                          </p:stCondLst>
                                        </p:cTn>
                                        <p:tgtEl>
                                          <p:spTgt spid="10"/>
                                        </p:tgtEl>
                                        <p:attrNameLst>
                                          <p:attrName>style.visibility</p:attrName>
                                        </p:attrNameLst>
                                      </p:cBhvr>
                                      <p:to>
                                        <p:strVal val="visible"/>
                                      </p:to>
                                    </p:set>
                                    <p:animEffect transition="in" filter="fade">
                                      <p:cBhvr>
                                        <p:cTn id="41" dur="600"/>
                                        <p:tgtEl>
                                          <p:spTgt spid="10"/>
                                        </p:tgtEl>
                                      </p:cBhvr>
                                    </p:animEffect>
                                    <p:anim calcmode="lin" valueType="num">
                                      <p:cBhvr additive="base">
                                        <p:cTn id="42" dur="600" fill="hold"/>
                                        <p:tgtEl>
                                          <p:spTgt spid="10"/>
                                        </p:tgtEl>
                                        <p:attrNameLst>
                                          <p:attrName>ppt_x</p:attrName>
                                        </p:attrNameLst>
                                      </p:cBhvr>
                                      <p:tavLst>
                                        <p:tav tm="0">
                                          <p:val>
                                            <p:strVal val="#ppt_x"/>
                                          </p:val>
                                        </p:tav>
                                        <p:tav tm="100000">
                                          <p:val>
                                            <p:strVal val="#ppt_x"/>
                                          </p:val>
                                        </p:tav>
                                      </p:tavLst>
                                    </p:anim>
                                    <p:anim calcmode="lin" valueType="num">
                                      <p:cBhvr additive="base">
                                        <p:cTn id="43" dur="600" fill="hold"/>
                                        <p:tgtEl>
                                          <p:spTgt spid="10"/>
                                        </p:tgtEl>
                                        <p:attrNameLst>
                                          <p:attrName>ppt_y</p:attrName>
                                        </p:attrNameLst>
                                      </p:cBhvr>
                                      <p:tavLst>
                                        <p:tav tm="0">
                                          <p:val>
                                            <p:strVal val="#ppt_y+.06"/>
                                          </p:val>
                                        </p:tav>
                                        <p:tav tm="100000">
                                          <p:val>
                                            <p:strVal val="#ppt_y"/>
                                          </p:val>
                                        </p:tav>
                                      </p:tavLst>
                                    </p:anim>
                                  </p:childTnLst>
                                </p:cTn>
                              </p:par>
                              <p:par>
                                <p:cTn id="49" presetID="42" presetClass="entr" presetSubtype="0" fill="hold" grpId="0" nodeType="withEffect">
                                  <p:stCondLst>
                                    <p:cond delay="1600"/>
                                  </p:stCondLst>
                                  <p:childTnLst>
                                    <p:set>
                                      <p:cBhvr>
                                        <p:cTn id="45" dur="1" fill="hold">
                                          <p:stCondLst>
                                            <p:cond delay="0"/>
                                          </p:stCondLst>
                                        </p:cTn>
                                        <p:tgtEl>
                                          <p:spTgt spid="11"/>
                                        </p:tgtEl>
                                        <p:attrNameLst>
                                          <p:attrName>style.visibility</p:attrName>
                                        </p:attrNameLst>
                                      </p:cBhvr>
                                      <p:to>
                                        <p:strVal val="visible"/>
                                      </p:to>
                                    </p:set>
                                    <p:animEffect transition="in" filter="fade">
                                      <p:cBhvr>
                                        <p:cTn id="46" dur="600"/>
                                        <p:tgtEl>
                                          <p:spTgt spid="11"/>
                                        </p:tgtEl>
                                      </p:cBhvr>
                                    </p:animEffect>
                                    <p:anim calcmode="lin" valueType="num">
                                      <p:cBhvr additive="base">
                                        <p:cTn id="47" dur="600" fill="hold"/>
                                        <p:tgtEl>
                                          <p:spTgt spid="11"/>
                                        </p:tgtEl>
                                        <p:attrNameLst>
                                          <p:attrName>ppt_x</p:attrName>
                                        </p:attrNameLst>
                                      </p:cBhvr>
                                      <p:tavLst>
                                        <p:tav tm="0">
                                          <p:val>
                                            <p:strVal val="#ppt_x"/>
                                          </p:val>
                                        </p:tav>
                                        <p:tav tm="100000">
                                          <p:val>
                                            <p:strVal val="#ppt_x"/>
                                          </p:val>
                                        </p:tav>
                                      </p:tavLst>
                                    </p:anim>
                                    <p:anim calcmode="lin" valueType="num">
                                      <p:cBhvr additive="base">
                                        <p:cTn id="48" dur="600" fill="hold"/>
                                        <p:tgtEl>
                                          <p:spTgt spid="11"/>
                                        </p:tgtEl>
                                        <p:attrNameLst>
                                          <p:attrName>ppt_y</p:attrName>
                                        </p:attrNameLst>
                                      </p:cBhvr>
                                      <p:tavLst>
                                        <p:tav tm="0">
                                          <p:val>
                                            <p:strVal val="#ppt_y+.06"/>
                                          </p:val>
                                        </p:tav>
                                        <p:tav tm="100000">
                                          <p:val>
                                            <p:strVal val="#ppt_y"/>
                                          </p:val>
                                        </p:tav>
                                      </p:tavLst>
                                    </p:anim>
                                  </p:childTnLst>
                                </p:cTn>
                              </p:par>
                              <p:par>
                                <p:cTn id="54" presetID="42" presetClass="entr" presetSubtype="0" fill="hold" grpId="0" nodeType="withEffect">
                                  <p:stCondLst>
                                    <p:cond delay="1900"/>
                                  </p:stCondLst>
                                  <p:childTnLst>
                                    <p:set>
                                      <p:cBhvr>
                                        <p:cTn id="50" dur="1" fill="hold">
                                          <p:stCondLst>
                                            <p:cond delay="0"/>
                                          </p:stCondLst>
                                        </p:cTn>
                                        <p:tgtEl>
                                          <p:spTgt spid="12"/>
                                        </p:tgtEl>
                                        <p:attrNameLst>
                                          <p:attrName>style.visibility</p:attrName>
                                        </p:attrNameLst>
                                      </p:cBhvr>
                                      <p:to>
                                        <p:strVal val="visible"/>
                                      </p:to>
                                    </p:set>
                                    <p:animEffect transition="in" filter="fade">
                                      <p:cBhvr>
                                        <p:cTn id="51" dur="700"/>
                                        <p:tgtEl>
                                          <p:spTgt spid="12"/>
                                        </p:tgtEl>
                                      </p:cBhvr>
                                    </p:animEffect>
                                    <p:anim calcmode="lin" valueType="num">
                                      <p:cBhvr additive="base">
                                        <p:cTn id="52" dur="700" fill="hold"/>
                                        <p:tgtEl>
                                          <p:spTgt spid="12"/>
                                        </p:tgtEl>
                                        <p:attrNameLst>
                                          <p:attrName>ppt_x</p:attrName>
                                        </p:attrNameLst>
                                      </p:cBhvr>
                                      <p:tavLst>
                                        <p:tav tm="0">
                                          <p:val>
                                            <p:strVal val="#ppt_x"/>
                                          </p:val>
                                        </p:tav>
                                        <p:tav tm="100000">
                                          <p:val>
                                            <p:strVal val="#ppt_x"/>
                                          </p:val>
                                        </p:tav>
                                      </p:tavLst>
                                    </p:anim>
                                    <p:anim calcmode="lin" valueType="num">
                                      <p:cBhvr additive="base">
                                        <p:cTn id="53" dur="700" fill="hold"/>
                                        <p:tgtEl>
                                          <p:spTgt spid="12"/>
                                        </p:tgtEl>
                                        <p:attrNameLst>
                                          <p:attrName>ppt_y</p:attrName>
                                        </p:attrNameLst>
                                      </p:cBhvr>
                                      <p:tavLst>
                                        <p:tav tm="0">
                                          <p:val>
                                            <p:strVal val="#ppt_y+.06"/>
                                          </p:val>
                                        </p:tav>
                                        <p:tav tm="100000">
                                          <p:val>
                                            <p:strVal val="#ppt_y"/>
                                          </p:val>
                                        </p:tav>
                                      </p:tavLst>
                                    </p:anim>
                                  </p:childTnLst>
                                </p:cTn>
                              </p:par>
                              <p:par>
                                <p:cTn id="59" presetID="53" presetClass="entr" presetSubtype="32" fill="hold" grpId="0" nodeType="withEffect">
                                  <p:stCondLst>
                                    <p:cond delay="2100"/>
                                  </p:stCondLst>
                                  <p:childTnLst>
                                    <p:set>
                                      <p:cBhvr>
                                        <p:cTn id="55" dur="1" fill="hold">
                                          <p:stCondLst>
                                            <p:cond delay="0"/>
                                          </p:stCondLst>
                                        </p:cTn>
                                        <p:tgtEl>
                                          <p:spTgt spid="13"/>
                                        </p:tgtEl>
                                        <p:attrNameLst>
                                          <p:attrName>style.visibility</p:attrName>
                                        </p:attrNameLst>
                                      </p:cBhvr>
                                      <p:to>
                                        <p:strVal val="visible"/>
                                      </p:to>
                                    </p:set>
                                    <p:anim calcmode="lin" valueType="num">
                                      <p:cBhvr additive="base">
                                        <p:cTn id="56" dur="450" fill="hold"/>
                                        <p:tgtEl>
                                          <p:spTgt spid="13"/>
                                        </p:tgtEl>
                                        <p:attrNameLst>
                                          <p:attrName>ppt_w</p:attrName>
                                        </p:attrNameLst>
                                      </p:cBhvr>
                                      <p:tavLst>
                                        <p:tav tm="0">
                                          <p:val>
                                            <p:strVal val="#ppt_w*2.4"/>
                                          </p:val>
                                        </p:tav>
                                        <p:tav tm="100000">
                                          <p:val>
                                            <p:strVal val="#ppt_w"/>
                                          </p:val>
                                        </p:tav>
                                      </p:tavLst>
                                    </p:anim>
                                    <p:anim calcmode="lin" valueType="num">
                                      <p:cBhvr additive="base">
                                        <p:cTn id="57" dur="450" fill="hold"/>
                                        <p:tgtEl>
                                          <p:spTgt spid="13"/>
                                        </p:tgtEl>
                                        <p:attrNameLst>
                                          <p:attrName>ppt_h</p:attrName>
                                        </p:attrNameLst>
                                      </p:cBhvr>
                                      <p:tavLst>
                                        <p:tav tm="0">
                                          <p:val>
                                            <p:strVal val="#ppt_h*2.4"/>
                                          </p:val>
                                        </p:tav>
                                        <p:tav tm="100000">
                                          <p:val>
                                            <p:strVal val="#ppt_h"/>
                                          </p:val>
                                        </p:tav>
                                      </p:tavLst>
                                    </p:anim>
                                    <p:animEffect transition="in" filter="fade">
                                      <p:cBhvr>
                                        <p:cTn id="58" dur="450"/>
                                        <p:tgtEl>
                                          <p:spTgt spid="13"/>
                                        </p:tgtEl>
                                      </p:cBhvr>
                                    </p:animEffect>
                                  </p:childTnLst>
                                </p:cTn>
                              </p:par>
                              <p:par>
                                <p:cTn id="64" presetID="42" presetClass="entr" presetSubtype="0" fill="hold" grpId="0" nodeType="withEffect">
                                  <p:stCondLst>
                                    <p:cond delay="2200"/>
                                  </p:stCondLst>
                                  <p:childTnLst>
                                    <p:set>
                                      <p:cBhvr>
                                        <p:cTn id="60" dur="1" fill="hold">
                                          <p:stCondLst>
                                            <p:cond delay="0"/>
                                          </p:stCondLst>
                                        </p:cTn>
                                        <p:tgtEl>
                                          <p:spTgt spid="14"/>
                                        </p:tgtEl>
                                        <p:attrNameLst>
                                          <p:attrName>style.visibility</p:attrName>
                                        </p:attrNameLst>
                                      </p:cBhvr>
                                      <p:to>
                                        <p:strVal val="visible"/>
                                      </p:to>
                                    </p:set>
                                    <p:animEffect transition="in" filter="fade">
                                      <p:cBhvr>
                                        <p:cTn id="61" dur="600"/>
                                        <p:tgtEl>
                                          <p:spTgt spid="14"/>
                                        </p:tgtEl>
                                      </p:cBhvr>
                                    </p:animEffect>
                                    <p:anim calcmode="lin" valueType="num">
                                      <p:cBhvr additive="base">
                                        <p:cTn id="62" dur="600" fill="hold"/>
                                        <p:tgtEl>
                                          <p:spTgt spid="14"/>
                                        </p:tgtEl>
                                        <p:attrNameLst>
                                          <p:attrName>ppt_x</p:attrName>
                                        </p:attrNameLst>
                                      </p:cBhvr>
                                      <p:tavLst>
                                        <p:tav tm="0">
                                          <p:val>
                                            <p:strVal val="#ppt_x"/>
                                          </p:val>
                                        </p:tav>
                                        <p:tav tm="100000">
                                          <p:val>
                                            <p:strVal val="#ppt_x"/>
                                          </p:val>
                                        </p:tav>
                                      </p:tavLst>
                                    </p:anim>
                                    <p:anim calcmode="lin" valueType="num">
                                      <p:cBhvr additive="base">
                                        <p:cTn id="63" dur="600" fill="hold"/>
                                        <p:tgtEl>
                                          <p:spTgt spid="14"/>
                                        </p:tgtEl>
                                        <p:attrNameLst>
                                          <p:attrName>ppt_y</p:attrName>
                                        </p:attrNameLst>
                                      </p:cBhvr>
                                      <p:tavLst>
                                        <p:tav tm="0">
                                          <p:val>
                                            <p:strVal val="#ppt_y+.06"/>
                                          </p:val>
                                        </p:tav>
                                        <p:tav tm="100000">
                                          <p:val>
                                            <p:strVal val="#ppt_y"/>
                                          </p:val>
                                        </p:tav>
                                      </p:tavLst>
                                    </p:anim>
                                  </p:childTnLst>
                                </p:cTn>
                              </p:par>
                              <p:par>
                                <p:cTn id="69" presetID="42" presetClass="entr" presetSubtype="0" fill="hold" grpId="0" nodeType="withEffect">
                                  <p:stCondLst>
                                    <p:cond delay="2200"/>
                                  </p:stCondLst>
                                  <p:childTnLst>
                                    <p:set>
                                      <p:cBhvr>
                                        <p:cTn id="65" dur="1" fill="hold">
                                          <p:stCondLst>
                                            <p:cond delay="0"/>
                                          </p:stCondLst>
                                        </p:cTn>
                                        <p:tgtEl>
                                          <p:spTgt spid="15"/>
                                        </p:tgtEl>
                                        <p:attrNameLst>
                                          <p:attrName>style.visibility</p:attrName>
                                        </p:attrNameLst>
                                      </p:cBhvr>
                                      <p:to>
                                        <p:strVal val="visible"/>
                                      </p:to>
                                    </p:set>
                                    <p:animEffect transition="in" filter="fade">
                                      <p:cBhvr>
                                        <p:cTn id="66" dur="600"/>
                                        <p:tgtEl>
                                          <p:spTgt spid="15"/>
                                        </p:tgtEl>
                                      </p:cBhvr>
                                    </p:animEffect>
                                    <p:anim calcmode="lin" valueType="num">
                                      <p:cBhvr additive="base">
                                        <p:cTn id="67" dur="600" fill="hold"/>
                                        <p:tgtEl>
                                          <p:spTgt spid="15"/>
                                        </p:tgtEl>
                                        <p:attrNameLst>
                                          <p:attrName>ppt_x</p:attrName>
                                        </p:attrNameLst>
                                      </p:cBhvr>
                                      <p:tavLst>
                                        <p:tav tm="0">
                                          <p:val>
                                            <p:strVal val="#ppt_x"/>
                                          </p:val>
                                        </p:tav>
                                        <p:tav tm="100000">
                                          <p:val>
                                            <p:strVal val="#ppt_x"/>
                                          </p:val>
                                        </p:tav>
                                      </p:tavLst>
                                    </p:anim>
                                    <p:anim calcmode="lin" valueType="num">
                                      <p:cBhvr additive="base">
                                        <p:cTn id="68" dur="600" fill="hold"/>
                                        <p:tgtEl>
                                          <p:spTgt spid="15"/>
                                        </p:tgtEl>
                                        <p:attrNameLst>
                                          <p:attrName>ppt_y</p:attrName>
                                        </p:attrNameLst>
                                      </p:cBhvr>
                                      <p:tavLst>
                                        <p:tav tm="0">
                                          <p:val>
                                            <p:strVal val="#ppt_y+.06"/>
                                          </p:val>
                                        </p:tav>
                                        <p:tav tm="100000">
                                          <p:val>
                                            <p:strVal val="#ppt_y"/>
                                          </p:val>
                                        </p:tav>
                                      </p:tavLst>
                                    </p:anim>
                                  </p:childTnLst>
                                </p:cTn>
                              </p:par>
                              <p:par>
                                <p:cTn id="74" presetID="42" presetClass="entr" presetSubtype="0" fill="hold" grpId="0" nodeType="withEffect">
                                  <p:stCondLst>
                                    <p:cond delay="2500"/>
                                  </p:stCondLst>
                                  <p:childTnLst>
                                    <p:set>
                                      <p:cBhvr>
                                        <p:cTn id="70" dur="1" fill="hold">
                                          <p:stCondLst>
                                            <p:cond delay="0"/>
                                          </p:stCondLst>
                                        </p:cTn>
                                        <p:tgtEl>
                                          <p:spTgt spid="16"/>
                                        </p:tgtEl>
                                        <p:attrNameLst>
                                          <p:attrName>style.visibility</p:attrName>
                                        </p:attrNameLst>
                                      </p:cBhvr>
                                      <p:to>
                                        <p:strVal val="visible"/>
                                      </p:to>
                                    </p:set>
                                    <p:animEffect transition="in" filter="fade">
                                      <p:cBhvr>
                                        <p:cTn id="71" dur="700"/>
                                        <p:tgtEl>
                                          <p:spTgt spid="16"/>
                                        </p:tgtEl>
                                      </p:cBhvr>
                                    </p:animEffect>
                                    <p:anim calcmode="lin" valueType="num">
                                      <p:cBhvr additive="base">
                                        <p:cTn id="72" dur="700" fill="hold"/>
                                        <p:tgtEl>
                                          <p:spTgt spid="16"/>
                                        </p:tgtEl>
                                        <p:attrNameLst>
                                          <p:attrName>ppt_x</p:attrName>
                                        </p:attrNameLst>
                                      </p:cBhvr>
                                      <p:tavLst>
                                        <p:tav tm="0">
                                          <p:val>
                                            <p:strVal val="#ppt_x"/>
                                          </p:val>
                                        </p:tav>
                                        <p:tav tm="100000">
                                          <p:val>
                                            <p:strVal val="#ppt_x"/>
                                          </p:val>
                                        </p:tav>
                                      </p:tavLst>
                                    </p:anim>
                                    <p:anim calcmode="lin" valueType="num">
                                      <p:cBhvr additive="base">
                                        <p:cTn id="73" dur="700" fill="hold"/>
                                        <p:tgtEl>
                                          <p:spTgt spid="16"/>
                                        </p:tgtEl>
                                        <p:attrNameLst>
                                          <p:attrName>ppt_y</p:attrName>
                                        </p:attrNameLst>
                                      </p:cBhvr>
                                      <p:tavLst>
                                        <p:tav tm="0">
                                          <p:val>
                                            <p:strVal val="#ppt_y+.06"/>
                                          </p:val>
                                        </p:tav>
                                        <p:tav tm="100000">
                                          <p:val>
                                            <p:strVal val="#ppt_y"/>
                                          </p:val>
                                        </p:tav>
                                      </p:tavLst>
                                    </p:anim>
                                  </p:childTnLst>
                                </p:cTn>
                              </p:par>
                              <p:par>
                                <p:cTn id="79" presetID="53" presetClass="entr" presetSubtype="32" fill="hold" grpId="0" nodeType="withEffect">
                                  <p:stCondLst>
                                    <p:cond delay="2700"/>
                                  </p:stCondLst>
                                  <p:childTnLst>
                                    <p:set>
                                      <p:cBhvr>
                                        <p:cTn id="75" dur="1" fill="hold">
                                          <p:stCondLst>
                                            <p:cond delay="0"/>
                                          </p:stCondLst>
                                        </p:cTn>
                                        <p:tgtEl>
                                          <p:spTgt spid="17"/>
                                        </p:tgtEl>
                                        <p:attrNameLst>
                                          <p:attrName>style.visibility</p:attrName>
                                        </p:attrNameLst>
                                      </p:cBhvr>
                                      <p:to>
                                        <p:strVal val="visible"/>
                                      </p:to>
                                    </p:set>
                                    <p:anim calcmode="lin" valueType="num">
                                      <p:cBhvr additive="base">
                                        <p:cTn id="76" dur="450" fill="hold"/>
                                        <p:tgtEl>
                                          <p:spTgt spid="17"/>
                                        </p:tgtEl>
                                        <p:attrNameLst>
                                          <p:attrName>ppt_w</p:attrName>
                                        </p:attrNameLst>
                                      </p:cBhvr>
                                      <p:tavLst>
                                        <p:tav tm="0">
                                          <p:val>
                                            <p:strVal val="#ppt_w*2.4"/>
                                          </p:val>
                                        </p:tav>
                                        <p:tav tm="100000">
                                          <p:val>
                                            <p:strVal val="#ppt_w"/>
                                          </p:val>
                                        </p:tav>
                                      </p:tavLst>
                                    </p:anim>
                                    <p:anim calcmode="lin" valueType="num">
                                      <p:cBhvr additive="base">
                                        <p:cTn id="77" dur="450" fill="hold"/>
                                        <p:tgtEl>
                                          <p:spTgt spid="17"/>
                                        </p:tgtEl>
                                        <p:attrNameLst>
                                          <p:attrName>ppt_h</p:attrName>
                                        </p:attrNameLst>
                                      </p:cBhvr>
                                      <p:tavLst>
                                        <p:tav tm="0">
                                          <p:val>
                                            <p:strVal val="#ppt_h*2.4"/>
                                          </p:val>
                                        </p:tav>
                                        <p:tav tm="100000">
                                          <p:val>
                                            <p:strVal val="#ppt_h"/>
                                          </p:val>
                                        </p:tav>
                                      </p:tavLst>
                                    </p:anim>
                                    <p:animEffect transition="in" filter="fade">
                                      <p:cBhvr>
                                        <p:cTn id="78" dur="450"/>
                                        <p:tgtEl>
                                          <p:spTgt spid="17"/>
                                        </p:tgtEl>
                                      </p:cBhvr>
                                    </p:animEffect>
                                  </p:childTnLst>
                                </p:cTn>
                              </p:par>
                              <p:par>
                                <p:cTn id="84" presetID="42" presetClass="entr" presetSubtype="0" fill="hold" grpId="0" nodeType="withEffect">
                                  <p:stCondLst>
                                    <p:cond delay="2800"/>
                                  </p:stCondLst>
                                  <p:childTnLst>
                                    <p:set>
                                      <p:cBhvr>
                                        <p:cTn id="80" dur="1" fill="hold">
                                          <p:stCondLst>
                                            <p:cond delay="0"/>
                                          </p:stCondLst>
                                        </p:cTn>
                                        <p:tgtEl>
                                          <p:spTgt spid="18"/>
                                        </p:tgtEl>
                                        <p:attrNameLst>
                                          <p:attrName>style.visibility</p:attrName>
                                        </p:attrNameLst>
                                      </p:cBhvr>
                                      <p:to>
                                        <p:strVal val="visible"/>
                                      </p:to>
                                    </p:set>
                                    <p:animEffect transition="in" filter="fade">
                                      <p:cBhvr>
                                        <p:cTn id="81" dur="600"/>
                                        <p:tgtEl>
                                          <p:spTgt spid="18"/>
                                        </p:tgtEl>
                                      </p:cBhvr>
                                    </p:animEffect>
                                    <p:anim calcmode="lin" valueType="num">
                                      <p:cBhvr additive="base">
                                        <p:cTn id="82" dur="600" fill="hold"/>
                                        <p:tgtEl>
                                          <p:spTgt spid="18"/>
                                        </p:tgtEl>
                                        <p:attrNameLst>
                                          <p:attrName>ppt_x</p:attrName>
                                        </p:attrNameLst>
                                      </p:cBhvr>
                                      <p:tavLst>
                                        <p:tav tm="0">
                                          <p:val>
                                            <p:strVal val="#ppt_x"/>
                                          </p:val>
                                        </p:tav>
                                        <p:tav tm="100000">
                                          <p:val>
                                            <p:strVal val="#ppt_x"/>
                                          </p:val>
                                        </p:tav>
                                      </p:tavLst>
                                    </p:anim>
                                    <p:anim calcmode="lin" valueType="num">
                                      <p:cBhvr additive="base">
                                        <p:cTn id="83" dur="600" fill="hold"/>
                                        <p:tgtEl>
                                          <p:spTgt spid="18"/>
                                        </p:tgtEl>
                                        <p:attrNameLst>
                                          <p:attrName>ppt_y</p:attrName>
                                        </p:attrNameLst>
                                      </p:cBhvr>
                                      <p:tavLst>
                                        <p:tav tm="0">
                                          <p:val>
                                            <p:strVal val="#ppt_y+.06"/>
                                          </p:val>
                                        </p:tav>
                                        <p:tav tm="100000">
                                          <p:val>
                                            <p:strVal val="#ppt_y"/>
                                          </p:val>
                                        </p:tav>
                                      </p:tavLst>
                                    </p:anim>
                                  </p:childTnLst>
                                </p:cTn>
                              </p:par>
                              <p:par>
                                <p:cTn id="89" presetID="42" presetClass="entr" presetSubtype="0" fill="hold" grpId="0" nodeType="withEffect">
                                  <p:stCondLst>
                                    <p:cond delay="2800"/>
                                  </p:stCondLst>
                                  <p:childTnLst>
                                    <p:set>
                                      <p:cBhvr>
                                        <p:cTn id="85" dur="1" fill="hold">
                                          <p:stCondLst>
                                            <p:cond delay="0"/>
                                          </p:stCondLst>
                                        </p:cTn>
                                        <p:tgtEl>
                                          <p:spTgt spid="19"/>
                                        </p:tgtEl>
                                        <p:attrNameLst>
                                          <p:attrName>style.visibility</p:attrName>
                                        </p:attrNameLst>
                                      </p:cBhvr>
                                      <p:to>
                                        <p:strVal val="visible"/>
                                      </p:to>
                                    </p:set>
                                    <p:animEffect transition="in" filter="fade">
                                      <p:cBhvr>
                                        <p:cTn id="86" dur="600"/>
                                        <p:tgtEl>
                                          <p:spTgt spid="19"/>
                                        </p:tgtEl>
                                      </p:cBhvr>
                                    </p:animEffect>
                                    <p:anim calcmode="lin" valueType="num">
                                      <p:cBhvr additive="base">
                                        <p:cTn id="87" dur="600" fill="hold"/>
                                        <p:tgtEl>
                                          <p:spTgt spid="19"/>
                                        </p:tgtEl>
                                        <p:attrNameLst>
                                          <p:attrName>ppt_x</p:attrName>
                                        </p:attrNameLst>
                                      </p:cBhvr>
                                      <p:tavLst>
                                        <p:tav tm="0">
                                          <p:val>
                                            <p:strVal val="#ppt_x"/>
                                          </p:val>
                                        </p:tav>
                                        <p:tav tm="100000">
                                          <p:val>
                                            <p:strVal val="#ppt_x"/>
                                          </p:val>
                                        </p:tav>
                                      </p:tavLst>
                                    </p:anim>
                                    <p:anim calcmode="lin" valueType="num">
                                      <p:cBhvr additive="base">
                                        <p:cTn id="88" dur="600" fill="hold"/>
                                        <p:tgtEl>
                                          <p:spTgt spid="19"/>
                                        </p:tgtEl>
                                        <p:attrNameLst>
                                          <p:attrName>ppt_y</p:attrName>
                                        </p:attrNameLst>
                                      </p:cBhvr>
                                      <p:tavLst>
                                        <p:tav tm="0">
                                          <p:val>
                                            <p:strVal val="#ppt_y+.06"/>
                                          </p:val>
                                        </p:tav>
                                        <p:tav tm="100000">
                                          <p:val>
                                            <p:strVal val="#ppt_y"/>
                                          </p:val>
                                        </p:tav>
                                      </p:tavLst>
                                    </p:anim>
                                  </p:childTnLst>
                                </p:cTn>
                              </p:par>
                              <p:par>
                                <p:cTn id="92" presetID="22" presetClass="entr" presetSubtype="8" fill="hold" grpId="0" nodeType="withEffect">
                                  <p:stCondLst>
                                    <p:cond delay="3600"/>
                                  </p:stCondLst>
                                  <p:childTnLst>
                                    <p:set>
                                      <p:cBhvr>
                                        <p:cTn id="90" dur="1" fill="hold">
                                          <p:stCondLst>
                                            <p:cond delay="0"/>
                                          </p:stCondLst>
                                        </p:cTn>
                                        <p:tgtEl>
                                          <p:spTgt spid="20"/>
                                        </p:tgtEl>
                                        <p:attrNameLst>
                                          <p:attrName>style.visibility</p:attrName>
                                        </p:attrNameLst>
                                      </p:cBhvr>
                                      <p:to>
                                        <p:strVal val="visible"/>
                                      </p:to>
                                    </p:set>
                                    <p:animEffect transition="in" filter="wipe(left)">
                                      <p:cBhvr>
                                        <p:cTn id="91" dur="900"/>
                                        <p:tgtEl>
                                          <p:spTgt spid="20"/>
                                        </p:tgtEl>
                                      </p:cBhvr>
                                    </p:animEffect>
                                  </p:childTnLst>
                                </p:cTn>
                              </p:par>
                              <p:par>
                                <p:cTn id="95" presetID="10" presetClass="entr" presetSubtype="0" fill="hold" grpId="0" nodeType="withEffect">
                                  <p:stCondLst>
                                    <p:cond delay="4100"/>
                                  </p:stCondLst>
                                  <p:childTnLst>
                                    <p:set>
                                      <p:cBhvr>
                                        <p:cTn id="93" dur="1" fill="hold">
                                          <p:stCondLst>
                                            <p:cond delay="0"/>
                                          </p:stCondLst>
                                        </p:cTn>
                                        <p:tgtEl>
                                          <p:spTgt spid="21"/>
                                        </p:tgtEl>
                                        <p:attrNameLst>
                                          <p:attrName>style.visibility</p:attrName>
                                        </p:attrNameLst>
                                      </p:cBhvr>
                                      <p:to>
                                        <p:strVal val="visible"/>
                                      </p:to>
                                    </p:set>
                                    <p:animEffect transition="in" filter="fade">
                                      <p:cBhvr>
                                        <p:cTn id="94" dur="7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6" grpId="0" animBg="1"/>
      <p:bldP spid="5" grpId="0" animBg="1"/>
      <p:bldP spid="2" grpId="1"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rec dot"/>
          <p:cNvSpPr/>
          <p:nvPr/>
        </p:nvSpPr>
        <p:spPr>
          <a:xfrm>
            <a:off x="548640" y="384048"/>
            <a:ext cx="182880" cy="182880"/>
          </a:xfrm>
          <a:prstGeom prst="ellipse">
            <a:avLst/>
          </a:prstGeom>
          <a:solidFill>
            <a:srgbClr val="E5383B"/>
          </a:solidFill>
          <a:ln/>
        </p:spPr>
      </p:sp>
      <p:sp>
        <p:nvSpPr>
          <p:cNvPr id="3" name="Text 1"/>
          <p:cNvSpPr txBox="1"/>
          <p:nvPr/>
        </p:nvSpPr>
        <p:spPr>
          <a:xfrm>
            <a:off x="841248" y="329184"/>
            <a:ext cx="8229600" cy="292608"/>
          </a:xfrm>
          <a:prstGeom prst="rect">
            <a:avLst/>
          </a:prstGeom>
          <a:noFill/>
          <a:ln/>
        </p:spPr>
        <p:txBody>
          <a:bodyPr wrap="square" lIns="0" tIns="0" rIns="0" bIns="0" rtlCol="0" anchor="ctr"/>
          <a:lstStyle/>
          <a:p>
            <a:pPr indent="0" marL="0">
              <a:buNone/>
            </a:pPr>
            <a:r>
              <a:rPr lang="en-US" sz="1300" b="1" spc="200" kern="0" dirty="0">
                <a:solidFill>
                  <a:srgbClr val="D9D6CF"/>
                </a:solidFill>
                <a:latin typeface="Courier New" pitchFamily="34" charset="0"/>
                <a:ea typeface="Courier New" pitchFamily="34" charset="-122"/>
                <a:cs typeface="Courier New" pitchFamily="34" charset="-120"/>
              </a:rPr>
              <a:t>ACT III  ·  THE FALL  ·  ▶ PLAYBACK</a:t>
            </a:r>
            <a:endParaRPr lang="en-US" sz="1300" dirty="0"/>
          </a:p>
        </p:txBody>
      </p:sp>
      <p:sp>
        <p:nvSpPr>
          <p:cNvPr id="4" name="cutscene act3"/>
          <p:cNvSpPr/>
          <p:nvPr/>
        </p:nvSpPr>
        <p:spPr>
          <a:xfrm>
            <a:off x="512064" y="832104"/>
            <a:ext cx="11167567" cy="5422392"/>
          </a:xfrm>
          <a:prstGeom prst="rect">
            <a:avLst/>
          </a:prstGeom>
          <a:solidFill>
            <a:srgbClr val="050506"/>
          </a:solidFill>
          <a:ln w="12700">
            <a:solidFill>
              <a:srgbClr val="33363D"/>
            </a:solidFill>
            <a:prstDash val="solid"/>
          </a:ln>
        </p:spPr>
      </p:sp>
      <p:pic>
        <p:nvPicPr>
          <p:cNvPr id="6" name="bg" descr="preencoded.png">    </p:cNvPr>
          <p:cNvPicPr>
            <a:picLocks noChangeAspect="1"/>
          </p:cNvPicPr>
          <p:nvPr/>
        </p:nvPicPr>
        <p:blipFill>
          <a:blip r:embed="rId1"/>
          <a:stretch>
            <a:fillRect/>
          </a:stretch>
        </p:blipFill>
        <p:spPr>
          <a:xfrm>
            <a:off x="548640" y="868680"/>
            <a:ext cx="11094415" cy="5349240"/>
          </a:xfrm>
          <a:prstGeom prst="rect">
            <a:avLst/>
          </a:prstGeom>
        </p:spPr>
      </p:pic>
      <p:pic>
        <p:nvPicPr>
          <p:cNvPr id="7" name="albania" descr="preencoded.png">    </p:cNvPr>
          <p:cNvPicPr>
            <a:picLocks noChangeAspect="1"/>
          </p:cNvPicPr>
          <p:nvPr/>
        </p:nvPicPr>
        <p:blipFill>
          <a:blip r:embed="rId2"/>
          <a:stretch>
            <a:fillRect/>
          </a:stretch>
        </p:blipFill>
        <p:spPr>
          <a:xfrm>
            <a:off x="548640" y="868680"/>
            <a:ext cx="11094415" cy="5349240"/>
          </a:xfrm>
          <a:prstGeom prst="rect">
            <a:avLst/>
          </a:prstGeom>
        </p:spPr>
      </p:pic>
      <p:pic>
        <p:nvPicPr>
          <p:cNvPr id="8" name="court" descr="preencoded.png">    </p:cNvPr>
          <p:cNvPicPr>
            <a:picLocks noChangeAspect="1"/>
          </p:cNvPicPr>
          <p:nvPr/>
        </p:nvPicPr>
        <p:blipFill>
          <a:blip r:embed="rId3"/>
          <a:stretch>
            <a:fillRect/>
          </a:stretch>
        </p:blipFill>
        <p:spPr>
          <a:xfrm>
            <a:off x="548640" y="868680"/>
            <a:ext cx="11094415" cy="5349240"/>
          </a:xfrm>
          <a:prstGeom prst="rect">
            <a:avLst/>
          </a:prstGeom>
        </p:spPr>
      </p:pic>
      <p:pic>
        <p:nvPicPr>
          <p:cNvPr id="9" name="speed" descr="preencoded.png">    </p:cNvPr>
          <p:cNvPicPr>
            <a:picLocks noChangeAspect="1"/>
          </p:cNvPicPr>
          <p:nvPr/>
        </p:nvPicPr>
        <p:blipFill>
          <a:blip r:embed="rId4"/>
          <a:stretch>
            <a:fillRect/>
          </a:stretch>
        </p:blipFill>
        <p:spPr>
          <a:xfrm>
            <a:off x="548640" y="868680"/>
            <a:ext cx="11094415" cy="5349240"/>
          </a:xfrm>
          <a:prstGeom prst="rect">
            <a:avLst/>
          </a:prstGeom>
        </p:spPr>
      </p:pic>
      <p:pic>
        <p:nvPicPr>
          <p:cNvPr id="10" name="china" descr="china">    </p:cNvPr>
          <p:cNvPicPr>
            <a:picLocks noChangeAspect="1"/>
          </p:cNvPicPr>
          <p:nvPr/>
        </p:nvPicPr>
        <p:blipFill>
          <a:blip r:embed="rId5"/>
          <a:stretch>
            <a:fillRect/>
          </a:stretch>
        </p:blipFill>
        <p:spPr>
          <a:xfrm>
            <a:off x="4572000" y="2103120"/>
            <a:ext cx="2743200" cy="2011680"/>
          </a:xfrm>
          <a:prstGeom prst="rect">
            <a:avLst/>
          </a:prstGeom>
        </p:spPr>
      </p:pic>
      <p:pic>
        <p:nvPicPr>
          <p:cNvPr id="11" name="magnifier" descr="magnifier">    </p:cNvPr>
          <p:cNvPicPr>
            <a:picLocks noChangeAspect="1"/>
          </p:cNvPicPr>
          <p:nvPr/>
        </p:nvPicPr>
        <p:blipFill>
          <a:blip r:embed="rId6"/>
          <a:stretch>
            <a:fillRect/>
          </a:stretch>
        </p:blipFill>
        <p:spPr>
          <a:xfrm>
            <a:off x="6583680" y="1463040"/>
            <a:ext cx="1280160" cy="1280160"/>
          </a:xfrm>
          <a:prstGeom prst="rect">
            <a:avLst/>
          </a:prstGeom>
        </p:spPr>
      </p:pic>
      <p:pic>
        <p:nvPicPr>
          <p:cNvPr id="12" name="box a" descr="box a">    </p:cNvPr>
          <p:cNvPicPr>
            <a:picLocks noChangeAspect="1"/>
          </p:cNvPicPr>
          <p:nvPr/>
        </p:nvPicPr>
        <p:blipFill>
          <a:blip r:embed="rId7"/>
          <a:stretch>
            <a:fillRect/>
          </a:stretch>
        </p:blipFill>
        <p:spPr>
          <a:xfrm>
            <a:off x="4480560" y="3017520"/>
            <a:ext cx="1737360" cy="1261872"/>
          </a:xfrm>
          <a:prstGeom prst="rect">
            <a:avLst/>
          </a:prstGeom>
        </p:spPr>
      </p:pic>
      <p:pic>
        <p:nvPicPr>
          <p:cNvPr id="13" name="box b" descr="box b">    </p:cNvPr>
          <p:cNvPicPr>
            <a:picLocks noChangeAspect="1"/>
          </p:cNvPicPr>
          <p:nvPr/>
        </p:nvPicPr>
        <p:blipFill>
          <a:blip r:embed="rId8"/>
          <a:stretch>
            <a:fillRect/>
          </a:stretch>
        </p:blipFill>
        <p:spPr>
          <a:xfrm>
            <a:off x="6172200" y="3017520"/>
            <a:ext cx="1737360" cy="1261872"/>
          </a:xfrm>
          <a:prstGeom prst="rect">
            <a:avLst/>
          </a:prstGeom>
        </p:spPr>
      </p:pic>
      <p:pic>
        <p:nvPicPr>
          <p:cNvPr id="14" name="box c" descr="box c">    </p:cNvPr>
          <p:cNvPicPr>
            <a:picLocks noChangeAspect="1"/>
          </p:cNvPicPr>
          <p:nvPr/>
        </p:nvPicPr>
        <p:blipFill>
          <a:blip r:embed="rId9"/>
          <a:stretch>
            <a:fillRect/>
          </a:stretch>
        </p:blipFill>
        <p:spPr>
          <a:xfrm>
            <a:off x="5321808" y="1965960"/>
            <a:ext cx="1737360" cy="1261872"/>
          </a:xfrm>
          <a:prstGeom prst="rect">
            <a:avLst/>
          </a:prstGeom>
        </p:spPr>
      </p:pic>
      <p:pic>
        <p:nvPicPr>
          <p:cNvPr id="15" name="repacked" descr="repacked">    </p:cNvPr>
          <p:cNvPicPr>
            <a:picLocks noChangeAspect="1"/>
          </p:cNvPicPr>
          <p:nvPr/>
        </p:nvPicPr>
        <p:blipFill>
          <a:blip r:embed="rId10"/>
          <a:stretch>
            <a:fillRect/>
          </a:stretch>
        </p:blipFill>
        <p:spPr>
          <a:xfrm rot="-360000">
            <a:off x="4572000" y="1051560"/>
            <a:ext cx="2834640" cy="1060704"/>
          </a:xfrm>
          <a:prstGeom prst="rect">
            <a:avLst/>
          </a:prstGeom>
        </p:spPr>
      </p:pic>
      <p:pic>
        <p:nvPicPr>
          <p:cNvPr id="16" name="phone" descr="phone">    </p:cNvPr>
          <p:cNvPicPr>
            <a:picLocks noChangeAspect="1"/>
          </p:cNvPicPr>
          <p:nvPr/>
        </p:nvPicPr>
        <p:blipFill>
          <a:blip r:embed="rId11"/>
          <a:stretch>
            <a:fillRect/>
          </a:stretch>
        </p:blipFill>
        <p:spPr>
          <a:xfrm>
            <a:off x="4160520" y="1097280"/>
            <a:ext cx="1417320" cy="2404872"/>
          </a:xfrm>
          <a:prstGeom prst="rect">
            <a:avLst/>
          </a:prstGeom>
        </p:spPr>
      </p:pic>
      <p:pic>
        <p:nvPicPr>
          <p:cNvPr id="17" name="cash" descr="cash">    </p:cNvPr>
          <p:cNvPicPr>
            <a:picLocks noChangeAspect="1"/>
          </p:cNvPicPr>
          <p:nvPr/>
        </p:nvPicPr>
        <p:blipFill>
          <a:blip r:embed="rId12"/>
          <a:stretch>
            <a:fillRect/>
          </a:stretch>
        </p:blipFill>
        <p:spPr>
          <a:xfrm>
            <a:off x="3840480" y="3611880"/>
            <a:ext cx="1371600" cy="896112"/>
          </a:xfrm>
          <a:prstGeom prst="rect">
            <a:avLst/>
          </a:prstGeom>
        </p:spPr>
      </p:pic>
      <p:pic>
        <p:nvPicPr>
          <p:cNvPr id="18" name="crack" descr="crack">    </p:cNvPr>
          <p:cNvPicPr>
            <a:picLocks noChangeAspect="1"/>
          </p:cNvPicPr>
          <p:nvPr/>
        </p:nvPicPr>
        <p:blipFill>
          <a:blip r:embed="rId13"/>
          <a:stretch>
            <a:fillRect/>
          </a:stretch>
        </p:blipFill>
        <p:spPr>
          <a:xfrm>
            <a:off x="5989320" y="914400"/>
            <a:ext cx="640080" cy="3840480"/>
          </a:xfrm>
          <a:prstGeom prst="rect">
            <a:avLst/>
          </a:prstGeom>
        </p:spPr>
      </p:pic>
      <p:pic>
        <p:nvPicPr>
          <p:cNvPr id="19" name="gavel" descr="gavel">    </p:cNvPr>
          <p:cNvPicPr>
            <a:picLocks noChangeAspect="1"/>
          </p:cNvPicPr>
          <p:nvPr/>
        </p:nvPicPr>
        <p:blipFill>
          <a:blip r:embed="rId14"/>
          <a:stretch>
            <a:fillRect/>
          </a:stretch>
        </p:blipFill>
        <p:spPr>
          <a:xfrm>
            <a:off x="4892040" y="1325880"/>
            <a:ext cx="2377440" cy="2103120"/>
          </a:xfrm>
          <a:prstGeom prst="rect">
            <a:avLst/>
          </a:prstGeom>
        </p:spPr>
      </p:pic>
      <p:pic>
        <p:nvPicPr>
          <p:cNvPr id="20" name="house" descr="house">    </p:cNvPr>
          <p:cNvPicPr>
            <a:picLocks noChangeAspect="1"/>
          </p:cNvPicPr>
          <p:nvPr/>
        </p:nvPicPr>
        <p:blipFill>
          <a:blip r:embed="rId15"/>
          <a:stretch>
            <a:fillRect/>
          </a:stretch>
        </p:blipFill>
        <p:spPr>
          <a:xfrm>
            <a:off x="3611880" y="2240280"/>
            <a:ext cx="1737360" cy="1517904"/>
          </a:xfrm>
          <a:prstGeom prst="rect">
            <a:avLst/>
          </a:prstGeom>
        </p:spPr>
      </p:pic>
      <p:pic>
        <p:nvPicPr>
          <p:cNvPr id="21" name="david" descr="david">    </p:cNvPr>
          <p:cNvPicPr>
            <a:picLocks noChangeAspect="1"/>
          </p:cNvPicPr>
          <p:nvPr/>
        </p:nvPicPr>
        <p:blipFill>
          <a:blip r:embed="rId16"/>
          <a:stretch>
            <a:fillRect/>
          </a:stretch>
        </p:blipFill>
        <p:spPr>
          <a:xfrm>
            <a:off x="685800" y="1645920"/>
            <a:ext cx="2902857" cy="4572000"/>
          </a:xfrm>
          <a:prstGeom prst="rect">
            <a:avLst/>
          </a:prstGeom>
        </p:spPr>
      </p:pic>
      <p:pic>
        <p:nvPicPr>
          <p:cNvPr id="22" name="david shock" descr="david shock">    </p:cNvPr>
          <p:cNvPicPr>
            <a:picLocks noChangeAspect="1"/>
          </p:cNvPicPr>
          <p:nvPr/>
        </p:nvPicPr>
        <p:blipFill>
          <a:blip r:embed="rId17"/>
          <a:stretch>
            <a:fillRect/>
          </a:stretch>
        </p:blipFill>
        <p:spPr>
          <a:xfrm>
            <a:off x="685800" y="1645920"/>
            <a:ext cx="2902857" cy="4572000"/>
          </a:xfrm>
          <a:prstGeom prst="rect">
            <a:avLst/>
          </a:prstGeom>
        </p:spPr>
      </p:pic>
      <p:pic>
        <p:nvPicPr>
          <p:cNvPr id="23" name="david worried" descr="david worried">    </p:cNvPr>
          <p:cNvPicPr>
            <a:picLocks noChangeAspect="1"/>
          </p:cNvPicPr>
          <p:nvPr/>
        </p:nvPicPr>
        <p:blipFill>
          <a:blip r:embed="rId18"/>
          <a:stretch>
            <a:fillRect/>
          </a:stretch>
        </p:blipFill>
        <p:spPr>
          <a:xfrm>
            <a:off x="685800" y="1645920"/>
            <a:ext cx="2902857" cy="4572000"/>
          </a:xfrm>
          <a:prstGeom prst="rect">
            <a:avLst/>
          </a:prstGeom>
        </p:spPr>
      </p:pic>
      <p:pic>
        <p:nvPicPr>
          <p:cNvPr id="24" name="david angry" descr="david angry">    </p:cNvPr>
          <p:cNvPicPr>
            <a:picLocks noChangeAspect="1"/>
          </p:cNvPicPr>
          <p:nvPr/>
        </p:nvPicPr>
        <p:blipFill>
          <a:blip r:embed="rId19"/>
          <a:stretch>
            <a:fillRect/>
          </a:stretch>
        </p:blipFill>
        <p:spPr>
          <a:xfrm>
            <a:off x="685800" y="1645920"/>
            <a:ext cx="2902857" cy="4572000"/>
          </a:xfrm>
          <a:prstGeom prst="rect">
            <a:avLst/>
          </a:prstGeom>
        </p:spPr>
      </p:pic>
      <p:pic>
        <p:nvPicPr>
          <p:cNvPr id="25" name="david sad" descr="david sad">    </p:cNvPr>
          <p:cNvPicPr>
            <a:picLocks noChangeAspect="1"/>
          </p:cNvPicPr>
          <p:nvPr/>
        </p:nvPicPr>
        <p:blipFill>
          <a:blip r:embed="rId20"/>
          <a:stretch>
            <a:fillRect/>
          </a:stretch>
        </p:blipFill>
        <p:spPr>
          <a:xfrm>
            <a:off x="685800" y="1645920"/>
            <a:ext cx="2902857" cy="4572000"/>
          </a:xfrm>
          <a:prstGeom prst="rect">
            <a:avLst/>
          </a:prstGeom>
        </p:spPr>
      </p:pic>
      <p:pic>
        <p:nvPicPr>
          <p:cNvPr id="26" name="efraim" descr="efraim">    </p:cNvPr>
          <p:cNvPicPr>
            <a:picLocks noChangeAspect="1"/>
          </p:cNvPicPr>
          <p:nvPr/>
        </p:nvPicPr>
        <p:blipFill>
          <a:blip r:embed="rId21"/>
          <a:stretch>
            <a:fillRect/>
          </a:stretch>
        </p:blipFill>
        <p:spPr>
          <a:xfrm>
            <a:off x="8595360" y="1645920"/>
            <a:ext cx="2902857" cy="4572000"/>
          </a:xfrm>
          <a:prstGeom prst="rect">
            <a:avLst/>
          </a:prstGeom>
        </p:spPr>
      </p:pic>
      <p:pic>
        <p:nvPicPr>
          <p:cNvPr id="27" name="efraim grin" descr="efraim grin">    </p:cNvPr>
          <p:cNvPicPr>
            <a:picLocks noChangeAspect="1"/>
          </p:cNvPicPr>
          <p:nvPr/>
        </p:nvPicPr>
        <p:blipFill>
          <a:blip r:embed="rId22"/>
          <a:stretch>
            <a:fillRect/>
          </a:stretch>
        </p:blipFill>
        <p:spPr>
          <a:xfrm>
            <a:off x="8595360" y="1645920"/>
            <a:ext cx="2902857" cy="4572000"/>
          </a:xfrm>
          <a:prstGeom prst="rect">
            <a:avLst/>
          </a:prstGeom>
        </p:spPr>
      </p:pic>
      <p:pic>
        <p:nvPicPr>
          <p:cNvPr id="28" name="efraim angry" descr="efraim angry">    </p:cNvPr>
          <p:cNvPicPr>
            <a:picLocks noChangeAspect="1"/>
          </p:cNvPicPr>
          <p:nvPr/>
        </p:nvPicPr>
        <p:blipFill>
          <a:blip r:embed="rId23"/>
          <a:stretch>
            <a:fillRect/>
          </a:stretch>
        </p:blipFill>
        <p:spPr>
          <a:xfrm>
            <a:off x="8595360" y="1645920"/>
            <a:ext cx="2902857" cy="4572000"/>
          </a:xfrm>
          <a:prstGeom prst="rect">
            <a:avLst/>
          </a:prstGeom>
        </p:spPr>
      </p:pic>
      <p:pic>
        <p:nvPicPr>
          <p:cNvPr id="29" name="gloom" descr="gloom">    </p:cNvPr>
          <p:cNvPicPr>
            <a:picLocks noChangeAspect="1"/>
          </p:cNvPicPr>
          <p:nvPr/>
        </p:nvPicPr>
        <p:blipFill>
          <a:blip r:embed="rId24"/>
          <a:stretch>
            <a:fillRect/>
          </a:stretch>
        </p:blipFill>
        <p:spPr>
          <a:xfrm>
            <a:off x="914400" y="1828800"/>
            <a:ext cx="2377440" cy="2057400"/>
          </a:xfrm>
          <a:prstGeom prst="rect">
            <a:avLst/>
          </a:prstGeom>
        </p:spPr>
      </p:pic>
      <p:pic>
        <p:nvPicPr>
          <p:cNvPr id="30" name="vein" descr="vein">    </p:cNvPr>
          <p:cNvPicPr>
            <a:picLocks noChangeAspect="1"/>
          </p:cNvPicPr>
          <p:nvPr/>
        </p:nvPicPr>
        <p:blipFill>
          <a:blip r:embed="rId25"/>
          <a:stretch>
            <a:fillRect/>
          </a:stretch>
        </p:blipFill>
        <p:spPr>
          <a:xfrm>
            <a:off x="2697480" y="2057400"/>
            <a:ext cx="457200" cy="457200"/>
          </a:xfrm>
          <a:prstGeom prst="rect">
            <a:avLst/>
          </a:prstGeom>
        </p:spPr>
      </p:pic>
      <p:pic>
        <p:nvPicPr>
          <p:cNvPr id="31" name="bars" descr="bars">    </p:cNvPr>
          <p:cNvPicPr>
            <a:picLocks noChangeAspect="1"/>
          </p:cNvPicPr>
          <p:nvPr/>
        </p:nvPicPr>
        <p:blipFill>
          <a:blip r:embed="rId26"/>
          <a:stretch>
            <a:fillRect/>
          </a:stretch>
        </p:blipFill>
        <p:spPr>
          <a:xfrm>
            <a:off x="8549640" y="914400"/>
            <a:ext cx="2926080" cy="4096512"/>
          </a:xfrm>
          <a:prstGeom prst="rect">
            <a:avLst/>
          </a:prstGeom>
        </p:spPr>
      </p:pic>
      <p:pic>
        <p:nvPicPr>
          <p:cNvPr id="32" name="four" descr="four">    </p:cNvPr>
          <p:cNvPicPr>
            <a:picLocks noChangeAspect="1"/>
          </p:cNvPicPr>
          <p:nvPr/>
        </p:nvPicPr>
        <p:blipFill>
          <a:blip r:embed="rId27"/>
          <a:stretch>
            <a:fillRect/>
          </a:stretch>
        </p:blipFill>
        <p:spPr>
          <a:xfrm rot="-480000">
            <a:off x="5852160" y="3794760"/>
            <a:ext cx="2560320" cy="960120"/>
          </a:xfrm>
          <a:prstGeom prst="rect">
            <a:avLst/>
          </a:prstGeom>
        </p:spPr>
      </p:pic>
      <p:pic>
        <p:nvPicPr>
          <p:cNvPr id="33" name="seven" descr="seven">    </p:cNvPr>
          <p:cNvPicPr>
            <a:picLocks noChangeAspect="1"/>
          </p:cNvPicPr>
          <p:nvPr/>
        </p:nvPicPr>
        <p:blipFill>
          <a:blip r:embed="rId28"/>
          <a:stretch>
            <a:fillRect/>
          </a:stretch>
        </p:blipFill>
        <p:spPr>
          <a:xfrm rot="480000">
            <a:off x="3063240" y="3794760"/>
            <a:ext cx="2651760" cy="996696"/>
          </a:xfrm>
          <a:prstGeom prst="rect">
            <a:avLst/>
          </a:prstGeom>
        </p:spPr>
      </p:pic>
      <p:sp>
        <p:nvSpPr>
          <p:cNvPr id="34" name="dialogue box"/>
          <p:cNvSpPr/>
          <p:nvPr/>
        </p:nvSpPr>
        <p:spPr>
          <a:xfrm>
            <a:off x="914400" y="4919472"/>
            <a:ext cx="10360152" cy="1143000"/>
          </a:xfrm>
          <a:prstGeom prst="roundRect">
            <a:avLst>
              <a:gd name="adj" fmla="val 6400"/>
            </a:avLst>
          </a:prstGeom>
          <a:solidFill>
            <a:srgbClr val="0B1020">
              <a:alpha val="88000"/>
            </a:srgbClr>
          </a:solidFill>
          <a:ln w="19050">
            <a:solidFill>
              <a:srgbClr val="FFD84D"/>
            </a:solidFill>
            <a:prstDash val="solid"/>
          </a:ln>
        </p:spPr>
      </p:sp>
      <p:pic>
        <p:nvPicPr>
          <p:cNvPr id="35" name="eyecatch" descr="preencoded.png">    </p:cNvPr>
          <p:cNvPicPr>
            <a:picLocks noChangeAspect="1"/>
          </p:cNvPicPr>
          <p:nvPr/>
        </p:nvPicPr>
        <p:blipFill>
          <a:blip r:embed="rId29"/>
          <a:stretch>
            <a:fillRect/>
          </a:stretch>
        </p:blipFill>
        <p:spPr>
          <a:xfrm>
            <a:off x="548640" y="868680"/>
            <a:ext cx="11094415" cy="5349240"/>
          </a:xfrm>
          <a:prstGeom prst="rect">
            <a:avLst/>
          </a:prstGeom>
        </p:spPr>
      </p:pic>
      <p:sp>
        <p:nvSpPr>
          <p:cNvPr id="36" name="chip 1"/>
          <p:cNvSpPr/>
          <p:nvPr/>
        </p:nvSpPr>
        <p:spPr>
          <a:xfrm>
            <a:off x="685800" y="978408"/>
            <a:ext cx="3108960" cy="365760"/>
          </a:xfrm>
          <a:prstGeom prst="roundRect">
            <a:avLst>
              <a:gd name="adj" fmla="val 12500"/>
            </a:avLst>
          </a:prstGeom>
          <a:solidFill>
            <a:srgbClr val="0D0D0F">
              <a:alpha val="85000"/>
            </a:srgbClr>
          </a:solidFill>
          <a:ln w="12700">
            <a:solidFill>
              <a:srgbClr val="FFD84D"/>
            </a:solidFill>
          </a:ln>
        </p:spPr>
        <p:txBody>
          <a:bodyPr wrap="square" lIns="0" tIns="0" rIns="0" bIns="0" rtlCol="0" anchor="ctr"/>
          <a:lstStyle/>
          <a:p>
            <a:pPr algn="ctr" indent="0" marL="0">
              <a:buNone/>
            </a:pPr>
            <a:r>
              <a:rPr lang="en-US" sz="1300" b="1" spc="200" kern="0" dirty="0">
                <a:solidFill>
                  <a:srgbClr val="FFD84D"/>
                </a:solidFill>
                <a:latin typeface="Courier New" pitchFamily="34" charset="0"/>
                <a:ea typeface="Courier New" pitchFamily="34" charset="-122"/>
                <a:cs typeface="Courier New" pitchFamily="34" charset="-120"/>
              </a:rPr>
              <a:t>SCENE 9 · DISCOVERY</a:t>
            </a:r>
            <a:endParaRPr lang="en-US" sz="1300" dirty="0"/>
          </a:p>
        </p:txBody>
      </p:sp>
      <p:pic>
        <p:nvPicPr>
          <p:cNvPr id="37" name="flash 1" descr="preencoded.png">    </p:cNvPr>
          <p:cNvPicPr>
            <a:picLocks noChangeAspect="1"/>
          </p:cNvPicPr>
          <p:nvPr/>
        </p:nvPicPr>
        <p:blipFill>
          <a:blip r:embed="rId30"/>
          <a:stretch>
            <a:fillRect/>
          </a:stretch>
        </p:blipFill>
        <p:spPr>
          <a:xfrm>
            <a:off x="548640" y="868680"/>
            <a:ext cx="11094415" cy="5349240"/>
          </a:xfrm>
          <a:prstGeom prst="rect">
            <a:avLst/>
          </a:prstGeom>
        </p:spPr>
      </p:pic>
      <p:sp>
        <p:nvSpPr>
          <p:cNvPr id="38" name="name 1"/>
          <p:cNvSpPr/>
          <p:nvPr/>
        </p:nvSpPr>
        <p:spPr>
          <a:xfrm>
            <a:off x="1188720" y="4681728"/>
            <a:ext cx="1737360" cy="384048"/>
          </a:xfrm>
          <a:prstGeom prst="roundRect">
            <a:avLst>
              <a:gd name="adj" fmla="val 14286"/>
            </a:avLst>
          </a:prstGeom>
          <a:solidFill>
            <a:srgbClr val="FFD84D"/>
          </a:solidFill>
          <a:ln/>
        </p:spPr>
        <p:txBody>
          <a:bodyPr wrap="square" lIns="0" tIns="0" rIns="0" bIns="0" rtlCol="0" anchor="ctr"/>
          <a:lstStyle/>
          <a:p>
            <a:pPr algn="ctr" indent="0" marL="0">
              <a:buNone/>
            </a:pPr>
            <a:r>
              <a:rPr lang="en-US" sz="1300" b="1" spc="200" kern="0" dirty="0">
                <a:solidFill>
                  <a:srgbClr val="0D0D0F"/>
                </a:solidFill>
                <a:latin typeface="Courier New" pitchFamily="34" charset="0"/>
                <a:ea typeface="Courier New" pitchFamily="34" charset="-122"/>
                <a:cs typeface="Courier New" pitchFamily="34" charset="-120"/>
              </a:rPr>
              <a:t>DAVID</a:t>
            </a:r>
            <a:endParaRPr lang="en-US" sz="1300" dirty="0"/>
          </a:p>
        </p:txBody>
      </p:sp>
      <p:sp>
        <p:nvSpPr>
          <p:cNvPr id="39" name="line 1"/>
          <p:cNvSpPr txBox="1"/>
          <p:nvPr/>
        </p:nvSpPr>
        <p:spPr>
          <a:xfrm>
            <a:off x="1234440" y="5102352"/>
            <a:ext cx="9738360" cy="868680"/>
          </a:xfrm>
          <a:prstGeom prst="rect">
            <a:avLst/>
          </a:prstGeom>
          <a:noFill/>
          <a:ln/>
        </p:spPr>
        <p:txBody>
          <a:bodyPr wrap="square" lIns="0" tIns="0" rIns="0" bIns="0" rtlCol="0" anchor="t"/>
          <a:lstStyle/>
          <a:p>
            <a:pPr indent="0" marL="0">
              <a:buNone/>
            </a:pPr>
            <a:r>
              <a:rPr lang="en-US" sz="1800" dirty="0">
                <a:solidFill>
                  <a:srgbClr val="F3F1EC"/>
                </a:solidFill>
              </a:rPr>
              <a:t>These rounds were made in China. That’s banned under the embargo… and in our contract!</a:t>
            </a:r>
            <a:endParaRPr lang="en-US" sz="1800" dirty="0"/>
          </a:p>
        </p:txBody>
      </p:sp>
      <p:sp>
        <p:nvSpPr>
          <p:cNvPr id="40" name="chip 2"/>
          <p:cNvSpPr/>
          <p:nvPr/>
        </p:nvSpPr>
        <p:spPr>
          <a:xfrm>
            <a:off x="685800" y="978408"/>
            <a:ext cx="3108960" cy="365760"/>
          </a:xfrm>
          <a:prstGeom prst="roundRect">
            <a:avLst>
              <a:gd name="adj" fmla="val 12500"/>
            </a:avLst>
          </a:prstGeom>
          <a:solidFill>
            <a:srgbClr val="0D0D0F">
              <a:alpha val="85000"/>
            </a:srgbClr>
          </a:solidFill>
          <a:ln w="12700">
            <a:solidFill>
              <a:srgbClr val="FFD84D"/>
            </a:solidFill>
          </a:ln>
        </p:spPr>
        <p:txBody>
          <a:bodyPr wrap="square" lIns="0" tIns="0" rIns="0" bIns="0" rtlCol="0" anchor="ctr"/>
          <a:lstStyle/>
          <a:p>
            <a:pPr algn="ctr" indent="0" marL="0">
              <a:buNone/>
            </a:pPr>
            <a:r>
              <a:rPr lang="en-US" sz="1300" b="1" spc="200" kern="0" dirty="0">
                <a:solidFill>
                  <a:srgbClr val="FFD84D"/>
                </a:solidFill>
                <a:latin typeface="Courier New" pitchFamily="34" charset="0"/>
                <a:ea typeface="Courier New" pitchFamily="34" charset="-122"/>
                <a:cs typeface="Courier New" pitchFamily="34" charset="-120"/>
              </a:rPr>
              <a:t>SCENE 10 · COVER-UP</a:t>
            </a:r>
            <a:endParaRPr lang="en-US" sz="1300" dirty="0"/>
          </a:p>
        </p:txBody>
      </p:sp>
      <p:sp>
        <p:nvSpPr>
          <p:cNvPr id="41" name="name 2"/>
          <p:cNvSpPr/>
          <p:nvPr/>
        </p:nvSpPr>
        <p:spPr>
          <a:xfrm>
            <a:off x="1188720" y="4681728"/>
            <a:ext cx="1737360" cy="384048"/>
          </a:xfrm>
          <a:prstGeom prst="roundRect">
            <a:avLst>
              <a:gd name="adj" fmla="val 14286"/>
            </a:avLst>
          </a:prstGeom>
          <a:solidFill>
            <a:srgbClr val="FFD84D"/>
          </a:solidFill>
          <a:ln/>
        </p:spPr>
        <p:txBody>
          <a:bodyPr wrap="square" lIns="0" tIns="0" rIns="0" bIns="0" rtlCol="0" anchor="ctr"/>
          <a:lstStyle/>
          <a:p>
            <a:pPr algn="ctr" indent="0" marL="0">
              <a:buNone/>
            </a:pPr>
            <a:r>
              <a:rPr lang="en-US" sz="1300" b="1" spc="200" kern="0" dirty="0">
                <a:solidFill>
                  <a:srgbClr val="0D0D0F"/>
                </a:solidFill>
                <a:latin typeface="Courier New" pitchFamily="34" charset="0"/>
                <a:ea typeface="Courier New" pitchFamily="34" charset="-122"/>
                <a:cs typeface="Courier New" pitchFamily="34" charset="-120"/>
              </a:rPr>
              <a:t>EFRAIM</a:t>
            </a:r>
            <a:endParaRPr lang="en-US" sz="1300" dirty="0"/>
          </a:p>
        </p:txBody>
      </p:sp>
      <p:sp>
        <p:nvSpPr>
          <p:cNvPr id="42" name="line 2"/>
          <p:cNvSpPr txBox="1"/>
          <p:nvPr/>
        </p:nvSpPr>
        <p:spPr>
          <a:xfrm>
            <a:off x="1234440" y="5102352"/>
            <a:ext cx="9738360" cy="868680"/>
          </a:xfrm>
          <a:prstGeom prst="rect">
            <a:avLst/>
          </a:prstGeom>
          <a:noFill/>
          <a:ln/>
        </p:spPr>
        <p:txBody>
          <a:bodyPr wrap="square" lIns="0" tIns="0" rIns="0" bIns="0" rtlCol="0" anchor="t"/>
          <a:lstStyle/>
          <a:p>
            <a:pPr indent="0" marL="0">
              <a:buNone/>
            </a:pPr>
            <a:r>
              <a:rPr lang="en-US" sz="1800" dirty="0">
                <a:solidFill>
                  <a:srgbClr val="F3F1EC"/>
                </a:solidFill>
              </a:rPr>
              <a:t>So we repack them in plain boxes. Who’s going to check?</a:t>
            </a:r>
            <a:endParaRPr lang="en-US" sz="1800" dirty="0"/>
          </a:p>
        </p:txBody>
      </p:sp>
      <p:sp>
        <p:nvSpPr>
          <p:cNvPr id="43" name="chip 3"/>
          <p:cNvSpPr/>
          <p:nvPr/>
        </p:nvSpPr>
        <p:spPr>
          <a:xfrm>
            <a:off x="685800" y="978408"/>
            <a:ext cx="3108960" cy="365760"/>
          </a:xfrm>
          <a:prstGeom prst="roundRect">
            <a:avLst>
              <a:gd name="adj" fmla="val 12500"/>
            </a:avLst>
          </a:prstGeom>
          <a:solidFill>
            <a:srgbClr val="0D0D0F">
              <a:alpha val="85000"/>
            </a:srgbClr>
          </a:solidFill>
          <a:ln w="12700">
            <a:solidFill>
              <a:srgbClr val="FFD84D"/>
            </a:solidFill>
          </a:ln>
        </p:spPr>
        <p:txBody>
          <a:bodyPr wrap="square" lIns="0" tIns="0" rIns="0" bIns="0" rtlCol="0" anchor="ctr"/>
          <a:lstStyle/>
          <a:p>
            <a:pPr algn="ctr" indent="0" marL="0">
              <a:buNone/>
            </a:pPr>
            <a:r>
              <a:rPr lang="en-US" sz="1300" b="1" spc="200" kern="0" dirty="0">
                <a:solidFill>
                  <a:srgbClr val="FFD84D"/>
                </a:solidFill>
                <a:latin typeface="Courier New" pitchFamily="34" charset="0"/>
                <a:ea typeface="Courier New" pitchFamily="34" charset="-122"/>
                <a:cs typeface="Courier New" pitchFamily="34" charset="-120"/>
              </a:rPr>
              <a:t>SCENE 11 · BETRAYAL</a:t>
            </a:r>
            <a:endParaRPr lang="en-US" sz="1300" dirty="0"/>
          </a:p>
        </p:txBody>
      </p:sp>
      <p:sp>
        <p:nvSpPr>
          <p:cNvPr id="44" name="name 3"/>
          <p:cNvSpPr/>
          <p:nvPr/>
        </p:nvSpPr>
        <p:spPr>
          <a:xfrm>
            <a:off x="1188720" y="4681728"/>
            <a:ext cx="1737360" cy="384048"/>
          </a:xfrm>
          <a:prstGeom prst="roundRect">
            <a:avLst>
              <a:gd name="adj" fmla="val 14286"/>
            </a:avLst>
          </a:prstGeom>
          <a:solidFill>
            <a:srgbClr val="D9D6CF"/>
          </a:solidFill>
          <a:ln/>
        </p:spPr>
        <p:txBody>
          <a:bodyPr wrap="square" lIns="0" tIns="0" rIns="0" bIns="0" rtlCol="0" anchor="ctr"/>
          <a:lstStyle/>
          <a:p>
            <a:pPr algn="ctr" indent="0" marL="0">
              <a:buNone/>
            </a:pPr>
            <a:r>
              <a:rPr lang="en-US" sz="1300" b="1" spc="200" kern="0" dirty="0">
                <a:solidFill>
                  <a:srgbClr val="0D0D0F"/>
                </a:solidFill>
                <a:latin typeface="Courier New" pitchFamily="34" charset="0"/>
                <a:ea typeface="Courier New" pitchFamily="34" charset="-122"/>
                <a:cs typeface="Courier New" pitchFamily="34" charset="-120"/>
              </a:rPr>
              <a:t>NARRATOR</a:t>
            </a:r>
            <a:endParaRPr lang="en-US" sz="1300" dirty="0"/>
          </a:p>
        </p:txBody>
      </p:sp>
      <p:sp>
        <p:nvSpPr>
          <p:cNvPr id="45" name="line 3"/>
          <p:cNvSpPr txBox="1"/>
          <p:nvPr/>
        </p:nvSpPr>
        <p:spPr>
          <a:xfrm>
            <a:off x="1234440" y="5102352"/>
            <a:ext cx="9738360" cy="868680"/>
          </a:xfrm>
          <a:prstGeom prst="rect">
            <a:avLst/>
          </a:prstGeom>
          <a:noFill/>
          <a:ln/>
        </p:spPr>
        <p:txBody>
          <a:bodyPr wrap="square" lIns="0" tIns="0" rIns="0" bIns="0" rtlCol="0" anchor="t"/>
          <a:lstStyle/>
          <a:p>
            <a:pPr indent="0" marL="0">
              <a:buNone/>
            </a:pPr>
            <a:r>
              <a:rPr lang="en-US" sz="1800" i="1" dirty="0">
                <a:solidFill>
                  <a:srgbClr val="F3F1EC"/>
                </a:solidFill>
              </a:rPr>
              <a:t>In Albania, David is threatened. Back home, Efraim cheats him out of his money.</a:t>
            </a:r>
            <a:endParaRPr lang="en-US" sz="1800" dirty="0"/>
          </a:p>
        </p:txBody>
      </p:sp>
      <p:pic>
        <p:nvPicPr>
          <p:cNvPr id="46" name="flash 2" descr="preencoded.png">    </p:cNvPr>
          <p:cNvPicPr>
            <a:picLocks noChangeAspect="1"/>
          </p:cNvPicPr>
          <p:nvPr/>
        </p:nvPicPr>
        <p:blipFill>
          <a:blip r:embed="rId31"/>
          <a:stretch>
            <a:fillRect/>
          </a:stretch>
        </p:blipFill>
        <p:spPr>
          <a:xfrm>
            <a:off x="548640" y="868680"/>
            <a:ext cx="11094415" cy="5349240"/>
          </a:xfrm>
          <a:prstGeom prst="rect">
            <a:avLst/>
          </a:prstGeom>
        </p:spPr>
      </p:pic>
      <p:sp>
        <p:nvSpPr>
          <p:cNvPr id="47" name="name 4"/>
          <p:cNvSpPr/>
          <p:nvPr/>
        </p:nvSpPr>
        <p:spPr>
          <a:xfrm>
            <a:off x="1188720" y="4681728"/>
            <a:ext cx="1737360" cy="384048"/>
          </a:xfrm>
          <a:prstGeom prst="roundRect">
            <a:avLst>
              <a:gd name="adj" fmla="val 14286"/>
            </a:avLst>
          </a:prstGeom>
          <a:solidFill>
            <a:srgbClr val="D9D6CF"/>
          </a:solidFill>
          <a:ln/>
        </p:spPr>
        <p:txBody>
          <a:bodyPr wrap="square" lIns="0" tIns="0" rIns="0" bIns="0" rtlCol="0" anchor="ctr"/>
          <a:lstStyle/>
          <a:p>
            <a:pPr algn="ctr" indent="0" marL="0">
              <a:buNone/>
            </a:pPr>
            <a:r>
              <a:rPr lang="en-US" sz="1300" b="1" spc="200" kern="0" dirty="0">
                <a:solidFill>
                  <a:srgbClr val="0D0D0F"/>
                </a:solidFill>
                <a:latin typeface="Courier New" pitchFamily="34" charset="0"/>
                <a:ea typeface="Courier New" pitchFamily="34" charset="-122"/>
                <a:cs typeface="Courier New" pitchFamily="34" charset="-120"/>
              </a:rPr>
              <a:t>NARRATOR</a:t>
            </a:r>
            <a:endParaRPr lang="en-US" sz="1300" dirty="0"/>
          </a:p>
        </p:txBody>
      </p:sp>
      <p:sp>
        <p:nvSpPr>
          <p:cNvPr id="48" name="line 4"/>
          <p:cNvSpPr txBox="1"/>
          <p:nvPr/>
        </p:nvSpPr>
        <p:spPr>
          <a:xfrm>
            <a:off x="1234440" y="5102352"/>
            <a:ext cx="9738360" cy="868680"/>
          </a:xfrm>
          <a:prstGeom prst="rect">
            <a:avLst/>
          </a:prstGeom>
          <a:noFill/>
          <a:ln/>
        </p:spPr>
        <p:txBody>
          <a:bodyPr wrap="square" lIns="0" tIns="0" rIns="0" bIns="0" rtlCol="0" anchor="t"/>
          <a:lstStyle/>
          <a:p>
            <a:pPr indent="0" marL="0">
              <a:buNone/>
            </a:pPr>
            <a:r>
              <a:rPr lang="en-US" sz="1800" i="1" dirty="0">
                <a:solidFill>
                  <a:srgbClr val="F3F1EC"/>
                </a:solidFill>
              </a:rPr>
              <a:t>The friendship collapses.</a:t>
            </a:r>
            <a:endParaRPr lang="en-US" sz="1800" dirty="0"/>
          </a:p>
        </p:txBody>
      </p:sp>
      <p:sp>
        <p:nvSpPr>
          <p:cNvPr id="49" name="chip 4"/>
          <p:cNvSpPr/>
          <p:nvPr/>
        </p:nvSpPr>
        <p:spPr>
          <a:xfrm>
            <a:off x="685800" y="978408"/>
            <a:ext cx="3108960" cy="365760"/>
          </a:xfrm>
          <a:prstGeom prst="roundRect">
            <a:avLst>
              <a:gd name="adj" fmla="val 12500"/>
            </a:avLst>
          </a:prstGeom>
          <a:solidFill>
            <a:srgbClr val="0D0D0F">
              <a:alpha val="85000"/>
            </a:srgbClr>
          </a:solidFill>
          <a:ln w="12700">
            <a:solidFill>
              <a:srgbClr val="FFD84D"/>
            </a:solidFill>
          </a:ln>
        </p:spPr>
        <p:txBody>
          <a:bodyPr wrap="square" lIns="0" tIns="0" rIns="0" bIns="0" rtlCol="0" anchor="ctr"/>
          <a:lstStyle/>
          <a:p>
            <a:pPr algn="ctr" indent="0" marL="0">
              <a:buNone/>
            </a:pPr>
            <a:r>
              <a:rPr lang="en-US" sz="1300" b="1" spc="200" kern="0" dirty="0">
                <a:solidFill>
                  <a:srgbClr val="FFD84D"/>
                </a:solidFill>
                <a:latin typeface="Courier New" pitchFamily="34" charset="0"/>
                <a:ea typeface="Courier New" pitchFamily="34" charset="-122"/>
                <a:cs typeface="Courier New" pitchFamily="34" charset="-120"/>
              </a:rPr>
              <a:t>SCENE 12 · VERDICT</a:t>
            </a:r>
            <a:endParaRPr lang="en-US" sz="1300" dirty="0"/>
          </a:p>
        </p:txBody>
      </p:sp>
      <p:pic>
        <p:nvPicPr>
          <p:cNvPr id="50" name="flash 3" descr="preencoded.png">    </p:cNvPr>
          <p:cNvPicPr>
            <a:picLocks noChangeAspect="1"/>
          </p:cNvPicPr>
          <p:nvPr/>
        </p:nvPicPr>
        <p:blipFill>
          <a:blip r:embed="rId32"/>
          <a:stretch>
            <a:fillRect/>
          </a:stretch>
        </p:blipFill>
        <p:spPr>
          <a:xfrm>
            <a:off x="548640" y="868680"/>
            <a:ext cx="11094415" cy="5349240"/>
          </a:xfrm>
          <a:prstGeom prst="rect">
            <a:avLst/>
          </a:prstGeom>
        </p:spPr>
      </p:pic>
      <p:sp>
        <p:nvSpPr>
          <p:cNvPr id="51" name="name 5"/>
          <p:cNvSpPr/>
          <p:nvPr/>
        </p:nvSpPr>
        <p:spPr>
          <a:xfrm>
            <a:off x="1188720" y="4681728"/>
            <a:ext cx="1737360" cy="384048"/>
          </a:xfrm>
          <a:prstGeom prst="roundRect">
            <a:avLst>
              <a:gd name="adj" fmla="val 14286"/>
            </a:avLst>
          </a:prstGeom>
          <a:solidFill>
            <a:srgbClr val="D9D6CF"/>
          </a:solidFill>
          <a:ln/>
        </p:spPr>
        <p:txBody>
          <a:bodyPr wrap="square" lIns="0" tIns="0" rIns="0" bIns="0" rtlCol="0" anchor="ctr"/>
          <a:lstStyle/>
          <a:p>
            <a:pPr algn="ctr" indent="0" marL="0">
              <a:buNone/>
            </a:pPr>
            <a:r>
              <a:rPr lang="en-US" sz="1300" b="1" spc="200" kern="0" dirty="0">
                <a:solidFill>
                  <a:srgbClr val="0D0D0F"/>
                </a:solidFill>
                <a:latin typeface="Courier New" pitchFamily="34" charset="0"/>
                <a:ea typeface="Courier New" pitchFamily="34" charset="-122"/>
                <a:cs typeface="Courier New" pitchFamily="34" charset="-120"/>
              </a:rPr>
              <a:t>NARRATOR</a:t>
            </a:r>
            <a:endParaRPr lang="en-US" sz="1300" dirty="0"/>
          </a:p>
        </p:txBody>
      </p:sp>
      <p:sp>
        <p:nvSpPr>
          <p:cNvPr id="52" name="line 5"/>
          <p:cNvSpPr txBox="1"/>
          <p:nvPr/>
        </p:nvSpPr>
        <p:spPr>
          <a:xfrm>
            <a:off x="1234440" y="5102352"/>
            <a:ext cx="9738360" cy="868680"/>
          </a:xfrm>
          <a:prstGeom prst="rect">
            <a:avLst/>
          </a:prstGeom>
          <a:noFill/>
          <a:ln/>
        </p:spPr>
        <p:txBody>
          <a:bodyPr wrap="square" lIns="0" tIns="0" rIns="0" bIns="0" rtlCol="0" anchor="t"/>
          <a:lstStyle/>
          <a:p>
            <a:pPr indent="0" marL="0">
              <a:buNone/>
            </a:pPr>
            <a:r>
              <a:rPr lang="en-US" sz="1800" i="1" dirty="0">
                <a:solidFill>
                  <a:srgbClr val="F3F1EC"/>
                </a:solidFill>
              </a:rPr>
              <a:t>Federal court: Efraim gets 4 years in prison. David cooperates: 7 months of house arrest.</a:t>
            </a:r>
            <a:endParaRPr lang="en-US" sz="1800" dirty="0"/>
          </a:p>
        </p:txBody>
      </p:sp>
      <p:sp>
        <p:nvSpPr>
          <p:cNvPr id="53" name="quote"/>
          <p:cNvSpPr/>
          <p:nvPr/>
        </p:nvSpPr>
        <p:spPr>
          <a:xfrm>
            <a:off x="548640" y="960120"/>
            <a:ext cx="11094415" cy="548640"/>
          </a:xfrm>
          <a:prstGeom prst="rect">
            <a:avLst/>
          </a:prstGeom>
          <a:solidFill>
            <a:srgbClr val="000000">
              <a:alpha val="70000"/>
            </a:srgbClr>
          </a:solidFill>
          <a:ln/>
        </p:spPr>
        <p:txBody>
          <a:bodyPr wrap="square" lIns="0" tIns="0" rIns="0" bIns="0" rtlCol="0" anchor="ctr"/>
          <a:lstStyle/>
          <a:p>
            <a:pPr algn="ctr" indent="0" marL="0">
              <a:buNone/>
            </a:pPr>
            <a:r>
              <a:rPr lang="en-US" sz="2000" b="1" i="1" dirty="0">
                <a:solidFill>
                  <a:srgbClr val="FFD84D"/>
                </a:solidFill>
              </a:rPr>
              <a:t>The real case: exposed by journalists in 2008, prosecuted for fraud and conspiracy</a:t>
            </a:r>
            <a:endParaRPr lang="en-US" sz="2000" dirty="0"/>
          </a:p>
        </p:txBody>
      </p:sp>
    </p:spTree>
  </p:cSld>
  <p:clrMapOvr>
    <a:masterClrMapping/>
  </p:clrMapOvr>
  <p:transition spd="slow">
    <p:fade thruBlk="1"/>
  </p:transition>
  <p:timing>
    <p:tnLst>
      <p:par>
        <p:cTn id="1" dur="indefinite" restart="never" nodeType="tmRoot">
          <p:childTnLst>
            <p:seq concurrent="1" nextAc="seek">
              <p:cTn id="2" dur="indefinite" nodeType="mainSeq">
                <p:childTnLst>
                  <p:par>
                    <p:cTn id="318" fill="hold">
                      <p:stCondLst>
                        <p:cond delay="indefinite"/>
                        <p:cond evt="onBegin" delay="0">
                          <p:tn val="2"/>
                        </p:cond>
                      </p:stCondLst>
                      <p:childTnLst>
                        <p:par>
                          <p:cTn id="319" fill="hold">
                            <p:stCondLst>
                              <p:cond delay="0"/>
                            </p:stCondLst>
                            <p:childTnLst>
                              <p:par>
                                <p:cTn id="7" presetID="53" presetClass="entr" presetSubtype="16" fill="hold" grpId="0" nodeType="afterEffect">
                                  <p:stCondLst>
                                    <p:cond delay="0"/>
                                  </p:stCondLst>
                                  <p:childTnLst>
                                    <p:set>
                                      <p:cBhvr>
                                        <p:cTn id="3" dur="1" fill="hold">
                                          <p:stCondLst>
                                            <p:cond delay="0"/>
                                          </p:stCondLst>
                                        </p:cTn>
                                        <p:tgtEl>
                                          <p:spTgt spid="2"/>
                                        </p:tgtEl>
                                        <p:attrNameLst>
                                          <p:attrName>style.visibility</p:attrName>
                                        </p:attrNameLst>
                                      </p:cBhvr>
                                      <p:to>
                                        <p:strVal val="visible"/>
                                      </p:to>
                                    </p:set>
                                    <p:anim calcmode="lin" valueType="num">
                                      <p:cBhvr additive="base">
                                        <p:cTn id="4" dur="400" fill="hold"/>
                                        <p:tgtEl>
                                          <p:spTgt spid="2"/>
                                        </p:tgtEl>
                                        <p:attrNameLst>
                                          <p:attrName>ppt_w</p:attrName>
                                        </p:attrNameLst>
                                      </p:cBhvr>
                                      <p:tavLst>
                                        <p:tav tm="0">
                                          <p:val>
                                            <p:strVal val="0"/>
                                          </p:val>
                                        </p:tav>
                                        <p:tav tm="100000">
                                          <p:val>
                                            <p:strVal val="#ppt_w"/>
                                          </p:val>
                                        </p:tav>
                                      </p:tavLst>
                                    </p:anim>
                                    <p:anim calcmode="lin" valueType="num">
                                      <p:cBhvr additive="base">
                                        <p:cTn id="5" dur="400" fill="hold"/>
                                        <p:tgtEl>
                                          <p:spTgt spid="2"/>
                                        </p:tgtEl>
                                        <p:attrNameLst>
                                          <p:attrName>ppt_h</p:attrName>
                                        </p:attrNameLst>
                                      </p:cBhvr>
                                      <p:tavLst>
                                        <p:tav tm="0">
                                          <p:val>
                                            <p:strVal val="0"/>
                                          </p:val>
                                        </p:tav>
                                        <p:tav tm="100000">
                                          <p:val>
                                            <p:strVal val="#ppt_h"/>
                                          </p:val>
                                        </p:tav>
                                      </p:tavLst>
                                    </p:anim>
                                    <p:animEffect transition="in" filter="fade">
                                      <p:cBhvr>
                                        <p:cTn id="6" dur="400"/>
                                        <p:tgtEl>
                                          <p:spTgt spid="2"/>
                                        </p:tgtEl>
                                      </p:cBhvr>
                                    </p:animEffect>
                                  </p:childTnLst>
                                </p:cTn>
                              </p:par>
                              <p:par>
                                <p:cTn id="12" presetID="42" presetClass="entr" presetSubtype="0" fill="hold" grpId="0" nodeType="withEffect">
                                  <p:stCondLst>
                                    <p:cond delay="0"/>
                                  </p:stCondLst>
                                  <p:childTnLst>
                                    <p:set>
                                      <p:cBhvr>
                                        <p:cTn id="8" dur="1" fill="hold">
                                          <p:stCondLst>
                                            <p:cond delay="0"/>
                                          </p:stCondLst>
                                        </p:cTn>
                                        <p:tgtEl>
                                          <p:spTgt spid="35"/>
                                        </p:tgtEl>
                                        <p:attrNameLst>
                                          <p:attrName>style.visibility</p:attrName>
                                        </p:attrNameLst>
                                      </p:cBhvr>
                                      <p:to>
                                        <p:strVal val="visible"/>
                                      </p:to>
                                    </p:set>
                                    <p:animEffect transition="in" filter="fade">
                                      <p:cBhvr>
                                        <p:cTn id="9" dur="350"/>
                                        <p:tgtEl>
                                          <p:spTgt spid="35"/>
                                        </p:tgtEl>
                                      </p:cBhvr>
                                    </p:animEffect>
                                    <p:anim calcmode="lin" valueType="num">
                                      <p:cBhvr additive="base">
                                        <p:cTn id="10" dur="350" fill="hold"/>
                                        <p:tgtEl>
                                          <p:spTgt spid="35"/>
                                        </p:tgtEl>
                                        <p:attrNameLst>
                                          <p:attrName>ppt_x</p:attrName>
                                        </p:attrNameLst>
                                      </p:cBhvr>
                                      <p:tavLst>
                                        <p:tav tm="0">
                                          <p:val>
                                            <p:strVal val="#ppt_x-.05"/>
                                          </p:val>
                                        </p:tav>
                                        <p:tav tm="100000">
                                          <p:val>
                                            <p:strVal val="#ppt_x"/>
                                          </p:val>
                                        </p:tav>
                                      </p:tavLst>
                                    </p:anim>
                                    <p:anim calcmode="lin" valueType="num">
                                      <p:cBhvr additive="base">
                                        <p:cTn id="11" dur="350" fill="hold"/>
                                        <p:tgtEl>
                                          <p:spTgt spid="35"/>
                                        </p:tgtEl>
                                        <p:attrNameLst>
                                          <p:attrName>ppt_y</p:attrName>
                                        </p:attrNameLst>
                                      </p:cBhvr>
                                      <p:tavLst>
                                        <p:tav tm="0">
                                          <p:val>
                                            <p:strVal val="#ppt_y"/>
                                          </p:val>
                                        </p:tav>
                                        <p:tav tm="100000">
                                          <p:val>
                                            <p:strVal val="#ppt_y"/>
                                          </p:val>
                                        </p:tav>
                                      </p:tavLst>
                                    </p:anim>
                                  </p:childTnLst>
                                </p:cTn>
                              </p:par>
                              <p:par>
                                <p:cTn id="15" presetID="10" presetClass="entr" presetSubtype="0" fill="hold" grpId="0" nodeType="withEffect">
                                  <p:stCondLst>
                                    <p:cond delay="20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200"/>
                                        <p:tgtEl>
                                          <p:spTgt spid="3"/>
                                        </p:tgtEl>
                                      </p:cBhvr>
                                    </p:animEffect>
                                  </p:childTnLst>
                                </p:cTn>
                              </p:par>
                              <p:par>
                                <p:cTn id="17" presetID="6" presetClass="emph" presetSubtype="0" fill="hold" grpId="1" nodeType="withEffect" autoRev="1" repeatCount="indefinite">
                                  <p:stCondLst>
                                    <p:cond delay="500"/>
                                  </p:stCondLst>
                                  <p:childTnLst>
                                    <p:animScale>
                                      <p:cBhvr>
                                        <p:cTn id="16" dur="650" fill="hold"/>
                                        <p:tgtEl>
                                          <p:spTgt spid="2"/>
                                        </p:tgtEl>
                                      </p:cBhvr>
                                      <p:by x="135000" y="135000"/>
                                    </p:animScale>
                                  </p:childTnLst>
                                </p:cTn>
                              </p:par>
                              <p:par>
                                <p:cTn id="20" presetID="10" presetClass="exit" presetSubtype="0" fill="hold" grpId="1" nodeType="withEffect">
                                  <p:stCondLst>
                                    <p:cond delay="650"/>
                                  </p:stCondLst>
                                  <p:childTnLst>
                                    <p:animEffect transition="out" filter="fade">
                                      <p:cBhvr>
                                        <p:cTn id="18" dur="250"/>
                                        <p:tgtEl>
                                          <p:spTgt spid="35"/>
                                        </p:tgtEl>
                                      </p:cBhvr>
                                    </p:animEffect>
                                    <p:set>
                                      <p:cBhvr>
                                        <p:cTn id="19" dur="1" fill="hold">
                                          <p:stCondLst>
                                            <p:cond delay="249"/>
                                          </p:stCondLst>
                                        </p:cTn>
                                        <p:tgtEl>
                                          <p:spTgt spid="35"/>
                                        </p:tgtEl>
                                        <p:attrNameLst>
                                          <p:attrName>style.visibility</p:attrName>
                                        </p:attrNameLst>
                                      </p:cBhvr>
                                      <p:to>
                                        <p:strVal val="hidden"/>
                                      </p:to>
                                    </p:set>
                                  </p:childTnLst>
                                </p:cTn>
                              </p:par>
                              <p:par>
                                <p:cTn id="23" presetID="10" presetClass="entr" presetSubtype="0" fill="hold" grpId="0" nodeType="withEffect">
                                  <p:stCondLst>
                                    <p:cond delay="90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600"/>
                                        <p:tgtEl>
                                          <p:spTgt spid="6"/>
                                        </p:tgtEl>
                                      </p:cBhvr>
                                    </p:animEffect>
                                  </p:childTnLst>
                                </p:cTn>
                              </p:par>
                              <p:par>
                                <p:cTn id="28" presetID="42" presetClass="entr" presetSubtype="0" fill="hold" grpId="0" nodeType="withEffect">
                                  <p:stCondLst>
                                    <p:cond delay="950"/>
                                  </p:stCondLst>
                                  <p:childTnLst>
                                    <p:set>
                                      <p:cBhvr>
                                        <p:cTn id="24" dur="1" fill="hold">
                                          <p:stCondLst>
                                            <p:cond delay="0"/>
                                          </p:stCondLst>
                                        </p:cTn>
                                        <p:tgtEl>
                                          <p:spTgt spid="34"/>
                                        </p:tgtEl>
                                        <p:attrNameLst>
                                          <p:attrName>style.visibility</p:attrName>
                                        </p:attrNameLst>
                                      </p:cBhvr>
                                      <p:to>
                                        <p:strVal val="visible"/>
                                      </p:to>
                                    </p:set>
                                    <p:animEffect transition="in" filter="fade">
                                      <p:cBhvr>
                                        <p:cTn id="25" dur="500"/>
                                        <p:tgtEl>
                                          <p:spTgt spid="34"/>
                                        </p:tgtEl>
                                      </p:cBhvr>
                                    </p:animEffect>
                                    <p:anim calcmode="lin" valueType="num">
                                      <p:cBhvr additive="base">
                                        <p:cTn id="26" dur="500" fill="hold"/>
                                        <p:tgtEl>
                                          <p:spTgt spid="34"/>
                                        </p:tgtEl>
                                        <p:attrNameLst>
                                          <p:attrName>ppt_x</p:attrName>
                                        </p:attrNameLst>
                                      </p:cBhvr>
                                      <p:tavLst>
                                        <p:tav tm="0">
                                          <p:val>
                                            <p:strVal val="#ppt_x"/>
                                          </p:val>
                                        </p:tav>
                                        <p:tav tm="100000">
                                          <p:val>
                                            <p:strVal val="#ppt_x"/>
                                          </p:val>
                                        </p:tav>
                                      </p:tavLst>
                                    </p:anim>
                                    <p:anim calcmode="lin" valueType="num">
                                      <p:cBhvr additive="base">
                                        <p:cTn id="27" dur="500" fill="hold"/>
                                        <p:tgtEl>
                                          <p:spTgt spid="34"/>
                                        </p:tgtEl>
                                        <p:attrNameLst>
                                          <p:attrName>ppt_y</p:attrName>
                                        </p:attrNameLst>
                                      </p:cBhvr>
                                      <p:tavLst>
                                        <p:tav tm="0">
                                          <p:val>
                                            <p:strVal val="#ppt_y+.06"/>
                                          </p:val>
                                        </p:tav>
                                        <p:tav tm="100000">
                                          <p:val>
                                            <p:strVal val="#ppt_y"/>
                                          </p:val>
                                        </p:tav>
                                      </p:tavLst>
                                    </p:anim>
                                  </p:childTnLst>
                                </p:cTn>
                              </p:par>
                              <p:par>
                                <p:cTn id="33" presetID="42" presetClass="entr" presetSubtype="0" fill="hold" grpId="0" nodeType="withEffect">
                                  <p:stCondLst>
                                    <p:cond delay="1000"/>
                                  </p:stCondLst>
                                  <p:childTnLst>
                                    <p:set>
                                      <p:cBhvr>
                                        <p:cTn id="29" dur="1" fill="hold">
                                          <p:stCondLst>
                                            <p:cond delay="0"/>
                                          </p:stCondLst>
                                        </p:cTn>
                                        <p:tgtEl>
                                          <p:spTgt spid="36"/>
                                        </p:tgtEl>
                                        <p:attrNameLst>
                                          <p:attrName>style.visibility</p:attrName>
                                        </p:attrNameLst>
                                      </p:cBhvr>
                                      <p:to>
                                        <p:strVal val="visible"/>
                                      </p:to>
                                    </p:set>
                                    <p:animEffect transition="in" filter="fade">
                                      <p:cBhvr>
                                        <p:cTn id="30" dur="400"/>
                                        <p:tgtEl>
                                          <p:spTgt spid="36"/>
                                        </p:tgtEl>
                                      </p:cBhvr>
                                    </p:animEffect>
                                    <p:anim calcmode="lin" valueType="num">
                                      <p:cBhvr additive="base">
                                        <p:cTn id="31" dur="400" fill="hold"/>
                                        <p:tgtEl>
                                          <p:spTgt spid="36"/>
                                        </p:tgtEl>
                                        <p:attrNameLst>
                                          <p:attrName>ppt_x</p:attrName>
                                        </p:attrNameLst>
                                      </p:cBhvr>
                                      <p:tavLst>
                                        <p:tav tm="0">
                                          <p:val>
                                            <p:strVal val="#ppt_x-.05"/>
                                          </p:val>
                                        </p:tav>
                                        <p:tav tm="100000">
                                          <p:val>
                                            <p:strVal val="#ppt_x"/>
                                          </p:val>
                                        </p:tav>
                                      </p:tavLst>
                                    </p:anim>
                                    <p:anim calcmode="lin" valueType="num">
                                      <p:cBhvr additive="base">
                                        <p:cTn id="32" dur="400" fill="hold"/>
                                        <p:tgtEl>
                                          <p:spTgt spid="36"/>
                                        </p:tgtEl>
                                        <p:attrNameLst>
                                          <p:attrName>ppt_y</p:attrName>
                                        </p:attrNameLst>
                                      </p:cBhvr>
                                      <p:tavLst>
                                        <p:tav tm="0">
                                          <p:val>
                                            <p:strVal val="#ppt_y"/>
                                          </p:val>
                                        </p:tav>
                                        <p:tav tm="100000">
                                          <p:val>
                                            <p:strVal val="#ppt_y"/>
                                          </p:val>
                                        </p:tav>
                                      </p:tavLst>
                                    </p:anim>
                                  </p:childTnLst>
                                </p:cTn>
                              </p:par>
                              <p:par>
                                <p:cTn id="38" presetID="42" presetClass="entr" presetSubtype="0" fill="hold" grpId="0" nodeType="withEffect">
                                  <p:stCondLst>
                                    <p:cond delay="1050"/>
                                  </p:stCondLst>
                                  <p:childTnLst>
                                    <p:set>
                                      <p:cBhvr>
                                        <p:cTn id="34" dur="1" fill="hold">
                                          <p:stCondLst>
                                            <p:cond delay="0"/>
                                          </p:stCondLst>
                                        </p:cTn>
                                        <p:tgtEl>
                                          <p:spTgt spid="21"/>
                                        </p:tgtEl>
                                        <p:attrNameLst>
                                          <p:attrName>style.visibility</p:attrName>
                                        </p:attrNameLst>
                                      </p:cBhvr>
                                      <p:to>
                                        <p:strVal val="visible"/>
                                      </p:to>
                                    </p:set>
                                    <p:animEffect transition="in" filter="fade">
                                      <p:cBhvr>
                                        <p:cTn id="35" dur="500"/>
                                        <p:tgtEl>
                                          <p:spTgt spid="21"/>
                                        </p:tgtEl>
                                      </p:cBhvr>
                                    </p:animEffect>
                                    <p:anim calcmode="lin" valueType="num">
                                      <p:cBhvr additive="base">
                                        <p:cTn id="36" dur="500" fill="hold"/>
                                        <p:tgtEl>
                                          <p:spTgt spid="21"/>
                                        </p:tgtEl>
                                        <p:attrNameLst>
                                          <p:attrName>ppt_x</p:attrName>
                                        </p:attrNameLst>
                                      </p:cBhvr>
                                      <p:tavLst>
                                        <p:tav tm="0">
                                          <p:val>
                                            <p:strVal val="#ppt_x-.05"/>
                                          </p:val>
                                        </p:tav>
                                        <p:tav tm="100000">
                                          <p:val>
                                            <p:strVal val="#ppt_x"/>
                                          </p:val>
                                        </p:tav>
                                      </p:tavLst>
                                    </p:anim>
                                    <p:anim calcmode="lin" valueType="num">
                                      <p:cBhvr additive="base">
                                        <p:cTn id="37" dur="500" fill="hold"/>
                                        <p:tgtEl>
                                          <p:spTgt spid="21"/>
                                        </p:tgtEl>
                                        <p:attrNameLst>
                                          <p:attrName>ppt_y</p:attrName>
                                        </p:attrNameLst>
                                      </p:cBhvr>
                                      <p:tavLst>
                                        <p:tav tm="0">
                                          <p:val>
                                            <p:strVal val="#ppt_y"/>
                                          </p:val>
                                        </p:tav>
                                        <p:tav tm="100000">
                                          <p:val>
                                            <p:strVal val="#ppt_y"/>
                                          </p:val>
                                        </p:tav>
                                      </p:tavLst>
                                    </p:anim>
                                  </p:childTnLst>
                                </p:cTn>
                              </p:par>
                              <p:par>
                                <p:cTn id="43" presetID="42" presetClass="entr" presetSubtype="0" fill="hold" grpId="0" nodeType="withEffect">
                                  <p:stCondLst>
                                    <p:cond delay="1100"/>
                                  </p:stCondLst>
                                  <p:childTnLst>
                                    <p:set>
                                      <p:cBhvr>
                                        <p:cTn id="39" dur="1" fill="hold">
                                          <p:stCondLst>
                                            <p:cond delay="0"/>
                                          </p:stCondLst>
                                        </p:cTn>
                                        <p:tgtEl>
                                          <p:spTgt spid="26"/>
                                        </p:tgtEl>
                                        <p:attrNameLst>
                                          <p:attrName>style.visibility</p:attrName>
                                        </p:attrNameLst>
                                      </p:cBhvr>
                                      <p:to>
                                        <p:strVal val="visible"/>
                                      </p:to>
                                    </p:set>
                                    <p:animEffect transition="in" filter="fade">
                                      <p:cBhvr>
                                        <p:cTn id="40" dur="500"/>
                                        <p:tgtEl>
                                          <p:spTgt spid="26"/>
                                        </p:tgtEl>
                                      </p:cBhvr>
                                    </p:animEffect>
                                    <p:anim calcmode="lin" valueType="num">
                                      <p:cBhvr additive="base">
                                        <p:cTn id="41" dur="500" fill="hold"/>
                                        <p:tgtEl>
                                          <p:spTgt spid="26"/>
                                        </p:tgtEl>
                                        <p:attrNameLst>
                                          <p:attrName>ppt_x</p:attrName>
                                        </p:attrNameLst>
                                      </p:cBhvr>
                                      <p:tavLst>
                                        <p:tav tm="0">
                                          <p:val>
                                            <p:strVal val="#ppt_x+.05"/>
                                          </p:val>
                                        </p:tav>
                                        <p:tav tm="100000">
                                          <p:val>
                                            <p:strVal val="#ppt_x"/>
                                          </p:val>
                                        </p:tav>
                                      </p:tavLst>
                                    </p:anim>
                                    <p:anim calcmode="lin" valueType="num">
                                      <p:cBhvr additive="base">
                                        <p:cTn id="42" dur="500" fill="hold"/>
                                        <p:tgtEl>
                                          <p:spTgt spid="26"/>
                                        </p:tgtEl>
                                        <p:attrNameLst>
                                          <p:attrName>ppt_y</p:attrName>
                                        </p:attrNameLst>
                                      </p:cBhvr>
                                      <p:tavLst>
                                        <p:tav tm="0">
                                          <p:val>
                                            <p:strVal val="#ppt_y"/>
                                          </p:val>
                                        </p:tav>
                                        <p:tav tm="100000">
                                          <p:val>
                                            <p:strVal val="#ppt_y"/>
                                          </p:val>
                                        </p:tav>
                                      </p:tavLst>
                                    </p:anim>
                                  </p:childTnLst>
                                </p:cTn>
                              </p:par>
                              <p:par>
                                <p:cTn id="48" presetID="53" presetClass="entr" presetSubtype="16" fill="hold" grpId="0" nodeType="withEffect">
                                  <p:stCondLst>
                                    <p:cond delay="1150"/>
                                  </p:stCondLst>
                                  <p:childTnLst>
                                    <p:set>
                                      <p:cBhvr>
                                        <p:cTn id="44" dur="1" fill="hold">
                                          <p:stCondLst>
                                            <p:cond delay="0"/>
                                          </p:stCondLst>
                                        </p:cTn>
                                        <p:tgtEl>
                                          <p:spTgt spid="10"/>
                                        </p:tgtEl>
                                        <p:attrNameLst>
                                          <p:attrName>style.visibility</p:attrName>
                                        </p:attrNameLst>
                                      </p:cBhvr>
                                      <p:to>
                                        <p:strVal val="visible"/>
                                      </p:to>
                                    </p:set>
                                    <p:anim calcmode="lin" valueType="num">
                                      <p:cBhvr additive="base">
                                        <p:cTn id="45" dur="500" fill="hold"/>
                                        <p:tgtEl>
                                          <p:spTgt spid="10"/>
                                        </p:tgtEl>
                                        <p:attrNameLst>
                                          <p:attrName>ppt_w</p:attrName>
                                        </p:attrNameLst>
                                      </p:cBhvr>
                                      <p:tavLst>
                                        <p:tav tm="0">
                                          <p:val>
                                            <p:strVal val="0"/>
                                          </p:val>
                                        </p:tav>
                                        <p:tav tm="100000">
                                          <p:val>
                                            <p:strVal val="#ppt_w"/>
                                          </p:val>
                                        </p:tav>
                                      </p:tavLst>
                                    </p:anim>
                                    <p:anim calcmode="lin" valueType="num">
                                      <p:cBhvr additive="base">
                                        <p:cTn id="46" dur="500" fill="hold"/>
                                        <p:tgtEl>
                                          <p:spTgt spid="10"/>
                                        </p:tgtEl>
                                        <p:attrNameLst>
                                          <p:attrName>ppt_h</p:attrName>
                                        </p:attrNameLst>
                                      </p:cBhvr>
                                      <p:tavLst>
                                        <p:tav tm="0">
                                          <p:val>
                                            <p:strVal val="0"/>
                                          </p:val>
                                        </p:tav>
                                        <p:tav tm="100000">
                                          <p:val>
                                            <p:strVal val="#ppt_h"/>
                                          </p:val>
                                        </p:tav>
                                      </p:tavLst>
                                    </p:anim>
                                    <p:animEffect transition="in" filter="fade">
                                      <p:cBhvr>
                                        <p:cTn id="47" dur="500"/>
                                        <p:tgtEl>
                                          <p:spTgt spid="10"/>
                                        </p:tgtEl>
                                      </p:cBhvr>
                                    </p:animEffect>
                                  </p:childTnLst>
                                </p:cTn>
                              </p:par>
                              <p:par>
                                <p:cTn id="53" presetID="42" presetClass="entr" presetSubtype="0" fill="hold" grpId="0" nodeType="withEffect">
                                  <p:stCondLst>
                                    <p:cond delay="1200"/>
                                  </p:stCondLst>
                                  <p:childTnLst>
                                    <p:set>
                                      <p:cBhvr>
                                        <p:cTn id="49" dur="1" fill="hold">
                                          <p:stCondLst>
                                            <p:cond delay="0"/>
                                          </p:stCondLst>
                                        </p:cTn>
                                        <p:tgtEl>
                                          <p:spTgt spid="11"/>
                                        </p:tgtEl>
                                        <p:attrNameLst>
                                          <p:attrName>style.visibility</p:attrName>
                                        </p:attrNameLst>
                                      </p:cBhvr>
                                      <p:to>
                                        <p:strVal val="visible"/>
                                      </p:to>
                                    </p:set>
                                    <p:animEffect transition="in" filter="fade">
                                      <p:cBhvr>
                                        <p:cTn id="50" dur="500"/>
                                        <p:tgtEl>
                                          <p:spTgt spid="11"/>
                                        </p:tgtEl>
                                      </p:cBhvr>
                                    </p:animEffect>
                                    <p:anim calcmode="lin" valueType="num">
                                      <p:cBhvr additive="base">
                                        <p:cTn id="51" dur="500" fill="hold"/>
                                        <p:tgtEl>
                                          <p:spTgt spid="11"/>
                                        </p:tgtEl>
                                        <p:attrNameLst>
                                          <p:attrName>ppt_x</p:attrName>
                                        </p:attrNameLst>
                                      </p:cBhvr>
                                      <p:tavLst>
                                        <p:tav tm="0">
                                          <p:val>
                                            <p:strVal val="#ppt_x-.05"/>
                                          </p:val>
                                        </p:tav>
                                        <p:tav tm="100000">
                                          <p:val>
                                            <p:strVal val="#ppt_x"/>
                                          </p:val>
                                        </p:tav>
                                      </p:tavLst>
                                    </p:anim>
                                    <p:anim calcmode="lin" valueType="num">
                                      <p:cBhvr additive="base">
                                        <p:cTn id="52" dur="500" fill="hold"/>
                                        <p:tgtEl>
                                          <p:spTgt spid="11"/>
                                        </p:tgtEl>
                                        <p:attrNameLst>
                                          <p:attrName>ppt_y</p:attrName>
                                        </p:attrNameLst>
                                      </p:cBhvr>
                                      <p:tavLst>
                                        <p:tav tm="0">
                                          <p:val>
                                            <p:strVal val="#ppt_y"/>
                                          </p:val>
                                        </p:tav>
                                        <p:tav tm="100000">
                                          <p:val>
                                            <p:strVal val="#ppt_y"/>
                                          </p:val>
                                        </p:tav>
                                      </p:tavLst>
                                    </p:anim>
                                  </p:childTnLst>
                                </p:cTn>
                              </p:par>
                              <p:par>
                                <p:cTn id="55" presetID="0" presetClass="path" presetSubtype="0" fill="hold" grpId="1" nodeType="withEffect" autoRev="1" repeatCount="4000">
                                  <p:stCondLst>
                                    <p:cond delay="1250"/>
                                  </p:stCondLst>
                                  <p:childTnLst>
                                    <p:animMotion origin="layout" path="M 0 0 L 0 -0.012 E" pathEditMode="relative" ptsTypes="AA">
                                      <p:cBhvr>
                                        <p:cTn id="54" dur="300" fill="hold"/>
                                        <p:tgtEl>
                                          <p:spTgt spid="11"/>
                                        </p:tgtEl>
                                        <p:attrNameLst>
                                          <p:attrName>ppt_x</p:attrName>
                                          <p:attrName>ppt_y</p:attrName>
                                        </p:attrNameLst>
                                      </p:cBhvr>
                                    </p:animMotion>
                                  </p:childTnLst>
                                </p:cTn>
                              </p:par>
                              <p:par>
                                <p:cTn id="58" presetID="10" presetClass="entr" presetSubtype="0" fill="hold" grpId="0" nodeType="withEffect">
                                  <p:stCondLst>
                                    <p:cond delay="5175"/>
                                  </p:stCondLst>
                                  <p:childTnLst>
                                    <p:set>
                                      <p:cBhvr>
                                        <p:cTn id="56" dur="1" fill="hold">
                                          <p:stCondLst>
                                            <p:cond delay="0"/>
                                          </p:stCondLst>
                                        </p:cTn>
                                        <p:tgtEl>
                                          <p:spTgt spid="37"/>
                                        </p:tgtEl>
                                        <p:attrNameLst>
                                          <p:attrName>style.visibility</p:attrName>
                                        </p:attrNameLst>
                                      </p:cBhvr>
                                      <p:to>
                                        <p:strVal val="visible"/>
                                      </p:to>
                                    </p:set>
                                    <p:animEffect transition="in" filter="fade">
                                      <p:cBhvr>
                                        <p:cTn id="57" dur="80"/>
                                        <p:tgtEl>
                                          <p:spTgt spid="37"/>
                                        </p:tgtEl>
                                      </p:cBhvr>
                                    </p:animEffect>
                                  </p:childTnLst>
                                </p:cTn>
                              </p:par>
                              <p:par>
                                <p:cTn id="61" presetID="10" presetClass="exit" presetSubtype="0" fill="hold" grpId="1" nodeType="withEffect">
                                  <p:stCondLst>
                                    <p:cond delay="5225"/>
                                  </p:stCondLst>
                                  <p:childTnLst>
                                    <p:animEffect transition="out" filter="fade">
                                      <p:cBhvr>
                                        <p:cTn id="59" dur="220"/>
                                        <p:tgtEl>
                                          <p:spTgt spid="21"/>
                                        </p:tgtEl>
                                      </p:cBhvr>
                                    </p:animEffect>
                                    <p:set>
                                      <p:cBhvr>
                                        <p:cTn id="60" dur="1" fill="hold">
                                          <p:stCondLst>
                                            <p:cond delay="219"/>
                                          </p:stCondLst>
                                        </p:cTn>
                                        <p:tgtEl>
                                          <p:spTgt spid="21"/>
                                        </p:tgtEl>
                                        <p:attrNameLst>
                                          <p:attrName>style.visibility</p:attrName>
                                        </p:attrNameLst>
                                      </p:cBhvr>
                                      <p:to>
                                        <p:strVal val="hidden"/>
                                      </p:to>
                                    </p:set>
                                  </p:childTnLst>
                                </p:cTn>
                              </p:par>
                              <p:par>
                                <p:cTn id="64" presetID="10" presetClass="entr" presetSubtype="0" fill="hold" grpId="0" nodeType="withEffect">
                                  <p:stCondLst>
                                    <p:cond delay="5275"/>
                                  </p:stCondLst>
                                  <p:childTnLst>
                                    <p:set>
                                      <p:cBhvr>
                                        <p:cTn id="62" dur="1" fill="hold">
                                          <p:stCondLst>
                                            <p:cond delay="0"/>
                                          </p:stCondLst>
                                        </p:cTn>
                                        <p:tgtEl>
                                          <p:spTgt spid="22"/>
                                        </p:tgtEl>
                                        <p:attrNameLst>
                                          <p:attrName>style.visibility</p:attrName>
                                        </p:attrNameLst>
                                      </p:cBhvr>
                                      <p:to>
                                        <p:strVal val="visible"/>
                                      </p:to>
                                    </p:set>
                                    <p:animEffect transition="in" filter="fade">
                                      <p:cBhvr>
                                        <p:cTn id="63" dur="220"/>
                                        <p:tgtEl>
                                          <p:spTgt spid="22"/>
                                        </p:tgtEl>
                                      </p:cBhvr>
                                    </p:animEffect>
                                  </p:childTnLst>
                                </p:cTn>
                              </p:par>
                              <p:par>
                                <p:cTn id="67" presetID="10" presetClass="exit" presetSubtype="0" fill="hold" grpId="1" nodeType="withEffect">
                                  <p:stCondLst>
                                    <p:cond delay="5295"/>
                                  </p:stCondLst>
                                  <p:childTnLst>
                                    <p:animEffect transition="out" filter="fade">
                                      <p:cBhvr>
                                        <p:cTn id="65" dur="300"/>
                                        <p:tgtEl>
                                          <p:spTgt spid="37"/>
                                        </p:tgtEl>
                                      </p:cBhvr>
                                    </p:animEffect>
                                    <p:set>
                                      <p:cBhvr>
                                        <p:cTn id="66" dur="1" fill="hold">
                                          <p:stCondLst>
                                            <p:cond delay="299"/>
                                          </p:stCondLst>
                                        </p:cTn>
                                        <p:tgtEl>
                                          <p:spTgt spid="37"/>
                                        </p:tgtEl>
                                        <p:attrNameLst>
                                          <p:attrName>style.visibility</p:attrName>
                                        </p:attrNameLst>
                                      </p:cBhvr>
                                      <p:to>
                                        <p:strVal val="hidden"/>
                                      </p:to>
                                    </p:set>
                                  </p:childTnLst>
                                </p:cTn>
                              </p:par>
                              <p:par>
                                <p:cTn id="72" presetID="42" presetClass="entr" presetSubtype="0" fill="hold" grpId="0" nodeType="withEffect">
                                  <p:stCondLst>
                                    <p:cond delay="5325"/>
                                  </p:stCondLst>
                                  <p:childTnLst>
                                    <p:set>
                                      <p:cBhvr>
                                        <p:cTn id="68" dur="1" fill="hold">
                                          <p:stCondLst>
                                            <p:cond delay="0"/>
                                          </p:stCondLst>
                                        </p:cTn>
                                        <p:tgtEl>
                                          <p:spTgt spid="38"/>
                                        </p:tgtEl>
                                        <p:attrNameLst>
                                          <p:attrName>style.visibility</p:attrName>
                                        </p:attrNameLst>
                                      </p:cBhvr>
                                      <p:to>
                                        <p:strVal val="visible"/>
                                      </p:to>
                                    </p:set>
                                    <p:animEffect transition="in" filter="fade">
                                      <p:cBhvr>
                                        <p:cTn id="69" dur="300"/>
                                        <p:tgtEl>
                                          <p:spTgt spid="38"/>
                                        </p:tgtEl>
                                      </p:cBhvr>
                                    </p:animEffect>
                                    <p:anim calcmode="lin" valueType="num">
                                      <p:cBhvr additive="base">
                                        <p:cTn id="70" dur="300" fill="hold"/>
                                        <p:tgtEl>
                                          <p:spTgt spid="38"/>
                                        </p:tgtEl>
                                        <p:attrNameLst>
                                          <p:attrName>ppt_x</p:attrName>
                                        </p:attrNameLst>
                                      </p:cBhvr>
                                      <p:tavLst>
                                        <p:tav tm="0">
                                          <p:val>
                                            <p:strVal val="#ppt_x-.05"/>
                                          </p:val>
                                        </p:tav>
                                        <p:tav tm="100000">
                                          <p:val>
                                            <p:strVal val="#ppt_x"/>
                                          </p:val>
                                        </p:tav>
                                      </p:tavLst>
                                    </p:anim>
                                    <p:anim calcmode="lin" valueType="num">
                                      <p:cBhvr additive="base">
                                        <p:cTn id="71" dur="300" fill="hold"/>
                                        <p:tgtEl>
                                          <p:spTgt spid="38"/>
                                        </p:tgtEl>
                                        <p:attrNameLst>
                                          <p:attrName>ppt_y</p:attrName>
                                        </p:attrNameLst>
                                      </p:cBhvr>
                                      <p:tavLst>
                                        <p:tav tm="0">
                                          <p:val>
                                            <p:strVal val="#ppt_y"/>
                                          </p:val>
                                        </p:tav>
                                        <p:tav tm="100000">
                                          <p:val>
                                            <p:strVal val="#ppt_y"/>
                                          </p:val>
                                        </p:tav>
                                      </p:tavLst>
                                    </p:anim>
                                  </p:childTnLst>
                                </p:cTn>
                              </p:par>
                              <p:par>
                                <p:cTn id="74" presetID="0" presetClass="path" presetSubtype="0" fill="hold" grpId="1" nodeType="withEffect" autoRev="1" repeatCount="6000">
                                  <p:stCondLst>
                                    <p:cond delay="5375"/>
                                  </p:stCondLst>
                                  <p:childTnLst>
                                    <p:animMotion origin="layout" path="M 0 0 L 0.008 0 E" pathEditMode="relative" ptsTypes="AA">
                                      <p:cBhvr>
                                        <p:cTn id="73" dur="60" fill="hold"/>
                                        <p:tgtEl>
                                          <p:spTgt spid="22"/>
                                        </p:tgtEl>
                                        <p:attrNameLst>
                                          <p:attrName>ppt_x</p:attrName>
                                          <p:attrName>ppt_y</p:attrName>
                                        </p:attrNameLst>
                                      </p:cBhvr>
                                    </p:animMotion>
                                  </p:childTnLst>
                                </p:cTn>
                              </p:par>
                              <p:par>
                                <p:cTn id="77" presetID="22" presetClass="entr" presetSubtype="1" fill="hold" grpId="0" nodeType="withEffect">
                                  <p:stCondLst>
                                    <p:cond delay="5425"/>
                                  </p:stCondLst>
                                  <p:childTnLst>
                                    <p:set>
                                      <p:cBhvr>
                                        <p:cTn id="75" dur="1" fill="hold">
                                          <p:stCondLst>
                                            <p:cond delay="0"/>
                                          </p:stCondLst>
                                        </p:cTn>
                                        <p:tgtEl>
                                          <p:spTgt spid="29"/>
                                        </p:tgtEl>
                                        <p:attrNameLst>
                                          <p:attrName>style.visibility</p:attrName>
                                        </p:attrNameLst>
                                      </p:cBhvr>
                                      <p:to>
                                        <p:strVal val="visible"/>
                                      </p:to>
                                    </p:set>
                                    <p:animEffect transition="in" filter="wipe(down)">
                                      <p:cBhvr>
                                        <p:cTn id="76" dur="600"/>
                                        <p:tgtEl>
                                          <p:spTgt spid="29"/>
                                        </p:tgtEl>
                                      </p:cBhvr>
                                    </p:animEffect>
                                  </p:childTnLst>
                                </p:cTn>
                              </p:par>
                              <p:par>
                                <p:cTn id="80" presetID="10" presetClass="entr" presetSubtype="0" fill="hold" grpId="0" nodeType="withEffect">
                                  <p:stCondLst>
                                    <p:cond delay="5525"/>
                                  </p:stCondLst>
                                  <p:childTnLst>
                                    <p:set>
                                      <p:cBhvr>
                                        <p:cTn id="78" dur="1" fill="hold">
                                          <p:stCondLst>
                                            <p:cond delay="0"/>
                                          </p:stCondLst>
                                        </p:cTn>
                                        <p:tgtEl>
                                          <p:spTgt spid="39"/>
                                        </p:tgtEl>
                                        <p:attrNameLst>
                                          <p:attrName>style.visibility</p:attrName>
                                        </p:attrNameLst>
                                      </p:cBhvr>
                                      <p:to>
                                        <p:strVal val="visible"/>
                                      </p:to>
                                    </p:set>
                                    <p:animEffect transition="in" filter="fade">
                                      <p:cBhvr>
                                        <p:cTn id="79" dur="200"/>
                                        <p:tgtEl>
                                          <p:spTgt spid="39"/>
                                        </p:tgtEl>
                                      </p:cBhvr>
                                    </p:animEffect>
                                  </p:childTnLst>
                                </p:cTn>
                              </p:par>
                              <p:par>
                                <p:cTn id="83" presetID="10" presetClass="exit" presetSubtype="0" fill="hold" grpId="1" nodeType="withEffect">
                                  <p:stCondLst>
                                    <p:cond delay="10400"/>
                                  </p:stCondLst>
                                  <p:childTnLst>
                                    <p:animEffect transition="out" filter="fade">
                                      <p:cBhvr>
                                        <p:cTn id="81" dur="200"/>
                                        <p:tgtEl>
                                          <p:spTgt spid="36"/>
                                        </p:tgtEl>
                                      </p:cBhvr>
                                    </p:animEffect>
                                    <p:set>
                                      <p:cBhvr>
                                        <p:cTn id="82" dur="1" fill="hold">
                                          <p:stCondLst>
                                            <p:cond delay="199"/>
                                          </p:stCondLst>
                                        </p:cTn>
                                        <p:tgtEl>
                                          <p:spTgt spid="36"/>
                                        </p:tgtEl>
                                        <p:attrNameLst>
                                          <p:attrName>style.visibility</p:attrName>
                                        </p:attrNameLst>
                                      </p:cBhvr>
                                      <p:to>
                                        <p:strVal val="hidden"/>
                                      </p:to>
                                    </p:set>
                                  </p:childTnLst>
                                </p:cTn>
                              </p:par>
                              <p:par>
                                <p:cTn id="86" presetID="10" presetClass="exit" presetSubtype="0" fill="hold" grpId="1" nodeType="withEffect">
                                  <p:stCondLst>
                                    <p:cond delay="10425"/>
                                  </p:stCondLst>
                                  <p:childTnLst>
                                    <p:animEffect transition="out" filter="fade">
                                      <p:cBhvr>
                                        <p:cTn id="84" dur="250"/>
                                        <p:tgtEl>
                                          <p:spTgt spid="29"/>
                                        </p:tgtEl>
                                      </p:cBhvr>
                                    </p:animEffect>
                                    <p:set>
                                      <p:cBhvr>
                                        <p:cTn id="85" dur="1" fill="hold">
                                          <p:stCondLst>
                                            <p:cond delay="249"/>
                                          </p:stCondLst>
                                        </p:cTn>
                                        <p:tgtEl>
                                          <p:spTgt spid="29"/>
                                        </p:tgtEl>
                                        <p:attrNameLst>
                                          <p:attrName>style.visibility</p:attrName>
                                        </p:attrNameLst>
                                      </p:cBhvr>
                                      <p:to>
                                        <p:strVal val="hidden"/>
                                      </p:to>
                                    </p:set>
                                  </p:childTnLst>
                                </p:cTn>
                              </p:par>
                              <p:par>
                                <p:cTn id="89" presetID="10" presetClass="exit" presetSubtype="0" fill="hold" grpId="2" nodeType="withEffect">
                                  <p:stCondLst>
                                    <p:cond delay="10450"/>
                                  </p:stCondLst>
                                  <p:childTnLst>
                                    <p:animEffect transition="out" filter="fade">
                                      <p:cBhvr>
                                        <p:cTn id="87" dur="250"/>
                                        <p:tgtEl>
                                          <p:spTgt spid="11"/>
                                        </p:tgtEl>
                                      </p:cBhvr>
                                    </p:animEffect>
                                    <p:set>
                                      <p:cBhvr>
                                        <p:cTn id="88" dur="1" fill="hold">
                                          <p:stCondLst>
                                            <p:cond delay="249"/>
                                          </p:stCondLst>
                                        </p:cTn>
                                        <p:tgtEl>
                                          <p:spTgt spid="11"/>
                                        </p:tgtEl>
                                        <p:attrNameLst>
                                          <p:attrName>style.visibility</p:attrName>
                                        </p:attrNameLst>
                                      </p:cBhvr>
                                      <p:to>
                                        <p:strVal val="hidden"/>
                                      </p:to>
                                    </p:set>
                                  </p:childTnLst>
                                </p:cTn>
                              </p:par>
                              <p:par>
                                <p:cTn id="92" presetID="10" presetClass="exit" presetSubtype="0" fill="hold" grpId="1" nodeType="withEffect">
                                  <p:stCondLst>
                                    <p:cond delay="10475"/>
                                  </p:stCondLst>
                                  <p:childTnLst>
                                    <p:animEffect transition="out" filter="fade">
                                      <p:cBhvr>
                                        <p:cTn id="90" dur="200"/>
                                        <p:tgtEl>
                                          <p:spTgt spid="38"/>
                                        </p:tgtEl>
                                      </p:cBhvr>
                                    </p:animEffect>
                                    <p:set>
                                      <p:cBhvr>
                                        <p:cTn id="91" dur="1" fill="hold">
                                          <p:stCondLst>
                                            <p:cond delay="199"/>
                                          </p:stCondLst>
                                        </p:cTn>
                                        <p:tgtEl>
                                          <p:spTgt spid="38"/>
                                        </p:tgtEl>
                                        <p:attrNameLst>
                                          <p:attrName>style.visibility</p:attrName>
                                        </p:attrNameLst>
                                      </p:cBhvr>
                                      <p:to>
                                        <p:strVal val="hidden"/>
                                      </p:to>
                                    </p:set>
                                  </p:childTnLst>
                                </p:cTn>
                              </p:par>
                              <p:par>
                                <p:cTn id="95" presetID="10" presetClass="exit" presetSubtype="0" fill="hold" grpId="1" nodeType="withEffect">
                                  <p:stCondLst>
                                    <p:cond delay="10500"/>
                                  </p:stCondLst>
                                  <p:childTnLst>
                                    <p:animEffect transition="out" filter="fade">
                                      <p:cBhvr>
                                        <p:cTn id="93" dur="200"/>
                                        <p:tgtEl>
                                          <p:spTgt spid="39"/>
                                        </p:tgtEl>
                                      </p:cBhvr>
                                    </p:animEffect>
                                    <p:set>
                                      <p:cBhvr>
                                        <p:cTn id="94" dur="1" fill="hold">
                                          <p:stCondLst>
                                            <p:cond delay="199"/>
                                          </p:stCondLst>
                                        </p:cTn>
                                        <p:tgtEl>
                                          <p:spTgt spid="39"/>
                                        </p:tgtEl>
                                        <p:attrNameLst>
                                          <p:attrName>style.visibility</p:attrName>
                                        </p:attrNameLst>
                                      </p:cBhvr>
                                      <p:to>
                                        <p:strVal val="hidden"/>
                                      </p:to>
                                    </p:set>
                                  </p:childTnLst>
                                </p:cTn>
                              </p:par>
                              <p:par>
                                <p:cTn id="100" presetID="42" presetClass="entr" presetSubtype="0" fill="hold" grpId="0" nodeType="withEffect">
                                  <p:stCondLst>
                                    <p:cond delay="10525"/>
                                  </p:stCondLst>
                                  <p:childTnLst>
                                    <p:set>
                                      <p:cBhvr>
                                        <p:cTn id="96" dur="1" fill="hold">
                                          <p:stCondLst>
                                            <p:cond delay="0"/>
                                          </p:stCondLst>
                                        </p:cTn>
                                        <p:tgtEl>
                                          <p:spTgt spid="40"/>
                                        </p:tgtEl>
                                        <p:attrNameLst>
                                          <p:attrName>style.visibility</p:attrName>
                                        </p:attrNameLst>
                                      </p:cBhvr>
                                      <p:to>
                                        <p:strVal val="visible"/>
                                      </p:to>
                                    </p:set>
                                    <p:animEffect transition="in" filter="fade">
                                      <p:cBhvr>
                                        <p:cTn id="97" dur="400"/>
                                        <p:tgtEl>
                                          <p:spTgt spid="40"/>
                                        </p:tgtEl>
                                      </p:cBhvr>
                                    </p:animEffect>
                                    <p:anim calcmode="lin" valueType="num">
                                      <p:cBhvr additive="base">
                                        <p:cTn id="98" dur="400" fill="hold"/>
                                        <p:tgtEl>
                                          <p:spTgt spid="40"/>
                                        </p:tgtEl>
                                        <p:attrNameLst>
                                          <p:attrName>ppt_x</p:attrName>
                                        </p:attrNameLst>
                                      </p:cBhvr>
                                      <p:tavLst>
                                        <p:tav tm="0">
                                          <p:val>
                                            <p:strVal val="#ppt_x-.05"/>
                                          </p:val>
                                        </p:tav>
                                        <p:tav tm="100000">
                                          <p:val>
                                            <p:strVal val="#ppt_x"/>
                                          </p:val>
                                        </p:tav>
                                      </p:tavLst>
                                    </p:anim>
                                    <p:anim calcmode="lin" valueType="num">
                                      <p:cBhvr additive="base">
                                        <p:cTn id="99" dur="400" fill="hold"/>
                                        <p:tgtEl>
                                          <p:spTgt spid="40"/>
                                        </p:tgtEl>
                                        <p:attrNameLst>
                                          <p:attrName>ppt_y</p:attrName>
                                        </p:attrNameLst>
                                      </p:cBhvr>
                                      <p:tavLst>
                                        <p:tav tm="0">
                                          <p:val>
                                            <p:strVal val="#ppt_y"/>
                                          </p:val>
                                        </p:tav>
                                        <p:tav tm="100000">
                                          <p:val>
                                            <p:strVal val="#ppt_y"/>
                                          </p:val>
                                        </p:tav>
                                      </p:tavLst>
                                    </p:anim>
                                  </p:childTnLst>
                                </p:cTn>
                              </p:par>
                              <p:par>
                                <p:cTn id="103" presetID="10" presetClass="exit" presetSubtype="0" fill="hold" grpId="2" nodeType="withEffect">
                                  <p:stCondLst>
                                    <p:cond delay="10550"/>
                                  </p:stCondLst>
                                  <p:childTnLst>
                                    <p:animEffect transition="out" filter="fade">
                                      <p:cBhvr>
                                        <p:cTn id="101" dur="220"/>
                                        <p:tgtEl>
                                          <p:spTgt spid="22"/>
                                        </p:tgtEl>
                                      </p:cBhvr>
                                    </p:animEffect>
                                    <p:set>
                                      <p:cBhvr>
                                        <p:cTn id="102" dur="1" fill="hold">
                                          <p:stCondLst>
                                            <p:cond delay="219"/>
                                          </p:stCondLst>
                                        </p:cTn>
                                        <p:tgtEl>
                                          <p:spTgt spid="22"/>
                                        </p:tgtEl>
                                        <p:attrNameLst>
                                          <p:attrName>style.visibility</p:attrName>
                                        </p:attrNameLst>
                                      </p:cBhvr>
                                      <p:to>
                                        <p:strVal val="hidden"/>
                                      </p:to>
                                    </p:set>
                                  </p:childTnLst>
                                </p:cTn>
                              </p:par>
                              <p:par>
                                <p:cTn id="106" presetID="10" presetClass="entr" presetSubtype="0" fill="hold" grpId="0" nodeType="withEffect">
                                  <p:stCondLst>
                                    <p:cond delay="10575"/>
                                  </p:stCondLst>
                                  <p:childTnLst>
                                    <p:set>
                                      <p:cBhvr>
                                        <p:cTn id="104" dur="1" fill="hold">
                                          <p:stCondLst>
                                            <p:cond delay="0"/>
                                          </p:stCondLst>
                                        </p:cTn>
                                        <p:tgtEl>
                                          <p:spTgt spid="23"/>
                                        </p:tgtEl>
                                        <p:attrNameLst>
                                          <p:attrName>style.visibility</p:attrName>
                                        </p:attrNameLst>
                                      </p:cBhvr>
                                      <p:to>
                                        <p:strVal val="visible"/>
                                      </p:to>
                                    </p:set>
                                    <p:animEffect transition="in" filter="fade">
                                      <p:cBhvr>
                                        <p:cTn id="105" dur="220"/>
                                        <p:tgtEl>
                                          <p:spTgt spid="23"/>
                                        </p:tgtEl>
                                      </p:cBhvr>
                                    </p:animEffect>
                                  </p:childTnLst>
                                </p:cTn>
                              </p:par>
                              <p:par>
                                <p:cTn id="111" presetID="42" presetClass="entr" presetSubtype="0" fill="hold" grpId="0" nodeType="withEffect">
                                  <p:stCondLst>
                                    <p:cond delay="10600"/>
                                  </p:stCondLst>
                                  <p:childTnLst>
                                    <p:set>
                                      <p:cBhvr>
                                        <p:cTn id="107" dur="1" fill="hold">
                                          <p:stCondLst>
                                            <p:cond delay="0"/>
                                          </p:stCondLst>
                                        </p:cTn>
                                        <p:tgtEl>
                                          <p:spTgt spid="41"/>
                                        </p:tgtEl>
                                        <p:attrNameLst>
                                          <p:attrName>style.visibility</p:attrName>
                                        </p:attrNameLst>
                                      </p:cBhvr>
                                      <p:to>
                                        <p:strVal val="visible"/>
                                      </p:to>
                                    </p:set>
                                    <p:animEffect transition="in" filter="fade">
                                      <p:cBhvr>
                                        <p:cTn id="108" dur="300"/>
                                        <p:tgtEl>
                                          <p:spTgt spid="41"/>
                                        </p:tgtEl>
                                      </p:cBhvr>
                                    </p:animEffect>
                                    <p:anim calcmode="lin" valueType="num">
                                      <p:cBhvr additive="base">
                                        <p:cTn id="109" dur="300" fill="hold"/>
                                        <p:tgtEl>
                                          <p:spTgt spid="41"/>
                                        </p:tgtEl>
                                        <p:attrNameLst>
                                          <p:attrName>ppt_x</p:attrName>
                                        </p:attrNameLst>
                                      </p:cBhvr>
                                      <p:tavLst>
                                        <p:tav tm="0">
                                          <p:val>
                                            <p:strVal val="#ppt_x-.05"/>
                                          </p:val>
                                        </p:tav>
                                        <p:tav tm="100000">
                                          <p:val>
                                            <p:strVal val="#ppt_x"/>
                                          </p:val>
                                        </p:tav>
                                      </p:tavLst>
                                    </p:anim>
                                    <p:anim calcmode="lin" valueType="num">
                                      <p:cBhvr additive="base">
                                        <p:cTn id="110" dur="300" fill="hold"/>
                                        <p:tgtEl>
                                          <p:spTgt spid="41"/>
                                        </p:tgtEl>
                                        <p:attrNameLst>
                                          <p:attrName>ppt_y</p:attrName>
                                        </p:attrNameLst>
                                      </p:cBhvr>
                                      <p:tavLst>
                                        <p:tav tm="0">
                                          <p:val>
                                            <p:strVal val="#ppt_y"/>
                                          </p:val>
                                        </p:tav>
                                        <p:tav tm="100000">
                                          <p:val>
                                            <p:strVal val="#ppt_y"/>
                                          </p:val>
                                        </p:tav>
                                      </p:tavLst>
                                    </p:anim>
                                  </p:childTnLst>
                                </p:cTn>
                              </p:par>
                              <p:par>
                                <p:cTn id="114" presetID="10" presetClass="entr" presetSubtype="0" fill="hold" grpId="0" nodeType="withEffect">
                                  <p:stCondLst>
                                    <p:cond delay="10625"/>
                                  </p:stCondLst>
                                  <p:childTnLst>
                                    <p:set>
                                      <p:cBhvr>
                                        <p:cTn id="112" dur="1" fill="hold">
                                          <p:stCondLst>
                                            <p:cond delay="0"/>
                                          </p:stCondLst>
                                        </p:cTn>
                                        <p:tgtEl>
                                          <p:spTgt spid="42"/>
                                        </p:tgtEl>
                                        <p:attrNameLst>
                                          <p:attrName>style.visibility</p:attrName>
                                        </p:attrNameLst>
                                      </p:cBhvr>
                                      <p:to>
                                        <p:strVal val="visible"/>
                                      </p:to>
                                    </p:set>
                                    <p:animEffect transition="in" filter="fade">
                                      <p:cBhvr>
                                        <p:cTn id="113" dur="200"/>
                                        <p:tgtEl>
                                          <p:spTgt spid="42"/>
                                        </p:tgtEl>
                                      </p:cBhvr>
                                    </p:animEffect>
                                  </p:childTnLst>
                                </p:cTn>
                              </p:par>
                              <p:par>
                                <p:cTn id="117" presetID="22" presetClass="exit" presetSubtype="8" fill="hold" grpId="1" nodeType="withEffect">
                                  <p:stCondLst>
                                    <p:cond delay="10650"/>
                                  </p:stCondLst>
                                  <p:childTnLst>
                                    <p:animEffect transition="out" filter="wipe(left)">
                                      <p:cBhvr>
                                        <p:cTn id="115" dur="600"/>
                                        <p:tgtEl>
                                          <p:spTgt spid="10"/>
                                        </p:tgtEl>
                                      </p:cBhvr>
                                    </p:animEffect>
                                    <p:set>
                                      <p:cBhvr>
                                        <p:cTn id="116" dur="1" fill="hold">
                                          <p:stCondLst>
                                            <p:cond delay="599"/>
                                          </p:stCondLst>
                                        </p:cTn>
                                        <p:tgtEl>
                                          <p:spTgt spid="10"/>
                                        </p:tgtEl>
                                        <p:attrNameLst>
                                          <p:attrName>style.visibility</p:attrName>
                                        </p:attrNameLst>
                                      </p:cBhvr>
                                      <p:to>
                                        <p:strVal val="hidden"/>
                                      </p:to>
                                    </p:set>
                                  </p:childTnLst>
                                </p:cTn>
                              </p:par>
                              <p:par>
                                <p:cTn id="121" presetID="2" presetClass="entr" presetSubtype="1" fill="hold" grpId="0" nodeType="withEffect">
                                  <p:stCondLst>
                                    <p:cond delay="10675"/>
                                  </p:stCondLst>
                                  <p:childTnLst>
                                    <p:set>
                                      <p:cBhvr>
                                        <p:cTn id="118" dur="1" fill="hold">
                                          <p:stCondLst>
                                            <p:cond delay="0"/>
                                          </p:stCondLst>
                                        </p:cTn>
                                        <p:tgtEl>
                                          <p:spTgt spid="12"/>
                                        </p:tgtEl>
                                        <p:attrNameLst>
                                          <p:attrName>style.visibility</p:attrName>
                                        </p:attrNameLst>
                                      </p:cBhvr>
                                      <p:to>
                                        <p:strVal val="visible"/>
                                      </p:to>
                                    </p:set>
                                    <p:anim calcmode="lin" valueType="num">
                                      <p:cBhvr additive="base">
                                        <p:cTn id="119" dur="500" fill="hold"/>
                                        <p:tgtEl>
                                          <p:spTgt spid="12"/>
                                        </p:tgtEl>
                                        <p:attrNameLst>
                                          <p:attrName>ppt_x</p:attrName>
                                        </p:attrNameLst>
                                      </p:cBhvr>
                                      <p:tavLst>
                                        <p:tav tm="0">
                                          <p:val>
                                            <p:strVal val="#ppt_x"/>
                                          </p:val>
                                        </p:tav>
                                        <p:tav tm="100000">
                                          <p:val>
                                            <p:strVal val="#ppt_x"/>
                                          </p:val>
                                        </p:tav>
                                      </p:tavLst>
                                    </p:anim>
                                    <p:anim calcmode="lin" valueType="num">
                                      <p:cBhvr additive="base">
                                        <p:cTn id="120" dur="500" fill="hold"/>
                                        <p:tgtEl>
                                          <p:spTgt spid="12"/>
                                        </p:tgtEl>
                                        <p:attrNameLst>
                                          <p:attrName>ppt_y</p:attrName>
                                        </p:attrNameLst>
                                      </p:cBhvr>
                                      <p:tavLst>
                                        <p:tav tm="0">
                                          <p:val>
                                            <p:strVal val="0-#ppt_h/2"/>
                                          </p:val>
                                        </p:tav>
                                        <p:tav tm="100000">
                                          <p:val>
                                            <p:strVal val="#ppt_y"/>
                                          </p:val>
                                        </p:tav>
                                      </p:tavLst>
                                    </p:anim>
                                  </p:childTnLst>
                                </p:cTn>
                              </p:par>
                              <p:par>
                                <p:cTn id="125" presetID="2" presetClass="entr" presetSubtype="1" fill="hold" grpId="0" nodeType="withEffect">
                                  <p:stCondLst>
                                    <p:cond delay="10700"/>
                                  </p:stCondLst>
                                  <p:childTnLst>
                                    <p:set>
                                      <p:cBhvr>
                                        <p:cTn id="122" dur="1" fill="hold">
                                          <p:stCondLst>
                                            <p:cond delay="0"/>
                                          </p:stCondLst>
                                        </p:cTn>
                                        <p:tgtEl>
                                          <p:spTgt spid="13"/>
                                        </p:tgtEl>
                                        <p:attrNameLst>
                                          <p:attrName>style.visibility</p:attrName>
                                        </p:attrNameLst>
                                      </p:cBhvr>
                                      <p:to>
                                        <p:strVal val="visible"/>
                                      </p:to>
                                    </p:set>
                                    <p:anim calcmode="lin" valueType="num">
                                      <p:cBhvr additive="base">
                                        <p:cTn id="123" dur="500" fill="hold"/>
                                        <p:tgtEl>
                                          <p:spTgt spid="13"/>
                                        </p:tgtEl>
                                        <p:attrNameLst>
                                          <p:attrName>ppt_x</p:attrName>
                                        </p:attrNameLst>
                                      </p:cBhvr>
                                      <p:tavLst>
                                        <p:tav tm="0">
                                          <p:val>
                                            <p:strVal val="#ppt_x"/>
                                          </p:val>
                                        </p:tav>
                                        <p:tav tm="100000">
                                          <p:val>
                                            <p:strVal val="#ppt_x"/>
                                          </p:val>
                                        </p:tav>
                                      </p:tavLst>
                                    </p:anim>
                                    <p:anim calcmode="lin" valueType="num">
                                      <p:cBhvr additive="base">
                                        <p:cTn id="124" dur="500" fill="hold"/>
                                        <p:tgtEl>
                                          <p:spTgt spid="13"/>
                                        </p:tgtEl>
                                        <p:attrNameLst>
                                          <p:attrName>ppt_y</p:attrName>
                                        </p:attrNameLst>
                                      </p:cBhvr>
                                      <p:tavLst>
                                        <p:tav tm="0">
                                          <p:val>
                                            <p:strVal val="0-#ppt_h/2"/>
                                          </p:val>
                                        </p:tav>
                                        <p:tav tm="100000">
                                          <p:val>
                                            <p:strVal val="#ppt_y"/>
                                          </p:val>
                                        </p:tav>
                                      </p:tavLst>
                                    </p:anim>
                                  </p:childTnLst>
                                </p:cTn>
                              </p:par>
                              <p:par>
                                <p:cTn id="129" presetID="2" presetClass="entr" presetSubtype="1" fill="hold" grpId="0" nodeType="withEffect">
                                  <p:stCondLst>
                                    <p:cond delay="10725"/>
                                  </p:stCondLst>
                                  <p:childTnLst>
                                    <p:set>
                                      <p:cBhvr>
                                        <p:cTn id="126" dur="1" fill="hold">
                                          <p:stCondLst>
                                            <p:cond delay="0"/>
                                          </p:stCondLst>
                                        </p:cTn>
                                        <p:tgtEl>
                                          <p:spTgt spid="14"/>
                                        </p:tgtEl>
                                        <p:attrNameLst>
                                          <p:attrName>style.visibility</p:attrName>
                                        </p:attrNameLst>
                                      </p:cBhvr>
                                      <p:to>
                                        <p:strVal val="visible"/>
                                      </p:to>
                                    </p:set>
                                    <p:anim calcmode="lin" valueType="num">
                                      <p:cBhvr additive="base">
                                        <p:cTn id="127" dur="500" fill="hold"/>
                                        <p:tgtEl>
                                          <p:spTgt spid="14"/>
                                        </p:tgtEl>
                                        <p:attrNameLst>
                                          <p:attrName>ppt_x</p:attrName>
                                        </p:attrNameLst>
                                      </p:cBhvr>
                                      <p:tavLst>
                                        <p:tav tm="0">
                                          <p:val>
                                            <p:strVal val="#ppt_x"/>
                                          </p:val>
                                        </p:tav>
                                        <p:tav tm="100000">
                                          <p:val>
                                            <p:strVal val="#ppt_x"/>
                                          </p:val>
                                        </p:tav>
                                      </p:tavLst>
                                    </p:anim>
                                    <p:anim calcmode="lin" valueType="num">
                                      <p:cBhvr additive="base">
                                        <p:cTn id="128" dur="500" fill="hold"/>
                                        <p:tgtEl>
                                          <p:spTgt spid="14"/>
                                        </p:tgtEl>
                                        <p:attrNameLst>
                                          <p:attrName>ppt_y</p:attrName>
                                        </p:attrNameLst>
                                      </p:cBhvr>
                                      <p:tavLst>
                                        <p:tav tm="0">
                                          <p:val>
                                            <p:strVal val="0-#ppt_h/2"/>
                                          </p:val>
                                        </p:tav>
                                        <p:tav tm="100000">
                                          <p:val>
                                            <p:strVal val="#ppt_y"/>
                                          </p:val>
                                        </p:tav>
                                      </p:tavLst>
                                    </p:anim>
                                  </p:childTnLst>
                                </p:cTn>
                              </p:par>
                              <p:par>
                                <p:cTn id="134" presetID="53" presetClass="entr" presetSubtype="32" fill="hold" grpId="0" nodeType="withEffect">
                                  <p:stCondLst>
                                    <p:cond delay="10750"/>
                                  </p:stCondLst>
                                  <p:childTnLst>
                                    <p:set>
                                      <p:cBhvr>
                                        <p:cTn id="130" dur="1" fill="hold">
                                          <p:stCondLst>
                                            <p:cond delay="0"/>
                                          </p:stCondLst>
                                        </p:cTn>
                                        <p:tgtEl>
                                          <p:spTgt spid="15"/>
                                        </p:tgtEl>
                                        <p:attrNameLst>
                                          <p:attrName>style.visibility</p:attrName>
                                        </p:attrNameLst>
                                      </p:cBhvr>
                                      <p:to>
                                        <p:strVal val="visible"/>
                                      </p:to>
                                    </p:set>
                                    <p:anim calcmode="lin" valueType="num">
                                      <p:cBhvr additive="base">
                                        <p:cTn id="131" dur="400" fill="hold"/>
                                        <p:tgtEl>
                                          <p:spTgt spid="15"/>
                                        </p:tgtEl>
                                        <p:attrNameLst>
                                          <p:attrName>ppt_w</p:attrName>
                                        </p:attrNameLst>
                                      </p:cBhvr>
                                      <p:tavLst>
                                        <p:tav tm="0">
                                          <p:val>
                                            <p:strVal val="#ppt_w*2.4"/>
                                          </p:val>
                                        </p:tav>
                                        <p:tav tm="100000">
                                          <p:val>
                                            <p:strVal val="#ppt_w"/>
                                          </p:val>
                                        </p:tav>
                                      </p:tavLst>
                                    </p:anim>
                                    <p:anim calcmode="lin" valueType="num">
                                      <p:cBhvr additive="base">
                                        <p:cTn id="132" dur="400" fill="hold"/>
                                        <p:tgtEl>
                                          <p:spTgt spid="15"/>
                                        </p:tgtEl>
                                        <p:attrNameLst>
                                          <p:attrName>ppt_h</p:attrName>
                                        </p:attrNameLst>
                                      </p:cBhvr>
                                      <p:tavLst>
                                        <p:tav tm="0">
                                          <p:val>
                                            <p:strVal val="#ppt_h*2.4"/>
                                          </p:val>
                                        </p:tav>
                                        <p:tav tm="100000">
                                          <p:val>
                                            <p:strVal val="#ppt_h"/>
                                          </p:val>
                                        </p:tav>
                                      </p:tavLst>
                                    </p:anim>
                                    <p:animEffect transition="in" filter="fade">
                                      <p:cBhvr>
                                        <p:cTn id="133" dur="400"/>
                                        <p:tgtEl>
                                          <p:spTgt spid="15"/>
                                        </p:tgtEl>
                                      </p:cBhvr>
                                    </p:animEffect>
                                  </p:childTnLst>
                                </p:cTn>
                              </p:par>
                              <p:par>
                                <p:cTn id="137" presetID="10" presetClass="exit" presetSubtype="0" fill="hold" grpId="1" nodeType="withEffect">
                                  <p:stCondLst>
                                    <p:cond delay="17000"/>
                                  </p:stCondLst>
                                  <p:childTnLst>
                                    <p:animEffect transition="out" filter="fade">
                                      <p:cBhvr>
                                        <p:cTn id="135" dur="200"/>
                                        <p:tgtEl>
                                          <p:spTgt spid="40"/>
                                        </p:tgtEl>
                                      </p:cBhvr>
                                    </p:animEffect>
                                    <p:set>
                                      <p:cBhvr>
                                        <p:cTn id="136" dur="1" fill="hold">
                                          <p:stCondLst>
                                            <p:cond delay="199"/>
                                          </p:stCondLst>
                                        </p:cTn>
                                        <p:tgtEl>
                                          <p:spTgt spid="40"/>
                                        </p:tgtEl>
                                        <p:attrNameLst>
                                          <p:attrName>style.visibility</p:attrName>
                                        </p:attrNameLst>
                                      </p:cBhvr>
                                      <p:to>
                                        <p:strVal val="hidden"/>
                                      </p:to>
                                    </p:set>
                                  </p:childTnLst>
                                </p:cTn>
                              </p:par>
                              <p:par>
                                <p:cTn id="140" presetID="10" presetClass="exit" presetSubtype="0" fill="hold" grpId="1" nodeType="withEffect">
                                  <p:stCondLst>
                                    <p:cond delay="17029"/>
                                  </p:stCondLst>
                                  <p:childTnLst>
                                    <p:animEffect transition="out" filter="fade">
                                      <p:cBhvr>
                                        <p:cTn id="138" dur="250"/>
                                        <p:tgtEl>
                                          <p:spTgt spid="12"/>
                                        </p:tgtEl>
                                      </p:cBhvr>
                                    </p:animEffect>
                                    <p:set>
                                      <p:cBhvr>
                                        <p:cTn id="139" dur="1" fill="hold">
                                          <p:stCondLst>
                                            <p:cond delay="249"/>
                                          </p:stCondLst>
                                        </p:cTn>
                                        <p:tgtEl>
                                          <p:spTgt spid="12"/>
                                        </p:tgtEl>
                                        <p:attrNameLst>
                                          <p:attrName>style.visibility</p:attrName>
                                        </p:attrNameLst>
                                      </p:cBhvr>
                                      <p:to>
                                        <p:strVal val="hidden"/>
                                      </p:to>
                                    </p:set>
                                  </p:childTnLst>
                                </p:cTn>
                              </p:par>
                              <p:par>
                                <p:cTn id="143" presetID="10" presetClass="exit" presetSubtype="0" fill="hold" grpId="1" nodeType="withEffect">
                                  <p:stCondLst>
                                    <p:cond delay="17058"/>
                                  </p:stCondLst>
                                  <p:childTnLst>
                                    <p:animEffect transition="out" filter="fade">
                                      <p:cBhvr>
                                        <p:cTn id="141" dur="250"/>
                                        <p:tgtEl>
                                          <p:spTgt spid="13"/>
                                        </p:tgtEl>
                                      </p:cBhvr>
                                    </p:animEffect>
                                    <p:set>
                                      <p:cBhvr>
                                        <p:cTn id="142" dur="1" fill="hold">
                                          <p:stCondLst>
                                            <p:cond delay="249"/>
                                          </p:stCondLst>
                                        </p:cTn>
                                        <p:tgtEl>
                                          <p:spTgt spid="13"/>
                                        </p:tgtEl>
                                        <p:attrNameLst>
                                          <p:attrName>style.visibility</p:attrName>
                                        </p:attrNameLst>
                                      </p:cBhvr>
                                      <p:to>
                                        <p:strVal val="hidden"/>
                                      </p:to>
                                    </p:set>
                                  </p:childTnLst>
                                </p:cTn>
                              </p:par>
                              <p:par>
                                <p:cTn id="146" presetID="10" presetClass="exit" presetSubtype="0" fill="hold" grpId="1" nodeType="withEffect">
                                  <p:stCondLst>
                                    <p:cond delay="17087"/>
                                  </p:stCondLst>
                                  <p:childTnLst>
                                    <p:animEffect transition="out" filter="fade">
                                      <p:cBhvr>
                                        <p:cTn id="144" dur="250"/>
                                        <p:tgtEl>
                                          <p:spTgt spid="14"/>
                                        </p:tgtEl>
                                      </p:cBhvr>
                                    </p:animEffect>
                                    <p:set>
                                      <p:cBhvr>
                                        <p:cTn id="145" dur="1" fill="hold">
                                          <p:stCondLst>
                                            <p:cond delay="249"/>
                                          </p:stCondLst>
                                        </p:cTn>
                                        <p:tgtEl>
                                          <p:spTgt spid="14"/>
                                        </p:tgtEl>
                                        <p:attrNameLst>
                                          <p:attrName>style.visibility</p:attrName>
                                        </p:attrNameLst>
                                      </p:cBhvr>
                                      <p:to>
                                        <p:strVal val="hidden"/>
                                      </p:to>
                                    </p:set>
                                  </p:childTnLst>
                                </p:cTn>
                              </p:par>
                              <p:par>
                                <p:cTn id="149" presetID="10" presetClass="exit" presetSubtype="0" fill="hold" grpId="1" nodeType="withEffect">
                                  <p:stCondLst>
                                    <p:cond delay="17116"/>
                                  </p:stCondLst>
                                  <p:childTnLst>
                                    <p:animEffect transition="out" filter="fade">
                                      <p:cBhvr>
                                        <p:cTn id="147" dur="250"/>
                                        <p:tgtEl>
                                          <p:spTgt spid="15"/>
                                        </p:tgtEl>
                                      </p:cBhvr>
                                    </p:animEffect>
                                    <p:set>
                                      <p:cBhvr>
                                        <p:cTn id="148" dur="1" fill="hold">
                                          <p:stCondLst>
                                            <p:cond delay="249"/>
                                          </p:stCondLst>
                                        </p:cTn>
                                        <p:tgtEl>
                                          <p:spTgt spid="15"/>
                                        </p:tgtEl>
                                        <p:attrNameLst>
                                          <p:attrName>style.visibility</p:attrName>
                                        </p:attrNameLst>
                                      </p:cBhvr>
                                      <p:to>
                                        <p:strVal val="hidden"/>
                                      </p:to>
                                    </p:set>
                                  </p:childTnLst>
                                </p:cTn>
                              </p:par>
                              <p:par>
                                <p:cTn id="152" presetID="10" presetClass="exit" presetSubtype="0" fill="hold" grpId="1" nodeType="withEffect">
                                  <p:stCondLst>
                                    <p:cond delay="17145"/>
                                  </p:stCondLst>
                                  <p:childTnLst>
                                    <p:animEffect transition="out" filter="fade">
                                      <p:cBhvr>
                                        <p:cTn id="150" dur="200"/>
                                        <p:tgtEl>
                                          <p:spTgt spid="41"/>
                                        </p:tgtEl>
                                      </p:cBhvr>
                                    </p:animEffect>
                                    <p:set>
                                      <p:cBhvr>
                                        <p:cTn id="151" dur="1" fill="hold">
                                          <p:stCondLst>
                                            <p:cond delay="199"/>
                                          </p:stCondLst>
                                        </p:cTn>
                                        <p:tgtEl>
                                          <p:spTgt spid="41"/>
                                        </p:tgtEl>
                                        <p:attrNameLst>
                                          <p:attrName>style.visibility</p:attrName>
                                        </p:attrNameLst>
                                      </p:cBhvr>
                                      <p:to>
                                        <p:strVal val="hidden"/>
                                      </p:to>
                                    </p:set>
                                  </p:childTnLst>
                                </p:cTn>
                              </p:par>
                              <p:par>
                                <p:cTn id="155" presetID="10" presetClass="exit" presetSubtype="0" fill="hold" grpId="1" nodeType="withEffect">
                                  <p:stCondLst>
                                    <p:cond delay="17175"/>
                                  </p:stCondLst>
                                  <p:childTnLst>
                                    <p:animEffect transition="out" filter="fade">
                                      <p:cBhvr>
                                        <p:cTn id="153" dur="200"/>
                                        <p:tgtEl>
                                          <p:spTgt spid="42"/>
                                        </p:tgtEl>
                                      </p:cBhvr>
                                    </p:animEffect>
                                    <p:set>
                                      <p:cBhvr>
                                        <p:cTn id="154" dur="1" fill="hold">
                                          <p:stCondLst>
                                            <p:cond delay="199"/>
                                          </p:stCondLst>
                                        </p:cTn>
                                        <p:tgtEl>
                                          <p:spTgt spid="42"/>
                                        </p:tgtEl>
                                        <p:attrNameLst>
                                          <p:attrName>style.visibility</p:attrName>
                                        </p:attrNameLst>
                                      </p:cBhvr>
                                      <p:to>
                                        <p:strVal val="hidden"/>
                                      </p:to>
                                    </p:set>
                                  </p:childTnLst>
                                </p:cTn>
                              </p:par>
                              <p:par>
                                <p:cTn id="160" presetID="42" presetClass="entr" presetSubtype="0" fill="hold" grpId="0" nodeType="withEffect">
                                  <p:stCondLst>
                                    <p:cond delay="17204"/>
                                  </p:stCondLst>
                                  <p:childTnLst>
                                    <p:set>
                                      <p:cBhvr>
                                        <p:cTn id="156" dur="1" fill="hold">
                                          <p:stCondLst>
                                            <p:cond delay="0"/>
                                          </p:stCondLst>
                                        </p:cTn>
                                        <p:tgtEl>
                                          <p:spTgt spid="43"/>
                                        </p:tgtEl>
                                        <p:attrNameLst>
                                          <p:attrName>style.visibility</p:attrName>
                                        </p:attrNameLst>
                                      </p:cBhvr>
                                      <p:to>
                                        <p:strVal val="visible"/>
                                      </p:to>
                                    </p:set>
                                    <p:animEffect transition="in" filter="fade">
                                      <p:cBhvr>
                                        <p:cTn id="157" dur="400"/>
                                        <p:tgtEl>
                                          <p:spTgt spid="43"/>
                                        </p:tgtEl>
                                      </p:cBhvr>
                                    </p:animEffect>
                                    <p:anim calcmode="lin" valueType="num">
                                      <p:cBhvr additive="base">
                                        <p:cTn id="158" dur="400" fill="hold"/>
                                        <p:tgtEl>
                                          <p:spTgt spid="43"/>
                                        </p:tgtEl>
                                        <p:attrNameLst>
                                          <p:attrName>ppt_x</p:attrName>
                                        </p:attrNameLst>
                                      </p:cBhvr>
                                      <p:tavLst>
                                        <p:tav tm="0">
                                          <p:val>
                                            <p:strVal val="#ppt_x-.05"/>
                                          </p:val>
                                        </p:tav>
                                        <p:tav tm="100000">
                                          <p:val>
                                            <p:strVal val="#ppt_x"/>
                                          </p:val>
                                        </p:tav>
                                      </p:tavLst>
                                    </p:anim>
                                    <p:anim calcmode="lin" valueType="num">
                                      <p:cBhvr additive="base">
                                        <p:cTn id="159" dur="400" fill="hold"/>
                                        <p:tgtEl>
                                          <p:spTgt spid="43"/>
                                        </p:tgtEl>
                                        <p:attrNameLst>
                                          <p:attrName>ppt_y</p:attrName>
                                        </p:attrNameLst>
                                      </p:cBhvr>
                                      <p:tavLst>
                                        <p:tav tm="0">
                                          <p:val>
                                            <p:strVal val="#ppt_y"/>
                                          </p:val>
                                        </p:tav>
                                        <p:tav tm="100000">
                                          <p:val>
                                            <p:strVal val="#ppt_y"/>
                                          </p:val>
                                        </p:tav>
                                      </p:tavLst>
                                    </p:anim>
                                  </p:childTnLst>
                                </p:cTn>
                              </p:par>
                              <p:par>
                                <p:cTn id="163" presetID="10" presetClass="entr" presetSubtype="0" fill="hold" grpId="0" nodeType="withEffect">
                                  <p:stCondLst>
                                    <p:cond delay="17233"/>
                                  </p:stCondLst>
                                  <p:childTnLst>
                                    <p:set>
                                      <p:cBhvr>
                                        <p:cTn id="161" dur="1" fill="hold">
                                          <p:stCondLst>
                                            <p:cond delay="0"/>
                                          </p:stCondLst>
                                        </p:cTn>
                                        <p:tgtEl>
                                          <p:spTgt spid="7"/>
                                        </p:tgtEl>
                                        <p:attrNameLst>
                                          <p:attrName>style.visibility</p:attrName>
                                        </p:attrNameLst>
                                      </p:cBhvr>
                                      <p:to>
                                        <p:strVal val="visible"/>
                                      </p:to>
                                    </p:set>
                                    <p:animEffect transition="in" filter="fade">
                                      <p:cBhvr>
                                        <p:cTn id="162" dur="600"/>
                                        <p:tgtEl>
                                          <p:spTgt spid="7"/>
                                        </p:tgtEl>
                                      </p:cBhvr>
                                    </p:animEffect>
                                  </p:childTnLst>
                                </p:cTn>
                              </p:par>
                              <p:par>
                                <p:cTn id="168" presetID="42" presetClass="entr" presetSubtype="0" fill="hold" grpId="0" nodeType="withEffect">
                                  <p:stCondLst>
                                    <p:cond delay="17262"/>
                                  </p:stCondLst>
                                  <p:childTnLst>
                                    <p:set>
                                      <p:cBhvr>
                                        <p:cTn id="164" dur="1" fill="hold">
                                          <p:stCondLst>
                                            <p:cond delay="0"/>
                                          </p:stCondLst>
                                        </p:cTn>
                                        <p:tgtEl>
                                          <p:spTgt spid="44"/>
                                        </p:tgtEl>
                                        <p:attrNameLst>
                                          <p:attrName>style.visibility</p:attrName>
                                        </p:attrNameLst>
                                      </p:cBhvr>
                                      <p:to>
                                        <p:strVal val="visible"/>
                                      </p:to>
                                    </p:set>
                                    <p:animEffect transition="in" filter="fade">
                                      <p:cBhvr>
                                        <p:cTn id="165" dur="300"/>
                                        <p:tgtEl>
                                          <p:spTgt spid="44"/>
                                        </p:tgtEl>
                                      </p:cBhvr>
                                    </p:animEffect>
                                    <p:anim calcmode="lin" valueType="num">
                                      <p:cBhvr additive="base">
                                        <p:cTn id="166" dur="300" fill="hold"/>
                                        <p:tgtEl>
                                          <p:spTgt spid="44"/>
                                        </p:tgtEl>
                                        <p:attrNameLst>
                                          <p:attrName>ppt_x</p:attrName>
                                        </p:attrNameLst>
                                      </p:cBhvr>
                                      <p:tavLst>
                                        <p:tav tm="0">
                                          <p:val>
                                            <p:strVal val="#ppt_x-.05"/>
                                          </p:val>
                                        </p:tav>
                                        <p:tav tm="100000">
                                          <p:val>
                                            <p:strVal val="#ppt_x"/>
                                          </p:val>
                                        </p:tav>
                                      </p:tavLst>
                                    </p:anim>
                                    <p:anim calcmode="lin" valueType="num">
                                      <p:cBhvr additive="base">
                                        <p:cTn id="167" dur="300" fill="hold"/>
                                        <p:tgtEl>
                                          <p:spTgt spid="44"/>
                                        </p:tgtEl>
                                        <p:attrNameLst>
                                          <p:attrName>ppt_y</p:attrName>
                                        </p:attrNameLst>
                                      </p:cBhvr>
                                      <p:tavLst>
                                        <p:tav tm="0">
                                          <p:val>
                                            <p:strVal val="#ppt_y"/>
                                          </p:val>
                                        </p:tav>
                                        <p:tav tm="100000">
                                          <p:val>
                                            <p:strVal val="#ppt_y"/>
                                          </p:val>
                                        </p:tav>
                                      </p:tavLst>
                                    </p:anim>
                                  </p:childTnLst>
                                </p:cTn>
                              </p:par>
                              <p:par>
                                <p:cTn id="171" presetID="10" presetClass="entr" presetSubtype="0" fill="hold" grpId="0" nodeType="withEffect">
                                  <p:stCondLst>
                                    <p:cond delay="17291"/>
                                  </p:stCondLst>
                                  <p:childTnLst>
                                    <p:set>
                                      <p:cBhvr>
                                        <p:cTn id="169" dur="1" fill="hold">
                                          <p:stCondLst>
                                            <p:cond delay="0"/>
                                          </p:stCondLst>
                                        </p:cTn>
                                        <p:tgtEl>
                                          <p:spTgt spid="45"/>
                                        </p:tgtEl>
                                        <p:attrNameLst>
                                          <p:attrName>style.visibility</p:attrName>
                                        </p:attrNameLst>
                                      </p:cBhvr>
                                      <p:to>
                                        <p:strVal val="visible"/>
                                      </p:to>
                                    </p:set>
                                    <p:animEffect transition="in" filter="fade">
                                      <p:cBhvr>
                                        <p:cTn id="170" dur="200"/>
                                        <p:tgtEl>
                                          <p:spTgt spid="45"/>
                                        </p:tgtEl>
                                      </p:cBhvr>
                                    </p:animEffect>
                                  </p:childTnLst>
                                </p:cTn>
                              </p:par>
                              <p:par>
                                <p:cTn id="176" presetID="53" presetClass="entr" presetSubtype="16" fill="hold" grpId="0" nodeType="withEffect">
                                  <p:stCondLst>
                                    <p:cond delay="17320"/>
                                  </p:stCondLst>
                                  <p:childTnLst>
                                    <p:set>
                                      <p:cBhvr>
                                        <p:cTn id="172" dur="1" fill="hold">
                                          <p:stCondLst>
                                            <p:cond delay="0"/>
                                          </p:stCondLst>
                                        </p:cTn>
                                        <p:tgtEl>
                                          <p:spTgt spid="16"/>
                                        </p:tgtEl>
                                        <p:attrNameLst>
                                          <p:attrName>style.visibility</p:attrName>
                                        </p:attrNameLst>
                                      </p:cBhvr>
                                      <p:to>
                                        <p:strVal val="visible"/>
                                      </p:to>
                                    </p:set>
                                    <p:anim calcmode="lin" valueType="num">
                                      <p:cBhvr additive="base">
                                        <p:cTn id="173" dur="400" fill="hold"/>
                                        <p:tgtEl>
                                          <p:spTgt spid="16"/>
                                        </p:tgtEl>
                                        <p:attrNameLst>
                                          <p:attrName>ppt_w</p:attrName>
                                        </p:attrNameLst>
                                      </p:cBhvr>
                                      <p:tavLst>
                                        <p:tav tm="0">
                                          <p:val>
                                            <p:strVal val="0"/>
                                          </p:val>
                                        </p:tav>
                                        <p:tav tm="100000">
                                          <p:val>
                                            <p:strVal val="#ppt_w"/>
                                          </p:val>
                                        </p:tav>
                                      </p:tavLst>
                                    </p:anim>
                                    <p:anim calcmode="lin" valueType="num">
                                      <p:cBhvr additive="base">
                                        <p:cTn id="174" dur="400" fill="hold"/>
                                        <p:tgtEl>
                                          <p:spTgt spid="16"/>
                                        </p:tgtEl>
                                        <p:attrNameLst>
                                          <p:attrName>ppt_h</p:attrName>
                                        </p:attrNameLst>
                                      </p:cBhvr>
                                      <p:tavLst>
                                        <p:tav tm="0">
                                          <p:val>
                                            <p:strVal val="0"/>
                                          </p:val>
                                        </p:tav>
                                        <p:tav tm="100000">
                                          <p:val>
                                            <p:strVal val="#ppt_h"/>
                                          </p:val>
                                        </p:tav>
                                      </p:tavLst>
                                    </p:anim>
                                    <p:animEffect transition="in" filter="fade">
                                      <p:cBhvr>
                                        <p:cTn id="175" dur="400"/>
                                        <p:tgtEl>
                                          <p:spTgt spid="16"/>
                                        </p:tgtEl>
                                      </p:cBhvr>
                                    </p:animEffect>
                                  </p:childTnLst>
                                </p:cTn>
                              </p:par>
                              <p:par>
                                <p:cTn id="178" presetID="0" presetClass="path" presetSubtype="0" fill="hold" grpId="1" nodeType="withEffect" autoRev="1" repeatCount="10000">
                                  <p:stCondLst>
                                    <p:cond delay="17350"/>
                                  </p:stCondLst>
                                  <p:childTnLst>
                                    <p:animMotion origin="layout" path="M 0 0 L 0.008 0 E" pathEditMode="relative" ptsTypes="AA">
                                      <p:cBhvr>
                                        <p:cTn id="177" dur="50" fill="hold"/>
                                        <p:tgtEl>
                                          <p:spTgt spid="16"/>
                                        </p:tgtEl>
                                        <p:attrNameLst>
                                          <p:attrName>ppt_x</p:attrName>
                                          <p:attrName>ppt_y</p:attrName>
                                        </p:attrNameLst>
                                      </p:cBhvr>
                                    </p:animMotion>
                                  </p:childTnLst>
                                </p:cTn>
                              </p:par>
                              <p:par>
                                <p:cTn id="181" presetID="10" presetClass="exit" presetSubtype="0" fill="hold" grpId="2" nodeType="withEffect">
                                  <p:stCondLst>
                                    <p:cond delay="19835"/>
                                  </p:stCondLst>
                                  <p:childTnLst>
                                    <p:animEffect transition="out" filter="fade">
                                      <p:cBhvr>
                                        <p:cTn id="179" dur="250"/>
                                        <p:tgtEl>
                                          <p:spTgt spid="16"/>
                                        </p:tgtEl>
                                      </p:cBhvr>
                                    </p:animEffect>
                                    <p:set>
                                      <p:cBhvr>
                                        <p:cTn id="180" dur="1" fill="hold">
                                          <p:stCondLst>
                                            <p:cond delay="249"/>
                                          </p:stCondLst>
                                        </p:cTn>
                                        <p:tgtEl>
                                          <p:spTgt spid="16"/>
                                        </p:tgtEl>
                                        <p:attrNameLst>
                                          <p:attrName>style.visibility</p:attrName>
                                        </p:attrNameLst>
                                      </p:cBhvr>
                                      <p:to>
                                        <p:strVal val="hidden"/>
                                      </p:to>
                                    </p:set>
                                  </p:childTnLst>
                                </p:cTn>
                              </p:par>
                              <p:par>
                                <p:cTn id="184" presetID="10" presetClass="entr" presetSubtype="0" fill="hold" grpId="0" nodeType="withEffect">
                                  <p:stCondLst>
                                    <p:cond delay="19860"/>
                                  </p:stCondLst>
                                  <p:childTnLst>
                                    <p:set>
                                      <p:cBhvr>
                                        <p:cTn id="182" dur="1" fill="hold">
                                          <p:stCondLst>
                                            <p:cond delay="0"/>
                                          </p:stCondLst>
                                        </p:cTn>
                                        <p:tgtEl>
                                          <p:spTgt spid="17"/>
                                        </p:tgtEl>
                                        <p:attrNameLst>
                                          <p:attrName>style.visibility</p:attrName>
                                        </p:attrNameLst>
                                      </p:cBhvr>
                                      <p:to>
                                        <p:strVal val="visible"/>
                                      </p:to>
                                    </p:set>
                                    <p:animEffect transition="in" filter="fade">
                                      <p:cBhvr>
                                        <p:cTn id="183" dur="300"/>
                                        <p:tgtEl>
                                          <p:spTgt spid="17"/>
                                        </p:tgtEl>
                                      </p:cBhvr>
                                    </p:animEffect>
                                  </p:childTnLst>
                                </p:cTn>
                              </p:par>
                              <p:par>
                                <p:cTn id="186" presetID="0" presetClass="path" presetSubtype="0" fill="hold" grpId="1" nodeType="withEffect">
                                  <p:stCondLst>
                                    <p:cond delay="19885"/>
                                  </p:stCondLst>
                                  <p:childTnLst>
                                    <p:animMotion origin="layout" path="M 0 0 L 0.36 0 E" pathEditMode="relative" ptsTypes="AA">
                                      <p:cBhvr>
                                        <p:cTn id="185" dur="600" fill="hold"/>
                                        <p:tgtEl>
                                          <p:spTgt spid="17"/>
                                        </p:tgtEl>
                                        <p:attrNameLst>
                                          <p:attrName>ppt_x</p:attrName>
                                          <p:attrName>ppt_y</p:attrName>
                                        </p:attrNameLst>
                                      </p:cBhvr>
                                    </p:animMotion>
                                  </p:childTnLst>
                                </p:cTn>
                              </p:par>
                              <p:par>
                                <p:cTn id="189" presetID="10" presetClass="exit" presetSubtype="0" fill="hold" grpId="1" nodeType="withEffect">
                                  <p:stCondLst>
                                    <p:cond delay="19910"/>
                                  </p:stCondLst>
                                  <p:childTnLst>
                                    <p:animEffect transition="out" filter="fade">
                                      <p:cBhvr>
                                        <p:cTn id="187" dur="220"/>
                                        <p:tgtEl>
                                          <p:spTgt spid="26"/>
                                        </p:tgtEl>
                                      </p:cBhvr>
                                    </p:animEffect>
                                    <p:set>
                                      <p:cBhvr>
                                        <p:cTn id="188" dur="1" fill="hold">
                                          <p:stCondLst>
                                            <p:cond delay="219"/>
                                          </p:stCondLst>
                                        </p:cTn>
                                        <p:tgtEl>
                                          <p:spTgt spid="26"/>
                                        </p:tgtEl>
                                        <p:attrNameLst>
                                          <p:attrName>style.visibility</p:attrName>
                                        </p:attrNameLst>
                                      </p:cBhvr>
                                      <p:to>
                                        <p:strVal val="hidden"/>
                                      </p:to>
                                    </p:set>
                                  </p:childTnLst>
                                </p:cTn>
                              </p:par>
                              <p:par>
                                <p:cTn id="192" presetID="10" presetClass="entr" presetSubtype="0" fill="hold" grpId="0" nodeType="withEffect">
                                  <p:stCondLst>
                                    <p:cond delay="19935"/>
                                  </p:stCondLst>
                                  <p:childTnLst>
                                    <p:set>
                                      <p:cBhvr>
                                        <p:cTn id="190" dur="1" fill="hold">
                                          <p:stCondLst>
                                            <p:cond delay="0"/>
                                          </p:stCondLst>
                                        </p:cTn>
                                        <p:tgtEl>
                                          <p:spTgt spid="27"/>
                                        </p:tgtEl>
                                        <p:attrNameLst>
                                          <p:attrName>style.visibility</p:attrName>
                                        </p:attrNameLst>
                                      </p:cBhvr>
                                      <p:to>
                                        <p:strVal val="visible"/>
                                      </p:to>
                                    </p:set>
                                    <p:animEffect transition="in" filter="fade">
                                      <p:cBhvr>
                                        <p:cTn id="191" dur="220"/>
                                        <p:tgtEl>
                                          <p:spTgt spid="27"/>
                                        </p:tgtEl>
                                      </p:cBhvr>
                                    </p:animEffect>
                                  </p:childTnLst>
                                </p:cTn>
                              </p:par>
                              <p:par>
                                <p:cTn id="195" presetID="10" presetClass="entr" presetSubtype="0" fill="hold" grpId="0" nodeType="withEffect">
                                  <p:stCondLst>
                                    <p:cond delay="19960"/>
                                  </p:stCondLst>
                                  <p:childTnLst>
                                    <p:set>
                                      <p:cBhvr>
                                        <p:cTn id="193" dur="1" fill="hold">
                                          <p:stCondLst>
                                            <p:cond delay="0"/>
                                          </p:stCondLst>
                                        </p:cTn>
                                        <p:tgtEl>
                                          <p:spTgt spid="46"/>
                                        </p:tgtEl>
                                        <p:attrNameLst>
                                          <p:attrName>style.visibility</p:attrName>
                                        </p:attrNameLst>
                                      </p:cBhvr>
                                      <p:to>
                                        <p:strVal val="visible"/>
                                      </p:to>
                                    </p:set>
                                    <p:animEffect transition="in" filter="fade">
                                      <p:cBhvr>
                                        <p:cTn id="194" dur="80"/>
                                        <p:tgtEl>
                                          <p:spTgt spid="46"/>
                                        </p:tgtEl>
                                      </p:cBhvr>
                                    </p:animEffect>
                                  </p:childTnLst>
                                </p:cTn>
                              </p:par>
                              <p:par>
                                <p:cTn id="198" presetID="10" presetClass="exit" presetSubtype="0" fill="hold" grpId="1" nodeType="withEffect">
                                  <p:stCondLst>
                                    <p:cond delay="19985"/>
                                  </p:stCondLst>
                                  <p:childTnLst>
                                    <p:animEffect transition="out" filter="fade">
                                      <p:cBhvr>
                                        <p:cTn id="196" dur="200"/>
                                        <p:tgtEl>
                                          <p:spTgt spid="44"/>
                                        </p:tgtEl>
                                      </p:cBhvr>
                                    </p:animEffect>
                                    <p:set>
                                      <p:cBhvr>
                                        <p:cTn id="197" dur="1" fill="hold">
                                          <p:stCondLst>
                                            <p:cond delay="199"/>
                                          </p:stCondLst>
                                        </p:cTn>
                                        <p:tgtEl>
                                          <p:spTgt spid="44"/>
                                        </p:tgtEl>
                                        <p:attrNameLst>
                                          <p:attrName>style.visibility</p:attrName>
                                        </p:attrNameLst>
                                      </p:cBhvr>
                                      <p:to>
                                        <p:strVal val="hidden"/>
                                      </p:to>
                                    </p:set>
                                  </p:childTnLst>
                                </p:cTn>
                              </p:par>
                              <p:par>
                                <p:cTn id="201" presetID="10" presetClass="exit" presetSubtype="0" fill="hold" grpId="1" nodeType="withEffect">
                                  <p:stCondLst>
                                    <p:cond delay="20010"/>
                                  </p:stCondLst>
                                  <p:childTnLst>
                                    <p:animEffect transition="out" filter="fade">
                                      <p:cBhvr>
                                        <p:cTn id="199" dur="200"/>
                                        <p:tgtEl>
                                          <p:spTgt spid="45"/>
                                        </p:tgtEl>
                                      </p:cBhvr>
                                    </p:animEffect>
                                    <p:set>
                                      <p:cBhvr>
                                        <p:cTn id="200" dur="1" fill="hold">
                                          <p:stCondLst>
                                            <p:cond delay="199"/>
                                          </p:stCondLst>
                                        </p:cTn>
                                        <p:tgtEl>
                                          <p:spTgt spid="45"/>
                                        </p:tgtEl>
                                        <p:attrNameLst>
                                          <p:attrName>style.visibility</p:attrName>
                                        </p:attrNameLst>
                                      </p:cBhvr>
                                      <p:to>
                                        <p:strVal val="hidden"/>
                                      </p:to>
                                    </p:set>
                                  </p:childTnLst>
                                </p:cTn>
                              </p:par>
                              <p:par>
                                <p:cTn id="204" presetID="22" presetClass="entr" presetSubtype="1" fill="hold" grpId="0" nodeType="withEffect">
                                  <p:stCondLst>
                                    <p:cond delay="20035"/>
                                  </p:stCondLst>
                                  <p:childTnLst>
                                    <p:set>
                                      <p:cBhvr>
                                        <p:cTn id="202" dur="1" fill="hold">
                                          <p:stCondLst>
                                            <p:cond delay="0"/>
                                          </p:stCondLst>
                                        </p:cTn>
                                        <p:tgtEl>
                                          <p:spTgt spid="18"/>
                                        </p:tgtEl>
                                        <p:attrNameLst>
                                          <p:attrName>style.visibility</p:attrName>
                                        </p:attrNameLst>
                                      </p:cBhvr>
                                      <p:to>
                                        <p:strVal val="visible"/>
                                      </p:to>
                                    </p:set>
                                    <p:animEffect transition="in" filter="wipe(down)">
                                      <p:cBhvr>
                                        <p:cTn id="203" dur="600"/>
                                        <p:tgtEl>
                                          <p:spTgt spid="18"/>
                                        </p:tgtEl>
                                      </p:cBhvr>
                                    </p:animEffect>
                                  </p:childTnLst>
                                </p:cTn>
                              </p:par>
                              <p:par>
                                <p:cTn id="207" presetID="10" presetClass="exit" presetSubtype="0" fill="hold" grpId="1" nodeType="withEffect">
                                  <p:stCondLst>
                                    <p:cond delay="20080"/>
                                  </p:stCondLst>
                                  <p:childTnLst>
                                    <p:animEffect transition="out" filter="fade">
                                      <p:cBhvr>
                                        <p:cTn id="205" dur="300"/>
                                        <p:tgtEl>
                                          <p:spTgt spid="46"/>
                                        </p:tgtEl>
                                      </p:cBhvr>
                                    </p:animEffect>
                                    <p:set>
                                      <p:cBhvr>
                                        <p:cTn id="206" dur="1" fill="hold">
                                          <p:stCondLst>
                                            <p:cond delay="299"/>
                                          </p:stCondLst>
                                        </p:cTn>
                                        <p:tgtEl>
                                          <p:spTgt spid="46"/>
                                        </p:tgtEl>
                                        <p:attrNameLst>
                                          <p:attrName>style.visibility</p:attrName>
                                        </p:attrNameLst>
                                      </p:cBhvr>
                                      <p:to>
                                        <p:strVal val="hidden"/>
                                      </p:to>
                                    </p:set>
                                  </p:childTnLst>
                                </p:cTn>
                              </p:par>
                              <p:par>
                                <p:cTn id="210" presetID="10" presetClass="exit" presetSubtype="0" fill="hold" grpId="1" nodeType="withEffect">
                                  <p:stCondLst>
                                    <p:cond delay="20085"/>
                                  </p:stCondLst>
                                  <p:childTnLst>
                                    <p:animEffect transition="out" filter="fade">
                                      <p:cBhvr>
                                        <p:cTn id="208" dur="220"/>
                                        <p:tgtEl>
                                          <p:spTgt spid="23"/>
                                        </p:tgtEl>
                                      </p:cBhvr>
                                    </p:animEffect>
                                    <p:set>
                                      <p:cBhvr>
                                        <p:cTn id="209" dur="1" fill="hold">
                                          <p:stCondLst>
                                            <p:cond delay="219"/>
                                          </p:stCondLst>
                                        </p:cTn>
                                        <p:tgtEl>
                                          <p:spTgt spid="23"/>
                                        </p:tgtEl>
                                        <p:attrNameLst>
                                          <p:attrName>style.visibility</p:attrName>
                                        </p:attrNameLst>
                                      </p:cBhvr>
                                      <p:to>
                                        <p:strVal val="hidden"/>
                                      </p:to>
                                    </p:set>
                                  </p:childTnLst>
                                </p:cTn>
                              </p:par>
                              <p:par>
                                <p:cTn id="213" presetID="10" presetClass="entr" presetSubtype="0" fill="hold" grpId="0" nodeType="withEffect">
                                  <p:stCondLst>
                                    <p:cond delay="20110"/>
                                  </p:stCondLst>
                                  <p:childTnLst>
                                    <p:set>
                                      <p:cBhvr>
                                        <p:cTn id="211" dur="1" fill="hold">
                                          <p:stCondLst>
                                            <p:cond delay="0"/>
                                          </p:stCondLst>
                                        </p:cTn>
                                        <p:tgtEl>
                                          <p:spTgt spid="24"/>
                                        </p:tgtEl>
                                        <p:attrNameLst>
                                          <p:attrName>style.visibility</p:attrName>
                                        </p:attrNameLst>
                                      </p:cBhvr>
                                      <p:to>
                                        <p:strVal val="visible"/>
                                      </p:to>
                                    </p:set>
                                    <p:animEffect transition="in" filter="fade">
                                      <p:cBhvr>
                                        <p:cTn id="212" dur="220"/>
                                        <p:tgtEl>
                                          <p:spTgt spid="24"/>
                                        </p:tgtEl>
                                      </p:cBhvr>
                                    </p:animEffect>
                                  </p:childTnLst>
                                </p:cTn>
                              </p:par>
                              <p:par>
                                <p:cTn id="218" presetID="42" presetClass="entr" presetSubtype="0" fill="hold" grpId="0" nodeType="withEffect">
                                  <p:stCondLst>
                                    <p:cond delay="20135"/>
                                  </p:stCondLst>
                                  <p:childTnLst>
                                    <p:set>
                                      <p:cBhvr>
                                        <p:cTn id="214" dur="1" fill="hold">
                                          <p:stCondLst>
                                            <p:cond delay="0"/>
                                          </p:stCondLst>
                                        </p:cTn>
                                        <p:tgtEl>
                                          <p:spTgt spid="47"/>
                                        </p:tgtEl>
                                        <p:attrNameLst>
                                          <p:attrName>style.visibility</p:attrName>
                                        </p:attrNameLst>
                                      </p:cBhvr>
                                      <p:to>
                                        <p:strVal val="visible"/>
                                      </p:to>
                                    </p:set>
                                    <p:animEffect transition="in" filter="fade">
                                      <p:cBhvr>
                                        <p:cTn id="215" dur="300"/>
                                        <p:tgtEl>
                                          <p:spTgt spid="47"/>
                                        </p:tgtEl>
                                      </p:cBhvr>
                                    </p:animEffect>
                                    <p:anim calcmode="lin" valueType="num">
                                      <p:cBhvr additive="base">
                                        <p:cTn id="216" dur="300" fill="hold"/>
                                        <p:tgtEl>
                                          <p:spTgt spid="47"/>
                                        </p:tgtEl>
                                        <p:attrNameLst>
                                          <p:attrName>ppt_x</p:attrName>
                                        </p:attrNameLst>
                                      </p:cBhvr>
                                      <p:tavLst>
                                        <p:tav tm="0">
                                          <p:val>
                                            <p:strVal val="#ppt_x-.05"/>
                                          </p:val>
                                        </p:tav>
                                        <p:tav tm="100000">
                                          <p:val>
                                            <p:strVal val="#ppt_x"/>
                                          </p:val>
                                        </p:tav>
                                      </p:tavLst>
                                    </p:anim>
                                    <p:anim calcmode="lin" valueType="num">
                                      <p:cBhvr additive="base">
                                        <p:cTn id="217" dur="300" fill="hold"/>
                                        <p:tgtEl>
                                          <p:spTgt spid="47"/>
                                        </p:tgtEl>
                                        <p:attrNameLst>
                                          <p:attrName>ppt_y</p:attrName>
                                        </p:attrNameLst>
                                      </p:cBhvr>
                                      <p:tavLst>
                                        <p:tav tm="0">
                                          <p:val>
                                            <p:strVal val="#ppt_y"/>
                                          </p:val>
                                        </p:tav>
                                        <p:tav tm="100000">
                                          <p:val>
                                            <p:strVal val="#ppt_y"/>
                                          </p:val>
                                        </p:tav>
                                      </p:tavLst>
                                    </p:anim>
                                  </p:childTnLst>
                                </p:cTn>
                              </p:par>
                              <p:par>
                                <p:cTn id="221" presetID="10" presetClass="entr" presetSubtype="0" fill="hold" grpId="0" nodeType="withEffect">
                                  <p:stCondLst>
                                    <p:cond delay="20160"/>
                                  </p:stCondLst>
                                  <p:childTnLst>
                                    <p:set>
                                      <p:cBhvr>
                                        <p:cTn id="219" dur="1" fill="hold">
                                          <p:stCondLst>
                                            <p:cond delay="0"/>
                                          </p:stCondLst>
                                        </p:cTn>
                                        <p:tgtEl>
                                          <p:spTgt spid="48"/>
                                        </p:tgtEl>
                                        <p:attrNameLst>
                                          <p:attrName>style.visibility</p:attrName>
                                        </p:attrNameLst>
                                      </p:cBhvr>
                                      <p:to>
                                        <p:strVal val="visible"/>
                                      </p:to>
                                    </p:set>
                                    <p:animEffect transition="in" filter="fade">
                                      <p:cBhvr>
                                        <p:cTn id="220" dur="200"/>
                                        <p:tgtEl>
                                          <p:spTgt spid="48"/>
                                        </p:tgtEl>
                                      </p:cBhvr>
                                    </p:animEffect>
                                  </p:childTnLst>
                                </p:cTn>
                              </p:par>
                              <p:par>
                                <p:cTn id="226" presetID="53" presetClass="entr" presetSubtype="16" fill="hold" grpId="0" nodeType="withEffect">
                                  <p:stCondLst>
                                    <p:cond delay="20185"/>
                                  </p:stCondLst>
                                  <p:childTnLst>
                                    <p:set>
                                      <p:cBhvr>
                                        <p:cTn id="222" dur="1" fill="hold">
                                          <p:stCondLst>
                                            <p:cond delay="0"/>
                                          </p:stCondLst>
                                        </p:cTn>
                                        <p:tgtEl>
                                          <p:spTgt spid="30"/>
                                        </p:tgtEl>
                                        <p:attrNameLst>
                                          <p:attrName>style.visibility</p:attrName>
                                        </p:attrNameLst>
                                      </p:cBhvr>
                                      <p:to>
                                        <p:strVal val="visible"/>
                                      </p:to>
                                    </p:set>
                                    <p:anim calcmode="lin" valueType="num">
                                      <p:cBhvr additive="base">
                                        <p:cTn id="223" dur="300" fill="hold"/>
                                        <p:tgtEl>
                                          <p:spTgt spid="30"/>
                                        </p:tgtEl>
                                        <p:attrNameLst>
                                          <p:attrName>ppt_w</p:attrName>
                                        </p:attrNameLst>
                                      </p:cBhvr>
                                      <p:tavLst>
                                        <p:tav tm="0">
                                          <p:val>
                                            <p:strVal val="0"/>
                                          </p:val>
                                        </p:tav>
                                        <p:tav tm="100000">
                                          <p:val>
                                            <p:strVal val="#ppt_w"/>
                                          </p:val>
                                        </p:tav>
                                      </p:tavLst>
                                    </p:anim>
                                    <p:anim calcmode="lin" valueType="num">
                                      <p:cBhvr additive="base">
                                        <p:cTn id="224" dur="300" fill="hold"/>
                                        <p:tgtEl>
                                          <p:spTgt spid="30"/>
                                        </p:tgtEl>
                                        <p:attrNameLst>
                                          <p:attrName>ppt_h</p:attrName>
                                        </p:attrNameLst>
                                      </p:cBhvr>
                                      <p:tavLst>
                                        <p:tav tm="0">
                                          <p:val>
                                            <p:strVal val="0"/>
                                          </p:val>
                                        </p:tav>
                                        <p:tav tm="100000">
                                          <p:val>
                                            <p:strVal val="#ppt_h"/>
                                          </p:val>
                                        </p:tav>
                                      </p:tavLst>
                                    </p:anim>
                                    <p:animEffect transition="in" filter="fade">
                                      <p:cBhvr>
                                        <p:cTn id="225" dur="300"/>
                                        <p:tgtEl>
                                          <p:spTgt spid="30"/>
                                        </p:tgtEl>
                                      </p:cBhvr>
                                    </p:animEffect>
                                  </p:childTnLst>
                                </p:cTn>
                              </p:par>
                              <p:par>
                                <p:cTn id="229" presetID="10" presetClass="exit" presetSubtype="0" fill="hold" grpId="1" nodeType="withEffect">
                                  <p:stCondLst>
                                    <p:cond delay="23300"/>
                                  </p:stCondLst>
                                  <p:childTnLst>
                                    <p:animEffect transition="out" filter="fade">
                                      <p:cBhvr>
                                        <p:cTn id="227" dur="200"/>
                                        <p:tgtEl>
                                          <p:spTgt spid="43"/>
                                        </p:tgtEl>
                                      </p:cBhvr>
                                    </p:animEffect>
                                    <p:set>
                                      <p:cBhvr>
                                        <p:cTn id="228" dur="1" fill="hold">
                                          <p:stCondLst>
                                            <p:cond delay="199"/>
                                          </p:stCondLst>
                                        </p:cTn>
                                        <p:tgtEl>
                                          <p:spTgt spid="43"/>
                                        </p:tgtEl>
                                        <p:attrNameLst>
                                          <p:attrName>style.visibility</p:attrName>
                                        </p:attrNameLst>
                                      </p:cBhvr>
                                      <p:to>
                                        <p:strVal val="hidden"/>
                                      </p:to>
                                    </p:set>
                                  </p:childTnLst>
                                </p:cTn>
                              </p:par>
                              <p:par>
                                <p:cTn id="232" presetID="10" presetClass="exit" presetSubtype="0" fill="hold" grpId="2" nodeType="withEffect">
                                  <p:stCondLst>
                                    <p:cond delay="23343"/>
                                  </p:stCondLst>
                                  <p:childTnLst>
                                    <p:animEffect transition="out" filter="fade">
                                      <p:cBhvr>
                                        <p:cTn id="230" dur="250"/>
                                        <p:tgtEl>
                                          <p:spTgt spid="17"/>
                                        </p:tgtEl>
                                      </p:cBhvr>
                                    </p:animEffect>
                                    <p:set>
                                      <p:cBhvr>
                                        <p:cTn id="231" dur="1" fill="hold">
                                          <p:stCondLst>
                                            <p:cond delay="249"/>
                                          </p:stCondLst>
                                        </p:cTn>
                                        <p:tgtEl>
                                          <p:spTgt spid="17"/>
                                        </p:tgtEl>
                                        <p:attrNameLst>
                                          <p:attrName>style.visibility</p:attrName>
                                        </p:attrNameLst>
                                      </p:cBhvr>
                                      <p:to>
                                        <p:strVal val="hidden"/>
                                      </p:to>
                                    </p:set>
                                  </p:childTnLst>
                                </p:cTn>
                              </p:par>
                              <p:par>
                                <p:cTn id="235" presetID="10" presetClass="exit" presetSubtype="0" fill="hold" grpId="1" nodeType="withEffect">
                                  <p:stCondLst>
                                    <p:cond delay="23387"/>
                                  </p:stCondLst>
                                  <p:childTnLst>
                                    <p:animEffect transition="out" filter="fade">
                                      <p:cBhvr>
                                        <p:cTn id="233" dur="250"/>
                                        <p:tgtEl>
                                          <p:spTgt spid="18"/>
                                        </p:tgtEl>
                                      </p:cBhvr>
                                    </p:animEffect>
                                    <p:set>
                                      <p:cBhvr>
                                        <p:cTn id="234" dur="1" fill="hold">
                                          <p:stCondLst>
                                            <p:cond delay="249"/>
                                          </p:stCondLst>
                                        </p:cTn>
                                        <p:tgtEl>
                                          <p:spTgt spid="18"/>
                                        </p:tgtEl>
                                        <p:attrNameLst>
                                          <p:attrName>style.visibility</p:attrName>
                                        </p:attrNameLst>
                                      </p:cBhvr>
                                      <p:to>
                                        <p:strVal val="hidden"/>
                                      </p:to>
                                    </p:set>
                                  </p:childTnLst>
                                </p:cTn>
                              </p:par>
                              <p:par>
                                <p:cTn id="238" presetID="10" presetClass="exit" presetSubtype="0" fill="hold" grpId="1" nodeType="withEffect">
                                  <p:stCondLst>
                                    <p:cond delay="23431"/>
                                  </p:stCondLst>
                                  <p:childTnLst>
                                    <p:animEffect transition="out" filter="fade">
                                      <p:cBhvr>
                                        <p:cTn id="236" dur="250"/>
                                        <p:tgtEl>
                                          <p:spTgt spid="30"/>
                                        </p:tgtEl>
                                      </p:cBhvr>
                                    </p:animEffect>
                                    <p:set>
                                      <p:cBhvr>
                                        <p:cTn id="237" dur="1" fill="hold">
                                          <p:stCondLst>
                                            <p:cond delay="249"/>
                                          </p:stCondLst>
                                        </p:cTn>
                                        <p:tgtEl>
                                          <p:spTgt spid="30"/>
                                        </p:tgtEl>
                                        <p:attrNameLst>
                                          <p:attrName>style.visibility</p:attrName>
                                        </p:attrNameLst>
                                      </p:cBhvr>
                                      <p:to>
                                        <p:strVal val="hidden"/>
                                      </p:to>
                                    </p:set>
                                  </p:childTnLst>
                                </p:cTn>
                              </p:par>
                              <p:par>
                                <p:cTn id="243" presetID="42" presetClass="entr" presetSubtype="0" fill="hold" grpId="0" nodeType="withEffect">
                                  <p:stCondLst>
                                    <p:cond delay="23475"/>
                                  </p:stCondLst>
                                  <p:childTnLst>
                                    <p:set>
                                      <p:cBhvr>
                                        <p:cTn id="239" dur="1" fill="hold">
                                          <p:stCondLst>
                                            <p:cond delay="0"/>
                                          </p:stCondLst>
                                        </p:cTn>
                                        <p:tgtEl>
                                          <p:spTgt spid="49"/>
                                        </p:tgtEl>
                                        <p:attrNameLst>
                                          <p:attrName>style.visibility</p:attrName>
                                        </p:attrNameLst>
                                      </p:cBhvr>
                                      <p:to>
                                        <p:strVal val="visible"/>
                                      </p:to>
                                    </p:set>
                                    <p:animEffect transition="in" filter="fade">
                                      <p:cBhvr>
                                        <p:cTn id="240" dur="400"/>
                                        <p:tgtEl>
                                          <p:spTgt spid="49"/>
                                        </p:tgtEl>
                                      </p:cBhvr>
                                    </p:animEffect>
                                    <p:anim calcmode="lin" valueType="num">
                                      <p:cBhvr additive="base">
                                        <p:cTn id="241" dur="400" fill="hold"/>
                                        <p:tgtEl>
                                          <p:spTgt spid="49"/>
                                        </p:tgtEl>
                                        <p:attrNameLst>
                                          <p:attrName>ppt_x</p:attrName>
                                        </p:attrNameLst>
                                      </p:cBhvr>
                                      <p:tavLst>
                                        <p:tav tm="0">
                                          <p:val>
                                            <p:strVal val="#ppt_x-.05"/>
                                          </p:val>
                                        </p:tav>
                                        <p:tav tm="100000">
                                          <p:val>
                                            <p:strVal val="#ppt_x"/>
                                          </p:val>
                                        </p:tav>
                                      </p:tavLst>
                                    </p:anim>
                                    <p:anim calcmode="lin" valueType="num">
                                      <p:cBhvr additive="base">
                                        <p:cTn id="242" dur="400" fill="hold"/>
                                        <p:tgtEl>
                                          <p:spTgt spid="49"/>
                                        </p:tgtEl>
                                        <p:attrNameLst>
                                          <p:attrName>ppt_y</p:attrName>
                                        </p:attrNameLst>
                                      </p:cBhvr>
                                      <p:tavLst>
                                        <p:tav tm="0">
                                          <p:val>
                                            <p:strVal val="#ppt_y"/>
                                          </p:val>
                                        </p:tav>
                                        <p:tav tm="100000">
                                          <p:val>
                                            <p:strVal val="#ppt_y"/>
                                          </p:val>
                                        </p:tav>
                                      </p:tavLst>
                                    </p:anim>
                                  </p:childTnLst>
                                </p:cTn>
                              </p:par>
                              <p:par>
                                <p:cTn id="246" presetID="10" presetClass="exit" presetSubtype="0" fill="hold" grpId="1" nodeType="withEffect">
                                  <p:stCondLst>
                                    <p:cond delay="23518"/>
                                  </p:stCondLst>
                                  <p:childTnLst>
                                    <p:animEffect transition="out" filter="fade">
                                      <p:cBhvr>
                                        <p:cTn id="244" dur="200"/>
                                        <p:tgtEl>
                                          <p:spTgt spid="47"/>
                                        </p:tgtEl>
                                      </p:cBhvr>
                                    </p:animEffect>
                                    <p:set>
                                      <p:cBhvr>
                                        <p:cTn id="245" dur="1" fill="hold">
                                          <p:stCondLst>
                                            <p:cond delay="199"/>
                                          </p:stCondLst>
                                        </p:cTn>
                                        <p:tgtEl>
                                          <p:spTgt spid="47"/>
                                        </p:tgtEl>
                                        <p:attrNameLst>
                                          <p:attrName>style.visibility</p:attrName>
                                        </p:attrNameLst>
                                      </p:cBhvr>
                                      <p:to>
                                        <p:strVal val="hidden"/>
                                      </p:to>
                                    </p:set>
                                  </p:childTnLst>
                                </p:cTn>
                              </p:par>
                              <p:par>
                                <p:cTn id="249" presetID="10" presetClass="exit" presetSubtype="0" fill="hold" grpId="1" nodeType="withEffect">
                                  <p:stCondLst>
                                    <p:cond delay="23562"/>
                                  </p:stCondLst>
                                  <p:childTnLst>
                                    <p:animEffect transition="out" filter="fade">
                                      <p:cBhvr>
                                        <p:cTn id="247" dur="200"/>
                                        <p:tgtEl>
                                          <p:spTgt spid="48"/>
                                        </p:tgtEl>
                                      </p:cBhvr>
                                    </p:animEffect>
                                    <p:set>
                                      <p:cBhvr>
                                        <p:cTn id="248" dur="1" fill="hold">
                                          <p:stCondLst>
                                            <p:cond delay="199"/>
                                          </p:stCondLst>
                                        </p:cTn>
                                        <p:tgtEl>
                                          <p:spTgt spid="48"/>
                                        </p:tgtEl>
                                        <p:attrNameLst>
                                          <p:attrName>style.visibility</p:attrName>
                                        </p:attrNameLst>
                                      </p:cBhvr>
                                      <p:to>
                                        <p:strVal val="hidden"/>
                                      </p:to>
                                    </p:set>
                                  </p:childTnLst>
                                </p:cTn>
                              </p:par>
                              <p:par>
                                <p:cTn id="252" presetID="10" presetClass="entr" presetSubtype="0" fill="hold" grpId="0" nodeType="withEffect">
                                  <p:stCondLst>
                                    <p:cond delay="23606"/>
                                  </p:stCondLst>
                                  <p:childTnLst>
                                    <p:set>
                                      <p:cBhvr>
                                        <p:cTn id="250" dur="1" fill="hold">
                                          <p:stCondLst>
                                            <p:cond delay="0"/>
                                          </p:stCondLst>
                                        </p:cTn>
                                        <p:tgtEl>
                                          <p:spTgt spid="8"/>
                                        </p:tgtEl>
                                        <p:attrNameLst>
                                          <p:attrName>style.visibility</p:attrName>
                                        </p:attrNameLst>
                                      </p:cBhvr>
                                      <p:to>
                                        <p:strVal val="visible"/>
                                      </p:to>
                                    </p:set>
                                    <p:animEffect transition="in" filter="fade">
                                      <p:cBhvr>
                                        <p:cTn id="251" dur="500"/>
                                        <p:tgtEl>
                                          <p:spTgt spid="8"/>
                                        </p:tgtEl>
                                      </p:cBhvr>
                                    </p:animEffect>
                                  </p:childTnLst>
                                </p:cTn>
                              </p:par>
                              <p:par>
                                <p:cTn id="257" presetID="42" presetClass="entr" presetSubtype="0" fill="hold" grpId="0" nodeType="withEffect">
                                  <p:stCondLst>
                                    <p:cond delay="23650"/>
                                  </p:stCondLst>
                                  <p:childTnLst>
                                    <p:set>
                                      <p:cBhvr>
                                        <p:cTn id="253" dur="1" fill="hold">
                                          <p:stCondLst>
                                            <p:cond delay="0"/>
                                          </p:stCondLst>
                                        </p:cTn>
                                        <p:tgtEl>
                                          <p:spTgt spid="51"/>
                                        </p:tgtEl>
                                        <p:attrNameLst>
                                          <p:attrName>style.visibility</p:attrName>
                                        </p:attrNameLst>
                                      </p:cBhvr>
                                      <p:to>
                                        <p:strVal val="visible"/>
                                      </p:to>
                                    </p:set>
                                    <p:animEffect transition="in" filter="fade">
                                      <p:cBhvr>
                                        <p:cTn id="254" dur="300"/>
                                        <p:tgtEl>
                                          <p:spTgt spid="51"/>
                                        </p:tgtEl>
                                      </p:cBhvr>
                                    </p:animEffect>
                                    <p:anim calcmode="lin" valueType="num">
                                      <p:cBhvr additive="base">
                                        <p:cTn id="255" dur="300" fill="hold"/>
                                        <p:tgtEl>
                                          <p:spTgt spid="51"/>
                                        </p:tgtEl>
                                        <p:attrNameLst>
                                          <p:attrName>ppt_x</p:attrName>
                                        </p:attrNameLst>
                                      </p:cBhvr>
                                      <p:tavLst>
                                        <p:tav tm="0">
                                          <p:val>
                                            <p:strVal val="#ppt_x-.05"/>
                                          </p:val>
                                        </p:tav>
                                        <p:tav tm="100000">
                                          <p:val>
                                            <p:strVal val="#ppt_x"/>
                                          </p:val>
                                        </p:tav>
                                      </p:tavLst>
                                    </p:anim>
                                    <p:anim calcmode="lin" valueType="num">
                                      <p:cBhvr additive="base">
                                        <p:cTn id="256" dur="300" fill="hold"/>
                                        <p:tgtEl>
                                          <p:spTgt spid="51"/>
                                        </p:tgtEl>
                                        <p:attrNameLst>
                                          <p:attrName>ppt_y</p:attrName>
                                        </p:attrNameLst>
                                      </p:cBhvr>
                                      <p:tavLst>
                                        <p:tav tm="0">
                                          <p:val>
                                            <p:strVal val="#ppt_y"/>
                                          </p:val>
                                        </p:tav>
                                        <p:tav tm="100000">
                                          <p:val>
                                            <p:strVal val="#ppt_y"/>
                                          </p:val>
                                        </p:tav>
                                      </p:tavLst>
                                    </p:anim>
                                  </p:childTnLst>
                                </p:cTn>
                              </p:par>
                              <p:par>
                                <p:cTn id="262" presetID="53" presetClass="entr" presetSubtype="16" fill="hold" grpId="0" nodeType="withEffect">
                                  <p:stCondLst>
                                    <p:cond delay="30815"/>
                                  </p:stCondLst>
                                  <p:childTnLst>
                                    <p:set>
                                      <p:cBhvr>
                                        <p:cTn id="258" dur="1" fill="hold">
                                          <p:stCondLst>
                                            <p:cond delay="0"/>
                                          </p:stCondLst>
                                        </p:cTn>
                                        <p:tgtEl>
                                          <p:spTgt spid="9"/>
                                        </p:tgtEl>
                                        <p:attrNameLst>
                                          <p:attrName>style.visibility</p:attrName>
                                        </p:attrNameLst>
                                      </p:cBhvr>
                                      <p:to>
                                        <p:strVal val="visible"/>
                                      </p:to>
                                    </p:set>
                                    <p:anim calcmode="lin" valueType="num">
                                      <p:cBhvr additive="base">
                                        <p:cTn id="259" dur="300" fill="hold"/>
                                        <p:tgtEl>
                                          <p:spTgt spid="9"/>
                                        </p:tgtEl>
                                        <p:attrNameLst>
                                          <p:attrName>ppt_w</p:attrName>
                                        </p:attrNameLst>
                                      </p:cBhvr>
                                      <p:tavLst>
                                        <p:tav tm="0">
                                          <p:val>
                                            <p:strVal val="0"/>
                                          </p:val>
                                        </p:tav>
                                        <p:tav tm="100000">
                                          <p:val>
                                            <p:strVal val="#ppt_w"/>
                                          </p:val>
                                        </p:tav>
                                      </p:tavLst>
                                    </p:anim>
                                    <p:anim calcmode="lin" valueType="num">
                                      <p:cBhvr additive="base">
                                        <p:cTn id="260" dur="300" fill="hold"/>
                                        <p:tgtEl>
                                          <p:spTgt spid="9"/>
                                        </p:tgtEl>
                                        <p:attrNameLst>
                                          <p:attrName>ppt_h</p:attrName>
                                        </p:attrNameLst>
                                      </p:cBhvr>
                                      <p:tavLst>
                                        <p:tav tm="0">
                                          <p:val>
                                            <p:strVal val="0"/>
                                          </p:val>
                                        </p:tav>
                                        <p:tav tm="100000">
                                          <p:val>
                                            <p:strVal val="#ppt_h"/>
                                          </p:val>
                                        </p:tav>
                                      </p:tavLst>
                                    </p:anim>
                                    <p:animEffect transition="in" filter="fade">
                                      <p:cBhvr>
                                        <p:cTn id="261" dur="300"/>
                                        <p:tgtEl>
                                          <p:spTgt spid="9"/>
                                        </p:tgtEl>
                                      </p:cBhvr>
                                    </p:animEffect>
                                  </p:childTnLst>
                                </p:cTn>
                              </p:par>
                              <p:par>
                                <p:cTn id="265" presetID="10" presetClass="entr" presetSubtype="0" fill="hold" grpId="0" nodeType="withEffect">
                                  <p:stCondLst>
                                    <p:cond delay="30836"/>
                                  </p:stCondLst>
                                  <p:childTnLst>
                                    <p:set>
                                      <p:cBhvr>
                                        <p:cTn id="263" dur="1" fill="hold">
                                          <p:stCondLst>
                                            <p:cond delay="0"/>
                                          </p:stCondLst>
                                        </p:cTn>
                                        <p:tgtEl>
                                          <p:spTgt spid="50"/>
                                        </p:tgtEl>
                                        <p:attrNameLst>
                                          <p:attrName>style.visibility</p:attrName>
                                        </p:attrNameLst>
                                      </p:cBhvr>
                                      <p:to>
                                        <p:strVal val="visible"/>
                                      </p:to>
                                    </p:set>
                                    <p:animEffect transition="in" filter="fade">
                                      <p:cBhvr>
                                        <p:cTn id="264" dur="80"/>
                                        <p:tgtEl>
                                          <p:spTgt spid="50"/>
                                        </p:tgtEl>
                                      </p:cBhvr>
                                    </p:animEffect>
                                  </p:childTnLst>
                                </p:cTn>
                              </p:par>
                              <p:par>
                                <p:cTn id="268" presetID="10" presetClass="entr" presetSubtype="0" fill="hold" grpId="0" nodeType="withEffect">
                                  <p:stCondLst>
                                    <p:cond delay="30858"/>
                                  </p:stCondLst>
                                  <p:childTnLst>
                                    <p:set>
                                      <p:cBhvr>
                                        <p:cTn id="266" dur="1" fill="hold">
                                          <p:stCondLst>
                                            <p:cond delay="0"/>
                                          </p:stCondLst>
                                        </p:cTn>
                                        <p:tgtEl>
                                          <p:spTgt spid="52"/>
                                        </p:tgtEl>
                                        <p:attrNameLst>
                                          <p:attrName>style.visibility</p:attrName>
                                        </p:attrNameLst>
                                      </p:cBhvr>
                                      <p:to>
                                        <p:strVal val="visible"/>
                                      </p:to>
                                    </p:set>
                                    <p:animEffect transition="in" filter="fade">
                                      <p:cBhvr>
                                        <p:cTn id="267" dur="200"/>
                                        <p:tgtEl>
                                          <p:spTgt spid="52"/>
                                        </p:tgtEl>
                                      </p:cBhvr>
                                    </p:animEffect>
                                  </p:childTnLst>
                                </p:cTn>
                              </p:par>
                              <p:par>
                                <p:cTn id="272" presetID="2" presetClass="entr" presetSubtype="1" fill="hold" grpId="0" nodeType="withEffect">
                                  <p:stCondLst>
                                    <p:cond delay="30880"/>
                                  </p:stCondLst>
                                  <p:childTnLst>
                                    <p:set>
                                      <p:cBhvr>
                                        <p:cTn id="269" dur="1" fill="hold">
                                          <p:stCondLst>
                                            <p:cond delay="0"/>
                                          </p:stCondLst>
                                        </p:cTn>
                                        <p:tgtEl>
                                          <p:spTgt spid="19"/>
                                        </p:tgtEl>
                                        <p:attrNameLst>
                                          <p:attrName>style.visibility</p:attrName>
                                        </p:attrNameLst>
                                      </p:cBhvr>
                                      <p:to>
                                        <p:strVal val="visible"/>
                                      </p:to>
                                    </p:set>
                                    <p:anim calcmode="lin" valueType="num">
                                      <p:cBhvr additive="base">
                                        <p:cTn id="270" dur="450" fill="hold"/>
                                        <p:tgtEl>
                                          <p:spTgt spid="19"/>
                                        </p:tgtEl>
                                        <p:attrNameLst>
                                          <p:attrName>ppt_x</p:attrName>
                                        </p:attrNameLst>
                                      </p:cBhvr>
                                      <p:tavLst>
                                        <p:tav tm="0">
                                          <p:val>
                                            <p:strVal val="#ppt_x"/>
                                          </p:val>
                                        </p:tav>
                                        <p:tav tm="100000">
                                          <p:val>
                                            <p:strVal val="#ppt_x"/>
                                          </p:val>
                                        </p:tav>
                                      </p:tavLst>
                                    </p:anim>
                                    <p:anim calcmode="lin" valueType="num">
                                      <p:cBhvr additive="base">
                                        <p:cTn id="271" dur="450" fill="hold"/>
                                        <p:tgtEl>
                                          <p:spTgt spid="19"/>
                                        </p:tgtEl>
                                        <p:attrNameLst>
                                          <p:attrName>ppt_y</p:attrName>
                                        </p:attrNameLst>
                                      </p:cBhvr>
                                      <p:tavLst>
                                        <p:tav tm="0">
                                          <p:val>
                                            <p:strVal val="0-#ppt_h/2"/>
                                          </p:val>
                                        </p:tav>
                                        <p:tav tm="100000">
                                          <p:val>
                                            <p:strVal val="#ppt_y"/>
                                          </p:val>
                                        </p:tav>
                                      </p:tavLst>
                                    </p:anim>
                                  </p:childTnLst>
                                </p:cTn>
                              </p:par>
                              <p:par>
                                <p:cTn id="274" presetID="32" presetClass="emph" presetSubtype="0" fill="hold" grpId="1" nodeType="withEffect" autoRev="1" repeatCount="4000">
                                  <p:stCondLst>
                                    <p:cond delay="30924"/>
                                  </p:stCondLst>
                                  <p:childTnLst>
                                    <p:animRot by="-1500000">
                                      <p:cBhvr>
                                        <p:cTn id="273" dur="140" fill="hold"/>
                                        <p:tgtEl>
                                          <p:spTgt spid="19"/>
                                        </p:tgtEl>
                                        <p:attrNameLst>
                                          <p:attrName>r</p:attrName>
                                        </p:attrNameLst>
                                      </p:cBhvr>
                                    </p:animRot>
                                  </p:childTnLst>
                                </p:cTn>
                              </p:par>
                              <p:par>
                                <p:cTn id="277" presetID="10" presetClass="exit" presetSubtype="0" fill="hold" grpId="1" nodeType="withEffect">
                                  <p:stCondLst>
                                    <p:cond delay="30946"/>
                                  </p:stCondLst>
                                  <p:childTnLst>
                                    <p:animEffect transition="out" filter="fade">
                                      <p:cBhvr>
                                        <p:cTn id="275" dur="220"/>
                                        <p:tgtEl>
                                          <p:spTgt spid="27"/>
                                        </p:tgtEl>
                                      </p:cBhvr>
                                    </p:animEffect>
                                    <p:set>
                                      <p:cBhvr>
                                        <p:cTn id="276" dur="1" fill="hold">
                                          <p:stCondLst>
                                            <p:cond delay="219"/>
                                          </p:stCondLst>
                                        </p:cTn>
                                        <p:tgtEl>
                                          <p:spTgt spid="27"/>
                                        </p:tgtEl>
                                        <p:attrNameLst>
                                          <p:attrName>style.visibility</p:attrName>
                                        </p:attrNameLst>
                                      </p:cBhvr>
                                      <p:to>
                                        <p:strVal val="hidden"/>
                                      </p:to>
                                    </p:set>
                                  </p:childTnLst>
                                </p:cTn>
                              </p:par>
                              <p:par>
                                <p:cTn id="280" presetID="10" presetClass="exit" presetSubtype="0" fill="hold" grpId="1" nodeType="withEffect">
                                  <p:stCondLst>
                                    <p:cond delay="30956"/>
                                  </p:stCondLst>
                                  <p:childTnLst>
                                    <p:animEffect transition="out" filter="fade">
                                      <p:cBhvr>
                                        <p:cTn id="278" dur="300"/>
                                        <p:tgtEl>
                                          <p:spTgt spid="50"/>
                                        </p:tgtEl>
                                      </p:cBhvr>
                                    </p:animEffect>
                                    <p:set>
                                      <p:cBhvr>
                                        <p:cTn id="279" dur="1" fill="hold">
                                          <p:stCondLst>
                                            <p:cond delay="299"/>
                                          </p:stCondLst>
                                        </p:cTn>
                                        <p:tgtEl>
                                          <p:spTgt spid="50"/>
                                        </p:tgtEl>
                                        <p:attrNameLst>
                                          <p:attrName>style.visibility</p:attrName>
                                        </p:attrNameLst>
                                      </p:cBhvr>
                                      <p:to>
                                        <p:strVal val="hidden"/>
                                      </p:to>
                                    </p:set>
                                  </p:childTnLst>
                                </p:cTn>
                              </p:par>
                              <p:par>
                                <p:cTn id="283" presetID="10" presetClass="entr" presetSubtype="0" fill="hold" grpId="0" nodeType="withEffect">
                                  <p:stCondLst>
                                    <p:cond delay="30968"/>
                                  </p:stCondLst>
                                  <p:childTnLst>
                                    <p:set>
                                      <p:cBhvr>
                                        <p:cTn id="281" dur="1" fill="hold">
                                          <p:stCondLst>
                                            <p:cond delay="0"/>
                                          </p:stCondLst>
                                        </p:cTn>
                                        <p:tgtEl>
                                          <p:spTgt spid="28"/>
                                        </p:tgtEl>
                                        <p:attrNameLst>
                                          <p:attrName>style.visibility</p:attrName>
                                        </p:attrNameLst>
                                      </p:cBhvr>
                                      <p:to>
                                        <p:strVal val="visible"/>
                                      </p:to>
                                    </p:set>
                                    <p:animEffect transition="in" filter="fade">
                                      <p:cBhvr>
                                        <p:cTn id="282" dur="220"/>
                                        <p:tgtEl>
                                          <p:spTgt spid="28"/>
                                        </p:tgtEl>
                                      </p:cBhvr>
                                    </p:animEffect>
                                  </p:childTnLst>
                                </p:cTn>
                              </p:par>
                              <p:par>
                                <p:cTn id="287" presetID="2" presetClass="entr" presetSubtype="1" fill="hold" grpId="0" nodeType="withEffect">
                                  <p:stCondLst>
                                    <p:cond delay="30990"/>
                                  </p:stCondLst>
                                  <p:childTnLst>
                                    <p:set>
                                      <p:cBhvr>
                                        <p:cTn id="284" dur="1" fill="hold">
                                          <p:stCondLst>
                                            <p:cond delay="0"/>
                                          </p:stCondLst>
                                        </p:cTn>
                                        <p:tgtEl>
                                          <p:spTgt spid="31"/>
                                        </p:tgtEl>
                                        <p:attrNameLst>
                                          <p:attrName>style.visibility</p:attrName>
                                        </p:attrNameLst>
                                      </p:cBhvr>
                                      <p:to>
                                        <p:strVal val="visible"/>
                                      </p:to>
                                    </p:set>
                                    <p:anim calcmode="lin" valueType="num">
                                      <p:cBhvr additive="base">
                                        <p:cTn id="285" dur="450" fill="hold"/>
                                        <p:tgtEl>
                                          <p:spTgt spid="31"/>
                                        </p:tgtEl>
                                        <p:attrNameLst>
                                          <p:attrName>ppt_x</p:attrName>
                                        </p:attrNameLst>
                                      </p:cBhvr>
                                      <p:tavLst>
                                        <p:tav tm="0">
                                          <p:val>
                                            <p:strVal val="#ppt_x"/>
                                          </p:val>
                                        </p:tav>
                                        <p:tav tm="100000">
                                          <p:val>
                                            <p:strVal val="#ppt_x"/>
                                          </p:val>
                                        </p:tav>
                                      </p:tavLst>
                                    </p:anim>
                                    <p:anim calcmode="lin" valueType="num">
                                      <p:cBhvr additive="base">
                                        <p:cTn id="286" dur="450" fill="hold"/>
                                        <p:tgtEl>
                                          <p:spTgt spid="31"/>
                                        </p:tgtEl>
                                        <p:attrNameLst>
                                          <p:attrName>ppt_y</p:attrName>
                                        </p:attrNameLst>
                                      </p:cBhvr>
                                      <p:tavLst>
                                        <p:tav tm="0">
                                          <p:val>
                                            <p:strVal val="0-#ppt_h/2"/>
                                          </p:val>
                                        </p:tav>
                                        <p:tav tm="100000">
                                          <p:val>
                                            <p:strVal val="#ppt_y"/>
                                          </p:val>
                                        </p:tav>
                                      </p:tavLst>
                                    </p:anim>
                                  </p:childTnLst>
                                </p:cTn>
                              </p:par>
                              <p:par>
                                <p:cTn id="292" presetID="53" presetClass="entr" presetSubtype="32" fill="hold" grpId="0" nodeType="withEffect">
                                  <p:stCondLst>
                                    <p:cond delay="31033"/>
                                  </p:stCondLst>
                                  <p:childTnLst>
                                    <p:set>
                                      <p:cBhvr>
                                        <p:cTn id="288" dur="1" fill="hold">
                                          <p:stCondLst>
                                            <p:cond delay="0"/>
                                          </p:stCondLst>
                                        </p:cTn>
                                        <p:tgtEl>
                                          <p:spTgt spid="32"/>
                                        </p:tgtEl>
                                        <p:attrNameLst>
                                          <p:attrName>style.visibility</p:attrName>
                                        </p:attrNameLst>
                                      </p:cBhvr>
                                      <p:to>
                                        <p:strVal val="visible"/>
                                      </p:to>
                                    </p:set>
                                    <p:anim calcmode="lin" valueType="num">
                                      <p:cBhvr additive="base">
                                        <p:cTn id="289" dur="400" fill="hold"/>
                                        <p:tgtEl>
                                          <p:spTgt spid="32"/>
                                        </p:tgtEl>
                                        <p:attrNameLst>
                                          <p:attrName>ppt_w</p:attrName>
                                        </p:attrNameLst>
                                      </p:cBhvr>
                                      <p:tavLst>
                                        <p:tav tm="0">
                                          <p:val>
                                            <p:strVal val="#ppt_w*2.4"/>
                                          </p:val>
                                        </p:tav>
                                        <p:tav tm="100000">
                                          <p:val>
                                            <p:strVal val="#ppt_w"/>
                                          </p:val>
                                        </p:tav>
                                      </p:tavLst>
                                    </p:anim>
                                    <p:anim calcmode="lin" valueType="num">
                                      <p:cBhvr additive="base">
                                        <p:cTn id="290" dur="400" fill="hold"/>
                                        <p:tgtEl>
                                          <p:spTgt spid="32"/>
                                        </p:tgtEl>
                                        <p:attrNameLst>
                                          <p:attrName>ppt_h</p:attrName>
                                        </p:attrNameLst>
                                      </p:cBhvr>
                                      <p:tavLst>
                                        <p:tav tm="0">
                                          <p:val>
                                            <p:strVal val="#ppt_h*2.4"/>
                                          </p:val>
                                        </p:tav>
                                        <p:tav tm="100000">
                                          <p:val>
                                            <p:strVal val="#ppt_h"/>
                                          </p:val>
                                        </p:tav>
                                      </p:tavLst>
                                    </p:anim>
                                    <p:animEffect transition="in" filter="fade">
                                      <p:cBhvr>
                                        <p:cTn id="291" dur="400"/>
                                        <p:tgtEl>
                                          <p:spTgt spid="32"/>
                                        </p:tgtEl>
                                      </p:cBhvr>
                                    </p:animEffect>
                                  </p:childTnLst>
                                </p:cTn>
                              </p:par>
                              <p:par>
                                <p:cTn id="295" presetID="10" presetClass="exit" presetSubtype="0" fill="hold" grpId="1" nodeType="withEffect">
                                  <p:stCondLst>
                                    <p:cond delay="31055"/>
                                  </p:stCondLst>
                                  <p:childTnLst>
                                    <p:animEffect transition="out" filter="fade">
                                      <p:cBhvr>
                                        <p:cTn id="293" dur="220"/>
                                        <p:tgtEl>
                                          <p:spTgt spid="24"/>
                                        </p:tgtEl>
                                      </p:cBhvr>
                                    </p:animEffect>
                                    <p:set>
                                      <p:cBhvr>
                                        <p:cTn id="294" dur="1" fill="hold">
                                          <p:stCondLst>
                                            <p:cond delay="219"/>
                                          </p:stCondLst>
                                        </p:cTn>
                                        <p:tgtEl>
                                          <p:spTgt spid="24"/>
                                        </p:tgtEl>
                                        <p:attrNameLst>
                                          <p:attrName>style.visibility</p:attrName>
                                        </p:attrNameLst>
                                      </p:cBhvr>
                                      <p:to>
                                        <p:strVal val="hidden"/>
                                      </p:to>
                                    </p:set>
                                  </p:childTnLst>
                                </p:cTn>
                              </p:par>
                              <p:par>
                                <p:cTn id="298" presetID="10" presetClass="entr" presetSubtype="0" fill="hold" grpId="0" nodeType="withEffect">
                                  <p:stCondLst>
                                    <p:cond delay="31077"/>
                                  </p:stCondLst>
                                  <p:childTnLst>
                                    <p:set>
                                      <p:cBhvr>
                                        <p:cTn id="296" dur="1" fill="hold">
                                          <p:stCondLst>
                                            <p:cond delay="0"/>
                                          </p:stCondLst>
                                        </p:cTn>
                                        <p:tgtEl>
                                          <p:spTgt spid="25"/>
                                        </p:tgtEl>
                                        <p:attrNameLst>
                                          <p:attrName>style.visibility</p:attrName>
                                        </p:attrNameLst>
                                      </p:cBhvr>
                                      <p:to>
                                        <p:strVal val="visible"/>
                                      </p:to>
                                    </p:set>
                                    <p:animEffect transition="in" filter="fade">
                                      <p:cBhvr>
                                        <p:cTn id="297" dur="220"/>
                                        <p:tgtEl>
                                          <p:spTgt spid="25"/>
                                        </p:tgtEl>
                                      </p:cBhvr>
                                    </p:animEffect>
                                  </p:childTnLst>
                                </p:cTn>
                              </p:par>
                              <p:par>
                                <p:cTn id="303" presetID="53" presetClass="entr" presetSubtype="16" fill="hold" grpId="0" nodeType="withEffect">
                                  <p:stCondLst>
                                    <p:cond delay="31099"/>
                                  </p:stCondLst>
                                  <p:childTnLst>
                                    <p:set>
                                      <p:cBhvr>
                                        <p:cTn id="299" dur="1" fill="hold">
                                          <p:stCondLst>
                                            <p:cond delay="0"/>
                                          </p:stCondLst>
                                        </p:cTn>
                                        <p:tgtEl>
                                          <p:spTgt spid="20"/>
                                        </p:tgtEl>
                                        <p:attrNameLst>
                                          <p:attrName>style.visibility</p:attrName>
                                        </p:attrNameLst>
                                      </p:cBhvr>
                                      <p:to>
                                        <p:strVal val="visible"/>
                                      </p:to>
                                    </p:set>
                                    <p:anim calcmode="lin" valueType="num">
                                      <p:cBhvr additive="base">
                                        <p:cTn id="300" dur="400" fill="hold"/>
                                        <p:tgtEl>
                                          <p:spTgt spid="20"/>
                                        </p:tgtEl>
                                        <p:attrNameLst>
                                          <p:attrName>ppt_w</p:attrName>
                                        </p:attrNameLst>
                                      </p:cBhvr>
                                      <p:tavLst>
                                        <p:tav tm="0">
                                          <p:val>
                                            <p:strVal val="0"/>
                                          </p:val>
                                        </p:tav>
                                        <p:tav tm="100000">
                                          <p:val>
                                            <p:strVal val="#ppt_w"/>
                                          </p:val>
                                        </p:tav>
                                      </p:tavLst>
                                    </p:anim>
                                    <p:anim calcmode="lin" valueType="num">
                                      <p:cBhvr additive="base">
                                        <p:cTn id="301" dur="400" fill="hold"/>
                                        <p:tgtEl>
                                          <p:spTgt spid="20"/>
                                        </p:tgtEl>
                                        <p:attrNameLst>
                                          <p:attrName>ppt_h</p:attrName>
                                        </p:attrNameLst>
                                      </p:cBhvr>
                                      <p:tavLst>
                                        <p:tav tm="0">
                                          <p:val>
                                            <p:strVal val="0"/>
                                          </p:val>
                                        </p:tav>
                                        <p:tav tm="100000">
                                          <p:val>
                                            <p:strVal val="#ppt_h"/>
                                          </p:val>
                                        </p:tav>
                                      </p:tavLst>
                                    </p:anim>
                                    <p:animEffect transition="in" filter="fade">
                                      <p:cBhvr>
                                        <p:cTn id="302" dur="400"/>
                                        <p:tgtEl>
                                          <p:spTgt spid="20"/>
                                        </p:tgtEl>
                                      </p:cBhvr>
                                    </p:animEffect>
                                  </p:childTnLst>
                                </p:cTn>
                              </p:par>
                              <p:par>
                                <p:cTn id="308" presetID="53" presetClass="entr" presetSubtype="32" fill="hold" grpId="0" nodeType="withEffect">
                                  <p:stCondLst>
                                    <p:cond delay="31121"/>
                                  </p:stCondLst>
                                  <p:childTnLst>
                                    <p:set>
                                      <p:cBhvr>
                                        <p:cTn id="304" dur="1" fill="hold">
                                          <p:stCondLst>
                                            <p:cond delay="0"/>
                                          </p:stCondLst>
                                        </p:cTn>
                                        <p:tgtEl>
                                          <p:spTgt spid="33"/>
                                        </p:tgtEl>
                                        <p:attrNameLst>
                                          <p:attrName>style.visibility</p:attrName>
                                        </p:attrNameLst>
                                      </p:cBhvr>
                                      <p:to>
                                        <p:strVal val="visible"/>
                                      </p:to>
                                    </p:set>
                                    <p:anim calcmode="lin" valueType="num">
                                      <p:cBhvr additive="base">
                                        <p:cTn id="305" dur="400" fill="hold"/>
                                        <p:tgtEl>
                                          <p:spTgt spid="33"/>
                                        </p:tgtEl>
                                        <p:attrNameLst>
                                          <p:attrName>ppt_w</p:attrName>
                                        </p:attrNameLst>
                                      </p:cBhvr>
                                      <p:tavLst>
                                        <p:tav tm="0">
                                          <p:val>
                                            <p:strVal val="#ppt_w*2.4"/>
                                          </p:val>
                                        </p:tav>
                                        <p:tav tm="100000">
                                          <p:val>
                                            <p:strVal val="#ppt_w"/>
                                          </p:val>
                                        </p:tav>
                                      </p:tavLst>
                                    </p:anim>
                                    <p:anim calcmode="lin" valueType="num">
                                      <p:cBhvr additive="base">
                                        <p:cTn id="306" dur="400" fill="hold"/>
                                        <p:tgtEl>
                                          <p:spTgt spid="33"/>
                                        </p:tgtEl>
                                        <p:attrNameLst>
                                          <p:attrName>ppt_h</p:attrName>
                                        </p:attrNameLst>
                                      </p:cBhvr>
                                      <p:tavLst>
                                        <p:tav tm="0">
                                          <p:val>
                                            <p:strVal val="#ppt_h*2.4"/>
                                          </p:val>
                                        </p:tav>
                                        <p:tav tm="100000">
                                          <p:val>
                                            <p:strVal val="#ppt_h"/>
                                          </p:val>
                                        </p:tav>
                                      </p:tavLst>
                                    </p:anim>
                                    <p:animEffect transition="in" filter="fade">
                                      <p:cBhvr>
                                        <p:cTn id="307" dur="400"/>
                                        <p:tgtEl>
                                          <p:spTgt spid="33"/>
                                        </p:tgtEl>
                                      </p:cBhvr>
                                    </p:animEffect>
                                  </p:childTnLst>
                                </p:cTn>
                              </p:par>
                              <p:par>
                                <p:cTn id="311" presetID="10" presetClass="exit" presetSubtype="0" fill="hold" grpId="1" nodeType="withEffect">
                                  <p:stCondLst>
                                    <p:cond delay="31143"/>
                                  </p:stCondLst>
                                  <p:childTnLst>
                                    <p:animEffect transition="out" filter="fade">
                                      <p:cBhvr>
                                        <p:cTn id="309" dur="200"/>
                                        <p:tgtEl>
                                          <p:spTgt spid="49"/>
                                        </p:tgtEl>
                                      </p:cBhvr>
                                    </p:animEffect>
                                    <p:set>
                                      <p:cBhvr>
                                        <p:cTn id="310" dur="1" fill="hold">
                                          <p:stCondLst>
                                            <p:cond delay="199"/>
                                          </p:stCondLst>
                                        </p:cTn>
                                        <p:tgtEl>
                                          <p:spTgt spid="49"/>
                                        </p:tgtEl>
                                        <p:attrNameLst>
                                          <p:attrName>style.visibility</p:attrName>
                                        </p:attrNameLst>
                                      </p:cBhvr>
                                      <p:to>
                                        <p:strVal val="hidden"/>
                                      </p:to>
                                    </p:set>
                                  </p:childTnLst>
                                </p:cTn>
                              </p:par>
                              <p:par>
                                <p:cTn id="314" presetID="22" presetClass="entr" presetSubtype="8" fill="hold" grpId="0" nodeType="withEffect">
                                  <p:stCondLst>
                                    <p:cond delay="31165"/>
                                  </p:stCondLst>
                                  <p:childTnLst>
                                    <p:set>
                                      <p:cBhvr>
                                        <p:cTn id="312" dur="1" fill="hold">
                                          <p:stCondLst>
                                            <p:cond delay="0"/>
                                          </p:stCondLst>
                                        </p:cTn>
                                        <p:tgtEl>
                                          <p:spTgt spid="53"/>
                                        </p:tgtEl>
                                        <p:attrNameLst>
                                          <p:attrName>style.visibility</p:attrName>
                                        </p:attrNameLst>
                                      </p:cBhvr>
                                      <p:to>
                                        <p:strVal val="visible"/>
                                      </p:to>
                                    </p:set>
                                    <p:animEffect transition="in" filter="wipe(left)">
                                      <p:cBhvr>
                                        <p:cTn id="313" dur="600"/>
                                        <p:tgtEl>
                                          <p:spTgt spid="53"/>
                                        </p:tgtEl>
                                      </p:cBhvr>
                                    </p:animEffect>
                                  </p:childTnLst>
                                </p:cTn>
                              </p:par>
                              <p:par>
                                <p:cTn id="317" presetID="10" presetClass="exit" presetSubtype="0" fill="hold" grpId="1" nodeType="withEffect">
                                  <p:stCondLst>
                                    <p:cond delay="39650"/>
                                  </p:stCondLst>
                                  <p:childTnLst>
                                    <p:animEffect transition="out" filter="fade">
                                      <p:cBhvr>
                                        <p:cTn id="315" dur="300"/>
                                        <p:tgtEl>
                                          <p:spTgt spid="9"/>
                                        </p:tgtEl>
                                      </p:cBhvr>
                                    </p:animEffect>
                                    <p:set>
                                      <p:cBhvr>
                                        <p:cTn id="316" dur="1" fill="hold">
                                          <p:stCondLst>
                                            <p:cond delay="299"/>
                                          </p:stCondLst>
                                        </p:cTn>
                                        <p:tgtEl>
                                          <p:spTgt spid="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5" grpId="0" animBg="1"/>
      <p:bldP spid="3" grpId="0" animBg="1"/>
      <p:bldP spid="2" grpId="1" animBg="1"/>
      <p:bldP spid="35" grpId="1" animBg="1"/>
      <p:bldP spid="6" grpId="0" animBg="1"/>
      <p:bldP spid="34" grpId="0" animBg="1"/>
      <p:bldP spid="36" grpId="0" animBg="1"/>
      <p:bldP spid="21" grpId="0" animBg="1"/>
      <p:bldP spid="26" grpId="0" animBg="1"/>
      <p:bldP spid="10" grpId="0" animBg="1"/>
      <p:bldP spid="11" grpId="0" animBg="1"/>
      <p:bldP spid="11" grpId="1" animBg="1"/>
      <p:bldP spid="37" grpId="0" animBg="1"/>
      <p:bldP spid="21" grpId="1" animBg="1"/>
      <p:bldP spid="22" grpId="0" animBg="1"/>
      <p:bldP spid="37" grpId="1" animBg="1"/>
      <p:bldP spid="38" grpId="0" animBg="1"/>
      <p:bldP spid="22" grpId="1" animBg="1"/>
      <p:bldP spid="29" grpId="0" animBg="1"/>
      <p:bldP spid="39" grpId="0" animBg="1"/>
      <p:bldP spid="36" grpId="1" animBg="1"/>
      <p:bldP spid="29" grpId="1" animBg="1"/>
      <p:bldP spid="11" grpId="2" animBg="1"/>
      <p:bldP spid="38" grpId="1" animBg="1"/>
      <p:bldP spid="39" grpId="1" animBg="1"/>
      <p:bldP spid="40" grpId="0" animBg="1"/>
      <p:bldP spid="22" grpId="2" animBg="1"/>
      <p:bldP spid="23" grpId="0" animBg="1"/>
      <p:bldP spid="41" grpId="0" animBg="1"/>
      <p:bldP spid="42" grpId="0" animBg="1"/>
      <p:bldP spid="10" grpId="1" animBg="1"/>
      <p:bldP spid="12" grpId="0" animBg="1"/>
      <p:bldP spid="13" grpId="0" animBg="1"/>
      <p:bldP spid="14" grpId="0" animBg="1"/>
      <p:bldP spid="15" grpId="0" animBg="1"/>
      <p:bldP spid="40" grpId="1" animBg="1"/>
      <p:bldP spid="12" grpId="1" animBg="1"/>
      <p:bldP spid="13" grpId="1" animBg="1"/>
      <p:bldP spid="14" grpId="1" animBg="1"/>
      <p:bldP spid="15" grpId="1" animBg="1"/>
      <p:bldP spid="41" grpId="1" animBg="1"/>
      <p:bldP spid="42" grpId="1" animBg="1"/>
      <p:bldP spid="43" grpId="0" animBg="1"/>
      <p:bldP spid="7" grpId="0" animBg="1"/>
      <p:bldP spid="44" grpId="0" animBg="1"/>
      <p:bldP spid="45" grpId="0" animBg="1"/>
      <p:bldP spid="16" grpId="0" animBg="1"/>
      <p:bldP spid="16" grpId="1" animBg="1"/>
      <p:bldP spid="16" grpId="2" animBg="1"/>
      <p:bldP spid="17" grpId="0" animBg="1"/>
      <p:bldP spid="17" grpId="1" animBg="1"/>
      <p:bldP spid="26" grpId="1" animBg="1"/>
      <p:bldP spid="27" grpId="0" animBg="1"/>
      <p:bldP spid="46" grpId="0" animBg="1"/>
      <p:bldP spid="44" grpId="1" animBg="1"/>
      <p:bldP spid="45" grpId="1" animBg="1"/>
      <p:bldP spid="18" grpId="0" animBg="1"/>
      <p:bldP spid="46" grpId="1" animBg="1"/>
      <p:bldP spid="23" grpId="1" animBg="1"/>
      <p:bldP spid="24" grpId="0" animBg="1"/>
      <p:bldP spid="47" grpId="0" animBg="1"/>
      <p:bldP spid="48" grpId="0" animBg="1"/>
      <p:bldP spid="30" grpId="0" animBg="1"/>
      <p:bldP spid="43" grpId="1" animBg="1"/>
      <p:bldP spid="17" grpId="2" animBg="1"/>
      <p:bldP spid="18" grpId="1" animBg="1"/>
      <p:bldP spid="30" grpId="1" animBg="1"/>
      <p:bldP spid="49" grpId="0" animBg="1"/>
      <p:bldP spid="47" grpId="1" animBg="1"/>
      <p:bldP spid="48" grpId="1" animBg="1"/>
      <p:bldP spid="8" grpId="0" animBg="1"/>
      <p:bldP spid="51" grpId="0" animBg="1"/>
      <p:bldP spid="9" grpId="0" animBg="1"/>
      <p:bldP spid="50" grpId="0" animBg="1"/>
      <p:bldP spid="52" grpId="0" animBg="1"/>
      <p:bldP spid="19" grpId="0" animBg="1"/>
      <p:bldP spid="19" grpId="1" animBg="1"/>
      <p:bldP spid="27" grpId="1" animBg="1"/>
      <p:bldP spid="50" grpId="1" animBg="1"/>
      <p:bldP spid="28" grpId="0" animBg="1"/>
      <p:bldP spid="31" grpId="0" animBg="1"/>
      <p:bldP spid="32" grpId="0" animBg="1"/>
      <p:bldP spid="24" grpId="1" animBg="1"/>
      <p:bldP spid="25" grpId="0" animBg="1"/>
      <p:bldP spid="20" grpId="0" animBg="1"/>
      <p:bldP spid="33" grpId="0" animBg="1"/>
      <p:bldP spid="49" grpId="1" animBg="1"/>
      <p:bldP spid="53" grpId="0" animBg="1"/>
      <p:bldP spid="9" grpId="1"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paused badge"/>
          <p:cNvSpPr/>
          <p:nvPr/>
        </p:nvSpPr>
        <p:spPr>
          <a:xfrm>
            <a:off x="548640" y="310896"/>
            <a:ext cx="1417320" cy="329184"/>
          </a:xfrm>
          <a:prstGeom prst="roundRect">
            <a:avLst>
              <a:gd name="adj" fmla="val 16667"/>
            </a:avLst>
          </a:prstGeom>
          <a:solidFill>
            <a:srgbClr val="FFD84D"/>
          </a:solidFill>
          <a:ln/>
        </p:spPr>
      </p:sp>
      <p:pic>
        <p:nvPicPr>
          <p:cNvPr id="3" name="pause icon" descr="Paused">    </p:cNvPr>
          <p:cNvPicPr>
            <a:picLocks noChangeAspect="1"/>
          </p:cNvPicPr>
          <p:nvPr/>
        </p:nvPicPr>
        <p:blipFill>
          <a:blip r:embed="rId1"/>
          <a:stretch>
            <a:fillRect/>
          </a:stretch>
        </p:blipFill>
        <p:spPr>
          <a:xfrm>
            <a:off x="667512" y="393192"/>
            <a:ext cx="164592" cy="164592"/>
          </a:xfrm>
          <a:prstGeom prst="rect">
            <a:avLst/>
          </a:prstGeom>
        </p:spPr>
      </p:pic>
      <p:sp>
        <p:nvSpPr>
          <p:cNvPr id="4" name="Text 1"/>
          <p:cNvSpPr txBox="1"/>
          <p:nvPr/>
        </p:nvSpPr>
        <p:spPr>
          <a:xfrm>
            <a:off x="896112" y="310896"/>
            <a:ext cx="1005840" cy="329184"/>
          </a:xfrm>
          <a:prstGeom prst="rect">
            <a:avLst/>
          </a:prstGeom>
          <a:noFill/>
          <a:ln/>
        </p:spPr>
        <p:txBody>
          <a:bodyPr wrap="square" lIns="0" tIns="0" rIns="0" bIns="0" rtlCol="0" anchor="ctr"/>
          <a:lstStyle/>
          <a:p>
            <a:pPr indent="0" marL="0">
              <a:buNone/>
            </a:pPr>
            <a:r>
              <a:rPr lang="en-US" sz="1300" b="1" spc="200" kern="0" dirty="0">
                <a:solidFill>
                  <a:srgbClr val="0D0D0F"/>
                </a:solidFill>
                <a:latin typeface="Courier New" pitchFamily="34" charset="0"/>
                <a:ea typeface="Courier New" pitchFamily="34" charset="-122"/>
                <a:cs typeface="Courier New" pitchFamily="34" charset="-120"/>
              </a:rPr>
              <a:t>PAUSED</a:t>
            </a:r>
            <a:endParaRPr lang="en-US" sz="1300" dirty="0"/>
          </a:p>
        </p:txBody>
      </p:sp>
      <p:sp>
        <p:nvSpPr>
          <p:cNvPr id="5" name="Text 2"/>
          <p:cNvSpPr txBox="1"/>
          <p:nvPr/>
        </p:nvSpPr>
        <p:spPr>
          <a:xfrm>
            <a:off x="2148840" y="310896"/>
            <a:ext cx="8229600" cy="329184"/>
          </a:xfrm>
          <a:prstGeom prst="rect">
            <a:avLst/>
          </a:prstGeom>
          <a:noFill/>
          <a:ln/>
        </p:spPr>
        <p:txBody>
          <a:bodyPr wrap="square" lIns="0" tIns="0" rIns="0" bIns="0" rtlCol="0" anchor="ctr"/>
          <a:lstStyle/>
          <a:p>
            <a:pPr indent="0" marL="0">
              <a:buNone/>
            </a:pPr>
            <a:r>
              <a:rPr lang="en-US" sz="1300" b="1" spc="200" kern="0" dirty="0">
                <a:solidFill>
                  <a:srgbClr val="FFD84D"/>
                </a:solidFill>
                <a:latin typeface="Courier New" pitchFamily="34" charset="0"/>
                <a:ea typeface="Courier New" pitchFamily="34" charset="-122"/>
                <a:cs typeface="Courier New" pitchFamily="34" charset="-120"/>
              </a:rPr>
              <a:t>ACT III  ·  HOW DID THEY JUSTIFY IT?</a:t>
            </a:r>
            <a:endParaRPr lang="en-US" sz="1300" dirty="0"/>
          </a:p>
        </p:txBody>
      </p:sp>
      <p:sp>
        <p:nvSpPr>
          <p:cNvPr id="6" name="Text 0"/>
          <p:cNvSpPr/>
          <p:nvPr>
            <p:ph idx="100" type="title" hasCustomPrompt="1"/>
          </p:nvPr>
        </p:nvSpPr>
        <p:spPr>
          <a:xfrm>
            <a:off x="548640" y="731520"/>
            <a:ext cx="11094415" cy="731520"/>
          </a:xfrm>
          <a:prstGeom prst="rect">
            <a:avLst/>
          </a:prstGeom>
          <a:noFill/>
          <a:ln/>
        </p:spPr>
        <p:txBody>
          <a:bodyPr wrap="square" lIns="0" tIns="0" rIns="0" bIns="0" rtlCol="0" anchor="ctr"/>
          <a:lstStyle/>
          <a:p>
            <a:pPr algn="l" indent="0" marL="0">
              <a:buNone/>
            </a:pPr>
            <a:r>
              <a:rPr lang="en-US" sz="3000" b="1" dirty="0">
                <a:solidFill>
                  <a:schemeClr val="bg1"/>
                </a:solidFill>
              </a:rPr>
              <a:t>Neutralization: how offenders silence their conscience</a:t>
            </a:r>
            <a:endParaRPr lang="en-US" sz="3000" dirty="0"/>
          </a:p>
        </p:txBody>
      </p:sp>
      <p:sp>
        <p:nvSpPr>
          <p:cNvPr id="7" name="Text 4"/>
          <p:cNvSpPr txBox="1"/>
          <p:nvPr/>
        </p:nvSpPr>
        <p:spPr>
          <a:xfrm>
            <a:off x="548640" y="1463040"/>
            <a:ext cx="11094415" cy="502920"/>
          </a:xfrm>
          <a:prstGeom prst="rect">
            <a:avLst/>
          </a:prstGeom>
          <a:noFill/>
          <a:ln/>
        </p:spPr>
        <p:txBody>
          <a:bodyPr wrap="square" lIns="0" tIns="0" rIns="0" bIns="0" rtlCol="0" anchor="ctr"/>
          <a:lstStyle/>
          <a:p>
            <a:pPr indent="0" marL="0">
              <a:buNone/>
            </a:pPr>
            <a:r>
              <a:rPr lang="en-US" sz="1500" i="1" dirty="0">
                <a:solidFill>
                  <a:srgbClr val="A9ADB5"/>
                </a:solidFill>
              </a:rPr>
              <a:t>Sykes &amp; Matza (1957): offenders know the rules, but use excuses to switch them off. In the film, every excuse sounds like normal business talk.</a:t>
            </a:r>
            <a:endParaRPr lang="en-US" sz="1500" dirty="0"/>
          </a:p>
        </p:txBody>
      </p:sp>
      <p:sp>
        <p:nvSpPr>
          <p:cNvPr id="8" name="Denial of injury"/>
          <p:cNvSpPr/>
          <p:nvPr/>
        </p:nvSpPr>
        <p:spPr>
          <a:xfrm>
            <a:off x="548640" y="2148840"/>
            <a:ext cx="5455768" cy="1600200"/>
          </a:xfrm>
          <a:prstGeom prst="rect">
            <a:avLst/>
          </a:prstGeom>
          <a:solidFill>
            <a:srgbClr val="1B1D22"/>
          </a:solidFill>
          <a:ln w="12700">
            <a:solidFill>
              <a:srgbClr val="33363D"/>
            </a:solidFill>
            <a:prstDash val="solid"/>
          </a:ln>
        </p:spPr>
      </p:sp>
      <p:sp>
        <p:nvSpPr>
          <p:cNvPr id="9" name="Text 6"/>
          <p:cNvSpPr txBox="1"/>
          <p:nvPr/>
        </p:nvSpPr>
        <p:spPr>
          <a:xfrm>
            <a:off x="822960" y="2313432"/>
            <a:ext cx="4907128" cy="292608"/>
          </a:xfrm>
          <a:prstGeom prst="rect">
            <a:avLst/>
          </a:prstGeom>
          <a:noFill/>
          <a:ln/>
        </p:spPr>
        <p:txBody>
          <a:bodyPr wrap="square" lIns="0" tIns="0" rIns="0" bIns="0" rtlCol="0" anchor="ctr"/>
          <a:lstStyle/>
          <a:p>
            <a:pPr indent="0" marL="0">
              <a:buNone/>
            </a:pPr>
            <a:r>
              <a:rPr lang="en-US" sz="1200" b="1" spc="100" kern="0" dirty="0">
                <a:solidFill>
                  <a:srgbClr val="A9ADB5"/>
                </a:solidFill>
                <a:latin typeface="Courier New" pitchFamily="34" charset="0"/>
                <a:ea typeface="Courier New" pitchFamily="34" charset="-122"/>
                <a:cs typeface="Courier New" pitchFamily="34" charset="-120"/>
              </a:rPr>
              <a:t>DENIAL OF INJURY</a:t>
            </a:r>
            <a:endParaRPr lang="en-US" sz="1200" dirty="0"/>
          </a:p>
        </p:txBody>
      </p:sp>
      <p:sp>
        <p:nvSpPr>
          <p:cNvPr id="10" name="Text 7"/>
          <p:cNvSpPr txBox="1"/>
          <p:nvPr/>
        </p:nvSpPr>
        <p:spPr>
          <a:xfrm>
            <a:off x="822960" y="2697480"/>
            <a:ext cx="4907128" cy="914400"/>
          </a:xfrm>
          <a:prstGeom prst="rect">
            <a:avLst/>
          </a:prstGeom>
          <a:noFill/>
          <a:ln/>
        </p:spPr>
        <p:txBody>
          <a:bodyPr wrap="square" lIns="0" tIns="0" rIns="0" bIns="0" rtlCol="0" anchor="ctr"/>
          <a:lstStyle/>
          <a:p>
            <a:pPr indent="0" marL="0">
              <a:buNone/>
            </a:pPr>
            <a:r>
              <a:rPr lang="en-US" sz="2000" i="1" dirty="0">
                <a:solidFill>
                  <a:srgbClr val="FFD84D"/>
                </a:solidFill>
              </a:rPr>
              <a:t>“The troops still get bullets that work. Who is harmed?”</a:t>
            </a:r>
            <a:endParaRPr lang="en-US" sz="2000" dirty="0"/>
          </a:p>
        </p:txBody>
      </p:sp>
      <p:sp>
        <p:nvSpPr>
          <p:cNvPr id="11" name="Condemnation of the condemners"/>
          <p:cNvSpPr/>
          <p:nvPr/>
        </p:nvSpPr>
        <p:spPr>
          <a:xfrm>
            <a:off x="6187288" y="2148840"/>
            <a:ext cx="5455768" cy="1600200"/>
          </a:xfrm>
          <a:prstGeom prst="rect">
            <a:avLst/>
          </a:prstGeom>
          <a:solidFill>
            <a:srgbClr val="1B1D22"/>
          </a:solidFill>
          <a:ln w="12700">
            <a:solidFill>
              <a:srgbClr val="33363D"/>
            </a:solidFill>
            <a:prstDash val="solid"/>
          </a:ln>
        </p:spPr>
      </p:sp>
      <p:sp>
        <p:nvSpPr>
          <p:cNvPr id="12" name="Text 9"/>
          <p:cNvSpPr txBox="1"/>
          <p:nvPr/>
        </p:nvSpPr>
        <p:spPr>
          <a:xfrm>
            <a:off x="6461608" y="2313432"/>
            <a:ext cx="4907128" cy="292608"/>
          </a:xfrm>
          <a:prstGeom prst="rect">
            <a:avLst/>
          </a:prstGeom>
          <a:noFill/>
          <a:ln/>
        </p:spPr>
        <p:txBody>
          <a:bodyPr wrap="square" lIns="0" tIns="0" rIns="0" bIns="0" rtlCol="0" anchor="ctr"/>
          <a:lstStyle/>
          <a:p>
            <a:pPr indent="0" marL="0">
              <a:buNone/>
            </a:pPr>
            <a:r>
              <a:rPr lang="en-US" sz="1200" b="1" spc="100" kern="0" dirty="0">
                <a:solidFill>
                  <a:srgbClr val="A9ADB5"/>
                </a:solidFill>
                <a:latin typeface="Courier New" pitchFamily="34" charset="0"/>
                <a:ea typeface="Courier New" pitchFamily="34" charset="-122"/>
                <a:cs typeface="Courier New" pitchFamily="34" charset="-120"/>
              </a:rPr>
              <a:t>CONDEMNATION OF THE CONDEMNERS</a:t>
            </a:r>
            <a:endParaRPr lang="en-US" sz="1200" dirty="0"/>
          </a:p>
        </p:txBody>
      </p:sp>
      <p:sp>
        <p:nvSpPr>
          <p:cNvPr id="13" name="Text 10"/>
          <p:cNvSpPr txBox="1"/>
          <p:nvPr/>
        </p:nvSpPr>
        <p:spPr>
          <a:xfrm>
            <a:off x="6461608" y="2697480"/>
            <a:ext cx="4907128" cy="914400"/>
          </a:xfrm>
          <a:prstGeom prst="rect">
            <a:avLst/>
          </a:prstGeom>
          <a:noFill/>
          <a:ln/>
        </p:spPr>
        <p:txBody>
          <a:bodyPr wrap="square" lIns="0" tIns="0" rIns="0" bIns="0" rtlCol="0" anchor="ctr"/>
          <a:lstStyle/>
          <a:p>
            <a:pPr indent="0" marL="0">
              <a:buNone/>
            </a:pPr>
            <a:r>
              <a:rPr lang="en-US" sz="2000" i="1" dirty="0">
                <a:solidFill>
                  <a:srgbClr val="FFD84D"/>
                </a:solidFill>
              </a:rPr>
              <a:t>“The government buys from shady sources too.”</a:t>
            </a:r>
            <a:endParaRPr lang="en-US" sz="2000" dirty="0"/>
          </a:p>
        </p:txBody>
      </p:sp>
      <p:sp>
        <p:nvSpPr>
          <p:cNvPr id="14" name="Denial of responsibility"/>
          <p:cNvSpPr/>
          <p:nvPr/>
        </p:nvSpPr>
        <p:spPr>
          <a:xfrm>
            <a:off x="548640" y="3931920"/>
            <a:ext cx="5455768" cy="1600200"/>
          </a:xfrm>
          <a:prstGeom prst="rect">
            <a:avLst/>
          </a:prstGeom>
          <a:solidFill>
            <a:srgbClr val="1B1D22"/>
          </a:solidFill>
          <a:ln w="12700">
            <a:solidFill>
              <a:srgbClr val="33363D"/>
            </a:solidFill>
            <a:prstDash val="solid"/>
          </a:ln>
        </p:spPr>
      </p:sp>
      <p:sp>
        <p:nvSpPr>
          <p:cNvPr id="15" name="Text 12"/>
          <p:cNvSpPr txBox="1"/>
          <p:nvPr/>
        </p:nvSpPr>
        <p:spPr>
          <a:xfrm>
            <a:off x="822960" y="4096512"/>
            <a:ext cx="4907128" cy="292608"/>
          </a:xfrm>
          <a:prstGeom prst="rect">
            <a:avLst/>
          </a:prstGeom>
          <a:noFill/>
          <a:ln/>
        </p:spPr>
        <p:txBody>
          <a:bodyPr wrap="square" lIns="0" tIns="0" rIns="0" bIns="0" rtlCol="0" anchor="ctr"/>
          <a:lstStyle/>
          <a:p>
            <a:pPr indent="0" marL="0">
              <a:buNone/>
            </a:pPr>
            <a:r>
              <a:rPr lang="en-US" sz="1200" b="1" spc="100" kern="0" dirty="0">
                <a:solidFill>
                  <a:srgbClr val="A9ADB5"/>
                </a:solidFill>
                <a:latin typeface="Courier New" pitchFamily="34" charset="0"/>
                <a:ea typeface="Courier New" pitchFamily="34" charset="-122"/>
                <a:cs typeface="Courier New" pitchFamily="34" charset="-120"/>
              </a:rPr>
              <a:t>DENIAL OF RESPONSIBILITY</a:t>
            </a:r>
            <a:endParaRPr lang="en-US" sz="1200" dirty="0"/>
          </a:p>
        </p:txBody>
      </p:sp>
      <p:sp>
        <p:nvSpPr>
          <p:cNvPr id="16" name="Text 13"/>
          <p:cNvSpPr txBox="1"/>
          <p:nvPr/>
        </p:nvSpPr>
        <p:spPr>
          <a:xfrm>
            <a:off x="822960" y="4480560"/>
            <a:ext cx="4907128" cy="914400"/>
          </a:xfrm>
          <a:prstGeom prst="rect">
            <a:avLst/>
          </a:prstGeom>
          <a:noFill/>
          <a:ln/>
        </p:spPr>
        <p:txBody>
          <a:bodyPr wrap="square" lIns="0" tIns="0" rIns="0" bIns="0" rtlCol="0" anchor="ctr"/>
          <a:lstStyle/>
          <a:p>
            <a:pPr indent="0" marL="0">
              <a:buNone/>
            </a:pPr>
            <a:r>
              <a:rPr lang="en-US" sz="2000" i="1" dirty="0">
                <a:solidFill>
                  <a:srgbClr val="FFD84D"/>
                </a:solidFill>
              </a:rPr>
              <a:t>“We didn’t make the bullets. We just moved them.”</a:t>
            </a:r>
            <a:endParaRPr lang="en-US" sz="2000" dirty="0"/>
          </a:p>
        </p:txBody>
      </p:sp>
      <p:sp>
        <p:nvSpPr>
          <p:cNvPr id="17" name="Appeal to higher loyalties"/>
          <p:cNvSpPr/>
          <p:nvPr/>
        </p:nvSpPr>
        <p:spPr>
          <a:xfrm>
            <a:off x="6187288" y="3931920"/>
            <a:ext cx="5455768" cy="1600200"/>
          </a:xfrm>
          <a:prstGeom prst="rect">
            <a:avLst/>
          </a:prstGeom>
          <a:solidFill>
            <a:srgbClr val="1B1D22"/>
          </a:solidFill>
          <a:ln w="12700">
            <a:solidFill>
              <a:srgbClr val="33363D"/>
            </a:solidFill>
            <a:prstDash val="solid"/>
          </a:ln>
        </p:spPr>
      </p:sp>
      <p:sp>
        <p:nvSpPr>
          <p:cNvPr id="18" name="Text 15"/>
          <p:cNvSpPr txBox="1"/>
          <p:nvPr/>
        </p:nvSpPr>
        <p:spPr>
          <a:xfrm>
            <a:off x="6461608" y="4096512"/>
            <a:ext cx="4907128" cy="292608"/>
          </a:xfrm>
          <a:prstGeom prst="rect">
            <a:avLst/>
          </a:prstGeom>
          <a:noFill/>
          <a:ln/>
        </p:spPr>
        <p:txBody>
          <a:bodyPr wrap="square" lIns="0" tIns="0" rIns="0" bIns="0" rtlCol="0" anchor="ctr"/>
          <a:lstStyle/>
          <a:p>
            <a:pPr indent="0" marL="0">
              <a:buNone/>
            </a:pPr>
            <a:r>
              <a:rPr lang="en-US" sz="1200" b="1" spc="100" kern="0" dirty="0">
                <a:solidFill>
                  <a:srgbClr val="A9ADB5"/>
                </a:solidFill>
                <a:latin typeface="Courier New" pitchFamily="34" charset="0"/>
                <a:ea typeface="Courier New" pitchFamily="34" charset="-122"/>
                <a:cs typeface="Courier New" pitchFamily="34" charset="-120"/>
              </a:rPr>
              <a:t>APPEAL TO HIGHER LOYALTIES</a:t>
            </a:r>
            <a:endParaRPr lang="en-US" sz="1200" dirty="0"/>
          </a:p>
        </p:txBody>
      </p:sp>
      <p:sp>
        <p:nvSpPr>
          <p:cNvPr id="19" name="Text 16"/>
          <p:cNvSpPr txBox="1"/>
          <p:nvPr/>
        </p:nvSpPr>
        <p:spPr>
          <a:xfrm>
            <a:off x="6461608" y="4480560"/>
            <a:ext cx="4907128" cy="914400"/>
          </a:xfrm>
          <a:prstGeom prst="rect">
            <a:avLst/>
          </a:prstGeom>
          <a:noFill/>
          <a:ln/>
        </p:spPr>
        <p:txBody>
          <a:bodyPr wrap="square" lIns="0" tIns="0" rIns="0" bIns="0" rtlCol="0" anchor="ctr"/>
          <a:lstStyle/>
          <a:p>
            <a:pPr indent="0" marL="0">
              <a:buNone/>
            </a:pPr>
            <a:r>
              <a:rPr lang="en-US" sz="2000" i="1" dirty="0">
                <a:solidFill>
                  <a:srgbClr val="FFD84D"/>
                </a:solidFill>
              </a:rPr>
              <a:t>“I’m doing this for my family.”</a:t>
            </a:r>
            <a:endParaRPr lang="en-US" sz="2000" dirty="0"/>
          </a:p>
        </p:txBody>
      </p:sp>
      <p:sp>
        <p:nvSpPr>
          <p:cNvPr id="20" name="Text 17"/>
          <p:cNvSpPr txBox="1"/>
          <p:nvPr/>
        </p:nvSpPr>
        <p:spPr>
          <a:xfrm>
            <a:off x="548640" y="5760720"/>
            <a:ext cx="11094415" cy="274320"/>
          </a:xfrm>
          <a:prstGeom prst="rect">
            <a:avLst/>
          </a:prstGeom>
          <a:noFill/>
          <a:ln/>
        </p:spPr>
        <p:txBody>
          <a:bodyPr wrap="square" lIns="0" tIns="0" rIns="0" bIns="0" rtlCol="0" anchor="ctr"/>
          <a:lstStyle/>
          <a:p>
            <a:pPr indent="0" marL="0">
              <a:buNone/>
            </a:pPr>
            <a:r>
              <a:rPr lang="en-US" sz="1100" i="1" dirty="0">
                <a:solidFill>
                  <a:srgbClr val="6E727A"/>
                </a:solidFill>
              </a:rPr>
              <a:t>Quotes paraphrase the characters’ attitudes; they are not verbatim lines.</a:t>
            </a:r>
            <a:endParaRPr lang="en-US" sz="1100" dirty="0"/>
          </a:p>
        </p:txBody>
      </p:sp>
      <p:sp>
        <p:nvSpPr>
          <p:cNvPr id="25" name="Slide Number Placeholder 0"/>
          <p:cNvSpPr>
            <a:spLocks noGrp="1"/>
          </p:cNvSpPr>
          <p:nvPr>
            <p:ph type="sldNum" sz="quarter" idx="4294967295"/>
          </p:nvPr>
        </p:nvSpPr>
        <p:spPr>
          <a:xfrm>
            <a:off x="11094415" y="6400800"/>
            <a:ext cx="54864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6E727A"/>
                </a:solidFill>
                <a:latin typeface="Courier New"/>
                <a:ea typeface="Courier New"/>
                <a:cs typeface="Courier New"/>
              </a:defRPr>
            </a:lvl1pPr>
          </a:lstStyle>
          <a:p>
            <a:pPr algn="r"/>
            <a:fld id="{F7021451-1387-4CA6-816F-3879F97B5CBC}" type="slidenum">
              <a:rPr b="1" lang="en-US"/>
              <a:t>10</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73" fill="hold">
                      <p:stCondLst>
                        <p:cond delay="indefinite"/>
                        <p:cond evt="onBegin" delay="0">
                          <p:tn val="2"/>
                        </p:cond>
                      </p:stCondLst>
                      <p:childTnLst>
                        <p:par>
                          <p:cTn id="74" fill="hold">
                            <p:stCondLst>
                              <p:cond delay="0"/>
                            </p:stCondLst>
                            <p:childTnLst>
                              <p:par>
                                <p:cTn id="7" presetID="53" presetClass="entr" presetSubtype="32" fill="hold" grpId="0" nodeType="afterEffect">
                                  <p:stCondLst>
                                    <p:cond delay="0"/>
                                  </p:stCondLst>
                                  <p:childTnLst>
                                    <p:set>
                                      <p:cBhvr>
                                        <p:cTn id="3" dur="1" fill="hold">
                                          <p:stCondLst>
                                            <p:cond delay="0"/>
                                          </p:stCondLst>
                                        </p:cTn>
                                        <p:tgtEl>
                                          <p:spTgt spid="2"/>
                                        </p:tgtEl>
                                        <p:attrNameLst>
                                          <p:attrName>style.visibility</p:attrName>
                                        </p:attrNameLst>
                                      </p:cBhvr>
                                      <p:to>
                                        <p:strVal val="visible"/>
                                      </p:to>
                                    </p:set>
                                    <p:anim calcmode="lin" valueType="num">
                                      <p:cBhvr additive="base">
                                        <p:cTn id="4" dur="450" fill="hold"/>
                                        <p:tgtEl>
                                          <p:spTgt spid="2"/>
                                        </p:tgtEl>
                                        <p:attrNameLst>
                                          <p:attrName>ppt_w</p:attrName>
                                        </p:attrNameLst>
                                      </p:cBhvr>
                                      <p:tavLst>
                                        <p:tav tm="0">
                                          <p:val>
                                            <p:strVal val="#ppt_w*2.4"/>
                                          </p:val>
                                        </p:tav>
                                        <p:tav tm="100000">
                                          <p:val>
                                            <p:strVal val="#ppt_w"/>
                                          </p:val>
                                        </p:tav>
                                      </p:tavLst>
                                    </p:anim>
                                    <p:anim calcmode="lin" valueType="num">
                                      <p:cBhvr additive="base">
                                        <p:cTn id="5" dur="450" fill="hold"/>
                                        <p:tgtEl>
                                          <p:spTgt spid="2"/>
                                        </p:tgtEl>
                                        <p:attrNameLst>
                                          <p:attrName>ppt_h</p:attrName>
                                        </p:attrNameLst>
                                      </p:cBhvr>
                                      <p:tavLst>
                                        <p:tav tm="0">
                                          <p:val>
                                            <p:strVal val="#ppt_h*2.4"/>
                                          </p:val>
                                        </p:tav>
                                        <p:tav tm="100000">
                                          <p:val>
                                            <p:strVal val="#ppt_h"/>
                                          </p:val>
                                        </p:tav>
                                      </p:tavLst>
                                    </p:anim>
                                    <p:animEffect transition="in" filter="fade">
                                      <p:cBhvr>
                                        <p:cTn id="6" dur="450"/>
                                        <p:tgtEl>
                                          <p:spTgt spid="2"/>
                                        </p:tgtEl>
                                      </p:cBhvr>
                                    </p:animEffect>
                                  </p:childTnLst>
                                </p:cTn>
                              </p:par>
                              <p:par>
                                <p:cTn id="12" presetID="53" presetClass="entr" presetSubtype="32"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anim calcmode="lin" valueType="num">
                                      <p:cBhvr additive="base">
                                        <p:cTn id="9" dur="450" fill="hold"/>
                                        <p:tgtEl>
                                          <p:spTgt spid="3"/>
                                        </p:tgtEl>
                                        <p:attrNameLst>
                                          <p:attrName>ppt_w</p:attrName>
                                        </p:attrNameLst>
                                      </p:cBhvr>
                                      <p:tavLst>
                                        <p:tav tm="0">
                                          <p:val>
                                            <p:strVal val="#ppt_w*2.4"/>
                                          </p:val>
                                        </p:tav>
                                        <p:tav tm="100000">
                                          <p:val>
                                            <p:strVal val="#ppt_w"/>
                                          </p:val>
                                        </p:tav>
                                      </p:tavLst>
                                    </p:anim>
                                    <p:anim calcmode="lin" valueType="num">
                                      <p:cBhvr additive="base">
                                        <p:cTn id="10" dur="450" fill="hold"/>
                                        <p:tgtEl>
                                          <p:spTgt spid="3"/>
                                        </p:tgtEl>
                                        <p:attrNameLst>
                                          <p:attrName>ppt_h</p:attrName>
                                        </p:attrNameLst>
                                      </p:cBhvr>
                                      <p:tavLst>
                                        <p:tav tm="0">
                                          <p:val>
                                            <p:strVal val="#ppt_h*2.4"/>
                                          </p:val>
                                        </p:tav>
                                        <p:tav tm="100000">
                                          <p:val>
                                            <p:strVal val="#ppt_h"/>
                                          </p:val>
                                        </p:tav>
                                      </p:tavLst>
                                    </p:anim>
                                    <p:animEffect transition="in" filter="fade">
                                      <p:cBhvr>
                                        <p:cTn id="11" dur="450"/>
                                        <p:tgtEl>
                                          <p:spTgt spid="3"/>
                                        </p:tgtEl>
                                      </p:cBhvr>
                                    </p:animEffect>
                                  </p:childTnLst>
                                </p:cTn>
                              </p:par>
                              <p:par>
                                <p:cTn id="17" presetID="53" presetClass="entr" presetSubtype="32" fill="hold" grpId="0" nodeType="withEffect">
                                  <p:stCondLst>
                                    <p:cond delay="0"/>
                                  </p:stCondLst>
                                  <p:childTnLst>
                                    <p:set>
                                      <p:cBhvr>
                                        <p:cTn id="13" dur="1" fill="hold">
                                          <p:stCondLst>
                                            <p:cond delay="0"/>
                                          </p:stCondLst>
                                        </p:cTn>
                                        <p:tgtEl>
                                          <p:spTgt spid="4"/>
                                        </p:tgtEl>
                                        <p:attrNameLst>
                                          <p:attrName>style.visibility</p:attrName>
                                        </p:attrNameLst>
                                      </p:cBhvr>
                                      <p:to>
                                        <p:strVal val="visible"/>
                                      </p:to>
                                    </p:set>
                                    <p:anim calcmode="lin" valueType="num">
                                      <p:cBhvr additive="base">
                                        <p:cTn id="14" dur="450" fill="hold"/>
                                        <p:tgtEl>
                                          <p:spTgt spid="4"/>
                                        </p:tgtEl>
                                        <p:attrNameLst>
                                          <p:attrName>ppt_w</p:attrName>
                                        </p:attrNameLst>
                                      </p:cBhvr>
                                      <p:tavLst>
                                        <p:tav tm="0">
                                          <p:val>
                                            <p:strVal val="#ppt_w*2.4"/>
                                          </p:val>
                                        </p:tav>
                                        <p:tav tm="100000">
                                          <p:val>
                                            <p:strVal val="#ppt_w"/>
                                          </p:val>
                                        </p:tav>
                                      </p:tavLst>
                                    </p:anim>
                                    <p:anim calcmode="lin" valueType="num">
                                      <p:cBhvr additive="base">
                                        <p:cTn id="15" dur="450" fill="hold"/>
                                        <p:tgtEl>
                                          <p:spTgt spid="4"/>
                                        </p:tgtEl>
                                        <p:attrNameLst>
                                          <p:attrName>ppt_h</p:attrName>
                                        </p:attrNameLst>
                                      </p:cBhvr>
                                      <p:tavLst>
                                        <p:tav tm="0">
                                          <p:val>
                                            <p:strVal val="#ppt_h*2.4"/>
                                          </p:val>
                                        </p:tav>
                                        <p:tav tm="100000">
                                          <p:val>
                                            <p:strVal val="#ppt_h"/>
                                          </p:val>
                                        </p:tav>
                                      </p:tavLst>
                                    </p:anim>
                                    <p:animEffect transition="in" filter="fade">
                                      <p:cBhvr>
                                        <p:cTn id="16" dur="450"/>
                                        <p:tgtEl>
                                          <p:spTgt spid="4"/>
                                        </p:tgtEl>
                                      </p:cBhvr>
                                    </p:animEffect>
                                  </p:childTnLst>
                                </p:cTn>
                              </p:par>
                              <p:par>
                                <p:cTn id="22" presetID="42" presetClass="entr" presetSubtype="0" fill="hold" grpId="0" nodeType="withEffect">
                                  <p:stCondLst>
                                    <p:cond delay="40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700"/>
                                        <p:tgtEl>
                                          <p:spTgt spid="6"/>
                                        </p:tgtEl>
                                      </p:cBhvr>
                                    </p:animEffect>
                                    <p:anim calcmode="lin" valueType="num">
                                      <p:cBhvr additive="base">
                                        <p:cTn id="20" dur="700" fill="hold"/>
                                        <p:tgtEl>
                                          <p:spTgt spid="6"/>
                                        </p:tgtEl>
                                        <p:attrNameLst>
                                          <p:attrName>ppt_x</p:attrName>
                                        </p:attrNameLst>
                                      </p:cBhvr>
                                      <p:tavLst>
                                        <p:tav tm="0">
                                          <p:val>
                                            <p:strVal val="#ppt_x"/>
                                          </p:val>
                                        </p:tav>
                                        <p:tav tm="100000">
                                          <p:val>
                                            <p:strVal val="#ppt_x"/>
                                          </p:val>
                                        </p:tav>
                                      </p:tavLst>
                                    </p:anim>
                                    <p:anim calcmode="lin" valueType="num">
                                      <p:cBhvr additive="base">
                                        <p:cTn id="21" dur="700" fill="hold"/>
                                        <p:tgtEl>
                                          <p:spTgt spid="6"/>
                                        </p:tgtEl>
                                        <p:attrNameLst>
                                          <p:attrName>ppt_y</p:attrName>
                                        </p:attrNameLst>
                                      </p:cBhvr>
                                      <p:tavLst>
                                        <p:tav tm="0">
                                          <p:val>
                                            <p:strVal val="#ppt_y+.06"/>
                                          </p:val>
                                        </p:tav>
                                        <p:tav tm="100000">
                                          <p:val>
                                            <p:strVal val="#ppt_y"/>
                                          </p:val>
                                        </p:tav>
                                      </p:tavLst>
                                    </p:anim>
                                  </p:childTnLst>
                                </p:cTn>
                              </p:par>
                              <p:par>
                                <p:cTn id="24" presetID="1" presetClass="entr" presetSubtype="0" fill="hold" grpId="0" nodeType="withEffect">
                                  <p:stCondLst>
                                    <p:cond delay="500"/>
                                  </p:stCondLst>
                                  <p:iterate type="lt">
                                    <p:tmAbs val="30"/>
                                  </p:iterate>
                                  <p:childTnLst>
                                    <p:set>
                                      <p:cBhvr>
                                        <p:cTn id="23" dur="1" fill="hold">
                                          <p:stCondLst>
                                            <p:cond delay="0"/>
                                          </p:stCondLst>
                                        </p:cTn>
                                        <p:tgtEl>
                                          <p:spTgt spid="5"/>
                                        </p:tgtEl>
                                        <p:attrNameLst>
                                          <p:attrName>style.visibility</p:attrName>
                                        </p:attrNameLst>
                                      </p:cBhvr>
                                      <p:to>
                                        <p:strVal val="visible"/>
                                      </p:to>
                                    </p:set>
                                  </p:childTnLst>
                                </p:cTn>
                              </p:par>
                              <p:par>
                                <p:cTn id="26" presetID="6" presetClass="emph" presetSubtype="0" fill="hold" grpId="1" nodeType="withEffect" autoRev="1" repeatCount="indefinite">
                                  <p:stCondLst>
                                    <p:cond delay="900"/>
                                  </p:stCondLst>
                                  <p:childTnLst>
                                    <p:animScale>
                                      <p:cBhvr>
                                        <p:cTn id="25" dur="800" fill="hold"/>
                                        <p:tgtEl>
                                          <p:spTgt spid="2"/>
                                        </p:tgtEl>
                                      </p:cBhvr>
                                      <p:by x="106000" y="106000"/>
                                    </p:animScale>
                                  </p:childTnLst>
                                </p:cTn>
                              </p:par>
                              <p:par>
                                <p:cTn id="29" presetID="10" presetClass="entr" presetSubtype="0" fill="hold" grpId="0" nodeType="withEffect">
                                  <p:stCondLst>
                                    <p:cond delay="900"/>
                                  </p:stCondLst>
                                  <p:childTnLst>
                                    <p:set>
                                      <p:cBhvr>
                                        <p:cTn id="27" dur="1" fill="hold">
                                          <p:stCondLst>
                                            <p:cond delay="0"/>
                                          </p:stCondLst>
                                        </p:cTn>
                                        <p:tgtEl>
                                          <p:spTgt spid="7"/>
                                        </p:tgtEl>
                                        <p:attrNameLst>
                                          <p:attrName>style.visibility</p:attrName>
                                        </p:attrNameLst>
                                      </p:cBhvr>
                                      <p:to>
                                        <p:strVal val="visible"/>
                                      </p:to>
                                    </p:set>
                                    <p:animEffect transition="in" filter="fade">
                                      <p:cBhvr>
                                        <p:cTn id="28" dur="600"/>
                                        <p:tgtEl>
                                          <p:spTgt spid="7"/>
                                        </p:tgtEl>
                                      </p:cBhvr>
                                    </p:animEffect>
                                  </p:childTnLst>
                                </p:cTn>
                              </p:par>
                              <p:par>
                                <p:cTn id="34" presetID="42" presetClass="entr" presetSubtype="0" fill="hold" grpId="0" nodeType="withEffect">
                                  <p:stCondLst>
                                    <p:cond delay="1400"/>
                                  </p:stCondLst>
                                  <p:childTnLst>
                                    <p:set>
                                      <p:cBhvr>
                                        <p:cTn id="30" dur="1" fill="hold">
                                          <p:stCondLst>
                                            <p:cond delay="0"/>
                                          </p:stCondLst>
                                        </p:cTn>
                                        <p:tgtEl>
                                          <p:spTgt spid="8"/>
                                        </p:tgtEl>
                                        <p:attrNameLst>
                                          <p:attrName>style.visibility</p:attrName>
                                        </p:attrNameLst>
                                      </p:cBhvr>
                                      <p:to>
                                        <p:strVal val="visible"/>
                                      </p:to>
                                    </p:set>
                                    <p:animEffect transition="in" filter="fade">
                                      <p:cBhvr>
                                        <p:cTn id="31" dur="600"/>
                                        <p:tgtEl>
                                          <p:spTgt spid="8"/>
                                        </p:tgtEl>
                                      </p:cBhvr>
                                    </p:animEffect>
                                    <p:anim calcmode="lin" valueType="num">
                                      <p:cBhvr additive="base">
                                        <p:cTn id="32" dur="600" fill="hold"/>
                                        <p:tgtEl>
                                          <p:spTgt spid="8"/>
                                        </p:tgtEl>
                                        <p:attrNameLst>
                                          <p:attrName>ppt_x</p:attrName>
                                        </p:attrNameLst>
                                      </p:cBhvr>
                                      <p:tavLst>
                                        <p:tav tm="0">
                                          <p:val>
                                            <p:strVal val="#ppt_x"/>
                                          </p:val>
                                        </p:tav>
                                        <p:tav tm="100000">
                                          <p:val>
                                            <p:strVal val="#ppt_x"/>
                                          </p:val>
                                        </p:tav>
                                      </p:tavLst>
                                    </p:anim>
                                    <p:anim calcmode="lin" valueType="num">
                                      <p:cBhvr additive="base">
                                        <p:cTn id="33" dur="600" fill="hold"/>
                                        <p:tgtEl>
                                          <p:spTgt spid="8"/>
                                        </p:tgtEl>
                                        <p:attrNameLst>
                                          <p:attrName>ppt_y</p:attrName>
                                        </p:attrNameLst>
                                      </p:cBhvr>
                                      <p:tavLst>
                                        <p:tav tm="0">
                                          <p:val>
                                            <p:strVal val="#ppt_y+.06"/>
                                          </p:val>
                                        </p:tav>
                                        <p:tav tm="100000">
                                          <p:val>
                                            <p:strVal val="#ppt_y"/>
                                          </p:val>
                                        </p:tav>
                                      </p:tavLst>
                                    </p:anim>
                                  </p:childTnLst>
                                </p:cTn>
                              </p:par>
                              <p:par>
                                <p:cTn id="37" presetID="10" presetClass="entr" presetSubtype="0" fill="hold" grpId="0" nodeType="withEffect">
                                  <p:stCondLst>
                                    <p:cond delay="1600"/>
                                  </p:stCondLst>
                                  <p:childTnLst>
                                    <p:set>
                                      <p:cBhvr>
                                        <p:cTn id="35" dur="1" fill="hold">
                                          <p:stCondLst>
                                            <p:cond delay="0"/>
                                          </p:stCondLst>
                                        </p:cTn>
                                        <p:tgtEl>
                                          <p:spTgt spid="9"/>
                                        </p:tgtEl>
                                        <p:attrNameLst>
                                          <p:attrName>style.visibility</p:attrName>
                                        </p:attrNameLst>
                                      </p:cBhvr>
                                      <p:to>
                                        <p:strVal val="visible"/>
                                      </p:to>
                                    </p:set>
                                    <p:animEffect transition="in" filter="fade">
                                      <p:cBhvr>
                                        <p:cTn id="36" dur="400"/>
                                        <p:tgtEl>
                                          <p:spTgt spid="9"/>
                                        </p:tgtEl>
                                      </p:cBhvr>
                                    </p:animEffect>
                                  </p:childTnLst>
                                </p:cTn>
                              </p:par>
                              <p:par>
                                <p:cTn id="39" presetID="1" presetClass="entr" presetSubtype="0" fill="hold" grpId="0" nodeType="withEffect">
                                  <p:stCondLst>
                                    <p:cond delay="1900"/>
                                  </p:stCondLst>
                                  <p:iterate type="lt">
                                    <p:tmAbs val="28"/>
                                  </p:iterate>
                                  <p:childTnLst>
                                    <p:set>
                                      <p:cBhvr>
                                        <p:cTn id="38" dur="1" fill="hold">
                                          <p:stCondLst>
                                            <p:cond delay="0"/>
                                          </p:stCondLst>
                                        </p:cTn>
                                        <p:tgtEl>
                                          <p:spTgt spid="10"/>
                                        </p:tgtEl>
                                        <p:attrNameLst>
                                          <p:attrName>style.visibility</p:attrName>
                                        </p:attrNameLst>
                                      </p:cBhvr>
                                      <p:to>
                                        <p:strVal val="visible"/>
                                      </p:to>
                                    </p:set>
                                  </p:childTnLst>
                                </p:cTn>
                              </p:par>
                              <p:par>
                                <p:cTn id="44" presetID="42" presetClass="entr" presetSubtype="0" fill="hold" grpId="0" nodeType="withEffect">
                                  <p:stCondLst>
                                    <p:cond delay="3100"/>
                                  </p:stCondLst>
                                  <p:childTnLst>
                                    <p:set>
                                      <p:cBhvr>
                                        <p:cTn id="40" dur="1" fill="hold">
                                          <p:stCondLst>
                                            <p:cond delay="0"/>
                                          </p:stCondLst>
                                        </p:cTn>
                                        <p:tgtEl>
                                          <p:spTgt spid="11"/>
                                        </p:tgtEl>
                                        <p:attrNameLst>
                                          <p:attrName>style.visibility</p:attrName>
                                        </p:attrNameLst>
                                      </p:cBhvr>
                                      <p:to>
                                        <p:strVal val="visible"/>
                                      </p:to>
                                    </p:set>
                                    <p:animEffect transition="in" filter="fade">
                                      <p:cBhvr>
                                        <p:cTn id="41" dur="600"/>
                                        <p:tgtEl>
                                          <p:spTgt spid="11"/>
                                        </p:tgtEl>
                                      </p:cBhvr>
                                    </p:animEffect>
                                    <p:anim calcmode="lin" valueType="num">
                                      <p:cBhvr additive="base">
                                        <p:cTn id="42" dur="600" fill="hold"/>
                                        <p:tgtEl>
                                          <p:spTgt spid="11"/>
                                        </p:tgtEl>
                                        <p:attrNameLst>
                                          <p:attrName>ppt_x</p:attrName>
                                        </p:attrNameLst>
                                      </p:cBhvr>
                                      <p:tavLst>
                                        <p:tav tm="0">
                                          <p:val>
                                            <p:strVal val="#ppt_x"/>
                                          </p:val>
                                        </p:tav>
                                        <p:tav tm="100000">
                                          <p:val>
                                            <p:strVal val="#ppt_x"/>
                                          </p:val>
                                        </p:tav>
                                      </p:tavLst>
                                    </p:anim>
                                    <p:anim calcmode="lin" valueType="num">
                                      <p:cBhvr additive="base">
                                        <p:cTn id="43" dur="600" fill="hold"/>
                                        <p:tgtEl>
                                          <p:spTgt spid="11"/>
                                        </p:tgtEl>
                                        <p:attrNameLst>
                                          <p:attrName>ppt_y</p:attrName>
                                        </p:attrNameLst>
                                      </p:cBhvr>
                                      <p:tavLst>
                                        <p:tav tm="0">
                                          <p:val>
                                            <p:strVal val="#ppt_y+.06"/>
                                          </p:val>
                                        </p:tav>
                                        <p:tav tm="100000">
                                          <p:val>
                                            <p:strVal val="#ppt_y"/>
                                          </p:val>
                                        </p:tav>
                                      </p:tavLst>
                                    </p:anim>
                                  </p:childTnLst>
                                </p:cTn>
                              </p:par>
                              <p:par>
                                <p:cTn id="47" presetID="10" presetClass="entr" presetSubtype="0" fill="hold" grpId="0" nodeType="withEffect">
                                  <p:stCondLst>
                                    <p:cond delay="3300"/>
                                  </p:stCondLst>
                                  <p:childTnLst>
                                    <p:set>
                                      <p:cBhvr>
                                        <p:cTn id="45" dur="1" fill="hold">
                                          <p:stCondLst>
                                            <p:cond delay="0"/>
                                          </p:stCondLst>
                                        </p:cTn>
                                        <p:tgtEl>
                                          <p:spTgt spid="12"/>
                                        </p:tgtEl>
                                        <p:attrNameLst>
                                          <p:attrName>style.visibility</p:attrName>
                                        </p:attrNameLst>
                                      </p:cBhvr>
                                      <p:to>
                                        <p:strVal val="visible"/>
                                      </p:to>
                                    </p:set>
                                    <p:animEffect transition="in" filter="fade">
                                      <p:cBhvr>
                                        <p:cTn id="46" dur="400"/>
                                        <p:tgtEl>
                                          <p:spTgt spid="12"/>
                                        </p:tgtEl>
                                      </p:cBhvr>
                                    </p:animEffect>
                                  </p:childTnLst>
                                </p:cTn>
                              </p:par>
                              <p:par>
                                <p:cTn id="49" presetID="1" presetClass="entr" presetSubtype="0" fill="hold" grpId="0" nodeType="withEffect">
                                  <p:stCondLst>
                                    <p:cond delay="3600"/>
                                  </p:stCondLst>
                                  <p:iterate type="lt">
                                    <p:tmAbs val="28"/>
                                  </p:iterate>
                                  <p:childTnLst>
                                    <p:set>
                                      <p:cBhvr>
                                        <p:cTn id="48" dur="1" fill="hold">
                                          <p:stCondLst>
                                            <p:cond delay="0"/>
                                          </p:stCondLst>
                                        </p:cTn>
                                        <p:tgtEl>
                                          <p:spTgt spid="13"/>
                                        </p:tgtEl>
                                        <p:attrNameLst>
                                          <p:attrName>style.visibility</p:attrName>
                                        </p:attrNameLst>
                                      </p:cBhvr>
                                      <p:to>
                                        <p:strVal val="visible"/>
                                      </p:to>
                                    </p:set>
                                  </p:childTnLst>
                                </p:cTn>
                              </p:par>
                              <p:par>
                                <p:cTn id="54" presetID="42" presetClass="entr" presetSubtype="0" fill="hold" grpId="0" nodeType="withEffect">
                                  <p:stCondLst>
                                    <p:cond delay="4800"/>
                                  </p:stCondLst>
                                  <p:childTnLst>
                                    <p:set>
                                      <p:cBhvr>
                                        <p:cTn id="50" dur="1" fill="hold">
                                          <p:stCondLst>
                                            <p:cond delay="0"/>
                                          </p:stCondLst>
                                        </p:cTn>
                                        <p:tgtEl>
                                          <p:spTgt spid="14"/>
                                        </p:tgtEl>
                                        <p:attrNameLst>
                                          <p:attrName>style.visibility</p:attrName>
                                        </p:attrNameLst>
                                      </p:cBhvr>
                                      <p:to>
                                        <p:strVal val="visible"/>
                                      </p:to>
                                    </p:set>
                                    <p:animEffect transition="in" filter="fade">
                                      <p:cBhvr>
                                        <p:cTn id="51" dur="600"/>
                                        <p:tgtEl>
                                          <p:spTgt spid="14"/>
                                        </p:tgtEl>
                                      </p:cBhvr>
                                    </p:animEffect>
                                    <p:anim calcmode="lin" valueType="num">
                                      <p:cBhvr additive="base">
                                        <p:cTn id="52" dur="600" fill="hold"/>
                                        <p:tgtEl>
                                          <p:spTgt spid="14"/>
                                        </p:tgtEl>
                                        <p:attrNameLst>
                                          <p:attrName>ppt_x</p:attrName>
                                        </p:attrNameLst>
                                      </p:cBhvr>
                                      <p:tavLst>
                                        <p:tav tm="0">
                                          <p:val>
                                            <p:strVal val="#ppt_x"/>
                                          </p:val>
                                        </p:tav>
                                        <p:tav tm="100000">
                                          <p:val>
                                            <p:strVal val="#ppt_x"/>
                                          </p:val>
                                        </p:tav>
                                      </p:tavLst>
                                    </p:anim>
                                    <p:anim calcmode="lin" valueType="num">
                                      <p:cBhvr additive="base">
                                        <p:cTn id="53" dur="600" fill="hold"/>
                                        <p:tgtEl>
                                          <p:spTgt spid="14"/>
                                        </p:tgtEl>
                                        <p:attrNameLst>
                                          <p:attrName>ppt_y</p:attrName>
                                        </p:attrNameLst>
                                      </p:cBhvr>
                                      <p:tavLst>
                                        <p:tav tm="0">
                                          <p:val>
                                            <p:strVal val="#ppt_y+.06"/>
                                          </p:val>
                                        </p:tav>
                                        <p:tav tm="100000">
                                          <p:val>
                                            <p:strVal val="#ppt_y"/>
                                          </p:val>
                                        </p:tav>
                                      </p:tavLst>
                                    </p:anim>
                                  </p:childTnLst>
                                </p:cTn>
                              </p:par>
                              <p:par>
                                <p:cTn id="57" presetID="10" presetClass="entr" presetSubtype="0" fill="hold" grpId="0" nodeType="withEffect">
                                  <p:stCondLst>
                                    <p:cond delay="5000"/>
                                  </p:stCondLst>
                                  <p:childTnLst>
                                    <p:set>
                                      <p:cBhvr>
                                        <p:cTn id="55" dur="1" fill="hold">
                                          <p:stCondLst>
                                            <p:cond delay="0"/>
                                          </p:stCondLst>
                                        </p:cTn>
                                        <p:tgtEl>
                                          <p:spTgt spid="15"/>
                                        </p:tgtEl>
                                        <p:attrNameLst>
                                          <p:attrName>style.visibility</p:attrName>
                                        </p:attrNameLst>
                                      </p:cBhvr>
                                      <p:to>
                                        <p:strVal val="visible"/>
                                      </p:to>
                                    </p:set>
                                    <p:animEffect transition="in" filter="fade">
                                      <p:cBhvr>
                                        <p:cTn id="56" dur="400"/>
                                        <p:tgtEl>
                                          <p:spTgt spid="15"/>
                                        </p:tgtEl>
                                      </p:cBhvr>
                                    </p:animEffect>
                                  </p:childTnLst>
                                </p:cTn>
                              </p:par>
                              <p:par>
                                <p:cTn id="59" presetID="1" presetClass="entr" presetSubtype="0" fill="hold" grpId="0" nodeType="withEffect">
                                  <p:stCondLst>
                                    <p:cond delay="5300"/>
                                  </p:stCondLst>
                                  <p:iterate type="lt">
                                    <p:tmAbs val="28"/>
                                  </p:iterate>
                                  <p:childTnLst>
                                    <p:set>
                                      <p:cBhvr>
                                        <p:cTn id="58" dur="1" fill="hold">
                                          <p:stCondLst>
                                            <p:cond delay="0"/>
                                          </p:stCondLst>
                                        </p:cTn>
                                        <p:tgtEl>
                                          <p:spTgt spid="16"/>
                                        </p:tgtEl>
                                        <p:attrNameLst>
                                          <p:attrName>style.visibility</p:attrName>
                                        </p:attrNameLst>
                                      </p:cBhvr>
                                      <p:to>
                                        <p:strVal val="visible"/>
                                      </p:to>
                                    </p:set>
                                  </p:childTnLst>
                                </p:cTn>
                              </p:par>
                              <p:par>
                                <p:cTn id="64" presetID="42" presetClass="entr" presetSubtype="0" fill="hold" grpId="0" nodeType="withEffect">
                                  <p:stCondLst>
                                    <p:cond delay="6500"/>
                                  </p:stCondLst>
                                  <p:childTnLst>
                                    <p:set>
                                      <p:cBhvr>
                                        <p:cTn id="60" dur="1" fill="hold">
                                          <p:stCondLst>
                                            <p:cond delay="0"/>
                                          </p:stCondLst>
                                        </p:cTn>
                                        <p:tgtEl>
                                          <p:spTgt spid="17"/>
                                        </p:tgtEl>
                                        <p:attrNameLst>
                                          <p:attrName>style.visibility</p:attrName>
                                        </p:attrNameLst>
                                      </p:cBhvr>
                                      <p:to>
                                        <p:strVal val="visible"/>
                                      </p:to>
                                    </p:set>
                                    <p:animEffect transition="in" filter="fade">
                                      <p:cBhvr>
                                        <p:cTn id="61" dur="600"/>
                                        <p:tgtEl>
                                          <p:spTgt spid="17"/>
                                        </p:tgtEl>
                                      </p:cBhvr>
                                    </p:animEffect>
                                    <p:anim calcmode="lin" valueType="num">
                                      <p:cBhvr additive="base">
                                        <p:cTn id="62" dur="600" fill="hold"/>
                                        <p:tgtEl>
                                          <p:spTgt spid="17"/>
                                        </p:tgtEl>
                                        <p:attrNameLst>
                                          <p:attrName>ppt_x</p:attrName>
                                        </p:attrNameLst>
                                      </p:cBhvr>
                                      <p:tavLst>
                                        <p:tav tm="0">
                                          <p:val>
                                            <p:strVal val="#ppt_x"/>
                                          </p:val>
                                        </p:tav>
                                        <p:tav tm="100000">
                                          <p:val>
                                            <p:strVal val="#ppt_x"/>
                                          </p:val>
                                        </p:tav>
                                      </p:tavLst>
                                    </p:anim>
                                    <p:anim calcmode="lin" valueType="num">
                                      <p:cBhvr additive="base">
                                        <p:cTn id="63" dur="600" fill="hold"/>
                                        <p:tgtEl>
                                          <p:spTgt spid="17"/>
                                        </p:tgtEl>
                                        <p:attrNameLst>
                                          <p:attrName>ppt_y</p:attrName>
                                        </p:attrNameLst>
                                      </p:cBhvr>
                                      <p:tavLst>
                                        <p:tav tm="0">
                                          <p:val>
                                            <p:strVal val="#ppt_y+.06"/>
                                          </p:val>
                                        </p:tav>
                                        <p:tav tm="100000">
                                          <p:val>
                                            <p:strVal val="#ppt_y"/>
                                          </p:val>
                                        </p:tav>
                                      </p:tavLst>
                                    </p:anim>
                                  </p:childTnLst>
                                </p:cTn>
                              </p:par>
                              <p:par>
                                <p:cTn id="67" presetID="10" presetClass="entr" presetSubtype="0" fill="hold" grpId="0" nodeType="withEffect">
                                  <p:stCondLst>
                                    <p:cond delay="6700"/>
                                  </p:stCondLst>
                                  <p:childTnLst>
                                    <p:set>
                                      <p:cBhvr>
                                        <p:cTn id="65" dur="1" fill="hold">
                                          <p:stCondLst>
                                            <p:cond delay="0"/>
                                          </p:stCondLst>
                                        </p:cTn>
                                        <p:tgtEl>
                                          <p:spTgt spid="18"/>
                                        </p:tgtEl>
                                        <p:attrNameLst>
                                          <p:attrName>style.visibility</p:attrName>
                                        </p:attrNameLst>
                                      </p:cBhvr>
                                      <p:to>
                                        <p:strVal val="visible"/>
                                      </p:to>
                                    </p:set>
                                    <p:animEffect transition="in" filter="fade">
                                      <p:cBhvr>
                                        <p:cTn id="66" dur="400"/>
                                        <p:tgtEl>
                                          <p:spTgt spid="18"/>
                                        </p:tgtEl>
                                      </p:cBhvr>
                                    </p:animEffect>
                                  </p:childTnLst>
                                </p:cTn>
                              </p:par>
                              <p:par>
                                <p:cTn id="69" presetID="1" presetClass="entr" presetSubtype="0" fill="hold" grpId="0" nodeType="withEffect">
                                  <p:stCondLst>
                                    <p:cond delay="7000"/>
                                  </p:stCondLst>
                                  <p:iterate type="lt">
                                    <p:tmAbs val="28"/>
                                  </p:iterate>
                                  <p:childTnLst>
                                    <p:set>
                                      <p:cBhvr>
                                        <p:cTn id="68" dur="1" fill="hold">
                                          <p:stCondLst>
                                            <p:cond delay="0"/>
                                          </p:stCondLst>
                                        </p:cTn>
                                        <p:tgtEl>
                                          <p:spTgt spid="19"/>
                                        </p:tgtEl>
                                        <p:attrNameLst>
                                          <p:attrName>style.visibility</p:attrName>
                                        </p:attrNameLst>
                                      </p:cBhvr>
                                      <p:to>
                                        <p:strVal val="visible"/>
                                      </p:to>
                                    </p:set>
                                  </p:childTnLst>
                                </p:cTn>
                              </p:par>
                              <p:par>
                                <p:cTn id="72" presetID="10" presetClass="entr" presetSubtype="0" fill="hold" grpId="0" nodeType="withEffect">
                                  <p:stCondLst>
                                    <p:cond delay="8400"/>
                                  </p:stCondLst>
                                  <p:childTnLst>
                                    <p:set>
                                      <p:cBhvr>
                                        <p:cTn id="70" dur="1" fill="hold">
                                          <p:stCondLst>
                                            <p:cond delay="0"/>
                                          </p:stCondLst>
                                        </p:cTn>
                                        <p:tgtEl>
                                          <p:spTgt spid="20"/>
                                        </p:tgtEl>
                                        <p:attrNameLst>
                                          <p:attrName>style.visibility</p:attrName>
                                        </p:attrNameLst>
                                      </p:cBhvr>
                                      <p:to>
                                        <p:strVal val="visible"/>
                                      </p:to>
                                    </p:set>
                                    <p:animEffect transition="in" filter="fade">
                                      <p:cBhvr>
                                        <p:cTn id="71" dur="6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6" grpId="0" animBg="1"/>
      <p:bldP spid="5" grpId="0" animBg="1"/>
      <p:bldP spid="2" grpId="1"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rec dot"/>
          <p:cNvSpPr/>
          <p:nvPr/>
        </p:nvSpPr>
        <p:spPr>
          <a:xfrm>
            <a:off x="548640" y="384048"/>
            <a:ext cx="182880" cy="182880"/>
          </a:xfrm>
          <a:prstGeom prst="ellipse">
            <a:avLst/>
          </a:prstGeom>
          <a:solidFill>
            <a:srgbClr val="E5383B"/>
          </a:solidFill>
          <a:ln/>
        </p:spPr>
      </p:sp>
      <p:sp>
        <p:nvSpPr>
          <p:cNvPr id="3" name="Text 1"/>
          <p:cNvSpPr txBox="1"/>
          <p:nvPr/>
        </p:nvSpPr>
        <p:spPr>
          <a:xfrm>
            <a:off x="841248" y="329184"/>
            <a:ext cx="8229600" cy="292608"/>
          </a:xfrm>
          <a:prstGeom prst="rect">
            <a:avLst/>
          </a:prstGeom>
          <a:noFill/>
          <a:ln/>
        </p:spPr>
        <p:txBody>
          <a:bodyPr wrap="square" lIns="0" tIns="0" rIns="0" bIns="0" rtlCol="0" anchor="ctr"/>
          <a:lstStyle/>
          <a:p>
            <a:pPr indent="0" marL="0">
              <a:buNone/>
            </a:pPr>
            <a:r>
              <a:rPr lang="en-US" sz="1300" b="1" spc="200" kern="0" dirty="0">
                <a:solidFill>
                  <a:srgbClr val="D9D6CF"/>
                </a:solidFill>
                <a:latin typeface="Courier New" pitchFamily="34" charset="0"/>
                <a:ea typeface="Courier New" pitchFamily="34" charset="-122"/>
                <a:cs typeface="Courier New" pitchFamily="34" charset="-120"/>
              </a:rPr>
              <a:t>THE CRITICS’ VERDICT  ·  OUR RATINGS</a:t>
            </a:r>
            <a:endParaRPr lang="en-US" sz="1300" dirty="0"/>
          </a:p>
        </p:txBody>
      </p:sp>
      <p:sp>
        <p:nvSpPr>
          <p:cNvPr id="4" name="Text 0"/>
          <p:cNvSpPr/>
          <p:nvPr>
            <p:ph idx="100" type="title" hasCustomPrompt="1"/>
          </p:nvPr>
        </p:nvSpPr>
        <p:spPr>
          <a:xfrm>
            <a:off x="548640" y="731520"/>
            <a:ext cx="11094415" cy="731520"/>
          </a:xfrm>
          <a:prstGeom prst="rect">
            <a:avLst/>
          </a:prstGeom>
          <a:noFill/>
          <a:ln/>
        </p:spPr>
        <p:txBody>
          <a:bodyPr wrap="square" lIns="0" tIns="0" rIns="0" bIns="0" rtlCol="0" anchor="ctr"/>
          <a:lstStyle/>
          <a:p>
            <a:pPr algn="l" indent="0" marL="0">
              <a:buNone/>
            </a:pPr>
            <a:r>
              <a:rPr lang="en-US" sz="3000" b="1" dirty="0">
                <a:solidFill>
                  <a:schemeClr val="bg1"/>
                </a:solidFill>
              </a:rPr>
              <a:t>Accurate in substance, exaggerated in style</a:t>
            </a:r>
            <a:endParaRPr lang="en-US" sz="3000" dirty="0"/>
          </a:p>
        </p:txBody>
      </p:sp>
      <p:sp>
        <p:nvSpPr>
          <p:cNvPr id="5" name="Conceptual accuracy"/>
          <p:cNvSpPr/>
          <p:nvPr/>
        </p:nvSpPr>
        <p:spPr>
          <a:xfrm>
            <a:off x="548640" y="1783080"/>
            <a:ext cx="11094415" cy="896112"/>
          </a:xfrm>
          <a:prstGeom prst="rect">
            <a:avLst/>
          </a:prstGeom>
          <a:solidFill>
            <a:srgbClr val="1B1D22"/>
          </a:solidFill>
          <a:ln w="12700">
            <a:solidFill>
              <a:srgbClr val="33363D"/>
            </a:solidFill>
            <a:prstDash val="solid"/>
          </a:ln>
        </p:spPr>
      </p:sp>
      <p:sp>
        <p:nvSpPr>
          <p:cNvPr id="6" name="Text 4"/>
          <p:cNvSpPr txBox="1"/>
          <p:nvPr/>
        </p:nvSpPr>
        <p:spPr>
          <a:xfrm>
            <a:off x="822960" y="1783080"/>
            <a:ext cx="2926080" cy="896112"/>
          </a:xfrm>
          <a:prstGeom prst="rect">
            <a:avLst/>
          </a:prstGeom>
          <a:noFill/>
          <a:ln/>
        </p:spPr>
        <p:txBody>
          <a:bodyPr wrap="square" lIns="0" tIns="0" rIns="0" bIns="0" rtlCol="0" anchor="ctr"/>
          <a:lstStyle/>
          <a:p>
            <a:pPr indent="0" marL="0">
              <a:buNone/>
            </a:pPr>
            <a:r>
              <a:rPr lang="en-US" sz="1700" b="1" dirty="0">
                <a:solidFill>
                  <a:schemeClr val="bg1"/>
                </a:solidFill>
                <a:latin typeface="Bookman Old Style" pitchFamily="34" charset="0"/>
                <a:ea typeface="Bookman Old Style" pitchFamily="34" charset="-122"/>
                <a:cs typeface="Bookman Old Style" pitchFamily="34" charset="-120"/>
              </a:rPr>
              <a:t>Conceptual accuracy</a:t>
            </a:r>
            <a:endParaRPr lang="en-US" sz="1700" dirty="0"/>
          </a:p>
        </p:txBody>
      </p:sp>
      <p:pic>
        <p:nvPicPr>
          <p:cNvPr id="7" name="Conceptual accuracy star 1" descr="filled star">    </p:cNvPr>
          <p:cNvPicPr>
            <a:picLocks noChangeAspect="1"/>
          </p:cNvPicPr>
          <p:nvPr/>
        </p:nvPicPr>
        <p:blipFill>
          <a:blip r:embed="rId1"/>
          <a:stretch>
            <a:fillRect/>
          </a:stretch>
        </p:blipFill>
        <p:spPr>
          <a:xfrm>
            <a:off x="3840480" y="2029968"/>
            <a:ext cx="384048" cy="384048"/>
          </a:xfrm>
          <a:prstGeom prst="rect">
            <a:avLst/>
          </a:prstGeom>
        </p:spPr>
      </p:pic>
      <p:pic>
        <p:nvPicPr>
          <p:cNvPr id="8" name="Conceptual accuracy star 2" descr="filled star">    </p:cNvPr>
          <p:cNvPicPr>
            <a:picLocks noChangeAspect="1"/>
          </p:cNvPicPr>
          <p:nvPr/>
        </p:nvPicPr>
        <p:blipFill>
          <a:blip r:embed="rId2"/>
          <a:stretch>
            <a:fillRect/>
          </a:stretch>
        </p:blipFill>
        <p:spPr>
          <a:xfrm>
            <a:off x="4279392" y="2029968"/>
            <a:ext cx="384048" cy="384048"/>
          </a:xfrm>
          <a:prstGeom prst="rect">
            <a:avLst/>
          </a:prstGeom>
        </p:spPr>
      </p:pic>
      <p:pic>
        <p:nvPicPr>
          <p:cNvPr id="9" name="Conceptual accuracy star 3" descr="filled star">    </p:cNvPr>
          <p:cNvPicPr>
            <a:picLocks noChangeAspect="1"/>
          </p:cNvPicPr>
          <p:nvPr/>
        </p:nvPicPr>
        <p:blipFill>
          <a:blip r:embed="rId3"/>
          <a:stretch>
            <a:fillRect/>
          </a:stretch>
        </p:blipFill>
        <p:spPr>
          <a:xfrm>
            <a:off x="4718304" y="2029968"/>
            <a:ext cx="384048" cy="384048"/>
          </a:xfrm>
          <a:prstGeom prst="rect">
            <a:avLst/>
          </a:prstGeom>
        </p:spPr>
      </p:pic>
      <p:pic>
        <p:nvPicPr>
          <p:cNvPr id="10" name="Conceptual accuracy star 4" descr="filled star">    </p:cNvPr>
          <p:cNvPicPr>
            <a:picLocks noChangeAspect="1"/>
          </p:cNvPicPr>
          <p:nvPr/>
        </p:nvPicPr>
        <p:blipFill>
          <a:blip r:embed="rId4"/>
          <a:stretch>
            <a:fillRect/>
          </a:stretch>
        </p:blipFill>
        <p:spPr>
          <a:xfrm>
            <a:off x="5157216" y="2029968"/>
            <a:ext cx="384048" cy="384048"/>
          </a:xfrm>
          <a:prstGeom prst="rect">
            <a:avLst/>
          </a:prstGeom>
        </p:spPr>
      </p:pic>
      <p:pic>
        <p:nvPicPr>
          <p:cNvPr id="11" name="Conceptual accuracy star 5" descr="empty star">    </p:cNvPr>
          <p:cNvPicPr>
            <a:picLocks noChangeAspect="1"/>
          </p:cNvPicPr>
          <p:nvPr/>
        </p:nvPicPr>
        <p:blipFill>
          <a:blip r:embed="rId5"/>
          <a:stretch>
            <a:fillRect/>
          </a:stretch>
        </p:blipFill>
        <p:spPr>
          <a:xfrm>
            <a:off x="5596128" y="2029968"/>
            <a:ext cx="384048" cy="384048"/>
          </a:xfrm>
          <a:prstGeom prst="rect">
            <a:avLst/>
          </a:prstGeom>
        </p:spPr>
      </p:pic>
      <p:sp>
        <p:nvSpPr>
          <p:cNvPr id="12" name="Text 5"/>
          <p:cNvSpPr txBox="1"/>
          <p:nvPr/>
        </p:nvSpPr>
        <p:spPr>
          <a:xfrm>
            <a:off x="6126480" y="1783080"/>
            <a:ext cx="640080" cy="896112"/>
          </a:xfrm>
          <a:prstGeom prst="rect">
            <a:avLst/>
          </a:prstGeom>
          <a:noFill/>
          <a:ln/>
        </p:spPr>
        <p:txBody>
          <a:bodyPr wrap="square" lIns="0" tIns="0" rIns="0" bIns="0" rtlCol="0" anchor="ctr"/>
          <a:lstStyle/>
          <a:p>
            <a:pPr indent="0" marL="0">
              <a:buNone/>
            </a:pPr>
            <a:r>
              <a:rPr lang="en-US" sz="1400" b="1" dirty="0">
                <a:solidFill>
                  <a:srgbClr val="FFD84D"/>
                </a:solidFill>
                <a:latin typeface="Courier New" pitchFamily="34" charset="0"/>
                <a:ea typeface="Courier New" pitchFamily="34" charset="-122"/>
                <a:cs typeface="Courier New" pitchFamily="34" charset="-120"/>
              </a:rPr>
              <a:t>4/5</a:t>
            </a:r>
            <a:endParaRPr lang="en-US" sz="1400" dirty="0"/>
          </a:p>
        </p:txBody>
      </p:sp>
      <p:sp>
        <p:nvSpPr>
          <p:cNvPr id="13" name="Text 6"/>
          <p:cNvSpPr txBox="1"/>
          <p:nvPr/>
        </p:nvSpPr>
        <p:spPr>
          <a:xfrm>
            <a:off x="6903720" y="1783080"/>
            <a:ext cx="4510735" cy="896112"/>
          </a:xfrm>
          <a:prstGeom prst="rect">
            <a:avLst/>
          </a:prstGeom>
          <a:noFill/>
          <a:ln/>
        </p:spPr>
        <p:txBody>
          <a:bodyPr wrap="square" lIns="0" tIns="0" rIns="0" bIns="0" rtlCol="0" anchor="ctr"/>
          <a:lstStyle/>
          <a:p>
            <a:pPr indent="0" marL="0">
              <a:buNone/>
            </a:pPr>
            <a:r>
              <a:rPr lang="en-US" sz="1500" dirty="0">
                <a:solidFill>
                  <a:srgbClr val="D9D6CF"/>
                </a:solidFill>
              </a:rPr>
              <a:t>Fits UNTOC, enterprise and network models closely</a:t>
            </a:r>
            <a:endParaRPr lang="en-US" sz="1500" dirty="0"/>
          </a:p>
        </p:txBody>
      </p:sp>
      <p:sp>
        <p:nvSpPr>
          <p:cNvPr id="14" name="Factual accuracy"/>
          <p:cNvSpPr/>
          <p:nvPr/>
        </p:nvSpPr>
        <p:spPr>
          <a:xfrm>
            <a:off x="548640" y="2807208"/>
            <a:ext cx="11094415" cy="896112"/>
          </a:xfrm>
          <a:prstGeom prst="rect">
            <a:avLst/>
          </a:prstGeom>
          <a:solidFill>
            <a:srgbClr val="1B1D22"/>
          </a:solidFill>
          <a:ln w="12700">
            <a:solidFill>
              <a:srgbClr val="33363D"/>
            </a:solidFill>
            <a:prstDash val="solid"/>
          </a:ln>
        </p:spPr>
      </p:sp>
      <p:sp>
        <p:nvSpPr>
          <p:cNvPr id="15" name="Text 8"/>
          <p:cNvSpPr txBox="1"/>
          <p:nvPr/>
        </p:nvSpPr>
        <p:spPr>
          <a:xfrm>
            <a:off x="822960" y="2807208"/>
            <a:ext cx="2926080" cy="896112"/>
          </a:xfrm>
          <a:prstGeom prst="rect">
            <a:avLst/>
          </a:prstGeom>
          <a:noFill/>
          <a:ln/>
        </p:spPr>
        <p:txBody>
          <a:bodyPr wrap="square" lIns="0" tIns="0" rIns="0" bIns="0" rtlCol="0" anchor="ctr"/>
          <a:lstStyle/>
          <a:p>
            <a:pPr indent="0" marL="0">
              <a:buNone/>
            </a:pPr>
            <a:r>
              <a:rPr lang="en-US" sz="1700" b="1" dirty="0">
                <a:solidFill>
                  <a:schemeClr val="bg1"/>
                </a:solidFill>
                <a:latin typeface="Bookman Old Style" pitchFamily="34" charset="0"/>
                <a:ea typeface="Bookman Old Style" pitchFamily="34" charset="-122"/>
                <a:cs typeface="Bookman Old Style" pitchFamily="34" charset="-120"/>
              </a:rPr>
              <a:t>Factual accuracy</a:t>
            </a:r>
            <a:endParaRPr lang="en-US" sz="1700" dirty="0"/>
          </a:p>
        </p:txBody>
      </p:sp>
      <p:pic>
        <p:nvPicPr>
          <p:cNvPr id="16" name="Factual accuracy star 1" descr="filled star">    </p:cNvPr>
          <p:cNvPicPr>
            <a:picLocks noChangeAspect="1"/>
          </p:cNvPicPr>
          <p:nvPr/>
        </p:nvPicPr>
        <p:blipFill>
          <a:blip r:embed="rId6"/>
          <a:stretch>
            <a:fillRect/>
          </a:stretch>
        </p:blipFill>
        <p:spPr>
          <a:xfrm>
            <a:off x="3840480" y="3054096"/>
            <a:ext cx="384048" cy="384048"/>
          </a:xfrm>
          <a:prstGeom prst="rect">
            <a:avLst/>
          </a:prstGeom>
        </p:spPr>
      </p:pic>
      <p:pic>
        <p:nvPicPr>
          <p:cNvPr id="17" name="Factual accuracy star 2" descr="filled star">    </p:cNvPr>
          <p:cNvPicPr>
            <a:picLocks noChangeAspect="1"/>
          </p:cNvPicPr>
          <p:nvPr/>
        </p:nvPicPr>
        <p:blipFill>
          <a:blip r:embed="rId7"/>
          <a:stretch>
            <a:fillRect/>
          </a:stretch>
        </p:blipFill>
        <p:spPr>
          <a:xfrm>
            <a:off x="4279392" y="3054096"/>
            <a:ext cx="384048" cy="384048"/>
          </a:xfrm>
          <a:prstGeom prst="rect">
            <a:avLst/>
          </a:prstGeom>
        </p:spPr>
      </p:pic>
      <p:pic>
        <p:nvPicPr>
          <p:cNvPr id="18" name="Factual accuracy star 3" descr="filled star">    </p:cNvPr>
          <p:cNvPicPr>
            <a:picLocks noChangeAspect="1"/>
          </p:cNvPicPr>
          <p:nvPr/>
        </p:nvPicPr>
        <p:blipFill>
          <a:blip r:embed="rId8"/>
          <a:stretch>
            <a:fillRect/>
          </a:stretch>
        </p:blipFill>
        <p:spPr>
          <a:xfrm>
            <a:off x="4718304" y="3054096"/>
            <a:ext cx="384048" cy="384048"/>
          </a:xfrm>
          <a:prstGeom prst="rect">
            <a:avLst/>
          </a:prstGeom>
        </p:spPr>
      </p:pic>
      <p:pic>
        <p:nvPicPr>
          <p:cNvPr id="19" name="Factual accuracy star 4" descr="filled star">    </p:cNvPr>
          <p:cNvPicPr>
            <a:picLocks noChangeAspect="1"/>
          </p:cNvPicPr>
          <p:nvPr/>
        </p:nvPicPr>
        <p:blipFill>
          <a:blip r:embed="rId9"/>
          <a:stretch>
            <a:fillRect/>
          </a:stretch>
        </p:blipFill>
        <p:spPr>
          <a:xfrm>
            <a:off x="5157216" y="3054096"/>
            <a:ext cx="384048" cy="384048"/>
          </a:xfrm>
          <a:prstGeom prst="rect">
            <a:avLst/>
          </a:prstGeom>
        </p:spPr>
      </p:pic>
      <p:pic>
        <p:nvPicPr>
          <p:cNvPr id="20" name="Factual accuracy star 5" descr="empty star">    </p:cNvPr>
          <p:cNvPicPr>
            <a:picLocks noChangeAspect="1"/>
          </p:cNvPicPr>
          <p:nvPr/>
        </p:nvPicPr>
        <p:blipFill>
          <a:blip r:embed="rId10"/>
          <a:stretch>
            <a:fillRect/>
          </a:stretch>
        </p:blipFill>
        <p:spPr>
          <a:xfrm>
            <a:off x="5596128" y="3054096"/>
            <a:ext cx="384048" cy="384048"/>
          </a:xfrm>
          <a:prstGeom prst="rect">
            <a:avLst/>
          </a:prstGeom>
        </p:spPr>
      </p:pic>
      <p:sp>
        <p:nvSpPr>
          <p:cNvPr id="21" name="Text 9"/>
          <p:cNvSpPr txBox="1"/>
          <p:nvPr/>
        </p:nvSpPr>
        <p:spPr>
          <a:xfrm>
            <a:off x="6126480" y="2807208"/>
            <a:ext cx="640080" cy="896112"/>
          </a:xfrm>
          <a:prstGeom prst="rect">
            <a:avLst/>
          </a:prstGeom>
          <a:noFill/>
          <a:ln/>
        </p:spPr>
        <p:txBody>
          <a:bodyPr wrap="square" lIns="0" tIns="0" rIns="0" bIns="0" rtlCol="0" anchor="ctr"/>
          <a:lstStyle/>
          <a:p>
            <a:pPr indent="0" marL="0">
              <a:buNone/>
            </a:pPr>
            <a:r>
              <a:rPr lang="en-US" sz="1400" b="1" dirty="0">
                <a:solidFill>
                  <a:srgbClr val="FFD84D"/>
                </a:solidFill>
                <a:latin typeface="Courier New" pitchFamily="34" charset="0"/>
                <a:ea typeface="Courier New" pitchFamily="34" charset="-122"/>
                <a:cs typeface="Courier New" pitchFamily="34" charset="-120"/>
              </a:rPr>
              <a:t>4/5</a:t>
            </a:r>
            <a:endParaRPr lang="en-US" sz="1400" dirty="0"/>
          </a:p>
        </p:txBody>
      </p:sp>
      <p:sp>
        <p:nvSpPr>
          <p:cNvPr id="22" name="Text 10"/>
          <p:cNvSpPr txBox="1"/>
          <p:nvPr/>
        </p:nvSpPr>
        <p:spPr>
          <a:xfrm>
            <a:off x="6903720" y="2807208"/>
            <a:ext cx="4510735" cy="896112"/>
          </a:xfrm>
          <a:prstGeom prst="rect">
            <a:avLst/>
          </a:prstGeom>
          <a:noFill/>
          <a:ln/>
        </p:spPr>
        <p:txBody>
          <a:bodyPr wrap="square" lIns="0" tIns="0" rIns="0" bIns="0" rtlCol="0" anchor="ctr"/>
          <a:lstStyle/>
          <a:p>
            <a:pPr indent="0" marL="0">
              <a:buNone/>
            </a:pPr>
            <a:r>
              <a:rPr lang="en-US" sz="1500" dirty="0">
                <a:solidFill>
                  <a:srgbClr val="D9D6CF"/>
                </a:solidFill>
              </a:rPr>
              <a:t>Contract, repackaging and sentences are true</a:t>
            </a:r>
            <a:endParaRPr lang="en-US" sz="1500" dirty="0"/>
          </a:p>
        </p:txBody>
      </p:sp>
      <p:sp>
        <p:nvSpPr>
          <p:cNvPr id="23" name="Realism of tone"/>
          <p:cNvSpPr/>
          <p:nvPr/>
        </p:nvSpPr>
        <p:spPr>
          <a:xfrm>
            <a:off x="548640" y="3831336"/>
            <a:ext cx="11094415" cy="896112"/>
          </a:xfrm>
          <a:prstGeom prst="rect">
            <a:avLst/>
          </a:prstGeom>
          <a:solidFill>
            <a:srgbClr val="1B1D22"/>
          </a:solidFill>
          <a:ln w="12700">
            <a:solidFill>
              <a:srgbClr val="33363D"/>
            </a:solidFill>
            <a:prstDash val="solid"/>
          </a:ln>
        </p:spPr>
      </p:sp>
      <p:sp>
        <p:nvSpPr>
          <p:cNvPr id="24" name="Text 12"/>
          <p:cNvSpPr txBox="1"/>
          <p:nvPr/>
        </p:nvSpPr>
        <p:spPr>
          <a:xfrm>
            <a:off x="822960" y="3831336"/>
            <a:ext cx="2926080" cy="896112"/>
          </a:xfrm>
          <a:prstGeom prst="rect">
            <a:avLst/>
          </a:prstGeom>
          <a:noFill/>
          <a:ln/>
        </p:spPr>
        <p:txBody>
          <a:bodyPr wrap="square" lIns="0" tIns="0" rIns="0" bIns="0" rtlCol="0" anchor="ctr"/>
          <a:lstStyle/>
          <a:p>
            <a:pPr indent="0" marL="0">
              <a:buNone/>
            </a:pPr>
            <a:r>
              <a:rPr lang="en-US" sz="1700" b="1" dirty="0">
                <a:solidFill>
                  <a:schemeClr val="bg1"/>
                </a:solidFill>
                <a:latin typeface="Bookman Old Style" pitchFamily="34" charset="0"/>
                <a:ea typeface="Bookman Old Style" pitchFamily="34" charset="-122"/>
                <a:cs typeface="Bookman Old Style" pitchFamily="34" charset="-120"/>
              </a:rPr>
              <a:t>Realism of tone</a:t>
            </a:r>
            <a:endParaRPr lang="en-US" sz="1700" dirty="0"/>
          </a:p>
        </p:txBody>
      </p:sp>
      <p:pic>
        <p:nvPicPr>
          <p:cNvPr id="25" name="Realism of tone star 1" descr="filled star">    </p:cNvPr>
          <p:cNvPicPr>
            <a:picLocks noChangeAspect="1"/>
          </p:cNvPicPr>
          <p:nvPr/>
        </p:nvPicPr>
        <p:blipFill>
          <a:blip r:embed="rId11"/>
          <a:stretch>
            <a:fillRect/>
          </a:stretch>
        </p:blipFill>
        <p:spPr>
          <a:xfrm>
            <a:off x="3840480" y="4078224"/>
            <a:ext cx="384048" cy="384048"/>
          </a:xfrm>
          <a:prstGeom prst="rect">
            <a:avLst/>
          </a:prstGeom>
        </p:spPr>
      </p:pic>
      <p:pic>
        <p:nvPicPr>
          <p:cNvPr id="26" name="Realism of tone star 2" descr="filled star">    </p:cNvPr>
          <p:cNvPicPr>
            <a:picLocks noChangeAspect="1"/>
          </p:cNvPicPr>
          <p:nvPr/>
        </p:nvPicPr>
        <p:blipFill>
          <a:blip r:embed="rId12"/>
          <a:stretch>
            <a:fillRect/>
          </a:stretch>
        </p:blipFill>
        <p:spPr>
          <a:xfrm>
            <a:off x="4279392" y="4078224"/>
            <a:ext cx="384048" cy="384048"/>
          </a:xfrm>
          <a:prstGeom prst="rect">
            <a:avLst/>
          </a:prstGeom>
        </p:spPr>
      </p:pic>
      <p:pic>
        <p:nvPicPr>
          <p:cNvPr id="27" name="Realism of tone star 3" descr="empty star">    </p:cNvPr>
          <p:cNvPicPr>
            <a:picLocks noChangeAspect="1"/>
          </p:cNvPicPr>
          <p:nvPr/>
        </p:nvPicPr>
        <p:blipFill>
          <a:blip r:embed="rId13"/>
          <a:stretch>
            <a:fillRect/>
          </a:stretch>
        </p:blipFill>
        <p:spPr>
          <a:xfrm>
            <a:off x="4718304" y="4078224"/>
            <a:ext cx="384048" cy="384048"/>
          </a:xfrm>
          <a:prstGeom prst="rect">
            <a:avLst/>
          </a:prstGeom>
        </p:spPr>
      </p:pic>
      <p:pic>
        <p:nvPicPr>
          <p:cNvPr id="28" name="Realism of tone star 4" descr="empty star">    </p:cNvPr>
          <p:cNvPicPr>
            <a:picLocks noChangeAspect="1"/>
          </p:cNvPicPr>
          <p:nvPr/>
        </p:nvPicPr>
        <p:blipFill>
          <a:blip r:embed="rId14"/>
          <a:stretch>
            <a:fillRect/>
          </a:stretch>
        </p:blipFill>
        <p:spPr>
          <a:xfrm>
            <a:off x="5157216" y="4078224"/>
            <a:ext cx="384048" cy="384048"/>
          </a:xfrm>
          <a:prstGeom prst="rect">
            <a:avLst/>
          </a:prstGeom>
        </p:spPr>
      </p:pic>
      <p:pic>
        <p:nvPicPr>
          <p:cNvPr id="29" name="Realism of tone star 5" descr="empty star">    </p:cNvPr>
          <p:cNvPicPr>
            <a:picLocks noChangeAspect="1"/>
          </p:cNvPicPr>
          <p:nvPr/>
        </p:nvPicPr>
        <p:blipFill>
          <a:blip r:embed="rId15"/>
          <a:stretch>
            <a:fillRect/>
          </a:stretch>
        </p:blipFill>
        <p:spPr>
          <a:xfrm>
            <a:off x="5596128" y="4078224"/>
            <a:ext cx="384048" cy="384048"/>
          </a:xfrm>
          <a:prstGeom prst="rect">
            <a:avLst/>
          </a:prstGeom>
        </p:spPr>
      </p:pic>
      <p:sp>
        <p:nvSpPr>
          <p:cNvPr id="30" name="Text 13"/>
          <p:cNvSpPr txBox="1"/>
          <p:nvPr/>
        </p:nvSpPr>
        <p:spPr>
          <a:xfrm>
            <a:off x="6126480" y="3831336"/>
            <a:ext cx="640080" cy="896112"/>
          </a:xfrm>
          <a:prstGeom prst="rect">
            <a:avLst/>
          </a:prstGeom>
          <a:noFill/>
          <a:ln/>
        </p:spPr>
        <p:txBody>
          <a:bodyPr wrap="square" lIns="0" tIns="0" rIns="0" bIns="0" rtlCol="0" anchor="ctr"/>
          <a:lstStyle/>
          <a:p>
            <a:pPr indent="0" marL="0">
              <a:buNone/>
            </a:pPr>
            <a:r>
              <a:rPr lang="en-US" sz="1400" b="1" dirty="0">
                <a:solidFill>
                  <a:srgbClr val="FF8A8C"/>
                </a:solidFill>
                <a:latin typeface="Courier New" pitchFamily="34" charset="0"/>
                <a:ea typeface="Courier New" pitchFamily="34" charset="-122"/>
                <a:cs typeface="Courier New" pitchFamily="34" charset="-120"/>
              </a:rPr>
              <a:t>2/5</a:t>
            </a:r>
            <a:endParaRPr lang="en-US" sz="1400" dirty="0"/>
          </a:p>
        </p:txBody>
      </p:sp>
      <p:sp>
        <p:nvSpPr>
          <p:cNvPr id="31" name="Text 14"/>
          <p:cNvSpPr txBox="1"/>
          <p:nvPr/>
        </p:nvSpPr>
        <p:spPr>
          <a:xfrm>
            <a:off x="6903720" y="3831336"/>
            <a:ext cx="4510735" cy="896112"/>
          </a:xfrm>
          <a:prstGeom prst="rect">
            <a:avLst/>
          </a:prstGeom>
          <a:noFill/>
          <a:ln/>
        </p:spPr>
        <p:txBody>
          <a:bodyPr wrap="square" lIns="0" tIns="0" rIns="0" bIns="0" rtlCol="0" anchor="ctr"/>
          <a:lstStyle/>
          <a:p>
            <a:pPr indent="0" marL="0">
              <a:buNone/>
            </a:pPr>
            <a:r>
              <a:rPr lang="en-US" sz="1500" dirty="0">
                <a:solidFill>
                  <a:srgbClr val="D9D6CF"/>
                </a:solidFill>
              </a:rPr>
              <a:t>Comedy glamorizes fraud; threats in Albania invented</a:t>
            </a:r>
            <a:endParaRPr lang="en-US" sz="1500" dirty="0"/>
          </a:p>
        </p:txBody>
      </p:sp>
      <p:sp>
        <p:nvSpPr>
          <p:cNvPr id="32" name="Systemic insight"/>
          <p:cNvSpPr/>
          <p:nvPr/>
        </p:nvSpPr>
        <p:spPr>
          <a:xfrm>
            <a:off x="548640" y="4855464"/>
            <a:ext cx="11094415" cy="896112"/>
          </a:xfrm>
          <a:prstGeom prst="rect">
            <a:avLst/>
          </a:prstGeom>
          <a:solidFill>
            <a:srgbClr val="1B1D22"/>
          </a:solidFill>
          <a:ln w="12700">
            <a:solidFill>
              <a:srgbClr val="33363D"/>
            </a:solidFill>
            <a:prstDash val="solid"/>
          </a:ln>
        </p:spPr>
      </p:sp>
      <p:sp>
        <p:nvSpPr>
          <p:cNvPr id="33" name="Text 16"/>
          <p:cNvSpPr txBox="1"/>
          <p:nvPr/>
        </p:nvSpPr>
        <p:spPr>
          <a:xfrm>
            <a:off x="822960" y="4855464"/>
            <a:ext cx="2926080" cy="896112"/>
          </a:xfrm>
          <a:prstGeom prst="rect">
            <a:avLst/>
          </a:prstGeom>
          <a:noFill/>
          <a:ln/>
        </p:spPr>
        <p:txBody>
          <a:bodyPr wrap="square" lIns="0" tIns="0" rIns="0" bIns="0" rtlCol="0" anchor="ctr"/>
          <a:lstStyle/>
          <a:p>
            <a:pPr indent="0" marL="0">
              <a:buNone/>
            </a:pPr>
            <a:r>
              <a:rPr lang="en-US" sz="1700" b="1" dirty="0">
                <a:solidFill>
                  <a:schemeClr val="bg1"/>
                </a:solidFill>
                <a:latin typeface="Bookman Old Style" pitchFamily="34" charset="0"/>
                <a:ea typeface="Bookman Old Style" pitchFamily="34" charset="-122"/>
                <a:cs typeface="Bookman Old Style" pitchFamily="34" charset="-120"/>
              </a:rPr>
              <a:t>Systemic insight</a:t>
            </a:r>
            <a:endParaRPr lang="en-US" sz="1700" dirty="0"/>
          </a:p>
        </p:txBody>
      </p:sp>
      <p:pic>
        <p:nvPicPr>
          <p:cNvPr id="34" name="Systemic insight star 1" descr="filled star">    </p:cNvPr>
          <p:cNvPicPr>
            <a:picLocks noChangeAspect="1"/>
          </p:cNvPicPr>
          <p:nvPr/>
        </p:nvPicPr>
        <p:blipFill>
          <a:blip r:embed="rId16"/>
          <a:stretch>
            <a:fillRect/>
          </a:stretch>
        </p:blipFill>
        <p:spPr>
          <a:xfrm>
            <a:off x="3840480" y="5102352"/>
            <a:ext cx="384048" cy="384048"/>
          </a:xfrm>
          <a:prstGeom prst="rect">
            <a:avLst/>
          </a:prstGeom>
        </p:spPr>
      </p:pic>
      <p:pic>
        <p:nvPicPr>
          <p:cNvPr id="35" name="Systemic insight star 2" descr="filled star">    </p:cNvPr>
          <p:cNvPicPr>
            <a:picLocks noChangeAspect="1"/>
          </p:cNvPicPr>
          <p:nvPr/>
        </p:nvPicPr>
        <p:blipFill>
          <a:blip r:embed="rId17"/>
          <a:stretch>
            <a:fillRect/>
          </a:stretch>
        </p:blipFill>
        <p:spPr>
          <a:xfrm>
            <a:off x="4279392" y="5102352"/>
            <a:ext cx="384048" cy="384048"/>
          </a:xfrm>
          <a:prstGeom prst="rect">
            <a:avLst/>
          </a:prstGeom>
        </p:spPr>
      </p:pic>
      <p:pic>
        <p:nvPicPr>
          <p:cNvPr id="36" name="Systemic insight star 3" descr="empty star">    </p:cNvPr>
          <p:cNvPicPr>
            <a:picLocks noChangeAspect="1"/>
          </p:cNvPicPr>
          <p:nvPr/>
        </p:nvPicPr>
        <p:blipFill>
          <a:blip r:embed="rId18"/>
          <a:stretch>
            <a:fillRect/>
          </a:stretch>
        </p:blipFill>
        <p:spPr>
          <a:xfrm>
            <a:off x="4718304" y="5102352"/>
            <a:ext cx="384048" cy="384048"/>
          </a:xfrm>
          <a:prstGeom prst="rect">
            <a:avLst/>
          </a:prstGeom>
        </p:spPr>
      </p:pic>
      <p:pic>
        <p:nvPicPr>
          <p:cNvPr id="37" name="Systemic insight star 4" descr="empty star">    </p:cNvPr>
          <p:cNvPicPr>
            <a:picLocks noChangeAspect="1"/>
          </p:cNvPicPr>
          <p:nvPr/>
        </p:nvPicPr>
        <p:blipFill>
          <a:blip r:embed="rId19"/>
          <a:stretch>
            <a:fillRect/>
          </a:stretch>
        </p:blipFill>
        <p:spPr>
          <a:xfrm>
            <a:off x="5157216" y="5102352"/>
            <a:ext cx="384048" cy="384048"/>
          </a:xfrm>
          <a:prstGeom prst="rect">
            <a:avLst/>
          </a:prstGeom>
        </p:spPr>
      </p:pic>
      <p:pic>
        <p:nvPicPr>
          <p:cNvPr id="38" name="Systemic insight star 5" descr="empty star">    </p:cNvPr>
          <p:cNvPicPr>
            <a:picLocks noChangeAspect="1"/>
          </p:cNvPicPr>
          <p:nvPr/>
        </p:nvPicPr>
        <p:blipFill>
          <a:blip r:embed="rId20"/>
          <a:stretch>
            <a:fillRect/>
          </a:stretch>
        </p:blipFill>
        <p:spPr>
          <a:xfrm>
            <a:off x="5596128" y="5102352"/>
            <a:ext cx="384048" cy="384048"/>
          </a:xfrm>
          <a:prstGeom prst="rect">
            <a:avLst/>
          </a:prstGeom>
        </p:spPr>
      </p:pic>
      <p:sp>
        <p:nvSpPr>
          <p:cNvPr id="39" name="Text 17"/>
          <p:cNvSpPr txBox="1"/>
          <p:nvPr/>
        </p:nvSpPr>
        <p:spPr>
          <a:xfrm>
            <a:off x="6126480" y="4855464"/>
            <a:ext cx="640080" cy="896112"/>
          </a:xfrm>
          <a:prstGeom prst="rect">
            <a:avLst/>
          </a:prstGeom>
          <a:noFill/>
          <a:ln/>
        </p:spPr>
        <p:txBody>
          <a:bodyPr wrap="square" lIns="0" tIns="0" rIns="0" bIns="0" rtlCol="0" anchor="ctr"/>
          <a:lstStyle/>
          <a:p>
            <a:pPr indent="0" marL="0">
              <a:buNone/>
            </a:pPr>
            <a:r>
              <a:rPr lang="en-US" sz="1400" b="1" dirty="0">
                <a:solidFill>
                  <a:srgbClr val="FF8A8C"/>
                </a:solidFill>
                <a:latin typeface="Courier New" pitchFamily="34" charset="0"/>
                <a:ea typeface="Courier New" pitchFamily="34" charset="-122"/>
                <a:cs typeface="Courier New" pitchFamily="34" charset="-120"/>
              </a:rPr>
              <a:t>2/5</a:t>
            </a:r>
            <a:endParaRPr lang="en-US" sz="1400" dirty="0"/>
          </a:p>
        </p:txBody>
      </p:sp>
      <p:sp>
        <p:nvSpPr>
          <p:cNvPr id="40" name="Text 18"/>
          <p:cNvSpPr txBox="1"/>
          <p:nvPr/>
        </p:nvSpPr>
        <p:spPr>
          <a:xfrm>
            <a:off x="6903720" y="4855464"/>
            <a:ext cx="4510735" cy="896112"/>
          </a:xfrm>
          <a:prstGeom prst="rect">
            <a:avLst/>
          </a:prstGeom>
          <a:noFill/>
          <a:ln/>
        </p:spPr>
        <p:txBody>
          <a:bodyPr wrap="square" lIns="0" tIns="0" rIns="0" bIns="0" rtlCol="0" anchor="ctr"/>
          <a:lstStyle/>
          <a:p>
            <a:pPr indent="0" marL="0">
              <a:buNone/>
            </a:pPr>
            <a:r>
              <a:rPr lang="en-US" sz="1500" dirty="0">
                <a:solidFill>
                  <a:srgbClr val="D9D6CF"/>
                </a:solidFill>
              </a:rPr>
              <a:t>Blames two men; skips state failure and Gërdec (26 killed)</a:t>
            </a:r>
            <a:endParaRPr lang="en-US" sz="1500" dirty="0"/>
          </a:p>
        </p:txBody>
      </p:sp>
      <p:sp>
        <p:nvSpPr>
          <p:cNvPr id="41" name="Text 19"/>
          <p:cNvSpPr txBox="1"/>
          <p:nvPr/>
        </p:nvSpPr>
        <p:spPr>
          <a:xfrm>
            <a:off x="548640" y="6108192"/>
            <a:ext cx="11094415" cy="201168"/>
          </a:xfrm>
          <a:prstGeom prst="rect">
            <a:avLst/>
          </a:prstGeom>
          <a:noFill/>
          <a:ln/>
        </p:spPr>
        <p:txBody>
          <a:bodyPr wrap="square" lIns="0" tIns="0" rIns="0" bIns="0" rtlCol="0" anchor="ctr"/>
          <a:lstStyle/>
          <a:p>
            <a:pPr indent="0" marL="0">
              <a:buNone/>
            </a:pPr>
            <a:r>
              <a:rPr lang="en-US" sz="1000" i="1" dirty="0">
                <a:solidFill>
                  <a:srgbClr val="6E727A"/>
                </a:solidFill>
              </a:rPr>
              <a:t>Ratings are the group’s assessment. Sources: Lawson (2015); Al Jazeera (2008). Henry Girard is a composite inspired by broker Heinrich Thomet.</a:t>
            </a:r>
            <a:endParaRPr lang="en-US" sz="1000" dirty="0"/>
          </a:p>
        </p:txBody>
      </p:sp>
      <p:sp>
        <p:nvSpPr>
          <p:cNvPr id="25" name="Slide Number Placeholder 0"/>
          <p:cNvSpPr>
            <a:spLocks noGrp="1"/>
          </p:cNvSpPr>
          <p:nvPr>
            <p:ph type="sldNum" sz="quarter" idx="4294967295"/>
          </p:nvPr>
        </p:nvSpPr>
        <p:spPr>
          <a:xfrm>
            <a:off x="11094415" y="6400800"/>
            <a:ext cx="54864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6E727A"/>
                </a:solidFill>
                <a:latin typeface="Courier New"/>
                <a:ea typeface="Courier New"/>
                <a:cs typeface="Courier New"/>
              </a:defRPr>
            </a:lvl1pPr>
          </a:lstStyle>
          <a:p>
            <a:pPr algn="r"/>
            <a:fld id="{F7021451-1387-4CA6-816F-3879F97B5CBC}" type="slidenum">
              <a:rPr b="1" lang="en-US"/>
              <a:t>11</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76" fill="hold">
                      <p:stCondLst>
                        <p:cond delay="indefinite"/>
                        <p:cond evt="onBegin" delay="0">
                          <p:tn val="2"/>
                        </p:cond>
                      </p:stCondLst>
                      <p:childTnLst>
                        <p:par>
                          <p:cTn id="177" fill="hold">
                            <p:stCondLst>
                              <p:cond delay="0"/>
                            </p:stCondLst>
                            <p:childTnLst>
                              <p:par>
                                <p:cTn id="7" presetID="53" presetClass="entr" presetSubtype="16" fill="hold" grpId="0" nodeType="afterEffect">
                                  <p:stCondLst>
                                    <p:cond delay="0"/>
                                  </p:stCondLst>
                                  <p:childTnLst>
                                    <p:set>
                                      <p:cBhvr>
                                        <p:cTn id="3" dur="1" fill="hold">
                                          <p:stCondLst>
                                            <p:cond delay="0"/>
                                          </p:stCondLst>
                                        </p:cTn>
                                        <p:tgtEl>
                                          <p:spTgt spid="2"/>
                                        </p:tgtEl>
                                        <p:attrNameLst>
                                          <p:attrName>style.visibility</p:attrName>
                                        </p:attrNameLst>
                                      </p:cBhvr>
                                      <p:to>
                                        <p:strVal val="visible"/>
                                      </p:to>
                                    </p:set>
                                    <p:anim calcmode="lin" valueType="num">
                                      <p:cBhvr additive="base">
                                        <p:cTn id="4" dur="400" fill="hold"/>
                                        <p:tgtEl>
                                          <p:spTgt spid="2"/>
                                        </p:tgtEl>
                                        <p:attrNameLst>
                                          <p:attrName>ppt_w</p:attrName>
                                        </p:attrNameLst>
                                      </p:cBhvr>
                                      <p:tavLst>
                                        <p:tav tm="0">
                                          <p:val>
                                            <p:strVal val="0"/>
                                          </p:val>
                                        </p:tav>
                                        <p:tav tm="100000">
                                          <p:val>
                                            <p:strVal val="#ppt_w"/>
                                          </p:val>
                                        </p:tav>
                                      </p:tavLst>
                                    </p:anim>
                                    <p:anim calcmode="lin" valueType="num">
                                      <p:cBhvr additive="base">
                                        <p:cTn id="5" dur="400" fill="hold"/>
                                        <p:tgtEl>
                                          <p:spTgt spid="2"/>
                                        </p:tgtEl>
                                        <p:attrNameLst>
                                          <p:attrName>ppt_h</p:attrName>
                                        </p:attrNameLst>
                                      </p:cBhvr>
                                      <p:tavLst>
                                        <p:tav tm="0">
                                          <p:val>
                                            <p:strVal val="0"/>
                                          </p:val>
                                        </p:tav>
                                        <p:tav tm="100000">
                                          <p:val>
                                            <p:strVal val="#ppt_h"/>
                                          </p:val>
                                        </p:tav>
                                      </p:tavLst>
                                    </p:anim>
                                    <p:animEffect transition="in" filter="fade">
                                      <p:cBhvr>
                                        <p:cTn id="6" dur="400"/>
                                        <p:tgtEl>
                                          <p:spTgt spid="2"/>
                                        </p:tgtEl>
                                      </p:cBhvr>
                                    </p:animEffect>
                                  </p:childTnLst>
                                </p:cTn>
                              </p:par>
                              <p:par>
                                <p:cTn id="9" presetID="1" presetClass="entr" presetSubtype="0" fill="hold" grpId="0" nodeType="withEffect">
                                  <p:stCondLst>
                                    <p:cond delay="200"/>
                                  </p:stCondLst>
                                  <p:iterate type="lt">
                                    <p:tmAbs val="30"/>
                                  </p:iterate>
                                  <p:childTnLst>
                                    <p:set>
                                      <p:cBhvr>
                                        <p:cTn id="8" dur="1" fill="hold">
                                          <p:stCondLst>
                                            <p:cond delay="0"/>
                                          </p:stCondLst>
                                        </p:cTn>
                                        <p:tgtEl>
                                          <p:spTgt spid="3"/>
                                        </p:tgtEl>
                                        <p:attrNameLst>
                                          <p:attrName>style.visibility</p:attrName>
                                        </p:attrNameLst>
                                      </p:cBhvr>
                                      <p:to>
                                        <p:strVal val="visible"/>
                                      </p:to>
                                    </p:set>
                                  </p:childTnLst>
                                </p:cTn>
                              </p:par>
                              <p:par>
                                <p:cTn id="14" presetID="42" presetClass="entr" presetSubtype="0" fill="hold" grpId="0" nodeType="withEffect">
                                  <p:stCondLst>
                                    <p:cond delay="40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700"/>
                                        <p:tgtEl>
                                          <p:spTgt spid="4"/>
                                        </p:tgtEl>
                                      </p:cBhvr>
                                    </p:animEffect>
                                    <p:anim calcmode="lin" valueType="num">
                                      <p:cBhvr additive="base">
                                        <p:cTn id="12" dur="700" fill="hold"/>
                                        <p:tgtEl>
                                          <p:spTgt spid="4"/>
                                        </p:tgtEl>
                                        <p:attrNameLst>
                                          <p:attrName>ppt_x</p:attrName>
                                        </p:attrNameLst>
                                      </p:cBhvr>
                                      <p:tavLst>
                                        <p:tav tm="0">
                                          <p:val>
                                            <p:strVal val="#ppt_x"/>
                                          </p:val>
                                        </p:tav>
                                        <p:tav tm="100000">
                                          <p:val>
                                            <p:strVal val="#ppt_x"/>
                                          </p:val>
                                        </p:tav>
                                      </p:tavLst>
                                    </p:anim>
                                    <p:anim calcmode="lin" valueType="num">
                                      <p:cBhvr additive="base">
                                        <p:cTn id="13" dur="700" fill="hold"/>
                                        <p:tgtEl>
                                          <p:spTgt spid="4"/>
                                        </p:tgtEl>
                                        <p:attrNameLst>
                                          <p:attrName>ppt_y</p:attrName>
                                        </p:attrNameLst>
                                      </p:cBhvr>
                                      <p:tavLst>
                                        <p:tav tm="0">
                                          <p:val>
                                            <p:strVal val="#ppt_y+.06"/>
                                          </p:val>
                                        </p:tav>
                                        <p:tav tm="100000">
                                          <p:val>
                                            <p:strVal val="#ppt_y"/>
                                          </p:val>
                                        </p:tav>
                                      </p:tavLst>
                                    </p:anim>
                                  </p:childTnLst>
                                </p:cTn>
                              </p:par>
                              <p:par>
                                <p:cTn id="16" presetID="6" presetClass="emph" presetSubtype="0" fill="hold" grpId="1" nodeType="withEffect" autoRev="1" repeatCount="indefinite">
                                  <p:stCondLst>
                                    <p:cond delay="500"/>
                                  </p:stCondLst>
                                  <p:childTnLst>
                                    <p:animScale>
                                      <p:cBhvr>
                                        <p:cTn id="15" dur="650" fill="hold"/>
                                        <p:tgtEl>
                                          <p:spTgt spid="2"/>
                                        </p:tgtEl>
                                      </p:cBhvr>
                                      <p:by x="135000" y="135000"/>
                                    </p:animScale>
                                  </p:childTnLst>
                                </p:cTn>
                              </p:par>
                              <p:par>
                                <p:cTn id="21" presetID="42" presetClass="entr" presetSubtype="0" fill="hold" grpId="0" nodeType="withEffect">
                                  <p:stCondLst>
                                    <p:cond delay="90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600"/>
                                        <p:tgtEl>
                                          <p:spTgt spid="5"/>
                                        </p:tgtEl>
                                      </p:cBhvr>
                                    </p:animEffect>
                                    <p:anim calcmode="lin" valueType="num">
                                      <p:cBhvr additive="base">
                                        <p:cTn id="19" dur="600" fill="hold"/>
                                        <p:tgtEl>
                                          <p:spTgt spid="5"/>
                                        </p:tgtEl>
                                        <p:attrNameLst>
                                          <p:attrName>ppt_x</p:attrName>
                                        </p:attrNameLst>
                                      </p:cBhvr>
                                      <p:tavLst>
                                        <p:tav tm="0">
                                          <p:val>
                                            <p:strVal val="#ppt_x-.05"/>
                                          </p:val>
                                        </p:tav>
                                        <p:tav tm="100000">
                                          <p:val>
                                            <p:strVal val="#ppt_x"/>
                                          </p:val>
                                        </p:tav>
                                      </p:tavLst>
                                    </p:anim>
                                    <p:anim calcmode="lin" valueType="num">
                                      <p:cBhvr additive="base">
                                        <p:cTn id="20" dur="600" fill="hold"/>
                                        <p:tgtEl>
                                          <p:spTgt spid="5"/>
                                        </p:tgtEl>
                                        <p:attrNameLst>
                                          <p:attrName>ppt_y</p:attrName>
                                        </p:attrNameLst>
                                      </p:cBhvr>
                                      <p:tavLst>
                                        <p:tav tm="0">
                                          <p:val>
                                            <p:strVal val="#ppt_y"/>
                                          </p:val>
                                        </p:tav>
                                        <p:tav tm="100000">
                                          <p:val>
                                            <p:strVal val="#ppt_y"/>
                                          </p:val>
                                        </p:tav>
                                      </p:tavLst>
                                    </p:anim>
                                  </p:childTnLst>
                                </p:cTn>
                              </p:par>
                              <p:par>
                                <p:cTn id="26" presetID="53" presetClass="entr" presetSubtype="32" fill="hold" grpId="0" nodeType="withEffect">
                                  <p:stCondLst>
                                    <p:cond delay="1200"/>
                                  </p:stCondLst>
                                  <p:childTnLst>
                                    <p:set>
                                      <p:cBhvr>
                                        <p:cTn id="22" dur="1" fill="hold">
                                          <p:stCondLst>
                                            <p:cond delay="0"/>
                                          </p:stCondLst>
                                        </p:cTn>
                                        <p:tgtEl>
                                          <p:spTgt spid="7"/>
                                        </p:tgtEl>
                                        <p:attrNameLst>
                                          <p:attrName>style.visibility</p:attrName>
                                        </p:attrNameLst>
                                      </p:cBhvr>
                                      <p:to>
                                        <p:strVal val="visible"/>
                                      </p:to>
                                    </p:set>
                                    <p:anim calcmode="lin" valueType="num">
                                      <p:cBhvr additive="base">
                                        <p:cTn id="23" dur="350" fill="hold"/>
                                        <p:tgtEl>
                                          <p:spTgt spid="7"/>
                                        </p:tgtEl>
                                        <p:attrNameLst>
                                          <p:attrName>ppt_w</p:attrName>
                                        </p:attrNameLst>
                                      </p:cBhvr>
                                      <p:tavLst>
                                        <p:tav tm="0">
                                          <p:val>
                                            <p:strVal val="#ppt_w*2.4"/>
                                          </p:val>
                                        </p:tav>
                                        <p:tav tm="100000">
                                          <p:val>
                                            <p:strVal val="#ppt_w"/>
                                          </p:val>
                                        </p:tav>
                                      </p:tavLst>
                                    </p:anim>
                                    <p:anim calcmode="lin" valueType="num">
                                      <p:cBhvr additive="base">
                                        <p:cTn id="24" dur="350" fill="hold"/>
                                        <p:tgtEl>
                                          <p:spTgt spid="7"/>
                                        </p:tgtEl>
                                        <p:attrNameLst>
                                          <p:attrName>ppt_h</p:attrName>
                                        </p:attrNameLst>
                                      </p:cBhvr>
                                      <p:tavLst>
                                        <p:tav tm="0">
                                          <p:val>
                                            <p:strVal val="#ppt_h*2.4"/>
                                          </p:val>
                                        </p:tav>
                                        <p:tav tm="100000">
                                          <p:val>
                                            <p:strVal val="#ppt_h"/>
                                          </p:val>
                                        </p:tav>
                                      </p:tavLst>
                                    </p:anim>
                                    <p:animEffect transition="in" filter="fade">
                                      <p:cBhvr>
                                        <p:cTn id="25" dur="350"/>
                                        <p:tgtEl>
                                          <p:spTgt spid="7"/>
                                        </p:tgtEl>
                                      </p:cBhvr>
                                    </p:animEffect>
                                  </p:childTnLst>
                                </p:cTn>
                              </p:par>
                              <p:par>
                                <p:cTn id="29" presetID="10" presetClass="entr" presetSubtype="0" fill="hold" grpId="0" nodeType="withEffect">
                                  <p:stCondLst>
                                    <p:cond delay="1200"/>
                                  </p:stCondLst>
                                  <p:childTnLst>
                                    <p:set>
                                      <p:cBhvr>
                                        <p:cTn id="27" dur="1" fill="hold">
                                          <p:stCondLst>
                                            <p:cond delay="0"/>
                                          </p:stCondLst>
                                        </p:cTn>
                                        <p:tgtEl>
                                          <p:spTgt spid="6"/>
                                        </p:tgtEl>
                                        <p:attrNameLst>
                                          <p:attrName>style.visibility</p:attrName>
                                        </p:attrNameLst>
                                      </p:cBhvr>
                                      <p:to>
                                        <p:strVal val="visible"/>
                                      </p:to>
                                    </p:set>
                                    <p:animEffect transition="in" filter="fade">
                                      <p:cBhvr>
                                        <p:cTn id="28" dur="600"/>
                                        <p:tgtEl>
                                          <p:spTgt spid="6"/>
                                        </p:tgtEl>
                                      </p:cBhvr>
                                    </p:animEffect>
                                  </p:childTnLst>
                                </p:cTn>
                              </p:par>
                              <p:par>
                                <p:cTn id="32" presetID="10" presetClass="entr" presetSubtype="0" fill="hold" grpId="0" nodeType="withEffect">
                                  <p:stCondLst>
                                    <p:cond delay="120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600"/>
                                        <p:tgtEl>
                                          <p:spTgt spid="12"/>
                                        </p:tgtEl>
                                      </p:cBhvr>
                                    </p:animEffect>
                                  </p:childTnLst>
                                </p:cTn>
                              </p:par>
                              <p:par>
                                <p:cTn id="35" presetID="10" presetClass="entr" presetSubtype="0" fill="hold" grpId="0" nodeType="withEffect">
                                  <p:stCondLst>
                                    <p:cond delay="120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600"/>
                                        <p:tgtEl>
                                          <p:spTgt spid="13"/>
                                        </p:tgtEl>
                                      </p:cBhvr>
                                    </p:animEffect>
                                  </p:childTnLst>
                                </p:cTn>
                              </p:par>
                              <p:par>
                                <p:cTn id="40" presetID="53" presetClass="entr" presetSubtype="32" fill="hold" grpId="0" nodeType="withEffect">
                                  <p:stCondLst>
                                    <p:cond delay="1290"/>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350" fill="hold"/>
                                        <p:tgtEl>
                                          <p:spTgt spid="8"/>
                                        </p:tgtEl>
                                        <p:attrNameLst>
                                          <p:attrName>ppt_w</p:attrName>
                                        </p:attrNameLst>
                                      </p:cBhvr>
                                      <p:tavLst>
                                        <p:tav tm="0">
                                          <p:val>
                                            <p:strVal val="#ppt_w*2.4"/>
                                          </p:val>
                                        </p:tav>
                                        <p:tav tm="100000">
                                          <p:val>
                                            <p:strVal val="#ppt_w"/>
                                          </p:val>
                                        </p:tav>
                                      </p:tavLst>
                                    </p:anim>
                                    <p:anim calcmode="lin" valueType="num">
                                      <p:cBhvr additive="base">
                                        <p:cTn id="38" dur="350" fill="hold"/>
                                        <p:tgtEl>
                                          <p:spTgt spid="8"/>
                                        </p:tgtEl>
                                        <p:attrNameLst>
                                          <p:attrName>ppt_h</p:attrName>
                                        </p:attrNameLst>
                                      </p:cBhvr>
                                      <p:tavLst>
                                        <p:tav tm="0">
                                          <p:val>
                                            <p:strVal val="#ppt_h*2.4"/>
                                          </p:val>
                                        </p:tav>
                                        <p:tav tm="100000">
                                          <p:val>
                                            <p:strVal val="#ppt_h"/>
                                          </p:val>
                                        </p:tav>
                                      </p:tavLst>
                                    </p:anim>
                                    <p:animEffect transition="in" filter="fade">
                                      <p:cBhvr>
                                        <p:cTn id="39" dur="350"/>
                                        <p:tgtEl>
                                          <p:spTgt spid="8"/>
                                        </p:tgtEl>
                                      </p:cBhvr>
                                    </p:animEffect>
                                  </p:childTnLst>
                                </p:cTn>
                              </p:par>
                              <p:par>
                                <p:cTn id="45" presetID="53" presetClass="entr" presetSubtype="32" fill="hold" grpId="0" nodeType="withEffect">
                                  <p:stCondLst>
                                    <p:cond delay="1380"/>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350" fill="hold"/>
                                        <p:tgtEl>
                                          <p:spTgt spid="9"/>
                                        </p:tgtEl>
                                        <p:attrNameLst>
                                          <p:attrName>ppt_w</p:attrName>
                                        </p:attrNameLst>
                                      </p:cBhvr>
                                      <p:tavLst>
                                        <p:tav tm="0">
                                          <p:val>
                                            <p:strVal val="#ppt_w*2.4"/>
                                          </p:val>
                                        </p:tav>
                                        <p:tav tm="100000">
                                          <p:val>
                                            <p:strVal val="#ppt_w"/>
                                          </p:val>
                                        </p:tav>
                                      </p:tavLst>
                                    </p:anim>
                                    <p:anim calcmode="lin" valueType="num">
                                      <p:cBhvr additive="base">
                                        <p:cTn id="43" dur="350" fill="hold"/>
                                        <p:tgtEl>
                                          <p:spTgt spid="9"/>
                                        </p:tgtEl>
                                        <p:attrNameLst>
                                          <p:attrName>ppt_h</p:attrName>
                                        </p:attrNameLst>
                                      </p:cBhvr>
                                      <p:tavLst>
                                        <p:tav tm="0">
                                          <p:val>
                                            <p:strVal val="#ppt_h*2.4"/>
                                          </p:val>
                                        </p:tav>
                                        <p:tav tm="100000">
                                          <p:val>
                                            <p:strVal val="#ppt_h"/>
                                          </p:val>
                                        </p:tav>
                                      </p:tavLst>
                                    </p:anim>
                                    <p:animEffect transition="in" filter="fade">
                                      <p:cBhvr>
                                        <p:cTn id="44" dur="350"/>
                                        <p:tgtEl>
                                          <p:spTgt spid="9"/>
                                        </p:tgtEl>
                                      </p:cBhvr>
                                    </p:animEffect>
                                  </p:childTnLst>
                                </p:cTn>
                              </p:par>
                              <p:par>
                                <p:cTn id="50" presetID="53" presetClass="entr" presetSubtype="32" fill="hold" grpId="0" nodeType="withEffect">
                                  <p:stCondLst>
                                    <p:cond delay="1470"/>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350" fill="hold"/>
                                        <p:tgtEl>
                                          <p:spTgt spid="10"/>
                                        </p:tgtEl>
                                        <p:attrNameLst>
                                          <p:attrName>ppt_w</p:attrName>
                                        </p:attrNameLst>
                                      </p:cBhvr>
                                      <p:tavLst>
                                        <p:tav tm="0">
                                          <p:val>
                                            <p:strVal val="#ppt_w*2.4"/>
                                          </p:val>
                                        </p:tav>
                                        <p:tav tm="100000">
                                          <p:val>
                                            <p:strVal val="#ppt_w"/>
                                          </p:val>
                                        </p:tav>
                                      </p:tavLst>
                                    </p:anim>
                                    <p:anim calcmode="lin" valueType="num">
                                      <p:cBhvr additive="base">
                                        <p:cTn id="48" dur="350" fill="hold"/>
                                        <p:tgtEl>
                                          <p:spTgt spid="10"/>
                                        </p:tgtEl>
                                        <p:attrNameLst>
                                          <p:attrName>ppt_h</p:attrName>
                                        </p:attrNameLst>
                                      </p:cBhvr>
                                      <p:tavLst>
                                        <p:tav tm="0">
                                          <p:val>
                                            <p:strVal val="#ppt_h*2.4"/>
                                          </p:val>
                                        </p:tav>
                                        <p:tav tm="100000">
                                          <p:val>
                                            <p:strVal val="#ppt_h"/>
                                          </p:val>
                                        </p:tav>
                                      </p:tavLst>
                                    </p:anim>
                                    <p:animEffect transition="in" filter="fade">
                                      <p:cBhvr>
                                        <p:cTn id="49" dur="350"/>
                                        <p:tgtEl>
                                          <p:spTgt spid="10"/>
                                        </p:tgtEl>
                                      </p:cBhvr>
                                    </p:animEffect>
                                  </p:childTnLst>
                                </p:cTn>
                              </p:par>
                              <p:par>
                                <p:cTn id="55" presetID="53" presetClass="entr" presetSubtype="32" fill="hold" grpId="0" nodeType="withEffect">
                                  <p:stCondLst>
                                    <p:cond delay="1560"/>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350" fill="hold"/>
                                        <p:tgtEl>
                                          <p:spTgt spid="11"/>
                                        </p:tgtEl>
                                        <p:attrNameLst>
                                          <p:attrName>ppt_w</p:attrName>
                                        </p:attrNameLst>
                                      </p:cBhvr>
                                      <p:tavLst>
                                        <p:tav tm="0">
                                          <p:val>
                                            <p:strVal val="#ppt_w*2.4"/>
                                          </p:val>
                                        </p:tav>
                                        <p:tav tm="100000">
                                          <p:val>
                                            <p:strVal val="#ppt_w"/>
                                          </p:val>
                                        </p:tav>
                                      </p:tavLst>
                                    </p:anim>
                                    <p:anim calcmode="lin" valueType="num">
                                      <p:cBhvr additive="base">
                                        <p:cTn id="53" dur="350" fill="hold"/>
                                        <p:tgtEl>
                                          <p:spTgt spid="11"/>
                                        </p:tgtEl>
                                        <p:attrNameLst>
                                          <p:attrName>ppt_h</p:attrName>
                                        </p:attrNameLst>
                                      </p:cBhvr>
                                      <p:tavLst>
                                        <p:tav tm="0">
                                          <p:val>
                                            <p:strVal val="#ppt_h*2.4"/>
                                          </p:val>
                                        </p:tav>
                                        <p:tav tm="100000">
                                          <p:val>
                                            <p:strVal val="#ppt_h"/>
                                          </p:val>
                                        </p:tav>
                                      </p:tavLst>
                                    </p:anim>
                                    <p:animEffect transition="in" filter="fade">
                                      <p:cBhvr>
                                        <p:cTn id="54" dur="350"/>
                                        <p:tgtEl>
                                          <p:spTgt spid="11"/>
                                        </p:tgtEl>
                                      </p:cBhvr>
                                    </p:animEffect>
                                  </p:childTnLst>
                                </p:cTn>
                              </p:par>
                              <p:par>
                                <p:cTn id="60" presetID="42" presetClass="entr" presetSubtype="0" fill="hold" grpId="0" nodeType="withEffect">
                                  <p:stCondLst>
                                    <p:cond delay="1800"/>
                                  </p:stCondLst>
                                  <p:childTnLst>
                                    <p:set>
                                      <p:cBhvr>
                                        <p:cTn id="56" dur="1" fill="hold">
                                          <p:stCondLst>
                                            <p:cond delay="0"/>
                                          </p:stCondLst>
                                        </p:cTn>
                                        <p:tgtEl>
                                          <p:spTgt spid="14"/>
                                        </p:tgtEl>
                                        <p:attrNameLst>
                                          <p:attrName>style.visibility</p:attrName>
                                        </p:attrNameLst>
                                      </p:cBhvr>
                                      <p:to>
                                        <p:strVal val="visible"/>
                                      </p:to>
                                    </p:set>
                                    <p:animEffect transition="in" filter="fade">
                                      <p:cBhvr>
                                        <p:cTn id="57" dur="600"/>
                                        <p:tgtEl>
                                          <p:spTgt spid="14"/>
                                        </p:tgtEl>
                                      </p:cBhvr>
                                    </p:animEffect>
                                    <p:anim calcmode="lin" valueType="num">
                                      <p:cBhvr additive="base">
                                        <p:cTn id="58" dur="600" fill="hold"/>
                                        <p:tgtEl>
                                          <p:spTgt spid="14"/>
                                        </p:tgtEl>
                                        <p:attrNameLst>
                                          <p:attrName>ppt_x</p:attrName>
                                        </p:attrNameLst>
                                      </p:cBhvr>
                                      <p:tavLst>
                                        <p:tav tm="0">
                                          <p:val>
                                            <p:strVal val="#ppt_x-.05"/>
                                          </p:val>
                                        </p:tav>
                                        <p:tav tm="100000">
                                          <p:val>
                                            <p:strVal val="#ppt_x"/>
                                          </p:val>
                                        </p:tav>
                                      </p:tavLst>
                                    </p:anim>
                                    <p:anim calcmode="lin" valueType="num">
                                      <p:cBhvr additive="base">
                                        <p:cTn id="59" dur="600" fill="hold"/>
                                        <p:tgtEl>
                                          <p:spTgt spid="14"/>
                                        </p:tgtEl>
                                        <p:attrNameLst>
                                          <p:attrName>ppt_y</p:attrName>
                                        </p:attrNameLst>
                                      </p:cBhvr>
                                      <p:tavLst>
                                        <p:tav tm="0">
                                          <p:val>
                                            <p:strVal val="#ppt_y"/>
                                          </p:val>
                                        </p:tav>
                                        <p:tav tm="100000">
                                          <p:val>
                                            <p:strVal val="#ppt_y"/>
                                          </p:val>
                                        </p:tav>
                                      </p:tavLst>
                                    </p:anim>
                                  </p:childTnLst>
                                </p:cTn>
                              </p:par>
                              <p:par>
                                <p:cTn id="65" presetID="53" presetClass="entr" presetSubtype="32" fill="hold" grpId="0" nodeType="withEffect">
                                  <p:stCondLst>
                                    <p:cond delay="2100"/>
                                  </p:stCondLst>
                                  <p:childTnLst>
                                    <p:set>
                                      <p:cBhvr>
                                        <p:cTn id="61" dur="1" fill="hold">
                                          <p:stCondLst>
                                            <p:cond delay="0"/>
                                          </p:stCondLst>
                                        </p:cTn>
                                        <p:tgtEl>
                                          <p:spTgt spid="16"/>
                                        </p:tgtEl>
                                        <p:attrNameLst>
                                          <p:attrName>style.visibility</p:attrName>
                                        </p:attrNameLst>
                                      </p:cBhvr>
                                      <p:to>
                                        <p:strVal val="visible"/>
                                      </p:to>
                                    </p:set>
                                    <p:anim calcmode="lin" valueType="num">
                                      <p:cBhvr additive="base">
                                        <p:cTn id="62" dur="350" fill="hold"/>
                                        <p:tgtEl>
                                          <p:spTgt spid="16"/>
                                        </p:tgtEl>
                                        <p:attrNameLst>
                                          <p:attrName>ppt_w</p:attrName>
                                        </p:attrNameLst>
                                      </p:cBhvr>
                                      <p:tavLst>
                                        <p:tav tm="0">
                                          <p:val>
                                            <p:strVal val="#ppt_w*2.4"/>
                                          </p:val>
                                        </p:tav>
                                        <p:tav tm="100000">
                                          <p:val>
                                            <p:strVal val="#ppt_w"/>
                                          </p:val>
                                        </p:tav>
                                      </p:tavLst>
                                    </p:anim>
                                    <p:anim calcmode="lin" valueType="num">
                                      <p:cBhvr additive="base">
                                        <p:cTn id="63" dur="350" fill="hold"/>
                                        <p:tgtEl>
                                          <p:spTgt spid="16"/>
                                        </p:tgtEl>
                                        <p:attrNameLst>
                                          <p:attrName>ppt_h</p:attrName>
                                        </p:attrNameLst>
                                      </p:cBhvr>
                                      <p:tavLst>
                                        <p:tav tm="0">
                                          <p:val>
                                            <p:strVal val="#ppt_h*2.4"/>
                                          </p:val>
                                        </p:tav>
                                        <p:tav tm="100000">
                                          <p:val>
                                            <p:strVal val="#ppt_h"/>
                                          </p:val>
                                        </p:tav>
                                      </p:tavLst>
                                    </p:anim>
                                    <p:animEffect transition="in" filter="fade">
                                      <p:cBhvr>
                                        <p:cTn id="64" dur="350"/>
                                        <p:tgtEl>
                                          <p:spTgt spid="16"/>
                                        </p:tgtEl>
                                      </p:cBhvr>
                                    </p:animEffect>
                                  </p:childTnLst>
                                </p:cTn>
                              </p:par>
                              <p:par>
                                <p:cTn id="68" presetID="10" presetClass="entr" presetSubtype="0" fill="hold" grpId="0" nodeType="withEffect">
                                  <p:stCondLst>
                                    <p:cond delay="2100"/>
                                  </p:stCondLst>
                                  <p:childTnLst>
                                    <p:set>
                                      <p:cBhvr>
                                        <p:cTn id="66" dur="1" fill="hold">
                                          <p:stCondLst>
                                            <p:cond delay="0"/>
                                          </p:stCondLst>
                                        </p:cTn>
                                        <p:tgtEl>
                                          <p:spTgt spid="15"/>
                                        </p:tgtEl>
                                        <p:attrNameLst>
                                          <p:attrName>style.visibility</p:attrName>
                                        </p:attrNameLst>
                                      </p:cBhvr>
                                      <p:to>
                                        <p:strVal val="visible"/>
                                      </p:to>
                                    </p:set>
                                    <p:animEffect transition="in" filter="fade">
                                      <p:cBhvr>
                                        <p:cTn id="67" dur="600"/>
                                        <p:tgtEl>
                                          <p:spTgt spid="15"/>
                                        </p:tgtEl>
                                      </p:cBhvr>
                                    </p:animEffect>
                                  </p:childTnLst>
                                </p:cTn>
                              </p:par>
                              <p:par>
                                <p:cTn id="71" presetID="10" presetClass="entr" presetSubtype="0" fill="hold" grpId="0" nodeType="withEffect">
                                  <p:stCondLst>
                                    <p:cond delay="2100"/>
                                  </p:stCondLst>
                                  <p:childTnLst>
                                    <p:set>
                                      <p:cBhvr>
                                        <p:cTn id="69" dur="1" fill="hold">
                                          <p:stCondLst>
                                            <p:cond delay="0"/>
                                          </p:stCondLst>
                                        </p:cTn>
                                        <p:tgtEl>
                                          <p:spTgt spid="21"/>
                                        </p:tgtEl>
                                        <p:attrNameLst>
                                          <p:attrName>style.visibility</p:attrName>
                                        </p:attrNameLst>
                                      </p:cBhvr>
                                      <p:to>
                                        <p:strVal val="visible"/>
                                      </p:to>
                                    </p:set>
                                    <p:animEffect transition="in" filter="fade">
                                      <p:cBhvr>
                                        <p:cTn id="70" dur="600"/>
                                        <p:tgtEl>
                                          <p:spTgt spid="21"/>
                                        </p:tgtEl>
                                      </p:cBhvr>
                                    </p:animEffect>
                                  </p:childTnLst>
                                </p:cTn>
                              </p:par>
                              <p:par>
                                <p:cTn id="74" presetID="10" presetClass="entr" presetSubtype="0" fill="hold" grpId="0" nodeType="withEffect">
                                  <p:stCondLst>
                                    <p:cond delay="2100"/>
                                  </p:stCondLst>
                                  <p:childTnLst>
                                    <p:set>
                                      <p:cBhvr>
                                        <p:cTn id="72" dur="1" fill="hold">
                                          <p:stCondLst>
                                            <p:cond delay="0"/>
                                          </p:stCondLst>
                                        </p:cTn>
                                        <p:tgtEl>
                                          <p:spTgt spid="22"/>
                                        </p:tgtEl>
                                        <p:attrNameLst>
                                          <p:attrName>style.visibility</p:attrName>
                                        </p:attrNameLst>
                                      </p:cBhvr>
                                      <p:to>
                                        <p:strVal val="visible"/>
                                      </p:to>
                                    </p:set>
                                    <p:animEffect transition="in" filter="fade">
                                      <p:cBhvr>
                                        <p:cTn id="73" dur="600"/>
                                        <p:tgtEl>
                                          <p:spTgt spid="22"/>
                                        </p:tgtEl>
                                      </p:cBhvr>
                                    </p:animEffect>
                                  </p:childTnLst>
                                </p:cTn>
                              </p:par>
                              <p:par>
                                <p:cTn id="79" presetID="53" presetClass="entr" presetSubtype="32" fill="hold" grpId="0" nodeType="withEffect">
                                  <p:stCondLst>
                                    <p:cond delay="2190"/>
                                  </p:stCondLst>
                                  <p:childTnLst>
                                    <p:set>
                                      <p:cBhvr>
                                        <p:cTn id="75" dur="1" fill="hold">
                                          <p:stCondLst>
                                            <p:cond delay="0"/>
                                          </p:stCondLst>
                                        </p:cTn>
                                        <p:tgtEl>
                                          <p:spTgt spid="17"/>
                                        </p:tgtEl>
                                        <p:attrNameLst>
                                          <p:attrName>style.visibility</p:attrName>
                                        </p:attrNameLst>
                                      </p:cBhvr>
                                      <p:to>
                                        <p:strVal val="visible"/>
                                      </p:to>
                                    </p:set>
                                    <p:anim calcmode="lin" valueType="num">
                                      <p:cBhvr additive="base">
                                        <p:cTn id="76" dur="350" fill="hold"/>
                                        <p:tgtEl>
                                          <p:spTgt spid="17"/>
                                        </p:tgtEl>
                                        <p:attrNameLst>
                                          <p:attrName>ppt_w</p:attrName>
                                        </p:attrNameLst>
                                      </p:cBhvr>
                                      <p:tavLst>
                                        <p:tav tm="0">
                                          <p:val>
                                            <p:strVal val="#ppt_w*2.4"/>
                                          </p:val>
                                        </p:tav>
                                        <p:tav tm="100000">
                                          <p:val>
                                            <p:strVal val="#ppt_w"/>
                                          </p:val>
                                        </p:tav>
                                      </p:tavLst>
                                    </p:anim>
                                    <p:anim calcmode="lin" valueType="num">
                                      <p:cBhvr additive="base">
                                        <p:cTn id="77" dur="350" fill="hold"/>
                                        <p:tgtEl>
                                          <p:spTgt spid="17"/>
                                        </p:tgtEl>
                                        <p:attrNameLst>
                                          <p:attrName>ppt_h</p:attrName>
                                        </p:attrNameLst>
                                      </p:cBhvr>
                                      <p:tavLst>
                                        <p:tav tm="0">
                                          <p:val>
                                            <p:strVal val="#ppt_h*2.4"/>
                                          </p:val>
                                        </p:tav>
                                        <p:tav tm="100000">
                                          <p:val>
                                            <p:strVal val="#ppt_h"/>
                                          </p:val>
                                        </p:tav>
                                      </p:tavLst>
                                    </p:anim>
                                    <p:animEffect transition="in" filter="fade">
                                      <p:cBhvr>
                                        <p:cTn id="78" dur="350"/>
                                        <p:tgtEl>
                                          <p:spTgt spid="17"/>
                                        </p:tgtEl>
                                      </p:cBhvr>
                                    </p:animEffect>
                                  </p:childTnLst>
                                </p:cTn>
                              </p:par>
                              <p:par>
                                <p:cTn id="84" presetID="53" presetClass="entr" presetSubtype="32" fill="hold" grpId="0" nodeType="withEffect">
                                  <p:stCondLst>
                                    <p:cond delay="2280"/>
                                  </p:stCondLst>
                                  <p:childTnLst>
                                    <p:set>
                                      <p:cBhvr>
                                        <p:cTn id="80" dur="1" fill="hold">
                                          <p:stCondLst>
                                            <p:cond delay="0"/>
                                          </p:stCondLst>
                                        </p:cTn>
                                        <p:tgtEl>
                                          <p:spTgt spid="18"/>
                                        </p:tgtEl>
                                        <p:attrNameLst>
                                          <p:attrName>style.visibility</p:attrName>
                                        </p:attrNameLst>
                                      </p:cBhvr>
                                      <p:to>
                                        <p:strVal val="visible"/>
                                      </p:to>
                                    </p:set>
                                    <p:anim calcmode="lin" valueType="num">
                                      <p:cBhvr additive="base">
                                        <p:cTn id="81" dur="350" fill="hold"/>
                                        <p:tgtEl>
                                          <p:spTgt spid="18"/>
                                        </p:tgtEl>
                                        <p:attrNameLst>
                                          <p:attrName>ppt_w</p:attrName>
                                        </p:attrNameLst>
                                      </p:cBhvr>
                                      <p:tavLst>
                                        <p:tav tm="0">
                                          <p:val>
                                            <p:strVal val="#ppt_w*2.4"/>
                                          </p:val>
                                        </p:tav>
                                        <p:tav tm="100000">
                                          <p:val>
                                            <p:strVal val="#ppt_w"/>
                                          </p:val>
                                        </p:tav>
                                      </p:tavLst>
                                    </p:anim>
                                    <p:anim calcmode="lin" valueType="num">
                                      <p:cBhvr additive="base">
                                        <p:cTn id="82" dur="350" fill="hold"/>
                                        <p:tgtEl>
                                          <p:spTgt spid="18"/>
                                        </p:tgtEl>
                                        <p:attrNameLst>
                                          <p:attrName>ppt_h</p:attrName>
                                        </p:attrNameLst>
                                      </p:cBhvr>
                                      <p:tavLst>
                                        <p:tav tm="0">
                                          <p:val>
                                            <p:strVal val="#ppt_h*2.4"/>
                                          </p:val>
                                        </p:tav>
                                        <p:tav tm="100000">
                                          <p:val>
                                            <p:strVal val="#ppt_h"/>
                                          </p:val>
                                        </p:tav>
                                      </p:tavLst>
                                    </p:anim>
                                    <p:animEffect transition="in" filter="fade">
                                      <p:cBhvr>
                                        <p:cTn id="83" dur="350"/>
                                        <p:tgtEl>
                                          <p:spTgt spid="18"/>
                                        </p:tgtEl>
                                      </p:cBhvr>
                                    </p:animEffect>
                                  </p:childTnLst>
                                </p:cTn>
                              </p:par>
                              <p:par>
                                <p:cTn id="89" presetID="53" presetClass="entr" presetSubtype="32" fill="hold" grpId="0" nodeType="withEffect">
                                  <p:stCondLst>
                                    <p:cond delay="2370"/>
                                  </p:stCondLst>
                                  <p:childTnLst>
                                    <p:set>
                                      <p:cBhvr>
                                        <p:cTn id="85" dur="1" fill="hold">
                                          <p:stCondLst>
                                            <p:cond delay="0"/>
                                          </p:stCondLst>
                                        </p:cTn>
                                        <p:tgtEl>
                                          <p:spTgt spid="19"/>
                                        </p:tgtEl>
                                        <p:attrNameLst>
                                          <p:attrName>style.visibility</p:attrName>
                                        </p:attrNameLst>
                                      </p:cBhvr>
                                      <p:to>
                                        <p:strVal val="visible"/>
                                      </p:to>
                                    </p:set>
                                    <p:anim calcmode="lin" valueType="num">
                                      <p:cBhvr additive="base">
                                        <p:cTn id="86" dur="350" fill="hold"/>
                                        <p:tgtEl>
                                          <p:spTgt spid="19"/>
                                        </p:tgtEl>
                                        <p:attrNameLst>
                                          <p:attrName>ppt_w</p:attrName>
                                        </p:attrNameLst>
                                      </p:cBhvr>
                                      <p:tavLst>
                                        <p:tav tm="0">
                                          <p:val>
                                            <p:strVal val="#ppt_w*2.4"/>
                                          </p:val>
                                        </p:tav>
                                        <p:tav tm="100000">
                                          <p:val>
                                            <p:strVal val="#ppt_w"/>
                                          </p:val>
                                        </p:tav>
                                      </p:tavLst>
                                    </p:anim>
                                    <p:anim calcmode="lin" valueType="num">
                                      <p:cBhvr additive="base">
                                        <p:cTn id="87" dur="350" fill="hold"/>
                                        <p:tgtEl>
                                          <p:spTgt spid="19"/>
                                        </p:tgtEl>
                                        <p:attrNameLst>
                                          <p:attrName>ppt_h</p:attrName>
                                        </p:attrNameLst>
                                      </p:cBhvr>
                                      <p:tavLst>
                                        <p:tav tm="0">
                                          <p:val>
                                            <p:strVal val="#ppt_h*2.4"/>
                                          </p:val>
                                        </p:tav>
                                        <p:tav tm="100000">
                                          <p:val>
                                            <p:strVal val="#ppt_h"/>
                                          </p:val>
                                        </p:tav>
                                      </p:tavLst>
                                    </p:anim>
                                    <p:animEffect transition="in" filter="fade">
                                      <p:cBhvr>
                                        <p:cTn id="88" dur="350"/>
                                        <p:tgtEl>
                                          <p:spTgt spid="19"/>
                                        </p:tgtEl>
                                      </p:cBhvr>
                                    </p:animEffect>
                                  </p:childTnLst>
                                </p:cTn>
                              </p:par>
                              <p:par>
                                <p:cTn id="94" presetID="53" presetClass="entr" presetSubtype="32" fill="hold" grpId="0" nodeType="withEffect">
                                  <p:stCondLst>
                                    <p:cond delay="2460"/>
                                  </p:stCondLst>
                                  <p:childTnLst>
                                    <p:set>
                                      <p:cBhvr>
                                        <p:cTn id="90" dur="1" fill="hold">
                                          <p:stCondLst>
                                            <p:cond delay="0"/>
                                          </p:stCondLst>
                                        </p:cTn>
                                        <p:tgtEl>
                                          <p:spTgt spid="20"/>
                                        </p:tgtEl>
                                        <p:attrNameLst>
                                          <p:attrName>style.visibility</p:attrName>
                                        </p:attrNameLst>
                                      </p:cBhvr>
                                      <p:to>
                                        <p:strVal val="visible"/>
                                      </p:to>
                                    </p:set>
                                    <p:anim calcmode="lin" valueType="num">
                                      <p:cBhvr additive="base">
                                        <p:cTn id="91" dur="350" fill="hold"/>
                                        <p:tgtEl>
                                          <p:spTgt spid="20"/>
                                        </p:tgtEl>
                                        <p:attrNameLst>
                                          <p:attrName>ppt_w</p:attrName>
                                        </p:attrNameLst>
                                      </p:cBhvr>
                                      <p:tavLst>
                                        <p:tav tm="0">
                                          <p:val>
                                            <p:strVal val="#ppt_w*2.4"/>
                                          </p:val>
                                        </p:tav>
                                        <p:tav tm="100000">
                                          <p:val>
                                            <p:strVal val="#ppt_w"/>
                                          </p:val>
                                        </p:tav>
                                      </p:tavLst>
                                    </p:anim>
                                    <p:anim calcmode="lin" valueType="num">
                                      <p:cBhvr additive="base">
                                        <p:cTn id="92" dur="350" fill="hold"/>
                                        <p:tgtEl>
                                          <p:spTgt spid="20"/>
                                        </p:tgtEl>
                                        <p:attrNameLst>
                                          <p:attrName>ppt_h</p:attrName>
                                        </p:attrNameLst>
                                      </p:cBhvr>
                                      <p:tavLst>
                                        <p:tav tm="0">
                                          <p:val>
                                            <p:strVal val="#ppt_h*2.4"/>
                                          </p:val>
                                        </p:tav>
                                        <p:tav tm="100000">
                                          <p:val>
                                            <p:strVal val="#ppt_h"/>
                                          </p:val>
                                        </p:tav>
                                      </p:tavLst>
                                    </p:anim>
                                    <p:animEffect transition="in" filter="fade">
                                      <p:cBhvr>
                                        <p:cTn id="93" dur="350"/>
                                        <p:tgtEl>
                                          <p:spTgt spid="20"/>
                                        </p:tgtEl>
                                      </p:cBhvr>
                                    </p:animEffect>
                                  </p:childTnLst>
                                </p:cTn>
                              </p:par>
                              <p:par>
                                <p:cTn id="99" presetID="42" presetClass="entr" presetSubtype="0" fill="hold" grpId="0" nodeType="withEffect">
                                  <p:stCondLst>
                                    <p:cond delay="2700"/>
                                  </p:stCondLst>
                                  <p:childTnLst>
                                    <p:set>
                                      <p:cBhvr>
                                        <p:cTn id="95" dur="1" fill="hold">
                                          <p:stCondLst>
                                            <p:cond delay="0"/>
                                          </p:stCondLst>
                                        </p:cTn>
                                        <p:tgtEl>
                                          <p:spTgt spid="23"/>
                                        </p:tgtEl>
                                        <p:attrNameLst>
                                          <p:attrName>style.visibility</p:attrName>
                                        </p:attrNameLst>
                                      </p:cBhvr>
                                      <p:to>
                                        <p:strVal val="visible"/>
                                      </p:to>
                                    </p:set>
                                    <p:animEffect transition="in" filter="fade">
                                      <p:cBhvr>
                                        <p:cTn id="96" dur="600"/>
                                        <p:tgtEl>
                                          <p:spTgt spid="23"/>
                                        </p:tgtEl>
                                      </p:cBhvr>
                                    </p:animEffect>
                                    <p:anim calcmode="lin" valueType="num">
                                      <p:cBhvr additive="base">
                                        <p:cTn id="97" dur="600" fill="hold"/>
                                        <p:tgtEl>
                                          <p:spTgt spid="23"/>
                                        </p:tgtEl>
                                        <p:attrNameLst>
                                          <p:attrName>ppt_x</p:attrName>
                                        </p:attrNameLst>
                                      </p:cBhvr>
                                      <p:tavLst>
                                        <p:tav tm="0">
                                          <p:val>
                                            <p:strVal val="#ppt_x-.05"/>
                                          </p:val>
                                        </p:tav>
                                        <p:tav tm="100000">
                                          <p:val>
                                            <p:strVal val="#ppt_x"/>
                                          </p:val>
                                        </p:tav>
                                      </p:tavLst>
                                    </p:anim>
                                    <p:anim calcmode="lin" valueType="num">
                                      <p:cBhvr additive="base">
                                        <p:cTn id="98" dur="600" fill="hold"/>
                                        <p:tgtEl>
                                          <p:spTgt spid="23"/>
                                        </p:tgtEl>
                                        <p:attrNameLst>
                                          <p:attrName>ppt_y</p:attrName>
                                        </p:attrNameLst>
                                      </p:cBhvr>
                                      <p:tavLst>
                                        <p:tav tm="0">
                                          <p:val>
                                            <p:strVal val="#ppt_y"/>
                                          </p:val>
                                        </p:tav>
                                        <p:tav tm="100000">
                                          <p:val>
                                            <p:strVal val="#ppt_y"/>
                                          </p:val>
                                        </p:tav>
                                      </p:tavLst>
                                    </p:anim>
                                  </p:childTnLst>
                                </p:cTn>
                              </p:par>
                              <p:par>
                                <p:cTn id="104" presetID="53" presetClass="entr" presetSubtype="32" fill="hold" grpId="0" nodeType="withEffect">
                                  <p:stCondLst>
                                    <p:cond delay="3000"/>
                                  </p:stCondLst>
                                  <p:childTnLst>
                                    <p:set>
                                      <p:cBhvr>
                                        <p:cTn id="100" dur="1" fill="hold">
                                          <p:stCondLst>
                                            <p:cond delay="0"/>
                                          </p:stCondLst>
                                        </p:cTn>
                                        <p:tgtEl>
                                          <p:spTgt spid="25"/>
                                        </p:tgtEl>
                                        <p:attrNameLst>
                                          <p:attrName>style.visibility</p:attrName>
                                        </p:attrNameLst>
                                      </p:cBhvr>
                                      <p:to>
                                        <p:strVal val="visible"/>
                                      </p:to>
                                    </p:set>
                                    <p:anim calcmode="lin" valueType="num">
                                      <p:cBhvr additive="base">
                                        <p:cTn id="101" dur="350" fill="hold"/>
                                        <p:tgtEl>
                                          <p:spTgt spid="25"/>
                                        </p:tgtEl>
                                        <p:attrNameLst>
                                          <p:attrName>ppt_w</p:attrName>
                                        </p:attrNameLst>
                                      </p:cBhvr>
                                      <p:tavLst>
                                        <p:tav tm="0">
                                          <p:val>
                                            <p:strVal val="#ppt_w*2.4"/>
                                          </p:val>
                                        </p:tav>
                                        <p:tav tm="100000">
                                          <p:val>
                                            <p:strVal val="#ppt_w"/>
                                          </p:val>
                                        </p:tav>
                                      </p:tavLst>
                                    </p:anim>
                                    <p:anim calcmode="lin" valueType="num">
                                      <p:cBhvr additive="base">
                                        <p:cTn id="102" dur="350" fill="hold"/>
                                        <p:tgtEl>
                                          <p:spTgt spid="25"/>
                                        </p:tgtEl>
                                        <p:attrNameLst>
                                          <p:attrName>ppt_h</p:attrName>
                                        </p:attrNameLst>
                                      </p:cBhvr>
                                      <p:tavLst>
                                        <p:tav tm="0">
                                          <p:val>
                                            <p:strVal val="#ppt_h*2.4"/>
                                          </p:val>
                                        </p:tav>
                                        <p:tav tm="100000">
                                          <p:val>
                                            <p:strVal val="#ppt_h"/>
                                          </p:val>
                                        </p:tav>
                                      </p:tavLst>
                                    </p:anim>
                                    <p:animEffect transition="in" filter="fade">
                                      <p:cBhvr>
                                        <p:cTn id="103" dur="350"/>
                                        <p:tgtEl>
                                          <p:spTgt spid="25"/>
                                        </p:tgtEl>
                                      </p:cBhvr>
                                    </p:animEffect>
                                  </p:childTnLst>
                                </p:cTn>
                              </p:par>
                              <p:par>
                                <p:cTn id="107" presetID="10" presetClass="entr" presetSubtype="0" fill="hold" grpId="0" nodeType="withEffect">
                                  <p:stCondLst>
                                    <p:cond delay="3000"/>
                                  </p:stCondLst>
                                  <p:childTnLst>
                                    <p:set>
                                      <p:cBhvr>
                                        <p:cTn id="105" dur="1" fill="hold">
                                          <p:stCondLst>
                                            <p:cond delay="0"/>
                                          </p:stCondLst>
                                        </p:cTn>
                                        <p:tgtEl>
                                          <p:spTgt spid="24"/>
                                        </p:tgtEl>
                                        <p:attrNameLst>
                                          <p:attrName>style.visibility</p:attrName>
                                        </p:attrNameLst>
                                      </p:cBhvr>
                                      <p:to>
                                        <p:strVal val="visible"/>
                                      </p:to>
                                    </p:set>
                                    <p:animEffect transition="in" filter="fade">
                                      <p:cBhvr>
                                        <p:cTn id="106" dur="600"/>
                                        <p:tgtEl>
                                          <p:spTgt spid="24"/>
                                        </p:tgtEl>
                                      </p:cBhvr>
                                    </p:animEffect>
                                  </p:childTnLst>
                                </p:cTn>
                              </p:par>
                              <p:par>
                                <p:cTn id="110" presetID="10" presetClass="entr" presetSubtype="0" fill="hold" grpId="0" nodeType="withEffect">
                                  <p:stCondLst>
                                    <p:cond delay="3000"/>
                                  </p:stCondLst>
                                  <p:childTnLst>
                                    <p:set>
                                      <p:cBhvr>
                                        <p:cTn id="108" dur="1" fill="hold">
                                          <p:stCondLst>
                                            <p:cond delay="0"/>
                                          </p:stCondLst>
                                        </p:cTn>
                                        <p:tgtEl>
                                          <p:spTgt spid="30"/>
                                        </p:tgtEl>
                                        <p:attrNameLst>
                                          <p:attrName>style.visibility</p:attrName>
                                        </p:attrNameLst>
                                      </p:cBhvr>
                                      <p:to>
                                        <p:strVal val="visible"/>
                                      </p:to>
                                    </p:set>
                                    <p:animEffect transition="in" filter="fade">
                                      <p:cBhvr>
                                        <p:cTn id="109" dur="600"/>
                                        <p:tgtEl>
                                          <p:spTgt spid="30"/>
                                        </p:tgtEl>
                                      </p:cBhvr>
                                    </p:animEffect>
                                  </p:childTnLst>
                                </p:cTn>
                              </p:par>
                              <p:par>
                                <p:cTn id="113" presetID="10" presetClass="entr" presetSubtype="0" fill="hold" grpId="0" nodeType="withEffect">
                                  <p:stCondLst>
                                    <p:cond delay="3000"/>
                                  </p:stCondLst>
                                  <p:childTnLst>
                                    <p:set>
                                      <p:cBhvr>
                                        <p:cTn id="111" dur="1" fill="hold">
                                          <p:stCondLst>
                                            <p:cond delay="0"/>
                                          </p:stCondLst>
                                        </p:cTn>
                                        <p:tgtEl>
                                          <p:spTgt spid="31"/>
                                        </p:tgtEl>
                                        <p:attrNameLst>
                                          <p:attrName>style.visibility</p:attrName>
                                        </p:attrNameLst>
                                      </p:cBhvr>
                                      <p:to>
                                        <p:strVal val="visible"/>
                                      </p:to>
                                    </p:set>
                                    <p:animEffect transition="in" filter="fade">
                                      <p:cBhvr>
                                        <p:cTn id="112" dur="600"/>
                                        <p:tgtEl>
                                          <p:spTgt spid="31"/>
                                        </p:tgtEl>
                                      </p:cBhvr>
                                    </p:animEffect>
                                  </p:childTnLst>
                                </p:cTn>
                              </p:par>
                              <p:par>
                                <p:cTn id="118" presetID="53" presetClass="entr" presetSubtype="32" fill="hold" grpId="0" nodeType="withEffect">
                                  <p:stCondLst>
                                    <p:cond delay="3090"/>
                                  </p:stCondLst>
                                  <p:childTnLst>
                                    <p:set>
                                      <p:cBhvr>
                                        <p:cTn id="114" dur="1" fill="hold">
                                          <p:stCondLst>
                                            <p:cond delay="0"/>
                                          </p:stCondLst>
                                        </p:cTn>
                                        <p:tgtEl>
                                          <p:spTgt spid="26"/>
                                        </p:tgtEl>
                                        <p:attrNameLst>
                                          <p:attrName>style.visibility</p:attrName>
                                        </p:attrNameLst>
                                      </p:cBhvr>
                                      <p:to>
                                        <p:strVal val="visible"/>
                                      </p:to>
                                    </p:set>
                                    <p:anim calcmode="lin" valueType="num">
                                      <p:cBhvr additive="base">
                                        <p:cTn id="115" dur="350" fill="hold"/>
                                        <p:tgtEl>
                                          <p:spTgt spid="26"/>
                                        </p:tgtEl>
                                        <p:attrNameLst>
                                          <p:attrName>ppt_w</p:attrName>
                                        </p:attrNameLst>
                                      </p:cBhvr>
                                      <p:tavLst>
                                        <p:tav tm="0">
                                          <p:val>
                                            <p:strVal val="#ppt_w*2.4"/>
                                          </p:val>
                                        </p:tav>
                                        <p:tav tm="100000">
                                          <p:val>
                                            <p:strVal val="#ppt_w"/>
                                          </p:val>
                                        </p:tav>
                                      </p:tavLst>
                                    </p:anim>
                                    <p:anim calcmode="lin" valueType="num">
                                      <p:cBhvr additive="base">
                                        <p:cTn id="116" dur="350" fill="hold"/>
                                        <p:tgtEl>
                                          <p:spTgt spid="26"/>
                                        </p:tgtEl>
                                        <p:attrNameLst>
                                          <p:attrName>ppt_h</p:attrName>
                                        </p:attrNameLst>
                                      </p:cBhvr>
                                      <p:tavLst>
                                        <p:tav tm="0">
                                          <p:val>
                                            <p:strVal val="#ppt_h*2.4"/>
                                          </p:val>
                                        </p:tav>
                                        <p:tav tm="100000">
                                          <p:val>
                                            <p:strVal val="#ppt_h"/>
                                          </p:val>
                                        </p:tav>
                                      </p:tavLst>
                                    </p:anim>
                                    <p:animEffect transition="in" filter="fade">
                                      <p:cBhvr>
                                        <p:cTn id="117" dur="350"/>
                                        <p:tgtEl>
                                          <p:spTgt spid="26"/>
                                        </p:tgtEl>
                                      </p:cBhvr>
                                    </p:animEffect>
                                  </p:childTnLst>
                                </p:cTn>
                              </p:par>
                              <p:par>
                                <p:cTn id="123" presetID="53" presetClass="entr" presetSubtype="32" fill="hold" grpId="0" nodeType="withEffect">
                                  <p:stCondLst>
                                    <p:cond delay="3180"/>
                                  </p:stCondLst>
                                  <p:childTnLst>
                                    <p:set>
                                      <p:cBhvr>
                                        <p:cTn id="119" dur="1" fill="hold">
                                          <p:stCondLst>
                                            <p:cond delay="0"/>
                                          </p:stCondLst>
                                        </p:cTn>
                                        <p:tgtEl>
                                          <p:spTgt spid="27"/>
                                        </p:tgtEl>
                                        <p:attrNameLst>
                                          <p:attrName>style.visibility</p:attrName>
                                        </p:attrNameLst>
                                      </p:cBhvr>
                                      <p:to>
                                        <p:strVal val="visible"/>
                                      </p:to>
                                    </p:set>
                                    <p:anim calcmode="lin" valueType="num">
                                      <p:cBhvr additive="base">
                                        <p:cTn id="120" dur="350" fill="hold"/>
                                        <p:tgtEl>
                                          <p:spTgt spid="27"/>
                                        </p:tgtEl>
                                        <p:attrNameLst>
                                          <p:attrName>ppt_w</p:attrName>
                                        </p:attrNameLst>
                                      </p:cBhvr>
                                      <p:tavLst>
                                        <p:tav tm="0">
                                          <p:val>
                                            <p:strVal val="#ppt_w*2.4"/>
                                          </p:val>
                                        </p:tav>
                                        <p:tav tm="100000">
                                          <p:val>
                                            <p:strVal val="#ppt_w"/>
                                          </p:val>
                                        </p:tav>
                                      </p:tavLst>
                                    </p:anim>
                                    <p:anim calcmode="lin" valueType="num">
                                      <p:cBhvr additive="base">
                                        <p:cTn id="121" dur="350" fill="hold"/>
                                        <p:tgtEl>
                                          <p:spTgt spid="27"/>
                                        </p:tgtEl>
                                        <p:attrNameLst>
                                          <p:attrName>ppt_h</p:attrName>
                                        </p:attrNameLst>
                                      </p:cBhvr>
                                      <p:tavLst>
                                        <p:tav tm="0">
                                          <p:val>
                                            <p:strVal val="#ppt_h*2.4"/>
                                          </p:val>
                                        </p:tav>
                                        <p:tav tm="100000">
                                          <p:val>
                                            <p:strVal val="#ppt_h"/>
                                          </p:val>
                                        </p:tav>
                                      </p:tavLst>
                                    </p:anim>
                                    <p:animEffect transition="in" filter="fade">
                                      <p:cBhvr>
                                        <p:cTn id="122" dur="350"/>
                                        <p:tgtEl>
                                          <p:spTgt spid="27"/>
                                        </p:tgtEl>
                                      </p:cBhvr>
                                    </p:animEffect>
                                  </p:childTnLst>
                                </p:cTn>
                              </p:par>
                              <p:par>
                                <p:cTn id="128" presetID="53" presetClass="entr" presetSubtype="32" fill="hold" grpId="0" nodeType="withEffect">
                                  <p:stCondLst>
                                    <p:cond delay="3270"/>
                                  </p:stCondLst>
                                  <p:childTnLst>
                                    <p:set>
                                      <p:cBhvr>
                                        <p:cTn id="124" dur="1" fill="hold">
                                          <p:stCondLst>
                                            <p:cond delay="0"/>
                                          </p:stCondLst>
                                        </p:cTn>
                                        <p:tgtEl>
                                          <p:spTgt spid="28"/>
                                        </p:tgtEl>
                                        <p:attrNameLst>
                                          <p:attrName>style.visibility</p:attrName>
                                        </p:attrNameLst>
                                      </p:cBhvr>
                                      <p:to>
                                        <p:strVal val="visible"/>
                                      </p:to>
                                    </p:set>
                                    <p:anim calcmode="lin" valueType="num">
                                      <p:cBhvr additive="base">
                                        <p:cTn id="125" dur="350" fill="hold"/>
                                        <p:tgtEl>
                                          <p:spTgt spid="28"/>
                                        </p:tgtEl>
                                        <p:attrNameLst>
                                          <p:attrName>ppt_w</p:attrName>
                                        </p:attrNameLst>
                                      </p:cBhvr>
                                      <p:tavLst>
                                        <p:tav tm="0">
                                          <p:val>
                                            <p:strVal val="#ppt_w*2.4"/>
                                          </p:val>
                                        </p:tav>
                                        <p:tav tm="100000">
                                          <p:val>
                                            <p:strVal val="#ppt_w"/>
                                          </p:val>
                                        </p:tav>
                                      </p:tavLst>
                                    </p:anim>
                                    <p:anim calcmode="lin" valueType="num">
                                      <p:cBhvr additive="base">
                                        <p:cTn id="126" dur="350" fill="hold"/>
                                        <p:tgtEl>
                                          <p:spTgt spid="28"/>
                                        </p:tgtEl>
                                        <p:attrNameLst>
                                          <p:attrName>ppt_h</p:attrName>
                                        </p:attrNameLst>
                                      </p:cBhvr>
                                      <p:tavLst>
                                        <p:tav tm="0">
                                          <p:val>
                                            <p:strVal val="#ppt_h*2.4"/>
                                          </p:val>
                                        </p:tav>
                                        <p:tav tm="100000">
                                          <p:val>
                                            <p:strVal val="#ppt_h"/>
                                          </p:val>
                                        </p:tav>
                                      </p:tavLst>
                                    </p:anim>
                                    <p:animEffect transition="in" filter="fade">
                                      <p:cBhvr>
                                        <p:cTn id="127" dur="350"/>
                                        <p:tgtEl>
                                          <p:spTgt spid="28"/>
                                        </p:tgtEl>
                                      </p:cBhvr>
                                    </p:animEffect>
                                  </p:childTnLst>
                                </p:cTn>
                              </p:par>
                              <p:par>
                                <p:cTn id="133" presetID="53" presetClass="entr" presetSubtype="32" fill="hold" grpId="0" nodeType="withEffect">
                                  <p:stCondLst>
                                    <p:cond delay="3360"/>
                                  </p:stCondLst>
                                  <p:childTnLst>
                                    <p:set>
                                      <p:cBhvr>
                                        <p:cTn id="129" dur="1" fill="hold">
                                          <p:stCondLst>
                                            <p:cond delay="0"/>
                                          </p:stCondLst>
                                        </p:cTn>
                                        <p:tgtEl>
                                          <p:spTgt spid="29"/>
                                        </p:tgtEl>
                                        <p:attrNameLst>
                                          <p:attrName>style.visibility</p:attrName>
                                        </p:attrNameLst>
                                      </p:cBhvr>
                                      <p:to>
                                        <p:strVal val="visible"/>
                                      </p:to>
                                    </p:set>
                                    <p:anim calcmode="lin" valueType="num">
                                      <p:cBhvr additive="base">
                                        <p:cTn id="130" dur="350" fill="hold"/>
                                        <p:tgtEl>
                                          <p:spTgt spid="29"/>
                                        </p:tgtEl>
                                        <p:attrNameLst>
                                          <p:attrName>ppt_w</p:attrName>
                                        </p:attrNameLst>
                                      </p:cBhvr>
                                      <p:tavLst>
                                        <p:tav tm="0">
                                          <p:val>
                                            <p:strVal val="#ppt_w*2.4"/>
                                          </p:val>
                                        </p:tav>
                                        <p:tav tm="100000">
                                          <p:val>
                                            <p:strVal val="#ppt_w"/>
                                          </p:val>
                                        </p:tav>
                                      </p:tavLst>
                                    </p:anim>
                                    <p:anim calcmode="lin" valueType="num">
                                      <p:cBhvr additive="base">
                                        <p:cTn id="131" dur="350" fill="hold"/>
                                        <p:tgtEl>
                                          <p:spTgt spid="29"/>
                                        </p:tgtEl>
                                        <p:attrNameLst>
                                          <p:attrName>ppt_h</p:attrName>
                                        </p:attrNameLst>
                                      </p:cBhvr>
                                      <p:tavLst>
                                        <p:tav tm="0">
                                          <p:val>
                                            <p:strVal val="#ppt_h*2.4"/>
                                          </p:val>
                                        </p:tav>
                                        <p:tav tm="100000">
                                          <p:val>
                                            <p:strVal val="#ppt_h"/>
                                          </p:val>
                                        </p:tav>
                                      </p:tavLst>
                                    </p:anim>
                                    <p:animEffect transition="in" filter="fade">
                                      <p:cBhvr>
                                        <p:cTn id="132" dur="350"/>
                                        <p:tgtEl>
                                          <p:spTgt spid="29"/>
                                        </p:tgtEl>
                                      </p:cBhvr>
                                    </p:animEffect>
                                  </p:childTnLst>
                                </p:cTn>
                              </p:par>
                              <p:par>
                                <p:cTn id="138" presetID="42" presetClass="entr" presetSubtype="0" fill="hold" grpId="0" nodeType="withEffect">
                                  <p:stCondLst>
                                    <p:cond delay="3600"/>
                                  </p:stCondLst>
                                  <p:childTnLst>
                                    <p:set>
                                      <p:cBhvr>
                                        <p:cTn id="134" dur="1" fill="hold">
                                          <p:stCondLst>
                                            <p:cond delay="0"/>
                                          </p:stCondLst>
                                        </p:cTn>
                                        <p:tgtEl>
                                          <p:spTgt spid="32"/>
                                        </p:tgtEl>
                                        <p:attrNameLst>
                                          <p:attrName>style.visibility</p:attrName>
                                        </p:attrNameLst>
                                      </p:cBhvr>
                                      <p:to>
                                        <p:strVal val="visible"/>
                                      </p:to>
                                    </p:set>
                                    <p:animEffect transition="in" filter="fade">
                                      <p:cBhvr>
                                        <p:cTn id="135" dur="600"/>
                                        <p:tgtEl>
                                          <p:spTgt spid="32"/>
                                        </p:tgtEl>
                                      </p:cBhvr>
                                    </p:animEffect>
                                    <p:anim calcmode="lin" valueType="num">
                                      <p:cBhvr additive="base">
                                        <p:cTn id="136" dur="600" fill="hold"/>
                                        <p:tgtEl>
                                          <p:spTgt spid="32"/>
                                        </p:tgtEl>
                                        <p:attrNameLst>
                                          <p:attrName>ppt_x</p:attrName>
                                        </p:attrNameLst>
                                      </p:cBhvr>
                                      <p:tavLst>
                                        <p:tav tm="0">
                                          <p:val>
                                            <p:strVal val="#ppt_x-.05"/>
                                          </p:val>
                                        </p:tav>
                                        <p:tav tm="100000">
                                          <p:val>
                                            <p:strVal val="#ppt_x"/>
                                          </p:val>
                                        </p:tav>
                                      </p:tavLst>
                                    </p:anim>
                                    <p:anim calcmode="lin" valueType="num">
                                      <p:cBhvr additive="base">
                                        <p:cTn id="137" dur="600" fill="hold"/>
                                        <p:tgtEl>
                                          <p:spTgt spid="32"/>
                                        </p:tgtEl>
                                        <p:attrNameLst>
                                          <p:attrName>ppt_y</p:attrName>
                                        </p:attrNameLst>
                                      </p:cBhvr>
                                      <p:tavLst>
                                        <p:tav tm="0">
                                          <p:val>
                                            <p:strVal val="#ppt_y"/>
                                          </p:val>
                                        </p:tav>
                                        <p:tav tm="100000">
                                          <p:val>
                                            <p:strVal val="#ppt_y"/>
                                          </p:val>
                                        </p:tav>
                                      </p:tavLst>
                                    </p:anim>
                                  </p:childTnLst>
                                </p:cTn>
                              </p:par>
                              <p:par>
                                <p:cTn id="143" presetID="53" presetClass="entr" presetSubtype="32" fill="hold" grpId="0" nodeType="withEffect">
                                  <p:stCondLst>
                                    <p:cond delay="3900"/>
                                  </p:stCondLst>
                                  <p:childTnLst>
                                    <p:set>
                                      <p:cBhvr>
                                        <p:cTn id="139" dur="1" fill="hold">
                                          <p:stCondLst>
                                            <p:cond delay="0"/>
                                          </p:stCondLst>
                                        </p:cTn>
                                        <p:tgtEl>
                                          <p:spTgt spid="34"/>
                                        </p:tgtEl>
                                        <p:attrNameLst>
                                          <p:attrName>style.visibility</p:attrName>
                                        </p:attrNameLst>
                                      </p:cBhvr>
                                      <p:to>
                                        <p:strVal val="visible"/>
                                      </p:to>
                                    </p:set>
                                    <p:anim calcmode="lin" valueType="num">
                                      <p:cBhvr additive="base">
                                        <p:cTn id="140" dur="350" fill="hold"/>
                                        <p:tgtEl>
                                          <p:spTgt spid="34"/>
                                        </p:tgtEl>
                                        <p:attrNameLst>
                                          <p:attrName>ppt_w</p:attrName>
                                        </p:attrNameLst>
                                      </p:cBhvr>
                                      <p:tavLst>
                                        <p:tav tm="0">
                                          <p:val>
                                            <p:strVal val="#ppt_w*2.4"/>
                                          </p:val>
                                        </p:tav>
                                        <p:tav tm="100000">
                                          <p:val>
                                            <p:strVal val="#ppt_w"/>
                                          </p:val>
                                        </p:tav>
                                      </p:tavLst>
                                    </p:anim>
                                    <p:anim calcmode="lin" valueType="num">
                                      <p:cBhvr additive="base">
                                        <p:cTn id="141" dur="350" fill="hold"/>
                                        <p:tgtEl>
                                          <p:spTgt spid="34"/>
                                        </p:tgtEl>
                                        <p:attrNameLst>
                                          <p:attrName>ppt_h</p:attrName>
                                        </p:attrNameLst>
                                      </p:cBhvr>
                                      <p:tavLst>
                                        <p:tav tm="0">
                                          <p:val>
                                            <p:strVal val="#ppt_h*2.4"/>
                                          </p:val>
                                        </p:tav>
                                        <p:tav tm="100000">
                                          <p:val>
                                            <p:strVal val="#ppt_h"/>
                                          </p:val>
                                        </p:tav>
                                      </p:tavLst>
                                    </p:anim>
                                    <p:animEffect transition="in" filter="fade">
                                      <p:cBhvr>
                                        <p:cTn id="142" dur="350"/>
                                        <p:tgtEl>
                                          <p:spTgt spid="34"/>
                                        </p:tgtEl>
                                      </p:cBhvr>
                                    </p:animEffect>
                                  </p:childTnLst>
                                </p:cTn>
                              </p:par>
                              <p:par>
                                <p:cTn id="146" presetID="10" presetClass="entr" presetSubtype="0" fill="hold" grpId="0" nodeType="withEffect">
                                  <p:stCondLst>
                                    <p:cond delay="3900"/>
                                  </p:stCondLst>
                                  <p:childTnLst>
                                    <p:set>
                                      <p:cBhvr>
                                        <p:cTn id="144" dur="1" fill="hold">
                                          <p:stCondLst>
                                            <p:cond delay="0"/>
                                          </p:stCondLst>
                                        </p:cTn>
                                        <p:tgtEl>
                                          <p:spTgt spid="33"/>
                                        </p:tgtEl>
                                        <p:attrNameLst>
                                          <p:attrName>style.visibility</p:attrName>
                                        </p:attrNameLst>
                                      </p:cBhvr>
                                      <p:to>
                                        <p:strVal val="visible"/>
                                      </p:to>
                                    </p:set>
                                    <p:animEffect transition="in" filter="fade">
                                      <p:cBhvr>
                                        <p:cTn id="145" dur="600"/>
                                        <p:tgtEl>
                                          <p:spTgt spid="33"/>
                                        </p:tgtEl>
                                      </p:cBhvr>
                                    </p:animEffect>
                                  </p:childTnLst>
                                </p:cTn>
                              </p:par>
                              <p:par>
                                <p:cTn id="149" presetID="10" presetClass="entr" presetSubtype="0" fill="hold" grpId="0" nodeType="withEffect">
                                  <p:stCondLst>
                                    <p:cond delay="3900"/>
                                  </p:stCondLst>
                                  <p:childTnLst>
                                    <p:set>
                                      <p:cBhvr>
                                        <p:cTn id="147" dur="1" fill="hold">
                                          <p:stCondLst>
                                            <p:cond delay="0"/>
                                          </p:stCondLst>
                                        </p:cTn>
                                        <p:tgtEl>
                                          <p:spTgt spid="39"/>
                                        </p:tgtEl>
                                        <p:attrNameLst>
                                          <p:attrName>style.visibility</p:attrName>
                                        </p:attrNameLst>
                                      </p:cBhvr>
                                      <p:to>
                                        <p:strVal val="visible"/>
                                      </p:to>
                                    </p:set>
                                    <p:animEffect transition="in" filter="fade">
                                      <p:cBhvr>
                                        <p:cTn id="148" dur="600"/>
                                        <p:tgtEl>
                                          <p:spTgt spid="39"/>
                                        </p:tgtEl>
                                      </p:cBhvr>
                                    </p:animEffect>
                                  </p:childTnLst>
                                </p:cTn>
                              </p:par>
                              <p:par>
                                <p:cTn id="152" presetID="10" presetClass="entr" presetSubtype="0" fill="hold" grpId="0" nodeType="withEffect">
                                  <p:stCondLst>
                                    <p:cond delay="3900"/>
                                  </p:stCondLst>
                                  <p:childTnLst>
                                    <p:set>
                                      <p:cBhvr>
                                        <p:cTn id="150" dur="1" fill="hold">
                                          <p:stCondLst>
                                            <p:cond delay="0"/>
                                          </p:stCondLst>
                                        </p:cTn>
                                        <p:tgtEl>
                                          <p:spTgt spid="40"/>
                                        </p:tgtEl>
                                        <p:attrNameLst>
                                          <p:attrName>style.visibility</p:attrName>
                                        </p:attrNameLst>
                                      </p:cBhvr>
                                      <p:to>
                                        <p:strVal val="visible"/>
                                      </p:to>
                                    </p:set>
                                    <p:animEffect transition="in" filter="fade">
                                      <p:cBhvr>
                                        <p:cTn id="151" dur="600"/>
                                        <p:tgtEl>
                                          <p:spTgt spid="40"/>
                                        </p:tgtEl>
                                      </p:cBhvr>
                                    </p:animEffect>
                                  </p:childTnLst>
                                </p:cTn>
                              </p:par>
                              <p:par>
                                <p:cTn id="157" presetID="53" presetClass="entr" presetSubtype="32" fill="hold" grpId="0" nodeType="withEffect">
                                  <p:stCondLst>
                                    <p:cond delay="3990"/>
                                  </p:stCondLst>
                                  <p:childTnLst>
                                    <p:set>
                                      <p:cBhvr>
                                        <p:cTn id="153" dur="1" fill="hold">
                                          <p:stCondLst>
                                            <p:cond delay="0"/>
                                          </p:stCondLst>
                                        </p:cTn>
                                        <p:tgtEl>
                                          <p:spTgt spid="35"/>
                                        </p:tgtEl>
                                        <p:attrNameLst>
                                          <p:attrName>style.visibility</p:attrName>
                                        </p:attrNameLst>
                                      </p:cBhvr>
                                      <p:to>
                                        <p:strVal val="visible"/>
                                      </p:to>
                                    </p:set>
                                    <p:anim calcmode="lin" valueType="num">
                                      <p:cBhvr additive="base">
                                        <p:cTn id="154" dur="350" fill="hold"/>
                                        <p:tgtEl>
                                          <p:spTgt spid="35"/>
                                        </p:tgtEl>
                                        <p:attrNameLst>
                                          <p:attrName>ppt_w</p:attrName>
                                        </p:attrNameLst>
                                      </p:cBhvr>
                                      <p:tavLst>
                                        <p:tav tm="0">
                                          <p:val>
                                            <p:strVal val="#ppt_w*2.4"/>
                                          </p:val>
                                        </p:tav>
                                        <p:tav tm="100000">
                                          <p:val>
                                            <p:strVal val="#ppt_w"/>
                                          </p:val>
                                        </p:tav>
                                      </p:tavLst>
                                    </p:anim>
                                    <p:anim calcmode="lin" valueType="num">
                                      <p:cBhvr additive="base">
                                        <p:cTn id="155" dur="350" fill="hold"/>
                                        <p:tgtEl>
                                          <p:spTgt spid="35"/>
                                        </p:tgtEl>
                                        <p:attrNameLst>
                                          <p:attrName>ppt_h</p:attrName>
                                        </p:attrNameLst>
                                      </p:cBhvr>
                                      <p:tavLst>
                                        <p:tav tm="0">
                                          <p:val>
                                            <p:strVal val="#ppt_h*2.4"/>
                                          </p:val>
                                        </p:tav>
                                        <p:tav tm="100000">
                                          <p:val>
                                            <p:strVal val="#ppt_h"/>
                                          </p:val>
                                        </p:tav>
                                      </p:tavLst>
                                    </p:anim>
                                    <p:animEffect transition="in" filter="fade">
                                      <p:cBhvr>
                                        <p:cTn id="156" dur="350"/>
                                        <p:tgtEl>
                                          <p:spTgt spid="35"/>
                                        </p:tgtEl>
                                      </p:cBhvr>
                                    </p:animEffect>
                                  </p:childTnLst>
                                </p:cTn>
                              </p:par>
                              <p:par>
                                <p:cTn id="162" presetID="53" presetClass="entr" presetSubtype="32" fill="hold" grpId="0" nodeType="withEffect">
                                  <p:stCondLst>
                                    <p:cond delay="4080"/>
                                  </p:stCondLst>
                                  <p:childTnLst>
                                    <p:set>
                                      <p:cBhvr>
                                        <p:cTn id="158" dur="1" fill="hold">
                                          <p:stCondLst>
                                            <p:cond delay="0"/>
                                          </p:stCondLst>
                                        </p:cTn>
                                        <p:tgtEl>
                                          <p:spTgt spid="36"/>
                                        </p:tgtEl>
                                        <p:attrNameLst>
                                          <p:attrName>style.visibility</p:attrName>
                                        </p:attrNameLst>
                                      </p:cBhvr>
                                      <p:to>
                                        <p:strVal val="visible"/>
                                      </p:to>
                                    </p:set>
                                    <p:anim calcmode="lin" valueType="num">
                                      <p:cBhvr additive="base">
                                        <p:cTn id="159" dur="350" fill="hold"/>
                                        <p:tgtEl>
                                          <p:spTgt spid="36"/>
                                        </p:tgtEl>
                                        <p:attrNameLst>
                                          <p:attrName>ppt_w</p:attrName>
                                        </p:attrNameLst>
                                      </p:cBhvr>
                                      <p:tavLst>
                                        <p:tav tm="0">
                                          <p:val>
                                            <p:strVal val="#ppt_w*2.4"/>
                                          </p:val>
                                        </p:tav>
                                        <p:tav tm="100000">
                                          <p:val>
                                            <p:strVal val="#ppt_w"/>
                                          </p:val>
                                        </p:tav>
                                      </p:tavLst>
                                    </p:anim>
                                    <p:anim calcmode="lin" valueType="num">
                                      <p:cBhvr additive="base">
                                        <p:cTn id="160" dur="350" fill="hold"/>
                                        <p:tgtEl>
                                          <p:spTgt spid="36"/>
                                        </p:tgtEl>
                                        <p:attrNameLst>
                                          <p:attrName>ppt_h</p:attrName>
                                        </p:attrNameLst>
                                      </p:cBhvr>
                                      <p:tavLst>
                                        <p:tav tm="0">
                                          <p:val>
                                            <p:strVal val="#ppt_h*2.4"/>
                                          </p:val>
                                        </p:tav>
                                        <p:tav tm="100000">
                                          <p:val>
                                            <p:strVal val="#ppt_h"/>
                                          </p:val>
                                        </p:tav>
                                      </p:tavLst>
                                    </p:anim>
                                    <p:animEffect transition="in" filter="fade">
                                      <p:cBhvr>
                                        <p:cTn id="161" dur="350"/>
                                        <p:tgtEl>
                                          <p:spTgt spid="36"/>
                                        </p:tgtEl>
                                      </p:cBhvr>
                                    </p:animEffect>
                                  </p:childTnLst>
                                </p:cTn>
                              </p:par>
                              <p:par>
                                <p:cTn id="167" presetID="53" presetClass="entr" presetSubtype="32" fill="hold" grpId="0" nodeType="withEffect">
                                  <p:stCondLst>
                                    <p:cond delay="4170"/>
                                  </p:stCondLst>
                                  <p:childTnLst>
                                    <p:set>
                                      <p:cBhvr>
                                        <p:cTn id="163" dur="1" fill="hold">
                                          <p:stCondLst>
                                            <p:cond delay="0"/>
                                          </p:stCondLst>
                                        </p:cTn>
                                        <p:tgtEl>
                                          <p:spTgt spid="37"/>
                                        </p:tgtEl>
                                        <p:attrNameLst>
                                          <p:attrName>style.visibility</p:attrName>
                                        </p:attrNameLst>
                                      </p:cBhvr>
                                      <p:to>
                                        <p:strVal val="visible"/>
                                      </p:to>
                                    </p:set>
                                    <p:anim calcmode="lin" valueType="num">
                                      <p:cBhvr additive="base">
                                        <p:cTn id="164" dur="350" fill="hold"/>
                                        <p:tgtEl>
                                          <p:spTgt spid="37"/>
                                        </p:tgtEl>
                                        <p:attrNameLst>
                                          <p:attrName>ppt_w</p:attrName>
                                        </p:attrNameLst>
                                      </p:cBhvr>
                                      <p:tavLst>
                                        <p:tav tm="0">
                                          <p:val>
                                            <p:strVal val="#ppt_w*2.4"/>
                                          </p:val>
                                        </p:tav>
                                        <p:tav tm="100000">
                                          <p:val>
                                            <p:strVal val="#ppt_w"/>
                                          </p:val>
                                        </p:tav>
                                      </p:tavLst>
                                    </p:anim>
                                    <p:anim calcmode="lin" valueType="num">
                                      <p:cBhvr additive="base">
                                        <p:cTn id="165" dur="350" fill="hold"/>
                                        <p:tgtEl>
                                          <p:spTgt spid="37"/>
                                        </p:tgtEl>
                                        <p:attrNameLst>
                                          <p:attrName>ppt_h</p:attrName>
                                        </p:attrNameLst>
                                      </p:cBhvr>
                                      <p:tavLst>
                                        <p:tav tm="0">
                                          <p:val>
                                            <p:strVal val="#ppt_h*2.4"/>
                                          </p:val>
                                        </p:tav>
                                        <p:tav tm="100000">
                                          <p:val>
                                            <p:strVal val="#ppt_h"/>
                                          </p:val>
                                        </p:tav>
                                      </p:tavLst>
                                    </p:anim>
                                    <p:animEffect transition="in" filter="fade">
                                      <p:cBhvr>
                                        <p:cTn id="166" dur="350"/>
                                        <p:tgtEl>
                                          <p:spTgt spid="37"/>
                                        </p:tgtEl>
                                      </p:cBhvr>
                                    </p:animEffect>
                                  </p:childTnLst>
                                </p:cTn>
                              </p:par>
                              <p:par>
                                <p:cTn id="172" presetID="53" presetClass="entr" presetSubtype="32" fill="hold" grpId="0" nodeType="withEffect">
                                  <p:stCondLst>
                                    <p:cond delay="4260"/>
                                  </p:stCondLst>
                                  <p:childTnLst>
                                    <p:set>
                                      <p:cBhvr>
                                        <p:cTn id="168" dur="1" fill="hold">
                                          <p:stCondLst>
                                            <p:cond delay="0"/>
                                          </p:stCondLst>
                                        </p:cTn>
                                        <p:tgtEl>
                                          <p:spTgt spid="38"/>
                                        </p:tgtEl>
                                        <p:attrNameLst>
                                          <p:attrName>style.visibility</p:attrName>
                                        </p:attrNameLst>
                                      </p:cBhvr>
                                      <p:to>
                                        <p:strVal val="visible"/>
                                      </p:to>
                                    </p:set>
                                    <p:anim calcmode="lin" valueType="num">
                                      <p:cBhvr additive="base">
                                        <p:cTn id="169" dur="350" fill="hold"/>
                                        <p:tgtEl>
                                          <p:spTgt spid="38"/>
                                        </p:tgtEl>
                                        <p:attrNameLst>
                                          <p:attrName>ppt_w</p:attrName>
                                        </p:attrNameLst>
                                      </p:cBhvr>
                                      <p:tavLst>
                                        <p:tav tm="0">
                                          <p:val>
                                            <p:strVal val="#ppt_w*2.4"/>
                                          </p:val>
                                        </p:tav>
                                        <p:tav tm="100000">
                                          <p:val>
                                            <p:strVal val="#ppt_w"/>
                                          </p:val>
                                        </p:tav>
                                      </p:tavLst>
                                    </p:anim>
                                    <p:anim calcmode="lin" valueType="num">
                                      <p:cBhvr additive="base">
                                        <p:cTn id="170" dur="350" fill="hold"/>
                                        <p:tgtEl>
                                          <p:spTgt spid="38"/>
                                        </p:tgtEl>
                                        <p:attrNameLst>
                                          <p:attrName>ppt_h</p:attrName>
                                        </p:attrNameLst>
                                      </p:cBhvr>
                                      <p:tavLst>
                                        <p:tav tm="0">
                                          <p:val>
                                            <p:strVal val="#ppt_h*2.4"/>
                                          </p:val>
                                        </p:tav>
                                        <p:tav tm="100000">
                                          <p:val>
                                            <p:strVal val="#ppt_h"/>
                                          </p:val>
                                        </p:tav>
                                      </p:tavLst>
                                    </p:anim>
                                    <p:animEffect transition="in" filter="fade">
                                      <p:cBhvr>
                                        <p:cTn id="171" dur="350"/>
                                        <p:tgtEl>
                                          <p:spTgt spid="38"/>
                                        </p:tgtEl>
                                      </p:cBhvr>
                                    </p:animEffect>
                                  </p:childTnLst>
                                </p:cTn>
                              </p:par>
                              <p:par>
                                <p:cTn id="175" presetID="10" presetClass="entr" presetSubtype="0" fill="hold" grpId="0" nodeType="withEffect">
                                  <p:stCondLst>
                                    <p:cond delay="4600"/>
                                  </p:stCondLst>
                                  <p:childTnLst>
                                    <p:set>
                                      <p:cBhvr>
                                        <p:cTn id="173" dur="1" fill="hold">
                                          <p:stCondLst>
                                            <p:cond delay="0"/>
                                          </p:stCondLst>
                                        </p:cTn>
                                        <p:tgtEl>
                                          <p:spTgt spid="41"/>
                                        </p:tgtEl>
                                        <p:attrNameLst>
                                          <p:attrName>style.visibility</p:attrName>
                                        </p:attrNameLst>
                                      </p:cBhvr>
                                      <p:to>
                                        <p:strVal val="visible"/>
                                      </p:to>
                                    </p:set>
                                    <p:animEffect transition="in" filter="fade">
                                      <p:cBhvr>
                                        <p:cTn id="174" dur="6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2" grpId="1" animBg="1"/>
      <p:bldP spid="5" grpId="0" animBg="1"/>
      <p:bldP spid="7" grpId="0" animBg="1"/>
      <p:bldP spid="6" grpId="0" animBg="1"/>
      <p:bldP spid="12" grpId="0" animBg="1"/>
      <p:bldP spid="13" grpId="0" animBg="1"/>
      <p:bldP spid="8" grpId="0" animBg="1"/>
      <p:bldP spid="9" grpId="0" animBg="1"/>
      <p:bldP spid="10" grpId="0" animBg="1"/>
      <p:bldP spid="11" grpId="0" animBg="1"/>
      <p:bldP spid="14" grpId="0" animBg="1"/>
      <p:bldP spid="16" grpId="0" animBg="1"/>
      <p:bldP spid="15" grpId="0" animBg="1"/>
      <p:bldP spid="21" grpId="0" animBg="1"/>
      <p:bldP spid="22" grpId="0" animBg="1"/>
      <p:bldP spid="17" grpId="0" animBg="1"/>
      <p:bldP spid="18" grpId="0" animBg="1"/>
      <p:bldP spid="19" grpId="0" animBg="1"/>
      <p:bldP spid="20" grpId="0" animBg="1"/>
      <p:bldP spid="23" grpId="0" animBg="1"/>
      <p:bldP spid="25" grpId="0" animBg="1"/>
      <p:bldP spid="24" grpId="0" animBg="1"/>
      <p:bldP spid="30" grpId="0" animBg="1"/>
      <p:bldP spid="31" grpId="0" animBg="1"/>
      <p:bldP spid="26" grpId="0" animBg="1"/>
      <p:bldP spid="27" grpId="0" animBg="1"/>
      <p:bldP spid="28" grpId="0" animBg="1"/>
      <p:bldP spid="29" grpId="0" animBg="1"/>
      <p:bldP spid="32" grpId="0" animBg="1"/>
      <p:bldP spid="34" grpId="0" animBg="1"/>
      <p:bldP spid="33" grpId="0" animBg="1"/>
      <p:bldP spid="39" grpId="0" animBg="1"/>
      <p:bldP spid="40" grpId="0" animBg="1"/>
      <p:bldP spid="35" grpId="0" animBg="1"/>
      <p:bldP spid="36" grpId="0" animBg="1"/>
      <p:bldP spid="37" grpId="0" animBg="1"/>
      <p:bldP spid="38" grpId="0" animBg="1"/>
      <p:bldP spid="41"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rec dot"/>
          <p:cNvSpPr/>
          <p:nvPr/>
        </p:nvSpPr>
        <p:spPr>
          <a:xfrm>
            <a:off x="548640" y="475488"/>
            <a:ext cx="182880" cy="182880"/>
          </a:xfrm>
          <a:prstGeom prst="ellipse">
            <a:avLst/>
          </a:prstGeom>
          <a:solidFill>
            <a:srgbClr val="E5383B"/>
          </a:solidFill>
          <a:ln/>
        </p:spPr>
      </p:sp>
      <p:sp>
        <p:nvSpPr>
          <p:cNvPr id="3" name="Text 1"/>
          <p:cNvSpPr txBox="1"/>
          <p:nvPr/>
        </p:nvSpPr>
        <p:spPr>
          <a:xfrm>
            <a:off x="841248" y="411480"/>
            <a:ext cx="5486400" cy="310896"/>
          </a:xfrm>
          <a:prstGeom prst="rect">
            <a:avLst/>
          </a:prstGeom>
          <a:noFill/>
          <a:ln/>
        </p:spPr>
        <p:txBody>
          <a:bodyPr wrap="square" lIns="0" tIns="0" rIns="0" bIns="0" rtlCol="0" anchor="ctr"/>
          <a:lstStyle/>
          <a:p>
            <a:pPr indent="0" marL="0">
              <a:buNone/>
            </a:pPr>
            <a:r>
              <a:rPr lang="en-US" sz="1300" b="1" spc="200" kern="0" dirty="0">
                <a:solidFill>
                  <a:srgbClr val="D9D6CF"/>
                </a:solidFill>
                <a:latin typeface="Courier New" pitchFamily="34" charset="0"/>
                <a:ea typeface="Courier New" pitchFamily="34" charset="-122"/>
                <a:cs typeface="Courier New" pitchFamily="34" charset="-120"/>
              </a:rPr>
              <a:t>THE FINAL CUT</a:t>
            </a:r>
            <a:endParaRPr lang="en-US" sz="1300" dirty="0"/>
          </a:p>
        </p:txBody>
      </p:sp>
      <p:sp>
        <p:nvSpPr>
          <p:cNvPr id="4" name="Text 2"/>
          <p:cNvSpPr txBox="1"/>
          <p:nvPr/>
        </p:nvSpPr>
        <p:spPr>
          <a:xfrm>
            <a:off x="548640" y="914400"/>
            <a:ext cx="7315200" cy="1920240"/>
          </a:xfrm>
          <a:prstGeom prst="rect">
            <a:avLst/>
          </a:prstGeom>
          <a:noFill/>
          <a:ln/>
        </p:spPr>
        <p:txBody>
          <a:bodyPr wrap="square" lIns="0" tIns="0" rIns="0" bIns="0" rtlCol="0" anchor="t"/>
          <a:lstStyle/>
          <a:p>
            <a:pPr indent="0" marL="0">
              <a:buNone/>
            </a:pPr>
            <a:r>
              <a:rPr lang="en-US" sz="2800" b="1" dirty="0">
                <a:solidFill>
                  <a:schemeClr val="bg1"/>
                </a:solidFill>
                <a:latin typeface="Bookman Old Style" pitchFamily="34" charset="0"/>
                <a:ea typeface="Bookman Old Style" pitchFamily="34" charset="-122"/>
                <a:cs typeface="Bookman Old Style" pitchFamily="34" charset="-120"/>
              </a:rPr>
              <a:t>Organized crime doesn’t always carry guns. </a:t>
            </a:r>
            <a:pPr indent="0" marL="0">
              <a:buNone/>
            </a:pPr>
            <a:r>
              <a:rPr lang="en-US" sz="2800" b="1" i="1" dirty="0">
                <a:solidFill>
                  <a:srgbClr val="FFD84D"/>
                </a:solidFill>
                <a:latin typeface="Bookman Old Style" pitchFamily="34" charset="0"/>
                <a:ea typeface="Bookman Old Style" pitchFamily="34" charset="-122"/>
                <a:cs typeface="Bookman Old Style" pitchFamily="34" charset="-120"/>
              </a:rPr>
              <a:t>Sometimes it sells them, with a government contract.</a:t>
            </a:r>
            <a:endParaRPr lang="en-US" sz="2800" dirty="0"/>
          </a:p>
        </p:txBody>
      </p:sp>
      <p:sp>
        <p:nvSpPr>
          <p:cNvPr id="5" name="The answer"/>
          <p:cNvSpPr/>
          <p:nvPr/>
        </p:nvSpPr>
        <p:spPr>
          <a:xfrm>
            <a:off x="548640" y="3063240"/>
            <a:ext cx="7315200" cy="1188720"/>
          </a:xfrm>
          <a:prstGeom prst="rect">
            <a:avLst/>
          </a:prstGeom>
          <a:solidFill>
            <a:srgbClr val="1B1D22"/>
          </a:solidFill>
          <a:ln w="12700">
            <a:solidFill>
              <a:srgbClr val="FFD84D"/>
            </a:solidFill>
            <a:prstDash val="solid"/>
          </a:ln>
        </p:spPr>
      </p:sp>
      <p:sp>
        <p:nvSpPr>
          <p:cNvPr id="6" name="Text 4"/>
          <p:cNvSpPr txBox="1"/>
          <p:nvPr/>
        </p:nvSpPr>
        <p:spPr>
          <a:xfrm>
            <a:off x="822960" y="3154680"/>
            <a:ext cx="6766560" cy="1005840"/>
          </a:xfrm>
          <a:prstGeom prst="rect">
            <a:avLst/>
          </a:prstGeom>
          <a:noFill/>
          <a:ln/>
        </p:spPr>
        <p:txBody>
          <a:bodyPr wrap="square" lIns="0" tIns="0" rIns="0" bIns="0" rtlCol="0" anchor="ctr"/>
          <a:lstStyle/>
          <a:p>
            <a:pPr indent="0" marL="0">
              <a:spcAft>
                <a:spcPts val="300"/>
              </a:spcAft>
              <a:buNone/>
            </a:pPr>
            <a:r>
              <a:rPr lang="en-US" sz="1200" b="1" dirty="0">
                <a:solidFill>
                  <a:srgbClr val="FFD84D"/>
                </a:solidFill>
                <a:latin typeface="Courier New" pitchFamily="34" charset="0"/>
                <a:ea typeface="Courier New" pitchFamily="34" charset="-122"/>
                <a:cs typeface="Courier New" pitchFamily="34" charset="-120"/>
              </a:rPr>
              <a:t>THE ANSWER</a:t>
            </a:r>
            <a:endParaRPr lang="en-US" sz="1200" dirty="0"/>
          </a:p>
          <a:p>
            <a:pPr indent="0" marL="0">
              <a:spcAft>
                <a:spcPts val="300"/>
              </a:spcAft>
              <a:buNone/>
            </a:pPr>
            <a:r>
              <a:rPr lang="en-US" sz="1500" dirty="0">
                <a:solidFill>
                  <a:schemeClr val="bg1"/>
                </a:solidFill>
              </a:rPr>
              <a:t>AEY is organized crime under the UN definition, but not the mafia: it is organized white-collar crime.</a:t>
            </a:r>
            <a:endParaRPr lang="en-US" sz="1200" dirty="0"/>
          </a:p>
        </p:txBody>
      </p:sp>
      <p:sp>
        <p:nvSpPr>
          <p:cNvPr id="7" name="The lesson for Bangladesh"/>
          <p:cNvSpPr/>
          <p:nvPr/>
        </p:nvSpPr>
        <p:spPr>
          <a:xfrm>
            <a:off x="548640" y="4389120"/>
            <a:ext cx="7315200" cy="1188720"/>
          </a:xfrm>
          <a:prstGeom prst="rect">
            <a:avLst/>
          </a:prstGeom>
          <a:solidFill>
            <a:srgbClr val="1B1D22"/>
          </a:solidFill>
          <a:ln w="12700">
            <a:solidFill>
              <a:srgbClr val="E5383B"/>
            </a:solidFill>
            <a:prstDash val="solid"/>
          </a:ln>
        </p:spPr>
      </p:sp>
      <p:sp>
        <p:nvSpPr>
          <p:cNvPr id="8" name="Text 6"/>
          <p:cNvSpPr txBox="1"/>
          <p:nvPr/>
        </p:nvSpPr>
        <p:spPr>
          <a:xfrm>
            <a:off x="822960" y="4480560"/>
            <a:ext cx="6766560" cy="1005840"/>
          </a:xfrm>
          <a:prstGeom prst="rect">
            <a:avLst/>
          </a:prstGeom>
          <a:noFill/>
          <a:ln/>
        </p:spPr>
        <p:txBody>
          <a:bodyPr wrap="square" lIns="0" tIns="0" rIns="0" bIns="0" rtlCol="0" anchor="ctr"/>
          <a:lstStyle/>
          <a:p>
            <a:pPr indent="0" marL="0">
              <a:spcAft>
                <a:spcPts val="300"/>
              </a:spcAft>
              <a:buNone/>
            </a:pPr>
            <a:r>
              <a:rPr lang="en-US" sz="1200" b="1" dirty="0">
                <a:solidFill>
                  <a:srgbClr val="FF8A8C"/>
                </a:solidFill>
                <a:latin typeface="Courier New" pitchFamily="34" charset="0"/>
                <a:ea typeface="Courier New" pitchFamily="34" charset="-122"/>
                <a:cs typeface="Courier New" pitchFamily="34" charset="-120"/>
              </a:rPr>
              <a:t>THE LESSON FOR BANGLADESH</a:t>
            </a:r>
            <a:endParaRPr lang="en-US" sz="1200" dirty="0"/>
          </a:p>
          <a:p>
            <a:pPr indent="0" marL="0">
              <a:spcAft>
                <a:spcPts val="300"/>
              </a:spcAft>
              <a:buNone/>
            </a:pPr>
            <a:r>
              <a:rPr lang="en-US" sz="1500" dirty="0">
                <a:solidFill>
                  <a:schemeClr val="bg1"/>
                </a:solidFill>
              </a:rPr>
              <a:t>Big procurement relies on middlemen too. Vet contractors, disclose real owners, check where goods come from.</a:t>
            </a:r>
            <a:endParaRPr lang="en-US" sz="1200" dirty="0"/>
          </a:p>
        </p:txBody>
      </p:sp>
      <p:sp>
        <p:nvSpPr>
          <p:cNvPr id="9" name="Text 7"/>
          <p:cNvSpPr txBox="1"/>
          <p:nvPr/>
        </p:nvSpPr>
        <p:spPr>
          <a:xfrm>
            <a:off x="8503920" y="914400"/>
            <a:ext cx="3139135" cy="320040"/>
          </a:xfrm>
          <a:prstGeom prst="rect">
            <a:avLst/>
          </a:prstGeom>
          <a:noFill/>
          <a:ln/>
        </p:spPr>
        <p:txBody>
          <a:bodyPr wrap="square" lIns="0" tIns="0" rIns="0" bIns="0" rtlCol="0" anchor="ctr"/>
          <a:lstStyle/>
          <a:p>
            <a:pPr algn="ctr" indent="0" marL="0">
              <a:buNone/>
            </a:pPr>
            <a:r>
              <a:rPr lang="en-US" sz="1300" b="1" spc="400" kern="0" dirty="0">
                <a:solidFill>
                  <a:srgbClr val="A9ADB5"/>
                </a:solidFill>
                <a:latin typeface="Courier New" pitchFamily="34" charset="0"/>
                <a:ea typeface="Courier New" pitchFamily="34" charset="-122"/>
                <a:cs typeface="Courier New" pitchFamily="34" charset="-120"/>
              </a:rPr>
              <a:t>CREDITS</a:t>
            </a:r>
            <a:endParaRPr lang="en-US" sz="1300" dirty="0"/>
          </a:p>
        </p:txBody>
      </p:sp>
      <p:sp>
        <p:nvSpPr>
          <p:cNvPr id="10" name="Text 8"/>
          <p:cNvSpPr txBox="1"/>
          <p:nvPr/>
        </p:nvSpPr>
        <p:spPr>
          <a:xfrm>
            <a:off x="8503920" y="1371600"/>
            <a:ext cx="3139135" cy="548640"/>
          </a:xfrm>
          <a:prstGeom prst="rect">
            <a:avLst/>
          </a:prstGeom>
          <a:noFill/>
          <a:ln/>
        </p:spPr>
        <p:txBody>
          <a:bodyPr wrap="square" lIns="0" tIns="0" rIns="0" bIns="0" rtlCol="0" anchor="ctr"/>
          <a:lstStyle/>
          <a:p>
            <a:pPr algn="ctr" indent="0" marL="0">
              <a:buNone/>
            </a:pPr>
            <a:r>
              <a:rPr lang="en-US" sz="1000" dirty="0">
                <a:solidFill>
                  <a:srgbClr val="A9ADB5"/>
                </a:solidFill>
                <a:latin typeface="Courier New" pitchFamily="34" charset="0"/>
                <a:ea typeface="Courier New" pitchFamily="34" charset="-122"/>
                <a:cs typeface="Courier New" pitchFamily="34" charset="-120"/>
              </a:rPr>
              <a:t>OPENING &amp; TRAILER  ·  ROLL 27</a:t>
            </a:r>
            <a:endParaRPr lang="en-US" sz="1000" dirty="0"/>
          </a:p>
          <a:p>
            <a:pPr algn="ctr" indent="0" marL="0">
              <a:buNone/>
            </a:pPr>
            <a:r>
              <a:rPr lang="en-US" sz="1400" b="1" dirty="0">
                <a:solidFill>
                  <a:schemeClr val="bg1"/>
                </a:solidFill>
              </a:rPr>
              <a:t>Minhaz Ahamed Khan Nabin</a:t>
            </a:r>
            <a:endParaRPr lang="en-US" sz="1000" dirty="0"/>
          </a:p>
        </p:txBody>
      </p:sp>
      <p:sp>
        <p:nvSpPr>
          <p:cNvPr id="11" name="Text 9"/>
          <p:cNvSpPr txBox="1"/>
          <p:nvPr/>
        </p:nvSpPr>
        <p:spPr>
          <a:xfrm>
            <a:off x="8503920" y="1975104"/>
            <a:ext cx="3139135" cy="548640"/>
          </a:xfrm>
          <a:prstGeom prst="rect">
            <a:avLst/>
          </a:prstGeom>
          <a:noFill/>
          <a:ln/>
        </p:spPr>
        <p:txBody>
          <a:bodyPr wrap="square" lIns="0" tIns="0" rIns="0" bIns="0" rtlCol="0" anchor="ctr"/>
          <a:lstStyle/>
          <a:p>
            <a:pPr algn="ctr" indent="0" marL="0">
              <a:buNone/>
            </a:pPr>
            <a:r>
              <a:rPr lang="en-US" sz="1000" dirty="0">
                <a:solidFill>
                  <a:srgbClr val="A9ADB5"/>
                </a:solidFill>
                <a:latin typeface="Courier New" pitchFamily="34" charset="0"/>
                <a:ea typeface="Courier New" pitchFamily="34" charset="-122"/>
                <a:cs typeface="Courier New" pitchFamily="34" charset="-120"/>
              </a:rPr>
              <a:t>ACT I  ·  ROLL 08</a:t>
            </a:r>
            <a:endParaRPr lang="en-US" sz="1000" dirty="0"/>
          </a:p>
          <a:p>
            <a:pPr algn="ctr" indent="0" marL="0">
              <a:buNone/>
            </a:pPr>
            <a:r>
              <a:rPr lang="en-US" sz="1400" b="1" dirty="0">
                <a:solidFill>
                  <a:schemeClr val="bg1"/>
                </a:solidFill>
              </a:rPr>
              <a:t>Jesmin Naher Sweety</a:t>
            </a:r>
            <a:endParaRPr lang="en-US" sz="1000" dirty="0"/>
          </a:p>
        </p:txBody>
      </p:sp>
      <p:sp>
        <p:nvSpPr>
          <p:cNvPr id="12" name="Text 10"/>
          <p:cNvSpPr txBox="1"/>
          <p:nvPr/>
        </p:nvSpPr>
        <p:spPr>
          <a:xfrm>
            <a:off x="8503920" y="2578608"/>
            <a:ext cx="3139135" cy="548640"/>
          </a:xfrm>
          <a:prstGeom prst="rect">
            <a:avLst/>
          </a:prstGeom>
          <a:noFill/>
          <a:ln/>
        </p:spPr>
        <p:txBody>
          <a:bodyPr wrap="square" lIns="0" tIns="0" rIns="0" bIns="0" rtlCol="0" anchor="ctr"/>
          <a:lstStyle/>
          <a:p>
            <a:pPr algn="ctr" indent="0" marL="0">
              <a:buNone/>
            </a:pPr>
            <a:r>
              <a:rPr lang="en-US" sz="1000" dirty="0">
                <a:solidFill>
                  <a:srgbClr val="A9ADB5"/>
                </a:solidFill>
                <a:latin typeface="Courier New" pitchFamily="34" charset="0"/>
                <a:ea typeface="Courier New" pitchFamily="34" charset="-122"/>
                <a:cs typeface="Courier New" pitchFamily="34" charset="-120"/>
              </a:rPr>
              <a:t>ACT II: DEFINITIONS  ·  ROLL 37</a:t>
            </a:r>
            <a:endParaRPr lang="en-US" sz="1000" dirty="0"/>
          </a:p>
          <a:p>
            <a:pPr algn="ctr" indent="0" marL="0">
              <a:buNone/>
            </a:pPr>
            <a:r>
              <a:rPr lang="en-US" sz="1400" b="1" dirty="0">
                <a:solidFill>
                  <a:schemeClr val="bg1"/>
                </a:solidFill>
              </a:rPr>
              <a:t>Md. Abir Mahmud Jakaria</a:t>
            </a:r>
            <a:endParaRPr lang="en-US" sz="1000" dirty="0"/>
          </a:p>
        </p:txBody>
      </p:sp>
      <p:sp>
        <p:nvSpPr>
          <p:cNvPr id="13" name="Text 11"/>
          <p:cNvSpPr txBox="1"/>
          <p:nvPr/>
        </p:nvSpPr>
        <p:spPr>
          <a:xfrm>
            <a:off x="8503920" y="3182112"/>
            <a:ext cx="3139135" cy="548640"/>
          </a:xfrm>
          <a:prstGeom prst="rect">
            <a:avLst/>
          </a:prstGeom>
          <a:noFill/>
          <a:ln/>
        </p:spPr>
        <p:txBody>
          <a:bodyPr wrap="square" lIns="0" tIns="0" rIns="0" bIns="0" rtlCol="0" anchor="ctr"/>
          <a:lstStyle/>
          <a:p>
            <a:pPr algn="ctr" indent="0" marL="0">
              <a:buNone/>
            </a:pPr>
            <a:r>
              <a:rPr lang="en-US" sz="1000" dirty="0">
                <a:solidFill>
                  <a:srgbClr val="A9ADB5"/>
                </a:solidFill>
                <a:latin typeface="Courier New" pitchFamily="34" charset="0"/>
                <a:ea typeface="Courier New" pitchFamily="34" charset="-122"/>
                <a:cs typeface="Courier New" pitchFamily="34" charset="-120"/>
              </a:rPr>
              <a:t>ACT II: NETWORK &amp; CORRUPTION  ·  ROLL 33</a:t>
            </a:r>
            <a:endParaRPr lang="en-US" sz="1000" dirty="0"/>
          </a:p>
          <a:p>
            <a:pPr algn="ctr" indent="0" marL="0">
              <a:buNone/>
            </a:pPr>
            <a:r>
              <a:rPr lang="en-US" sz="1400" b="1" dirty="0">
                <a:solidFill>
                  <a:schemeClr val="bg1"/>
                </a:solidFill>
              </a:rPr>
              <a:t>Imran Mridha</a:t>
            </a:r>
            <a:endParaRPr lang="en-US" sz="1000" dirty="0"/>
          </a:p>
        </p:txBody>
      </p:sp>
      <p:sp>
        <p:nvSpPr>
          <p:cNvPr id="14" name="Text 12"/>
          <p:cNvSpPr txBox="1"/>
          <p:nvPr/>
        </p:nvSpPr>
        <p:spPr>
          <a:xfrm>
            <a:off x="8503920" y="3785616"/>
            <a:ext cx="3139135" cy="548640"/>
          </a:xfrm>
          <a:prstGeom prst="rect">
            <a:avLst/>
          </a:prstGeom>
          <a:noFill/>
          <a:ln/>
        </p:spPr>
        <p:txBody>
          <a:bodyPr wrap="square" lIns="0" tIns="0" rIns="0" bIns="0" rtlCol="0" anchor="ctr"/>
          <a:lstStyle/>
          <a:p>
            <a:pPr algn="ctr" indent="0" marL="0">
              <a:buNone/>
            </a:pPr>
            <a:r>
              <a:rPr lang="en-US" sz="1000" dirty="0">
                <a:solidFill>
                  <a:srgbClr val="A9ADB5"/>
                </a:solidFill>
                <a:latin typeface="Courier New" pitchFamily="34" charset="0"/>
                <a:ea typeface="Courier New" pitchFamily="34" charset="-122"/>
                <a:cs typeface="Courier New" pitchFamily="34" charset="-120"/>
              </a:rPr>
              <a:t>ACT III  ·  ROLL 24</a:t>
            </a:r>
            <a:endParaRPr lang="en-US" sz="1000" dirty="0"/>
          </a:p>
          <a:p>
            <a:pPr algn="ctr" indent="0" marL="0">
              <a:buNone/>
            </a:pPr>
            <a:r>
              <a:rPr lang="en-US" sz="1400" b="1" dirty="0">
                <a:solidFill>
                  <a:schemeClr val="bg1"/>
                </a:solidFill>
              </a:rPr>
              <a:t>Ahnaf Akif</a:t>
            </a:r>
            <a:endParaRPr lang="en-US" sz="1000" dirty="0"/>
          </a:p>
        </p:txBody>
      </p:sp>
      <p:sp>
        <p:nvSpPr>
          <p:cNvPr id="15" name="Text 13"/>
          <p:cNvSpPr txBox="1"/>
          <p:nvPr/>
        </p:nvSpPr>
        <p:spPr>
          <a:xfrm>
            <a:off x="8503920" y="4389120"/>
            <a:ext cx="3139135" cy="548640"/>
          </a:xfrm>
          <a:prstGeom prst="rect">
            <a:avLst/>
          </a:prstGeom>
          <a:noFill/>
          <a:ln/>
        </p:spPr>
        <p:txBody>
          <a:bodyPr wrap="square" lIns="0" tIns="0" rIns="0" bIns="0" rtlCol="0" anchor="ctr"/>
          <a:lstStyle/>
          <a:p>
            <a:pPr algn="ctr" indent="0" marL="0">
              <a:buNone/>
            </a:pPr>
            <a:r>
              <a:rPr lang="en-US" sz="1000" dirty="0">
                <a:solidFill>
                  <a:srgbClr val="A9ADB5"/>
                </a:solidFill>
                <a:latin typeface="Courier New" pitchFamily="34" charset="0"/>
                <a:ea typeface="Courier New" pitchFamily="34" charset="-122"/>
                <a:cs typeface="Courier New" pitchFamily="34" charset="-120"/>
              </a:rPr>
              <a:t>VERDICT &amp; FINAL CUT  ·  ROLL 21</a:t>
            </a:r>
            <a:endParaRPr lang="en-US" sz="1000" dirty="0"/>
          </a:p>
          <a:p>
            <a:pPr algn="ctr" indent="0" marL="0">
              <a:buNone/>
            </a:pPr>
            <a:r>
              <a:rPr lang="en-US" sz="1400" b="1" dirty="0">
                <a:solidFill>
                  <a:schemeClr val="bg1"/>
                </a:solidFill>
              </a:rPr>
              <a:t>Nishit Kumer</a:t>
            </a:r>
            <a:endParaRPr lang="en-US" sz="1000" dirty="0"/>
          </a:p>
        </p:txBody>
      </p:sp>
      <p:sp>
        <p:nvSpPr>
          <p:cNvPr id="16" name="Text 14"/>
          <p:cNvSpPr txBox="1"/>
          <p:nvPr/>
        </p:nvSpPr>
        <p:spPr>
          <a:xfrm>
            <a:off x="548640" y="5715000"/>
            <a:ext cx="7315200" cy="502920"/>
          </a:xfrm>
          <a:prstGeom prst="rect">
            <a:avLst/>
          </a:prstGeom>
          <a:noFill/>
          <a:ln/>
        </p:spPr>
        <p:txBody>
          <a:bodyPr wrap="square" lIns="0" tIns="0" rIns="0" bIns="0" rtlCol="0" anchor="ctr"/>
          <a:lstStyle/>
          <a:p>
            <a:pPr indent="0" marL="0">
              <a:buNone/>
            </a:pPr>
            <a:r>
              <a:rPr lang="en-US" sz="2400" b="1" dirty="0">
                <a:solidFill>
                  <a:schemeClr val="bg1"/>
                </a:solidFill>
                <a:latin typeface="Bookman Old Style" pitchFamily="34" charset="0"/>
                <a:ea typeface="Bookman Old Style" pitchFamily="34" charset="-122"/>
                <a:cs typeface="Bookman Old Style" pitchFamily="34" charset="-120"/>
              </a:rPr>
              <a:t>Thank you  ·  </a:t>
            </a:r>
            <a:pPr indent="0" marL="0">
              <a:buNone/>
            </a:pPr>
            <a:r>
              <a:rPr lang="en-US" sz="2400" i="1" dirty="0">
                <a:solidFill>
                  <a:srgbClr val="FFD84D"/>
                </a:solidFill>
                <a:latin typeface="Bookman Old Style" pitchFamily="34" charset="0"/>
                <a:ea typeface="Bookman Old Style" pitchFamily="34" charset="-122"/>
                <a:cs typeface="Bookman Old Style" pitchFamily="34" charset="-120"/>
              </a:rPr>
              <a:t>Questions?</a:t>
            </a:r>
            <a:endParaRPr lang="en-US" sz="2400" dirty="0"/>
          </a:p>
        </p:txBody>
      </p:sp>
    </p:spTree>
  </p:cSld>
  <p:clrMapOvr>
    <a:masterClrMapping/>
  </p:clrMapOvr>
  <p:transition spd="slow">
    <p:fade thruBlk="1"/>
  </p:transition>
  <p:timing>
    <p:tnLst>
      <p:par>
        <p:cTn id="1" dur="indefinite" restart="never" nodeType="tmRoot">
          <p:childTnLst>
            <p:seq concurrent="1" nextAc="seek">
              <p:cTn id="2" dur="indefinite" nodeType="mainSeq">
                <p:childTnLst>
                  <p:par>
                    <p:cTn id="74" fill="hold">
                      <p:stCondLst>
                        <p:cond delay="indefinite"/>
                        <p:cond evt="onBegin" delay="0">
                          <p:tn val="2"/>
                        </p:cond>
                      </p:stCondLst>
                      <p:childTnLst>
                        <p:par>
                          <p:cTn id="75" fill="hold">
                            <p:stCondLst>
                              <p:cond delay="0"/>
                            </p:stCondLst>
                            <p:childTnLst>
                              <p:par>
                                <p:cTn id="7" presetID="53" presetClass="entr" presetSubtype="16" fill="hold" grpId="0" nodeType="afterEffect">
                                  <p:stCondLst>
                                    <p:cond delay="0"/>
                                  </p:stCondLst>
                                  <p:childTnLst>
                                    <p:set>
                                      <p:cBhvr>
                                        <p:cTn id="3" dur="1" fill="hold">
                                          <p:stCondLst>
                                            <p:cond delay="0"/>
                                          </p:stCondLst>
                                        </p:cTn>
                                        <p:tgtEl>
                                          <p:spTgt spid="2"/>
                                        </p:tgtEl>
                                        <p:attrNameLst>
                                          <p:attrName>style.visibility</p:attrName>
                                        </p:attrNameLst>
                                      </p:cBhvr>
                                      <p:to>
                                        <p:strVal val="visible"/>
                                      </p:to>
                                    </p:set>
                                    <p:anim calcmode="lin" valueType="num">
                                      <p:cBhvr additive="base">
                                        <p:cTn id="4" dur="400" fill="hold"/>
                                        <p:tgtEl>
                                          <p:spTgt spid="2"/>
                                        </p:tgtEl>
                                        <p:attrNameLst>
                                          <p:attrName>ppt_w</p:attrName>
                                        </p:attrNameLst>
                                      </p:cBhvr>
                                      <p:tavLst>
                                        <p:tav tm="0">
                                          <p:val>
                                            <p:strVal val="0"/>
                                          </p:val>
                                        </p:tav>
                                        <p:tav tm="100000">
                                          <p:val>
                                            <p:strVal val="#ppt_w"/>
                                          </p:val>
                                        </p:tav>
                                      </p:tavLst>
                                    </p:anim>
                                    <p:anim calcmode="lin" valueType="num">
                                      <p:cBhvr additive="base">
                                        <p:cTn id="5" dur="400" fill="hold"/>
                                        <p:tgtEl>
                                          <p:spTgt spid="2"/>
                                        </p:tgtEl>
                                        <p:attrNameLst>
                                          <p:attrName>ppt_h</p:attrName>
                                        </p:attrNameLst>
                                      </p:cBhvr>
                                      <p:tavLst>
                                        <p:tav tm="0">
                                          <p:val>
                                            <p:strVal val="0"/>
                                          </p:val>
                                        </p:tav>
                                        <p:tav tm="100000">
                                          <p:val>
                                            <p:strVal val="#ppt_h"/>
                                          </p:val>
                                        </p:tav>
                                      </p:tavLst>
                                    </p:anim>
                                    <p:animEffect transition="in" filter="fade">
                                      <p:cBhvr>
                                        <p:cTn id="6" dur="400"/>
                                        <p:tgtEl>
                                          <p:spTgt spid="2"/>
                                        </p:tgtEl>
                                      </p:cBhvr>
                                    </p:animEffect>
                                  </p:childTnLst>
                                </p:cTn>
                              </p:par>
                              <p:par>
                                <p:cTn id="9" presetID="1" presetClass="entr" presetSubtype="0" fill="hold" grpId="0" nodeType="withEffect">
                                  <p:stCondLst>
                                    <p:cond delay="200"/>
                                  </p:stCondLst>
                                  <p:iterate type="lt">
                                    <p:tmAbs val="30"/>
                                  </p:iterate>
                                  <p:childTnLst>
                                    <p:set>
                                      <p:cBhvr>
                                        <p:cTn id="8" dur="1" fill="hold">
                                          <p:stCondLst>
                                            <p:cond delay="0"/>
                                          </p:stCondLst>
                                        </p:cTn>
                                        <p:tgtEl>
                                          <p:spTgt spid="3"/>
                                        </p:tgtEl>
                                        <p:attrNameLst>
                                          <p:attrName>style.visibility</p:attrName>
                                        </p:attrNameLst>
                                      </p:cBhvr>
                                      <p:to>
                                        <p:strVal val="visible"/>
                                      </p:to>
                                    </p:set>
                                  </p:childTnLst>
                                </p:cTn>
                              </p:par>
                              <p:par>
                                <p:cTn id="11" presetID="6" presetClass="emph" presetSubtype="0" fill="hold" grpId="1" nodeType="withEffect" autoRev="1" repeatCount="indefinite">
                                  <p:stCondLst>
                                    <p:cond delay="500"/>
                                  </p:stCondLst>
                                  <p:childTnLst>
                                    <p:animScale>
                                      <p:cBhvr>
                                        <p:cTn id="10" dur="650" fill="hold"/>
                                        <p:tgtEl>
                                          <p:spTgt spid="2"/>
                                        </p:tgtEl>
                                      </p:cBhvr>
                                      <p:by x="135000" y="135000"/>
                                    </p:animScale>
                                  </p:childTnLst>
                                </p:cTn>
                              </p:par>
                              <p:par>
                                <p:cTn id="13" presetID="1" presetClass="entr" presetSubtype="0" fill="hold" grpId="0" nodeType="withEffect">
                                  <p:stCondLst>
                                    <p:cond delay="700"/>
                                  </p:stCondLst>
                                  <p:iterate type="lt">
                                    <p:tmAbs val="32"/>
                                  </p:iterate>
                                  <p:childTnLst>
                                    <p:set>
                                      <p:cBhvr>
                                        <p:cTn id="12" dur="1" fill="hold">
                                          <p:stCondLst>
                                            <p:cond delay="0"/>
                                          </p:stCondLst>
                                        </p:cTn>
                                        <p:tgtEl>
                                          <p:spTgt spid="4"/>
                                        </p:tgtEl>
                                        <p:attrNameLst>
                                          <p:attrName>style.visibility</p:attrName>
                                        </p:attrNameLst>
                                      </p:cBhvr>
                                      <p:to>
                                        <p:strVal val="visible"/>
                                      </p:to>
                                    </p:set>
                                  </p:childTnLst>
                                </p:cTn>
                              </p:par>
                              <p:par>
                                <p:cTn id="18" presetID="42" presetClass="entr" presetSubtype="0" fill="hold" grpId="0" nodeType="withEffect">
                                  <p:stCondLst>
                                    <p:cond delay="430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700"/>
                                        <p:tgtEl>
                                          <p:spTgt spid="5"/>
                                        </p:tgtEl>
                                      </p:cBhvr>
                                    </p:animEffect>
                                    <p:anim calcmode="lin" valueType="num">
                                      <p:cBhvr additive="base">
                                        <p:cTn id="16" dur="700" fill="hold"/>
                                        <p:tgtEl>
                                          <p:spTgt spid="5"/>
                                        </p:tgtEl>
                                        <p:attrNameLst>
                                          <p:attrName>ppt_x</p:attrName>
                                        </p:attrNameLst>
                                      </p:cBhvr>
                                      <p:tavLst>
                                        <p:tav tm="0">
                                          <p:val>
                                            <p:strVal val="#ppt_x"/>
                                          </p:val>
                                        </p:tav>
                                        <p:tav tm="100000">
                                          <p:val>
                                            <p:strVal val="#ppt_x"/>
                                          </p:val>
                                        </p:tav>
                                      </p:tavLst>
                                    </p:anim>
                                    <p:anim calcmode="lin" valueType="num">
                                      <p:cBhvr additive="base">
                                        <p:cTn id="17" dur="700" fill="hold"/>
                                        <p:tgtEl>
                                          <p:spTgt spid="5"/>
                                        </p:tgtEl>
                                        <p:attrNameLst>
                                          <p:attrName>ppt_y</p:attrName>
                                        </p:attrNameLst>
                                      </p:cBhvr>
                                      <p:tavLst>
                                        <p:tav tm="0">
                                          <p:val>
                                            <p:strVal val="#ppt_y+.06"/>
                                          </p:val>
                                        </p:tav>
                                        <p:tav tm="100000">
                                          <p:val>
                                            <p:strVal val="#ppt_y"/>
                                          </p:val>
                                        </p:tav>
                                      </p:tavLst>
                                    </p:anim>
                                  </p:childTnLst>
                                </p:cTn>
                              </p:par>
                              <p:par>
                                <p:cTn id="23" presetID="42" presetClass="entr" presetSubtype="0" fill="hold" grpId="0" nodeType="withEffect">
                                  <p:stCondLst>
                                    <p:cond delay="4300"/>
                                  </p:stCondLst>
                                  <p:childTnLst>
                                    <p:set>
                                      <p:cBhvr>
                                        <p:cTn id="19" dur="1" fill="hold">
                                          <p:stCondLst>
                                            <p:cond delay="0"/>
                                          </p:stCondLst>
                                        </p:cTn>
                                        <p:tgtEl>
                                          <p:spTgt spid="6"/>
                                        </p:tgtEl>
                                        <p:attrNameLst>
                                          <p:attrName>style.visibility</p:attrName>
                                        </p:attrNameLst>
                                      </p:cBhvr>
                                      <p:to>
                                        <p:strVal val="visible"/>
                                      </p:to>
                                    </p:set>
                                    <p:animEffect transition="in" filter="fade">
                                      <p:cBhvr>
                                        <p:cTn id="20" dur="700"/>
                                        <p:tgtEl>
                                          <p:spTgt spid="6"/>
                                        </p:tgtEl>
                                      </p:cBhvr>
                                    </p:animEffect>
                                    <p:anim calcmode="lin" valueType="num">
                                      <p:cBhvr additive="base">
                                        <p:cTn id="21" dur="700" fill="hold"/>
                                        <p:tgtEl>
                                          <p:spTgt spid="6"/>
                                        </p:tgtEl>
                                        <p:attrNameLst>
                                          <p:attrName>ppt_x</p:attrName>
                                        </p:attrNameLst>
                                      </p:cBhvr>
                                      <p:tavLst>
                                        <p:tav tm="0">
                                          <p:val>
                                            <p:strVal val="#ppt_x"/>
                                          </p:val>
                                        </p:tav>
                                        <p:tav tm="100000">
                                          <p:val>
                                            <p:strVal val="#ppt_x"/>
                                          </p:val>
                                        </p:tav>
                                      </p:tavLst>
                                    </p:anim>
                                    <p:anim calcmode="lin" valueType="num">
                                      <p:cBhvr additive="base">
                                        <p:cTn id="22" dur="700" fill="hold"/>
                                        <p:tgtEl>
                                          <p:spTgt spid="6"/>
                                        </p:tgtEl>
                                        <p:attrNameLst>
                                          <p:attrName>ppt_y</p:attrName>
                                        </p:attrNameLst>
                                      </p:cBhvr>
                                      <p:tavLst>
                                        <p:tav tm="0">
                                          <p:val>
                                            <p:strVal val="#ppt_y+.06"/>
                                          </p:val>
                                        </p:tav>
                                        <p:tav tm="100000">
                                          <p:val>
                                            <p:strVal val="#ppt_y"/>
                                          </p:val>
                                        </p:tav>
                                      </p:tavLst>
                                    </p:anim>
                                  </p:childTnLst>
                                </p:cTn>
                              </p:par>
                              <p:par>
                                <p:cTn id="28" presetID="42" presetClass="entr" presetSubtype="0" fill="hold" grpId="0" nodeType="withEffect">
                                  <p:stCondLst>
                                    <p:cond delay="4900"/>
                                  </p:stCondLst>
                                  <p:childTnLst>
                                    <p:set>
                                      <p:cBhvr>
                                        <p:cTn id="24" dur="1" fill="hold">
                                          <p:stCondLst>
                                            <p:cond delay="0"/>
                                          </p:stCondLst>
                                        </p:cTn>
                                        <p:tgtEl>
                                          <p:spTgt spid="7"/>
                                        </p:tgtEl>
                                        <p:attrNameLst>
                                          <p:attrName>style.visibility</p:attrName>
                                        </p:attrNameLst>
                                      </p:cBhvr>
                                      <p:to>
                                        <p:strVal val="visible"/>
                                      </p:to>
                                    </p:set>
                                    <p:animEffect transition="in" filter="fade">
                                      <p:cBhvr>
                                        <p:cTn id="25" dur="700"/>
                                        <p:tgtEl>
                                          <p:spTgt spid="7"/>
                                        </p:tgtEl>
                                      </p:cBhvr>
                                    </p:animEffect>
                                    <p:anim calcmode="lin" valueType="num">
                                      <p:cBhvr additive="base">
                                        <p:cTn id="26" dur="700" fill="hold"/>
                                        <p:tgtEl>
                                          <p:spTgt spid="7"/>
                                        </p:tgtEl>
                                        <p:attrNameLst>
                                          <p:attrName>ppt_x</p:attrName>
                                        </p:attrNameLst>
                                      </p:cBhvr>
                                      <p:tavLst>
                                        <p:tav tm="0">
                                          <p:val>
                                            <p:strVal val="#ppt_x"/>
                                          </p:val>
                                        </p:tav>
                                        <p:tav tm="100000">
                                          <p:val>
                                            <p:strVal val="#ppt_x"/>
                                          </p:val>
                                        </p:tav>
                                      </p:tavLst>
                                    </p:anim>
                                    <p:anim calcmode="lin" valueType="num">
                                      <p:cBhvr additive="base">
                                        <p:cTn id="27" dur="700" fill="hold"/>
                                        <p:tgtEl>
                                          <p:spTgt spid="7"/>
                                        </p:tgtEl>
                                        <p:attrNameLst>
                                          <p:attrName>ppt_y</p:attrName>
                                        </p:attrNameLst>
                                      </p:cBhvr>
                                      <p:tavLst>
                                        <p:tav tm="0">
                                          <p:val>
                                            <p:strVal val="#ppt_y+.06"/>
                                          </p:val>
                                        </p:tav>
                                        <p:tav tm="100000">
                                          <p:val>
                                            <p:strVal val="#ppt_y"/>
                                          </p:val>
                                        </p:tav>
                                      </p:tavLst>
                                    </p:anim>
                                  </p:childTnLst>
                                </p:cTn>
                              </p:par>
                              <p:par>
                                <p:cTn id="33" presetID="42" presetClass="entr" presetSubtype="0" fill="hold" grpId="0" nodeType="withEffect">
                                  <p:stCondLst>
                                    <p:cond delay="4900"/>
                                  </p:stCondLst>
                                  <p:childTnLst>
                                    <p:set>
                                      <p:cBhvr>
                                        <p:cTn id="29" dur="1" fill="hold">
                                          <p:stCondLst>
                                            <p:cond delay="0"/>
                                          </p:stCondLst>
                                        </p:cTn>
                                        <p:tgtEl>
                                          <p:spTgt spid="8"/>
                                        </p:tgtEl>
                                        <p:attrNameLst>
                                          <p:attrName>style.visibility</p:attrName>
                                        </p:attrNameLst>
                                      </p:cBhvr>
                                      <p:to>
                                        <p:strVal val="visible"/>
                                      </p:to>
                                    </p:set>
                                    <p:animEffect transition="in" filter="fade">
                                      <p:cBhvr>
                                        <p:cTn id="30" dur="700"/>
                                        <p:tgtEl>
                                          <p:spTgt spid="8"/>
                                        </p:tgtEl>
                                      </p:cBhvr>
                                    </p:animEffect>
                                    <p:anim calcmode="lin" valueType="num">
                                      <p:cBhvr additive="base">
                                        <p:cTn id="31" dur="700" fill="hold"/>
                                        <p:tgtEl>
                                          <p:spTgt spid="8"/>
                                        </p:tgtEl>
                                        <p:attrNameLst>
                                          <p:attrName>ppt_x</p:attrName>
                                        </p:attrNameLst>
                                      </p:cBhvr>
                                      <p:tavLst>
                                        <p:tav tm="0">
                                          <p:val>
                                            <p:strVal val="#ppt_x"/>
                                          </p:val>
                                        </p:tav>
                                        <p:tav tm="100000">
                                          <p:val>
                                            <p:strVal val="#ppt_x"/>
                                          </p:val>
                                        </p:tav>
                                      </p:tavLst>
                                    </p:anim>
                                    <p:anim calcmode="lin" valueType="num">
                                      <p:cBhvr additive="base">
                                        <p:cTn id="32" dur="700" fill="hold"/>
                                        <p:tgtEl>
                                          <p:spTgt spid="8"/>
                                        </p:tgtEl>
                                        <p:attrNameLst>
                                          <p:attrName>ppt_y</p:attrName>
                                        </p:attrNameLst>
                                      </p:cBhvr>
                                      <p:tavLst>
                                        <p:tav tm="0">
                                          <p:val>
                                            <p:strVal val="#ppt_y+.06"/>
                                          </p:val>
                                        </p:tav>
                                        <p:tav tm="100000">
                                          <p:val>
                                            <p:strVal val="#ppt_y"/>
                                          </p:val>
                                        </p:tav>
                                      </p:tavLst>
                                    </p:anim>
                                  </p:childTnLst>
                                </p:cTn>
                              </p:par>
                              <p:par>
                                <p:cTn id="36" presetID="10" presetClass="entr" presetSubtype="0" fill="hold" grpId="0" nodeType="withEffect">
                                  <p:stCondLst>
                                    <p:cond delay="5600"/>
                                  </p:stCondLst>
                                  <p:childTnLst>
                                    <p:set>
                                      <p:cBhvr>
                                        <p:cTn id="34" dur="1" fill="hold">
                                          <p:stCondLst>
                                            <p:cond delay="0"/>
                                          </p:stCondLst>
                                        </p:cTn>
                                        <p:tgtEl>
                                          <p:spTgt spid="9"/>
                                        </p:tgtEl>
                                        <p:attrNameLst>
                                          <p:attrName>style.visibility</p:attrName>
                                        </p:attrNameLst>
                                      </p:cBhvr>
                                      <p:to>
                                        <p:strVal val="visible"/>
                                      </p:to>
                                    </p:set>
                                    <p:animEffect transition="in" filter="fade">
                                      <p:cBhvr>
                                        <p:cTn id="35" dur="500"/>
                                        <p:tgtEl>
                                          <p:spTgt spid="9"/>
                                        </p:tgtEl>
                                      </p:cBhvr>
                                    </p:animEffect>
                                  </p:childTnLst>
                                </p:cTn>
                              </p:par>
                              <p:par>
                                <p:cTn id="41" presetID="42" presetClass="entr" presetSubtype="0" fill="hold" grpId="0" nodeType="withEffect">
                                  <p:stCondLst>
                                    <p:cond delay="5900"/>
                                  </p:stCondLst>
                                  <p:childTnLst>
                                    <p:set>
                                      <p:cBhvr>
                                        <p:cTn id="37" dur="1" fill="hold">
                                          <p:stCondLst>
                                            <p:cond delay="0"/>
                                          </p:stCondLst>
                                        </p:cTn>
                                        <p:tgtEl>
                                          <p:spTgt spid="10"/>
                                        </p:tgtEl>
                                        <p:attrNameLst>
                                          <p:attrName>style.visibility</p:attrName>
                                        </p:attrNameLst>
                                      </p:cBhvr>
                                      <p:to>
                                        <p:strVal val="visible"/>
                                      </p:to>
                                    </p:set>
                                    <p:animEffect transition="in" filter="fade">
                                      <p:cBhvr>
                                        <p:cTn id="38" dur="700"/>
                                        <p:tgtEl>
                                          <p:spTgt spid="10"/>
                                        </p:tgtEl>
                                      </p:cBhvr>
                                    </p:animEffect>
                                    <p:anim calcmode="lin" valueType="num">
                                      <p:cBhvr additive="base">
                                        <p:cTn id="39" dur="700" fill="hold"/>
                                        <p:tgtEl>
                                          <p:spTgt spid="10"/>
                                        </p:tgtEl>
                                        <p:attrNameLst>
                                          <p:attrName>ppt_x</p:attrName>
                                        </p:attrNameLst>
                                      </p:cBhvr>
                                      <p:tavLst>
                                        <p:tav tm="0">
                                          <p:val>
                                            <p:strVal val="#ppt_x"/>
                                          </p:val>
                                        </p:tav>
                                        <p:tav tm="100000">
                                          <p:val>
                                            <p:strVal val="#ppt_x"/>
                                          </p:val>
                                        </p:tav>
                                      </p:tavLst>
                                    </p:anim>
                                    <p:anim calcmode="lin" valueType="num">
                                      <p:cBhvr additive="base">
                                        <p:cTn id="40" dur="700" fill="hold"/>
                                        <p:tgtEl>
                                          <p:spTgt spid="10"/>
                                        </p:tgtEl>
                                        <p:attrNameLst>
                                          <p:attrName>ppt_y</p:attrName>
                                        </p:attrNameLst>
                                      </p:cBhvr>
                                      <p:tavLst>
                                        <p:tav tm="0">
                                          <p:val>
                                            <p:strVal val="#ppt_y+.06"/>
                                          </p:val>
                                        </p:tav>
                                        <p:tav tm="100000">
                                          <p:val>
                                            <p:strVal val="#ppt_y"/>
                                          </p:val>
                                        </p:tav>
                                      </p:tavLst>
                                    </p:anim>
                                  </p:childTnLst>
                                </p:cTn>
                              </p:par>
                              <p:par>
                                <p:cTn id="46" presetID="42" presetClass="entr" presetSubtype="0" fill="hold" grpId="0" nodeType="withEffect">
                                  <p:stCondLst>
                                    <p:cond delay="6250"/>
                                  </p:stCondLst>
                                  <p:childTnLst>
                                    <p:set>
                                      <p:cBhvr>
                                        <p:cTn id="42" dur="1" fill="hold">
                                          <p:stCondLst>
                                            <p:cond delay="0"/>
                                          </p:stCondLst>
                                        </p:cTn>
                                        <p:tgtEl>
                                          <p:spTgt spid="11"/>
                                        </p:tgtEl>
                                        <p:attrNameLst>
                                          <p:attrName>style.visibility</p:attrName>
                                        </p:attrNameLst>
                                      </p:cBhvr>
                                      <p:to>
                                        <p:strVal val="visible"/>
                                      </p:to>
                                    </p:set>
                                    <p:animEffect transition="in" filter="fade">
                                      <p:cBhvr>
                                        <p:cTn id="43" dur="700"/>
                                        <p:tgtEl>
                                          <p:spTgt spid="11"/>
                                        </p:tgtEl>
                                      </p:cBhvr>
                                    </p:animEffect>
                                    <p:anim calcmode="lin" valueType="num">
                                      <p:cBhvr additive="base">
                                        <p:cTn id="44" dur="700" fill="hold"/>
                                        <p:tgtEl>
                                          <p:spTgt spid="11"/>
                                        </p:tgtEl>
                                        <p:attrNameLst>
                                          <p:attrName>ppt_x</p:attrName>
                                        </p:attrNameLst>
                                      </p:cBhvr>
                                      <p:tavLst>
                                        <p:tav tm="0">
                                          <p:val>
                                            <p:strVal val="#ppt_x"/>
                                          </p:val>
                                        </p:tav>
                                        <p:tav tm="100000">
                                          <p:val>
                                            <p:strVal val="#ppt_x"/>
                                          </p:val>
                                        </p:tav>
                                      </p:tavLst>
                                    </p:anim>
                                    <p:anim calcmode="lin" valueType="num">
                                      <p:cBhvr additive="base">
                                        <p:cTn id="45" dur="700" fill="hold"/>
                                        <p:tgtEl>
                                          <p:spTgt spid="11"/>
                                        </p:tgtEl>
                                        <p:attrNameLst>
                                          <p:attrName>ppt_y</p:attrName>
                                        </p:attrNameLst>
                                      </p:cBhvr>
                                      <p:tavLst>
                                        <p:tav tm="0">
                                          <p:val>
                                            <p:strVal val="#ppt_y+.06"/>
                                          </p:val>
                                        </p:tav>
                                        <p:tav tm="100000">
                                          <p:val>
                                            <p:strVal val="#ppt_y"/>
                                          </p:val>
                                        </p:tav>
                                      </p:tavLst>
                                    </p:anim>
                                  </p:childTnLst>
                                </p:cTn>
                              </p:par>
                              <p:par>
                                <p:cTn id="51" presetID="42" presetClass="entr" presetSubtype="0" fill="hold" grpId="0" nodeType="withEffect">
                                  <p:stCondLst>
                                    <p:cond delay="6600"/>
                                  </p:stCondLst>
                                  <p:childTnLst>
                                    <p:set>
                                      <p:cBhvr>
                                        <p:cTn id="47" dur="1" fill="hold">
                                          <p:stCondLst>
                                            <p:cond delay="0"/>
                                          </p:stCondLst>
                                        </p:cTn>
                                        <p:tgtEl>
                                          <p:spTgt spid="12"/>
                                        </p:tgtEl>
                                        <p:attrNameLst>
                                          <p:attrName>style.visibility</p:attrName>
                                        </p:attrNameLst>
                                      </p:cBhvr>
                                      <p:to>
                                        <p:strVal val="visible"/>
                                      </p:to>
                                    </p:set>
                                    <p:animEffect transition="in" filter="fade">
                                      <p:cBhvr>
                                        <p:cTn id="48" dur="700"/>
                                        <p:tgtEl>
                                          <p:spTgt spid="12"/>
                                        </p:tgtEl>
                                      </p:cBhvr>
                                    </p:animEffect>
                                    <p:anim calcmode="lin" valueType="num">
                                      <p:cBhvr additive="base">
                                        <p:cTn id="49" dur="700" fill="hold"/>
                                        <p:tgtEl>
                                          <p:spTgt spid="12"/>
                                        </p:tgtEl>
                                        <p:attrNameLst>
                                          <p:attrName>ppt_x</p:attrName>
                                        </p:attrNameLst>
                                      </p:cBhvr>
                                      <p:tavLst>
                                        <p:tav tm="0">
                                          <p:val>
                                            <p:strVal val="#ppt_x"/>
                                          </p:val>
                                        </p:tav>
                                        <p:tav tm="100000">
                                          <p:val>
                                            <p:strVal val="#ppt_x"/>
                                          </p:val>
                                        </p:tav>
                                      </p:tavLst>
                                    </p:anim>
                                    <p:anim calcmode="lin" valueType="num">
                                      <p:cBhvr additive="base">
                                        <p:cTn id="50" dur="700" fill="hold"/>
                                        <p:tgtEl>
                                          <p:spTgt spid="12"/>
                                        </p:tgtEl>
                                        <p:attrNameLst>
                                          <p:attrName>ppt_y</p:attrName>
                                        </p:attrNameLst>
                                      </p:cBhvr>
                                      <p:tavLst>
                                        <p:tav tm="0">
                                          <p:val>
                                            <p:strVal val="#ppt_y+.06"/>
                                          </p:val>
                                        </p:tav>
                                        <p:tav tm="100000">
                                          <p:val>
                                            <p:strVal val="#ppt_y"/>
                                          </p:val>
                                        </p:tav>
                                      </p:tavLst>
                                    </p:anim>
                                  </p:childTnLst>
                                </p:cTn>
                              </p:par>
                              <p:par>
                                <p:cTn id="56" presetID="42" presetClass="entr" presetSubtype="0" fill="hold" grpId="0" nodeType="withEffect">
                                  <p:stCondLst>
                                    <p:cond delay="6950"/>
                                  </p:stCondLst>
                                  <p:childTnLst>
                                    <p:set>
                                      <p:cBhvr>
                                        <p:cTn id="52" dur="1" fill="hold">
                                          <p:stCondLst>
                                            <p:cond delay="0"/>
                                          </p:stCondLst>
                                        </p:cTn>
                                        <p:tgtEl>
                                          <p:spTgt spid="13"/>
                                        </p:tgtEl>
                                        <p:attrNameLst>
                                          <p:attrName>style.visibility</p:attrName>
                                        </p:attrNameLst>
                                      </p:cBhvr>
                                      <p:to>
                                        <p:strVal val="visible"/>
                                      </p:to>
                                    </p:set>
                                    <p:animEffect transition="in" filter="fade">
                                      <p:cBhvr>
                                        <p:cTn id="53" dur="700"/>
                                        <p:tgtEl>
                                          <p:spTgt spid="13"/>
                                        </p:tgtEl>
                                      </p:cBhvr>
                                    </p:animEffect>
                                    <p:anim calcmode="lin" valueType="num">
                                      <p:cBhvr additive="base">
                                        <p:cTn id="54" dur="700" fill="hold"/>
                                        <p:tgtEl>
                                          <p:spTgt spid="13"/>
                                        </p:tgtEl>
                                        <p:attrNameLst>
                                          <p:attrName>ppt_x</p:attrName>
                                        </p:attrNameLst>
                                      </p:cBhvr>
                                      <p:tavLst>
                                        <p:tav tm="0">
                                          <p:val>
                                            <p:strVal val="#ppt_x"/>
                                          </p:val>
                                        </p:tav>
                                        <p:tav tm="100000">
                                          <p:val>
                                            <p:strVal val="#ppt_x"/>
                                          </p:val>
                                        </p:tav>
                                      </p:tavLst>
                                    </p:anim>
                                    <p:anim calcmode="lin" valueType="num">
                                      <p:cBhvr additive="base">
                                        <p:cTn id="55" dur="700" fill="hold"/>
                                        <p:tgtEl>
                                          <p:spTgt spid="13"/>
                                        </p:tgtEl>
                                        <p:attrNameLst>
                                          <p:attrName>ppt_y</p:attrName>
                                        </p:attrNameLst>
                                      </p:cBhvr>
                                      <p:tavLst>
                                        <p:tav tm="0">
                                          <p:val>
                                            <p:strVal val="#ppt_y+.06"/>
                                          </p:val>
                                        </p:tav>
                                        <p:tav tm="100000">
                                          <p:val>
                                            <p:strVal val="#ppt_y"/>
                                          </p:val>
                                        </p:tav>
                                      </p:tavLst>
                                    </p:anim>
                                  </p:childTnLst>
                                </p:cTn>
                              </p:par>
                              <p:par>
                                <p:cTn id="61" presetID="42" presetClass="entr" presetSubtype="0" fill="hold" grpId="0" nodeType="withEffect">
                                  <p:stCondLst>
                                    <p:cond delay="7300"/>
                                  </p:stCondLst>
                                  <p:childTnLst>
                                    <p:set>
                                      <p:cBhvr>
                                        <p:cTn id="57" dur="1" fill="hold">
                                          <p:stCondLst>
                                            <p:cond delay="0"/>
                                          </p:stCondLst>
                                        </p:cTn>
                                        <p:tgtEl>
                                          <p:spTgt spid="14"/>
                                        </p:tgtEl>
                                        <p:attrNameLst>
                                          <p:attrName>style.visibility</p:attrName>
                                        </p:attrNameLst>
                                      </p:cBhvr>
                                      <p:to>
                                        <p:strVal val="visible"/>
                                      </p:to>
                                    </p:set>
                                    <p:animEffect transition="in" filter="fade">
                                      <p:cBhvr>
                                        <p:cTn id="58" dur="700"/>
                                        <p:tgtEl>
                                          <p:spTgt spid="14"/>
                                        </p:tgtEl>
                                      </p:cBhvr>
                                    </p:animEffect>
                                    <p:anim calcmode="lin" valueType="num">
                                      <p:cBhvr additive="base">
                                        <p:cTn id="59" dur="700" fill="hold"/>
                                        <p:tgtEl>
                                          <p:spTgt spid="14"/>
                                        </p:tgtEl>
                                        <p:attrNameLst>
                                          <p:attrName>ppt_x</p:attrName>
                                        </p:attrNameLst>
                                      </p:cBhvr>
                                      <p:tavLst>
                                        <p:tav tm="0">
                                          <p:val>
                                            <p:strVal val="#ppt_x"/>
                                          </p:val>
                                        </p:tav>
                                        <p:tav tm="100000">
                                          <p:val>
                                            <p:strVal val="#ppt_x"/>
                                          </p:val>
                                        </p:tav>
                                      </p:tavLst>
                                    </p:anim>
                                    <p:anim calcmode="lin" valueType="num">
                                      <p:cBhvr additive="base">
                                        <p:cTn id="60" dur="700" fill="hold"/>
                                        <p:tgtEl>
                                          <p:spTgt spid="14"/>
                                        </p:tgtEl>
                                        <p:attrNameLst>
                                          <p:attrName>ppt_y</p:attrName>
                                        </p:attrNameLst>
                                      </p:cBhvr>
                                      <p:tavLst>
                                        <p:tav tm="0">
                                          <p:val>
                                            <p:strVal val="#ppt_y+.06"/>
                                          </p:val>
                                        </p:tav>
                                        <p:tav tm="100000">
                                          <p:val>
                                            <p:strVal val="#ppt_y"/>
                                          </p:val>
                                        </p:tav>
                                      </p:tavLst>
                                    </p:anim>
                                  </p:childTnLst>
                                </p:cTn>
                              </p:par>
                              <p:par>
                                <p:cTn id="66" presetID="42" presetClass="entr" presetSubtype="0" fill="hold" grpId="0" nodeType="withEffect">
                                  <p:stCondLst>
                                    <p:cond delay="7650"/>
                                  </p:stCondLst>
                                  <p:childTnLst>
                                    <p:set>
                                      <p:cBhvr>
                                        <p:cTn id="62" dur="1" fill="hold">
                                          <p:stCondLst>
                                            <p:cond delay="0"/>
                                          </p:stCondLst>
                                        </p:cTn>
                                        <p:tgtEl>
                                          <p:spTgt spid="15"/>
                                        </p:tgtEl>
                                        <p:attrNameLst>
                                          <p:attrName>style.visibility</p:attrName>
                                        </p:attrNameLst>
                                      </p:cBhvr>
                                      <p:to>
                                        <p:strVal val="visible"/>
                                      </p:to>
                                    </p:set>
                                    <p:animEffect transition="in" filter="fade">
                                      <p:cBhvr>
                                        <p:cTn id="63" dur="700"/>
                                        <p:tgtEl>
                                          <p:spTgt spid="15"/>
                                        </p:tgtEl>
                                      </p:cBhvr>
                                    </p:animEffect>
                                    <p:anim calcmode="lin" valueType="num">
                                      <p:cBhvr additive="base">
                                        <p:cTn id="64" dur="700" fill="hold"/>
                                        <p:tgtEl>
                                          <p:spTgt spid="15"/>
                                        </p:tgtEl>
                                        <p:attrNameLst>
                                          <p:attrName>ppt_x</p:attrName>
                                        </p:attrNameLst>
                                      </p:cBhvr>
                                      <p:tavLst>
                                        <p:tav tm="0">
                                          <p:val>
                                            <p:strVal val="#ppt_x"/>
                                          </p:val>
                                        </p:tav>
                                        <p:tav tm="100000">
                                          <p:val>
                                            <p:strVal val="#ppt_x"/>
                                          </p:val>
                                        </p:tav>
                                      </p:tavLst>
                                    </p:anim>
                                    <p:anim calcmode="lin" valueType="num">
                                      <p:cBhvr additive="base">
                                        <p:cTn id="65" dur="700" fill="hold"/>
                                        <p:tgtEl>
                                          <p:spTgt spid="15"/>
                                        </p:tgtEl>
                                        <p:attrNameLst>
                                          <p:attrName>ppt_y</p:attrName>
                                        </p:attrNameLst>
                                      </p:cBhvr>
                                      <p:tavLst>
                                        <p:tav tm="0">
                                          <p:val>
                                            <p:strVal val="#ppt_y+.06"/>
                                          </p:val>
                                        </p:tav>
                                        <p:tav tm="100000">
                                          <p:val>
                                            <p:strVal val="#ppt_y"/>
                                          </p:val>
                                        </p:tav>
                                      </p:tavLst>
                                    </p:anim>
                                  </p:childTnLst>
                                </p:cTn>
                              </p:par>
                              <p:par>
                                <p:cTn id="71" presetID="53" presetClass="entr" presetSubtype="16" fill="hold" grpId="0" nodeType="withEffect">
                                  <p:stCondLst>
                                    <p:cond delay="8300"/>
                                  </p:stCondLst>
                                  <p:childTnLst>
                                    <p:set>
                                      <p:cBhvr>
                                        <p:cTn id="67" dur="1" fill="hold">
                                          <p:stCondLst>
                                            <p:cond delay="0"/>
                                          </p:stCondLst>
                                        </p:cTn>
                                        <p:tgtEl>
                                          <p:spTgt spid="16"/>
                                        </p:tgtEl>
                                        <p:attrNameLst>
                                          <p:attrName>style.visibility</p:attrName>
                                        </p:attrNameLst>
                                      </p:cBhvr>
                                      <p:to>
                                        <p:strVal val="visible"/>
                                      </p:to>
                                    </p:set>
                                    <p:anim calcmode="lin" valueType="num">
                                      <p:cBhvr additive="base">
                                        <p:cTn id="68" dur="700" fill="hold"/>
                                        <p:tgtEl>
                                          <p:spTgt spid="16"/>
                                        </p:tgtEl>
                                        <p:attrNameLst>
                                          <p:attrName>ppt_w</p:attrName>
                                        </p:attrNameLst>
                                      </p:cBhvr>
                                      <p:tavLst>
                                        <p:tav tm="0">
                                          <p:val>
                                            <p:strVal val="0"/>
                                          </p:val>
                                        </p:tav>
                                        <p:tav tm="100000">
                                          <p:val>
                                            <p:strVal val="#ppt_w"/>
                                          </p:val>
                                        </p:tav>
                                      </p:tavLst>
                                    </p:anim>
                                    <p:anim calcmode="lin" valueType="num">
                                      <p:cBhvr additive="base">
                                        <p:cTn id="69" dur="700" fill="hold"/>
                                        <p:tgtEl>
                                          <p:spTgt spid="16"/>
                                        </p:tgtEl>
                                        <p:attrNameLst>
                                          <p:attrName>ppt_h</p:attrName>
                                        </p:attrNameLst>
                                      </p:cBhvr>
                                      <p:tavLst>
                                        <p:tav tm="0">
                                          <p:val>
                                            <p:strVal val="0"/>
                                          </p:val>
                                        </p:tav>
                                        <p:tav tm="100000">
                                          <p:val>
                                            <p:strVal val="#ppt_h"/>
                                          </p:val>
                                        </p:tav>
                                      </p:tavLst>
                                    </p:anim>
                                    <p:animEffect transition="in" filter="fade">
                                      <p:cBhvr>
                                        <p:cTn id="70" dur="700"/>
                                        <p:tgtEl>
                                          <p:spTgt spid="16"/>
                                        </p:tgtEl>
                                      </p:cBhvr>
                                    </p:animEffect>
                                  </p:childTnLst>
                                </p:cTn>
                              </p:par>
                              <p:par>
                                <p:cTn id="73" presetID="6" presetClass="emph" presetSubtype="0" fill="hold" grpId="1" nodeType="withEffect" autoRev="1" repeatCount="indefinite">
                                  <p:stCondLst>
                                    <p:cond delay="9100"/>
                                  </p:stCondLst>
                                  <p:childTnLst>
                                    <p:animScale>
                                      <p:cBhvr>
                                        <p:cTn id="72" dur="1000" fill="hold"/>
                                        <p:tgtEl>
                                          <p:spTgt spid="16"/>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2" grpId="1" animBg="1"/>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6" grpId="1" animBg="1"/>
    </p:bldLst>
  </p:timing>
</p:sld>
</file>

<file path=ppt/theme/theme1.xml><?xml version="1.0" encoding="utf-8"?>
<a:theme xmlns:a="http://schemas.openxmlformats.org/drawingml/2006/main" name="War Dogs Directors Cut">
  <a:themeElements>
    <a:clrScheme name="War Dogs Directors Cut">
      <a:dk1>
        <a:srgbClr val="0D0D0F"/>
      </a:dk1>
      <a:lt1>
        <a:srgbClr val="FFFFFF"/>
      </a:lt1>
      <a:dk2>
        <a:srgbClr val="0B0B0C"/>
      </a:dk2>
      <a:lt2>
        <a:srgbClr val="ECE8E1"/>
      </a:lt2>
      <a:accent1>
        <a:srgbClr val="FFD84D"/>
      </a:accent1>
      <a:accent2>
        <a:srgbClr val="E5383B"/>
      </a:accent2>
      <a:accent3>
        <a:srgbClr val="7FB7BE"/>
      </a:accent3>
      <a:accent4>
        <a:srgbClr val="A3A3A3"/>
      </a:accent4>
      <a:accent5>
        <a:srgbClr val="2A2C31"/>
      </a:accent5>
      <a:accent6>
        <a:srgbClr val="C9B98F"/>
      </a:accent6>
      <a:hlink>
        <a:srgbClr val="FFD84D"/>
      </a:hlink>
      <a:folHlink>
        <a:srgbClr val="7FB7BE"/>
      </a:folHlink>
    </a:clrScheme>
    <a:fontScheme name="War Dogs Directors Cut">
      <a:majorFont>
        <a:latin typeface="Bookman Old Style"/>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War Dogs: A Criminologist’s Director’s Cut – Group 6</dc:title>
  <dc:subject>MCCJ 527 Organized Crime and Corruption</dc:subject>
  <dc:creator>PptxGenJS</dc:creator>
  <cp:lastModifiedBy>PptxGenJS</cp:lastModifiedBy>
  <cp:revision>1</cp:revision>
  <dcterms:created xsi:type="dcterms:W3CDTF">2026-10-30T21:46:32Z</dcterms:created>
  <dcterms:modified xsi:type="dcterms:W3CDTF">2026-10-30T21:46:32Z</dcterms:modified>
</cp:coreProperties>
</file>