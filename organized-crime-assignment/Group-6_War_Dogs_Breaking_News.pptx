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B8C4D9"/>
                </a:solidFill>
                <a:latin typeface="Arial"/>
              </a:defRPr>
            </a:pPr>
            <a:r>
              <a:rPr sz="1300" b="0" i="0" u="none" strike="noStrike">
                <a:solidFill>
                  <a:srgbClr val="B8C4D9"/>
                </a:solidFill>
                <a:latin typeface="Arial"/>
              </a:rPr>
              <a:t>Model fit, out of 5 (group’s assessment)</a:t>
            </a:r>
          </a:p>
        </c:rich>
      </c:tx>
      <c:layout/>
      <c:overlay val="0"/>
    </c:title>
    <c:autoTitleDeleted val="0"/>
    <c:plotArea>
      <c:layout/>
      <c:barChart>
        <c:barDir val="bar"/>
        <c:grouping val="clustered"/>
        <c:varyColors val="0"/>
        <c:ser>
          <c:idx val="0"/>
          <c:order val="0"/>
          <c:tx>
            <c:strRef>
              <c:f>Sheet1!$B$1</c:f>
              <c:strCache>
                <c:ptCount val="1"/>
                <c:pt idx="0">
                  <c:v>Fit (out of 5)</c:v>
                </c:pt>
              </c:strCache>
            </c:strRef>
          </c:tx>
          <c:spPr>
            <a:solidFill>
              <a:srgbClr val="F2B705"/>
            </a:solidFill>
            <a:effectLst/>
          </c:spPr>
          <c:invertIfNegative val="0"/>
          <c:dLbls>
            <c:numFmt formatCode="#,##0" sourceLinked="0"/>
            <c:txPr>
              <a:bodyPr/>
              <a:lstStyle/>
              <a:p>
                <a:pPr>
                  <a:defRPr b="1" i="0" strike="noStrike" sz="14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Enterprise (Smith, 1980)</c:v>
                  </c:pt>
                  <c:pt idx="1">
                    <c:v>Network (Morselli, 2009)</c:v>
                  </c:pt>
                  <c:pt idx="2">
                    <c:v>Patron–client (Albini, 1971)</c:v>
                  </c:pt>
                  <c:pt idx="3">
                    <c:v>Hierarchical (Cressey, 1969)</c:v>
                  </c:pt>
                </c:lvl>
              </c:multiLvlStrCache>
            </c:multiLvlStrRef>
          </c:cat>
          <c:val>
            <c:numRef>
              <c:f>Sheet1!$B$2:$B$5</c:f>
              <c:numCache>
                <c:formatCode>General</c:formatCode>
                <c:ptCount val="4"/>
                <c:pt idx="0">
                  <c:v>5</c:v>
                </c:pt>
                <c:pt idx="1">
                  <c:v>5</c:v>
                </c:pt>
                <c:pt idx="2">
                  <c:v>3</c:v>
                </c:pt>
                <c:pt idx="3">
                  <c:v>1</c:v>
                </c:pt>
              </c:numCache>
            </c:numRef>
          </c:val>
        </c:ser>
        <c:dLbls>
          <c:numFmt formatCode="#,##0" sourceLinked="0"/>
          <c:txPr>
            <a:bodyPr/>
            <a:lstStyle/>
            <a:p>
              <a:pPr>
                <a:defRPr b="1" i="0" strike="noStrike" sz="1400" u="none">
                  <a:solidFill>
                    <a:srgbClr val="FFFFF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[Stand straight, like a news anchor. Serious voice.] Good evening, and welcome to the Criminology Desk. Breaking news tonight: two young men from Miami, still in their twenties, have won a contract worth 298 million dollars to arm the Afghan National Army. Tonight we ask: how did they do it, and is it organized crime?
[Normal voice.] Good morning, everyone. We are Group 6, and our film is War Dogs, from 2016. We are presenting it as a news broadcast. Each of us is a reporter covering one part of the story, and at every step our "criminology desk" explains the concepts from our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Here is tonight's rundown. [Point down the list.] First, I bring you the headlines. Then Sweety reports from Miami on who these men are and how they won. Jakaria reports live from Albania, where the ammunition was. Imran has our exclusive on the boxes and leads the expert panel. Akif brings the court report and our analysis. And Nishit closes with a fact check and the final word.
[Right panel.] About the film: War Dogs, 2016, directed by Todd Phillips, starring Jonah Hill and Miles Teller, with Bradley Cooper. It is a crime comedy, but it is based on Guy Lawson's true reporting for Rolling Stone and his 2015 book. Sweety, over to you in Miami.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Thanks, Nabin. I'm in Miami Beach, where this story begins. [Left card.] David Packouz: a massage therapist, broke, with a baby on the way. [Second card.] Efraim Diveroli: David's childhood friend, who runs a small company called AEY and bids for military contracts online.
[Analysis.] So why would an ordinary young man join an arms business? Merton's strain theory: society sets the goal of wealth, David has no legal way to reach it, so he "innovates". Messner and Rosenfeld's institutional anomie: money starts to matter more than family; he even hides the job from his partner. And Sutherland's differential association: crime is learned, and David learns both the methods and the excuses from Efraim.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So how did two young men beat the giant defence companies? Here is our explainer. [Trace the flow.] The Pentagon posts its tenders publicly online. AEY bids on the small orders the giants ignore. It wins by underbidding. And it delivers, whatever it takes. In one deal, a shipment of pistols for the Iraqi police got stuck in Jordan, so the two of them drove it into Iraq themselves.
[Bottom cards.] Our criminology desk sees two ideas here. Rational choice: a calculated gamble, high reward, risk worth taking, and success encourages the next gamble. And Smith's enterprise model: legal and illegal business sit on one spectrum, shaped by the same market. AEY started legal and drifted into the grey. Jakaria, you're live in Tirana.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Thanks, Sweety. I'm reporting from Tirana, Albania. [Point to the big number.] Somewhere here, in old state depots, sit about one hundred million rounds of ammunition: exactly what AEY needs for its giant Afghan contract.
The man who can reach it is Henry Girard, an arms dealer on a terrorist watch list. He cannot sell to the US government himself, so he needs a clean American company to front the deal.
[Analysis.] This is Morselli's network model: power belongs to brokers who connect worlds that cannot reach each other. It is also Albini's patron–client model: Henry offers access in return for a share. [Bottom note.] Henry is a composite character, inspired by a real Swiss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And our investigation follows the money. [Trace the chain.] The US Army pays AEY. AEY pays Henry. Henry pays the middlemen and officials who control the state depots. And at every link, someone takes a cut.
[Formula.] Klitgaard's formula explains why corruption thrives here: corruption equals monopoly, plus discretion, minus accountability. Henry and the depot officials hold a monopoly on access. Officials and fixers have wide discretion. And in wartime, accountability is weak. Transparency International would call it the abuse of entrusted power for private gain.
[Related news.] Real context the film leaves out: in March 2008, an explosion at the Gërdec ammunition depot near Tirana killed 26 people, and senior officials were charged. Back to the studio, Imran.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Thanks, Jakaria. Tonight's exclusive: the boxes. [Left.] The ammunition turned out to be made in China, and Chinese ammunition was banned under a US arms embargo and under the contract itself. [Arrow.] So instead of reporting it, AEY had the rounds repacked into plain cardboard boxes, removing the Chinese markings so they could pass as Albanian. This is documented in the real case.
[Bottom.] Sutherland called this white-collar crime: crime by respectable people in the course of their work. [Soundbites.] And how do they justify it? Sykes and Matza's techniques of neutralization. "The troops still get bullets that work": denial of injury. "The government buys from shady sources too": condemning the condemners. "We just filled the order": denial of responsibility. These are our paraphrases.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Now, to our expert panel, and tonight's big question: is AEY organized crime? [Left.] Our first expert says yes. Under Article 2 of the UN Convention against Transnational Organized Crime, AEY is a structured group of three or more people, it existed over time, it committed serious crimes like fraud, it did so for money, and it crossed five countries.
[Right.] Our second expert says no. By Abadinsky's classic attributes, AEY has no hierarchy, no exclusive membership, no code or rituals, and it collapsed as soon as its leaders were charged. It is not the mafia.
[Bottom.] The panel's verdict: both are right. It is organized crime by law, but not by stereotype. Akif has the court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Thanks, Imran. Here's how it ended. [Trace the timeline.] 2007: AEY wins the 298-million-dollar Army contract. 2008: a press investigation reveals AEY is supplying decades-old Chinese ammunition. That same year, the Army suspends AEY and the founders are indicted. And in 2011, the sentences: Efraim gets four years in prison; David, who cooperated, gets seven months of house arrest.
[Bottom cards.] So how do we classify this crime? It is organized white-collar crime, in Sutherland's sense: committed by businessmen through their business. But it is also state-corporate crime, as Kramer and colleagues describe it: the government outsourced war supplies to the lowest bidder and checked too little. The system opened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Now our studio analysis: which model of organized crime best explains AEY? [Point to the bars.] We rated each model out of five. Smith's enterprise model scores five: AEY is a business responding to market demand, sliding from legal to illegal. Morselli's network model also scores five: power sits with brokers like Henry, linking the Pentagon to Balkan stockpiles. Albini's patron–client model scores three: Henry trades access for a share, but there is no lasting patron. And Cressey's hierarchical, mafia-style model scores just one: no ranks, no code, no family.
These ratings are our group's assessment. Nishit, what does the fact check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Thanks, Akif. Time for the fact check: how accurate is the film? [Go down the list.] The 298-million-dollar contract: true. The repacking of Chinese ammunition: true. The sentences: true. Henry Girard: a composite, based on a real broker. The idea that this was a wild adventure: misleading. The comedy makes the money look glamorous and puts the blame on two young men rather than the system. And who got hurt: largely left out. Soldiers and taxpayers barely appear.
So our overall verdict: the film's strength is that it breaks the mafia stereotype and shows organized crime as a business. Its weakness is that it entertains more than it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And now, the final word. [Read slowly.] They were not a mafia family. They were a business, and the system let them in.
Our answer to tonight's question: AEY was organized crime under the UN definition, but not the mafia. It was organized white-collar crime, best explained by the enterprise and network models, and made possible by weak state oversight.
And the lesson for Bangladesh: our own large public projects also depend on contractors and middlemen. Checking who really owns a company and where its goods come from is crime prevention.
That's all from the Criminology Desk. On behalf of Group 6, thank you.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TUDIO-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UDI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272784"/>
            <a:ext cx="12191695" cy="36576"/>
          </a:xfrm>
          <a:prstGeom prst="rect">
            <a:avLst/>
          </a:prstGeom>
          <a:solidFill>
            <a:srgbClr val="D7191F"/>
          </a:solidFill>
          <a:ln/>
        </p:spPr>
      </p:sp>
      <p:sp>
        <p:nvSpPr>
          <p:cNvPr id="3" name="Shape 1"/>
          <p:cNvSpPr/>
          <p:nvPr/>
        </p:nvSpPr>
        <p:spPr>
          <a:xfrm>
            <a:off x="0" y="6309360"/>
            <a:ext cx="12191695" cy="548640"/>
          </a:xfrm>
          <a:prstGeom prst="rect">
            <a:avLst/>
          </a:prstGeom>
          <a:solidFill>
            <a:srgbClr val="07101F"/>
          </a:solidFill>
          <a:ln/>
        </p:spPr>
      </p:sp>
      <p:sp>
        <p:nvSpPr>
          <p:cNvPr id="4" name="Shape 2"/>
          <p:cNvSpPr/>
          <p:nvPr/>
        </p:nvSpPr>
        <p:spPr>
          <a:xfrm>
            <a:off x="0" y="6309360"/>
            <a:ext cx="1417320" cy="548640"/>
          </a:xfrm>
          <a:prstGeom prst="rect">
            <a:avLst/>
          </a:prstGeom>
          <a:solidFill>
            <a:srgbClr val="D7191F"/>
          </a:solidFill>
          <a:ln/>
        </p:spPr>
      </p:sp>
      <p:sp>
        <p:nvSpPr>
          <p:cNvPr id="5" name="Text 3"/>
          <p:cNvSpPr/>
          <p:nvPr/>
        </p:nvSpPr>
        <p:spPr>
          <a:xfrm>
            <a:off x="0" y="6309360"/>
            <a:ext cx="1417320" cy="54864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Arial" pitchFamily="34" charset="0"/>
                <a:ea typeface="Arial" pitchFamily="34" charset="-122"/>
                <a:cs typeface="Arial" pitchFamily="34" charset="-120"/>
              </a:rPr>
              <a:t>G6 NEWS</a:t>
            </a:r>
            <a:endParaRPr lang="en-US" sz="1400" dirty="0"/>
          </a:p>
        </p:txBody>
      </p:sp>
      <p:sp>
        <p:nvSpPr>
          <p:cNvPr id="6" name="Text 4"/>
          <p:cNvSpPr/>
          <p:nvPr/>
        </p:nvSpPr>
        <p:spPr>
          <a:xfrm>
            <a:off x="7071055" y="329184"/>
            <a:ext cx="4572000" cy="292608"/>
          </a:xfrm>
          <a:prstGeom prst="rect">
            <a:avLst/>
          </a:prstGeom>
          <a:noFill/>
          <a:ln/>
        </p:spPr>
        <p:txBody>
          <a:bodyPr wrap="square" lIns="0" tIns="0" rIns="0" bIns="0" rtlCol="0" anchor="ctr"/>
          <a:lstStyle/>
          <a:p>
            <a:pPr algn="r" indent="0" marL="0">
              <a:buNone/>
            </a:pPr>
            <a:r>
              <a:rPr lang="en-US" sz="1100" b="1" spc="200" kern="0" dirty="0">
                <a:solidFill>
                  <a:srgbClr val="B8C4D9"/>
                </a:solidFill>
                <a:latin typeface="Arial" pitchFamily="34" charset="0"/>
                <a:ea typeface="Arial" pitchFamily="34" charset="-122"/>
                <a:cs typeface="Arial" pitchFamily="34" charset="-120"/>
              </a:rPr>
              <a:t>G6 NEWS  ·  THE CRIMINOLOGY DESK</a:t>
            </a:r>
            <a:endParaRPr lang="en-US" sz="11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THE CRIMINOLOGY DESK  ·  MCCJ 527</a:t>
            </a:r>
            <a:endParaRPr lang="en-US" sz="1250" dirty="0"/>
          </a:p>
        </p:txBody>
      </p:sp>
      <p:sp>
        <p:nvSpPr>
          <p:cNvPr id="6" name="lower third accent"/>
          <p:cNvSpPr/>
          <p:nvPr/>
        </p:nvSpPr>
        <p:spPr>
          <a:xfrm>
            <a:off x="548640" y="5559552"/>
            <a:ext cx="109728" cy="585216"/>
          </a:xfrm>
          <a:prstGeom prst="rect">
            <a:avLst/>
          </a:prstGeom>
          <a:solidFill>
            <a:srgbClr val="D7191F"/>
          </a:solidFill>
          <a:ln/>
        </p:spPr>
      </p:sp>
      <p:sp>
        <p:nvSpPr>
          <p:cNvPr id="7" name="lower third"/>
          <p:cNvSpPr/>
          <p:nvPr/>
        </p:nvSpPr>
        <p:spPr>
          <a:xfrm>
            <a:off x="658368" y="5559552"/>
            <a:ext cx="4937760" cy="585216"/>
          </a:xfrm>
          <a:prstGeom prst="rect">
            <a:avLst/>
          </a:prstGeom>
          <a:solidFill>
            <a:srgbClr val="FFFFFF"/>
          </a:solidFill>
          <a:ln/>
        </p:spPr>
      </p:sp>
      <p:sp>
        <p:nvSpPr>
          <p:cNvPr id="8" name="Text 6"/>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MINHAZ AHAMED KHAN NABIN</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ANCHOR  ·  THE CRIMINOLOGY DESK</a:t>
            </a:r>
            <a:endParaRPr lang="en-US" sz="1400" dirty="0"/>
          </a:p>
        </p:txBody>
      </p:sp>
      <p:sp>
        <p:nvSpPr>
          <p:cNvPr id="9" name="Text 7"/>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MCCJ 527 ORGANIZED CRIME AND CORRUPTION  •  GROUP 6  •  TONIGHT: WAR DOGS (2016)</a:t>
            </a:r>
            <a:endParaRPr lang="en-US" sz="1150" dirty="0"/>
          </a:p>
        </p:txBody>
      </p:sp>
      <p:pic>
        <p:nvPicPr>
          <p:cNvPr id="10" name="globe watermark" descr="preencoded.png">    </p:cNvPr>
          <p:cNvPicPr>
            <a:picLocks noChangeAspect="1"/>
          </p:cNvPicPr>
          <p:nvPr/>
        </p:nvPicPr>
        <p:blipFill>
          <a:blip r:embed="rId1"/>
          <a:stretch>
            <a:fillRect/>
          </a:stretch>
        </p:blipFill>
        <p:spPr>
          <a:xfrm>
            <a:off x="8138160" y="868680"/>
            <a:ext cx="3840480" cy="3840480"/>
          </a:xfrm>
          <a:prstGeom prst="rect">
            <a:avLst/>
          </a:prstGeom>
        </p:spPr>
      </p:pic>
      <p:sp>
        <p:nvSpPr>
          <p:cNvPr id="11" name="breaking band"/>
          <p:cNvSpPr/>
          <p:nvPr/>
        </p:nvSpPr>
        <p:spPr>
          <a:xfrm>
            <a:off x="548640" y="1234440"/>
            <a:ext cx="3429000" cy="621792"/>
          </a:xfrm>
          <a:prstGeom prst="rect">
            <a:avLst/>
          </a:prstGeom>
          <a:solidFill>
            <a:srgbClr val="D7191F"/>
          </a:solidFill>
          <a:ln/>
        </p:spPr>
      </p:sp>
      <p:sp>
        <p:nvSpPr>
          <p:cNvPr id="12" name="Text 9"/>
          <p:cNvSpPr txBox="1"/>
          <p:nvPr/>
        </p:nvSpPr>
        <p:spPr>
          <a:xfrm>
            <a:off x="548640" y="1234440"/>
            <a:ext cx="3429000" cy="621792"/>
          </a:xfrm>
          <a:prstGeom prst="rect">
            <a:avLst/>
          </a:prstGeom>
          <a:noFill/>
          <a:ln/>
        </p:spPr>
        <p:txBody>
          <a:bodyPr wrap="square" lIns="0" tIns="0" rIns="0" bIns="0" rtlCol="0" anchor="ctr"/>
          <a:lstStyle/>
          <a:p>
            <a:pPr algn="ctr" indent="0" marL="0">
              <a:buNone/>
            </a:pPr>
            <a:r>
              <a:rPr lang="en-US" sz="2600" b="1" spc="300" kern="0" dirty="0">
                <a:solidFill>
                  <a:srgbClr val="FFFFFF"/>
                </a:solidFill>
                <a:latin typeface="Arial" pitchFamily="34" charset="0"/>
                <a:ea typeface="Arial" pitchFamily="34" charset="-122"/>
                <a:cs typeface="Arial" pitchFamily="34" charset="-120"/>
              </a:rPr>
              <a:t>BREAKING NEWS</a:t>
            </a:r>
            <a:endParaRPr lang="en-US" sz="2600" dirty="0"/>
          </a:p>
        </p:txBody>
      </p:sp>
      <p:sp>
        <p:nvSpPr>
          <p:cNvPr id="13" name="Text 10"/>
          <p:cNvSpPr txBox="1"/>
          <p:nvPr/>
        </p:nvSpPr>
        <p:spPr>
          <a:xfrm>
            <a:off x="548640" y="1965960"/>
            <a:ext cx="9692640" cy="1783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Two Miami twenty-somethings won $298M to arm Afghanistan’s army</a:t>
            </a:r>
            <a:endParaRPr lang="en-US" sz="4000" dirty="0"/>
          </a:p>
        </p:txBody>
      </p:sp>
      <p:sp>
        <p:nvSpPr>
          <p:cNvPr id="14" name="Text 11"/>
          <p:cNvSpPr txBox="1"/>
          <p:nvPr/>
        </p:nvSpPr>
        <p:spPr>
          <a:xfrm>
            <a:off x="548640" y="3886200"/>
            <a:ext cx="9144000" cy="457200"/>
          </a:xfrm>
          <a:prstGeom prst="rect">
            <a:avLst/>
          </a:prstGeom>
          <a:noFill/>
          <a:ln/>
        </p:spPr>
        <p:txBody>
          <a:bodyPr wrap="square" lIns="0" tIns="0" rIns="0" bIns="0" rtlCol="0" anchor="ctr"/>
          <a:lstStyle/>
          <a:p>
            <a:pPr indent="0" marL="0">
              <a:buNone/>
            </a:pPr>
            <a:r>
              <a:rPr lang="en-US" sz="2100" b="1" dirty="0">
                <a:solidFill>
                  <a:srgbClr val="F2B705"/>
                </a:solidFill>
              </a:rPr>
              <a:t>Tonight: </a:t>
            </a:r>
            <a:pPr indent="0" marL="0">
              <a:buNone/>
            </a:pPr>
            <a:r>
              <a:rPr lang="en-US" sz="2100" dirty="0">
                <a:solidFill>
                  <a:srgbClr val="DCE4F2"/>
                </a:solidFill>
              </a:rPr>
              <a:t>War Dogs (2016). A business deal, or organized crime?</a:t>
            </a:r>
            <a:endParaRPr lang="en-US" sz="2100" dirty="0"/>
          </a:p>
        </p:txBody>
      </p:sp>
      <p:sp>
        <p:nvSpPr>
          <p:cNvPr id="15" name="Text 12"/>
          <p:cNvSpPr txBox="1"/>
          <p:nvPr/>
        </p:nvSpPr>
        <p:spPr>
          <a:xfrm>
            <a:off x="548640" y="4617720"/>
            <a:ext cx="10972800" cy="320040"/>
          </a:xfrm>
          <a:prstGeom prst="rect">
            <a:avLst/>
          </a:prstGeom>
          <a:noFill/>
          <a:ln/>
        </p:spPr>
        <p:txBody>
          <a:bodyPr wrap="square" lIns="0" tIns="0" rIns="0" bIns="0" rtlCol="0" anchor="ctr"/>
          <a:lstStyle/>
          <a:p>
            <a:pPr indent="0" marL="0">
              <a:buNone/>
            </a:pPr>
            <a:r>
              <a:rPr lang="en-US" sz="1300" dirty="0">
                <a:solidFill>
                  <a:srgbClr val="B8C4D9"/>
                </a:solidFill>
              </a:rPr>
              <a:t>Group 6  ·  Department of Criminology, University of Dhaka  ·  Submitted to Md. Rezaul Karim Shohag, Assistant Professor</a:t>
            </a:r>
            <a:endParaRPr lang="en-US" sz="13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TONIGHT’S RUNDOWN</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Six reporters, one story, one question</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MINHAZ AHAMED KHAN NABIN</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ANCHOR  ·  THE CRIMINOLOGY DESK</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COMING UP: MIAMI  •  TIRANA  •  THE BOXES  •  THE COURTROOM  •  FILM: WAR DOGS (2016), DIR. TODD PHILLIPS</a:t>
            </a:r>
            <a:endParaRPr lang="en-US" sz="1150" dirty="0"/>
          </a:p>
        </p:txBody>
      </p:sp>
      <p:sp>
        <p:nvSpPr>
          <p:cNvPr id="11" name="rundown"/>
          <p:cNvSpPr/>
          <p:nvPr/>
        </p:nvSpPr>
        <p:spPr>
          <a:xfrm>
            <a:off x="548640" y="1737360"/>
            <a:ext cx="7086600" cy="3703320"/>
          </a:xfrm>
          <a:prstGeom prst="rect">
            <a:avLst/>
          </a:prstGeom>
          <a:solidFill>
            <a:srgbClr val="102347"/>
          </a:solidFill>
          <a:ln w="12700">
            <a:solidFill>
              <a:srgbClr val="28406E"/>
            </a:solidFill>
            <a:prstDash val="solid"/>
          </a:ln>
        </p:spPr>
      </p:sp>
      <p:sp>
        <p:nvSpPr>
          <p:cNvPr id="12" name="Text 10"/>
          <p:cNvSpPr txBox="1"/>
          <p:nvPr/>
        </p:nvSpPr>
        <p:spPr>
          <a:xfrm>
            <a:off x="822960" y="1847088"/>
            <a:ext cx="3657600" cy="274320"/>
          </a:xfrm>
          <a:prstGeom prst="rect">
            <a:avLst/>
          </a:prstGeom>
          <a:noFill/>
          <a:ln/>
        </p:spPr>
        <p:txBody>
          <a:bodyPr wrap="square" lIns="0" tIns="0" rIns="0" bIns="0" rtlCol="0" anchor="ctr"/>
          <a:lstStyle/>
          <a:p>
            <a:pPr indent="0" marL="0">
              <a:buNone/>
            </a:pPr>
            <a:r>
              <a:rPr lang="en-US" sz="1150" b="1" spc="200" kern="0" dirty="0">
                <a:solidFill>
                  <a:srgbClr val="F2B705"/>
                </a:solidFill>
                <a:latin typeface="Arial" pitchFamily="34" charset="0"/>
                <a:ea typeface="Arial" pitchFamily="34" charset="-122"/>
                <a:cs typeface="Arial" pitchFamily="34" charset="-120"/>
              </a:rPr>
              <a:t>RUNNING ORDER</a:t>
            </a:r>
            <a:endParaRPr lang="en-US" sz="1150" dirty="0"/>
          </a:p>
        </p:txBody>
      </p:sp>
      <p:sp>
        <p:nvSpPr>
          <p:cNvPr id="13" name="Text 11"/>
          <p:cNvSpPr txBox="1"/>
          <p:nvPr/>
        </p:nvSpPr>
        <p:spPr>
          <a:xfrm>
            <a:off x="822960" y="2212848"/>
            <a:ext cx="868680" cy="530352"/>
          </a:xfrm>
          <a:prstGeom prst="rect">
            <a:avLst/>
          </a:prstGeom>
          <a:noFill/>
          <a:ln/>
        </p:spPr>
        <p:txBody>
          <a:bodyPr wrap="square" lIns="0" tIns="0" rIns="0" bIns="0" rtlCol="0" anchor="ctr"/>
          <a:lstStyle/>
          <a:p>
            <a:pPr indent="0" marL="0">
              <a:buNone/>
            </a:pPr>
            <a:r>
              <a:rPr lang="en-US" sz="1400" b="1" dirty="0">
                <a:solidFill>
                  <a:srgbClr val="F2B705"/>
                </a:solidFill>
                <a:latin typeface="Courier New" pitchFamily="34" charset="0"/>
                <a:ea typeface="Courier New" pitchFamily="34" charset="-122"/>
                <a:cs typeface="Courier New" pitchFamily="34" charset="-120"/>
              </a:rPr>
              <a:t>00:00</a:t>
            </a:r>
            <a:endParaRPr lang="en-US" sz="1400" dirty="0"/>
          </a:p>
        </p:txBody>
      </p:sp>
      <p:sp>
        <p:nvSpPr>
          <p:cNvPr id="14" name="Text 12"/>
          <p:cNvSpPr txBox="1"/>
          <p:nvPr/>
        </p:nvSpPr>
        <p:spPr>
          <a:xfrm>
            <a:off x="1737360" y="2212848"/>
            <a:ext cx="5577840" cy="530352"/>
          </a:xfrm>
          <a:prstGeom prst="rect">
            <a:avLst/>
          </a:prstGeom>
          <a:noFill/>
          <a:ln/>
        </p:spPr>
        <p:txBody>
          <a:bodyPr wrap="square" lIns="0" tIns="0" rIns="0" bIns="0" rtlCol="0" anchor="ctr"/>
          <a:lstStyle/>
          <a:p>
            <a:pPr indent="0" marL="0">
              <a:buNone/>
            </a:pPr>
            <a:r>
              <a:rPr lang="en-US" sz="1450" b="1" dirty="0">
                <a:solidFill>
                  <a:srgbClr val="FFFFFF"/>
                </a:solidFill>
              </a:rPr>
              <a:t>Headlines and rundown</a:t>
            </a:r>
            <a:endParaRPr lang="en-US" sz="1450" dirty="0"/>
          </a:p>
          <a:p>
            <a:pPr indent="0" marL="0">
              <a:buNone/>
            </a:pPr>
            <a:r>
              <a:rPr lang="en-US" sz="1200" dirty="0">
                <a:solidFill>
                  <a:srgbClr val="B8C4D9"/>
                </a:solidFill>
              </a:rPr>
              <a:t>Minhaz Ahamed Khan Nabin  ·  The criminology desk</a:t>
            </a:r>
            <a:endParaRPr lang="en-US" sz="1450" dirty="0"/>
          </a:p>
        </p:txBody>
      </p:sp>
      <p:sp>
        <p:nvSpPr>
          <p:cNvPr id="15" name="row rule"/>
          <p:cNvSpPr/>
          <p:nvPr/>
        </p:nvSpPr>
        <p:spPr>
          <a:xfrm>
            <a:off x="822960" y="2743200"/>
            <a:ext cx="6537960" cy="0"/>
          </a:xfrm>
          <a:prstGeom prst="line">
            <a:avLst/>
          </a:prstGeom>
          <a:noFill/>
          <a:ln w="12700">
            <a:solidFill>
              <a:srgbClr val="28406E"/>
            </a:solidFill>
            <a:prstDash val="solid"/>
          </a:ln>
        </p:spPr>
      </p:sp>
      <p:sp>
        <p:nvSpPr>
          <p:cNvPr id="16" name="Text 14"/>
          <p:cNvSpPr txBox="1"/>
          <p:nvPr/>
        </p:nvSpPr>
        <p:spPr>
          <a:xfrm>
            <a:off x="822960" y="2743200"/>
            <a:ext cx="868680" cy="530352"/>
          </a:xfrm>
          <a:prstGeom prst="rect">
            <a:avLst/>
          </a:prstGeom>
          <a:noFill/>
          <a:ln/>
        </p:spPr>
        <p:txBody>
          <a:bodyPr wrap="square" lIns="0" tIns="0" rIns="0" bIns="0" rtlCol="0" anchor="ctr"/>
          <a:lstStyle/>
          <a:p>
            <a:pPr indent="0" marL="0">
              <a:buNone/>
            </a:pPr>
            <a:r>
              <a:rPr lang="en-US" sz="1400" b="1" dirty="0">
                <a:solidFill>
                  <a:srgbClr val="F2B705"/>
                </a:solidFill>
                <a:latin typeface="Courier New" pitchFamily="34" charset="0"/>
                <a:ea typeface="Courier New" pitchFamily="34" charset="-122"/>
                <a:cs typeface="Courier New" pitchFamily="34" charset="-120"/>
              </a:rPr>
              <a:t>01:40</a:t>
            </a:r>
            <a:endParaRPr lang="en-US" sz="1400" dirty="0"/>
          </a:p>
        </p:txBody>
      </p:sp>
      <p:sp>
        <p:nvSpPr>
          <p:cNvPr id="17" name="Text 15"/>
          <p:cNvSpPr txBox="1"/>
          <p:nvPr/>
        </p:nvSpPr>
        <p:spPr>
          <a:xfrm>
            <a:off x="1737360" y="2743200"/>
            <a:ext cx="5577840" cy="530352"/>
          </a:xfrm>
          <a:prstGeom prst="rect">
            <a:avLst/>
          </a:prstGeom>
          <a:noFill/>
          <a:ln/>
        </p:spPr>
        <p:txBody>
          <a:bodyPr wrap="square" lIns="0" tIns="0" rIns="0" bIns="0" rtlCol="0" anchor="ctr"/>
          <a:lstStyle/>
          <a:p>
            <a:pPr indent="0" marL="0">
              <a:buNone/>
            </a:pPr>
            <a:r>
              <a:rPr lang="en-US" sz="1450" b="1" dirty="0">
                <a:solidFill>
                  <a:srgbClr val="FFFFFF"/>
                </a:solidFill>
              </a:rPr>
              <a:t>Profile and explainer: who they are, how they won</a:t>
            </a:r>
            <a:endParaRPr lang="en-US" sz="1450" dirty="0"/>
          </a:p>
          <a:p>
            <a:pPr indent="0" marL="0">
              <a:buNone/>
            </a:pPr>
            <a:r>
              <a:rPr lang="en-US" sz="1200" dirty="0">
                <a:solidFill>
                  <a:srgbClr val="B8C4D9"/>
                </a:solidFill>
              </a:rPr>
              <a:t>Jesmin Naher Sweety  ·  Miami</a:t>
            </a:r>
            <a:endParaRPr lang="en-US" sz="1450" dirty="0"/>
          </a:p>
        </p:txBody>
      </p:sp>
      <p:sp>
        <p:nvSpPr>
          <p:cNvPr id="18" name="row rule"/>
          <p:cNvSpPr/>
          <p:nvPr/>
        </p:nvSpPr>
        <p:spPr>
          <a:xfrm>
            <a:off x="822960" y="3273552"/>
            <a:ext cx="6537960" cy="0"/>
          </a:xfrm>
          <a:prstGeom prst="line">
            <a:avLst/>
          </a:prstGeom>
          <a:noFill/>
          <a:ln w="12700">
            <a:solidFill>
              <a:srgbClr val="28406E"/>
            </a:solidFill>
            <a:prstDash val="solid"/>
          </a:ln>
        </p:spPr>
      </p:sp>
      <p:sp>
        <p:nvSpPr>
          <p:cNvPr id="19" name="Text 17"/>
          <p:cNvSpPr txBox="1"/>
          <p:nvPr/>
        </p:nvSpPr>
        <p:spPr>
          <a:xfrm>
            <a:off x="822960" y="3273552"/>
            <a:ext cx="868680" cy="530352"/>
          </a:xfrm>
          <a:prstGeom prst="rect">
            <a:avLst/>
          </a:prstGeom>
          <a:noFill/>
          <a:ln/>
        </p:spPr>
        <p:txBody>
          <a:bodyPr wrap="square" lIns="0" tIns="0" rIns="0" bIns="0" rtlCol="0" anchor="ctr"/>
          <a:lstStyle/>
          <a:p>
            <a:pPr indent="0" marL="0">
              <a:buNone/>
            </a:pPr>
            <a:r>
              <a:rPr lang="en-US" sz="1400" b="1" dirty="0">
                <a:solidFill>
                  <a:srgbClr val="F2B705"/>
                </a:solidFill>
                <a:latin typeface="Courier New" pitchFamily="34" charset="0"/>
                <a:ea typeface="Courier New" pitchFamily="34" charset="-122"/>
                <a:cs typeface="Courier New" pitchFamily="34" charset="-120"/>
              </a:rPr>
              <a:t>03:20</a:t>
            </a:r>
            <a:endParaRPr lang="en-US" sz="1400" dirty="0"/>
          </a:p>
        </p:txBody>
      </p:sp>
      <p:sp>
        <p:nvSpPr>
          <p:cNvPr id="20" name="Text 18"/>
          <p:cNvSpPr txBox="1"/>
          <p:nvPr/>
        </p:nvSpPr>
        <p:spPr>
          <a:xfrm>
            <a:off x="1737360" y="3273552"/>
            <a:ext cx="5577840" cy="530352"/>
          </a:xfrm>
          <a:prstGeom prst="rect">
            <a:avLst/>
          </a:prstGeom>
          <a:noFill/>
          <a:ln/>
        </p:spPr>
        <p:txBody>
          <a:bodyPr wrap="square" lIns="0" tIns="0" rIns="0" bIns="0" rtlCol="0" anchor="ctr"/>
          <a:lstStyle/>
          <a:p>
            <a:pPr indent="0" marL="0">
              <a:buNone/>
            </a:pPr>
            <a:r>
              <a:rPr lang="en-US" sz="1450" b="1" dirty="0">
                <a:solidFill>
                  <a:srgbClr val="FFFFFF"/>
                </a:solidFill>
              </a:rPr>
              <a:t>Live from Tirana; following the money</a:t>
            </a:r>
            <a:endParaRPr lang="en-US" sz="1450" dirty="0"/>
          </a:p>
          <a:p>
            <a:pPr indent="0" marL="0">
              <a:buNone/>
            </a:pPr>
            <a:r>
              <a:rPr lang="en-US" sz="1200" dirty="0">
                <a:solidFill>
                  <a:srgbClr val="B8C4D9"/>
                </a:solidFill>
              </a:rPr>
              <a:t>Md. Abir Mahmud Jakaria  ·  Tirana</a:t>
            </a:r>
            <a:endParaRPr lang="en-US" sz="1450" dirty="0"/>
          </a:p>
        </p:txBody>
      </p:sp>
      <p:sp>
        <p:nvSpPr>
          <p:cNvPr id="21" name="row rule"/>
          <p:cNvSpPr/>
          <p:nvPr/>
        </p:nvSpPr>
        <p:spPr>
          <a:xfrm>
            <a:off x="822960" y="3803904"/>
            <a:ext cx="6537960" cy="0"/>
          </a:xfrm>
          <a:prstGeom prst="line">
            <a:avLst/>
          </a:prstGeom>
          <a:noFill/>
          <a:ln w="12700">
            <a:solidFill>
              <a:srgbClr val="28406E"/>
            </a:solidFill>
            <a:prstDash val="solid"/>
          </a:ln>
        </p:spPr>
      </p:sp>
      <p:sp>
        <p:nvSpPr>
          <p:cNvPr id="22" name="Text 20"/>
          <p:cNvSpPr txBox="1"/>
          <p:nvPr/>
        </p:nvSpPr>
        <p:spPr>
          <a:xfrm>
            <a:off x="822960" y="3803904"/>
            <a:ext cx="868680" cy="530352"/>
          </a:xfrm>
          <a:prstGeom prst="rect">
            <a:avLst/>
          </a:prstGeom>
          <a:noFill/>
          <a:ln/>
        </p:spPr>
        <p:txBody>
          <a:bodyPr wrap="square" lIns="0" tIns="0" rIns="0" bIns="0" rtlCol="0" anchor="ctr"/>
          <a:lstStyle/>
          <a:p>
            <a:pPr indent="0" marL="0">
              <a:buNone/>
            </a:pPr>
            <a:r>
              <a:rPr lang="en-US" sz="1400" b="1" dirty="0">
                <a:solidFill>
                  <a:srgbClr val="F2B705"/>
                </a:solidFill>
                <a:latin typeface="Courier New" pitchFamily="34" charset="0"/>
                <a:ea typeface="Courier New" pitchFamily="34" charset="-122"/>
                <a:cs typeface="Courier New" pitchFamily="34" charset="-120"/>
              </a:rPr>
              <a:t>05:00</a:t>
            </a:r>
            <a:endParaRPr lang="en-US" sz="1400" dirty="0"/>
          </a:p>
        </p:txBody>
      </p:sp>
      <p:sp>
        <p:nvSpPr>
          <p:cNvPr id="23" name="Text 21"/>
          <p:cNvSpPr txBox="1"/>
          <p:nvPr/>
        </p:nvSpPr>
        <p:spPr>
          <a:xfrm>
            <a:off x="1737360" y="3803904"/>
            <a:ext cx="5577840" cy="530352"/>
          </a:xfrm>
          <a:prstGeom prst="rect">
            <a:avLst/>
          </a:prstGeom>
          <a:noFill/>
          <a:ln/>
        </p:spPr>
        <p:txBody>
          <a:bodyPr wrap="square" lIns="0" tIns="0" rIns="0" bIns="0" rtlCol="0" anchor="ctr"/>
          <a:lstStyle/>
          <a:p>
            <a:pPr indent="0" marL="0">
              <a:buNone/>
            </a:pPr>
            <a:r>
              <a:rPr lang="en-US" sz="1450" b="1" dirty="0">
                <a:solidFill>
                  <a:srgbClr val="FFFFFF"/>
                </a:solidFill>
              </a:rPr>
              <a:t>Exclusive: the boxes; expert panel</a:t>
            </a:r>
            <a:endParaRPr lang="en-US" sz="1450" dirty="0"/>
          </a:p>
          <a:p>
            <a:pPr indent="0" marL="0">
              <a:buNone/>
            </a:pPr>
            <a:r>
              <a:rPr lang="en-US" sz="1200" dirty="0">
                <a:solidFill>
                  <a:srgbClr val="B8C4D9"/>
                </a:solidFill>
              </a:rPr>
              <a:t>Imran Mridha  ·  Investigations editor</a:t>
            </a:r>
            <a:endParaRPr lang="en-US" sz="1450" dirty="0"/>
          </a:p>
        </p:txBody>
      </p:sp>
      <p:sp>
        <p:nvSpPr>
          <p:cNvPr id="24" name="row rule"/>
          <p:cNvSpPr/>
          <p:nvPr/>
        </p:nvSpPr>
        <p:spPr>
          <a:xfrm>
            <a:off x="822960" y="4334256"/>
            <a:ext cx="6537960" cy="0"/>
          </a:xfrm>
          <a:prstGeom prst="line">
            <a:avLst/>
          </a:prstGeom>
          <a:noFill/>
          <a:ln w="12700">
            <a:solidFill>
              <a:srgbClr val="28406E"/>
            </a:solidFill>
            <a:prstDash val="solid"/>
          </a:ln>
        </p:spPr>
      </p:sp>
      <p:sp>
        <p:nvSpPr>
          <p:cNvPr id="25" name="Text 23"/>
          <p:cNvSpPr txBox="1"/>
          <p:nvPr/>
        </p:nvSpPr>
        <p:spPr>
          <a:xfrm>
            <a:off x="822960" y="4334256"/>
            <a:ext cx="868680" cy="530352"/>
          </a:xfrm>
          <a:prstGeom prst="rect">
            <a:avLst/>
          </a:prstGeom>
          <a:noFill/>
          <a:ln/>
        </p:spPr>
        <p:txBody>
          <a:bodyPr wrap="square" lIns="0" tIns="0" rIns="0" bIns="0" rtlCol="0" anchor="ctr"/>
          <a:lstStyle/>
          <a:p>
            <a:pPr indent="0" marL="0">
              <a:buNone/>
            </a:pPr>
            <a:r>
              <a:rPr lang="en-US" sz="1400" b="1" dirty="0">
                <a:solidFill>
                  <a:srgbClr val="F2B705"/>
                </a:solidFill>
                <a:latin typeface="Courier New" pitchFamily="34" charset="0"/>
                <a:ea typeface="Courier New" pitchFamily="34" charset="-122"/>
                <a:cs typeface="Courier New" pitchFamily="34" charset="-120"/>
              </a:rPr>
              <a:t>06:40</a:t>
            </a:r>
            <a:endParaRPr lang="en-US" sz="1400" dirty="0"/>
          </a:p>
        </p:txBody>
      </p:sp>
      <p:sp>
        <p:nvSpPr>
          <p:cNvPr id="26" name="Text 24"/>
          <p:cNvSpPr txBox="1"/>
          <p:nvPr/>
        </p:nvSpPr>
        <p:spPr>
          <a:xfrm>
            <a:off x="1737360" y="4334256"/>
            <a:ext cx="5577840" cy="530352"/>
          </a:xfrm>
          <a:prstGeom prst="rect">
            <a:avLst/>
          </a:prstGeom>
          <a:noFill/>
          <a:ln/>
        </p:spPr>
        <p:txBody>
          <a:bodyPr wrap="square" lIns="0" tIns="0" rIns="0" bIns="0" rtlCol="0" anchor="ctr"/>
          <a:lstStyle/>
          <a:p>
            <a:pPr indent="0" marL="0">
              <a:buNone/>
            </a:pPr>
            <a:r>
              <a:rPr lang="en-US" sz="1450" b="1" dirty="0">
                <a:solidFill>
                  <a:srgbClr val="FFFFFF"/>
                </a:solidFill>
              </a:rPr>
              <a:t>Court report; studio analysis</a:t>
            </a:r>
            <a:endParaRPr lang="en-US" sz="1450" dirty="0"/>
          </a:p>
          <a:p>
            <a:pPr indent="0" marL="0">
              <a:buNone/>
            </a:pPr>
            <a:r>
              <a:rPr lang="en-US" sz="1200" dirty="0">
                <a:solidFill>
                  <a:srgbClr val="B8C4D9"/>
                </a:solidFill>
              </a:rPr>
              <a:t>Ahnaf Akif  ·  Legal and crime analyst</a:t>
            </a:r>
            <a:endParaRPr lang="en-US" sz="1450" dirty="0"/>
          </a:p>
        </p:txBody>
      </p:sp>
      <p:sp>
        <p:nvSpPr>
          <p:cNvPr id="27" name="row rule"/>
          <p:cNvSpPr/>
          <p:nvPr/>
        </p:nvSpPr>
        <p:spPr>
          <a:xfrm>
            <a:off x="822960" y="4864608"/>
            <a:ext cx="6537960" cy="0"/>
          </a:xfrm>
          <a:prstGeom prst="line">
            <a:avLst/>
          </a:prstGeom>
          <a:noFill/>
          <a:ln w="12700">
            <a:solidFill>
              <a:srgbClr val="28406E"/>
            </a:solidFill>
            <a:prstDash val="solid"/>
          </a:ln>
        </p:spPr>
      </p:sp>
      <p:sp>
        <p:nvSpPr>
          <p:cNvPr id="28" name="Text 26"/>
          <p:cNvSpPr txBox="1"/>
          <p:nvPr/>
        </p:nvSpPr>
        <p:spPr>
          <a:xfrm>
            <a:off x="822960" y="4864608"/>
            <a:ext cx="868680" cy="530352"/>
          </a:xfrm>
          <a:prstGeom prst="rect">
            <a:avLst/>
          </a:prstGeom>
          <a:noFill/>
          <a:ln/>
        </p:spPr>
        <p:txBody>
          <a:bodyPr wrap="square" lIns="0" tIns="0" rIns="0" bIns="0" rtlCol="0" anchor="ctr"/>
          <a:lstStyle/>
          <a:p>
            <a:pPr indent="0" marL="0">
              <a:buNone/>
            </a:pPr>
            <a:r>
              <a:rPr lang="en-US" sz="1400" b="1" dirty="0">
                <a:solidFill>
                  <a:srgbClr val="F2B705"/>
                </a:solidFill>
                <a:latin typeface="Courier New" pitchFamily="34" charset="0"/>
                <a:ea typeface="Courier New" pitchFamily="34" charset="-122"/>
                <a:cs typeface="Courier New" pitchFamily="34" charset="-120"/>
              </a:rPr>
              <a:t>08:20</a:t>
            </a:r>
            <a:endParaRPr lang="en-US" sz="1400" dirty="0"/>
          </a:p>
        </p:txBody>
      </p:sp>
      <p:sp>
        <p:nvSpPr>
          <p:cNvPr id="29" name="Text 27"/>
          <p:cNvSpPr txBox="1"/>
          <p:nvPr/>
        </p:nvSpPr>
        <p:spPr>
          <a:xfrm>
            <a:off x="1737360" y="4864608"/>
            <a:ext cx="5577840" cy="530352"/>
          </a:xfrm>
          <a:prstGeom prst="rect">
            <a:avLst/>
          </a:prstGeom>
          <a:noFill/>
          <a:ln/>
        </p:spPr>
        <p:txBody>
          <a:bodyPr wrap="square" lIns="0" tIns="0" rIns="0" bIns="0" rtlCol="0" anchor="ctr"/>
          <a:lstStyle/>
          <a:p>
            <a:pPr indent="0" marL="0">
              <a:buNone/>
            </a:pPr>
            <a:r>
              <a:rPr lang="en-US" sz="1450" b="1" dirty="0">
                <a:solidFill>
                  <a:srgbClr val="FFFFFF"/>
                </a:solidFill>
              </a:rPr>
              <a:t>Fact check; the final word</a:t>
            </a:r>
            <a:endParaRPr lang="en-US" sz="1450" dirty="0"/>
          </a:p>
          <a:p>
            <a:pPr indent="0" marL="0">
              <a:buNone/>
            </a:pPr>
            <a:r>
              <a:rPr lang="en-US" sz="1200" dirty="0">
                <a:solidFill>
                  <a:srgbClr val="B8C4D9"/>
                </a:solidFill>
              </a:rPr>
              <a:t>Nishit Kumer  ·  Fact-check desk</a:t>
            </a:r>
            <a:endParaRPr lang="en-US" sz="1450" dirty="0"/>
          </a:p>
        </p:txBody>
      </p:sp>
      <p:sp>
        <p:nvSpPr>
          <p:cNvPr id="30" name="about the film"/>
          <p:cNvSpPr/>
          <p:nvPr/>
        </p:nvSpPr>
        <p:spPr>
          <a:xfrm>
            <a:off x="7863840" y="1737360"/>
            <a:ext cx="3779215" cy="3703320"/>
          </a:xfrm>
          <a:prstGeom prst="rect">
            <a:avLst/>
          </a:prstGeom>
          <a:solidFill>
            <a:srgbClr val="0D1C3C"/>
          </a:solidFill>
          <a:ln w="12700">
            <a:solidFill>
              <a:srgbClr val="28406E"/>
            </a:solidFill>
            <a:prstDash val="solid"/>
          </a:ln>
        </p:spPr>
      </p:sp>
      <p:sp>
        <p:nvSpPr>
          <p:cNvPr id="31" name="Text 29"/>
          <p:cNvSpPr txBox="1"/>
          <p:nvPr/>
        </p:nvSpPr>
        <p:spPr>
          <a:xfrm>
            <a:off x="8138160" y="1847088"/>
            <a:ext cx="3230575" cy="274320"/>
          </a:xfrm>
          <a:prstGeom prst="rect">
            <a:avLst/>
          </a:prstGeom>
          <a:noFill/>
          <a:ln/>
        </p:spPr>
        <p:txBody>
          <a:bodyPr wrap="square" lIns="0" tIns="0" rIns="0" bIns="0" rtlCol="0" anchor="ctr"/>
          <a:lstStyle/>
          <a:p>
            <a:pPr indent="0" marL="0">
              <a:buNone/>
            </a:pPr>
            <a:r>
              <a:rPr lang="en-US" sz="1150" b="1" spc="200" kern="0" dirty="0">
                <a:solidFill>
                  <a:srgbClr val="F2B705"/>
                </a:solidFill>
                <a:latin typeface="Arial" pitchFamily="34" charset="0"/>
                <a:ea typeface="Arial" pitchFamily="34" charset="-122"/>
                <a:cs typeface="Arial" pitchFamily="34" charset="-120"/>
              </a:rPr>
              <a:t>ABOUT THE FILM</a:t>
            </a:r>
            <a:endParaRPr lang="en-US" sz="1150" dirty="0"/>
          </a:p>
        </p:txBody>
      </p:sp>
      <p:sp>
        <p:nvSpPr>
          <p:cNvPr id="32" name="Text 30"/>
          <p:cNvSpPr txBox="1"/>
          <p:nvPr/>
        </p:nvSpPr>
        <p:spPr>
          <a:xfrm>
            <a:off x="8138160" y="2240280"/>
            <a:ext cx="3230575" cy="3063240"/>
          </a:xfrm>
          <a:prstGeom prst="rect">
            <a:avLst/>
          </a:prstGeom>
          <a:noFill/>
          <a:ln/>
        </p:spPr>
        <p:txBody>
          <a:bodyPr wrap="square" lIns="0" tIns="0" rIns="0" bIns="0" rtlCol="0" anchor="t"/>
          <a:lstStyle/>
          <a:p>
            <a:pPr indent="0" marL="0">
              <a:spcAft>
                <a:spcPts val="600"/>
              </a:spcAft>
              <a:buNone/>
            </a:pPr>
            <a:r>
              <a:rPr lang="en-US" sz="1100" b="1" spc="200" kern="0" dirty="0">
                <a:solidFill>
                  <a:srgbClr val="4CC3FF"/>
                </a:solidFill>
              </a:rPr>
              <a:t>FILM</a:t>
            </a:r>
            <a:endParaRPr lang="en-US" sz="1100" dirty="0"/>
          </a:p>
          <a:p>
            <a:pPr indent="0" marL="0">
              <a:spcAft>
                <a:spcPts val="600"/>
              </a:spcAft>
              <a:buNone/>
            </a:pPr>
            <a:r>
              <a:rPr lang="en-US" sz="1450" dirty="0">
                <a:solidFill>
                  <a:srgbClr val="FFFFFF"/>
                </a:solidFill>
              </a:rPr>
              <a:t>War Dogs (2016)</a:t>
            </a:r>
            <a:endParaRPr lang="en-US" sz="1100" dirty="0"/>
          </a:p>
          <a:p>
            <a:pPr indent="0" marL="0">
              <a:spcAft>
                <a:spcPts val="600"/>
              </a:spcAft>
              <a:buNone/>
            </a:pPr>
            <a:r>
              <a:rPr lang="en-US" sz="1100" b="1" spc="200" kern="0" dirty="0">
                <a:solidFill>
                  <a:srgbClr val="4CC3FF"/>
                </a:solidFill>
              </a:rPr>
              <a:t>DIRECTOR</a:t>
            </a:r>
            <a:endParaRPr lang="en-US" sz="1100" dirty="0"/>
          </a:p>
          <a:p>
            <a:pPr indent="0" marL="0">
              <a:spcAft>
                <a:spcPts val="600"/>
              </a:spcAft>
              <a:buNone/>
            </a:pPr>
            <a:r>
              <a:rPr lang="en-US" sz="1450" dirty="0">
                <a:solidFill>
                  <a:srgbClr val="FFFFFF"/>
                </a:solidFill>
              </a:rPr>
              <a:t>Todd Phillips</a:t>
            </a:r>
            <a:endParaRPr lang="en-US" sz="1100" dirty="0"/>
          </a:p>
          <a:p>
            <a:pPr indent="0" marL="0">
              <a:spcAft>
                <a:spcPts val="600"/>
              </a:spcAft>
              <a:buNone/>
            </a:pPr>
            <a:r>
              <a:rPr lang="en-US" sz="1100" b="1" spc="200" kern="0" dirty="0">
                <a:solidFill>
                  <a:srgbClr val="4CC3FF"/>
                </a:solidFill>
              </a:rPr>
              <a:t>STARRING</a:t>
            </a:r>
            <a:endParaRPr lang="en-US" sz="1100" dirty="0"/>
          </a:p>
          <a:p>
            <a:pPr indent="0" marL="0">
              <a:spcAft>
                <a:spcPts val="600"/>
              </a:spcAft>
              <a:buNone/>
            </a:pPr>
            <a:r>
              <a:rPr lang="en-US" sz="1450" dirty="0">
                <a:solidFill>
                  <a:srgbClr val="FFFFFF"/>
                </a:solidFill>
              </a:rPr>
              <a:t>Jonah Hill, Miles Teller, Ana de Armas, Bradley Cooper</a:t>
            </a:r>
            <a:endParaRPr lang="en-US" sz="1100" dirty="0"/>
          </a:p>
          <a:p>
            <a:pPr indent="0" marL="0">
              <a:spcAft>
                <a:spcPts val="600"/>
              </a:spcAft>
              <a:buNone/>
            </a:pPr>
            <a:r>
              <a:rPr lang="en-US" sz="1100" b="1" spc="200" kern="0" dirty="0">
                <a:solidFill>
                  <a:srgbClr val="4CC3FF"/>
                </a:solidFill>
              </a:rPr>
              <a:t>BASED ON</a:t>
            </a:r>
            <a:endParaRPr lang="en-US" sz="1100" dirty="0"/>
          </a:p>
          <a:p>
            <a:pPr indent="0" marL="0">
              <a:spcAft>
                <a:spcPts val="600"/>
              </a:spcAft>
              <a:buNone/>
            </a:pPr>
            <a:r>
              <a:rPr lang="en-US" sz="1450" dirty="0">
                <a:solidFill>
                  <a:srgbClr val="FFFFFF"/>
                </a:solidFill>
              </a:rPr>
              <a:t>Guy Lawson’s Rolling Stone article (2011) and book (2015)</a:t>
            </a:r>
            <a:endParaRPr lang="en-US" sz="11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PROFILE  ·  MIAMI BEACH, FLORIDA</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Who are the “War Dogs”?</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JESMIN NAHER SWEETY</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CORRESPONDENT  ·  MIAMI</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MIAMI: TWO FRIENDS, ONE COMPANY  •  ON THE DESK: STRAIN, ANOMIE, DIFFERENTIAL ASSOCIATION</a:t>
            </a:r>
            <a:endParaRPr lang="en-US" sz="1150" dirty="0"/>
          </a:p>
        </p:txBody>
      </p:sp>
      <p:sp>
        <p:nvSpPr>
          <p:cNvPr id="11" name="David Packouz"/>
          <p:cNvSpPr/>
          <p:nvPr/>
        </p:nvSpPr>
        <p:spPr>
          <a:xfrm>
            <a:off x="548640" y="1737360"/>
            <a:ext cx="3291840" cy="3703320"/>
          </a:xfrm>
          <a:prstGeom prst="rect">
            <a:avLst/>
          </a:prstGeom>
          <a:solidFill>
            <a:srgbClr val="102347"/>
          </a:solidFill>
          <a:ln w="12700">
            <a:solidFill>
              <a:srgbClr val="28406E"/>
            </a:solidFill>
            <a:prstDash val="solid"/>
          </a:ln>
        </p:spPr>
      </p:sp>
      <p:sp>
        <p:nvSpPr>
          <p:cNvPr id="12" name="David Packouz circle"/>
          <p:cNvSpPr/>
          <p:nvPr/>
        </p:nvSpPr>
        <p:spPr>
          <a:xfrm>
            <a:off x="822960" y="1965960"/>
            <a:ext cx="777240" cy="777240"/>
          </a:xfrm>
          <a:prstGeom prst="ellipse">
            <a:avLst/>
          </a:prstGeom>
          <a:solidFill>
            <a:srgbClr val="2C5BA8"/>
          </a:solidFill>
          <a:ln/>
        </p:spPr>
      </p:sp>
      <p:pic>
        <p:nvPicPr>
          <p:cNvPr id="13" name="David Packouz icon" descr="David Packouz">    </p:cNvPr>
          <p:cNvPicPr>
            <a:picLocks noChangeAspect="1"/>
          </p:cNvPicPr>
          <p:nvPr/>
        </p:nvPicPr>
        <p:blipFill>
          <a:blip r:embed="rId1"/>
          <a:stretch>
            <a:fillRect/>
          </a:stretch>
        </p:blipFill>
        <p:spPr>
          <a:xfrm>
            <a:off x="1017270" y="2160270"/>
            <a:ext cx="388620" cy="388620"/>
          </a:xfrm>
          <a:prstGeom prst="rect">
            <a:avLst/>
          </a:prstGeom>
        </p:spPr>
      </p:pic>
      <p:sp>
        <p:nvSpPr>
          <p:cNvPr id="14" name="tag"/>
          <p:cNvSpPr/>
          <p:nvPr/>
        </p:nvSpPr>
        <p:spPr>
          <a:xfrm>
            <a:off x="1783080" y="2011680"/>
            <a:ext cx="1600200" cy="274320"/>
          </a:xfrm>
          <a:prstGeom prst="rect">
            <a:avLst/>
          </a:prstGeom>
          <a:solidFill>
            <a:srgbClr val="F2B705"/>
          </a:solidFill>
          <a:ln/>
        </p:spPr>
      </p:sp>
      <p:sp>
        <p:nvSpPr>
          <p:cNvPr id="15" name="Text 12"/>
          <p:cNvSpPr txBox="1"/>
          <p:nvPr/>
        </p:nvSpPr>
        <p:spPr>
          <a:xfrm>
            <a:off x="1783080" y="2011680"/>
            <a:ext cx="1600200" cy="274320"/>
          </a:xfrm>
          <a:prstGeom prst="rect">
            <a:avLst/>
          </a:prstGeom>
          <a:noFill/>
          <a:ln/>
        </p:spPr>
        <p:txBody>
          <a:bodyPr wrap="square" lIns="0" tIns="0" rIns="0" bIns="0" rtlCol="0" anchor="ctr"/>
          <a:lstStyle/>
          <a:p>
            <a:pPr algn="ctr" indent="0" marL="0">
              <a:buNone/>
            </a:pPr>
            <a:r>
              <a:rPr lang="en-US" sz="1100" b="1" spc="200" kern="0" dirty="0">
                <a:solidFill>
                  <a:srgbClr val="0A1A3A"/>
                </a:solidFill>
                <a:latin typeface="Arial" pitchFamily="34" charset="0"/>
                <a:ea typeface="Arial" pitchFamily="34" charset="-122"/>
                <a:cs typeface="Arial" pitchFamily="34" charset="-120"/>
              </a:rPr>
              <a:t>THE RECRUIT</a:t>
            </a:r>
            <a:endParaRPr lang="en-US" sz="1100" dirty="0"/>
          </a:p>
        </p:txBody>
      </p:sp>
      <p:sp>
        <p:nvSpPr>
          <p:cNvPr id="16" name="Text 13"/>
          <p:cNvSpPr txBox="1"/>
          <p:nvPr/>
        </p:nvSpPr>
        <p:spPr>
          <a:xfrm>
            <a:off x="1783080" y="2331720"/>
            <a:ext cx="192024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David Packouz</a:t>
            </a:r>
            <a:endParaRPr lang="en-US" sz="1900" dirty="0"/>
          </a:p>
        </p:txBody>
      </p:sp>
      <p:sp>
        <p:nvSpPr>
          <p:cNvPr id="17" name="fact rule"/>
          <p:cNvSpPr/>
          <p:nvPr/>
        </p:nvSpPr>
        <p:spPr>
          <a:xfrm>
            <a:off x="822960" y="3063240"/>
            <a:ext cx="2743200" cy="0"/>
          </a:xfrm>
          <a:prstGeom prst="line">
            <a:avLst/>
          </a:prstGeom>
          <a:noFill/>
          <a:ln w="12700">
            <a:solidFill>
              <a:srgbClr val="28406E"/>
            </a:solidFill>
            <a:prstDash val="solid"/>
          </a:ln>
        </p:spPr>
      </p:sp>
      <p:sp>
        <p:nvSpPr>
          <p:cNvPr id="18" name="Text 15"/>
          <p:cNvSpPr txBox="1"/>
          <p:nvPr/>
        </p:nvSpPr>
        <p:spPr>
          <a:xfrm>
            <a:off x="822960" y="3136392"/>
            <a:ext cx="2743200" cy="603504"/>
          </a:xfrm>
          <a:prstGeom prst="rect">
            <a:avLst/>
          </a:prstGeom>
          <a:noFill/>
          <a:ln/>
        </p:spPr>
        <p:txBody>
          <a:bodyPr wrap="square" lIns="0" tIns="0" rIns="0" bIns="0" rtlCol="0" anchor="ctr"/>
          <a:lstStyle/>
          <a:p>
            <a:pPr indent="0" marL="0">
              <a:buNone/>
            </a:pPr>
            <a:r>
              <a:rPr lang="en-US" sz="1500" dirty="0">
                <a:solidFill>
                  <a:srgbClr val="DCE4F2"/>
                </a:solidFill>
              </a:rPr>
              <a:t>Massage therapist in Miami Beach</a:t>
            </a:r>
            <a:endParaRPr lang="en-US" sz="1500" dirty="0"/>
          </a:p>
        </p:txBody>
      </p:sp>
      <p:sp>
        <p:nvSpPr>
          <p:cNvPr id="19" name="fact rule"/>
          <p:cNvSpPr/>
          <p:nvPr/>
        </p:nvSpPr>
        <p:spPr>
          <a:xfrm>
            <a:off x="822960" y="3813048"/>
            <a:ext cx="2743200" cy="0"/>
          </a:xfrm>
          <a:prstGeom prst="line">
            <a:avLst/>
          </a:prstGeom>
          <a:noFill/>
          <a:ln w="12700">
            <a:solidFill>
              <a:srgbClr val="28406E"/>
            </a:solidFill>
            <a:prstDash val="solid"/>
          </a:ln>
        </p:spPr>
      </p:sp>
      <p:sp>
        <p:nvSpPr>
          <p:cNvPr id="20" name="Text 17"/>
          <p:cNvSpPr txBox="1"/>
          <p:nvPr/>
        </p:nvSpPr>
        <p:spPr>
          <a:xfrm>
            <a:off x="822960" y="3886200"/>
            <a:ext cx="2743200" cy="603504"/>
          </a:xfrm>
          <a:prstGeom prst="rect">
            <a:avLst/>
          </a:prstGeom>
          <a:noFill/>
          <a:ln/>
        </p:spPr>
        <p:txBody>
          <a:bodyPr wrap="square" lIns="0" tIns="0" rIns="0" bIns="0" rtlCol="0" anchor="ctr"/>
          <a:lstStyle/>
          <a:p>
            <a:pPr indent="0" marL="0">
              <a:buNone/>
            </a:pPr>
            <a:r>
              <a:rPr lang="en-US" sz="1500" dirty="0">
                <a:solidFill>
                  <a:srgbClr val="DCE4F2"/>
                </a:solidFill>
              </a:rPr>
              <a:t>Broke, with a baby on the way</a:t>
            </a:r>
            <a:endParaRPr lang="en-US" sz="1500" dirty="0"/>
          </a:p>
        </p:txBody>
      </p:sp>
      <p:sp>
        <p:nvSpPr>
          <p:cNvPr id="21" name="fact rule"/>
          <p:cNvSpPr/>
          <p:nvPr/>
        </p:nvSpPr>
        <p:spPr>
          <a:xfrm>
            <a:off x="822960" y="4562856"/>
            <a:ext cx="2743200" cy="0"/>
          </a:xfrm>
          <a:prstGeom prst="line">
            <a:avLst/>
          </a:prstGeom>
          <a:noFill/>
          <a:ln w="12700">
            <a:solidFill>
              <a:srgbClr val="28406E"/>
            </a:solidFill>
            <a:prstDash val="solid"/>
          </a:ln>
        </p:spPr>
      </p:sp>
      <p:sp>
        <p:nvSpPr>
          <p:cNvPr id="22" name="Text 19"/>
          <p:cNvSpPr txBox="1"/>
          <p:nvPr/>
        </p:nvSpPr>
        <p:spPr>
          <a:xfrm>
            <a:off x="822960" y="4636008"/>
            <a:ext cx="2743200" cy="603504"/>
          </a:xfrm>
          <a:prstGeom prst="rect">
            <a:avLst/>
          </a:prstGeom>
          <a:noFill/>
          <a:ln/>
        </p:spPr>
        <p:txBody>
          <a:bodyPr wrap="square" lIns="0" tIns="0" rIns="0" bIns="0" rtlCol="0" anchor="ctr"/>
          <a:lstStyle/>
          <a:p>
            <a:pPr indent="0" marL="0">
              <a:buNone/>
            </a:pPr>
            <a:r>
              <a:rPr lang="en-US" sz="1500" dirty="0">
                <a:solidFill>
                  <a:srgbClr val="DCE4F2"/>
                </a:solidFill>
              </a:rPr>
              <a:t>Hides the job from his partner</a:t>
            </a:r>
            <a:endParaRPr lang="en-US" sz="1500" dirty="0"/>
          </a:p>
        </p:txBody>
      </p:sp>
      <p:sp>
        <p:nvSpPr>
          <p:cNvPr id="23" name="Efraim Diveroli"/>
          <p:cNvSpPr/>
          <p:nvPr/>
        </p:nvSpPr>
        <p:spPr>
          <a:xfrm>
            <a:off x="4023360" y="1737360"/>
            <a:ext cx="3291840" cy="3703320"/>
          </a:xfrm>
          <a:prstGeom prst="rect">
            <a:avLst/>
          </a:prstGeom>
          <a:solidFill>
            <a:srgbClr val="102347"/>
          </a:solidFill>
          <a:ln w="12700">
            <a:solidFill>
              <a:srgbClr val="28406E"/>
            </a:solidFill>
            <a:prstDash val="solid"/>
          </a:ln>
        </p:spPr>
      </p:sp>
      <p:sp>
        <p:nvSpPr>
          <p:cNvPr id="24" name="Efraim Diveroli circle"/>
          <p:cNvSpPr/>
          <p:nvPr/>
        </p:nvSpPr>
        <p:spPr>
          <a:xfrm>
            <a:off x="4297680" y="1965960"/>
            <a:ext cx="777240" cy="777240"/>
          </a:xfrm>
          <a:prstGeom prst="ellipse">
            <a:avLst/>
          </a:prstGeom>
          <a:solidFill>
            <a:srgbClr val="D7191F"/>
          </a:solidFill>
          <a:ln/>
        </p:spPr>
      </p:sp>
      <p:pic>
        <p:nvPicPr>
          <p:cNvPr id="25" name="Efraim Diveroli icon" descr="Efraim Diveroli">    </p:cNvPr>
          <p:cNvPicPr>
            <a:picLocks noChangeAspect="1"/>
          </p:cNvPicPr>
          <p:nvPr/>
        </p:nvPicPr>
        <p:blipFill>
          <a:blip r:embed="rId2"/>
          <a:stretch>
            <a:fillRect/>
          </a:stretch>
        </p:blipFill>
        <p:spPr>
          <a:xfrm>
            <a:off x="4491990" y="2160270"/>
            <a:ext cx="388620" cy="388620"/>
          </a:xfrm>
          <a:prstGeom prst="rect">
            <a:avLst/>
          </a:prstGeom>
        </p:spPr>
      </p:pic>
      <p:sp>
        <p:nvSpPr>
          <p:cNvPr id="26" name="tag"/>
          <p:cNvSpPr/>
          <p:nvPr/>
        </p:nvSpPr>
        <p:spPr>
          <a:xfrm>
            <a:off x="5257800" y="2011680"/>
            <a:ext cx="1600200" cy="274320"/>
          </a:xfrm>
          <a:prstGeom prst="rect">
            <a:avLst/>
          </a:prstGeom>
          <a:solidFill>
            <a:srgbClr val="F2B705"/>
          </a:solidFill>
          <a:ln/>
        </p:spPr>
      </p:sp>
      <p:sp>
        <p:nvSpPr>
          <p:cNvPr id="27" name="Text 23"/>
          <p:cNvSpPr txBox="1"/>
          <p:nvPr/>
        </p:nvSpPr>
        <p:spPr>
          <a:xfrm>
            <a:off x="5257800" y="2011680"/>
            <a:ext cx="1600200" cy="274320"/>
          </a:xfrm>
          <a:prstGeom prst="rect">
            <a:avLst/>
          </a:prstGeom>
          <a:noFill/>
          <a:ln/>
        </p:spPr>
        <p:txBody>
          <a:bodyPr wrap="square" lIns="0" tIns="0" rIns="0" bIns="0" rtlCol="0" anchor="ctr"/>
          <a:lstStyle/>
          <a:p>
            <a:pPr algn="ctr" indent="0" marL="0">
              <a:buNone/>
            </a:pPr>
            <a:r>
              <a:rPr lang="en-US" sz="1100" b="1" spc="200" kern="0" dirty="0">
                <a:solidFill>
                  <a:srgbClr val="0A1A3A"/>
                </a:solidFill>
                <a:latin typeface="Arial" pitchFamily="34" charset="0"/>
                <a:ea typeface="Arial" pitchFamily="34" charset="-122"/>
                <a:cs typeface="Arial" pitchFamily="34" charset="-120"/>
              </a:rPr>
              <a:t>THE HUSTLER</a:t>
            </a:r>
            <a:endParaRPr lang="en-US" sz="1100" dirty="0"/>
          </a:p>
        </p:txBody>
      </p:sp>
      <p:sp>
        <p:nvSpPr>
          <p:cNvPr id="28" name="Text 24"/>
          <p:cNvSpPr txBox="1"/>
          <p:nvPr/>
        </p:nvSpPr>
        <p:spPr>
          <a:xfrm>
            <a:off x="5257800" y="2331720"/>
            <a:ext cx="192024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Efraim Diveroli</a:t>
            </a:r>
            <a:endParaRPr lang="en-US" sz="1900" dirty="0"/>
          </a:p>
        </p:txBody>
      </p:sp>
      <p:sp>
        <p:nvSpPr>
          <p:cNvPr id="29" name="fact rule"/>
          <p:cNvSpPr/>
          <p:nvPr/>
        </p:nvSpPr>
        <p:spPr>
          <a:xfrm>
            <a:off x="4297680" y="3063240"/>
            <a:ext cx="2743200" cy="0"/>
          </a:xfrm>
          <a:prstGeom prst="line">
            <a:avLst/>
          </a:prstGeom>
          <a:noFill/>
          <a:ln w="12700">
            <a:solidFill>
              <a:srgbClr val="28406E"/>
            </a:solidFill>
            <a:prstDash val="solid"/>
          </a:ln>
        </p:spPr>
      </p:sp>
      <p:sp>
        <p:nvSpPr>
          <p:cNvPr id="30" name="Text 26"/>
          <p:cNvSpPr txBox="1"/>
          <p:nvPr/>
        </p:nvSpPr>
        <p:spPr>
          <a:xfrm>
            <a:off x="4297680" y="3136392"/>
            <a:ext cx="2743200" cy="603504"/>
          </a:xfrm>
          <a:prstGeom prst="rect">
            <a:avLst/>
          </a:prstGeom>
          <a:noFill/>
          <a:ln/>
        </p:spPr>
        <p:txBody>
          <a:bodyPr wrap="square" lIns="0" tIns="0" rIns="0" bIns="0" rtlCol="0" anchor="ctr"/>
          <a:lstStyle/>
          <a:p>
            <a:pPr indent="0" marL="0">
              <a:buNone/>
            </a:pPr>
            <a:r>
              <a:rPr lang="en-US" sz="1500" dirty="0">
                <a:solidFill>
                  <a:srgbClr val="DCE4F2"/>
                </a:solidFill>
              </a:rPr>
              <a:t>David’s childhood friend; runs AEY</a:t>
            </a:r>
            <a:endParaRPr lang="en-US" sz="1500" dirty="0"/>
          </a:p>
        </p:txBody>
      </p:sp>
      <p:sp>
        <p:nvSpPr>
          <p:cNvPr id="31" name="fact rule"/>
          <p:cNvSpPr/>
          <p:nvPr/>
        </p:nvSpPr>
        <p:spPr>
          <a:xfrm>
            <a:off x="4297680" y="3813048"/>
            <a:ext cx="2743200" cy="0"/>
          </a:xfrm>
          <a:prstGeom prst="line">
            <a:avLst/>
          </a:prstGeom>
          <a:noFill/>
          <a:ln w="12700">
            <a:solidFill>
              <a:srgbClr val="28406E"/>
            </a:solidFill>
            <a:prstDash val="solid"/>
          </a:ln>
        </p:spPr>
      </p:sp>
      <p:sp>
        <p:nvSpPr>
          <p:cNvPr id="32" name="Text 28"/>
          <p:cNvSpPr txBox="1"/>
          <p:nvPr/>
        </p:nvSpPr>
        <p:spPr>
          <a:xfrm>
            <a:off x="4297680" y="3886200"/>
            <a:ext cx="2743200" cy="603504"/>
          </a:xfrm>
          <a:prstGeom prst="rect">
            <a:avLst/>
          </a:prstGeom>
          <a:noFill/>
          <a:ln/>
        </p:spPr>
        <p:txBody>
          <a:bodyPr wrap="square" lIns="0" tIns="0" rIns="0" bIns="0" rtlCol="0" anchor="ctr"/>
          <a:lstStyle/>
          <a:p>
            <a:pPr indent="0" marL="0">
              <a:buNone/>
            </a:pPr>
            <a:r>
              <a:rPr lang="en-US" sz="1500" dirty="0">
                <a:solidFill>
                  <a:srgbClr val="DCE4F2"/>
                </a:solidFill>
              </a:rPr>
              <a:t>Bids for Pentagon contracts online</a:t>
            </a:r>
            <a:endParaRPr lang="en-US" sz="1500" dirty="0"/>
          </a:p>
        </p:txBody>
      </p:sp>
      <p:sp>
        <p:nvSpPr>
          <p:cNvPr id="33" name="fact rule"/>
          <p:cNvSpPr/>
          <p:nvPr/>
        </p:nvSpPr>
        <p:spPr>
          <a:xfrm>
            <a:off x="4297680" y="4562856"/>
            <a:ext cx="2743200" cy="0"/>
          </a:xfrm>
          <a:prstGeom prst="line">
            <a:avLst/>
          </a:prstGeom>
          <a:noFill/>
          <a:ln w="12700">
            <a:solidFill>
              <a:srgbClr val="28406E"/>
            </a:solidFill>
            <a:prstDash val="solid"/>
          </a:ln>
        </p:spPr>
      </p:sp>
      <p:sp>
        <p:nvSpPr>
          <p:cNvPr id="34" name="Text 30"/>
          <p:cNvSpPr txBox="1"/>
          <p:nvPr/>
        </p:nvSpPr>
        <p:spPr>
          <a:xfrm>
            <a:off x="4297680" y="4636008"/>
            <a:ext cx="2743200" cy="603504"/>
          </a:xfrm>
          <a:prstGeom prst="rect">
            <a:avLst/>
          </a:prstGeom>
          <a:noFill/>
          <a:ln/>
        </p:spPr>
        <p:txBody>
          <a:bodyPr wrap="square" lIns="0" tIns="0" rIns="0" bIns="0" rtlCol="0" anchor="ctr"/>
          <a:lstStyle/>
          <a:p>
            <a:pPr indent="0" marL="0">
              <a:buNone/>
            </a:pPr>
            <a:r>
              <a:rPr lang="en-US" sz="1500" dirty="0">
                <a:solidFill>
                  <a:srgbClr val="DCE4F2"/>
                </a:solidFill>
              </a:rPr>
              <a:t>Learned the trade through his uncle</a:t>
            </a:r>
            <a:endParaRPr lang="en-US" sz="1500" dirty="0"/>
          </a:p>
        </p:txBody>
      </p:sp>
      <p:pic>
        <p:nvPicPr>
          <p:cNvPr id="35" name="desk icon" descr="preencoded.png">    </p:cNvPr>
          <p:cNvPicPr>
            <a:picLocks noChangeAspect="1"/>
          </p:cNvPicPr>
          <p:nvPr/>
        </p:nvPicPr>
        <p:blipFill>
          <a:blip r:embed="rId3"/>
          <a:stretch>
            <a:fillRect/>
          </a:stretch>
        </p:blipFill>
        <p:spPr>
          <a:xfrm>
            <a:off x="7543800" y="1764792"/>
            <a:ext cx="219456" cy="219456"/>
          </a:xfrm>
          <a:prstGeom prst="rect">
            <a:avLst/>
          </a:prstGeom>
        </p:spPr>
      </p:pic>
      <p:sp>
        <p:nvSpPr>
          <p:cNvPr id="36" name="Text 31"/>
          <p:cNvSpPr txBox="1"/>
          <p:nvPr/>
        </p:nvSpPr>
        <p:spPr>
          <a:xfrm>
            <a:off x="7854696" y="1737360"/>
            <a:ext cx="3788359" cy="274320"/>
          </a:xfrm>
          <a:prstGeom prst="rect">
            <a:avLst/>
          </a:prstGeom>
          <a:noFill/>
          <a:ln/>
        </p:spPr>
        <p:txBody>
          <a:bodyPr wrap="square" lIns="0" tIns="0" rIns="0" bIns="0" rtlCol="0" anchor="ctr"/>
          <a:lstStyle/>
          <a:p>
            <a:pPr indent="0" marL="0">
              <a:buNone/>
            </a:pPr>
            <a:r>
              <a:rPr lang="en-US" sz="1150" b="1" spc="200" kern="0" dirty="0">
                <a:solidFill>
                  <a:srgbClr val="4CC3FF"/>
                </a:solidFill>
                <a:latin typeface="Arial" pitchFamily="34" charset="0"/>
                <a:ea typeface="Arial" pitchFamily="34" charset="-122"/>
                <a:cs typeface="Arial" pitchFamily="34" charset="-120"/>
              </a:rPr>
              <a:t>CRIMINOLOGY DESK ANALYSIS</a:t>
            </a:r>
            <a:endParaRPr lang="en-US" sz="1150" dirty="0"/>
          </a:p>
        </p:txBody>
      </p:sp>
      <p:sp>
        <p:nvSpPr>
          <p:cNvPr id="37" name="Strain and institutional anomie"/>
          <p:cNvSpPr/>
          <p:nvPr/>
        </p:nvSpPr>
        <p:spPr>
          <a:xfrm>
            <a:off x="7543800" y="2103120"/>
            <a:ext cx="4099255" cy="1600200"/>
          </a:xfrm>
          <a:prstGeom prst="rect">
            <a:avLst/>
          </a:prstGeom>
          <a:solidFill>
            <a:srgbClr val="102347"/>
          </a:solidFill>
          <a:ln w="12700">
            <a:solidFill>
              <a:srgbClr val="28406E"/>
            </a:solidFill>
            <a:prstDash val="solid"/>
          </a:ln>
        </p:spPr>
      </p:sp>
      <p:sp>
        <p:nvSpPr>
          <p:cNvPr id="38" name="Strain and institutional anomie rule"/>
          <p:cNvSpPr/>
          <p:nvPr/>
        </p:nvSpPr>
        <p:spPr>
          <a:xfrm>
            <a:off x="7543800" y="2103120"/>
            <a:ext cx="64008" cy="1600200"/>
          </a:xfrm>
          <a:prstGeom prst="rect">
            <a:avLst/>
          </a:prstGeom>
          <a:solidFill>
            <a:srgbClr val="4CC3FF"/>
          </a:solidFill>
          <a:ln/>
        </p:spPr>
      </p:sp>
      <p:sp>
        <p:nvSpPr>
          <p:cNvPr id="39" name="Text 34"/>
          <p:cNvSpPr txBox="1"/>
          <p:nvPr/>
        </p:nvSpPr>
        <p:spPr>
          <a:xfrm>
            <a:off x="7772400" y="2240280"/>
            <a:ext cx="3687775" cy="1325880"/>
          </a:xfrm>
          <a:prstGeom prst="rect">
            <a:avLst/>
          </a:prstGeom>
          <a:noFill/>
          <a:ln/>
        </p:spPr>
        <p:txBody>
          <a:bodyPr wrap="square" lIns="0" tIns="0" rIns="0" bIns="0" rtlCol="0" anchor="t"/>
          <a:lstStyle/>
          <a:p>
            <a:pPr indent="0" marL="0">
              <a:buNone/>
            </a:pPr>
            <a:r>
              <a:rPr lang="en-US" sz="1600" b="1" dirty="0">
                <a:solidFill>
                  <a:srgbClr val="FFFFFF"/>
                </a:solidFill>
              </a:rPr>
              <a:t>Strain and institutional anomie</a:t>
            </a:r>
            <a:endParaRPr lang="en-US" sz="1600" dirty="0"/>
          </a:p>
          <a:p>
            <a:pPr indent="0" marL="0">
              <a:buNone/>
            </a:pPr>
            <a:r>
              <a:rPr lang="en-US" sz="1150" b="1" dirty="0">
                <a:solidFill>
                  <a:srgbClr val="4CC3FF"/>
                </a:solidFill>
              </a:rPr>
              <a:t>Merton (1938); Messner &amp; Rosenfeld (1994)</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Wealth is the goal, legal means are blocked, so David “innovates”. Money starts to outrank family.</a:t>
            </a:r>
            <a:endParaRPr lang="en-US" sz="1600" dirty="0"/>
          </a:p>
        </p:txBody>
      </p:sp>
      <p:sp>
        <p:nvSpPr>
          <p:cNvPr id="40" name="Differential association"/>
          <p:cNvSpPr/>
          <p:nvPr/>
        </p:nvSpPr>
        <p:spPr>
          <a:xfrm>
            <a:off x="7543800" y="3840480"/>
            <a:ext cx="4099255" cy="1600200"/>
          </a:xfrm>
          <a:prstGeom prst="rect">
            <a:avLst/>
          </a:prstGeom>
          <a:solidFill>
            <a:srgbClr val="102347"/>
          </a:solidFill>
          <a:ln w="12700">
            <a:solidFill>
              <a:srgbClr val="28406E"/>
            </a:solidFill>
            <a:prstDash val="solid"/>
          </a:ln>
        </p:spPr>
      </p:sp>
      <p:sp>
        <p:nvSpPr>
          <p:cNvPr id="41" name="Differential association rule"/>
          <p:cNvSpPr/>
          <p:nvPr/>
        </p:nvSpPr>
        <p:spPr>
          <a:xfrm>
            <a:off x="7543800" y="3840480"/>
            <a:ext cx="64008" cy="1600200"/>
          </a:xfrm>
          <a:prstGeom prst="rect">
            <a:avLst/>
          </a:prstGeom>
          <a:solidFill>
            <a:srgbClr val="4CC3FF"/>
          </a:solidFill>
          <a:ln/>
        </p:spPr>
      </p:sp>
      <p:sp>
        <p:nvSpPr>
          <p:cNvPr id="42" name="Text 37"/>
          <p:cNvSpPr txBox="1"/>
          <p:nvPr/>
        </p:nvSpPr>
        <p:spPr>
          <a:xfrm>
            <a:off x="7772400" y="3977640"/>
            <a:ext cx="3687775" cy="1325880"/>
          </a:xfrm>
          <a:prstGeom prst="rect">
            <a:avLst/>
          </a:prstGeom>
          <a:noFill/>
          <a:ln/>
        </p:spPr>
        <p:txBody>
          <a:bodyPr wrap="square" lIns="0" tIns="0" rIns="0" bIns="0" rtlCol="0" anchor="t"/>
          <a:lstStyle/>
          <a:p>
            <a:pPr indent="0" marL="0">
              <a:buNone/>
            </a:pPr>
            <a:r>
              <a:rPr lang="en-US" sz="1600" b="1" dirty="0">
                <a:solidFill>
                  <a:srgbClr val="FFFFFF"/>
                </a:solidFill>
              </a:rPr>
              <a:t>Differential association</a:t>
            </a:r>
            <a:endParaRPr lang="en-US" sz="1600" dirty="0"/>
          </a:p>
          <a:p>
            <a:pPr indent="0" marL="0">
              <a:buNone/>
            </a:pPr>
            <a:r>
              <a:rPr lang="en-US" sz="1150" b="1" dirty="0">
                <a:solidFill>
                  <a:srgbClr val="4CC3FF"/>
                </a:solidFill>
              </a:rPr>
              <a:t>Sutherland (1947)</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Crime is learned in close groups: David learns the methods and the excuses from Efraim.</a:t>
            </a:r>
            <a:endParaRPr lang="en-US" sz="16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EXPLAINER</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How two young men beat the defence giants</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JESMIN NAHER SWEETY</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CORRESPONDENT  ·  MIAMI</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TENDERS POSTED ONLINE  •  AEY UNDERBIDS THE GIANTS  •  PISTOLS DRIVEN FROM JORDAN INTO IRAQ</a:t>
            </a:r>
            <a:endParaRPr lang="en-US" sz="1150" dirty="0"/>
          </a:p>
        </p:txBody>
      </p:sp>
      <p:sp>
        <p:nvSpPr>
          <p:cNvPr id="11" name="The Pentagon"/>
          <p:cNvSpPr/>
          <p:nvPr/>
        </p:nvSpPr>
        <p:spPr>
          <a:xfrm>
            <a:off x="548640" y="1737360"/>
            <a:ext cx="2514600" cy="2057400"/>
          </a:xfrm>
          <a:prstGeom prst="rect">
            <a:avLst/>
          </a:prstGeom>
          <a:solidFill>
            <a:srgbClr val="102347"/>
          </a:solidFill>
          <a:ln w="12700">
            <a:solidFill>
              <a:srgbClr val="28406E"/>
            </a:solidFill>
            <a:prstDash val="solid"/>
          </a:ln>
        </p:spPr>
      </p:sp>
      <p:sp>
        <p:nvSpPr>
          <p:cNvPr id="12" name="The Pentagon circle"/>
          <p:cNvSpPr/>
          <p:nvPr/>
        </p:nvSpPr>
        <p:spPr>
          <a:xfrm>
            <a:off x="777240" y="1920240"/>
            <a:ext cx="594360" cy="594360"/>
          </a:xfrm>
          <a:prstGeom prst="ellipse">
            <a:avLst/>
          </a:prstGeom>
          <a:solidFill>
            <a:srgbClr val="2C5BA8"/>
          </a:solidFill>
          <a:ln/>
        </p:spPr>
      </p:sp>
      <p:pic>
        <p:nvPicPr>
          <p:cNvPr id="13" name="The Pentagon icon" descr="The Pentagon">    </p:cNvPr>
          <p:cNvPicPr>
            <a:picLocks noChangeAspect="1"/>
          </p:cNvPicPr>
          <p:nvPr/>
        </p:nvPicPr>
        <p:blipFill>
          <a:blip r:embed="rId1"/>
          <a:stretch>
            <a:fillRect/>
          </a:stretch>
        </p:blipFill>
        <p:spPr>
          <a:xfrm>
            <a:off x="925830" y="2068830"/>
            <a:ext cx="297180" cy="297180"/>
          </a:xfrm>
          <a:prstGeom prst="rect">
            <a:avLst/>
          </a:prstGeom>
        </p:spPr>
      </p:pic>
      <p:sp>
        <p:nvSpPr>
          <p:cNvPr id="14" name="Text 11"/>
          <p:cNvSpPr txBox="1"/>
          <p:nvPr/>
        </p:nvSpPr>
        <p:spPr>
          <a:xfrm>
            <a:off x="2423160" y="1920240"/>
            <a:ext cx="411480" cy="594360"/>
          </a:xfrm>
          <a:prstGeom prst="rect">
            <a:avLst/>
          </a:prstGeom>
          <a:noFill/>
          <a:ln/>
        </p:spPr>
        <p:txBody>
          <a:bodyPr wrap="square" lIns="0" tIns="0" rIns="0" bIns="0" rtlCol="0" anchor="ctr"/>
          <a:lstStyle/>
          <a:p>
            <a:pPr algn="r" indent="0" marL="0">
              <a:buNone/>
            </a:pPr>
            <a:r>
              <a:rPr lang="en-US" sz="2600" b="1" dirty="0">
                <a:solidFill>
                  <a:srgbClr val="3B5A92"/>
                </a:solidFill>
                <a:latin typeface="Arial" pitchFamily="34" charset="0"/>
                <a:ea typeface="Arial" pitchFamily="34" charset="-122"/>
                <a:cs typeface="Arial" pitchFamily="34" charset="-120"/>
              </a:rPr>
              <a:t>1</a:t>
            </a:r>
            <a:endParaRPr lang="en-US" sz="2600" dirty="0"/>
          </a:p>
        </p:txBody>
      </p:sp>
      <p:sp>
        <p:nvSpPr>
          <p:cNvPr id="15" name="Text 12"/>
          <p:cNvSpPr txBox="1"/>
          <p:nvPr/>
        </p:nvSpPr>
        <p:spPr>
          <a:xfrm>
            <a:off x="777240" y="2651760"/>
            <a:ext cx="2103120" cy="1051560"/>
          </a:xfrm>
          <a:prstGeom prst="rect">
            <a:avLst/>
          </a:prstGeom>
          <a:noFill/>
          <a:ln/>
        </p:spPr>
        <p:txBody>
          <a:bodyPr wrap="square" lIns="0" tIns="0" rIns="0" bIns="0" rtlCol="0" anchor="t"/>
          <a:lstStyle/>
          <a:p>
            <a:pPr indent="0" marL="0">
              <a:buNone/>
            </a:pPr>
            <a:r>
              <a:rPr lang="en-US" sz="1700" b="1" dirty="0">
                <a:solidFill>
                  <a:srgbClr val="FFFFFF"/>
                </a:solidFill>
              </a:rPr>
              <a:t>The Pentagon</a:t>
            </a:r>
            <a:endParaRPr lang="en-US" sz="1700" dirty="0"/>
          </a:p>
          <a:p>
            <a:pPr indent="0" marL="0">
              <a:buNone/>
            </a:pPr>
            <a:r>
              <a:rPr lang="en-US" sz="1400" dirty="0">
                <a:solidFill>
                  <a:srgbClr val="DCE4F2"/>
                </a:solidFill>
              </a:rPr>
              <a:t>posts its tenders publicly online</a:t>
            </a:r>
            <a:endParaRPr lang="en-US" sz="1700" dirty="0"/>
          </a:p>
        </p:txBody>
      </p:sp>
      <p:pic>
        <p:nvPicPr>
          <p:cNvPr id="16" name="flow arrow" descr="preencoded.png">    </p:cNvPr>
          <p:cNvPicPr>
            <a:picLocks noChangeAspect="1"/>
          </p:cNvPicPr>
          <p:nvPr/>
        </p:nvPicPr>
        <p:blipFill>
          <a:blip r:embed="rId2"/>
          <a:stretch>
            <a:fillRect/>
          </a:stretch>
        </p:blipFill>
        <p:spPr>
          <a:xfrm>
            <a:off x="3117037" y="2651760"/>
            <a:ext cx="237744" cy="237744"/>
          </a:xfrm>
          <a:prstGeom prst="rect">
            <a:avLst/>
          </a:prstGeom>
        </p:spPr>
      </p:pic>
      <p:sp>
        <p:nvSpPr>
          <p:cNvPr id="17" name="AEY bids"/>
          <p:cNvSpPr/>
          <p:nvPr/>
        </p:nvSpPr>
        <p:spPr>
          <a:xfrm>
            <a:off x="3408578" y="1737360"/>
            <a:ext cx="2514600" cy="2057400"/>
          </a:xfrm>
          <a:prstGeom prst="rect">
            <a:avLst/>
          </a:prstGeom>
          <a:solidFill>
            <a:srgbClr val="102347"/>
          </a:solidFill>
          <a:ln w="12700">
            <a:solidFill>
              <a:srgbClr val="28406E"/>
            </a:solidFill>
            <a:prstDash val="solid"/>
          </a:ln>
        </p:spPr>
      </p:sp>
      <p:sp>
        <p:nvSpPr>
          <p:cNvPr id="18" name="AEY bids circle"/>
          <p:cNvSpPr/>
          <p:nvPr/>
        </p:nvSpPr>
        <p:spPr>
          <a:xfrm>
            <a:off x="3637178" y="1920240"/>
            <a:ext cx="594360" cy="594360"/>
          </a:xfrm>
          <a:prstGeom prst="ellipse">
            <a:avLst/>
          </a:prstGeom>
          <a:solidFill>
            <a:srgbClr val="2C5BA8"/>
          </a:solidFill>
          <a:ln/>
        </p:spPr>
      </p:sp>
      <p:pic>
        <p:nvPicPr>
          <p:cNvPr id="19" name="AEY bids icon" descr="AEY bids">    </p:cNvPr>
          <p:cNvPicPr>
            <a:picLocks noChangeAspect="1"/>
          </p:cNvPicPr>
          <p:nvPr/>
        </p:nvPicPr>
        <p:blipFill>
          <a:blip r:embed="rId3"/>
          <a:stretch>
            <a:fillRect/>
          </a:stretch>
        </p:blipFill>
        <p:spPr>
          <a:xfrm>
            <a:off x="3785768" y="2068830"/>
            <a:ext cx="297180" cy="297180"/>
          </a:xfrm>
          <a:prstGeom prst="rect">
            <a:avLst/>
          </a:prstGeom>
        </p:spPr>
      </p:pic>
      <p:sp>
        <p:nvSpPr>
          <p:cNvPr id="20" name="Text 15"/>
          <p:cNvSpPr txBox="1"/>
          <p:nvPr/>
        </p:nvSpPr>
        <p:spPr>
          <a:xfrm>
            <a:off x="5283098" y="1920240"/>
            <a:ext cx="411480" cy="594360"/>
          </a:xfrm>
          <a:prstGeom prst="rect">
            <a:avLst/>
          </a:prstGeom>
          <a:noFill/>
          <a:ln/>
        </p:spPr>
        <p:txBody>
          <a:bodyPr wrap="square" lIns="0" tIns="0" rIns="0" bIns="0" rtlCol="0" anchor="ctr"/>
          <a:lstStyle/>
          <a:p>
            <a:pPr algn="r" indent="0" marL="0">
              <a:buNone/>
            </a:pPr>
            <a:r>
              <a:rPr lang="en-US" sz="2600" b="1" dirty="0">
                <a:solidFill>
                  <a:srgbClr val="3B5A92"/>
                </a:solidFill>
                <a:latin typeface="Arial" pitchFamily="34" charset="0"/>
                <a:ea typeface="Arial" pitchFamily="34" charset="-122"/>
                <a:cs typeface="Arial" pitchFamily="34" charset="-120"/>
              </a:rPr>
              <a:t>2</a:t>
            </a:r>
            <a:endParaRPr lang="en-US" sz="2600" dirty="0"/>
          </a:p>
        </p:txBody>
      </p:sp>
      <p:sp>
        <p:nvSpPr>
          <p:cNvPr id="21" name="Text 16"/>
          <p:cNvSpPr txBox="1"/>
          <p:nvPr/>
        </p:nvSpPr>
        <p:spPr>
          <a:xfrm>
            <a:off x="3637178" y="2651760"/>
            <a:ext cx="2103120" cy="1051560"/>
          </a:xfrm>
          <a:prstGeom prst="rect">
            <a:avLst/>
          </a:prstGeom>
          <a:noFill/>
          <a:ln/>
        </p:spPr>
        <p:txBody>
          <a:bodyPr wrap="square" lIns="0" tIns="0" rIns="0" bIns="0" rtlCol="0" anchor="t"/>
          <a:lstStyle/>
          <a:p>
            <a:pPr indent="0" marL="0">
              <a:buNone/>
            </a:pPr>
            <a:r>
              <a:rPr lang="en-US" sz="1700" b="1" dirty="0">
                <a:solidFill>
                  <a:srgbClr val="FFFFFF"/>
                </a:solidFill>
              </a:rPr>
              <a:t>AEY bids</a:t>
            </a:r>
            <a:endParaRPr lang="en-US" sz="1700" dirty="0"/>
          </a:p>
          <a:p>
            <a:pPr indent="0" marL="0">
              <a:buNone/>
            </a:pPr>
            <a:r>
              <a:rPr lang="en-US" sz="1400" dirty="0">
                <a:solidFill>
                  <a:srgbClr val="DCE4F2"/>
                </a:solidFill>
              </a:rPr>
              <a:t>on the small orders the giants skip</a:t>
            </a:r>
            <a:endParaRPr lang="en-US" sz="1700" dirty="0"/>
          </a:p>
        </p:txBody>
      </p:sp>
      <p:pic>
        <p:nvPicPr>
          <p:cNvPr id="22" name="flow arrow" descr="preencoded.png">    </p:cNvPr>
          <p:cNvPicPr>
            <a:picLocks noChangeAspect="1"/>
          </p:cNvPicPr>
          <p:nvPr/>
        </p:nvPicPr>
        <p:blipFill>
          <a:blip r:embed="rId4"/>
          <a:stretch>
            <a:fillRect/>
          </a:stretch>
        </p:blipFill>
        <p:spPr>
          <a:xfrm>
            <a:off x="5976976" y="2651760"/>
            <a:ext cx="237744" cy="237744"/>
          </a:xfrm>
          <a:prstGeom prst="rect">
            <a:avLst/>
          </a:prstGeom>
        </p:spPr>
      </p:pic>
      <p:sp>
        <p:nvSpPr>
          <p:cNvPr id="23" name="AEY wins"/>
          <p:cNvSpPr/>
          <p:nvPr/>
        </p:nvSpPr>
        <p:spPr>
          <a:xfrm>
            <a:off x="6268517" y="1737360"/>
            <a:ext cx="2514600" cy="2057400"/>
          </a:xfrm>
          <a:prstGeom prst="rect">
            <a:avLst/>
          </a:prstGeom>
          <a:solidFill>
            <a:srgbClr val="102347"/>
          </a:solidFill>
          <a:ln w="12700">
            <a:solidFill>
              <a:srgbClr val="28406E"/>
            </a:solidFill>
            <a:prstDash val="solid"/>
          </a:ln>
        </p:spPr>
      </p:sp>
      <p:sp>
        <p:nvSpPr>
          <p:cNvPr id="24" name="AEY wins circle"/>
          <p:cNvSpPr/>
          <p:nvPr/>
        </p:nvSpPr>
        <p:spPr>
          <a:xfrm>
            <a:off x="6497117" y="1920240"/>
            <a:ext cx="594360" cy="594360"/>
          </a:xfrm>
          <a:prstGeom prst="ellipse">
            <a:avLst/>
          </a:prstGeom>
          <a:solidFill>
            <a:srgbClr val="2C5BA8"/>
          </a:solidFill>
          <a:ln/>
        </p:spPr>
      </p:sp>
      <p:pic>
        <p:nvPicPr>
          <p:cNvPr id="25" name="AEY wins icon" descr="AEY wins">    </p:cNvPr>
          <p:cNvPicPr>
            <a:picLocks noChangeAspect="1"/>
          </p:cNvPicPr>
          <p:nvPr/>
        </p:nvPicPr>
        <p:blipFill>
          <a:blip r:embed="rId5"/>
          <a:stretch>
            <a:fillRect/>
          </a:stretch>
        </p:blipFill>
        <p:spPr>
          <a:xfrm>
            <a:off x="6645707" y="2068830"/>
            <a:ext cx="297180" cy="297180"/>
          </a:xfrm>
          <a:prstGeom prst="rect">
            <a:avLst/>
          </a:prstGeom>
        </p:spPr>
      </p:pic>
      <p:sp>
        <p:nvSpPr>
          <p:cNvPr id="26" name="Text 19"/>
          <p:cNvSpPr txBox="1"/>
          <p:nvPr/>
        </p:nvSpPr>
        <p:spPr>
          <a:xfrm>
            <a:off x="8143037" y="1920240"/>
            <a:ext cx="411480" cy="594360"/>
          </a:xfrm>
          <a:prstGeom prst="rect">
            <a:avLst/>
          </a:prstGeom>
          <a:noFill/>
          <a:ln/>
        </p:spPr>
        <p:txBody>
          <a:bodyPr wrap="square" lIns="0" tIns="0" rIns="0" bIns="0" rtlCol="0" anchor="ctr"/>
          <a:lstStyle/>
          <a:p>
            <a:pPr algn="r" indent="0" marL="0">
              <a:buNone/>
            </a:pPr>
            <a:r>
              <a:rPr lang="en-US" sz="2600" b="1" dirty="0">
                <a:solidFill>
                  <a:srgbClr val="3B5A92"/>
                </a:solidFill>
                <a:latin typeface="Arial" pitchFamily="34" charset="0"/>
                <a:ea typeface="Arial" pitchFamily="34" charset="-122"/>
                <a:cs typeface="Arial" pitchFamily="34" charset="-120"/>
              </a:rPr>
              <a:t>3</a:t>
            </a:r>
            <a:endParaRPr lang="en-US" sz="2600" dirty="0"/>
          </a:p>
        </p:txBody>
      </p:sp>
      <p:sp>
        <p:nvSpPr>
          <p:cNvPr id="27" name="Text 20"/>
          <p:cNvSpPr txBox="1"/>
          <p:nvPr/>
        </p:nvSpPr>
        <p:spPr>
          <a:xfrm>
            <a:off x="6497117" y="2651760"/>
            <a:ext cx="2103120" cy="1051560"/>
          </a:xfrm>
          <a:prstGeom prst="rect">
            <a:avLst/>
          </a:prstGeom>
          <a:noFill/>
          <a:ln/>
        </p:spPr>
        <p:txBody>
          <a:bodyPr wrap="square" lIns="0" tIns="0" rIns="0" bIns="0" rtlCol="0" anchor="t"/>
          <a:lstStyle/>
          <a:p>
            <a:pPr indent="0" marL="0">
              <a:buNone/>
            </a:pPr>
            <a:r>
              <a:rPr lang="en-US" sz="1700" b="1" dirty="0">
                <a:solidFill>
                  <a:srgbClr val="FFFFFF"/>
                </a:solidFill>
              </a:rPr>
              <a:t>AEY wins</a:t>
            </a:r>
            <a:endParaRPr lang="en-US" sz="1700" dirty="0"/>
          </a:p>
          <a:p>
            <a:pPr indent="0" marL="0">
              <a:buNone/>
            </a:pPr>
            <a:r>
              <a:rPr lang="en-US" sz="1400" dirty="0">
                <a:solidFill>
                  <a:srgbClr val="DCE4F2"/>
                </a:solidFill>
              </a:rPr>
              <a:t>by underbidding the big firms</a:t>
            </a:r>
            <a:endParaRPr lang="en-US" sz="1700" dirty="0"/>
          </a:p>
        </p:txBody>
      </p:sp>
      <p:pic>
        <p:nvPicPr>
          <p:cNvPr id="28" name="flow arrow" descr="preencoded.png">    </p:cNvPr>
          <p:cNvPicPr>
            <a:picLocks noChangeAspect="1"/>
          </p:cNvPicPr>
          <p:nvPr/>
        </p:nvPicPr>
        <p:blipFill>
          <a:blip r:embed="rId6"/>
          <a:stretch>
            <a:fillRect/>
          </a:stretch>
        </p:blipFill>
        <p:spPr>
          <a:xfrm>
            <a:off x="8836914" y="2651760"/>
            <a:ext cx="237744" cy="237744"/>
          </a:xfrm>
          <a:prstGeom prst="rect">
            <a:avLst/>
          </a:prstGeom>
        </p:spPr>
      </p:pic>
      <p:sp>
        <p:nvSpPr>
          <p:cNvPr id="29" name="AEY delivers"/>
          <p:cNvSpPr/>
          <p:nvPr/>
        </p:nvSpPr>
        <p:spPr>
          <a:xfrm>
            <a:off x="9128455" y="1737360"/>
            <a:ext cx="2514600" cy="2057400"/>
          </a:xfrm>
          <a:prstGeom prst="rect">
            <a:avLst/>
          </a:prstGeom>
          <a:solidFill>
            <a:srgbClr val="102347"/>
          </a:solidFill>
          <a:ln w="12700">
            <a:solidFill>
              <a:srgbClr val="D7191F"/>
            </a:solidFill>
            <a:prstDash val="solid"/>
          </a:ln>
        </p:spPr>
      </p:sp>
      <p:sp>
        <p:nvSpPr>
          <p:cNvPr id="30" name="AEY delivers circle"/>
          <p:cNvSpPr/>
          <p:nvPr/>
        </p:nvSpPr>
        <p:spPr>
          <a:xfrm>
            <a:off x="9357055" y="1920240"/>
            <a:ext cx="594360" cy="594360"/>
          </a:xfrm>
          <a:prstGeom prst="ellipse">
            <a:avLst/>
          </a:prstGeom>
          <a:solidFill>
            <a:srgbClr val="D7191F"/>
          </a:solidFill>
          <a:ln/>
        </p:spPr>
      </p:sp>
      <p:pic>
        <p:nvPicPr>
          <p:cNvPr id="31" name="AEY delivers icon" descr="AEY delivers">    </p:cNvPr>
          <p:cNvPicPr>
            <a:picLocks noChangeAspect="1"/>
          </p:cNvPicPr>
          <p:nvPr/>
        </p:nvPicPr>
        <p:blipFill>
          <a:blip r:embed="rId7"/>
          <a:stretch>
            <a:fillRect/>
          </a:stretch>
        </p:blipFill>
        <p:spPr>
          <a:xfrm>
            <a:off x="9505645" y="2068830"/>
            <a:ext cx="297180" cy="297180"/>
          </a:xfrm>
          <a:prstGeom prst="rect">
            <a:avLst/>
          </a:prstGeom>
        </p:spPr>
      </p:pic>
      <p:sp>
        <p:nvSpPr>
          <p:cNvPr id="32" name="Text 23"/>
          <p:cNvSpPr txBox="1"/>
          <p:nvPr/>
        </p:nvSpPr>
        <p:spPr>
          <a:xfrm>
            <a:off x="11002975" y="1920240"/>
            <a:ext cx="411480" cy="594360"/>
          </a:xfrm>
          <a:prstGeom prst="rect">
            <a:avLst/>
          </a:prstGeom>
          <a:noFill/>
          <a:ln/>
        </p:spPr>
        <p:txBody>
          <a:bodyPr wrap="square" lIns="0" tIns="0" rIns="0" bIns="0" rtlCol="0" anchor="ctr"/>
          <a:lstStyle/>
          <a:p>
            <a:pPr algn="r" indent="0" marL="0">
              <a:buNone/>
            </a:pPr>
            <a:r>
              <a:rPr lang="en-US" sz="2600" b="1" dirty="0">
                <a:solidFill>
                  <a:srgbClr val="3B5A92"/>
                </a:solidFill>
                <a:latin typeface="Arial" pitchFamily="34" charset="0"/>
                <a:ea typeface="Arial" pitchFamily="34" charset="-122"/>
                <a:cs typeface="Arial" pitchFamily="34" charset="-120"/>
              </a:rPr>
              <a:t>4</a:t>
            </a:r>
            <a:endParaRPr lang="en-US" sz="2600" dirty="0"/>
          </a:p>
        </p:txBody>
      </p:sp>
      <p:sp>
        <p:nvSpPr>
          <p:cNvPr id="33" name="Text 24"/>
          <p:cNvSpPr txBox="1"/>
          <p:nvPr/>
        </p:nvSpPr>
        <p:spPr>
          <a:xfrm>
            <a:off x="9357055" y="2651760"/>
            <a:ext cx="2103120" cy="1051560"/>
          </a:xfrm>
          <a:prstGeom prst="rect">
            <a:avLst/>
          </a:prstGeom>
          <a:noFill/>
          <a:ln/>
        </p:spPr>
        <p:txBody>
          <a:bodyPr wrap="square" lIns="0" tIns="0" rIns="0" bIns="0" rtlCol="0" anchor="t"/>
          <a:lstStyle/>
          <a:p>
            <a:pPr indent="0" marL="0">
              <a:buNone/>
            </a:pPr>
            <a:r>
              <a:rPr lang="en-US" sz="1700" b="1" dirty="0">
                <a:solidFill>
                  <a:srgbClr val="FFFFFF"/>
                </a:solidFill>
              </a:rPr>
              <a:t>AEY delivers</a:t>
            </a:r>
            <a:endParaRPr lang="en-US" sz="1700" dirty="0"/>
          </a:p>
          <a:p>
            <a:pPr indent="0" marL="0">
              <a:buNone/>
            </a:pPr>
            <a:r>
              <a:rPr lang="en-US" sz="1400" dirty="0">
                <a:solidFill>
                  <a:srgbClr val="DCE4F2"/>
                </a:solidFill>
              </a:rPr>
              <a:t>whatever it takes: even driving pistols from Jordan into Iraq</a:t>
            </a:r>
            <a:endParaRPr lang="en-US" sz="1700" dirty="0"/>
          </a:p>
        </p:txBody>
      </p:sp>
      <p:pic>
        <p:nvPicPr>
          <p:cNvPr id="34" name="desk icon" descr="preencoded.png">    </p:cNvPr>
          <p:cNvPicPr>
            <a:picLocks noChangeAspect="1"/>
          </p:cNvPicPr>
          <p:nvPr/>
        </p:nvPicPr>
        <p:blipFill>
          <a:blip r:embed="rId8"/>
          <a:stretch>
            <a:fillRect/>
          </a:stretch>
        </p:blipFill>
        <p:spPr>
          <a:xfrm>
            <a:off x="548640" y="3959352"/>
            <a:ext cx="219456" cy="219456"/>
          </a:xfrm>
          <a:prstGeom prst="rect">
            <a:avLst/>
          </a:prstGeom>
        </p:spPr>
      </p:pic>
      <p:sp>
        <p:nvSpPr>
          <p:cNvPr id="35" name="Text 25"/>
          <p:cNvSpPr txBox="1"/>
          <p:nvPr/>
        </p:nvSpPr>
        <p:spPr>
          <a:xfrm>
            <a:off x="859536" y="3931920"/>
            <a:ext cx="5175504" cy="274320"/>
          </a:xfrm>
          <a:prstGeom prst="rect">
            <a:avLst/>
          </a:prstGeom>
          <a:noFill/>
          <a:ln/>
        </p:spPr>
        <p:txBody>
          <a:bodyPr wrap="square" lIns="0" tIns="0" rIns="0" bIns="0" rtlCol="0" anchor="ctr"/>
          <a:lstStyle/>
          <a:p>
            <a:pPr indent="0" marL="0">
              <a:buNone/>
            </a:pPr>
            <a:r>
              <a:rPr lang="en-US" sz="1150" b="1" spc="200" kern="0" dirty="0">
                <a:solidFill>
                  <a:srgbClr val="4CC3FF"/>
                </a:solidFill>
                <a:latin typeface="Arial" pitchFamily="34" charset="0"/>
                <a:ea typeface="Arial" pitchFamily="34" charset="-122"/>
                <a:cs typeface="Arial" pitchFamily="34" charset="-120"/>
              </a:rPr>
              <a:t>CRIMINOLOGY DESK ANALYSIS</a:t>
            </a:r>
            <a:endParaRPr lang="en-US" sz="1150" dirty="0"/>
          </a:p>
        </p:txBody>
      </p:sp>
      <p:sp>
        <p:nvSpPr>
          <p:cNvPr id="36" name="Rational choice"/>
          <p:cNvSpPr/>
          <p:nvPr/>
        </p:nvSpPr>
        <p:spPr>
          <a:xfrm>
            <a:off x="548640" y="4279392"/>
            <a:ext cx="5410048" cy="1161288"/>
          </a:xfrm>
          <a:prstGeom prst="rect">
            <a:avLst/>
          </a:prstGeom>
          <a:solidFill>
            <a:srgbClr val="102347"/>
          </a:solidFill>
          <a:ln w="12700">
            <a:solidFill>
              <a:srgbClr val="28406E"/>
            </a:solidFill>
            <a:prstDash val="solid"/>
          </a:ln>
        </p:spPr>
      </p:sp>
      <p:sp>
        <p:nvSpPr>
          <p:cNvPr id="37" name="Rational choice rule"/>
          <p:cNvSpPr/>
          <p:nvPr/>
        </p:nvSpPr>
        <p:spPr>
          <a:xfrm>
            <a:off x="548640" y="4279392"/>
            <a:ext cx="64008" cy="1161288"/>
          </a:xfrm>
          <a:prstGeom prst="rect">
            <a:avLst/>
          </a:prstGeom>
          <a:solidFill>
            <a:srgbClr val="4CC3FF"/>
          </a:solidFill>
          <a:ln/>
        </p:spPr>
      </p:sp>
      <p:sp>
        <p:nvSpPr>
          <p:cNvPr id="38" name="Text 28"/>
          <p:cNvSpPr txBox="1"/>
          <p:nvPr/>
        </p:nvSpPr>
        <p:spPr>
          <a:xfrm>
            <a:off x="777240" y="4416552"/>
            <a:ext cx="4998568" cy="886968"/>
          </a:xfrm>
          <a:prstGeom prst="rect">
            <a:avLst/>
          </a:prstGeom>
          <a:noFill/>
          <a:ln/>
        </p:spPr>
        <p:txBody>
          <a:bodyPr wrap="square" lIns="0" tIns="0" rIns="0" bIns="0" rtlCol="0" anchor="t"/>
          <a:lstStyle/>
          <a:p>
            <a:pPr indent="0" marL="0">
              <a:buNone/>
            </a:pPr>
            <a:r>
              <a:rPr lang="en-US" sz="1600" b="1" dirty="0">
                <a:solidFill>
                  <a:srgbClr val="FFFFFF"/>
                </a:solidFill>
              </a:rPr>
              <a:t>Rational choice</a:t>
            </a:r>
            <a:endParaRPr lang="en-US" sz="1600" dirty="0"/>
          </a:p>
          <a:p>
            <a:pPr indent="0" marL="0">
              <a:buNone/>
            </a:pPr>
            <a:r>
              <a:rPr lang="en-US" sz="1150" b="1" dirty="0">
                <a:solidFill>
                  <a:srgbClr val="4CC3FF"/>
                </a:solidFill>
              </a:rPr>
              <a:t>Cornish &amp; Clarke (1986)</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A calculated gamble: high reward, risks judged worth taking. Each success invites a bigger one.</a:t>
            </a:r>
            <a:endParaRPr lang="en-US" sz="1600" dirty="0"/>
          </a:p>
        </p:txBody>
      </p:sp>
      <p:sp>
        <p:nvSpPr>
          <p:cNvPr id="39" name="Enterprise model"/>
          <p:cNvSpPr/>
          <p:nvPr/>
        </p:nvSpPr>
        <p:spPr>
          <a:xfrm>
            <a:off x="6233008" y="4279392"/>
            <a:ext cx="5410048" cy="1161288"/>
          </a:xfrm>
          <a:prstGeom prst="rect">
            <a:avLst/>
          </a:prstGeom>
          <a:solidFill>
            <a:srgbClr val="102347"/>
          </a:solidFill>
          <a:ln w="12700">
            <a:solidFill>
              <a:srgbClr val="28406E"/>
            </a:solidFill>
            <a:prstDash val="solid"/>
          </a:ln>
        </p:spPr>
      </p:sp>
      <p:sp>
        <p:nvSpPr>
          <p:cNvPr id="40" name="Enterprise model rule"/>
          <p:cNvSpPr/>
          <p:nvPr/>
        </p:nvSpPr>
        <p:spPr>
          <a:xfrm>
            <a:off x="6233008" y="4279392"/>
            <a:ext cx="64008" cy="1161288"/>
          </a:xfrm>
          <a:prstGeom prst="rect">
            <a:avLst/>
          </a:prstGeom>
          <a:solidFill>
            <a:srgbClr val="4CC3FF"/>
          </a:solidFill>
          <a:ln/>
        </p:spPr>
      </p:sp>
      <p:sp>
        <p:nvSpPr>
          <p:cNvPr id="41" name="Text 31"/>
          <p:cNvSpPr txBox="1"/>
          <p:nvPr/>
        </p:nvSpPr>
        <p:spPr>
          <a:xfrm>
            <a:off x="6461608" y="4416552"/>
            <a:ext cx="4998568" cy="886968"/>
          </a:xfrm>
          <a:prstGeom prst="rect">
            <a:avLst/>
          </a:prstGeom>
          <a:noFill/>
          <a:ln/>
        </p:spPr>
        <p:txBody>
          <a:bodyPr wrap="square" lIns="0" tIns="0" rIns="0" bIns="0" rtlCol="0" anchor="t"/>
          <a:lstStyle/>
          <a:p>
            <a:pPr indent="0" marL="0">
              <a:buNone/>
            </a:pPr>
            <a:r>
              <a:rPr lang="en-US" sz="1600" b="1" dirty="0">
                <a:solidFill>
                  <a:srgbClr val="FFFFFF"/>
                </a:solidFill>
              </a:rPr>
              <a:t>Enterprise model</a:t>
            </a:r>
            <a:endParaRPr lang="en-US" sz="1600" dirty="0"/>
          </a:p>
          <a:p>
            <a:pPr indent="0" marL="0">
              <a:buNone/>
            </a:pPr>
            <a:r>
              <a:rPr lang="en-US" sz="1150" b="1" dirty="0">
                <a:solidFill>
                  <a:srgbClr val="4CC3FF"/>
                </a:solidFill>
              </a:rPr>
              <a:t>Smith (1980)</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Legal and illegal business sit on one spectrum, shaped by the same market. AEY drifts into the grey.</a:t>
            </a:r>
            <a:endParaRPr lang="en-US" sz="16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LIVE FROM TIRANA, ALBANIA</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stockpile, and the broker who cannot sell it himself</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MD. ABIR MAHMUD JAKARIA</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FOREIGN CORRESPONDENT  ·  TIRANA</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TIRANA: ~100 MILLION ROUNDS IN OLD STATE DEPOTS  •  BROKER ON A US TERRORIST WATCH LIST</a:t>
            </a:r>
            <a:endParaRPr lang="en-US" sz="1150" dirty="0"/>
          </a:p>
        </p:txBody>
      </p:sp>
      <p:pic>
        <p:nvPicPr>
          <p:cNvPr id="11" name="dateline pin" descr="preencoded.png">    </p:cNvPr>
          <p:cNvPicPr>
            <a:picLocks noChangeAspect="1"/>
          </p:cNvPicPr>
          <p:nvPr/>
        </p:nvPicPr>
        <p:blipFill>
          <a:blip r:embed="rId1"/>
          <a:stretch>
            <a:fillRect/>
          </a:stretch>
        </p:blipFill>
        <p:spPr>
          <a:xfrm>
            <a:off x="548640" y="1783080"/>
            <a:ext cx="274320" cy="274320"/>
          </a:xfrm>
          <a:prstGeom prst="rect">
            <a:avLst/>
          </a:prstGeom>
        </p:spPr>
      </p:pic>
      <p:sp>
        <p:nvSpPr>
          <p:cNvPr id="12" name="Text 9"/>
          <p:cNvSpPr txBox="1"/>
          <p:nvPr/>
        </p:nvSpPr>
        <p:spPr>
          <a:xfrm>
            <a:off x="914400" y="1783080"/>
            <a:ext cx="4572000" cy="274320"/>
          </a:xfrm>
          <a:prstGeom prst="rect">
            <a:avLst/>
          </a:prstGeom>
          <a:noFill/>
          <a:ln/>
        </p:spPr>
        <p:txBody>
          <a:bodyPr wrap="square" lIns="0" tIns="0" rIns="0" bIns="0" rtlCol="0" anchor="ctr"/>
          <a:lstStyle/>
          <a:p>
            <a:pPr indent="0" marL="0">
              <a:buNone/>
            </a:pPr>
            <a:r>
              <a:rPr lang="en-US" sz="1150" b="1" spc="200" kern="0" dirty="0">
                <a:solidFill>
                  <a:srgbClr val="F2B705"/>
                </a:solidFill>
                <a:latin typeface="Arial" pitchFamily="34" charset="0"/>
                <a:ea typeface="Arial" pitchFamily="34" charset="-122"/>
                <a:cs typeface="Arial" pitchFamily="34" charset="-120"/>
              </a:rPr>
              <a:t>DATELINE: TIRANA, ALBANIA</a:t>
            </a:r>
            <a:endParaRPr lang="en-US" sz="1150" dirty="0"/>
          </a:p>
        </p:txBody>
      </p:sp>
      <p:sp>
        <p:nvSpPr>
          <p:cNvPr id="13" name="Text 10"/>
          <p:cNvSpPr txBox="1"/>
          <p:nvPr/>
        </p:nvSpPr>
        <p:spPr>
          <a:xfrm>
            <a:off x="548640" y="2103120"/>
            <a:ext cx="6309360" cy="91440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~100 million</a:t>
            </a:r>
            <a:endParaRPr lang="en-US" sz="5800" dirty="0"/>
          </a:p>
        </p:txBody>
      </p:sp>
      <p:sp>
        <p:nvSpPr>
          <p:cNvPr id="14" name="Text 11"/>
          <p:cNvSpPr txBox="1"/>
          <p:nvPr/>
        </p:nvSpPr>
        <p:spPr>
          <a:xfrm>
            <a:off x="548640" y="3017520"/>
            <a:ext cx="6309360" cy="411480"/>
          </a:xfrm>
          <a:prstGeom prst="rect">
            <a:avLst/>
          </a:prstGeom>
          <a:noFill/>
          <a:ln/>
        </p:spPr>
        <p:txBody>
          <a:bodyPr wrap="square" lIns="0" tIns="0" rIns="0" bIns="0" rtlCol="0" anchor="ctr"/>
          <a:lstStyle/>
          <a:p>
            <a:pPr indent="0" marL="0">
              <a:buNone/>
            </a:pPr>
            <a:r>
              <a:rPr lang="en-US" sz="1800" dirty="0">
                <a:solidFill>
                  <a:srgbClr val="B8C4D9"/>
                </a:solidFill>
              </a:rPr>
              <a:t>rounds of old ammunition sitting in Albanian state depots</a:t>
            </a:r>
            <a:endParaRPr lang="en-US" sz="1800" dirty="0"/>
          </a:p>
        </p:txBody>
      </p:sp>
      <p:sp>
        <p:nvSpPr>
          <p:cNvPr id="15" name="Henry Girard"/>
          <p:cNvSpPr/>
          <p:nvPr/>
        </p:nvSpPr>
        <p:spPr>
          <a:xfrm>
            <a:off x="548640" y="3611880"/>
            <a:ext cx="6309360" cy="1828800"/>
          </a:xfrm>
          <a:prstGeom prst="rect">
            <a:avLst/>
          </a:prstGeom>
          <a:solidFill>
            <a:srgbClr val="102347"/>
          </a:solidFill>
          <a:ln w="12700">
            <a:solidFill>
              <a:srgbClr val="D7191F"/>
            </a:solidFill>
            <a:prstDash val="solid"/>
          </a:ln>
        </p:spPr>
      </p:sp>
      <p:sp>
        <p:nvSpPr>
          <p:cNvPr id="16" name="Henry Girard circle"/>
          <p:cNvSpPr/>
          <p:nvPr/>
        </p:nvSpPr>
        <p:spPr>
          <a:xfrm>
            <a:off x="777240" y="3840480"/>
            <a:ext cx="731520" cy="731520"/>
          </a:xfrm>
          <a:prstGeom prst="ellipse">
            <a:avLst/>
          </a:prstGeom>
          <a:solidFill>
            <a:srgbClr val="D7191F"/>
          </a:solidFill>
          <a:ln/>
        </p:spPr>
      </p:sp>
      <p:pic>
        <p:nvPicPr>
          <p:cNvPr id="17" name="Henry Girard icon" descr="Henry Girard">    </p:cNvPr>
          <p:cNvPicPr>
            <a:picLocks noChangeAspect="1"/>
          </p:cNvPicPr>
          <p:nvPr/>
        </p:nvPicPr>
        <p:blipFill>
          <a:blip r:embed="rId2"/>
          <a:stretch>
            <a:fillRect/>
          </a:stretch>
        </p:blipFill>
        <p:spPr>
          <a:xfrm>
            <a:off x="960120" y="4023360"/>
            <a:ext cx="365760" cy="365760"/>
          </a:xfrm>
          <a:prstGeom prst="rect">
            <a:avLst/>
          </a:prstGeom>
        </p:spPr>
      </p:pic>
      <p:sp>
        <p:nvSpPr>
          <p:cNvPr id="18" name="Text 14"/>
          <p:cNvSpPr txBox="1"/>
          <p:nvPr/>
        </p:nvSpPr>
        <p:spPr>
          <a:xfrm>
            <a:off x="1691640" y="3767328"/>
            <a:ext cx="4937760" cy="1188720"/>
          </a:xfrm>
          <a:prstGeom prst="rect">
            <a:avLst/>
          </a:prstGeom>
          <a:noFill/>
          <a:ln/>
        </p:spPr>
        <p:txBody>
          <a:bodyPr wrap="square" lIns="0" tIns="0" rIns="0" bIns="0" rtlCol="0" anchor="t"/>
          <a:lstStyle/>
          <a:p>
            <a:pPr indent="0" marL="0">
              <a:buNone/>
            </a:pPr>
            <a:r>
              <a:rPr lang="en-US" sz="1800" b="1" dirty="0">
                <a:solidFill>
                  <a:srgbClr val="FFFFFF"/>
                </a:solidFill>
              </a:rPr>
              <a:t>Henry Girard</a:t>
            </a:r>
            <a:endParaRPr lang="en-US" sz="1800" dirty="0"/>
          </a:p>
          <a:p>
            <a:pPr indent="0" marL="0">
              <a:buNone/>
            </a:pPr>
            <a:r>
              <a:rPr lang="en-US" sz="1400" dirty="0">
                <a:solidFill>
                  <a:srgbClr val="DCE4F2"/>
                </a:solidFill>
              </a:rPr>
              <a:t>Arms dealer on a US terrorist watch list. He cannot sell to the US himself, so he needs AEY as a clean American front.</a:t>
            </a:r>
            <a:endParaRPr lang="en-US" sz="1800" dirty="0"/>
          </a:p>
        </p:txBody>
      </p:sp>
      <p:sp>
        <p:nvSpPr>
          <p:cNvPr id="19" name="Text 15"/>
          <p:cNvSpPr txBox="1"/>
          <p:nvPr/>
        </p:nvSpPr>
        <p:spPr>
          <a:xfrm>
            <a:off x="1691640" y="4983480"/>
            <a:ext cx="4937760" cy="320040"/>
          </a:xfrm>
          <a:prstGeom prst="rect">
            <a:avLst/>
          </a:prstGeom>
          <a:noFill/>
          <a:ln/>
        </p:spPr>
        <p:txBody>
          <a:bodyPr wrap="square" lIns="0" tIns="0" rIns="0" bIns="0" rtlCol="0" anchor="ctr"/>
          <a:lstStyle/>
          <a:p>
            <a:pPr indent="0" marL="0">
              <a:buNone/>
            </a:pPr>
            <a:r>
              <a:rPr lang="en-US" sz="1100" i="1" dirty="0">
                <a:solidFill>
                  <a:srgbClr val="B8C4D9"/>
                </a:solidFill>
              </a:rPr>
              <a:t>A composite character, inspired by the real broker Heinrich Thomet (Lawson, 2015).</a:t>
            </a:r>
            <a:endParaRPr lang="en-US" sz="1100" dirty="0"/>
          </a:p>
        </p:txBody>
      </p:sp>
      <p:pic>
        <p:nvPicPr>
          <p:cNvPr id="20" name="desk icon" descr="preencoded.png">    </p:cNvPr>
          <p:cNvPicPr>
            <a:picLocks noChangeAspect="1"/>
          </p:cNvPicPr>
          <p:nvPr/>
        </p:nvPicPr>
        <p:blipFill>
          <a:blip r:embed="rId3"/>
          <a:stretch>
            <a:fillRect/>
          </a:stretch>
        </p:blipFill>
        <p:spPr>
          <a:xfrm>
            <a:off x="7178040" y="1764792"/>
            <a:ext cx="219456" cy="219456"/>
          </a:xfrm>
          <a:prstGeom prst="rect">
            <a:avLst/>
          </a:prstGeom>
        </p:spPr>
      </p:pic>
      <p:sp>
        <p:nvSpPr>
          <p:cNvPr id="21" name="Text 16"/>
          <p:cNvSpPr txBox="1"/>
          <p:nvPr/>
        </p:nvSpPr>
        <p:spPr>
          <a:xfrm>
            <a:off x="7488936" y="1737360"/>
            <a:ext cx="4154119" cy="274320"/>
          </a:xfrm>
          <a:prstGeom prst="rect">
            <a:avLst/>
          </a:prstGeom>
          <a:noFill/>
          <a:ln/>
        </p:spPr>
        <p:txBody>
          <a:bodyPr wrap="square" lIns="0" tIns="0" rIns="0" bIns="0" rtlCol="0" anchor="ctr"/>
          <a:lstStyle/>
          <a:p>
            <a:pPr indent="0" marL="0">
              <a:buNone/>
            </a:pPr>
            <a:r>
              <a:rPr lang="en-US" sz="1150" b="1" spc="200" kern="0" dirty="0">
                <a:solidFill>
                  <a:srgbClr val="4CC3FF"/>
                </a:solidFill>
                <a:latin typeface="Arial" pitchFamily="34" charset="0"/>
                <a:ea typeface="Arial" pitchFamily="34" charset="-122"/>
                <a:cs typeface="Arial" pitchFamily="34" charset="-120"/>
              </a:rPr>
              <a:t>CRIMINOLOGY DESK ANALYSIS</a:t>
            </a:r>
            <a:endParaRPr lang="en-US" sz="1150" dirty="0"/>
          </a:p>
        </p:txBody>
      </p:sp>
      <p:sp>
        <p:nvSpPr>
          <p:cNvPr id="22" name="Network model and brokerage"/>
          <p:cNvSpPr/>
          <p:nvPr/>
        </p:nvSpPr>
        <p:spPr>
          <a:xfrm>
            <a:off x="7178040" y="2103120"/>
            <a:ext cx="4465015" cy="1600200"/>
          </a:xfrm>
          <a:prstGeom prst="rect">
            <a:avLst/>
          </a:prstGeom>
          <a:solidFill>
            <a:srgbClr val="102347"/>
          </a:solidFill>
          <a:ln w="12700">
            <a:solidFill>
              <a:srgbClr val="28406E"/>
            </a:solidFill>
            <a:prstDash val="solid"/>
          </a:ln>
        </p:spPr>
      </p:sp>
      <p:sp>
        <p:nvSpPr>
          <p:cNvPr id="23" name="Network model and brokerage rule"/>
          <p:cNvSpPr/>
          <p:nvPr/>
        </p:nvSpPr>
        <p:spPr>
          <a:xfrm>
            <a:off x="7178040" y="2103120"/>
            <a:ext cx="64008" cy="1600200"/>
          </a:xfrm>
          <a:prstGeom prst="rect">
            <a:avLst/>
          </a:prstGeom>
          <a:solidFill>
            <a:srgbClr val="4CC3FF"/>
          </a:solidFill>
          <a:ln/>
        </p:spPr>
      </p:sp>
      <p:sp>
        <p:nvSpPr>
          <p:cNvPr id="24" name="Text 19"/>
          <p:cNvSpPr txBox="1"/>
          <p:nvPr/>
        </p:nvSpPr>
        <p:spPr>
          <a:xfrm>
            <a:off x="7406640" y="2240280"/>
            <a:ext cx="4053535" cy="1325880"/>
          </a:xfrm>
          <a:prstGeom prst="rect">
            <a:avLst/>
          </a:prstGeom>
          <a:noFill/>
          <a:ln/>
        </p:spPr>
        <p:txBody>
          <a:bodyPr wrap="square" lIns="0" tIns="0" rIns="0" bIns="0" rtlCol="0" anchor="t"/>
          <a:lstStyle/>
          <a:p>
            <a:pPr indent="0" marL="0">
              <a:buNone/>
            </a:pPr>
            <a:r>
              <a:rPr lang="en-US" sz="1600" b="1" dirty="0">
                <a:solidFill>
                  <a:srgbClr val="FFFFFF"/>
                </a:solidFill>
              </a:rPr>
              <a:t>Network model and brokerage</a:t>
            </a:r>
            <a:endParaRPr lang="en-US" sz="1600" dirty="0"/>
          </a:p>
          <a:p>
            <a:pPr indent="0" marL="0">
              <a:buNone/>
            </a:pPr>
            <a:r>
              <a:rPr lang="en-US" sz="1150" b="1" dirty="0">
                <a:solidFill>
                  <a:srgbClr val="4CC3FF"/>
                </a:solidFill>
              </a:rPr>
              <a:t>Morselli (2009)</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Brokers hold power by linking worlds that cannot reach each other: the Pentagon and Balkan stockpiles.</a:t>
            </a:r>
            <a:endParaRPr lang="en-US" sz="1600" dirty="0"/>
          </a:p>
        </p:txBody>
      </p:sp>
      <p:sp>
        <p:nvSpPr>
          <p:cNvPr id="25" name="Patron–client model"/>
          <p:cNvSpPr/>
          <p:nvPr/>
        </p:nvSpPr>
        <p:spPr>
          <a:xfrm>
            <a:off x="7178040" y="3840480"/>
            <a:ext cx="4465015" cy="1600200"/>
          </a:xfrm>
          <a:prstGeom prst="rect">
            <a:avLst/>
          </a:prstGeom>
          <a:solidFill>
            <a:srgbClr val="102347"/>
          </a:solidFill>
          <a:ln w="12700">
            <a:solidFill>
              <a:srgbClr val="28406E"/>
            </a:solidFill>
            <a:prstDash val="solid"/>
          </a:ln>
        </p:spPr>
      </p:sp>
      <p:sp>
        <p:nvSpPr>
          <p:cNvPr id="26" name="Patron–client model rule"/>
          <p:cNvSpPr/>
          <p:nvPr/>
        </p:nvSpPr>
        <p:spPr>
          <a:xfrm>
            <a:off x="7178040" y="3840480"/>
            <a:ext cx="64008" cy="1600200"/>
          </a:xfrm>
          <a:prstGeom prst="rect">
            <a:avLst/>
          </a:prstGeom>
          <a:solidFill>
            <a:srgbClr val="4CC3FF"/>
          </a:solidFill>
          <a:ln/>
        </p:spPr>
      </p:sp>
      <p:sp>
        <p:nvSpPr>
          <p:cNvPr id="27" name="Text 22"/>
          <p:cNvSpPr txBox="1"/>
          <p:nvPr/>
        </p:nvSpPr>
        <p:spPr>
          <a:xfrm>
            <a:off x="7406640" y="3977640"/>
            <a:ext cx="4053535" cy="1325880"/>
          </a:xfrm>
          <a:prstGeom prst="rect">
            <a:avLst/>
          </a:prstGeom>
          <a:noFill/>
          <a:ln/>
        </p:spPr>
        <p:txBody>
          <a:bodyPr wrap="square" lIns="0" tIns="0" rIns="0" bIns="0" rtlCol="0" anchor="t"/>
          <a:lstStyle/>
          <a:p>
            <a:pPr indent="0" marL="0">
              <a:buNone/>
            </a:pPr>
            <a:r>
              <a:rPr lang="en-US" sz="1600" b="1" dirty="0">
                <a:solidFill>
                  <a:srgbClr val="FFFFFF"/>
                </a:solidFill>
              </a:rPr>
              <a:t>Patron–client model</a:t>
            </a:r>
            <a:endParaRPr lang="en-US" sz="1600" dirty="0"/>
          </a:p>
          <a:p>
            <a:pPr indent="0" marL="0">
              <a:buNone/>
            </a:pPr>
            <a:r>
              <a:rPr lang="en-US" sz="1150" b="1" dirty="0">
                <a:solidFill>
                  <a:srgbClr val="4CC3FF"/>
                </a:solidFill>
              </a:rPr>
              <a:t>Albini (1971)</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Henry trades access to supply for a share of the profit, using AEY’s clean name.</a:t>
            </a:r>
            <a:endParaRPr lang="en-US" sz="16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INVESTIGATION  ·  FOLLOW THE MONEY</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Every link in the chain takes a cut</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MD. ABIR MAHMUD JAKARIA</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FOREIGN CORRESPONDENT  ·  TIRANA</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FOLLOW THE MONEY: EVERY LINK TAKES A CUT  •  KLITGAARD: C = M + D − A</a:t>
            </a:r>
            <a:endParaRPr lang="en-US" sz="1150" dirty="0"/>
          </a:p>
        </p:txBody>
      </p:sp>
      <p:sp>
        <p:nvSpPr>
          <p:cNvPr id="11" name="US Army"/>
          <p:cNvSpPr/>
          <p:nvPr/>
        </p:nvSpPr>
        <p:spPr>
          <a:xfrm>
            <a:off x="548640" y="1737360"/>
            <a:ext cx="2423160" cy="1188720"/>
          </a:xfrm>
          <a:prstGeom prst="rect">
            <a:avLst/>
          </a:prstGeom>
          <a:solidFill>
            <a:srgbClr val="102347"/>
          </a:solidFill>
          <a:ln w="12700">
            <a:solidFill>
              <a:srgbClr val="28406E"/>
            </a:solidFill>
            <a:prstDash val="solid"/>
          </a:ln>
        </p:spPr>
      </p:sp>
      <p:sp>
        <p:nvSpPr>
          <p:cNvPr id="12" name="Text 10"/>
          <p:cNvSpPr txBox="1"/>
          <p:nvPr/>
        </p:nvSpPr>
        <p:spPr>
          <a:xfrm>
            <a:off x="731520" y="1783080"/>
            <a:ext cx="2057400" cy="1097280"/>
          </a:xfrm>
          <a:prstGeom prst="rect">
            <a:avLst/>
          </a:prstGeom>
          <a:noFill/>
          <a:ln/>
        </p:spPr>
        <p:txBody>
          <a:bodyPr wrap="square" lIns="0" tIns="0" rIns="0" bIns="0" rtlCol="0" anchor="ctr"/>
          <a:lstStyle/>
          <a:p>
            <a:pPr indent="0" marL="0">
              <a:buNone/>
            </a:pPr>
            <a:r>
              <a:rPr lang="en-US" sz="1600" b="1" dirty="0">
                <a:solidFill>
                  <a:srgbClr val="FFFFFF"/>
                </a:solidFill>
              </a:rPr>
              <a:t>US Army</a:t>
            </a:r>
            <a:endParaRPr lang="en-US" sz="1600" dirty="0"/>
          </a:p>
          <a:p>
            <a:pPr indent="0" marL="0">
              <a:buNone/>
            </a:pPr>
            <a:r>
              <a:rPr lang="en-US" sz="1300" dirty="0">
                <a:solidFill>
                  <a:srgbClr val="DCE4F2"/>
                </a:solidFill>
              </a:rPr>
              <a:t>pays the contract price</a:t>
            </a:r>
            <a:endParaRPr lang="en-US" sz="1600" dirty="0"/>
          </a:p>
        </p:txBody>
      </p:sp>
      <p:pic>
        <p:nvPicPr>
          <p:cNvPr id="13" name="money flow" descr="money flows">    </p:cNvPr>
          <p:cNvPicPr>
            <a:picLocks noChangeAspect="1"/>
          </p:cNvPicPr>
          <p:nvPr/>
        </p:nvPicPr>
        <p:blipFill>
          <a:blip r:embed="rId1"/>
          <a:stretch>
            <a:fillRect/>
          </a:stretch>
        </p:blipFill>
        <p:spPr>
          <a:xfrm>
            <a:off x="3049981" y="2176272"/>
            <a:ext cx="310896" cy="310896"/>
          </a:xfrm>
          <a:prstGeom prst="rect">
            <a:avLst/>
          </a:prstGeom>
        </p:spPr>
      </p:pic>
      <p:sp>
        <p:nvSpPr>
          <p:cNvPr id="14" name="AEY"/>
          <p:cNvSpPr/>
          <p:nvPr/>
        </p:nvSpPr>
        <p:spPr>
          <a:xfrm>
            <a:off x="3439058" y="1737360"/>
            <a:ext cx="2423160" cy="1188720"/>
          </a:xfrm>
          <a:prstGeom prst="rect">
            <a:avLst/>
          </a:prstGeom>
          <a:solidFill>
            <a:srgbClr val="102347"/>
          </a:solidFill>
          <a:ln w="12700">
            <a:solidFill>
              <a:srgbClr val="28406E"/>
            </a:solidFill>
            <a:prstDash val="solid"/>
          </a:ln>
        </p:spPr>
      </p:sp>
      <p:sp>
        <p:nvSpPr>
          <p:cNvPr id="15" name="Text 12"/>
          <p:cNvSpPr txBox="1"/>
          <p:nvPr/>
        </p:nvSpPr>
        <p:spPr>
          <a:xfrm>
            <a:off x="3621938" y="1783080"/>
            <a:ext cx="2057400" cy="1097280"/>
          </a:xfrm>
          <a:prstGeom prst="rect">
            <a:avLst/>
          </a:prstGeom>
          <a:noFill/>
          <a:ln/>
        </p:spPr>
        <p:txBody>
          <a:bodyPr wrap="square" lIns="0" tIns="0" rIns="0" bIns="0" rtlCol="0" anchor="ctr"/>
          <a:lstStyle/>
          <a:p>
            <a:pPr indent="0" marL="0">
              <a:buNone/>
            </a:pPr>
            <a:r>
              <a:rPr lang="en-US" sz="1600" b="1" dirty="0">
                <a:solidFill>
                  <a:srgbClr val="FFFFFF"/>
                </a:solidFill>
              </a:rPr>
              <a:t>AEY</a:t>
            </a:r>
            <a:endParaRPr lang="en-US" sz="1600" dirty="0"/>
          </a:p>
          <a:p>
            <a:pPr indent="0" marL="0">
              <a:buNone/>
            </a:pPr>
            <a:r>
              <a:rPr lang="en-US" sz="1300" dirty="0">
                <a:solidFill>
                  <a:srgbClr val="DCE4F2"/>
                </a:solidFill>
              </a:rPr>
              <a:t>keeps its margin</a:t>
            </a:r>
            <a:endParaRPr lang="en-US" sz="1600" dirty="0"/>
          </a:p>
        </p:txBody>
      </p:sp>
      <p:pic>
        <p:nvPicPr>
          <p:cNvPr id="16" name="money flow" descr="money flows">    </p:cNvPr>
          <p:cNvPicPr>
            <a:picLocks noChangeAspect="1"/>
          </p:cNvPicPr>
          <p:nvPr/>
        </p:nvPicPr>
        <p:blipFill>
          <a:blip r:embed="rId2"/>
          <a:stretch>
            <a:fillRect/>
          </a:stretch>
        </p:blipFill>
        <p:spPr>
          <a:xfrm>
            <a:off x="5940400" y="2176272"/>
            <a:ext cx="310896" cy="310896"/>
          </a:xfrm>
          <a:prstGeom prst="rect">
            <a:avLst/>
          </a:prstGeom>
        </p:spPr>
      </p:pic>
      <p:sp>
        <p:nvSpPr>
          <p:cNvPr id="17" name="Henry"/>
          <p:cNvSpPr/>
          <p:nvPr/>
        </p:nvSpPr>
        <p:spPr>
          <a:xfrm>
            <a:off x="6329477" y="1737360"/>
            <a:ext cx="2423160" cy="1188720"/>
          </a:xfrm>
          <a:prstGeom prst="rect">
            <a:avLst/>
          </a:prstGeom>
          <a:solidFill>
            <a:srgbClr val="102347"/>
          </a:solidFill>
          <a:ln w="12700">
            <a:solidFill>
              <a:srgbClr val="28406E"/>
            </a:solidFill>
            <a:prstDash val="solid"/>
          </a:ln>
        </p:spPr>
      </p:sp>
      <p:sp>
        <p:nvSpPr>
          <p:cNvPr id="18" name="Text 14"/>
          <p:cNvSpPr txBox="1"/>
          <p:nvPr/>
        </p:nvSpPr>
        <p:spPr>
          <a:xfrm>
            <a:off x="6512357" y="1783080"/>
            <a:ext cx="2057400" cy="1097280"/>
          </a:xfrm>
          <a:prstGeom prst="rect">
            <a:avLst/>
          </a:prstGeom>
          <a:noFill/>
          <a:ln/>
        </p:spPr>
        <p:txBody>
          <a:bodyPr wrap="square" lIns="0" tIns="0" rIns="0" bIns="0" rtlCol="0" anchor="ctr"/>
          <a:lstStyle/>
          <a:p>
            <a:pPr indent="0" marL="0">
              <a:buNone/>
            </a:pPr>
            <a:r>
              <a:rPr lang="en-US" sz="1600" b="1" dirty="0">
                <a:solidFill>
                  <a:srgbClr val="FFFFFF"/>
                </a:solidFill>
              </a:rPr>
              <a:t>Henry</a:t>
            </a:r>
            <a:endParaRPr lang="en-US" sz="1600" dirty="0"/>
          </a:p>
          <a:p>
            <a:pPr indent="0" marL="0">
              <a:buNone/>
            </a:pPr>
            <a:r>
              <a:rPr lang="en-US" sz="1300" dirty="0">
                <a:solidFill>
                  <a:srgbClr val="DCE4F2"/>
                </a:solidFill>
              </a:rPr>
              <a:t>takes a broker’s share</a:t>
            </a:r>
            <a:endParaRPr lang="en-US" sz="1600" dirty="0"/>
          </a:p>
        </p:txBody>
      </p:sp>
      <p:pic>
        <p:nvPicPr>
          <p:cNvPr id="19" name="money flow" descr="money flows">    </p:cNvPr>
          <p:cNvPicPr>
            <a:picLocks noChangeAspect="1"/>
          </p:cNvPicPr>
          <p:nvPr/>
        </p:nvPicPr>
        <p:blipFill>
          <a:blip r:embed="rId3"/>
          <a:stretch>
            <a:fillRect/>
          </a:stretch>
        </p:blipFill>
        <p:spPr>
          <a:xfrm>
            <a:off x="8830818" y="2176272"/>
            <a:ext cx="310896" cy="310896"/>
          </a:xfrm>
          <a:prstGeom prst="rect">
            <a:avLst/>
          </a:prstGeom>
        </p:spPr>
      </p:pic>
      <p:sp>
        <p:nvSpPr>
          <p:cNvPr id="20" name="Officials and middlemen"/>
          <p:cNvSpPr/>
          <p:nvPr/>
        </p:nvSpPr>
        <p:spPr>
          <a:xfrm>
            <a:off x="9219895" y="1737360"/>
            <a:ext cx="2423160" cy="1188720"/>
          </a:xfrm>
          <a:prstGeom prst="rect">
            <a:avLst/>
          </a:prstGeom>
          <a:solidFill>
            <a:srgbClr val="102347"/>
          </a:solidFill>
          <a:ln w="12700">
            <a:solidFill>
              <a:srgbClr val="D7191F"/>
            </a:solidFill>
            <a:prstDash val="solid"/>
          </a:ln>
        </p:spPr>
      </p:sp>
      <p:sp>
        <p:nvSpPr>
          <p:cNvPr id="21" name="Text 16"/>
          <p:cNvSpPr txBox="1"/>
          <p:nvPr/>
        </p:nvSpPr>
        <p:spPr>
          <a:xfrm>
            <a:off x="9402775" y="1783080"/>
            <a:ext cx="2057400" cy="1097280"/>
          </a:xfrm>
          <a:prstGeom prst="rect">
            <a:avLst/>
          </a:prstGeom>
          <a:noFill/>
          <a:ln/>
        </p:spPr>
        <p:txBody>
          <a:bodyPr wrap="square" lIns="0" tIns="0" rIns="0" bIns="0" rtlCol="0" anchor="ctr"/>
          <a:lstStyle/>
          <a:p>
            <a:pPr indent="0" marL="0">
              <a:buNone/>
            </a:pPr>
            <a:r>
              <a:rPr lang="en-US" sz="1600" b="1" dirty="0">
                <a:solidFill>
                  <a:srgbClr val="FF8A8A"/>
                </a:solidFill>
              </a:rPr>
              <a:t>Officials and middlemen</a:t>
            </a:r>
            <a:endParaRPr lang="en-US" sz="1600" dirty="0"/>
          </a:p>
          <a:p>
            <a:pPr indent="0" marL="0">
              <a:buNone/>
            </a:pPr>
            <a:r>
              <a:rPr lang="en-US" sz="1300" dirty="0">
                <a:solidFill>
                  <a:srgbClr val="DCE4F2"/>
                </a:solidFill>
              </a:rPr>
              <a:t>control access to the depots</a:t>
            </a:r>
            <a:endParaRPr lang="en-US" sz="1600" dirty="0"/>
          </a:p>
        </p:txBody>
      </p:sp>
      <p:sp>
        <p:nvSpPr>
          <p:cNvPr id="22" name="formula"/>
          <p:cNvSpPr/>
          <p:nvPr/>
        </p:nvSpPr>
        <p:spPr>
          <a:xfrm>
            <a:off x="548640" y="3108960"/>
            <a:ext cx="6492240" cy="2331720"/>
          </a:xfrm>
          <a:prstGeom prst="rect">
            <a:avLst/>
          </a:prstGeom>
          <a:solidFill>
            <a:srgbClr val="102347"/>
          </a:solidFill>
          <a:ln w="12700">
            <a:solidFill>
              <a:srgbClr val="28406E"/>
            </a:solidFill>
            <a:prstDash val="solid"/>
          </a:ln>
        </p:spPr>
      </p:sp>
      <p:pic>
        <p:nvPicPr>
          <p:cNvPr id="23" name="desk icon" descr="preencoded.png">    </p:cNvPr>
          <p:cNvPicPr>
            <a:picLocks noChangeAspect="1"/>
          </p:cNvPicPr>
          <p:nvPr/>
        </p:nvPicPr>
        <p:blipFill>
          <a:blip r:embed="rId4"/>
          <a:stretch>
            <a:fillRect/>
          </a:stretch>
        </p:blipFill>
        <p:spPr>
          <a:xfrm>
            <a:off x="822960" y="3246120"/>
            <a:ext cx="219456" cy="219456"/>
          </a:xfrm>
          <a:prstGeom prst="rect">
            <a:avLst/>
          </a:prstGeom>
        </p:spPr>
      </p:pic>
      <p:sp>
        <p:nvSpPr>
          <p:cNvPr id="24" name="Text 18"/>
          <p:cNvSpPr txBox="1"/>
          <p:nvPr/>
        </p:nvSpPr>
        <p:spPr>
          <a:xfrm>
            <a:off x="1133856" y="3218688"/>
            <a:ext cx="5175504" cy="274320"/>
          </a:xfrm>
          <a:prstGeom prst="rect">
            <a:avLst/>
          </a:prstGeom>
          <a:noFill/>
          <a:ln/>
        </p:spPr>
        <p:txBody>
          <a:bodyPr wrap="square" lIns="0" tIns="0" rIns="0" bIns="0" rtlCol="0" anchor="ctr"/>
          <a:lstStyle/>
          <a:p>
            <a:pPr indent="0" marL="0">
              <a:buNone/>
            </a:pPr>
            <a:r>
              <a:rPr lang="en-US" sz="1150" b="1" spc="200" kern="0" dirty="0">
                <a:solidFill>
                  <a:srgbClr val="4CC3FF"/>
                </a:solidFill>
                <a:latin typeface="Arial" pitchFamily="34" charset="0"/>
                <a:ea typeface="Arial" pitchFamily="34" charset="-122"/>
                <a:cs typeface="Arial" pitchFamily="34" charset="-120"/>
              </a:rPr>
              <a:t>CRIMINOLOGY DESK  ·  KLITGAARD (1988)</a:t>
            </a:r>
            <a:endParaRPr lang="en-US" sz="1150" dirty="0"/>
          </a:p>
        </p:txBody>
      </p:sp>
      <p:sp>
        <p:nvSpPr>
          <p:cNvPr id="25" name="Text 19"/>
          <p:cNvSpPr txBox="1"/>
          <p:nvPr/>
        </p:nvSpPr>
        <p:spPr>
          <a:xfrm>
            <a:off x="822960" y="3566160"/>
            <a:ext cx="5943600" cy="731520"/>
          </a:xfrm>
          <a:prstGeom prst="rect">
            <a:avLst/>
          </a:prstGeom>
          <a:noFill/>
          <a:ln/>
        </p:spPr>
        <p:txBody>
          <a:bodyPr wrap="square" lIns="0" tIns="0" rIns="0" bIns="0" rtlCol="0" anchor="ctr"/>
          <a:lstStyle/>
          <a:p>
            <a:pPr indent="0" marL="0">
              <a:buNone/>
            </a:pPr>
            <a:r>
              <a:rPr lang="en-US" sz="3600" b="1" dirty="0">
                <a:solidFill>
                  <a:srgbClr val="F2B705"/>
                </a:solidFill>
                <a:latin typeface="Arial" pitchFamily="34" charset="0"/>
                <a:ea typeface="Arial" pitchFamily="34" charset="-122"/>
                <a:cs typeface="Arial" pitchFamily="34" charset="-120"/>
              </a:rPr>
              <a:t>C = M + D − A</a:t>
            </a:r>
            <a:endParaRPr lang="en-US" sz="3600" dirty="0"/>
          </a:p>
        </p:txBody>
      </p:sp>
      <p:sp>
        <p:nvSpPr>
          <p:cNvPr id="26" name="Text 20"/>
          <p:cNvSpPr txBox="1"/>
          <p:nvPr/>
        </p:nvSpPr>
        <p:spPr>
          <a:xfrm>
            <a:off x="822960" y="4315968"/>
            <a:ext cx="5943600" cy="1051560"/>
          </a:xfrm>
          <a:prstGeom prst="rect">
            <a:avLst/>
          </a:prstGeom>
          <a:noFill/>
          <a:ln/>
        </p:spPr>
        <p:txBody>
          <a:bodyPr wrap="square" lIns="0" tIns="0" rIns="0" bIns="0" rtlCol="0" anchor="t"/>
          <a:lstStyle/>
          <a:p>
            <a:pPr indent="0" marL="0">
              <a:buNone/>
            </a:pPr>
            <a:r>
              <a:rPr lang="en-US" sz="1350" b="1" dirty="0">
                <a:solidFill>
                  <a:srgbClr val="F2B705"/>
                </a:solidFill>
              </a:rPr>
              <a:t>M  </a:t>
            </a:r>
            <a:pPr indent="0" marL="0">
              <a:buNone/>
            </a:pPr>
            <a:r>
              <a:rPr lang="en-US" sz="1350" dirty="0">
                <a:solidFill>
                  <a:srgbClr val="DCE4F2"/>
                </a:solidFill>
              </a:rPr>
              <a:t>monopoly: Henry and the depot officials control access</a:t>
            </a:r>
            <a:endParaRPr lang="en-US" sz="1350" dirty="0"/>
          </a:p>
          <a:p>
            <a:pPr indent="0" marL="0">
              <a:buNone/>
            </a:pPr>
            <a:r>
              <a:rPr lang="en-US" sz="1350" b="1" dirty="0">
                <a:solidFill>
                  <a:srgbClr val="F2B705"/>
                </a:solidFill>
              </a:rPr>
              <a:t>D  </a:t>
            </a:r>
            <a:pPr indent="0" marL="0">
              <a:buNone/>
            </a:pPr>
            <a:r>
              <a:rPr lang="en-US" sz="1350" dirty="0">
                <a:solidFill>
                  <a:srgbClr val="DCE4F2"/>
                </a:solidFill>
              </a:rPr>
              <a:t>discretion: officials and fixers decide who gets in</a:t>
            </a:r>
            <a:endParaRPr lang="en-US" sz="1350" dirty="0"/>
          </a:p>
          <a:p>
            <a:pPr indent="0" marL="0">
              <a:buNone/>
            </a:pPr>
            <a:r>
              <a:rPr lang="en-US" sz="1350" b="1" dirty="0">
                <a:solidFill>
                  <a:srgbClr val="F2B705"/>
                </a:solidFill>
              </a:rPr>
              <a:t>A  </a:t>
            </a:r>
            <a:pPr indent="0" marL="0">
              <a:buNone/>
            </a:pPr>
            <a:r>
              <a:rPr lang="en-US" sz="1350" dirty="0">
                <a:solidFill>
                  <a:srgbClr val="DCE4F2"/>
                </a:solidFill>
              </a:rPr>
              <a:t>accountability: weak in wartime</a:t>
            </a:r>
            <a:endParaRPr lang="en-US" sz="1350" dirty="0"/>
          </a:p>
          <a:p>
            <a:pPr indent="0" marL="0">
              <a:buNone/>
            </a:pPr>
            <a:r>
              <a:rPr lang="en-US" sz="1350" b="1" dirty="0">
                <a:solidFill>
                  <a:srgbClr val="F2B705"/>
                </a:solidFill>
              </a:rPr>
              <a:t>C  </a:t>
            </a:r>
            <a:pPr indent="0" marL="0">
              <a:buNone/>
            </a:pPr>
            <a:r>
              <a:rPr lang="en-US" sz="1350" dirty="0">
                <a:solidFill>
                  <a:srgbClr val="DCE4F2"/>
                </a:solidFill>
              </a:rPr>
              <a:t>corruption: abuse of entrusted power for private gain (Transparency International, n.d.)</a:t>
            </a:r>
            <a:endParaRPr lang="en-US" sz="1350" dirty="0"/>
          </a:p>
        </p:txBody>
      </p:sp>
      <p:sp>
        <p:nvSpPr>
          <p:cNvPr id="27" name="related news"/>
          <p:cNvSpPr/>
          <p:nvPr/>
        </p:nvSpPr>
        <p:spPr>
          <a:xfrm>
            <a:off x="7315200" y="3108960"/>
            <a:ext cx="4327855" cy="2331720"/>
          </a:xfrm>
          <a:prstGeom prst="rect">
            <a:avLst/>
          </a:prstGeom>
          <a:solidFill>
            <a:srgbClr val="102347"/>
          </a:solidFill>
          <a:ln w="12700">
            <a:solidFill>
              <a:srgbClr val="D7191F"/>
            </a:solidFill>
            <a:prstDash val="solid"/>
          </a:ln>
        </p:spPr>
      </p:sp>
      <p:sp>
        <p:nvSpPr>
          <p:cNvPr id="28" name="related tag"/>
          <p:cNvSpPr/>
          <p:nvPr/>
        </p:nvSpPr>
        <p:spPr>
          <a:xfrm>
            <a:off x="7315200" y="3108960"/>
            <a:ext cx="1325880" cy="329184"/>
          </a:xfrm>
          <a:prstGeom prst="rect">
            <a:avLst/>
          </a:prstGeom>
          <a:solidFill>
            <a:srgbClr val="D7191F"/>
          </a:solidFill>
          <a:ln/>
        </p:spPr>
      </p:sp>
      <p:sp>
        <p:nvSpPr>
          <p:cNvPr id="29" name="Text 23"/>
          <p:cNvSpPr txBox="1"/>
          <p:nvPr/>
        </p:nvSpPr>
        <p:spPr>
          <a:xfrm>
            <a:off x="7315200" y="3108960"/>
            <a:ext cx="1325880" cy="329184"/>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RELATED</a:t>
            </a:r>
            <a:endParaRPr lang="en-US" sz="1200" dirty="0"/>
          </a:p>
        </p:txBody>
      </p:sp>
      <p:sp>
        <p:nvSpPr>
          <p:cNvPr id="30" name="Text 24"/>
          <p:cNvSpPr txBox="1"/>
          <p:nvPr/>
        </p:nvSpPr>
        <p:spPr>
          <a:xfrm>
            <a:off x="7543800" y="3611880"/>
            <a:ext cx="3870655" cy="1691640"/>
          </a:xfrm>
          <a:prstGeom prst="rect">
            <a:avLst/>
          </a:prstGeom>
          <a:noFill/>
          <a:ln/>
        </p:spPr>
        <p:txBody>
          <a:bodyPr wrap="square" lIns="0" tIns="0" rIns="0" bIns="0" rtlCol="0" anchor="t"/>
          <a:lstStyle/>
          <a:p>
            <a:pPr indent="0" marL="0">
              <a:buNone/>
            </a:pPr>
            <a:r>
              <a:rPr lang="en-US" sz="1600" b="1" dirty="0">
                <a:solidFill>
                  <a:srgbClr val="FFFFFF"/>
                </a:solidFill>
              </a:rPr>
              <a:t>March 2008: blast at the Gërdec ammunition depot near Tirana kills 26; senior officials are charged.</a:t>
            </a:r>
            <a:endParaRPr lang="en-US" sz="1600" dirty="0"/>
          </a:p>
          <a:p>
            <a:pPr indent="0" marL="0">
              <a:buNone/>
            </a:pPr>
            <a:r>
              <a:rPr lang="en-US" sz="600" dirty="0">
                <a:solidFill>
                  <a:srgbClr val="000000"/>
                </a:solidFill>
              </a:rPr>
              <a:t> </a:t>
            </a:r>
            <a:endParaRPr lang="en-US" sz="1600" dirty="0"/>
          </a:p>
          <a:p>
            <a:pPr indent="0" marL="0">
              <a:buNone/>
            </a:pPr>
            <a:r>
              <a:rPr lang="en-US" sz="1200" i="1" dirty="0">
                <a:solidFill>
                  <a:srgbClr val="B8C4D9"/>
                </a:solidFill>
              </a:rPr>
              <a:t>Real context the film leaves out (Al Jazeera, 2008).</a:t>
            </a:r>
            <a:endParaRPr lang="en-US" sz="16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EXCLUSIVE  ·  THE BOXES</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Chinese ammunition, repacked to look Albanian</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IMRAN MRIDHA</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INVESTIGATIONS EDITOR</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EXCLUSIVE: CHINESE MARKINGS REMOVED  •  BANNED BY US EMBARGO AND BY THE CONTRACT</a:t>
            </a:r>
            <a:endParaRPr lang="en-US" sz="1150" dirty="0"/>
          </a:p>
        </p:txBody>
      </p:sp>
      <p:sp>
        <p:nvSpPr>
          <p:cNvPr id="11" name="Old crates, Chinese markings"/>
          <p:cNvSpPr/>
          <p:nvPr/>
        </p:nvSpPr>
        <p:spPr>
          <a:xfrm>
            <a:off x="548640" y="1737360"/>
            <a:ext cx="2743200" cy="2148840"/>
          </a:xfrm>
          <a:prstGeom prst="rect">
            <a:avLst/>
          </a:prstGeom>
          <a:solidFill>
            <a:srgbClr val="102347"/>
          </a:solidFill>
          <a:ln w="12700">
            <a:solidFill>
              <a:srgbClr val="28406E"/>
            </a:solidFill>
            <a:prstDash val="solid"/>
          </a:ln>
        </p:spPr>
      </p:sp>
      <p:sp>
        <p:nvSpPr>
          <p:cNvPr id="12" name="Old crates, Chinese markings circle"/>
          <p:cNvSpPr/>
          <p:nvPr/>
        </p:nvSpPr>
        <p:spPr>
          <a:xfrm>
            <a:off x="777240" y="1920240"/>
            <a:ext cx="640080" cy="640080"/>
          </a:xfrm>
          <a:prstGeom prst="ellipse">
            <a:avLst/>
          </a:prstGeom>
          <a:solidFill>
            <a:srgbClr val="5D6B85"/>
          </a:solidFill>
          <a:ln/>
        </p:spPr>
      </p:sp>
      <p:pic>
        <p:nvPicPr>
          <p:cNvPr id="13" name="Old crates, Chinese markings icon" descr="Old crates, Chinese markings">    </p:cNvPr>
          <p:cNvPicPr>
            <a:picLocks noChangeAspect="1"/>
          </p:cNvPicPr>
          <p:nvPr/>
        </p:nvPicPr>
        <p:blipFill>
          <a:blip r:embed="rId1"/>
          <a:stretch>
            <a:fillRect/>
          </a:stretch>
        </p:blipFill>
        <p:spPr>
          <a:xfrm>
            <a:off x="937260" y="2080260"/>
            <a:ext cx="320040" cy="320040"/>
          </a:xfrm>
          <a:prstGeom prst="rect">
            <a:avLst/>
          </a:prstGeom>
        </p:spPr>
      </p:pic>
      <p:sp>
        <p:nvSpPr>
          <p:cNvPr id="14" name="Text 11"/>
          <p:cNvSpPr txBox="1"/>
          <p:nvPr/>
        </p:nvSpPr>
        <p:spPr>
          <a:xfrm>
            <a:off x="1554480" y="2103120"/>
            <a:ext cx="1463040" cy="274320"/>
          </a:xfrm>
          <a:prstGeom prst="rect">
            <a:avLst/>
          </a:prstGeom>
          <a:noFill/>
          <a:ln/>
        </p:spPr>
        <p:txBody>
          <a:bodyPr wrap="square" lIns="0" tIns="0" rIns="0" bIns="0" rtlCol="0" anchor="ctr"/>
          <a:lstStyle/>
          <a:p>
            <a:pPr indent="0" marL="0">
              <a:buNone/>
            </a:pPr>
            <a:r>
              <a:rPr lang="en-US" sz="1150" b="1" spc="200" kern="0" dirty="0">
                <a:solidFill>
                  <a:srgbClr val="B8C4D9"/>
                </a:solidFill>
                <a:latin typeface="Arial" pitchFamily="34" charset="0"/>
                <a:ea typeface="Arial" pitchFamily="34" charset="-122"/>
                <a:cs typeface="Arial" pitchFamily="34" charset="-120"/>
              </a:rPr>
              <a:t>BEFORE</a:t>
            </a:r>
            <a:endParaRPr lang="en-US" sz="1150" dirty="0"/>
          </a:p>
        </p:txBody>
      </p:sp>
      <p:sp>
        <p:nvSpPr>
          <p:cNvPr id="15" name="Text 12"/>
          <p:cNvSpPr txBox="1"/>
          <p:nvPr/>
        </p:nvSpPr>
        <p:spPr>
          <a:xfrm>
            <a:off x="777240" y="2697480"/>
            <a:ext cx="2331720" cy="1143000"/>
          </a:xfrm>
          <a:prstGeom prst="rect">
            <a:avLst/>
          </a:prstGeom>
          <a:noFill/>
          <a:ln/>
        </p:spPr>
        <p:txBody>
          <a:bodyPr wrap="square" lIns="0" tIns="0" rIns="0" bIns="0" rtlCol="0" anchor="t"/>
          <a:lstStyle/>
          <a:p>
            <a:pPr indent="0" marL="0">
              <a:buNone/>
            </a:pPr>
            <a:r>
              <a:rPr lang="en-US" sz="1550" b="1" dirty="0">
                <a:solidFill>
                  <a:srgbClr val="FFFFFF"/>
                </a:solidFill>
              </a:rPr>
              <a:t>Old crates, Chinese markings</a:t>
            </a:r>
            <a:endParaRPr lang="en-US" sz="1550" dirty="0"/>
          </a:p>
          <a:p>
            <a:pPr indent="0" marL="0">
              <a:buNone/>
            </a:pPr>
            <a:r>
              <a:rPr lang="en-US" sz="1350" dirty="0">
                <a:solidFill>
                  <a:srgbClr val="DCE4F2"/>
                </a:solidFill>
              </a:rPr>
              <a:t>Decades-old rounds, banned by a US embargo and by the contract</a:t>
            </a:r>
            <a:endParaRPr lang="en-US" sz="1550" dirty="0"/>
          </a:p>
        </p:txBody>
      </p:sp>
      <p:sp>
        <p:nvSpPr>
          <p:cNvPr id="16" name="Plain cardboard boxes"/>
          <p:cNvSpPr/>
          <p:nvPr/>
        </p:nvSpPr>
        <p:spPr>
          <a:xfrm>
            <a:off x="4389120" y="1737360"/>
            <a:ext cx="2743200" cy="2148840"/>
          </a:xfrm>
          <a:prstGeom prst="rect">
            <a:avLst/>
          </a:prstGeom>
          <a:solidFill>
            <a:srgbClr val="102347"/>
          </a:solidFill>
          <a:ln w="12700">
            <a:solidFill>
              <a:srgbClr val="D7191F"/>
            </a:solidFill>
            <a:prstDash val="solid"/>
          </a:ln>
        </p:spPr>
      </p:sp>
      <p:sp>
        <p:nvSpPr>
          <p:cNvPr id="17" name="Plain cardboard boxes circle"/>
          <p:cNvSpPr/>
          <p:nvPr/>
        </p:nvSpPr>
        <p:spPr>
          <a:xfrm>
            <a:off x="4617720" y="1920240"/>
            <a:ext cx="640080" cy="640080"/>
          </a:xfrm>
          <a:prstGeom prst="ellipse">
            <a:avLst/>
          </a:prstGeom>
          <a:solidFill>
            <a:srgbClr val="D7191F"/>
          </a:solidFill>
          <a:ln/>
        </p:spPr>
      </p:sp>
      <p:pic>
        <p:nvPicPr>
          <p:cNvPr id="18" name="Plain cardboard boxes icon" descr="Plain cardboard boxes">    </p:cNvPr>
          <p:cNvPicPr>
            <a:picLocks noChangeAspect="1"/>
          </p:cNvPicPr>
          <p:nvPr/>
        </p:nvPicPr>
        <p:blipFill>
          <a:blip r:embed="rId2"/>
          <a:stretch>
            <a:fillRect/>
          </a:stretch>
        </p:blipFill>
        <p:spPr>
          <a:xfrm>
            <a:off x="4777740" y="2080260"/>
            <a:ext cx="320040" cy="320040"/>
          </a:xfrm>
          <a:prstGeom prst="rect">
            <a:avLst/>
          </a:prstGeom>
        </p:spPr>
      </p:pic>
      <p:sp>
        <p:nvSpPr>
          <p:cNvPr id="19" name="Text 15"/>
          <p:cNvSpPr txBox="1"/>
          <p:nvPr/>
        </p:nvSpPr>
        <p:spPr>
          <a:xfrm>
            <a:off x="5394960" y="2103120"/>
            <a:ext cx="1463040" cy="274320"/>
          </a:xfrm>
          <a:prstGeom prst="rect">
            <a:avLst/>
          </a:prstGeom>
          <a:noFill/>
          <a:ln/>
        </p:spPr>
        <p:txBody>
          <a:bodyPr wrap="square" lIns="0" tIns="0" rIns="0" bIns="0" rtlCol="0" anchor="ctr"/>
          <a:lstStyle/>
          <a:p>
            <a:pPr indent="0" marL="0">
              <a:buNone/>
            </a:pPr>
            <a:r>
              <a:rPr lang="en-US" sz="1150" b="1" spc="200" kern="0" dirty="0">
                <a:solidFill>
                  <a:srgbClr val="FF8A8A"/>
                </a:solidFill>
                <a:latin typeface="Arial" pitchFamily="34" charset="0"/>
                <a:ea typeface="Arial" pitchFamily="34" charset="-122"/>
                <a:cs typeface="Arial" pitchFamily="34" charset="-120"/>
              </a:rPr>
              <a:t>AFTER</a:t>
            </a:r>
            <a:endParaRPr lang="en-US" sz="1150" dirty="0"/>
          </a:p>
        </p:txBody>
      </p:sp>
      <p:sp>
        <p:nvSpPr>
          <p:cNvPr id="20" name="Text 16"/>
          <p:cNvSpPr txBox="1"/>
          <p:nvPr/>
        </p:nvSpPr>
        <p:spPr>
          <a:xfrm>
            <a:off x="4617720" y="2697480"/>
            <a:ext cx="2331720" cy="1143000"/>
          </a:xfrm>
          <a:prstGeom prst="rect">
            <a:avLst/>
          </a:prstGeom>
          <a:noFill/>
          <a:ln/>
        </p:spPr>
        <p:txBody>
          <a:bodyPr wrap="square" lIns="0" tIns="0" rIns="0" bIns="0" rtlCol="0" anchor="t"/>
          <a:lstStyle/>
          <a:p>
            <a:pPr indent="0" marL="0">
              <a:buNone/>
            </a:pPr>
            <a:r>
              <a:rPr lang="en-US" sz="1550" b="1" dirty="0">
                <a:solidFill>
                  <a:srgbClr val="FFFFFF"/>
                </a:solidFill>
              </a:rPr>
              <a:t>Plain cardboard boxes</a:t>
            </a:r>
            <a:endParaRPr lang="en-US" sz="1550" dirty="0"/>
          </a:p>
          <a:p>
            <a:pPr indent="0" marL="0">
              <a:buNone/>
            </a:pPr>
            <a:r>
              <a:rPr lang="en-US" sz="1350" dirty="0">
                <a:solidFill>
                  <a:srgbClr val="DCE4F2"/>
                </a:solidFill>
              </a:rPr>
              <a:t>Markings removed; delivered to the Army as Albanian</a:t>
            </a:r>
            <a:endParaRPr lang="en-US" sz="1550" dirty="0"/>
          </a:p>
        </p:txBody>
      </p:sp>
      <p:sp>
        <p:nvSpPr>
          <p:cNvPr id="21" name="repack arrow"/>
          <p:cNvSpPr/>
          <p:nvPr/>
        </p:nvSpPr>
        <p:spPr>
          <a:xfrm>
            <a:off x="3474720" y="2606040"/>
            <a:ext cx="731520" cy="457200"/>
          </a:xfrm>
          <a:prstGeom prst="rightArrow">
            <a:avLst/>
          </a:prstGeom>
          <a:solidFill>
            <a:srgbClr val="2A4170"/>
          </a:solidFill>
          <a:ln/>
        </p:spPr>
      </p:sp>
      <p:sp>
        <p:nvSpPr>
          <p:cNvPr id="22" name="Text 18"/>
          <p:cNvSpPr txBox="1"/>
          <p:nvPr/>
        </p:nvSpPr>
        <p:spPr>
          <a:xfrm>
            <a:off x="3474720" y="2240280"/>
            <a:ext cx="731520" cy="274320"/>
          </a:xfrm>
          <a:prstGeom prst="rect">
            <a:avLst/>
          </a:prstGeom>
          <a:noFill/>
          <a:ln/>
        </p:spPr>
        <p:txBody>
          <a:bodyPr wrap="square" lIns="0" tIns="0" rIns="0" bIns="0" rtlCol="0" anchor="ctr"/>
          <a:lstStyle/>
          <a:p>
            <a:pPr algn="ctr" indent="0" marL="0">
              <a:buNone/>
            </a:pPr>
            <a:r>
              <a:rPr lang="en-US" sz="1100" b="1" spc="200" kern="0" dirty="0">
                <a:solidFill>
                  <a:srgbClr val="B8C4D9"/>
                </a:solidFill>
                <a:latin typeface="Arial" pitchFamily="34" charset="0"/>
                <a:ea typeface="Arial" pitchFamily="34" charset="-122"/>
                <a:cs typeface="Arial" pitchFamily="34" charset="-120"/>
              </a:rPr>
              <a:t>REPACK</a:t>
            </a:r>
            <a:endParaRPr lang="en-US" sz="1100" dirty="0"/>
          </a:p>
        </p:txBody>
      </p:sp>
      <p:sp>
        <p:nvSpPr>
          <p:cNvPr id="23" name="White-collar crime and fraud"/>
          <p:cNvSpPr/>
          <p:nvPr/>
        </p:nvSpPr>
        <p:spPr>
          <a:xfrm>
            <a:off x="548640" y="4069080"/>
            <a:ext cx="6583680" cy="1371600"/>
          </a:xfrm>
          <a:prstGeom prst="rect">
            <a:avLst/>
          </a:prstGeom>
          <a:solidFill>
            <a:srgbClr val="102347"/>
          </a:solidFill>
          <a:ln w="12700">
            <a:solidFill>
              <a:srgbClr val="28406E"/>
            </a:solidFill>
            <a:prstDash val="solid"/>
          </a:ln>
        </p:spPr>
      </p:sp>
      <p:sp>
        <p:nvSpPr>
          <p:cNvPr id="24" name="White-collar crime and fraud rule"/>
          <p:cNvSpPr/>
          <p:nvPr/>
        </p:nvSpPr>
        <p:spPr>
          <a:xfrm>
            <a:off x="548640" y="4069080"/>
            <a:ext cx="64008" cy="1371600"/>
          </a:xfrm>
          <a:prstGeom prst="rect">
            <a:avLst/>
          </a:prstGeom>
          <a:solidFill>
            <a:srgbClr val="FF6B6B"/>
          </a:solidFill>
          <a:ln/>
        </p:spPr>
      </p:sp>
      <p:sp>
        <p:nvSpPr>
          <p:cNvPr id="25" name="Text 21"/>
          <p:cNvSpPr txBox="1"/>
          <p:nvPr/>
        </p:nvSpPr>
        <p:spPr>
          <a:xfrm>
            <a:off x="777240" y="4206240"/>
            <a:ext cx="6172200" cy="1097280"/>
          </a:xfrm>
          <a:prstGeom prst="rect">
            <a:avLst/>
          </a:prstGeom>
          <a:noFill/>
          <a:ln/>
        </p:spPr>
        <p:txBody>
          <a:bodyPr wrap="square" lIns="0" tIns="0" rIns="0" bIns="0" rtlCol="0" anchor="t"/>
          <a:lstStyle/>
          <a:p>
            <a:pPr indent="0" marL="0">
              <a:buNone/>
            </a:pPr>
            <a:r>
              <a:rPr lang="en-US" sz="1600" b="1" dirty="0">
                <a:solidFill>
                  <a:srgbClr val="FFFFFF"/>
                </a:solidFill>
              </a:rPr>
              <a:t>White-collar crime and fraud</a:t>
            </a:r>
            <a:endParaRPr lang="en-US" sz="1600" dirty="0"/>
          </a:p>
          <a:p>
            <a:pPr indent="0" marL="0">
              <a:buNone/>
            </a:pPr>
            <a:r>
              <a:rPr lang="en-US" sz="1150" b="1" dirty="0">
                <a:solidFill>
                  <a:srgbClr val="FF6B6B"/>
                </a:solidFill>
              </a:rPr>
              <a:t>Sutherland (1940)</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Crime by respectable people in the course of their work: hiding the origin to keep a $298M contract. Documented in the real case (Lawson, 2015).</a:t>
            </a:r>
            <a:endParaRPr lang="en-US" sz="1600" dirty="0"/>
          </a:p>
        </p:txBody>
      </p:sp>
      <p:pic>
        <p:nvPicPr>
          <p:cNvPr id="26" name="quote icon" descr="preencoded.png">    </p:cNvPr>
          <p:cNvPicPr>
            <a:picLocks noChangeAspect="1"/>
          </p:cNvPicPr>
          <p:nvPr/>
        </p:nvPicPr>
        <p:blipFill>
          <a:blip r:embed="rId3"/>
          <a:stretch>
            <a:fillRect/>
          </a:stretch>
        </p:blipFill>
        <p:spPr>
          <a:xfrm>
            <a:off x="7452360" y="1764792"/>
            <a:ext cx="219456" cy="219456"/>
          </a:xfrm>
          <a:prstGeom prst="rect">
            <a:avLst/>
          </a:prstGeom>
        </p:spPr>
      </p:pic>
      <p:sp>
        <p:nvSpPr>
          <p:cNvPr id="27" name="Text 22"/>
          <p:cNvSpPr txBox="1"/>
          <p:nvPr/>
        </p:nvSpPr>
        <p:spPr>
          <a:xfrm>
            <a:off x="7763256" y="1737360"/>
            <a:ext cx="3879799" cy="274320"/>
          </a:xfrm>
          <a:prstGeom prst="rect">
            <a:avLst/>
          </a:prstGeom>
          <a:noFill/>
          <a:ln/>
        </p:spPr>
        <p:txBody>
          <a:bodyPr wrap="square" lIns="0" tIns="0" rIns="0" bIns="0" rtlCol="0" anchor="ctr"/>
          <a:lstStyle/>
          <a:p>
            <a:pPr indent="0" marL="0">
              <a:buNone/>
            </a:pPr>
            <a:r>
              <a:rPr lang="en-US" sz="1150" b="1" spc="200" kern="0" dirty="0">
                <a:solidFill>
                  <a:srgbClr val="F2B705"/>
                </a:solidFill>
                <a:latin typeface="Arial" pitchFamily="34" charset="0"/>
                <a:ea typeface="Arial" pitchFamily="34" charset="-122"/>
                <a:cs typeface="Arial" pitchFamily="34" charset="-120"/>
              </a:rPr>
              <a:t>SOUNDBITES  ·  SYKES &amp; MATZA (1957)</a:t>
            </a:r>
            <a:endParaRPr lang="en-US" sz="1150" dirty="0"/>
          </a:p>
        </p:txBody>
      </p:sp>
      <p:sp>
        <p:nvSpPr>
          <p:cNvPr id="28" name="DENIAL OF INJURY"/>
          <p:cNvSpPr/>
          <p:nvPr/>
        </p:nvSpPr>
        <p:spPr>
          <a:xfrm>
            <a:off x="7452360" y="2103120"/>
            <a:ext cx="4190695" cy="914400"/>
          </a:xfrm>
          <a:prstGeom prst="rect">
            <a:avLst/>
          </a:prstGeom>
          <a:solidFill>
            <a:srgbClr val="0D1C3C"/>
          </a:solidFill>
          <a:ln w="12700">
            <a:solidFill>
              <a:srgbClr val="28406E"/>
            </a:solidFill>
            <a:prstDash val="solid"/>
          </a:ln>
        </p:spPr>
      </p:sp>
      <p:sp>
        <p:nvSpPr>
          <p:cNvPr id="29" name="Text 24"/>
          <p:cNvSpPr txBox="1"/>
          <p:nvPr/>
        </p:nvSpPr>
        <p:spPr>
          <a:xfrm>
            <a:off x="7635240" y="2103120"/>
            <a:ext cx="3824935" cy="914400"/>
          </a:xfrm>
          <a:prstGeom prst="rect">
            <a:avLst/>
          </a:prstGeom>
          <a:noFill/>
          <a:ln/>
        </p:spPr>
        <p:txBody>
          <a:bodyPr wrap="square" lIns="0" tIns="0" rIns="0" bIns="0" rtlCol="0" anchor="ctr"/>
          <a:lstStyle/>
          <a:p>
            <a:pPr indent="0" marL="0">
              <a:buNone/>
            </a:pPr>
            <a:r>
              <a:rPr lang="en-US" sz="1450" i="1" dirty="0">
                <a:solidFill>
                  <a:srgbClr val="FFFFFF"/>
                </a:solidFill>
              </a:rPr>
              <a:t>“The troops still get bullets that work.”</a:t>
            </a:r>
            <a:endParaRPr lang="en-US" sz="1450" dirty="0"/>
          </a:p>
          <a:p>
            <a:pPr indent="0" marL="0">
              <a:buNone/>
            </a:pPr>
            <a:r>
              <a:rPr lang="en-US" sz="1050" b="1" spc="100" kern="0" dirty="0">
                <a:solidFill>
                  <a:srgbClr val="F2B705"/>
                </a:solidFill>
              </a:rPr>
              <a:t>DENIAL OF INJURY</a:t>
            </a:r>
            <a:endParaRPr lang="en-US" sz="1450" dirty="0"/>
          </a:p>
        </p:txBody>
      </p:sp>
      <p:sp>
        <p:nvSpPr>
          <p:cNvPr id="30" name="CONDEMNING THE CONDEMNERS"/>
          <p:cNvSpPr/>
          <p:nvPr/>
        </p:nvSpPr>
        <p:spPr>
          <a:xfrm>
            <a:off x="7452360" y="3108960"/>
            <a:ext cx="4190695" cy="914400"/>
          </a:xfrm>
          <a:prstGeom prst="rect">
            <a:avLst/>
          </a:prstGeom>
          <a:solidFill>
            <a:srgbClr val="0D1C3C"/>
          </a:solidFill>
          <a:ln w="12700">
            <a:solidFill>
              <a:srgbClr val="28406E"/>
            </a:solidFill>
            <a:prstDash val="solid"/>
          </a:ln>
        </p:spPr>
      </p:sp>
      <p:sp>
        <p:nvSpPr>
          <p:cNvPr id="31" name="Text 26"/>
          <p:cNvSpPr txBox="1"/>
          <p:nvPr/>
        </p:nvSpPr>
        <p:spPr>
          <a:xfrm>
            <a:off x="7635240" y="3108960"/>
            <a:ext cx="3824935" cy="914400"/>
          </a:xfrm>
          <a:prstGeom prst="rect">
            <a:avLst/>
          </a:prstGeom>
          <a:noFill/>
          <a:ln/>
        </p:spPr>
        <p:txBody>
          <a:bodyPr wrap="square" lIns="0" tIns="0" rIns="0" bIns="0" rtlCol="0" anchor="ctr"/>
          <a:lstStyle/>
          <a:p>
            <a:pPr indent="0" marL="0">
              <a:buNone/>
            </a:pPr>
            <a:r>
              <a:rPr lang="en-US" sz="1450" i="1" dirty="0">
                <a:solidFill>
                  <a:srgbClr val="FFFFFF"/>
                </a:solidFill>
              </a:rPr>
              <a:t>“The government buys from shady sources too.”</a:t>
            </a:r>
            <a:endParaRPr lang="en-US" sz="1450" dirty="0"/>
          </a:p>
          <a:p>
            <a:pPr indent="0" marL="0">
              <a:buNone/>
            </a:pPr>
            <a:r>
              <a:rPr lang="en-US" sz="1050" b="1" spc="100" kern="0" dirty="0">
                <a:solidFill>
                  <a:srgbClr val="F2B705"/>
                </a:solidFill>
              </a:rPr>
              <a:t>CONDEMNING THE CONDEMNERS</a:t>
            </a:r>
            <a:endParaRPr lang="en-US" sz="1450" dirty="0"/>
          </a:p>
        </p:txBody>
      </p:sp>
      <p:sp>
        <p:nvSpPr>
          <p:cNvPr id="32" name="DENIAL OF RESPONSIBILITY"/>
          <p:cNvSpPr/>
          <p:nvPr/>
        </p:nvSpPr>
        <p:spPr>
          <a:xfrm>
            <a:off x="7452360" y="4114800"/>
            <a:ext cx="4190695" cy="914400"/>
          </a:xfrm>
          <a:prstGeom prst="rect">
            <a:avLst/>
          </a:prstGeom>
          <a:solidFill>
            <a:srgbClr val="0D1C3C"/>
          </a:solidFill>
          <a:ln w="12700">
            <a:solidFill>
              <a:srgbClr val="28406E"/>
            </a:solidFill>
            <a:prstDash val="solid"/>
          </a:ln>
        </p:spPr>
      </p:sp>
      <p:sp>
        <p:nvSpPr>
          <p:cNvPr id="33" name="Text 28"/>
          <p:cNvSpPr txBox="1"/>
          <p:nvPr/>
        </p:nvSpPr>
        <p:spPr>
          <a:xfrm>
            <a:off x="7635240" y="4114800"/>
            <a:ext cx="3824935" cy="914400"/>
          </a:xfrm>
          <a:prstGeom prst="rect">
            <a:avLst/>
          </a:prstGeom>
          <a:noFill/>
          <a:ln/>
        </p:spPr>
        <p:txBody>
          <a:bodyPr wrap="square" lIns="0" tIns="0" rIns="0" bIns="0" rtlCol="0" anchor="ctr"/>
          <a:lstStyle/>
          <a:p>
            <a:pPr indent="0" marL="0">
              <a:buNone/>
            </a:pPr>
            <a:r>
              <a:rPr lang="en-US" sz="1450" i="1" dirty="0">
                <a:solidFill>
                  <a:srgbClr val="FFFFFF"/>
                </a:solidFill>
              </a:rPr>
              <a:t>“We didn’t write the rules; we just filled the order.”</a:t>
            </a:r>
            <a:endParaRPr lang="en-US" sz="1450" dirty="0"/>
          </a:p>
          <a:p>
            <a:pPr indent="0" marL="0">
              <a:buNone/>
            </a:pPr>
            <a:r>
              <a:rPr lang="en-US" sz="1050" b="1" spc="100" kern="0" dirty="0">
                <a:solidFill>
                  <a:srgbClr val="F2B705"/>
                </a:solidFill>
              </a:rPr>
              <a:t>DENIAL OF RESPONSIBILITY</a:t>
            </a:r>
            <a:endParaRPr lang="en-US" sz="1450" dirty="0"/>
          </a:p>
        </p:txBody>
      </p:sp>
      <p:sp>
        <p:nvSpPr>
          <p:cNvPr id="34" name="Text 29"/>
          <p:cNvSpPr txBox="1"/>
          <p:nvPr/>
        </p:nvSpPr>
        <p:spPr>
          <a:xfrm>
            <a:off x="7452360" y="5138928"/>
            <a:ext cx="4190695" cy="274320"/>
          </a:xfrm>
          <a:prstGeom prst="rect">
            <a:avLst/>
          </a:prstGeom>
          <a:noFill/>
          <a:ln/>
        </p:spPr>
        <p:txBody>
          <a:bodyPr wrap="square" lIns="0" tIns="0" rIns="0" bIns="0" rtlCol="0" anchor="ctr"/>
          <a:lstStyle/>
          <a:p>
            <a:pPr indent="0" marL="0">
              <a:buNone/>
            </a:pPr>
            <a:r>
              <a:rPr lang="en-US" sz="1100" i="1" dirty="0">
                <a:solidFill>
                  <a:srgbClr val="B8C4D9"/>
                </a:solidFill>
              </a:rPr>
              <a:t>Soundbites are our paraphrases, not film quotes.</a:t>
            </a:r>
            <a:endParaRPr lang="en-US" sz="11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EXPERT PANEL</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Is AEY organized crime?</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IMRAN MRIDHA</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INVESTIGATIONS EDITOR</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EXPERT PANEL: THE UN DEFINITION SAYS YES  •  ABADINSKY SAYS NOT THE MAFIA</a:t>
            </a:r>
            <a:endParaRPr lang="en-US" sz="1150" dirty="0"/>
          </a:p>
        </p:txBody>
      </p:sp>
      <p:sp>
        <p:nvSpPr>
          <p:cNvPr id="11" name="EXPERT 1:  YES"/>
          <p:cNvSpPr/>
          <p:nvPr/>
        </p:nvSpPr>
        <p:spPr>
          <a:xfrm>
            <a:off x="548640" y="1737360"/>
            <a:ext cx="5090008" cy="3017520"/>
          </a:xfrm>
          <a:prstGeom prst="rect">
            <a:avLst/>
          </a:prstGeom>
          <a:solidFill>
            <a:srgbClr val="102347"/>
          </a:solidFill>
          <a:ln w="19050">
            <a:solidFill>
              <a:srgbClr val="22A55B"/>
            </a:solidFill>
            <a:prstDash val="solid"/>
          </a:ln>
        </p:spPr>
      </p:sp>
      <p:sp>
        <p:nvSpPr>
          <p:cNvPr id="12" name="EXPERT 1:  YES header"/>
          <p:cNvSpPr/>
          <p:nvPr/>
        </p:nvSpPr>
        <p:spPr>
          <a:xfrm>
            <a:off x="548640" y="1737360"/>
            <a:ext cx="5090008" cy="457200"/>
          </a:xfrm>
          <a:prstGeom prst="rect">
            <a:avLst/>
          </a:prstGeom>
          <a:solidFill>
            <a:srgbClr val="22A55B"/>
          </a:solidFill>
          <a:ln/>
        </p:spPr>
      </p:sp>
      <p:sp>
        <p:nvSpPr>
          <p:cNvPr id="13" name="Text 11"/>
          <p:cNvSpPr txBox="1"/>
          <p:nvPr/>
        </p:nvSpPr>
        <p:spPr>
          <a:xfrm>
            <a:off x="777240" y="1737360"/>
            <a:ext cx="4632808" cy="457200"/>
          </a:xfrm>
          <a:prstGeom prst="rect">
            <a:avLst/>
          </a:prstGeom>
          <a:noFill/>
          <a:ln/>
        </p:spPr>
        <p:txBody>
          <a:bodyPr wrap="square" lIns="0" tIns="0" rIns="0" bIns="0" rtlCol="0" anchor="ctr"/>
          <a:lstStyle/>
          <a:p>
            <a:pPr indent="0" marL="0">
              <a:buNone/>
            </a:pPr>
            <a:r>
              <a:rPr lang="en-US" sz="1600" b="1" spc="200" kern="0" dirty="0">
                <a:solidFill>
                  <a:srgbClr val="FFFFFF"/>
                </a:solidFill>
                <a:latin typeface="Arial" pitchFamily="34" charset="0"/>
                <a:ea typeface="Arial" pitchFamily="34" charset="-122"/>
                <a:cs typeface="Arial" pitchFamily="34" charset="-120"/>
              </a:rPr>
              <a:t>EXPERT 1:  YES</a:t>
            </a:r>
            <a:pPr indent="0" marL="0">
              <a:buNone/>
            </a:pPr>
            <a:r>
              <a:rPr lang="en-US" sz="1200" dirty="0">
                <a:solidFill>
                  <a:srgbClr val="FFFFFF"/>
                </a:solidFill>
                <a:latin typeface="Arial" pitchFamily="34" charset="0"/>
                <a:ea typeface="Arial" pitchFamily="34" charset="-122"/>
                <a:cs typeface="Arial" pitchFamily="34" charset="-120"/>
              </a:rPr>
              <a:t>   UNTOC, Article 2 (UNODC, 2004)</a:t>
            </a:r>
            <a:endParaRPr lang="en-US" sz="1600" dirty="0"/>
          </a:p>
        </p:txBody>
      </p:sp>
      <p:sp>
        <p:nvSpPr>
          <p:cNvPr id="14" name="A structured group of 3+ persons circle"/>
          <p:cNvSpPr/>
          <p:nvPr/>
        </p:nvSpPr>
        <p:spPr>
          <a:xfrm>
            <a:off x="777240" y="2395728"/>
            <a:ext cx="310896" cy="310896"/>
          </a:xfrm>
          <a:prstGeom prst="ellipse">
            <a:avLst/>
          </a:prstGeom>
          <a:solidFill>
            <a:srgbClr val="22A55B"/>
          </a:solidFill>
          <a:ln/>
        </p:spPr>
      </p:sp>
      <p:pic>
        <p:nvPicPr>
          <p:cNvPr id="15" name="A structured group of 3+ persons icon" descr="A structured group of 3+ persons">    </p:cNvPr>
          <p:cNvPicPr>
            <a:picLocks noChangeAspect="1"/>
          </p:cNvPicPr>
          <p:nvPr/>
        </p:nvPicPr>
        <p:blipFill>
          <a:blip r:embed="rId1"/>
          <a:stretch>
            <a:fillRect/>
          </a:stretch>
        </p:blipFill>
        <p:spPr>
          <a:xfrm>
            <a:off x="854964" y="2473452"/>
            <a:ext cx="155448" cy="155448"/>
          </a:xfrm>
          <a:prstGeom prst="rect">
            <a:avLst/>
          </a:prstGeom>
        </p:spPr>
      </p:pic>
      <p:sp>
        <p:nvSpPr>
          <p:cNvPr id="16" name="Text 13"/>
          <p:cNvSpPr txBox="1"/>
          <p:nvPr/>
        </p:nvSpPr>
        <p:spPr>
          <a:xfrm>
            <a:off x="1234440" y="2331720"/>
            <a:ext cx="4175608" cy="438912"/>
          </a:xfrm>
          <a:prstGeom prst="rect">
            <a:avLst/>
          </a:prstGeom>
          <a:noFill/>
          <a:ln/>
        </p:spPr>
        <p:txBody>
          <a:bodyPr wrap="square" lIns="0" tIns="0" rIns="0" bIns="0" rtlCol="0" anchor="ctr"/>
          <a:lstStyle/>
          <a:p>
            <a:pPr indent="0" marL="0">
              <a:buNone/>
            </a:pPr>
            <a:r>
              <a:rPr lang="en-US" sz="1500" dirty="0">
                <a:solidFill>
                  <a:srgbClr val="FFFFFF"/>
                </a:solidFill>
              </a:rPr>
              <a:t>A structured group of 3+ persons</a:t>
            </a:r>
            <a:endParaRPr lang="en-US" sz="1500" dirty="0"/>
          </a:p>
        </p:txBody>
      </p:sp>
      <p:sp>
        <p:nvSpPr>
          <p:cNvPr id="17" name="Exists over a period of time circle"/>
          <p:cNvSpPr/>
          <p:nvPr/>
        </p:nvSpPr>
        <p:spPr>
          <a:xfrm>
            <a:off x="777240" y="2871216"/>
            <a:ext cx="310896" cy="310896"/>
          </a:xfrm>
          <a:prstGeom prst="ellipse">
            <a:avLst/>
          </a:prstGeom>
          <a:solidFill>
            <a:srgbClr val="22A55B"/>
          </a:solidFill>
          <a:ln/>
        </p:spPr>
      </p:sp>
      <p:pic>
        <p:nvPicPr>
          <p:cNvPr id="18" name="Exists over a period of time icon" descr="Exists over a period of time">    </p:cNvPr>
          <p:cNvPicPr>
            <a:picLocks noChangeAspect="1"/>
          </p:cNvPicPr>
          <p:nvPr/>
        </p:nvPicPr>
        <p:blipFill>
          <a:blip r:embed="rId2"/>
          <a:stretch>
            <a:fillRect/>
          </a:stretch>
        </p:blipFill>
        <p:spPr>
          <a:xfrm>
            <a:off x="854964" y="2948940"/>
            <a:ext cx="155448" cy="155448"/>
          </a:xfrm>
          <a:prstGeom prst="rect">
            <a:avLst/>
          </a:prstGeom>
        </p:spPr>
      </p:pic>
      <p:sp>
        <p:nvSpPr>
          <p:cNvPr id="19" name="Text 15"/>
          <p:cNvSpPr txBox="1"/>
          <p:nvPr/>
        </p:nvSpPr>
        <p:spPr>
          <a:xfrm>
            <a:off x="1234440" y="2807208"/>
            <a:ext cx="4175608" cy="438912"/>
          </a:xfrm>
          <a:prstGeom prst="rect">
            <a:avLst/>
          </a:prstGeom>
          <a:noFill/>
          <a:ln/>
        </p:spPr>
        <p:txBody>
          <a:bodyPr wrap="square" lIns="0" tIns="0" rIns="0" bIns="0" rtlCol="0" anchor="ctr"/>
          <a:lstStyle/>
          <a:p>
            <a:pPr indent="0" marL="0">
              <a:buNone/>
            </a:pPr>
            <a:r>
              <a:rPr lang="en-US" sz="1500" dirty="0">
                <a:solidFill>
                  <a:srgbClr val="FFFFFF"/>
                </a:solidFill>
              </a:rPr>
              <a:t>Exists over a period of time</a:t>
            </a:r>
            <a:endParaRPr lang="en-US" sz="1500" dirty="0"/>
          </a:p>
        </p:txBody>
      </p:sp>
      <p:sp>
        <p:nvSpPr>
          <p:cNvPr id="20" name="Commits serious crime (fraud) circle"/>
          <p:cNvSpPr/>
          <p:nvPr/>
        </p:nvSpPr>
        <p:spPr>
          <a:xfrm>
            <a:off x="777240" y="3346704"/>
            <a:ext cx="310896" cy="310896"/>
          </a:xfrm>
          <a:prstGeom prst="ellipse">
            <a:avLst/>
          </a:prstGeom>
          <a:solidFill>
            <a:srgbClr val="22A55B"/>
          </a:solidFill>
          <a:ln/>
        </p:spPr>
      </p:sp>
      <p:pic>
        <p:nvPicPr>
          <p:cNvPr id="21" name="Commits serious crime (fraud) icon" descr="Commits serious crime (fraud)">    </p:cNvPr>
          <p:cNvPicPr>
            <a:picLocks noChangeAspect="1"/>
          </p:cNvPicPr>
          <p:nvPr/>
        </p:nvPicPr>
        <p:blipFill>
          <a:blip r:embed="rId3"/>
          <a:stretch>
            <a:fillRect/>
          </a:stretch>
        </p:blipFill>
        <p:spPr>
          <a:xfrm>
            <a:off x="854964" y="3424428"/>
            <a:ext cx="155448" cy="155448"/>
          </a:xfrm>
          <a:prstGeom prst="rect">
            <a:avLst/>
          </a:prstGeom>
        </p:spPr>
      </p:pic>
      <p:sp>
        <p:nvSpPr>
          <p:cNvPr id="22" name="Text 17"/>
          <p:cNvSpPr txBox="1"/>
          <p:nvPr/>
        </p:nvSpPr>
        <p:spPr>
          <a:xfrm>
            <a:off x="1234440" y="3282696"/>
            <a:ext cx="4175608" cy="438912"/>
          </a:xfrm>
          <a:prstGeom prst="rect">
            <a:avLst/>
          </a:prstGeom>
          <a:noFill/>
          <a:ln/>
        </p:spPr>
        <p:txBody>
          <a:bodyPr wrap="square" lIns="0" tIns="0" rIns="0" bIns="0" rtlCol="0" anchor="ctr"/>
          <a:lstStyle/>
          <a:p>
            <a:pPr indent="0" marL="0">
              <a:buNone/>
            </a:pPr>
            <a:r>
              <a:rPr lang="en-US" sz="1500" dirty="0">
                <a:solidFill>
                  <a:srgbClr val="FFFFFF"/>
                </a:solidFill>
              </a:rPr>
              <a:t>Commits serious crime (fraud)</a:t>
            </a:r>
            <a:endParaRPr lang="en-US" sz="1500" dirty="0"/>
          </a:p>
        </p:txBody>
      </p:sp>
      <p:sp>
        <p:nvSpPr>
          <p:cNvPr id="23" name="For financial benefit circle"/>
          <p:cNvSpPr/>
          <p:nvPr/>
        </p:nvSpPr>
        <p:spPr>
          <a:xfrm>
            <a:off x="777240" y="3822192"/>
            <a:ext cx="310896" cy="310896"/>
          </a:xfrm>
          <a:prstGeom prst="ellipse">
            <a:avLst/>
          </a:prstGeom>
          <a:solidFill>
            <a:srgbClr val="22A55B"/>
          </a:solidFill>
          <a:ln/>
        </p:spPr>
      </p:sp>
      <p:pic>
        <p:nvPicPr>
          <p:cNvPr id="24" name="For financial benefit icon" descr="For financial benefit">    </p:cNvPr>
          <p:cNvPicPr>
            <a:picLocks noChangeAspect="1"/>
          </p:cNvPicPr>
          <p:nvPr/>
        </p:nvPicPr>
        <p:blipFill>
          <a:blip r:embed="rId4"/>
          <a:stretch>
            <a:fillRect/>
          </a:stretch>
        </p:blipFill>
        <p:spPr>
          <a:xfrm>
            <a:off x="854964" y="3899916"/>
            <a:ext cx="155448" cy="155448"/>
          </a:xfrm>
          <a:prstGeom prst="rect">
            <a:avLst/>
          </a:prstGeom>
        </p:spPr>
      </p:pic>
      <p:sp>
        <p:nvSpPr>
          <p:cNvPr id="25" name="Text 19"/>
          <p:cNvSpPr txBox="1"/>
          <p:nvPr/>
        </p:nvSpPr>
        <p:spPr>
          <a:xfrm>
            <a:off x="1234440" y="3758184"/>
            <a:ext cx="4175608" cy="438912"/>
          </a:xfrm>
          <a:prstGeom prst="rect">
            <a:avLst/>
          </a:prstGeom>
          <a:noFill/>
          <a:ln/>
        </p:spPr>
        <p:txBody>
          <a:bodyPr wrap="square" lIns="0" tIns="0" rIns="0" bIns="0" rtlCol="0" anchor="ctr"/>
          <a:lstStyle/>
          <a:p>
            <a:pPr indent="0" marL="0">
              <a:buNone/>
            </a:pPr>
            <a:r>
              <a:rPr lang="en-US" sz="1500" dirty="0">
                <a:solidFill>
                  <a:srgbClr val="FFFFFF"/>
                </a:solidFill>
              </a:rPr>
              <a:t>For financial benefit</a:t>
            </a:r>
            <a:endParaRPr lang="en-US" sz="1500" dirty="0"/>
          </a:p>
        </p:txBody>
      </p:sp>
      <p:sp>
        <p:nvSpPr>
          <p:cNvPr id="26" name="Crosses five countries circle"/>
          <p:cNvSpPr/>
          <p:nvPr/>
        </p:nvSpPr>
        <p:spPr>
          <a:xfrm>
            <a:off x="777240" y="4297680"/>
            <a:ext cx="310896" cy="310896"/>
          </a:xfrm>
          <a:prstGeom prst="ellipse">
            <a:avLst/>
          </a:prstGeom>
          <a:solidFill>
            <a:srgbClr val="22A55B"/>
          </a:solidFill>
          <a:ln/>
        </p:spPr>
      </p:sp>
      <p:pic>
        <p:nvPicPr>
          <p:cNvPr id="27" name="Crosses five countries icon" descr="Crosses five countries">    </p:cNvPr>
          <p:cNvPicPr>
            <a:picLocks noChangeAspect="1"/>
          </p:cNvPicPr>
          <p:nvPr/>
        </p:nvPicPr>
        <p:blipFill>
          <a:blip r:embed="rId5"/>
          <a:stretch>
            <a:fillRect/>
          </a:stretch>
        </p:blipFill>
        <p:spPr>
          <a:xfrm>
            <a:off x="854964" y="4375404"/>
            <a:ext cx="155448" cy="155448"/>
          </a:xfrm>
          <a:prstGeom prst="rect">
            <a:avLst/>
          </a:prstGeom>
        </p:spPr>
      </p:pic>
      <p:sp>
        <p:nvSpPr>
          <p:cNvPr id="28" name="Text 21"/>
          <p:cNvSpPr txBox="1"/>
          <p:nvPr/>
        </p:nvSpPr>
        <p:spPr>
          <a:xfrm>
            <a:off x="1234440" y="4233672"/>
            <a:ext cx="4175608" cy="438912"/>
          </a:xfrm>
          <a:prstGeom prst="rect">
            <a:avLst/>
          </a:prstGeom>
          <a:noFill/>
          <a:ln/>
        </p:spPr>
        <p:txBody>
          <a:bodyPr wrap="square" lIns="0" tIns="0" rIns="0" bIns="0" rtlCol="0" anchor="ctr"/>
          <a:lstStyle/>
          <a:p>
            <a:pPr indent="0" marL="0">
              <a:buNone/>
            </a:pPr>
            <a:r>
              <a:rPr lang="en-US" sz="1500" dirty="0">
                <a:solidFill>
                  <a:srgbClr val="FFFFFF"/>
                </a:solidFill>
              </a:rPr>
              <a:t>Crosses five countries</a:t>
            </a:r>
            <a:endParaRPr lang="en-US" sz="1500" dirty="0"/>
          </a:p>
        </p:txBody>
      </p:sp>
      <p:sp>
        <p:nvSpPr>
          <p:cNvPr id="29" name="EXPERT 2:  NO"/>
          <p:cNvSpPr/>
          <p:nvPr/>
        </p:nvSpPr>
        <p:spPr>
          <a:xfrm>
            <a:off x="6553048" y="1737360"/>
            <a:ext cx="5090008" cy="3017520"/>
          </a:xfrm>
          <a:prstGeom prst="rect">
            <a:avLst/>
          </a:prstGeom>
          <a:solidFill>
            <a:srgbClr val="102347"/>
          </a:solidFill>
          <a:ln w="19050">
            <a:solidFill>
              <a:srgbClr val="D7191F"/>
            </a:solidFill>
            <a:prstDash val="solid"/>
          </a:ln>
        </p:spPr>
      </p:sp>
      <p:sp>
        <p:nvSpPr>
          <p:cNvPr id="30" name="EXPERT 2:  NO header"/>
          <p:cNvSpPr/>
          <p:nvPr/>
        </p:nvSpPr>
        <p:spPr>
          <a:xfrm>
            <a:off x="6553048" y="1737360"/>
            <a:ext cx="5090008" cy="457200"/>
          </a:xfrm>
          <a:prstGeom prst="rect">
            <a:avLst/>
          </a:prstGeom>
          <a:solidFill>
            <a:srgbClr val="D7191F"/>
          </a:solidFill>
          <a:ln/>
        </p:spPr>
      </p:sp>
      <p:sp>
        <p:nvSpPr>
          <p:cNvPr id="31" name="Text 24"/>
          <p:cNvSpPr txBox="1"/>
          <p:nvPr/>
        </p:nvSpPr>
        <p:spPr>
          <a:xfrm>
            <a:off x="6781648" y="1737360"/>
            <a:ext cx="4632808" cy="457200"/>
          </a:xfrm>
          <a:prstGeom prst="rect">
            <a:avLst/>
          </a:prstGeom>
          <a:noFill/>
          <a:ln/>
        </p:spPr>
        <p:txBody>
          <a:bodyPr wrap="square" lIns="0" tIns="0" rIns="0" bIns="0" rtlCol="0" anchor="ctr"/>
          <a:lstStyle/>
          <a:p>
            <a:pPr indent="0" marL="0">
              <a:buNone/>
            </a:pPr>
            <a:r>
              <a:rPr lang="en-US" sz="1600" b="1" spc="200" kern="0" dirty="0">
                <a:solidFill>
                  <a:srgbClr val="FFFFFF"/>
                </a:solidFill>
                <a:latin typeface="Arial" pitchFamily="34" charset="0"/>
                <a:ea typeface="Arial" pitchFamily="34" charset="-122"/>
                <a:cs typeface="Arial" pitchFamily="34" charset="-120"/>
              </a:rPr>
              <a:t>EXPERT 2:  NO</a:t>
            </a:r>
            <a:pPr indent="0" marL="0">
              <a:buNone/>
            </a:pPr>
            <a:r>
              <a:rPr lang="en-US" sz="1200" dirty="0">
                <a:solidFill>
                  <a:srgbClr val="FFFFFF"/>
                </a:solidFill>
                <a:latin typeface="Arial" pitchFamily="34" charset="0"/>
                <a:ea typeface="Arial" pitchFamily="34" charset="-122"/>
                <a:cs typeface="Arial" pitchFamily="34" charset="-120"/>
              </a:rPr>
              <a:t>   Abadinsky’s attributes (2013)</a:t>
            </a:r>
            <a:endParaRPr lang="en-US" sz="1600" dirty="0"/>
          </a:p>
        </p:txBody>
      </p:sp>
      <p:sp>
        <p:nvSpPr>
          <p:cNvPr id="32" name="No hierarchy of ranks circle"/>
          <p:cNvSpPr/>
          <p:nvPr/>
        </p:nvSpPr>
        <p:spPr>
          <a:xfrm>
            <a:off x="6781648" y="2395728"/>
            <a:ext cx="310896" cy="310896"/>
          </a:xfrm>
          <a:prstGeom prst="ellipse">
            <a:avLst/>
          </a:prstGeom>
          <a:solidFill>
            <a:srgbClr val="D7191F"/>
          </a:solidFill>
          <a:ln/>
        </p:spPr>
      </p:sp>
      <p:pic>
        <p:nvPicPr>
          <p:cNvPr id="33" name="No hierarchy of ranks icon" descr="No hierarchy of ranks">    </p:cNvPr>
          <p:cNvPicPr>
            <a:picLocks noChangeAspect="1"/>
          </p:cNvPicPr>
          <p:nvPr/>
        </p:nvPicPr>
        <p:blipFill>
          <a:blip r:embed="rId6"/>
          <a:stretch>
            <a:fillRect/>
          </a:stretch>
        </p:blipFill>
        <p:spPr>
          <a:xfrm>
            <a:off x="6859372" y="2473452"/>
            <a:ext cx="155448" cy="155448"/>
          </a:xfrm>
          <a:prstGeom prst="rect">
            <a:avLst/>
          </a:prstGeom>
        </p:spPr>
      </p:pic>
      <p:sp>
        <p:nvSpPr>
          <p:cNvPr id="34" name="Text 26"/>
          <p:cNvSpPr txBox="1"/>
          <p:nvPr/>
        </p:nvSpPr>
        <p:spPr>
          <a:xfrm>
            <a:off x="7238848" y="2331720"/>
            <a:ext cx="4175608" cy="438912"/>
          </a:xfrm>
          <a:prstGeom prst="rect">
            <a:avLst/>
          </a:prstGeom>
          <a:noFill/>
          <a:ln/>
        </p:spPr>
        <p:txBody>
          <a:bodyPr wrap="square" lIns="0" tIns="0" rIns="0" bIns="0" rtlCol="0" anchor="ctr"/>
          <a:lstStyle/>
          <a:p>
            <a:pPr indent="0" marL="0">
              <a:buNone/>
            </a:pPr>
            <a:r>
              <a:rPr lang="en-US" sz="1500" dirty="0">
                <a:solidFill>
                  <a:srgbClr val="FFFFFF"/>
                </a:solidFill>
              </a:rPr>
              <a:t>No hierarchy of ranks</a:t>
            </a:r>
            <a:endParaRPr lang="en-US" sz="1500" dirty="0"/>
          </a:p>
        </p:txBody>
      </p:sp>
      <p:sp>
        <p:nvSpPr>
          <p:cNvPr id="35" name="No exclusive membership circle"/>
          <p:cNvSpPr/>
          <p:nvPr/>
        </p:nvSpPr>
        <p:spPr>
          <a:xfrm>
            <a:off x="6781648" y="2871216"/>
            <a:ext cx="310896" cy="310896"/>
          </a:xfrm>
          <a:prstGeom prst="ellipse">
            <a:avLst/>
          </a:prstGeom>
          <a:solidFill>
            <a:srgbClr val="D7191F"/>
          </a:solidFill>
          <a:ln/>
        </p:spPr>
      </p:sp>
      <p:pic>
        <p:nvPicPr>
          <p:cNvPr id="36" name="No exclusive membership icon" descr="No exclusive membership">    </p:cNvPr>
          <p:cNvPicPr>
            <a:picLocks noChangeAspect="1"/>
          </p:cNvPicPr>
          <p:nvPr/>
        </p:nvPicPr>
        <p:blipFill>
          <a:blip r:embed="rId7"/>
          <a:stretch>
            <a:fillRect/>
          </a:stretch>
        </p:blipFill>
        <p:spPr>
          <a:xfrm>
            <a:off x="6859372" y="2948940"/>
            <a:ext cx="155448" cy="155448"/>
          </a:xfrm>
          <a:prstGeom prst="rect">
            <a:avLst/>
          </a:prstGeom>
        </p:spPr>
      </p:pic>
      <p:sp>
        <p:nvSpPr>
          <p:cNvPr id="37" name="Text 28"/>
          <p:cNvSpPr txBox="1"/>
          <p:nvPr/>
        </p:nvSpPr>
        <p:spPr>
          <a:xfrm>
            <a:off x="7238848" y="2807208"/>
            <a:ext cx="4175608" cy="438912"/>
          </a:xfrm>
          <a:prstGeom prst="rect">
            <a:avLst/>
          </a:prstGeom>
          <a:noFill/>
          <a:ln/>
        </p:spPr>
        <p:txBody>
          <a:bodyPr wrap="square" lIns="0" tIns="0" rIns="0" bIns="0" rtlCol="0" anchor="ctr"/>
          <a:lstStyle/>
          <a:p>
            <a:pPr indent="0" marL="0">
              <a:buNone/>
            </a:pPr>
            <a:r>
              <a:rPr lang="en-US" sz="1500" dirty="0">
                <a:solidFill>
                  <a:srgbClr val="FFFFFF"/>
                </a:solidFill>
              </a:rPr>
              <a:t>No exclusive membership</a:t>
            </a:r>
            <a:endParaRPr lang="en-US" sz="1500" dirty="0"/>
          </a:p>
        </p:txBody>
      </p:sp>
      <p:sp>
        <p:nvSpPr>
          <p:cNvPr id="38" name="No code, rules or rituals circle"/>
          <p:cNvSpPr/>
          <p:nvPr/>
        </p:nvSpPr>
        <p:spPr>
          <a:xfrm>
            <a:off x="6781648" y="3346704"/>
            <a:ext cx="310896" cy="310896"/>
          </a:xfrm>
          <a:prstGeom prst="ellipse">
            <a:avLst/>
          </a:prstGeom>
          <a:solidFill>
            <a:srgbClr val="D7191F"/>
          </a:solidFill>
          <a:ln/>
        </p:spPr>
      </p:sp>
      <p:pic>
        <p:nvPicPr>
          <p:cNvPr id="39" name="No code, rules or rituals icon" descr="No code, rules or rituals">    </p:cNvPr>
          <p:cNvPicPr>
            <a:picLocks noChangeAspect="1"/>
          </p:cNvPicPr>
          <p:nvPr/>
        </p:nvPicPr>
        <p:blipFill>
          <a:blip r:embed="rId8"/>
          <a:stretch>
            <a:fillRect/>
          </a:stretch>
        </p:blipFill>
        <p:spPr>
          <a:xfrm>
            <a:off x="6859372" y="3424428"/>
            <a:ext cx="155448" cy="155448"/>
          </a:xfrm>
          <a:prstGeom prst="rect">
            <a:avLst/>
          </a:prstGeom>
        </p:spPr>
      </p:pic>
      <p:sp>
        <p:nvSpPr>
          <p:cNvPr id="40" name="Text 30"/>
          <p:cNvSpPr txBox="1"/>
          <p:nvPr/>
        </p:nvSpPr>
        <p:spPr>
          <a:xfrm>
            <a:off x="7238848" y="3282696"/>
            <a:ext cx="4175608" cy="438912"/>
          </a:xfrm>
          <a:prstGeom prst="rect">
            <a:avLst/>
          </a:prstGeom>
          <a:noFill/>
          <a:ln/>
        </p:spPr>
        <p:txBody>
          <a:bodyPr wrap="square" lIns="0" tIns="0" rIns="0" bIns="0" rtlCol="0" anchor="ctr"/>
          <a:lstStyle/>
          <a:p>
            <a:pPr indent="0" marL="0">
              <a:buNone/>
            </a:pPr>
            <a:r>
              <a:rPr lang="en-US" sz="1500" dirty="0">
                <a:solidFill>
                  <a:srgbClr val="FFFFFF"/>
                </a:solidFill>
              </a:rPr>
              <a:t>No code, rules or rituals</a:t>
            </a:r>
            <a:endParaRPr lang="en-US" sz="1500" dirty="0"/>
          </a:p>
        </p:txBody>
      </p:sp>
      <p:sp>
        <p:nvSpPr>
          <p:cNvPr id="41" name="Did not survive its leaders’ arrest circle"/>
          <p:cNvSpPr/>
          <p:nvPr/>
        </p:nvSpPr>
        <p:spPr>
          <a:xfrm>
            <a:off x="6781648" y="3822192"/>
            <a:ext cx="310896" cy="310896"/>
          </a:xfrm>
          <a:prstGeom prst="ellipse">
            <a:avLst/>
          </a:prstGeom>
          <a:solidFill>
            <a:srgbClr val="D7191F"/>
          </a:solidFill>
          <a:ln/>
        </p:spPr>
      </p:sp>
      <p:pic>
        <p:nvPicPr>
          <p:cNvPr id="42" name="Did not survive its leaders’ arrest icon" descr="Did not survive its leaders’ arrest">    </p:cNvPr>
          <p:cNvPicPr>
            <a:picLocks noChangeAspect="1"/>
          </p:cNvPicPr>
          <p:nvPr/>
        </p:nvPicPr>
        <p:blipFill>
          <a:blip r:embed="rId9"/>
          <a:stretch>
            <a:fillRect/>
          </a:stretch>
        </p:blipFill>
        <p:spPr>
          <a:xfrm>
            <a:off x="6859372" y="3899916"/>
            <a:ext cx="155448" cy="155448"/>
          </a:xfrm>
          <a:prstGeom prst="rect">
            <a:avLst/>
          </a:prstGeom>
        </p:spPr>
      </p:pic>
      <p:sp>
        <p:nvSpPr>
          <p:cNvPr id="43" name="Text 32"/>
          <p:cNvSpPr txBox="1"/>
          <p:nvPr/>
        </p:nvSpPr>
        <p:spPr>
          <a:xfrm>
            <a:off x="7238848" y="3758184"/>
            <a:ext cx="4175608" cy="438912"/>
          </a:xfrm>
          <a:prstGeom prst="rect">
            <a:avLst/>
          </a:prstGeom>
          <a:noFill/>
          <a:ln/>
        </p:spPr>
        <p:txBody>
          <a:bodyPr wrap="square" lIns="0" tIns="0" rIns="0" bIns="0" rtlCol="0" anchor="ctr"/>
          <a:lstStyle/>
          <a:p>
            <a:pPr indent="0" marL="0">
              <a:buNone/>
            </a:pPr>
            <a:r>
              <a:rPr lang="en-US" sz="1500" dirty="0">
                <a:solidFill>
                  <a:srgbClr val="FFFFFF"/>
                </a:solidFill>
              </a:rPr>
              <a:t>Did not survive its leaders’ arrest</a:t>
            </a:r>
            <a:endParaRPr lang="en-US" sz="1500" dirty="0"/>
          </a:p>
        </p:txBody>
      </p:sp>
      <p:sp>
        <p:nvSpPr>
          <p:cNvPr id="44" name="Not the mafia circle"/>
          <p:cNvSpPr/>
          <p:nvPr/>
        </p:nvSpPr>
        <p:spPr>
          <a:xfrm>
            <a:off x="6781648" y="4297680"/>
            <a:ext cx="310896" cy="310896"/>
          </a:xfrm>
          <a:prstGeom prst="ellipse">
            <a:avLst/>
          </a:prstGeom>
          <a:solidFill>
            <a:srgbClr val="D7191F"/>
          </a:solidFill>
          <a:ln/>
        </p:spPr>
      </p:sp>
      <p:pic>
        <p:nvPicPr>
          <p:cNvPr id="45" name="Not the mafia icon" descr="Not the mafia">    </p:cNvPr>
          <p:cNvPicPr>
            <a:picLocks noChangeAspect="1"/>
          </p:cNvPicPr>
          <p:nvPr/>
        </p:nvPicPr>
        <p:blipFill>
          <a:blip r:embed="rId10"/>
          <a:stretch>
            <a:fillRect/>
          </a:stretch>
        </p:blipFill>
        <p:spPr>
          <a:xfrm>
            <a:off x="6859372" y="4375404"/>
            <a:ext cx="155448" cy="155448"/>
          </a:xfrm>
          <a:prstGeom prst="rect">
            <a:avLst/>
          </a:prstGeom>
        </p:spPr>
      </p:pic>
      <p:sp>
        <p:nvSpPr>
          <p:cNvPr id="46" name="Text 34"/>
          <p:cNvSpPr txBox="1"/>
          <p:nvPr/>
        </p:nvSpPr>
        <p:spPr>
          <a:xfrm>
            <a:off x="7238848" y="4233672"/>
            <a:ext cx="4175608" cy="438912"/>
          </a:xfrm>
          <a:prstGeom prst="rect">
            <a:avLst/>
          </a:prstGeom>
          <a:noFill/>
          <a:ln/>
        </p:spPr>
        <p:txBody>
          <a:bodyPr wrap="square" lIns="0" tIns="0" rIns="0" bIns="0" rtlCol="0" anchor="ctr"/>
          <a:lstStyle/>
          <a:p>
            <a:pPr indent="0" marL="0">
              <a:buNone/>
            </a:pPr>
            <a:r>
              <a:rPr lang="en-US" sz="1500" dirty="0">
                <a:solidFill>
                  <a:srgbClr val="FFFFFF"/>
                </a:solidFill>
              </a:rPr>
              <a:t>Not the mafia</a:t>
            </a:r>
            <a:endParaRPr lang="en-US" sz="1500" dirty="0"/>
          </a:p>
        </p:txBody>
      </p:sp>
      <p:sp>
        <p:nvSpPr>
          <p:cNvPr id="47" name="versus badge"/>
          <p:cNvSpPr/>
          <p:nvPr/>
        </p:nvSpPr>
        <p:spPr>
          <a:xfrm>
            <a:off x="5730088" y="2880360"/>
            <a:ext cx="731520" cy="731520"/>
          </a:xfrm>
          <a:prstGeom prst="ellipse">
            <a:avLst/>
          </a:prstGeom>
          <a:solidFill>
            <a:srgbClr val="0A1A3A"/>
          </a:solidFill>
          <a:ln w="25400">
            <a:solidFill>
              <a:srgbClr val="F2B705"/>
            </a:solidFill>
            <a:prstDash val="solid"/>
          </a:ln>
        </p:spPr>
      </p:sp>
      <p:sp>
        <p:nvSpPr>
          <p:cNvPr id="48" name="Text 36"/>
          <p:cNvSpPr txBox="1"/>
          <p:nvPr/>
        </p:nvSpPr>
        <p:spPr>
          <a:xfrm>
            <a:off x="5730088" y="2880360"/>
            <a:ext cx="731520" cy="731520"/>
          </a:xfrm>
          <a:prstGeom prst="rect">
            <a:avLst/>
          </a:prstGeom>
          <a:noFill/>
          <a:ln/>
        </p:spPr>
        <p:txBody>
          <a:bodyPr wrap="square" lIns="0" tIns="0" rIns="0" bIns="0" rtlCol="0" anchor="ctr"/>
          <a:lstStyle/>
          <a:p>
            <a:pPr algn="ctr" indent="0" marL="0">
              <a:buNone/>
            </a:pPr>
            <a:r>
              <a:rPr lang="en-US" sz="1800" b="1" dirty="0">
                <a:solidFill>
                  <a:srgbClr val="F2B705"/>
                </a:solidFill>
                <a:latin typeface="Arial" pitchFamily="34" charset="0"/>
                <a:ea typeface="Arial" pitchFamily="34" charset="-122"/>
                <a:cs typeface="Arial" pitchFamily="34" charset="-120"/>
              </a:rPr>
              <a:t>VS</a:t>
            </a:r>
            <a:endParaRPr lang="en-US" sz="1800" dirty="0"/>
          </a:p>
        </p:txBody>
      </p:sp>
      <p:sp>
        <p:nvSpPr>
          <p:cNvPr id="49" name="verdict bar"/>
          <p:cNvSpPr/>
          <p:nvPr/>
        </p:nvSpPr>
        <p:spPr>
          <a:xfrm>
            <a:off x="548640" y="4919472"/>
            <a:ext cx="11094415" cy="521208"/>
          </a:xfrm>
          <a:prstGeom prst="rect">
            <a:avLst/>
          </a:prstGeom>
          <a:solidFill>
            <a:srgbClr val="F2B705"/>
          </a:solidFill>
          <a:ln/>
        </p:spPr>
      </p:sp>
      <p:sp>
        <p:nvSpPr>
          <p:cNvPr id="50" name="Text 38"/>
          <p:cNvSpPr txBox="1"/>
          <p:nvPr/>
        </p:nvSpPr>
        <p:spPr>
          <a:xfrm>
            <a:off x="822960" y="4919472"/>
            <a:ext cx="10545775" cy="521208"/>
          </a:xfrm>
          <a:prstGeom prst="rect">
            <a:avLst/>
          </a:prstGeom>
          <a:noFill/>
          <a:ln/>
        </p:spPr>
        <p:txBody>
          <a:bodyPr wrap="square" lIns="0" tIns="0" rIns="0" bIns="0" rtlCol="0" anchor="ctr"/>
          <a:lstStyle/>
          <a:p>
            <a:pPr indent="0" marL="0">
              <a:buNone/>
            </a:pPr>
            <a:r>
              <a:rPr lang="en-US" sz="1600" b="1" spc="200" kern="0" dirty="0">
                <a:solidFill>
                  <a:srgbClr val="0A1A3A"/>
                </a:solidFill>
                <a:latin typeface="Arial" pitchFamily="34" charset="0"/>
                <a:ea typeface="Arial" pitchFamily="34" charset="-122"/>
                <a:cs typeface="Arial" pitchFamily="34" charset="-120"/>
              </a:rPr>
              <a:t>PANEL VERDICT:  </a:t>
            </a:r>
            <a:pPr indent="0" marL="0">
              <a:buNone/>
            </a:pPr>
            <a:r>
              <a:rPr lang="en-US" sz="1600" dirty="0">
                <a:solidFill>
                  <a:srgbClr val="0A1A3A"/>
                </a:solidFill>
                <a:latin typeface="Arial" pitchFamily="34" charset="0"/>
                <a:ea typeface="Arial" pitchFamily="34" charset="-122"/>
                <a:cs typeface="Arial" pitchFamily="34" charset="-120"/>
              </a:rPr>
              <a:t>both are right. Organized crime by law, but not by stereotype.</a:t>
            </a:r>
            <a:endParaRPr lang="en-US" sz="16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COURT REPORT</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How it ended, and how to classify it</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AHNAF AKIF</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LEGAL AND CRIME ANALYST</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SENTENCED: EFRAIM DIVEROLI, 4 YEARS IN PRISON  •  DAVID PACKOUZ, 7 MONTHS OF HOUSE ARREST</a:t>
            </a:r>
            <a:endParaRPr lang="en-US" sz="1150" dirty="0"/>
          </a:p>
        </p:txBody>
      </p:sp>
      <p:sp>
        <p:nvSpPr>
          <p:cNvPr id="11" name="timeline"/>
          <p:cNvSpPr/>
          <p:nvPr/>
        </p:nvSpPr>
        <p:spPr>
          <a:xfrm>
            <a:off x="1935442" y="2514600"/>
            <a:ext cx="8320811" cy="0"/>
          </a:xfrm>
          <a:prstGeom prst="line">
            <a:avLst/>
          </a:prstGeom>
          <a:noFill/>
          <a:ln w="31750">
            <a:solidFill>
              <a:srgbClr val="5D77A8"/>
            </a:solidFill>
            <a:prstDash val="solid"/>
          </a:ln>
        </p:spPr>
      </p:sp>
      <p:sp>
        <p:nvSpPr>
          <p:cNvPr id="12" name="Text 10"/>
          <p:cNvSpPr txBox="1"/>
          <p:nvPr/>
        </p:nvSpPr>
        <p:spPr>
          <a:xfrm>
            <a:off x="1021042" y="1783080"/>
            <a:ext cx="1828800" cy="457200"/>
          </a:xfrm>
          <a:prstGeom prst="rect">
            <a:avLst/>
          </a:prstGeom>
          <a:noFill/>
          <a:ln/>
        </p:spPr>
        <p:txBody>
          <a:bodyPr wrap="square" lIns="0" tIns="0" rIns="0" bIns="0" rtlCol="0" anchor="ctr"/>
          <a:lstStyle/>
          <a:p>
            <a:pPr algn="ctr" indent="0" marL="0">
              <a:buNone/>
            </a:pPr>
            <a:r>
              <a:rPr lang="en-US" sz="2400" b="1" dirty="0">
                <a:solidFill>
                  <a:srgbClr val="F2B705"/>
                </a:solidFill>
                <a:latin typeface="Arial" pitchFamily="34" charset="0"/>
                <a:ea typeface="Arial" pitchFamily="34" charset="-122"/>
                <a:cs typeface="Arial" pitchFamily="34" charset="-120"/>
              </a:rPr>
              <a:t>2007</a:t>
            </a:r>
            <a:endParaRPr lang="en-US" sz="2400" dirty="0"/>
          </a:p>
        </p:txBody>
      </p:sp>
      <p:sp>
        <p:nvSpPr>
          <p:cNvPr id="13" name="event 1"/>
          <p:cNvSpPr/>
          <p:nvPr/>
        </p:nvSpPr>
        <p:spPr>
          <a:xfrm>
            <a:off x="1807426" y="2386584"/>
            <a:ext cx="256032" cy="256032"/>
          </a:xfrm>
          <a:prstGeom prst="ellipse">
            <a:avLst/>
          </a:prstGeom>
          <a:solidFill>
            <a:srgbClr val="F2B705"/>
          </a:solidFill>
          <a:ln w="25400">
            <a:solidFill>
              <a:srgbClr val="0A1A3A"/>
            </a:solidFill>
            <a:prstDash val="solid"/>
          </a:ln>
        </p:spPr>
      </p:sp>
      <p:sp>
        <p:nvSpPr>
          <p:cNvPr id="14" name="Text 12"/>
          <p:cNvSpPr txBox="1"/>
          <p:nvPr/>
        </p:nvSpPr>
        <p:spPr>
          <a:xfrm>
            <a:off x="685800" y="2880360"/>
            <a:ext cx="2499284" cy="914400"/>
          </a:xfrm>
          <a:prstGeom prst="rect">
            <a:avLst/>
          </a:prstGeom>
          <a:noFill/>
          <a:ln/>
        </p:spPr>
        <p:txBody>
          <a:bodyPr wrap="square" lIns="0" tIns="0" rIns="0" bIns="0" rtlCol="0" anchor="t"/>
          <a:lstStyle/>
          <a:p>
            <a:pPr algn="ctr" indent="0" marL="0">
              <a:buNone/>
            </a:pPr>
            <a:r>
              <a:rPr lang="en-US" sz="1450" dirty="0">
                <a:solidFill>
                  <a:srgbClr val="FFFFFF"/>
                </a:solidFill>
              </a:rPr>
              <a:t>$298M Army contract awarded to AEY</a:t>
            </a:r>
            <a:endParaRPr lang="en-US" sz="1450" dirty="0"/>
          </a:p>
        </p:txBody>
      </p:sp>
      <p:sp>
        <p:nvSpPr>
          <p:cNvPr id="15" name="Text 13"/>
          <p:cNvSpPr txBox="1"/>
          <p:nvPr/>
        </p:nvSpPr>
        <p:spPr>
          <a:xfrm>
            <a:off x="3794646" y="1783080"/>
            <a:ext cx="1828800" cy="457200"/>
          </a:xfrm>
          <a:prstGeom prst="rect">
            <a:avLst/>
          </a:prstGeom>
          <a:noFill/>
          <a:ln/>
        </p:spPr>
        <p:txBody>
          <a:bodyPr wrap="square" lIns="0" tIns="0" rIns="0" bIns="0" rtlCol="0" anchor="ctr"/>
          <a:lstStyle/>
          <a:p>
            <a:pPr algn="ctr" indent="0" marL="0">
              <a:buNone/>
            </a:pPr>
            <a:r>
              <a:rPr lang="en-US" sz="2400" b="1" dirty="0">
                <a:solidFill>
                  <a:srgbClr val="F2B705"/>
                </a:solidFill>
                <a:latin typeface="Arial" pitchFamily="34" charset="0"/>
                <a:ea typeface="Arial" pitchFamily="34" charset="-122"/>
                <a:cs typeface="Arial" pitchFamily="34" charset="-120"/>
              </a:rPr>
              <a:t>2008</a:t>
            </a:r>
            <a:endParaRPr lang="en-US" sz="2400" dirty="0"/>
          </a:p>
        </p:txBody>
      </p:sp>
      <p:sp>
        <p:nvSpPr>
          <p:cNvPr id="16" name="event 2"/>
          <p:cNvSpPr/>
          <p:nvPr/>
        </p:nvSpPr>
        <p:spPr>
          <a:xfrm>
            <a:off x="4581030" y="2386584"/>
            <a:ext cx="256032" cy="256032"/>
          </a:xfrm>
          <a:prstGeom prst="ellipse">
            <a:avLst/>
          </a:prstGeom>
          <a:solidFill>
            <a:srgbClr val="F2B705"/>
          </a:solidFill>
          <a:ln w="25400">
            <a:solidFill>
              <a:srgbClr val="0A1A3A"/>
            </a:solidFill>
            <a:prstDash val="solid"/>
          </a:ln>
        </p:spPr>
      </p:sp>
      <p:sp>
        <p:nvSpPr>
          <p:cNvPr id="17" name="Text 15"/>
          <p:cNvSpPr txBox="1"/>
          <p:nvPr/>
        </p:nvSpPr>
        <p:spPr>
          <a:xfrm>
            <a:off x="3459404" y="2880360"/>
            <a:ext cx="2499284" cy="914400"/>
          </a:xfrm>
          <a:prstGeom prst="rect">
            <a:avLst/>
          </a:prstGeom>
          <a:noFill/>
          <a:ln/>
        </p:spPr>
        <p:txBody>
          <a:bodyPr wrap="square" lIns="0" tIns="0" rIns="0" bIns="0" rtlCol="0" anchor="t"/>
          <a:lstStyle/>
          <a:p>
            <a:pPr algn="ctr" indent="0" marL="0">
              <a:buNone/>
            </a:pPr>
            <a:r>
              <a:rPr lang="en-US" sz="1450" dirty="0">
                <a:solidFill>
                  <a:srgbClr val="FFFFFF"/>
                </a:solidFill>
              </a:rPr>
              <a:t>Press exposé: decades-old Chinese ammunition</a:t>
            </a:r>
            <a:endParaRPr lang="en-US" sz="1450" dirty="0"/>
          </a:p>
        </p:txBody>
      </p:sp>
      <p:sp>
        <p:nvSpPr>
          <p:cNvPr id="18" name="Text 16"/>
          <p:cNvSpPr txBox="1"/>
          <p:nvPr/>
        </p:nvSpPr>
        <p:spPr>
          <a:xfrm>
            <a:off x="6568250" y="1783080"/>
            <a:ext cx="1828800" cy="457200"/>
          </a:xfrm>
          <a:prstGeom prst="rect">
            <a:avLst/>
          </a:prstGeom>
          <a:noFill/>
          <a:ln/>
        </p:spPr>
        <p:txBody>
          <a:bodyPr wrap="square" lIns="0" tIns="0" rIns="0" bIns="0" rtlCol="0" anchor="ctr"/>
          <a:lstStyle/>
          <a:p>
            <a:pPr algn="ctr" indent="0" marL="0">
              <a:buNone/>
            </a:pPr>
            <a:r>
              <a:rPr lang="en-US" sz="2400" b="1" dirty="0">
                <a:solidFill>
                  <a:srgbClr val="F2B705"/>
                </a:solidFill>
                <a:latin typeface="Arial" pitchFamily="34" charset="0"/>
                <a:ea typeface="Arial" pitchFamily="34" charset="-122"/>
                <a:cs typeface="Arial" pitchFamily="34" charset="-120"/>
              </a:rPr>
              <a:t>2008</a:t>
            </a:r>
            <a:endParaRPr lang="en-US" sz="2400" dirty="0"/>
          </a:p>
        </p:txBody>
      </p:sp>
      <p:sp>
        <p:nvSpPr>
          <p:cNvPr id="19" name="event 3"/>
          <p:cNvSpPr/>
          <p:nvPr/>
        </p:nvSpPr>
        <p:spPr>
          <a:xfrm>
            <a:off x="7354634" y="2386584"/>
            <a:ext cx="256032" cy="256032"/>
          </a:xfrm>
          <a:prstGeom prst="ellipse">
            <a:avLst/>
          </a:prstGeom>
          <a:solidFill>
            <a:srgbClr val="F2B705"/>
          </a:solidFill>
          <a:ln w="25400">
            <a:solidFill>
              <a:srgbClr val="0A1A3A"/>
            </a:solidFill>
            <a:prstDash val="solid"/>
          </a:ln>
        </p:spPr>
      </p:sp>
      <p:sp>
        <p:nvSpPr>
          <p:cNvPr id="20" name="Text 18"/>
          <p:cNvSpPr txBox="1"/>
          <p:nvPr/>
        </p:nvSpPr>
        <p:spPr>
          <a:xfrm>
            <a:off x="6233008" y="2880360"/>
            <a:ext cx="2499284" cy="914400"/>
          </a:xfrm>
          <a:prstGeom prst="rect">
            <a:avLst/>
          </a:prstGeom>
          <a:noFill/>
          <a:ln/>
        </p:spPr>
        <p:txBody>
          <a:bodyPr wrap="square" lIns="0" tIns="0" rIns="0" bIns="0" rtlCol="0" anchor="t"/>
          <a:lstStyle/>
          <a:p>
            <a:pPr algn="ctr" indent="0" marL="0">
              <a:buNone/>
            </a:pPr>
            <a:r>
              <a:rPr lang="en-US" sz="1450" dirty="0">
                <a:solidFill>
                  <a:srgbClr val="FFFFFF"/>
                </a:solidFill>
              </a:rPr>
              <a:t>Army suspends AEY; the founders are indicted</a:t>
            </a:r>
            <a:endParaRPr lang="en-US" sz="1450" dirty="0"/>
          </a:p>
        </p:txBody>
      </p:sp>
      <p:sp>
        <p:nvSpPr>
          <p:cNvPr id="21" name="Text 19"/>
          <p:cNvSpPr txBox="1"/>
          <p:nvPr/>
        </p:nvSpPr>
        <p:spPr>
          <a:xfrm>
            <a:off x="9341853" y="1783080"/>
            <a:ext cx="1828800" cy="457200"/>
          </a:xfrm>
          <a:prstGeom prst="rect">
            <a:avLst/>
          </a:prstGeom>
          <a:noFill/>
          <a:ln/>
        </p:spPr>
        <p:txBody>
          <a:bodyPr wrap="square" lIns="0" tIns="0" rIns="0" bIns="0" rtlCol="0" anchor="ctr"/>
          <a:lstStyle/>
          <a:p>
            <a:pPr algn="ctr" indent="0" marL="0">
              <a:buNone/>
            </a:pPr>
            <a:r>
              <a:rPr lang="en-US" sz="2400" b="1" dirty="0">
                <a:solidFill>
                  <a:srgbClr val="FF8A8A"/>
                </a:solidFill>
                <a:latin typeface="Arial" pitchFamily="34" charset="0"/>
                <a:ea typeface="Arial" pitchFamily="34" charset="-122"/>
                <a:cs typeface="Arial" pitchFamily="34" charset="-120"/>
              </a:rPr>
              <a:t>2011</a:t>
            </a:r>
            <a:endParaRPr lang="en-US" sz="2400" dirty="0"/>
          </a:p>
        </p:txBody>
      </p:sp>
      <p:sp>
        <p:nvSpPr>
          <p:cNvPr id="22" name="sentencing circle"/>
          <p:cNvSpPr/>
          <p:nvPr/>
        </p:nvSpPr>
        <p:spPr>
          <a:xfrm>
            <a:off x="10009365" y="2267712"/>
            <a:ext cx="493776" cy="493776"/>
          </a:xfrm>
          <a:prstGeom prst="ellipse">
            <a:avLst/>
          </a:prstGeom>
          <a:solidFill>
            <a:srgbClr val="D7191F"/>
          </a:solidFill>
          <a:ln/>
        </p:spPr>
      </p:sp>
      <p:pic>
        <p:nvPicPr>
          <p:cNvPr id="23" name="sentencing icon" descr="sentencing">    </p:cNvPr>
          <p:cNvPicPr>
            <a:picLocks noChangeAspect="1"/>
          </p:cNvPicPr>
          <p:nvPr/>
        </p:nvPicPr>
        <p:blipFill>
          <a:blip r:embed="rId1"/>
          <a:stretch>
            <a:fillRect/>
          </a:stretch>
        </p:blipFill>
        <p:spPr>
          <a:xfrm>
            <a:off x="10132809" y="2391156"/>
            <a:ext cx="246888" cy="246888"/>
          </a:xfrm>
          <a:prstGeom prst="rect">
            <a:avLst/>
          </a:prstGeom>
        </p:spPr>
      </p:pic>
      <p:sp>
        <p:nvSpPr>
          <p:cNvPr id="24" name="Text 21"/>
          <p:cNvSpPr txBox="1"/>
          <p:nvPr/>
        </p:nvSpPr>
        <p:spPr>
          <a:xfrm>
            <a:off x="9006611" y="2880360"/>
            <a:ext cx="2499284" cy="914400"/>
          </a:xfrm>
          <a:prstGeom prst="rect">
            <a:avLst/>
          </a:prstGeom>
          <a:noFill/>
          <a:ln/>
        </p:spPr>
        <p:txBody>
          <a:bodyPr wrap="square" lIns="0" tIns="0" rIns="0" bIns="0" rtlCol="0" anchor="t"/>
          <a:lstStyle/>
          <a:p>
            <a:pPr algn="ctr" indent="0" marL="0">
              <a:buNone/>
            </a:pPr>
            <a:r>
              <a:rPr lang="en-US" sz="1450" dirty="0">
                <a:solidFill>
                  <a:srgbClr val="FFFFFF"/>
                </a:solidFill>
              </a:rPr>
              <a:t>Efraim: 4 years in prison. David: 7 months of house arrest</a:t>
            </a:r>
            <a:endParaRPr lang="en-US" sz="1450" dirty="0"/>
          </a:p>
        </p:txBody>
      </p:sp>
      <p:pic>
        <p:nvPicPr>
          <p:cNvPr id="25" name="desk icon" descr="preencoded.png">    </p:cNvPr>
          <p:cNvPicPr>
            <a:picLocks noChangeAspect="1"/>
          </p:cNvPicPr>
          <p:nvPr/>
        </p:nvPicPr>
        <p:blipFill>
          <a:blip r:embed="rId2"/>
          <a:stretch>
            <a:fillRect/>
          </a:stretch>
        </p:blipFill>
        <p:spPr>
          <a:xfrm>
            <a:off x="548640" y="3913632"/>
            <a:ext cx="219456" cy="219456"/>
          </a:xfrm>
          <a:prstGeom prst="rect">
            <a:avLst/>
          </a:prstGeom>
        </p:spPr>
      </p:pic>
      <p:sp>
        <p:nvSpPr>
          <p:cNvPr id="26" name="Text 22"/>
          <p:cNvSpPr txBox="1"/>
          <p:nvPr/>
        </p:nvSpPr>
        <p:spPr>
          <a:xfrm>
            <a:off x="859536" y="3886200"/>
            <a:ext cx="7004304" cy="274320"/>
          </a:xfrm>
          <a:prstGeom prst="rect">
            <a:avLst/>
          </a:prstGeom>
          <a:noFill/>
          <a:ln/>
        </p:spPr>
        <p:txBody>
          <a:bodyPr wrap="square" lIns="0" tIns="0" rIns="0" bIns="0" rtlCol="0" anchor="ctr"/>
          <a:lstStyle/>
          <a:p>
            <a:pPr indent="0" marL="0">
              <a:buNone/>
            </a:pPr>
            <a:r>
              <a:rPr lang="en-US" sz="1150" b="1" spc="200" kern="0" dirty="0">
                <a:solidFill>
                  <a:srgbClr val="4CC3FF"/>
                </a:solidFill>
                <a:latin typeface="Arial" pitchFamily="34" charset="0"/>
                <a:ea typeface="Arial" pitchFamily="34" charset="-122"/>
                <a:cs typeface="Arial" pitchFamily="34" charset="-120"/>
              </a:rPr>
              <a:t>CRIMINOLOGY DESK  ·  CLASSIFICATION</a:t>
            </a:r>
            <a:endParaRPr lang="en-US" sz="1150" dirty="0"/>
          </a:p>
        </p:txBody>
      </p:sp>
      <p:sp>
        <p:nvSpPr>
          <p:cNvPr id="27" name="Organized white-collar crime"/>
          <p:cNvSpPr/>
          <p:nvPr/>
        </p:nvSpPr>
        <p:spPr>
          <a:xfrm>
            <a:off x="548640" y="4224528"/>
            <a:ext cx="5410048" cy="1216152"/>
          </a:xfrm>
          <a:prstGeom prst="rect">
            <a:avLst/>
          </a:prstGeom>
          <a:solidFill>
            <a:srgbClr val="102347"/>
          </a:solidFill>
          <a:ln w="12700">
            <a:solidFill>
              <a:srgbClr val="28406E"/>
            </a:solidFill>
            <a:prstDash val="solid"/>
          </a:ln>
        </p:spPr>
      </p:sp>
      <p:sp>
        <p:nvSpPr>
          <p:cNvPr id="28" name="Organized white-collar crime rule"/>
          <p:cNvSpPr/>
          <p:nvPr/>
        </p:nvSpPr>
        <p:spPr>
          <a:xfrm>
            <a:off x="548640" y="4224528"/>
            <a:ext cx="64008" cy="1216152"/>
          </a:xfrm>
          <a:prstGeom prst="rect">
            <a:avLst/>
          </a:prstGeom>
          <a:solidFill>
            <a:srgbClr val="F2B705"/>
          </a:solidFill>
          <a:ln/>
        </p:spPr>
      </p:sp>
      <p:sp>
        <p:nvSpPr>
          <p:cNvPr id="29" name="Text 25"/>
          <p:cNvSpPr txBox="1"/>
          <p:nvPr/>
        </p:nvSpPr>
        <p:spPr>
          <a:xfrm>
            <a:off x="777240" y="4361688"/>
            <a:ext cx="4998568" cy="941832"/>
          </a:xfrm>
          <a:prstGeom prst="rect">
            <a:avLst/>
          </a:prstGeom>
          <a:noFill/>
          <a:ln/>
        </p:spPr>
        <p:txBody>
          <a:bodyPr wrap="square" lIns="0" tIns="0" rIns="0" bIns="0" rtlCol="0" anchor="t"/>
          <a:lstStyle/>
          <a:p>
            <a:pPr indent="0" marL="0">
              <a:buNone/>
            </a:pPr>
            <a:r>
              <a:rPr lang="en-US" sz="1600" b="1" dirty="0">
                <a:solidFill>
                  <a:srgbClr val="FFFFFF"/>
                </a:solidFill>
              </a:rPr>
              <a:t>Organized white-collar crime</a:t>
            </a:r>
            <a:endParaRPr lang="en-US" sz="1600" dirty="0"/>
          </a:p>
          <a:p>
            <a:pPr indent="0" marL="0">
              <a:buNone/>
            </a:pPr>
            <a:r>
              <a:rPr lang="en-US" sz="1150" b="1" dirty="0">
                <a:solidFill>
                  <a:srgbClr val="F2B705"/>
                </a:solidFill>
              </a:rPr>
              <a:t>Sutherland (1940)</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Committed by businessmen, through a business, in the course of their work.</a:t>
            </a:r>
            <a:endParaRPr lang="en-US" sz="1600" dirty="0"/>
          </a:p>
        </p:txBody>
      </p:sp>
      <p:sp>
        <p:nvSpPr>
          <p:cNvPr id="30" name="State–corporate crime"/>
          <p:cNvSpPr/>
          <p:nvPr/>
        </p:nvSpPr>
        <p:spPr>
          <a:xfrm>
            <a:off x="6233008" y="4224528"/>
            <a:ext cx="5410048" cy="1216152"/>
          </a:xfrm>
          <a:prstGeom prst="rect">
            <a:avLst/>
          </a:prstGeom>
          <a:solidFill>
            <a:srgbClr val="102347"/>
          </a:solidFill>
          <a:ln w="12700">
            <a:solidFill>
              <a:srgbClr val="28406E"/>
            </a:solidFill>
            <a:prstDash val="solid"/>
          </a:ln>
        </p:spPr>
      </p:sp>
      <p:sp>
        <p:nvSpPr>
          <p:cNvPr id="31" name="State–corporate crime rule"/>
          <p:cNvSpPr/>
          <p:nvPr/>
        </p:nvSpPr>
        <p:spPr>
          <a:xfrm>
            <a:off x="6233008" y="4224528"/>
            <a:ext cx="64008" cy="1216152"/>
          </a:xfrm>
          <a:prstGeom prst="rect">
            <a:avLst/>
          </a:prstGeom>
          <a:solidFill>
            <a:srgbClr val="F2B705"/>
          </a:solidFill>
          <a:ln/>
        </p:spPr>
      </p:sp>
      <p:sp>
        <p:nvSpPr>
          <p:cNvPr id="32" name="Text 28"/>
          <p:cNvSpPr txBox="1"/>
          <p:nvPr/>
        </p:nvSpPr>
        <p:spPr>
          <a:xfrm>
            <a:off x="6461608" y="4361688"/>
            <a:ext cx="4998568" cy="941832"/>
          </a:xfrm>
          <a:prstGeom prst="rect">
            <a:avLst/>
          </a:prstGeom>
          <a:noFill/>
          <a:ln/>
        </p:spPr>
        <p:txBody>
          <a:bodyPr wrap="square" lIns="0" tIns="0" rIns="0" bIns="0" rtlCol="0" anchor="t"/>
          <a:lstStyle/>
          <a:p>
            <a:pPr indent="0" marL="0">
              <a:buNone/>
            </a:pPr>
            <a:r>
              <a:rPr lang="en-US" sz="1600" b="1" dirty="0">
                <a:solidFill>
                  <a:srgbClr val="FFFFFF"/>
                </a:solidFill>
              </a:rPr>
              <a:t>State–corporate crime</a:t>
            </a:r>
            <a:endParaRPr lang="en-US" sz="1600" dirty="0"/>
          </a:p>
          <a:p>
            <a:pPr indent="0" marL="0">
              <a:buNone/>
            </a:pPr>
            <a:r>
              <a:rPr lang="en-US" sz="1150" b="1" dirty="0">
                <a:solidFill>
                  <a:srgbClr val="F2B705"/>
                </a:solidFill>
              </a:rPr>
              <a:t>Kramer, Michalowski &amp; Kauzlarich (2002)</a:t>
            </a:r>
            <a:endParaRPr lang="en-US" sz="1600" dirty="0"/>
          </a:p>
          <a:p>
            <a:pPr indent="0" marL="0">
              <a:buNone/>
            </a:pPr>
            <a:r>
              <a:rPr lang="en-US" sz="400" dirty="0">
                <a:solidFill>
                  <a:srgbClr val="000000"/>
                </a:solidFill>
              </a:rPr>
              <a:t> </a:t>
            </a:r>
            <a:endParaRPr lang="en-US" sz="1600" dirty="0"/>
          </a:p>
          <a:p>
            <a:pPr indent="0" marL="0">
              <a:buNone/>
            </a:pPr>
            <a:r>
              <a:rPr lang="en-US" sz="1350" dirty="0">
                <a:solidFill>
                  <a:srgbClr val="DCE4F2"/>
                </a:solidFill>
              </a:rPr>
              <a:t>The state outsourced war supplies to the lowest bidder and checked too little.</a:t>
            </a:r>
            <a:endParaRPr lang="en-US" sz="16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STUDIO ANALYSIS</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Which model of organized crime fits AEY?</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AHNAF AKIF</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LEGAL AND CRIME ANALYST</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STUDIO SCORECARD: ENTERPRISE 5/5  •  NETWORK 5/5  •  PATRON–CLIENT 3/5  •  HIERARCHICAL 1/5</a:t>
            </a:r>
            <a:endParaRPr lang="en-US" sz="1150" dirty="0"/>
          </a:p>
        </p:txBody>
      </p:sp>
      <p:sp>
        <p:nvSpPr>
          <p:cNvPr id="11" name="chart panel"/>
          <p:cNvSpPr/>
          <p:nvPr/>
        </p:nvSpPr>
        <p:spPr>
          <a:xfrm>
            <a:off x="548640" y="1737360"/>
            <a:ext cx="6035040" cy="3703320"/>
          </a:xfrm>
          <a:prstGeom prst="rect">
            <a:avLst/>
          </a:prstGeom>
          <a:solidFill>
            <a:srgbClr val="102347"/>
          </a:solidFill>
          <a:ln w="12700">
            <a:solidFill>
              <a:srgbClr val="28406E"/>
            </a:solidFill>
            <a:prstDash val="solid"/>
          </a:ln>
        </p:spPr>
      </p:sp>
      <p:graphicFrame>
        <p:nvGraphicFramePr>
          <p:cNvPr id="12" name="model fit chart" descr=""/>
          <p:cNvGraphicFramePr/>
          <p:nvPr/>
        </p:nvGraphicFramePr>
        <p:xfrm>
          <a:off x="731520" y="182880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13" name="Enterprise"/>
          <p:cNvSpPr/>
          <p:nvPr/>
        </p:nvSpPr>
        <p:spPr>
          <a:xfrm>
            <a:off x="6858000" y="1737360"/>
            <a:ext cx="4785055" cy="841248"/>
          </a:xfrm>
          <a:prstGeom prst="rect">
            <a:avLst/>
          </a:prstGeom>
          <a:solidFill>
            <a:srgbClr val="0D1C3C"/>
          </a:solidFill>
          <a:ln w="12700">
            <a:solidFill>
              <a:srgbClr val="28406E"/>
            </a:solidFill>
            <a:prstDash val="solid"/>
          </a:ln>
        </p:spPr>
      </p:sp>
      <p:sp>
        <p:nvSpPr>
          <p:cNvPr id="14" name="Text 11"/>
          <p:cNvSpPr txBox="1"/>
          <p:nvPr/>
        </p:nvSpPr>
        <p:spPr>
          <a:xfrm>
            <a:off x="7040880" y="1737360"/>
            <a:ext cx="685800" cy="841248"/>
          </a:xfrm>
          <a:prstGeom prst="rect">
            <a:avLst/>
          </a:prstGeom>
          <a:noFill/>
          <a:ln/>
        </p:spPr>
        <p:txBody>
          <a:bodyPr wrap="square" lIns="0" tIns="0" rIns="0" bIns="0" rtlCol="0" anchor="ctr"/>
          <a:lstStyle/>
          <a:p>
            <a:pPr indent="0" marL="0">
              <a:buNone/>
            </a:pPr>
            <a:r>
              <a:rPr lang="en-US" sz="2000" b="1" dirty="0">
                <a:solidFill>
                  <a:srgbClr val="F2B705"/>
                </a:solidFill>
                <a:latin typeface="Arial" pitchFamily="34" charset="0"/>
                <a:ea typeface="Arial" pitchFamily="34" charset="-122"/>
                <a:cs typeface="Arial" pitchFamily="34" charset="-120"/>
              </a:rPr>
              <a:t>5/5</a:t>
            </a:r>
            <a:endParaRPr lang="en-US" sz="2000" dirty="0"/>
          </a:p>
        </p:txBody>
      </p:sp>
      <p:sp>
        <p:nvSpPr>
          <p:cNvPr id="15" name="Text 12"/>
          <p:cNvSpPr txBox="1"/>
          <p:nvPr/>
        </p:nvSpPr>
        <p:spPr>
          <a:xfrm>
            <a:off x="7772400" y="1737360"/>
            <a:ext cx="3687775" cy="841248"/>
          </a:xfrm>
          <a:prstGeom prst="rect">
            <a:avLst/>
          </a:prstGeom>
          <a:noFill/>
          <a:ln/>
        </p:spPr>
        <p:txBody>
          <a:bodyPr wrap="square" lIns="0" tIns="0" rIns="0" bIns="0" rtlCol="0" anchor="ctr"/>
          <a:lstStyle/>
          <a:p>
            <a:pPr indent="0" marL="0">
              <a:buNone/>
            </a:pPr>
            <a:r>
              <a:rPr lang="en-US" sz="1500" b="1" dirty="0">
                <a:solidFill>
                  <a:srgbClr val="FFFFFF"/>
                </a:solidFill>
              </a:rPr>
              <a:t>Enterprise</a:t>
            </a:r>
            <a:endParaRPr lang="en-US" sz="1500" dirty="0"/>
          </a:p>
          <a:p>
            <a:pPr indent="0" marL="0">
              <a:buNone/>
            </a:pPr>
            <a:r>
              <a:rPr lang="en-US" sz="1250" dirty="0">
                <a:solidFill>
                  <a:srgbClr val="DCE4F2"/>
                </a:solidFill>
              </a:rPr>
              <a:t>A business answering market demand, sliding from legal to illegal.</a:t>
            </a:r>
            <a:endParaRPr lang="en-US" sz="1500" dirty="0"/>
          </a:p>
        </p:txBody>
      </p:sp>
      <p:sp>
        <p:nvSpPr>
          <p:cNvPr id="16" name="Network"/>
          <p:cNvSpPr/>
          <p:nvPr/>
        </p:nvSpPr>
        <p:spPr>
          <a:xfrm>
            <a:off x="6858000" y="2679192"/>
            <a:ext cx="4785055" cy="841248"/>
          </a:xfrm>
          <a:prstGeom prst="rect">
            <a:avLst/>
          </a:prstGeom>
          <a:solidFill>
            <a:srgbClr val="0D1C3C"/>
          </a:solidFill>
          <a:ln w="12700">
            <a:solidFill>
              <a:srgbClr val="28406E"/>
            </a:solidFill>
            <a:prstDash val="solid"/>
          </a:ln>
        </p:spPr>
      </p:sp>
      <p:sp>
        <p:nvSpPr>
          <p:cNvPr id="17" name="Text 14"/>
          <p:cNvSpPr txBox="1"/>
          <p:nvPr/>
        </p:nvSpPr>
        <p:spPr>
          <a:xfrm>
            <a:off x="7040880" y="2679192"/>
            <a:ext cx="685800" cy="841248"/>
          </a:xfrm>
          <a:prstGeom prst="rect">
            <a:avLst/>
          </a:prstGeom>
          <a:noFill/>
          <a:ln/>
        </p:spPr>
        <p:txBody>
          <a:bodyPr wrap="square" lIns="0" tIns="0" rIns="0" bIns="0" rtlCol="0" anchor="ctr"/>
          <a:lstStyle/>
          <a:p>
            <a:pPr indent="0" marL="0">
              <a:buNone/>
            </a:pPr>
            <a:r>
              <a:rPr lang="en-US" sz="2000" b="1" dirty="0">
                <a:solidFill>
                  <a:srgbClr val="F2B705"/>
                </a:solidFill>
                <a:latin typeface="Arial" pitchFamily="34" charset="0"/>
                <a:ea typeface="Arial" pitchFamily="34" charset="-122"/>
                <a:cs typeface="Arial" pitchFamily="34" charset="-120"/>
              </a:rPr>
              <a:t>5/5</a:t>
            </a:r>
            <a:endParaRPr lang="en-US" sz="2000" dirty="0"/>
          </a:p>
        </p:txBody>
      </p:sp>
      <p:sp>
        <p:nvSpPr>
          <p:cNvPr id="18" name="Text 15"/>
          <p:cNvSpPr txBox="1"/>
          <p:nvPr/>
        </p:nvSpPr>
        <p:spPr>
          <a:xfrm>
            <a:off x="7772400" y="2679192"/>
            <a:ext cx="3687775" cy="841248"/>
          </a:xfrm>
          <a:prstGeom prst="rect">
            <a:avLst/>
          </a:prstGeom>
          <a:noFill/>
          <a:ln/>
        </p:spPr>
        <p:txBody>
          <a:bodyPr wrap="square" lIns="0" tIns="0" rIns="0" bIns="0" rtlCol="0" anchor="ctr"/>
          <a:lstStyle/>
          <a:p>
            <a:pPr indent="0" marL="0">
              <a:buNone/>
            </a:pPr>
            <a:r>
              <a:rPr lang="en-US" sz="1500" b="1" dirty="0">
                <a:solidFill>
                  <a:srgbClr val="FFFFFF"/>
                </a:solidFill>
              </a:rPr>
              <a:t>Network</a:t>
            </a:r>
            <a:endParaRPr lang="en-US" sz="1500" dirty="0"/>
          </a:p>
          <a:p>
            <a:pPr indent="0" marL="0">
              <a:buNone/>
            </a:pPr>
            <a:r>
              <a:rPr lang="en-US" sz="1250" dirty="0">
                <a:solidFill>
                  <a:srgbClr val="DCE4F2"/>
                </a:solidFill>
              </a:rPr>
              <a:t>Brokers like Henry link the Pentagon to Balkan stockpiles.</a:t>
            </a:r>
            <a:endParaRPr lang="en-US" sz="1500" dirty="0"/>
          </a:p>
        </p:txBody>
      </p:sp>
      <p:sp>
        <p:nvSpPr>
          <p:cNvPr id="19" name="Patron–client"/>
          <p:cNvSpPr/>
          <p:nvPr/>
        </p:nvSpPr>
        <p:spPr>
          <a:xfrm>
            <a:off x="6858000" y="3621024"/>
            <a:ext cx="4785055" cy="841248"/>
          </a:xfrm>
          <a:prstGeom prst="rect">
            <a:avLst/>
          </a:prstGeom>
          <a:solidFill>
            <a:srgbClr val="0D1C3C"/>
          </a:solidFill>
          <a:ln w="12700">
            <a:solidFill>
              <a:srgbClr val="28406E"/>
            </a:solidFill>
            <a:prstDash val="solid"/>
          </a:ln>
        </p:spPr>
      </p:sp>
      <p:sp>
        <p:nvSpPr>
          <p:cNvPr id="20" name="Text 17"/>
          <p:cNvSpPr txBox="1"/>
          <p:nvPr/>
        </p:nvSpPr>
        <p:spPr>
          <a:xfrm>
            <a:off x="7040880" y="3621024"/>
            <a:ext cx="685800" cy="841248"/>
          </a:xfrm>
          <a:prstGeom prst="rect">
            <a:avLst/>
          </a:prstGeom>
          <a:noFill/>
          <a:ln/>
        </p:spPr>
        <p:txBody>
          <a:bodyPr wrap="square" lIns="0" tIns="0" rIns="0" bIns="0" rtlCol="0" anchor="ctr"/>
          <a:lstStyle/>
          <a:p>
            <a:pPr indent="0" marL="0">
              <a:buNone/>
            </a:pPr>
            <a:r>
              <a:rPr lang="en-US" sz="2000" b="1" dirty="0">
                <a:solidFill>
                  <a:srgbClr val="B8C4D9"/>
                </a:solidFill>
                <a:latin typeface="Arial" pitchFamily="34" charset="0"/>
                <a:ea typeface="Arial" pitchFamily="34" charset="-122"/>
                <a:cs typeface="Arial" pitchFamily="34" charset="-120"/>
              </a:rPr>
              <a:t>3/5</a:t>
            </a:r>
            <a:endParaRPr lang="en-US" sz="2000" dirty="0"/>
          </a:p>
        </p:txBody>
      </p:sp>
      <p:sp>
        <p:nvSpPr>
          <p:cNvPr id="21" name="Text 18"/>
          <p:cNvSpPr txBox="1"/>
          <p:nvPr/>
        </p:nvSpPr>
        <p:spPr>
          <a:xfrm>
            <a:off x="7772400" y="3621024"/>
            <a:ext cx="3687775" cy="841248"/>
          </a:xfrm>
          <a:prstGeom prst="rect">
            <a:avLst/>
          </a:prstGeom>
          <a:noFill/>
          <a:ln/>
        </p:spPr>
        <p:txBody>
          <a:bodyPr wrap="square" lIns="0" tIns="0" rIns="0" bIns="0" rtlCol="0" anchor="ctr"/>
          <a:lstStyle/>
          <a:p>
            <a:pPr indent="0" marL="0">
              <a:buNone/>
            </a:pPr>
            <a:r>
              <a:rPr lang="en-US" sz="1500" b="1" dirty="0">
                <a:solidFill>
                  <a:srgbClr val="FFFFFF"/>
                </a:solidFill>
              </a:rPr>
              <a:t>Patron–client</a:t>
            </a:r>
            <a:endParaRPr lang="en-US" sz="1500" dirty="0"/>
          </a:p>
          <a:p>
            <a:pPr indent="0" marL="0">
              <a:buNone/>
            </a:pPr>
            <a:r>
              <a:rPr lang="en-US" sz="1250" dirty="0">
                <a:solidFill>
                  <a:srgbClr val="DCE4F2"/>
                </a:solidFill>
              </a:rPr>
              <a:t>Henry trades access for a share, but no lasting patron.</a:t>
            </a:r>
            <a:endParaRPr lang="en-US" sz="1500" dirty="0"/>
          </a:p>
        </p:txBody>
      </p:sp>
      <p:sp>
        <p:nvSpPr>
          <p:cNvPr id="22" name="Hierarchical"/>
          <p:cNvSpPr/>
          <p:nvPr/>
        </p:nvSpPr>
        <p:spPr>
          <a:xfrm>
            <a:off x="6858000" y="4562856"/>
            <a:ext cx="4785055" cy="841248"/>
          </a:xfrm>
          <a:prstGeom prst="rect">
            <a:avLst/>
          </a:prstGeom>
          <a:solidFill>
            <a:srgbClr val="0D1C3C"/>
          </a:solidFill>
          <a:ln w="12700">
            <a:solidFill>
              <a:srgbClr val="28406E"/>
            </a:solidFill>
            <a:prstDash val="solid"/>
          </a:ln>
        </p:spPr>
      </p:sp>
      <p:sp>
        <p:nvSpPr>
          <p:cNvPr id="23" name="Text 20"/>
          <p:cNvSpPr txBox="1"/>
          <p:nvPr/>
        </p:nvSpPr>
        <p:spPr>
          <a:xfrm>
            <a:off x="7040880" y="4562856"/>
            <a:ext cx="685800" cy="841248"/>
          </a:xfrm>
          <a:prstGeom prst="rect">
            <a:avLst/>
          </a:prstGeom>
          <a:noFill/>
          <a:ln/>
        </p:spPr>
        <p:txBody>
          <a:bodyPr wrap="square" lIns="0" tIns="0" rIns="0" bIns="0" rtlCol="0" anchor="ctr"/>
          <a:lstStyle/>
          <a:p>
            <a:pPr indent="0" marL="0">
              <a:buNone/>
            </a:pPr>
            <a:r>
              <a:rPr lang="en-US" sz="2000" b="1" dirty="0">
                <a:solidFill>
                  <a:srgbClr val="B8C4D9"/>
                </a:solidFill>
                <a:latin typeface="Arial" pitchFamily="34" charset="0"/>
                <a:ea typeface="Arial" pitchFamily="34" charset="-122"/>
                <a:cs typeface="Arial" pitchFamily="34" charset="-120"/>
              </a:rPr>
              <a:t>1/5</a:t>
            </a:r>
            <a:endParaRPr lang="en-US" sz="2000" dirty="0"/>
          </a:p>
        </p:txBody>
      </p:sp>
      <p:sp>
        <p:nvSpPr>
          <p:cNvPr id="24" name="Text 21"/>
          <p:cNvSpPr txBox="1"/>
          <p:nvPr/>
        </p:nvSpPr>
        <p:spPr>
          <a:xfrm>
            <a:off x="7772400" y="4562856"/>
            <a:ext cx="3687775" cy="841248"/>
          </a:xfrm>
          <a:prstGeom prst="rect">
            <a:avLst/>
          </a:prstGeom>
          <a:noFill/>
          <a:ln/>
        </p:spPr>
        <p:txBody>
          <a:bodyPr wrap="square" lIns="0" tIns="0" rIns="0" bIns="0" rtlCol="0" anchor="ctr"/>
          <a:lstStyle/>
          <a:p>
            <a:pPr indent="0" marL="0">
              <a:buNone/>
            </a:pPr>
            <a:r>
              <a:rPr lang="en-US" sz="1500" b="1" dirty="0">
                <a:solidFill>
                  <a:srgbClr val="FFFFFF"/>
                </a:solidFill>
              </a:rPr>
              <a:t>Hierarchical</a:t>
            </a:r>
            <a:endParaRPr lang="en-US" sz="1500" dirty="0"/>
          </a:p>
          <a:p>
            <a:pPr indent="0" marL="0">
              <a:buNone/>
            </a:pPr>
            <a:r>
              <a:rPr lang="en-US" sz="1250" dirty="0">
                <a:solidFill>
                  <a:srgbClr val="DCE4F2"/>
                </a:solidFill>
              </a:rPr>
              <a:t>No ranks, no code, no family. Not the mafia.</a:t>
            </a:r>
            <a:endParaRPr lang="en-US" sz="15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FACT CHECK  ·  FILM VS REALITY</a:t>
            </a:r>
            <a:endParaRPr lang="en-US" sz="1250" dirty="0"/>
          </a:p>
        </p:txBody>
      </p:sp>
      <p:sp>
        <p:nvSpPr>
          <p:cNvPr id="6" name="Text 4"/>
          <p:cNvSpPr txBox="1"/>
          <p:nvPr/>
        </p:nvSpPr>
        <p:spPr>
          <a:xfrm>
            <a:off x="548640" y="786384"/>
            <a:ext cx="11094415" cy="7772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How accurate is War Dogs?</a:t>
            </a:r>
            <a:endParaRPr lang="en-US" sz="2900" dirty="0"/>
          </a:p>
        </p:txBody>
      </p:sp>
      <p:sp>
        <p:nvSpPr>
          <p:cNvPr id="7" name="lower third accent"/>
          <p:cNvSpPr/>
          <p:nvPr/>
        </p:nvSpPr>
        <p:spPr>
          <a:xfrm>
            <a:off x="548640" y="5559552"/>
            <a:ext cx="109728" cy="585216"/>
          </a:xfrm>
          <a:prstGeom prst="rect">
            <a:avLst/>
          </a:prstGeom>
          <a:solidFill>
            <a:srgbClr val="D7191F"/>
          </a:solidFill>
          <a:ln/>
        </p:spPr>
      </p:sp>
      <p:sp>
        <p:nvSpPr>
          <p:cNvPr id="8" name="lower third"/>
          <p:cNvSpPr/>
          <p:nvPr/>
        </p:nvSpPr>
        <p:spPr>
          <a:xfrm>
            <a:off x="658368" y="5559552"/>
            <a:ext cx="4937760" cy="585216"/>
          </a:xfrm>
          <a:prstGeom prst="rect">
            <a:avLst/>
          </a:prstGeom>
          <a:solidFill>
            <a:srgbClr val="FFFFFF"/>
          </a:solidFill>
          <a:ln/>
        </p:spPr>
      </p:sp>
      <p:sp>
        <p:nvSpPr>
          <p:cNvPr id="9" name="Text 7"/>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NISHIT KUMER</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FACT-CHECK DESK</a:t>
            </a:r>
            <a:endParaRPr lang="en-US" sz="1400" dirty="0"/>
          </a:p>
        </p:txBody>
      </p:sp>
      <p:sp>
        <p:nvSpPr>
          <p:cNvPr id="10" name="Text 8"/>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FACT CHECK: CONTRACT TRUE  •  REPACKING TRUE  •  SENTENCES TRUE  •  HENRY GIRARD A COMPOSITE</a:t>
            </a:r>
            <a:endParaRPr lang="en-US" sz="1150" dirty="0"/>
          </a:p>
        </p:txBody>
      </p:sp>
      <p:sp>
        <p:nvSpPr>
          <p:cNvPr id="11" name="AEY won a $298M Army contract"/>
          <p:cNvSpPr/>
          <p:nvPr/>
        </p:nvSpPr>
        <p:spPr>
          <a:xfrm>
            <a:off x="548640" y="1755648"/>
            <a:ext cx="11094415" cy="530352"/>
          </a:xfrm>
          <a:prstGeom prst="rect">
            <a:avLst/>
          </a:prstGeom>
          <a:solidFill>
            <a:srgbClr val="102347"/>
          </a:solidFill>
          <a:ln w="12700">
            <a:solidFill>
              <a:srgbClr val="102347"/>
            </a:solidFill>
            <a:prstDash val="solid"/>
          </a:ln>
        </p:spPr>
      </p:sp>
      <p:sp>
        <p:nvSpPr>
          <p:cNvPr id="12" name="Text 10"/>
          <p:cNvSpPr txBox="1"/>
          <p:nvPr/>
        </p:nvSpPr>
        <p:spPr>
          <a:xfrm>
            <a:off x="777240" y="1755648"/>
            <a:ext cx="5120640" cy="530352"/>
          </a:xfrm>
          <a:prstGeom prst="rect">
            <a:avLst/>
          </a:prstGeom>
          <a:noFill/>
          <a:ln/>
        </p:spPr>
        <p:txBody>
          <a:bodyPr wrap="square" lIns="0" tIns="0" rIns="0" bIns="0" rtlCol="0" anchor="ctr"/>
          <a:lstStyle/>
          <a:p>
            <a:pPr indent="0" marL="0">
              <a:buNone/>
            </a:pPr>
            <a:r>
              <a:rPr lang="en-US" sz="1550" b="1" dirty="0">
                <a:solidFill>
                  <a:srgbClr val="FFFFFF"/>
                </a:solidFill>
              </a:rPr>
              <a:t>AEY won a $298M Army contract</a:t>
            </a:r>
            <a:endParaRPr lang="en-US" sz="1550" dirty="0"/>
          </a:p>
        </p:txBody>
      </p:sp>
      <p:sp>
        <p:nvSpPr>
          <p:cNvPr id="13" name="TRUE chip"/>
          <p:cNvSpPr/>
          <p:nvPr/>
        </p:nvSpPr>
        <p:spPr>
          <a:xfrm>
            <a:off x="6035040" y="1856232"/>
            <a:ext cx="1554480" cy="329184"/>
          </a:xfrm>
          <a:prstGeom prst="roundRect">
            <a:avLst>
              <a:gd name="adj" fmla="val 13889"/>
            </a:avLst>
          </a:prstGeom>
          <a:solidFill>
            <a:srgbClr val="22A55B"/>
          </a:solidFill>
          <a:ln/>
        </p:spPr>
      </p:sp>
      <p:sp>
        <p:nvSpPr>
          <p:cNvPr id="14" name="Text 12"/>
          <p:cNvSpPr txBox="1"/>
          <p:nvPr/>
        </p:nvSpPr>
        <p:spPr>
          <a:xfrm>
            <a:off x="6035040" y="1856232"/>
            <a:ext cx="1554480" cy="329184"/>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TRUE</a:t>
            </a:r>
            <a:endParaRPr lang="en-US" sz="1200" dirty="0"/>
          </a:p>
        </p:txBody>
      </p:sp>
      <p:sp>
        <p:nvSpPr>
          <p:cNvPr id="15" name="Text 13"/>
          <p:cNvSpPr txBox="1"/>
          <p:nvPr/>
        </p:nvSpPr>
        <p:spPr>
          <a:xfrm>
            <a:off x="7818120" y="1755648"/>
            <a:ext cx="3642055" cy="530352"/>
          </a:xfrm>
          <a:prstGeom prst="rect">
            <a:avLst/>
          </a:prstGeom>
          <a:noFill/>
          <a:ln/>
        </p:spPr>
        <p:txBody>
          <a:bodyPr wrap="square" lIns="0" tIns="0" rIns="0" bIns="0" rtlCol="0" anchor="ctr"/>
          <a:lstStyle/>
          <a:p>
            <a:pPr indent="0" marL="0">
              <a:buNone/>
            </a:pPr>
            <a:r>
              <a:rPr lang="en-US" sz="1350" dirty="0">
                <a:solidFill>
                  <a:srgbClr val="DCE4F2"/>
                </a:solidFill>
              </a:rPr>
              <a:t>Documented by Lawson (2015)</a:t>
            </a:r>
            <a:endParaRPr lang="en-US" sz="1350" dirty="0"/>
          </a:p>
        </p:txBody>
      </p:sp>
      <p:sp>
        <p:nvSpPr>
          <p:cNvPr id="16" name="Chinese ammunition was repacked to hide its origin"/>
          <p:cNvSpPr/>
          <p:nvPr/>
        </p:nvSpPr>
        <p:spPr>
          <a:xfrm>
            <a:off x="548640" y="2368296"/>
            <a:ext cx="11094415" cy="530352"/>
          </a:xfrm>
          <a:prstGeom prst="rect">
            <a:avLst/>
          </a:prstGeom>
          <a:solidFill>
            <a:srgbClr val="0D1C3C"/>
          </a:solidFill>
          <a:ln w="12700">
            <a:solidFill>
              <a:srgbClr val="0D1C3C"/>
            </a:solidFill>
            <a:prstDash val="solid"/>
          </a:ln>
        </p:spPr>
      </p:sp>
      <p:sp>
        <p:nvSpPr>
          <p:cNvPr id="17" name="Text 15"/>
          <p:cNvSpPr txBox="1"/>
          <p:nvPr/>
        </p:nvSpPr>
        <p:spPr>
          <a:xfrm>
            <a:off x="777240" y="2368296"/>
            <a:ext cx="5120640" cy="530352"/>
          </a:xfrm>
          <a:prstGeom prst="rect">
            <a:avLst/>
          </a:prstGeom>
          <a:noFill/>
          <a:ln/>
        </p:spPr>
        <p:txBody>
          <a:bodyPr wrap="square" lIns="0" tIns="0" rIns="0" bIns="0" rtlCol="0" anchor="ctr"/>
          <a:lstStyle/>
          <a:p>
            <a:pPr indent="0" marL="0">
              <a:buNone/>
            </a:pPr>
            <a:r>
              <a:rPr lang="en-US" sz="1550" b="1" dirty="0">
                <a:solidFill>
                  <a:srgbClr val="FFFFFF"/>
                </a:solidFill>
              </a:rPr>
              <a:t>Chinese ammunition was repacked to hide its origin</a:t>
            </a:r>
            <a:endParaRPr lang="en-US" sz="1550" dirty="0"/>
          </a:p>
        </p:txBody>
      </p:sp>
      <p:sp>
        <p:nvSpPr>
          <p:cNvPr id="18" name="TRUE chip"/>
          <p:cNvSpPr/>
          <p:nvPr/>
        </p:nvSpPr>
        <p:spPr>
          <a:xfrm>
            <a:off x="6035040" y="2468880"/>
            <a:ext cx="1554480" cy="329184"/>
          </a:xfrm>
          <a:prstGeom prst="roundRect">
            <a:avLst>
              <a:gd name="adj" fmla="val 13889"/>
            </a:avLst>
          </a:prstGeom>
          <a:solidFill>
            <a:srgbClr val="22A55B"/>
          </a:solidFill>
          <a:ln/>
        </p:spPr>
      </p:sp>
      <p:sp>
        <p:nvSpPr>
          <p:cNvPr id="19" name="Text 17"/>
          <p:cNvSpPr txBox="1"/>
          <p:nvPr/>
        </p:nvSpPr>
        <p:spPr>
          <a:xfrm>
            <a:off x="6035040" y="2468880"/>
            <a:ext cx="1554480" cy="329184"/>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TRUE</a:t>
            </a:r>
            <a:endParaRPr lang="en-US" sz="1200" dirty="0"/>
          </a:p>
        </p:txBody>
      </p:sp>
      <p:sp>
        <p:nvSpPr>
          <p:cNvPr id="20" name="Text 18"/>
          <p:cNvSpPr txBox="1"/>
          <p:nvPr/>
        </p:nvSpPr>
        <p:spPr>
          <a:xfrm>
            <a:off x="7818120" y="2368296"/>
            <a:ext cx="3642055" cy="530352"/>
          </a:xfrm>
          <a:prstGeom prst="rect">
            <a:avLst/>
          </a:prstGeom>
          <a:noFill/>
          <a:ln/>
        </p:spPr>
        <p:txBody>
          <a:bodyPr wrap="square" lIns="0" tIns="0" rIns="0" bIns="0" rtlCol="0" anchor="ctr"/>
          <a:lstStyle/>
          <a:p>
            <a:pPr indent="0" marL="0">
              <a:buNone/>
            </a:pPr>
            <a:r>
              <a:rPr lang="en-US" sz="1350" dirty="0">
                <a:solidFill>
                  <a:srgbClr val="DCE4F2"/>
                </a:solidFill>
              </a:rPr>
              <a:t>The core of the real fraud case</a:t>
            </a:r>
            <a:endParaRPr lang="en-US" sz="1350" dirty="0"/>
          </a:p>
        </p:txBody>
      </p:sp>
      <p:sp>
        <p:nvSpPr>
          <p:cNvPr id="21" name="Efraim got 4 years; David got house arrest"/>
          <p:cNvSpPr/>
          <p:nvPr/>
        </p:nvSpPr>
        <p:spPr>
          <a:xfrm>
            <a:off x="548640" y="2980944"/>
            <a:ext cx="11094415" cy="530352"/>
          </a:xfrm>
          <a:prstGeom prst="rect">
            <a:avLst/>
          </a:prstGeom>
          <a:solidFill>
            <a:srgbClr val="102347"/>
          </a:solidFill>
          <a:ln w="12700">
            <a:solidFill>
              <a:srgbClr val="102347"/>
            </a:solidFill>
            <a:prstDash val="solid"/>
          </a:ln>
        </p:spPr>
      </p:sp>
      <p:sp>
        <p:nvSpPr>
          <p:cNvPr id="22" name="Text 20"/>
          <p:cNvSpPr txBox="1"/>
          <p:nvPr/>
        </p:nvSpPr>
        <p:spPr>
          <a:xfrm>
            <a:off x="777240" y="2980944"/>
            <a:ext cx="5120640" cy="530352"/>
          </a:xfrm>
          <a:prstGeom prst="rect">
            <a:avLst/>
          </a:prstGeom>
          <a:noFill/>
          <a:ln/>
        </p:spPr>
        <p:txBody>
          <a:bodyPr wrap="square" lIns="0" tIns="0" rIns="0" bIns="0" rtlCol="0" anchor="ctr"/>
          <a:lstStyle/>
          <a:p>
            <a:pPr indent="0" marL="0">
              <a:buNone/>
            </a:pPr>
            <a:r>
              <a:rPr lang="en-US" sz="1550" b="1" dirty="0">
                <a:solidFill>
                  <a:srgbClr val="FFFFFF"/>
                </a:solidFill>
              </a:rPr>
              <a:t>Efraim got 4 years; David got house arrest</a:t>
            </a:r>
            <a:endParaRPr lang="en-US" sz="1550" dirty="0"/>
          </a:p>
        </p:txBody>
      </p:sp>
      <p:sp>
        <p:nvSpPr>
          <p:cNvPr id="23" name="TRUE chip"/>
          <p:cNvSpPr/>
          <p:nvPr/>
        </p:nvSpPr>
        <p:spPr>
          <a:xfrm>
            <a:off x="6035040" y="3081528"/>
            <a:ext cx="1554480" cy="329184"/>
          </a:xfrm>
          <a:prstGeom prst="roundRect">
            <a:avLst>
              <a:gd name="adj" fmla="val 13889"/>
            </a:avLst>
          </a:prstGeom>
          <a:solidFill>
            <a:srgbClr val="22A55B"/>
          </a:solidFill>
          <a:ln/>
        </p:spPr>
      </p:sp>
      <p:sp>
        <p:nvSpPr>
          <p:cNvPr id="24" name="Text 22"/>
          <p:cNvSpPr txBox="1"/>
          <p:nvPr/>
        </p:nvSpPr>
        <p:spPr>
          <a:xfrm>
            <a:off x="6035040" y="3081528"/>
            <a:ext cx="1554480" cy="329184"/>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TRUE</a:t>
            </a:r>
            <a:endParaRPr lang="en-US" sz="1200" dirty="0"/>
          </a:p>
        </p:txBody>
      </p:sp>
      <p:sp>
        <p:nvSpPr>
          <p:cNvPr id="25" name="Text 23"/>
          <p:cNvSpPr txBox="1"/>
          <p:nvPr/>
        </p:nvSpPr>
        <p:spPr>
          <a:xfrm>
            <a:off x="7818120" y="2980944"/>
            <a:ext cx="3642055" cy="530352"/>
          </a:xfrm>
          <a:prstGeom prst="rect">
            <a:avLst/>
          </a:prstGeom>
          <a:noFill/>
          <a:ln/>
        </p:spPr>
        <p:txBody>
          <a:bodyPr wrap="square" lIns="0" tIns="0" rIns="0" bIns="0" rtlCol="0" anchor="ctr"/>
          <a:lstStyle/>
          <a:p>
            <a:pPr indent="0" marL="0">
              <a:buNone/>
            </a:pPr>
            <a:r>
              <a:rPr lang="en-US" sz="1350" dirty="0">
                <a:solidFill>
                  <a:srgbClr val="DCE4F2"/>
                </a:solidFill>
              </a:rPr>
              <a:t>Matches the real sentences</a:t>
            </a:r>
            <a:endParaRPr lang="en-US" sz="1350" dirty="0"/>
          </a:p>
        </p:txBody>
      </p:sp>
      <p:sp>
        <p:nvSpPr>
          <p:cNvPr id="26" name="Henry Girard was a real dealer"/>
          <p:cNvSpPr/>
          <p:nvPr/>
        </p:nvSpPr>
        <p:spPr>
          <a:xfrm>
            <a:off x="548640" y="3593592"/>
            <a:ext cx="11094415" cy="530352"/>
          </a:xfrm>
          <a:prstGeom prst="rect">
            <a:avLst/>
          </a:prstGeom>
          <a:solidFill>
            <a:srgbClr val="0D1C3C"/>
          </a:solidFill>
          <a:ln w="12700">
            <a:solidFill>
              <a:srgbClr val="0D1C3C"/>
            </a:solidFill>
            <a:prstDash val="solid"/>
          </a:ln>
        </p:spPr>
      </p:sp>
      <p:sp>
        <p:nvSpPr>
          <p:cNvPr id="27" name="Text 25"/>
          <p:cNvSpPr txBox="1"/>
          <p:nvPr/>
        </p:nvSpPr>
        <p:spPr>
          <a:xfrm>
            <a:off x="777240" y="3593592"/>
            <a:ext cx="5120640" cy="530352"/>
          </a:xfrm>
          <a:prstGeom prst="rect">
            <a:avLst/>
          </a:prstGeom>
          <a:noFill/>
          <a:ln/>
        </p:spPr>
        <p:txBody>
          <a:bodyPr wrap="square" lIns="0" tIns="0" rIns="0" bIns="0" rtlCol="0" anchor="ctr"/>
          <a:lstStyle/>
          <a:p>
            <a:pPr indent="0" marL="0">
              <a:buNone/>
            </a:pPr>
            <a:r>
              <a:rPr lang="en-US" sz="1550" b="1" dirty="0">
                <a:solidFill>
                  <a:srgbClr val="FFFFFF"/>
                </a:solidFill>
              </a:rPr>
              <a:t>Henry Girard was a real dealer</a:t>
            </a:r>
            <a:endParaRPr lang="en-US" sz="1550" dirty="0"/>
          </a:p>
        </p:txBody>
      </p:sp>
      <p:sp>
        <p:nvSpPr>
          <p:cNvPr id="28" name="COMPOSITE chip"/>
          <p:cNvSpPr/>
          <p:nvPr/>
        </p:nvSpPr>
        <p:spPr>
          <a:xfrm>
            <a:off x="6035040" y="3694176"/>
            <a:ext cx="1554480" cy="329184"/>
          </a:xfrm>
          <a:prstGeom prst="roundRect">
            <a:avLst>
              <a:gd name="adj" fmla="val 13889"/>
            </a:avLst>
          </a:prstGeom>
          <a:solidFill>
            <a:srgbClr val="E39B0B"/>
          </a:solidFill>
          <a:ln/>
        </p:spPr>
      </p:sp>
      <p:sp>
        <p:nvSpPr>
          <p:cNvPr id="29" name="Text 27"/>
          <p:cNvSpPr txBox="1"/>
          <p:nvPr/>
        </p:nvSpPr>
        <p:spPr>
          <a:xfrm>
            <a:off x="6035040" y="3694176"/>
            <a:ext cx="1554480" cy="329184"/>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COMPOSITE</a:t>
            </a:r>
            <a:endParaRPr lang="en-US" sz="1200" dirty="0"/>
          </a:p>
        </p:txBody>
      </p:sp>
      <p:sp>
        <p:nvSpPr>
          <p:cNvPr id="30" name="Text 28"/>
          <p:cNvSpPr txBox="1"/>
          <p:nvPr/>
        </p:nvSpPr>
        <p:spPr>
          <a:xfrm>
            <a:off x="7818120" y="3593592"/>
            <a:ext cx="3642055" cy="530352"/>
          </a:xfrm>
          <a:prstGeom prst="rect">
            <a:avLst/>
          </a:prstGeom>
          <a:noFill/>
          <a:ln/>
        </p:spPr>
        <p:txBody>
          <a:bodyPr wrap="square" lIns="0" tIns="0" rIns="0" bIns="0" rtlCol="0" anchor="ctr"/>
          <a:lstStyle/>
          <a:p>
            <a:pPr indent="0" marL="0">
              <a:buNone/>
            </a:pPr>
            <a:r>
              <a:rPr lang="en-US" sz="1350" dirty="0">
                <a:solidFill>
                  <a:srgbClr val="DCE4F2"/>
                </a:solidFill>
              </a:rPr>
              <a:t>Inspired by broker Heinrich Thomet</a:t>
            </a:r>
            <a:endParaRPr lang="en-US" sz="1350" dirty="0"/>
          </a:p>
        </p:txBody>
      </p:sp>
      <p:sp>
        <p:nvSpPr>
          <p:cNvPr id="31" name="It was mostly a wild adventure"/>
          <p:cNvSpPr/>
          <p:nvPr/>
        </p:nvSpPr>
        <p:spPr>
          <a:xfrm>
            <a:off x="548640" y="4206240"/>
            <a:ext cx="11094415" cy="530352"/>
          </a:xfrm>
          <a:prstGeom prst="rect">
            <a:avLst/>
          </a:prstGeom>
          <a:solidFill>
            <a:srgbClr val="102347"/>
          </a:solidFill>
          <a:ln w="12700">
            <a:solidFill>
              <a:srgbClr val="102347"/>
            </a:solidFill>
            <a:prstDash val="solid"/>
          </a:ln>
        </p:spPr>
      </p:sp>
      <p:sp>
        <p:nvSpPr>
          <p:cNvPr id="32" name="Text 30"/>
          <p:cNvSpPr txBox="1"/>
          <p:nvPr/>
        </p:nvSpPr>
        <p:spPr>
          <a:xfrm>
            <a:off x="777240" y="4206240"/>
            <a:ext cx="5120640" cy="530352"/>
          </a:xfrm>
          <a:prstGeom prst="rect">
            <a:avLst/>
          </a:prstGeom>
          <a:noFill/>
          <a:ln/>
        </p:spPr>
        <p:txBody>
          <a:bodyPr wrap="square" lIns="0" tIns="0" rIns="0" bIns="0" rtlCol="0" anchor="ctr"/>
          <a:lstStyle/>
          <a:p>
            <a:pPr indent="0" marL="0">
              <a:buNone/>
            </a:pPr>
            <a:r>
              <a:rPr lang="en-US" sz="1550" b="1" dirty="0">
                <a:solidFill>
                  <a:srgbClr val="FFFFFF"/>
                </a:solidFill>
              </a:rPr>
              <a:t>It was mostly a wild adventure</a:t>
            </a:r>
            <a:endParaRPr lang="en-US" sz="1550" dirty="0"/>
          </a:p>
        </p:txBody>
      </p:sp>
      <p:sp>
        <p:nvSpPr>
          <p:cNvPr id="33" name="MISLEADING chip"/>
          <p:cNvSpPr/>
          <p:nvPr/>
        </p:nvSpPr>
        <p:spPr>
          <a:xfrm>
            <a:off x="6035040" y="4306824"/>
            <a:ext cx="1554480" cy="329184"/>
          </a:xfrm>
          <a:prstGeom prst="roundRect">
            <a:avLst>
              <a:gd name="adj" fmla="val 13889"/>
            </a:avLst>
          </a:prstGeom>
          <a:solidFill>
            <a:srgbClr val="D7191F"/>
          </a:solidFill>
          <a:ln/>
        </p:spPr>
      </p:sp>
      <p:sp>
        <p:nvSpPr>
          <p:cNvPr id="34" name="Text 32"/>
          <p:cNvSpPr txBox="1"/>
          <p:nvPr/>
        </p:nvSpPr>
        <p:spPr>
          <a:xfrm>
            <a:off x="6035040" y="4306824"/>
            <a:ext cx="1554480" cy="329184"/>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MISLEADING</a:t>
            </a:r>
            <a:endParaRPr lang="en-US" sz="1200" dirty="0"/>
          </a:p>
        </p:txBody>
      </p:sp>
      <p:sp>
        <p:nvSpPr>
          <p:cNvPr id="35" name="Text 33"/>
          <p:cNvSpPr txBox="1"/>
          <p:nvPr/>
        </p:nvSpPr>
        <p:spPr>
          <a:xfrm>
            <a:off x="7818120" y="4206240"/>
            <a:ext cx="3642055" cy="530352"/>
          </a:xfrm>
          <a:prstGeom prst="rect">
            <a:avLst/>
          </a:prstGeom>
          <a:noFill/>
          <a:ln/>
        </p:spPr>
        <p:txBody>
          <a:bodyPr wrap="square" lIns="0" tIns="0" rIns="0" bIns="0" rtlCol="0" anchor="ctr"/>
          <a:lstStyle/>
          <a:p>
            <a:pPr indent="0" marL="0">
              <a:buNone/>
            </a:pPr>
            <a:r>
              <a:rPr lang="en-US" sz="1350" dirty="0">
                <a:solidFill>
                  <a:srgbClr val="DCE4F2"/>
                </a:solidFill>
              </a:rPr>
              <a:t>Comedy glamorizes the money; blames two men, not the system</a:t>
            </a:r>
            <a:endParaRPr lang="en-US" sz="1350" dirty="0"/>
          </a:p>
        </p:txBody>
      </p:sp>
      <p:sp>
        <p:nvSpPr>
          <p:cNvPr id="36" name="The film shows who got hurt"/>
          <p:cNvSpPr/>
          <p:nvPr/>
        </p:nvSpPr>
        <p:spPr>
          <a:xfrm>
            <a:off x="548640" y="4818888"/>
            <a:ext cx="11094415" cy="530352"/>
          </a:xfrm>
          <a:prstGeom prst="rect">
            <a:avLst/>
          </a:prstGeom>
          <a:solidFill>
            <a:srgbClr val="0D1C3C"/>
          </a:solidFill>
          <a:ln w="12700">
            <a:solidFill>
              <a:srgbClr val="0D1C3C"/>
            </a:solidFill>
            <a:prstDash val="solid"/>
          </a:ln>
        </p:spPr>
      </p:sp>
      <p:sp>
        <p:nvSpPr>
          <p:cNvPr id="37" name="Text 35"/>
          <p:cNvSpPr txBox="1"/>
          <p:nvPr/>
        </p:nvSpPr>
        <p:spPr>
          <a:xfrm>
            <a:off x="777240" y="4818888"/>
            <a:ext cx="5120640" cy="530352"/>
          </a:xfrm>
          <a:prstGeom prst="rect">
            <a:avLst/>
          </a:prstGeom>
          <a:noFill/>
          <a:ln/>
        </p:spPr>
        <p:txBody>
          <a:bodyPr wrap="square" lIns="0" tIns="0" rIns="0" bIns="0" rtlCol="0" anchor="ctr"/>
          <a:lstStyle/>
          <a:p>
            <a:pPr indent="0" marL="0">
              <a:buNone/>
            </a:pPr>
            <a:r>
              <a:rPr lang="en-US" sz="1550" b="1" dirty="0">
                <a:solidFill>
                  <a:srgbClr val="FFFFFF"/>
                </a:solidFill>
              </a:rPr>
              <a:t>The film shows who got hurt</a:t>
            </a:r>
            <a:endParaRPr lang="en-US" sz="1550" dirty="0"/>
          </a:p>
        </p:txBody>
      </p:sp>
      <p:sp>
        <p:nvSpPr>
          <p:cNvPr id="38" name="LEFT OUT chip"/>
          <p:cNvSpPr/>
          <p:nvPr/>
        </p:nvSpPr>
        <p:spPr>
          <a:xfrm>
            <a:off x="6035040" y="4919472"/>
            <a:ext cx="1554480" cy="329184"/>
          </a:xfrm>
          <a:prstGeom prst="roundRect">
            <a:avLst>
              <a:gd name="adj" fmla="val 13889"/>
            </a:avLst>
          </a:prstGeom>
          <a:solidFill>
            <a:srgbClr val="6B7A99"/>
          </a:solidFill>
          <a:ln/>
        </p:spPr>
      </p:sp>
      <p:sp>
        <p:nvSpPr>
          <p:cNvPr id="39" name="Text 37"/>
          <p:cNvSpPr txBox="1"/>
          <p:nvPr/>
        </p:nvSpPr>
        <p:spPr>
          <a:xfrm>
            <a:off x="6035040" y="4919472"/>
            <a:ext cx="1554480" cy="329184"/>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LEFT OUT</a:t>
            </a:r>
            <a:endParaRPr lang="en-US" sz="1200" dirty="0"/>
          </a:p>
        </p:txBody>
      </p:sp>
      <p:sp>
        <p:nvSpPr>
          <p:cNvPr id="40" name="Text 38"/>
          <p:cNvSpPr txBox="1"/>
          <p:nvPr/>
        </p:nvSpPr>
        <p:spPr>
          <a:xfrm>
            <a:off x="7818120" y="4818888"/>
            <a:ext cx="3642055" cy="530352"/>
          </a:xfrm>
          <a:prstGeom prst="rect">
            <a:avLst/>
          </a:prstGeom>
          <a:noFill/>
          <a:ln/>
        </p:spPr>
        <p:txBody>
          <a:bodyPr wrap="square" lIns="0" tIns="0" rIns="0" bIns="0" rtlCol="0" anchor="ctr"/>
          <a:lstStyle/>
          <a:p>
            <a:pPr indent="0" marL="0">
              <a:buNone/>
            </a:pPr>
            <a:r>
              <a:rPr lang="en-US" sz="1350" dirty="0">
                <a:solidFill>
                  <a:srgbClr val="DCE4F2"/>
                </a:solidFill>
              </a:rPr>
              <a:t>Soldiers and taxpayers barely appear</a:t>
            </a:r>
            <a:endParaRPr lang="en-US" sz="135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ive badge"/>
          <p:cNvSpPr/>
          <p:nvPr/>
        </p:nvSpPr>
        <p:spPr>
          <a:xfrm>
            <a:off x="548640" y="329184"/>
            <a:ext cx="749808" cy="292608"/>
          </a:xfrm>
          <a:prstGeom prst="roundRect">
            <a:avLst>
              <a:gd name="adj" fmla="val 15625"/>
            </a:avLst>
          </a:prstGeom>
          <a:solidFill>
            <a:srgbClr val="D7191F"/>
          </a:solidFill>
          <a:ln/>
        </p:spPr>
      </p:sp>
      <p:sp>
        <p:nvSpPr>
          <p:cNvPr id="3" name="live dot"/>
          <p:cNvSpPr/>
          <p:nvPr/>
        </p:nvSpPr>
        <p:spPr>
          <a:xfrm>
            <a:off x="649224" y="420624"/>
            <a:ext cx="109728" cy="109728"/>
          </a:xfrm>
          <a:prstGeom prst="ellipse">
            <a:avLst/>
          </a:prstGeom>
          <a:solidFill>
            <a:srgbClr val="FFFFFF"/>
          </a:solidFill>
          <a:ln/>
        </p:spPr>
      </p:sp>
      <p:sp>
        <p:nvSpPr>
          <p:cNvPr id="4" name="Text 2"/>
          <p:cNvSpPr txBox="1"/>
          <p:nvPr/>
        </p:nvSpPr>
        <p:spPr>
          <a:xfrm>
            <a:off x="804672" y="329184"/>
            <a:ext cx="457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a:t>
            </a:r>
            <a:endParaRPr lang="en-US" sz="1200" dirty="0"/>
          </a:p>
        </p:txBody>
      </p:sp>
      <p:sp>
        <p:nvSpPr>
          <p:cNvPr id="5" name="Text 3"/>
          <p:cNvSpPr txBox="1"/>
          <p:nvPr/>
        </p:nvSpPr>
        <p:spPr>
          <a:xfrm>
            <a:off x="1444752" y="329184"/>
            <a:ext cx="5943600" cy="292608"/>
          </a:xfrm>
          <a:prstGeom prst="rect">
            <a:avLst/>
          </a:prstGeom>
          <a:noFill/>
          <a:ln/>
        </p:spPr>
        <p:txBody>
          <a:bodyPr wrap="square" lIns="0" tIns="0" rIns="0" bIns="0" rtlCol="0" anchor="ctr"/>
          <a:lstStyle/>
          <a:p>
            <a:pPr indent="0" marL="0">
              <a:buNone/>
            </a:pPr>
            <a:r>
              <a:rPr lang="en-US" sz="1250" b="1" spc="200" kern="0" dirty="0">
                <a:solidFill>
                  <a:srgbClr val="F2B705"/>
                </a:solidFill>
                <a:latin typeface="Arial" pitchFamily="34" charset="0"/>
                <a:ea typeface="Arial" pitchFamily="34" charset="-122"/>
                <a:cs typeface="Arial" pitchFamily="34" charset="-120"/>
              </a:rPr>
              <a:t>THE FINAL WORD</a:t>
            </a:r>
            <a:endParaRPr lang="en-US" sz="1250" dirty="0"/>
          </a:p>
        </p:txBody>
      </p:sp>
      <p:sp>
        <p:nvSpPr>
          <p:cNvPr id="6" name="lower third accent"/>
          <p:cNvSpPr/>
          <p:nvPr/>
        </p:nvSpPr>
        <p:spPr>
          <a:xfrm>
            <a:off x="548640" y="5559552"/>
            <a:ext cx="109728" cy="585216"/>
          </a:xfrm>
          <a:prstGeom prst="rect">
            <a:avLst/>
          </a:prstGeom>
          <a:solidFill>
            <a:srgbClr val="D7191F"/>
          </a:solidFill>
          <a:ln/>
        </p:spPr>
      </p:sp>
      <p:sp>
        <p:nvSpPr>
          <p:cNvPr id="7" name="lower third"/>
          <p:cNvSpPr/>
          <p:nvPr/>
        </p:nvSpPr>
        <p:spPr>
          <a:xfrm>
            <a:off x="658368" y="5559552"/>
            <a:ext cx="4937760" cy="585216"/>
          </a:xfrm>
          <a:prstGeom prst="rect">
            <a:avLst/>
          </a:prstGeom>
          <a:solidFill>
            <a:srgbClr val="FFFFFF"/>
          </a:solidFill>
          <a:ln/>
        </p:spPr>
      </p:sp>
      <p:sp>
        <p:nvSpPr>
          <p:cNvPr id="8" name="Text 6"/>
          <p:cNvSpPr txBox="1"/>
          <p:nvPr/>
        </p:nvSpPr>
        <p:spPr>
          <a:xfrm>
            <a:off x="822960" y="5559552"/>
            <a:ext cx="4663440" cy="585216"/>
          </a:xfrm>
          <a:prstGeom prst="rect">
            <a:avLst/>
          </a:prstGeom>
          <a:noFill/>
          <a:ln/>
        </p:spPr>
        <p:txBody>
          <a:bodyPr wrap="square" lIns="0" tIns="0" rIns="0" bIns="0" rtlCol="0" anchor="ctr"/>
          <a:lstStyle/>
          <a:p>
            <a:pPr indent="0" marL="0">
              <a:buNone/>
            </a:pPr>
            <a:r>
              <a:rPr lang="en-US" sz="1400" b="1" dirty="0">
                <a:solidFill>
                  <a:srgbClr val="0A1A3A"/>
                </a:solidFill>
                <a:latin typeface="Arial" pitchFamily="34" charset="0"/>
                <a:ea typeface="Arial" pitchFamily="34" charset="-122"/>
                <a:cs typeface="Arial" pitchFamily="34" charset="-120"/>
              </a:rPr>
              <a:t>NISHIT KUMER</a:t>
            </a:r>
            <a:endParaRPr lang="en-US" sz="1400" dirty="0"/>
          </a:p>
          <a:p>
            <a:pPr indent="0" marL="0">
              <a:buNone/>
            </a:pPr>
            <a:r>
              <a:rPr lang="en-US" sz="1050" b="1" spc="100" kern="0" dirty="0">
                <a:solidFill>
                  <a:srgbClr val="D7191F"/>
                </a:solidFill>
                <a:latin typeface="Arial" pitchFamily="34" charset="0"/>
                <a:ea typeface="Arial" pitchFamily="34" charset="-122"/>
                <a:cs typeface="Arial" pitchFamily="34" charset="-120"/>
              </a:rPr>
              <a:t>FACT-CHECK DESK</a:t>
            </a:r>
            <a:endParaRPr lang="en-US" sz="1400" dirty="0"/>
          </a:p>
        </p:txBody>
      </p:sp>
      <p:sp>
        <p:nvSpPr>
          <p:cNvPr id="9" name="Text 7"/>
          <p:cNvSpPr txBox="1"/>
          <p:nvPr/>
        </p:nvSpPr>
        <p:spPr>
          <a:xfrm>
            <a:off x="1600200" y="6309360"/>
            <a:ext cx="9722815" cy="548640"/>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THANK YOU FROM GROUP 6  •  QUESTIONS WELCOME  •  DEPARTMENT OF CRIMINOLOGY, UNIVERSITY OF DHAKA</a:t>
            </a:r>
            <a:endParaRPr lang="en-US" sz="1150" dirty="0"/>
          </a:p>
        </p:txBody>
      </p:sp>
      <p:pic>
        <p:nvPicPr>
          <p:cNvPr id="10" name="quote mark" descr="preencoded.png">    </p:cNvPr>
          <p:cNvPicPr>
            <a:picLocks noChangeAspect="1"/>
          </p:cNvPicPr>
          <p:nvPr/>
        </p:nvPicPr>
        <p:blipFill>
          <a:blip r:embed="rId1"/>
          <a:stretch>
            <a:fillRect/>
          </a:stretch>
        </p:blipFill>
        <p:spPr>
          <a:xfrm>
            <a:off x="548640" y="914400"/>
            <a:ext cx="640080" cy="640080"/>
          </a:xfrm>
          <a:prstGeom prst="rect">
            <a:avLst/>
          </a:prstGeom>
        </p:spPr>
      </p:pic>
      <p:sp>
        <p:nvSpPr>
          <p:cNvPr id="11" name="Text 8"/>
          <p:cNvSpPr txBox="1"/>
          <p:nvPr/>
        </p:nvSpPr>
        <p:spPr>
          <a:xfrm>
            <a:off x="1417320" y="868680"/>
            <a:ext cx="10058400" cy="1600200"/>
          </a:xfrm>
          <a:prstGeom prst="rect">
            <a:avLst/>
          </a:prstGeom>
          <a:noFill/>
          <a:ln/>
        </p:spPr>
        <p:txBody>
          <a:bodyPr wrap="square" lIns="0" tIns="0" rIns="0" bIns="0" rtlCol="0" anchor="ctr"/>
          <a:lstStyle/>
          <a:p>
            <a:pPr indent="0" marL="0">
              <a:buNone/>
            </a:pPr>
            <a:r>
              <a:rPr lang="en-US" sz="3200" b="1" i="1" dirty="0">
                <a:solidFill>
                  <a:srgbClr val="FFFFFF"/>
                </a:solidFill>
                <a:latin typeface="Arial" pitchFamily="34" charset="0"/>
                <a:ea typeface="Arial" pitchFamily="34" charset="-122"/>
                <a:cs typeface="Arial" pitchFamily="34" charset="-120"/>
              </a:rPr>
              <a:t>They were not a mafia family. They were a business, and the system let them in.</a:t>
            </a:r>
            <a:endParaRPr lang="en-US" sz="3200" dirty="0"/>
          </a:p>
        </p:txBody>
      </p:sp>
      <p:sp>
        <p:nvSpPr>
          <p:cNvPr id="12" name="THE ANSWER"/>
          <p:cNvSpPr/>
          <p:nvPr/>
        </p:nvSpPr>
        <p:spPr>
          <a:xfrm>
            <a:off x="548640" y="2743200"/>
            <a:ext cx="5410048" cy="1691640"/>
          </a:xfrm>
          <a:prstGeom prst="rect">
            <a:avLst/>
          </a:prstGeom>
          <a:solidFill>
            <a:srgbClr val="102347"/>
          </a:solidFill>
          <a:ln w="19050">
            <a:solidFill>
              <a:srgbClr val="F2B705"/>
            </a:solidFill>
            <a:prstDash val="solid"/>
          </a:ln>
        </p:spPr>
      </p:sp>
      <p:sp>
        <p:nvSpPr>
          <p:cNvPr id="13" name="Text 10"/>
          <p:cNvSpPr txBox="1"/>
          <p:nvPr/>
        </p:nvSpPr>
        <p:spPr>
          <a:xfrm>
            <a:off x="822960" y="2926080"/>
            <a:ext cx="4861408" cy="1371600"/>
          </a:xfrm>
          <a:prstGeom prst="rect">
            <a:avLst/>
          </a:prstGeom>
          <a:noFill/>
          <a:ln/>
        </p:spPr>
        <p:txBody>
          <a:bodyPr wrap="square" lIns="0" tIns="0" rIns="0" bIns="0" rtlCol="0" anchor="t"/>
          <a:lstStyle/>
          <a:p>
            <a:pPr indent="0" marL="0">
              <a:buNone/>
            </a:pPr>
            <a:r>
              <a:rPr lang="en-US" sz="1200" b="1" spc="200" kern="0" dirty="0">
                <a:solidFill>
                  <a:srgbClr val="F2B705"/>
                </a:solidFill>
                <a:latin typeface="Arial" pitchFamily="34" charset="0"/>
                <a:ea typeface="Arial" pitchFamily="34" charset="-122"/>
                <a:cs typeface="Arial" pitchFamily="34" charset="-120"/>
              </a:rPr>
              <a:t>THE ANSWER</a:t>
            </a:r>
            <a:endParaRPr lang="en-US" sz="1200" dirty="0"/>
          </a:p>
          <a:p>
            <a:pPr indent="0" marL="0">
              <a:buNone/>
            </a:pPr>
            <a:r>
              <a:rPr lang="en-US" sz="600" dirty="0">
                <a:solidFill>
                  <a:srgbClr val="000000"/>
                </a:solidFill>
              </a:rPr>
              <a:t> </a:t>
            </a:r>
            <a:endParaRPr lang="en-US" sz="1200" dirty="0"/>
          </a:p>
          <a:p>
            <a:pPr indent="0" marL="0">
              <a:buNone/>
            </a:pPr>
            <a:r>
              <a:rPr lang="en-US" sz="1650" dirty="0">
                <a:solidFill>
                  <a:srgbClr val="FFFFFF"/>
                </a:solidFill>
              </a:rPr>
              <a:t>Organized crime under the UN definition, but not the mafia: organized white-collar crime, explained by the enterprise and network models.</a:t>
            </a:r>
            <a:endParaRPr lang="en-US" sz="1200" dirty="0"/>
          </a:p>
        </p:txBody>
      </p:sp>
      <p:sp>
        <p:nvSpPr>
          <p:cNvPr id="14" name="THE LESSON FOR BANGLADESH"/>
          <p:cNvSpPr/>
          <p:nvPr/>
        </p:nvSpPr>
        <p:spPr>
          <a:xfrm>
            <a:off x="6233008" y="2743200"/>
            <a:ext cx="5410048" cy="1691640"/>
          </a:xfrm>
          <a:prstGeom prst="rect">
            <a:avLst/>
          </a:prstGeom>
          <a:solidFill>
            <a:srgbClr val="102347"/>
          </a:solidFill>
          <a:ln w="19050">
            <a:solidFill>
              <a:srgbClr val="D7191F"/>
            </a:solidFill>
            <a:prstDash val="solid"/>
          </a:ln>
        </p:spPr>
      </p:sp>
      <p:sp>
        <p:nvSpPr>
          <p:cNvPr id="15" name="Text 12"/>
          <p:cNvSpPr txBox="1"/>
          <p:nvPr/>
        </p:nvSpPr>
        <p:spPr>
          <a:xfrm>
            <a:off x="6507328" y="2926080"/>
            <a:ext cx="4861408" cy="1371600"/>
          </a:xfrm>
          <a:prstGeom prst="rect">
            <a:avLst/>
          </a:prstGeom>
          <a:noFill/>
          <a:ln/>
        </p:spPr>
        <p:txBody>
          <a:bodyPr wrap="square" lIns="0" tIns="0" rIns="0" bIns="0" rtlCol="0" anchor="t"/>
          <a:lstStyle/>
          <a:p>
            <a:pPr indent="0" marL="0">
              <a:buNone/>
            </a:pPr>
            <a:r>
              <a:rPr lang="en-US" sz="1200" b="1" spc="200" kern="0" dirty="0">
                <a:solidFill>
                  <a:srgbClr val="FF8A8A"/>
                </a:solidFill>
                <a:latin typeface="Arial" pitchFamily="34" charset="0"/>
                <a:ea typeface="Arial" pitchFamily="34" charset="-122"/>
                <a:cs typeface="Arial" pitchFamily="34" charset="-120"/>
              </a:rPr>
              <a:t>THE LESSON FOR BANGLADESH</a:t>
            </a:r>
            <a:endParaRPr lang="en-US" sz="1200" dirty="0"/>
          </a:p>
          <a:p>
            <a:pPr indent="0" marL="0">
              <a:buNone/>
            </a:pPr>
            <a:r>
              <a:rPr lang="en-US" sz="600" dirty="0">
                <a:solidFill>
                  <a:srgbClr val="000000"/>
                </a:solidFill>
              </a:rPr>
              <a:t> </a:t>
            </a:r>
            <a:endParaRPr lang="en-US" sz="1200" dirty="0"/>
          </a:p>
          <a:p>
            <a:pPr indent="0" marL="0">
              <a:buNone/>
            </a:pPr>
            <a:r>
              <a:rPr lang="en-US" sz="1650" dirty="0">
                <a:solidFill>
                  <a:srgbClr val="FFFFFF"/>
                </a:solidFill>
              </a:rPr>
              <a:t>Large public projects rely on contractors and middlemen too. Checking real owners and where goods come from is crime prevention.</a:t>
            </a:r>
            <a:endParaRPr lang="en-US" sz="1200" dirty="0"/>
          </a:p>
        </p:txBody>
      </p:sp>
      <p:sp>
        <p:nvSpPr>
          <p:cNvPr id="16" name="Text 13"/>
          <p:cNvSpPr txBox="1"/>
          <p:nvPr/>
        </p:nvSpPr>
        <p:spPr>
          <a:xfrm>
            <a:off x="6156655" y="4983480"/>
            <a:ext cx="5486400" cy="502920"/>
          </a:xfrm>
          <a:prstGeom prst="rect">
            <a:avLst/>
          </a:prstGeom>
          <a:noFill/>
          <a:ln/>
        </p:spPr>
        <p:txBody>
          <a:bodyPr wrap="square" lIns="0" tIns="0" rIns="0" bIns="0" rtlCol="0" anchor="ctr"/>
          <a:lstStyle/>
          <a:p>
            <a:pPr algn="r" indent="0" marL="0">
              <a:buNone/>
            </a:pPr>
            <a:r>
              <a:rPr lang="en-US" sz="2600" b="1" dirty="0">
                <a:solidFill>
                  <a:srgbClr val="FFFFFF"/>
                </a:solidFill>
                <a:latin typeface="Arial" pitchFamily="34" charset="0"/>
                <a:ea typeface="Arial" pitchFamily="34" charset="-122"/>
                <a:cs typeface="Arial" pitchFamily="34" charset="-120"/>
              </a:rPr>
              <a:t>Thank you.  </a:t>
            </a:r>
            <a:pPr algn="r" indent="0" marL="0">
              <a:buNone/>
            </a:pPr>
            <a:r>
              <a:rPr lang="en-US" sz="2600" i="1" dirty="0">
                <a:solidFill>
                  <a:srgbClr val="F2B705"/>
                </a:solidFill>
                <a:latin typeface="Arial" pitchFamily="34" charset="0"/>
                <a:ea typeface="Arial" pitchFamily="34" charset="-122"/>
                <a:cs typeface="Arial" pitchFamily="34" charset="-120"/>
              </a:rPr>
              <a:t>Questions?</a:t>
            </a:r>
            <a:endParaRPr lang="en-US" sz="2600" dirty="0"/>
          </a:p>
        </p:txBody>
      </p:sp>
      <p:sp>
        <p:nvSpPr>
          <p:cNvPr id="25" name="Slide Number Placeholder 0"/>
          <p:cNvSpPr>
            <a:spLocks noGrp="1"/>
          </p:cNvSpPr>
          <p:nvPr>
            <p:ph type="sldNum" sz="quarter" idx="4294967295"/>
          </p:nvPr>
        </p:nvSpPr>
        <p:spPr>
          <a:xfrm>
            <a:off x="11505895" y="6455664"/>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8C4D9"/>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theme/theme1.xml><?xml version="1.0" encoding="utf-8"?>
<a:theme xmlns:a="http://schemas.openxmlformats.org/drawingml/2006/main" name="Criminology Desk News">
  <a:themeElements>
    <a:clrScheme name="Criminology Desk News">
      <a:dk1>
        <a:srgbClr val="0A1A3A"/>
      </a:dk1>
      <a:lt1>
        <a:srgbClr val="FFFFFF"/>
      </a:lt1>
      <a:dk2>
        <a:srgbClr val="060C1A"/>
      </a:dk2>
      <a:lt2>
        <a:srgbClr val="E8EEF7"/>
      </a:lt2>
      <a:accent1>
        <a:srgbClr val="D7191F"/>
      </a:accent1>
      <a:accent2>
        <a:srgbClr val="F2B705"/>
      </a:accent2>
      <a:accent3>
        <a:srgbClr val="4CC3FF"/>
      </a:accent3>
      <a:accent4>
        <a:srgbClr val="22A55B"/>
      </a:accent4>
      <a:accent5>
        <a:srgbClr val="102347"/>
      </a:accent5>
      <a:accent6>
        <a:srgbClr val="B8C4D9"/>
      </a:accent6>
      <a:hlink>
        <a:srgbClr val="4CC3FF"/>
      </a:hlink>
      <a:folHlink>
        <a:srgbClr val="F2B705"/>
      </a:folHlink>
    </a:clrScheme>
    <a:fontScheme name="Criminology Desk New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Breaking: The Dudes Who Armed an Army – War Dogs (2016) – Group 6</dc:title>
  <dc:subject>MCCJ 527 Organized Crime and Corruption</dc:subject>
  <dc:creator>PptxGenJS</dc:creator>
  <cp:lastModifiedBy>PptxGenJS</cp:lastModifiedBy>
  <cp:revision>1</cp:revision>
  <dcterms:created xsi:type="dcterms:W3CDTF">2026-10-22T03:24:08Z</dcterms:created>
  <dcterms:modified xsi:type="dcterms:W3CDTF">2026-10-22T03:24:08Z</dcterms:modified>
</cp:coreProperties>
</file>