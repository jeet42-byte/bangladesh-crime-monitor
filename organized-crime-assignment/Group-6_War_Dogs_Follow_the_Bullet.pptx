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parture" id="{59b1fe66-0353-7de4-0a9d-c286828d6ea7}">
          <p14:sldIdLst>
            <p14:sldId id="256"/>
            <p14:sldId id="257"/>
          </p14:sldIdLst>
        </p14:section>
        <p14:section name="The Route" id="{bebf02fd-738f-e3d2-5e85-b5ac593ff018}">
          <p14:sldIdLst>
            <p14:sldId id="258"/>
            <p14:sldId id="259"/>
            <p14:sldId id="260"/>
            <p14:sldId id="261"/>
            <p14:sldId id="262"/>
            <p14:sldId id="263"/>
            <p14:sldId id="264"/>
          </p14:sldIdLst>
        </p14:section>
        <p14:section name="Arrival" id="{6ee18eed-7372-1a43-0b97-394e9d20b6fa}">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[Name] (about 50 seconds)
[Hold up an imaginary bullet between two fingers.] Imagine one bullet. It was made in China decades ago, stored in a depot in Albania, sold through a broker on a terrorist watch list, repackaged to hide where it came from, and finally handed to a soldier in Afghanistan. And the money for it flowed all the way back to two young men in Miami.
Good morning. We are Group 6, and our film is War Dogs, from 2016. Today, instead of retelling the movie, we are going to follow the bullet, and follow the money, stop by stop. At every stop we will pause at a "criminology checkpoint" to see which concepts from our course are at work.
Let me show you the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[Name] (about 50 seconds)
Here is our route. [Trace the copper line.] Stop one, Miami, where the story begins. Stop two, Jordan and Iraq, the first risky deal. Stop three, Las Vegas, where they meet the broker. Stops four and five, Albania, where the ammunition is found, and hidden. Stop six, Kabul, where it ends up. And the dashed teal line is the money, flowing back to Miami, and finally into a courtroom.
[Right panel.] The film is War Dogs, from 2016, directed by Todd Phillips and starring Jonah Hill and Miles Teller. It is a crime comedy, but it is based on the true story reported by Guy Lawson. Its theme: people who profit from war without ever fighting it.
[Member 2], take us to stop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8 – [Name] (about 50 seconds)
Thank you, [Member 1]. Stop one: Miami. [Point to the tracker.]
David is a broke massage therapist with a baby on the way. He meets his childhood friend Efraim, whose company AEY bids online for the crumbs of Pentagon procurement: small contracts that big companies ignore. At this point, the bullet hasn't been bought yet. The money is simply sitting in public tenders.
[Checkpoint.] Two theories explain why David joins. Merton's strain theory: he accepts the goal of wealth but has no legitimate way to reach it, so he "innovates". Messner and Rosenfeld would add that money starts to override family values. And Sutherland's differential association: David learns both the methods and the excuses from Efraim.
Next stop: the Middle 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8 – [Name] (about 50 seconds)
Stop two: Jordan and Iraq. A shipment of pistols for the Iraqi police is stuck at the border in Jordan. Instead of losing the contract, David and Efraim fly to Amman, use local fixers, and drive the cargo into Iraq themselves. It works, they get paid, and bigger contracts follow.
[Checkpoint.] This is Smith's enterprise model in action. Legal and illegal business sit on one spectrum, driven by the same market. AEY started with legal bidding; now it has slid into grey dealing with fixers.
And it is classic rational choice: a calculated gamble with a high reward. And because the gamble pays off, it encourages the next, bigger one.
[Member 3], take us to Las Vegas.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[Name] (about 50 seconds)
Thank you, [Member 2]. Stop three: Las Vegas. At an arms fair, the pair meet Henry Girard, played by Bradley Cooper. Henry is on a terrorist watch list, so he cannot sell to the US government directly. But he has access to about 100 million rounds of ammunition in Albania. AEY needs supply; Henry needs a clean American front.
[Checkpoint.] This is Morselli's network model: power belongs to brokers who connect worlds that cannot reach each other. It is also Albini's patron–client model: Henry offers access in exchange for a share. And it shows the crime–terror nexus: someone barred from legal trade simply borrows a clean name.
[Bottom note.] Henry is a composite character, inspired by a real Swiss broker.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[Name] (about 50 seconds)
Stop four: Albania. The ammunition sits in old state depots. To reach it, AEY has to work through local intermediaries and officials, and each one takes a share. Meanwhile, Efraim starts trying to cut Henry out.
[Checkpoint.] This is where corruption enters. Transparency International defines it as the abuse of entrusted power for private gain. And Klitgaard's formula explains why it flourishes here: corruption equals monopoly plus discretion minus accountability. Henry has a monopoly on access. Officials and fixers have wide discretion. And in wartime, accountability is weak.
[Bottom note.] One thing the film leaves out: in March 2008, an explosion at the Gërdec ammunition depot in Albania killed 26 people, and senior officials were charged.
[Member 4], to the repack.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[Name] (about 50 seconds)
Thank you, [Member 3]. Stop five: the repack. This is the point of no return. David discovers that the ammunition was made in China, which is banned under a US arms embargo, and by the contract itself. Instead of reporting it, they have the rounds repackaged to remove the Chinese markings, and pass them off as Albanian. This really happened.
[Checkpoint.] This is white-collar crime in Sutherland's sense: respectable businessmen committing crime in the course of their work.
And how do they live with it? Sykes and Matza's techniques of neutralization. "The troops still get working bullets", that's denial of injury. "The government buys from shady sources too", that's condemning the condemners. These are our paraphrases of their attitudes.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[Name] (about 50 seconds)
Stop six: Kabul. The decades-old ammunition is delivered to the Afghan National Army. The victims barely appear on screen: soldiers relying on old ammunition, and taxpayers who paid for the contract.
[Checkpoint.] So, having followed the whole chain: is this organized crime? Under Article 2 of the UN Convention against Transnational Organized Crime, yes. It is a structured group of three or more people: Efraim, David, their financier, Henry and the suppliers. It existed over time, and it committed serious crime for material benefit.
And it is transnational organized crime: it crossed five countries, exploiting the gaps between their laws.
[Member 5], take us to the final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[Name] (about 50 seconds)
Thank you, [Member 4]. Stop seven: a federal courtroom in Miami. Greed and betrayal break the partnership, journalists expose AEY, and the government investigates. In the film, as in real life, Efraim is sentenced to four years in prison, and David, who cooperates, to seven months of house arrest.
[Checkpoint.] But here is the twist. If we use Abadinsky's classic attributes of organized crime, AEY mostly fails the test. No hierarchy, no exclusive membership, no code, and it collapsed the moment its leaders were charged. It is not the mafia.
So our classification is organized white-collar crime, made possible by what Kramer and colleagues call state-corporate crime: a government outsourcing war to the lowest bidder, with weak vetting.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[Name] (about 50 seconds)
We've arrived. Now let's look back at the whole route and ask which model of organized crime explains it best.
[Top row.] Smith's enterprise model fits strongly: across stops one to five, AEY slides from legal bidding, to fixers, to fraud, as demand grows.
[Second row.] Morselli's network model also fits strongly: at stops three and four, power sits with the brokers bridging the Pentagon and the Balkan stockpiles.
[Third row.] Albini's patron–client model fits partly: Henry trades access for a share.
[Bottom row.] And Cressey's hierarchical model, the mafia model, fits weakly: there are no ranks and no code, and the group collapses after the arrests.
[Member 6] will give our final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[Name] (about 50 seconds)
Thank you, [Member 5]. So, after following the bullet all the way, is the film accurate? Our verdict: accurate in substance, exaggerated in style.
[Left.] What it gets right: it breaks the mafia stereotype and shows crime as a business. It fits the UN definition and the enterprise and network models. Its characters never see themselves as criminals. And the core facts are real: the 298-million-dollar contract, the repackaging and the sentences.
[Right.] What it gets wrong: the comedy glamorizes the money. Henry is a composite and the Albanian threats were invented. It blames two young men rather than the system that let them in. And it leaves out real victims, including the 26 people killed in the Gërdec explosion.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[Name] (about 50 seconds)
So here is where our journey ends. [Read slowly.] Follow the bullet, and you find a business. Follow the money, and you find the system.
Our answer: AEY is organized crime under the UN definition, but it is not the mafia. It is organized white-collar crime, best explained by the enterprise and network models, and made possible by weak oversight.
And the lesson for Bangladesh: our own large procurement projects also rely on middlemen. Vetting contractors, disclosing who really owns a company, and checking where goods come from is not just paperwork. It is crime prevention.
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19088"/>
            <a:ext cx="8229600" cy="201168"/>
          </a:xfrm>
          <a:prstGeom prst="rect">
            <a:avLst/>
          </a:prstGeom>
          <a:noFill/>
          <a:ln/>
        </p:spPr>
        <p:txBody>
          <a:bodyPr wrap="square" lIns="0" tIns="0" rIns="0" bIns="0" rtlCol="0" anchor="ctr"/>
          <a:lstStyle/>
          <a:p>
            <a:pPr indent="0" marL="0">
              <a:buNone/>
            </a:pPr>
            <a:r>
              <a:rPr lang="en-US" sz="900" b="1" spc="100" kern="0" dirty="0">
                <a:solidFill>
                  <a:srgbClr val="9A968E"/>
                </a:solidFill>
              </a:rPr>
              <a:t>MCCJ 527  ·  GROUP 6  ·  FOLLOW THE BULLET: WAR DOGS (2016)</a:t>
            </a:r>
            <a:endParaRPr lang="en-US" sz="9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968E"/>
                </a:solidFill>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968E"/>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route map" descr="Route of the ammunition from Albania to Afghanistan, and of the money back to Miami">    </p:cNvPr>
          <p:cNvPicPr>
            <a:picLocks noChangeAspect="1"/>
          </p:cNvPicPr>
          <p:nvPr/>
        </p:nvPicPr>
        <p:blipFill>
          <a:blip r:embed="rId1"/>
          <a:stretch>
            <a:fillRect/>
          </a:stretch>
        </p:blipFill>
        <p:spPr>
          <a:xfrm>
            <a:off x="6035040" y="2514600"/>
            <a:ext cx="5852160" cy="3062177"/>
          </a:xfrm>
          <a:prstGeom prst="rect">
            <a:avLst/>
          </a:prstGeom>
        </p:spPr>
      </p:pic>
      <p:sp>
        <p:nvSpPr>
          <p:cNvPr id="3" name="Text 0"/>
          <p:cNvSpPr txBox="1"/>
          <p:nvPr/>
        </p:nvSpPr>
        <p:spPr>
          <a:xfrm>
            <a:off x="548640" y="914400"/>
            <a:ext cx="7315200" cy="274320"/>
          </a:xfrm>
          <a:prstGeom prst="rect">
            <a:avLst/>
          </a:prstGeom>
          <a:noFill/>
          <a:ln/>
        </p:spPr>
        <p:txBody>
          <a:bodyPr wrap="square" lIns="0" tIns="0" rIns="0" bIns="0" rtlCol="0" anchor="ctr"/>
          <a:lstStyle/>
          <a:p>
            <a:pPr indent="0" marL="0">
              <a:buNone/>
            </a:pPr>
            <a:r>
              <a:rPr lang="en-US" sz="1200" b="1" spc="300" kern="0" dirty="0">
                <a:solidFill>
                  <a:srgbClr val="D9A441"/>
                </a:solidFill>
              </a:rPr>
              <a:t>MCCJ 527  ·  ORGANIZED CRIME AND CORRUPTION</a:t>
            </a:r>
            <a:endParaRPr lang="en-US" sz="1200" dirty="0"/>
          </a:p>
        </p:txBody>
      </p:sp>
      <p:sp>
        <p:nvSpPr>
          <p:cNvPr id="4" name="Text 1"/>
          <p:cNvSpPr txBox="1"/>
          <p:nvPr/>
        </p:nvSpPr>
        <p:spPr>
          <a:xfrm>
            <a:off x="548640" y="1325880"/>
            <a:ext cx="6858000" cy="1097280"/>
          </a:xfrm>
          <a:prstGeom prst="rect">
            <a:avLst/>
          </a:prstGeom>
          <a:noFill/>
          <a:ln/>
        </p:spPr>
        <p:txBody>
          <a:bodyPr wrap="square" lIns="0" tIns="0" rIns="0" bIns="0" rtlCol="0" anchor="ctr"/>
          <a:lstStyle/>
          <a:p>
            <a:pPr indent="0" marL="0">
              <a:buNone/>
            </a:pPr>
            <a:r>
              <a:rPr lang="en-US" sz="5800" b="1" dirty="0">
                <a:solidFill>
                  <a:schemeClr val="bg1"/>
                </a:solidFill>
                <a:latin typeface="Cambria" pitchFamily="34" charset="0"/>
                <a:ea typeface="Cambria" pitchFamily="34" charset="-122"/>
                <a:cs typeface="Cambria" pitchFamily="34" charset="-120"/>
              </a:rPr>
              <a:t>Follow the Bullet</a:t>
            </a:r>
            <a:endParaRPr lang="en-US" sz="5800" dirty="0"/>
          </a:p>
        </p:txBody>
      </p:sp>
      <p:sp>
        <p:nvSpPr>
          <p:cNvPr id="5" name="Text 2"/>
          <p:cNvSpPr txBox="1"/>
          <p:nvPr/>
        </p:nvSpPr>
        <p:spPr>
          <a:xfrm>
            <a:off x="548640" y="2423160"/>
            <a:ext cx="5303520" cy="822960"/>
          </a:xfrm>
          <a:prstGeom prst="rect">
            <a:avLst/>
          </a:prstGeom>
          <a:noFill/>
          <a:ln/>
        </p:spPr>
        <p:txBody>
          <a:bodyPr wrap="square" lIns="0" tIns="0" rIns="0" bIns="0" rtlCol="0" anchor="t"/>
          <a:lstStyle/>
          <a:p>
            <a:pPr indent="0" marL="0">
              <a:buNone/>
            </a:pPr>
            <a:r>
              <a:rPr lang="en-US" sz="2000" i="1" dirty="0">
                <a:solidFill>
                  <a:srgbClr val="E6DFD3"/>
                </a:solidFill>
              </a:rPr>
              <a:t>War Dogs (2016) and the grey arms trade, one stop at a time</a:t>
            </a:r>
            <a:endParaRPr lang="en-US" sz="2000" dirty="0"/>
          </a:p>
        </p:txBody>
      </p:sp>
      <p:sp>
        <p:nvSpPr>
          <p:cNvPr id="6" name="Text 3"/>
          <p:cNvSpPr txBox="1"/>
          <p:nvPr/>
        </p:nvSpPr>
        <p:spPr>
          <a:xfrm>
            <a:off x="548640" y="3383280"/>
            <a:ext cx="4572000" cy="320040"/>
          </a:xfrm>
          <a:prstGeom prst="rect">
            <a:avLst/>
          </a:prstGeom>
          <a:noFill/>
          <a:ln/>
        </p:spPr>
        <p:txBody>
          <a:bodyPr wrap="square" lIns="0" tIns="0" rIns="0" bIns="0" rtlCol="0" anchor="ctr"/>
          <a:lstStyle/>
          <a:p>
            <a:pPr indent="0" marL="0">
              <a:buNone/>
            </a:pPr>
            <a:r>
              <a:rPr lang="en-US" sz="1400" b="1" dirty="0">
                <a:solidFill>
                  <a:srgbClr val="C26A2E"/>
                </a:solidFill>
              </a:rPr>
              <a:t>━━  </a:t>
            </a:r>
            <a:pPr indent="0" marL="0">
              <a:buNone/>
            </a:pPr>
            <a:r>
              <a:rPr lang="en-US" sz="1400" dirty="0">
                <a:solidFill>
                  <a:srgbClr val="E6DFD3"/>
                </a:solidFill>
              </a:rPr>
              <a:t>the bullet    </a:t>
            </a:r>
            <a:pPr indent="0" marL="0">
              <a:buNone/>
            </a:pPr>
            <a:r>
              <a:rPr lang="en-US" sz="1400" b="1" dirty="0">
                <a:solidFill>
                  <a:srgbClr val="4FB3C4"/>
                </a:solidFill>
              </a:rPr>
              <a:t>┅┅  </a:t>
            </a:r>
            <a:pPr indent="0" marL="0">
              <a:buNone/>
            </a:pPr>
            <a:r>
              <a:rPr lang="en-US" sz="1400" dirty="0">
                <a:solidFill>
                  <a:srgbClr val="E6DFD3"/>
                </a:solidFill>
              </a:rPr>
              <a:t>the money</a:t>
            </a:r>
            <a:endParaRPr lang="en-US" sz="1400" dirty="0"/>
          </a:p>
        </p:txBody>
      </p:sp>
      <p:sp>
        <p:nvSpPr>
          <p:cNvPr id="7" name="Text 4"/>
          <p:cNvSpPr txBox="1"/>
          <p:nvPr/>
        </p:nvSpPr>
        <p:spPr>
          <a:xfrm>
            <a:off x="548640" y="5029200"/>
            <a:ext cx="7315200" cy="1005840"/>
          </a:xfrm>
          <a:prstGeom prst="rect">
            <a:avLst/>
          </a:prstGeom>
          <a:noFill/>
          <a:ln/>
        </p:spPr>
        <p:txBody>
          <a:bodyPr wrap="square" lIns="0" tIns="0" rIns="0" bIns="0" rtlCol="0" anchor="t"/>
          <a:lstStyle/>
          <a:p>
            <a:pPr indent="0" marL="0">
              <a:spcAft>
                <a:spcPts val="400"/>
              </a:spcAft>
              <a:buNone/>
            </a:pPr>
            <a:r>
              <a:rPr lang="en-US" sz="1200" b="1" spc="300" kern="0" dirty="0">
                <a:solidFill>
                  <a:srgbClr val="D9A441"/>
                </a:solidFill>
              </a:rPr>
              <a:t>GROUP 6</a:t>
            </a:r>
            <a:endParaRPr lang="en-US" sz="1200" dirty="0"/>
          </a:p>
          <a:p>
            <a:pPr indent="0" marL="0">
              <a:spcAft>
                <a:spcPts val="400"/>
              </a:spcAft>
              <a:buNone/>
            </a:pPr>
            <a:r>
              <a:rPr lang="en-US" sz="1500" dirty="0">
                <a:solidFill>
                  <a:schemeClr val="bg1"/>
                </a:solidFill>
              </a:rPr>
              <a:t>Roll 27  ·  Roll 8  ·  Roll 37  ·  Roll 33  ·  Roll 24  ·  Roll 21</a:t>
            </a:r>
            <a:endParaRPr lang="en-US" sz="1200" dirty="0"/>
          </a:p>
          <a:p>
            <a:pPr indent="0" marL="0">
              <a:spcAft>
                <a:spcPts val="400"/>
              </a:spcAft>
              <a:buNone/>
            </a:pPr>
            <a:r>
              <a:rPr lang="en-US" sz="1300" dirty="0">
                <a:solidFill>
                  <a:srgbClr val="B9B3A8"/>
                </a:solidFill>
              </a:rPr>
              <a:t>Department of Criminology, University of Dhaka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92608"/>
            <a:ext cx="7315200" cy="274320"/>
          </a:xfrm>
          <a:prstGeom prst="rect">
            <a:avLst/>
          </a:prstGeom>
          <a:noFill/>
          <a:ln/>
        </p:spPr>
        <p:txBody>
          <a:bodyPr wrap="square" lIns="0" tIns="0" rIns="0" bIns="0" rtlCol="0" anchor="ctr"/>
          <a:lstStyle/>
          <a:p>
            <a:pPr indent="0" marL="0">
              <a:buNone/>
            </a:pPr>
            <a:r>
              <a:rPr lang="en-US" sz="1200" b="1" spc="200" kern="0" dirty="0">
                <a:solidFill>
                  <a:srgbClr val="C26A2E"/>
                </a:solidFill>
              </a:rPr>
              <a:t>ROUTE OVERVIEW  ·  BEFORE WE DEPART</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2800" b="1" dirty="0">
                <a:solidFill>
                  <a:schemeClr val="tx1"/>
                </a:solidFill>
              </a:rPr>
              <a:t>Five countries, two young men, one $298M contract</a:t>
            </a:r>
            <a:endParaRPr lang="en-US" sz="2800" dirty="0"/>
          </a:p>
        </p:txBody>
      </p:sp>
      <p:sp>
        <p:nvSpPr>
          <p:cNvPr id="4" name="map frame"/>
          <p:cNvSpPr/>
          <p:nvPr/>
        </p:nvSpPr>
        <p:spPr>
          <a:xfrm>
            <a:off x="548640" y="1463040"/>
            <a:ext cx="7589520" cy="3971260"/>
          </a:xfrm>
          <a:prstGeom prst="rect">
            <a:avLst/>
          </a:prstGeom>
          <a:solidFill>
            <a:srgbClr val="FFFFFF"/>
          </a:solidFill>
          <a:ln w="12700">
            <a:solidFill>
              <a:srgbClr val="D8D3CA"/>
            </a:solidFill>
            <a:prstDash val="solid"/>
          </a:ln>
        </p:spPr>
      </p:sp>
      <p:pic>
        <p:nvPicPr>
          <p:cNvPr id="5" name="route map" descr="Route map: Miami, Jordan and Iraq, Las Vegas, Albania, Kabul, and back to Miami">    </p:cNvPr>
          <p:cNvPicPr>
            <a:picLocks noChangeAspect="1"/>
          </p:cNvPicPr>
          <p:nvPr/>
        </p:nvPicPr>
        <p:blipFill>
          <a:blip r:embed="rId1"/>
          <a:stretch>
            <a:fillRect/>
          </a:stretch>
        </p:blipFill>
        <p:spPr>
          <a:xfrm>
            <a:off x="548640" y="1463040"/>
            <a:ext cx="7589520" cy="3971260"/>
          </a:xfrm>
          <a:prstGeom prst="rect">
            <a:avLst/>
          </a:prstGeom>
        </p:spPr>
      </p:pic>
      <p:sp>
        <p:nvSpPr>
          <p:cNvPr id="6" name="label miami"/>
          <p:cNvSpPr txBox="1"/>
          <p:nvPr/>
        </p:nvSpPr>
        <p:spPr>
          <a:xfrm>
            <a:off x="2280024" y="4362456"/>
            <a:ext cx="1554480" cy="256032"/>
          </a:xfrm>
          <a:prstGeom prst="rect">
            <a:avLst/>
          </a:prstGeom>
          <a:noFill/>
          <a:ln/>
        </p:spPr>
        <p:txBody>
          <a:bodyPr wrap="square" lIns="0" tIns="0" rIns="0" bIns="0" rtlCol="0" anchor="ctr"/>
          <a:lstStyle/>
          <a:p>
            <a:pPr indent="0" marL="0">
              <a:buNone/>
            </a:pPr>
            <a:r>
              <a:rPr lang="en-US" sz="1200" b="1" dirty="0">
                <a:solidFill>
                  <a:srgbClr val="1F2A44"/>
                </a:solidFill>
              </a:rPr>
              <a:t>1 Miami  ·  7 Court</a:t>
            </a:r>
            <a:endParaRPr lang="en-US" sz="1200" dirty="0"/>
          </a:p>
        </p:txBody>
      </p:sp>
      <p:sp>
        <p:nvSpPr>
          <p:cNvPr id="7" name="label iraq"/>
          <p:cNvSpPr txBox="1"/>
          <p:nvPr/>
        </p:nvSpPr>
        <p:spPr>
          <a:xfrm>
            <a:off x="6003189" y="3723108"/>
            <a:ext cx="1554480" cy="256032"/>
          </a:xfrm>
          <a:prstGeom prst="rect">
            <a:avLst/>
          </a:prstGeom>
          <a:noFill/>
          <a:ln/>
        </p:spPr>
        <p:txBody>
          <a:bodyPr wrap="square" lIns="0" tIns="0" rIns="0" bIns="0" rtlCol="0" anchor="ctr"/>
          <a:lstStyle/>
          <a:p>
            <a:pPr indent="0" marL="0">
              <a:buNone/>
            </a:pPr>
            <a:r>
              <a:rPr lang="en-US" sz="1200" b="1" dirty="0">
                <a:solidFill>
                  <a:srgbClr val="1F2A44"/>
                </a:solidFill>
              </a:rPr>
              <a:t>2 Jordan → Iraq</a:t>
            </a:r>
            <a:endParaRPr lang="en-US" sz="1200" dirty="0"/>
          </a:p>
        </p:txBody>
      </p:sp>
      <p:sp>
        <p:nvSpPr>
          <p:cNvPr id="8" name="label vegas"/>
          <p:cNvSpPr txBox="1"/>
          <p:nvPr/>
        </p:nvSpPr>
        <p:spPr>
          <a:xfrm>
            <a:off x="974817" y="3342675"/>
            <a:ext cx="1554480" cy="256032"/>
          </a:xfrm>
          <a:prstGeom prst="rect">
            <a:avLst/>
          </a:prstGeom>
          <a:noFill/>
          <a:ln/>
        </p:spPr>
        <p:txBody>
          <a:bodyPr wrap="square" lIns="0" tIns="0" rIns="0" bIns="0" rtlCol="0" anchor="ctr"/>
          <a:lstStyle/>
          <a:p>
            <a:pPr indent="0" marL="0">
              <a:buNone/>
            </a:pPr>
            <a:r>
              <a:rPr lang="en-US" sz="1200" b="1" dirty="0">
                <a:solidFill>
                  <a:srgbClr val="1F2A44"/>
                </a:solidFill>
              </a:rPr>
              <a:t>3 Las Vegas</a:t>
            </a:r>
            <a:endParaRPr lang="en-US" sz="1200" dirty="0"/>
          </a:p>
        </p:txBody>
      </p:sp>
      <p:sp>
        <p:nvSpPr>
          <p:cNvPr id="9" name="label tirana"/>
          <p:cNvSpPr txBox="1"/>
          <p:nvPr/>
        </p:nvSpPr>
        <p:spPr>
          <a:xfrm>
            <a:off x="5346385" y="2348815"/>
            <a:ext cx="1554480" cy="256032"/>
          </a:xfrm>
          <a:prstGeom prst="rect">
            <a:avLst/>
          </a:prstGeom>
          <a:noFill/>
          <a:ln/>
        </p:spPr>
        <p:txBody>
          <a:bodyPr wrap="square" lIns="0" tIns="0" rIns="0" bIns="0" rtlCol="0" anchor="ctr"/>
          <a:lstStyle/>
          <a:p>
            <a:pPr indent="0" marL="0">
              <a:buNone/>
            </a:pPr>
            <a:r>
              <a:rPr lang="en-US" sz="1200" b="1" dirty="0">
                <a:solidFill>
                  <a:srgbClr val="1F2A44"/>
                </a:solidFill>
              </a:rPr>
              <a:t>4–5 Albania</a:t>
            </a:r>
            <a:endParaRPr lang="en-US" sz="1200" dirty="0"/>
          </a:p>
        </p:txBody>
      </p:sp>
      <p:sp>
        <p:nvSpPr>
          <p:cNvPr id="10" name="label kabul"/>
          <p:cNvSpPr txBox="1"/>
          <p:nvPr/>
        </p:nvSpPr>
        <p:spPr>
          <a:xfrm>
            <a:off x="7155879" y="3536802"/>
            <a:ext cx="1554480" cy="256032"/>
          </a:xfrm>
          <a:prstGeom prst="rect">
            <a:avLst/>
          </a:prstGeom>
          <a:noFill/>
          <a:ln/>
        </p:spPr>
        <p:txBody>
          <a:bodyPr wrap="square" lIns="0" tIns="0" rIns="0" bIns="0" rtlCol="0" anchor="ctr"/>
          <a:lstStyle/>
          <a:p>
            <a:pPr indent="0" marL="0">
              <a:buNone/>
            </a:pPr>
            <a:r>
              <a:rPr lang="en-US" sz="1200" b="1" dirty="0">
                <a:solidFill>
                  <a:srgbClr val="1F2A44"/>
                </a:solidFill>
              </a:rPr>
              <a:t>6 Kabul</a:t>
            </a:r>
            <a:endParaRPr lang="en-US" sz="1200" dirty="0"/>
          </a:p>
        </p:txBody>
      </p:sp>
      <p:sp>
        <p:nvSpPr>
          <p:cNvPr id="11" name="film facts"/>
          <p:cNvSpPr/>
          <p:nvPr/>
        </p:nvSpPr>
        <p:spPr>
          <a:xfrm>
            <a:off x="8412480" y="1463040"/>
            <a:ext cx="3230575" cy="3971260"/>
          </a:xfrm>
          <a:prstGeom prst="rect">
            <a:avLst/>
          </a:prstGeom>
          <a:solidFill>
            <a:srgbClr val="17203A"/>
          </a:solidFill>
          <a:ln w="12700">
            <a:solidFill>
              <a:srgbClr val="17203A"/>
            </a:solidFill>
            <a:prstDash val="solid"/>
          </a:ln>
        </p:spPr>
      </p:sp>
      <p:sp>
        <p:nvSpPr>
          <p:cNvPr id="12" name="Text 9"/>
          <p:cNvSpPr txBox="1"/>
          <p:nvPr/>
        </p:nvSpPr>
        <p:spPr>
          <a:xfrm>
            <a:off x="8641080" y="1645920"/>
            <a:ext cx="2773375" cy="3605500"/>
          </a:xfrm>
          <a:prstGeom prst="rect">
            <a:avLst/>
          </a:prstGeom>
          <a:noFill/>
          <a:ln/>
        </p:spPr>
        <p:txBody>
          <a:bodyPr wrap="square" lIns="0" tIns="0" rIns="0" bIns="0" rtlCol="0" anchor="t"/>
          <a:lstStyle/>
          <a:p>
            <a:pPr indent="0" marL="0">
              <a:buNone/>
            </a:pPr>
            <a:r>
              <a:rPr lang="en-US" sz="1100" b="1" spc="200" kern="0" dirty="0">
                <a:solidFill>
                  <a:srgbClr val="D9A441"/>
                </a:solidFill>
              </a:rPr>
              <a:t>THE FILM</a:t>
            </a:r>
            <a:endParaRPr lang="en-US" sz="1100" dirty="0"/>
          </a:p>
          <a:p>
            <a:pPr indent="0" marL="0">
              <a:buNone/>
            </a:pPr>
            <a:r>
              <a:rPr lang="en-US" sz="1800" b="1" dirty="0">
                <a:solidFill>
                  <a:schemeClr val="bg1"/>
                </a:solidFill>
                <a:latin typeface="Cambria" pitchFamily="34" charset="0"/>
                <a:ea typeface="Cambria" pitchFamily="34" charset="-122"/>
                <a:cs typeface="Cambria" pitchFamily="34" charset="-120"/>
              </a:rPr>
              <a:t>War Dogs (2016)</a:t>
            </a:r>
            <a:endParaRPr lang="en-US" sz="1100" dirty="0"/>
          </a:p>
          <a:p>
            <a:pPr indent="0" marL="0">
              <a:buNone/>
            </a:pPr>
            <a:r>
              <a:rPr lang="en-US" sz="1300" dirty="0">
                <a:solidFill>
                  <a:srgbClr val="E6DFD3"/>
                </a:solidFill>
              </a:rPr>
              <a:t>Dir. Todd Phillips · Warner Bros.</a:t>
            </a:r>
            <a:endParaRPr lang="en-US" sz="1100" dirty="0"/>
          </a:p>
          <a:p>
            <a:pPr indent="0" marL="0">
              <a:buNone/>
            </a:pPr>
            <a:r>
              <a:rPr lang="en-US" sz="600" dirty="0">
                <a:solidFill>
                  <a:srgbClr val="000000"/>
                </a:solidFill>
              </a:rPr>
              <a:t> </a:t>
            </a:r>
            <a:endParaRPr lang="en-US" sz="1100" dirty="0"/>
          </a:p>
          <a:p>
            <a:pPr indent="0" marL="0">
              <a:buNone/>
            </a:pPr>
            <a:r>
              <a:rPr lang="en-US" sz="1100" b="1" spc="200" kern="0" dirty="0">
                <a:solidFill>
                  <a:srgbClr val="D9A441"/>
                </a:solidFill>
              </a:rPr>
              <a:t>CAST</a:t>
            </a:r>
            <a:endParaRPr lang="en-US" sz="1100" dirty="0"/>
          </a:p>
          <a:p>
            <a:pPr indent="0" marL="0">
              <a:buNone/>
            </a:pPr>
            <a:r>
              <a:rPr lang="en-US" sz="1300" dirty="0">
                <a:solidFill>
                  <a:srgbClr val="E6DFD3"/>
                </a:solidFill>
              </a:rPr>
              <a:t>Jonah Hill (Efraim), Miles Teller (David), Ana de Armas, Bradley Cooper</a:t>
            </a:r>
            <a:endParaRPr lang="en-US" sz="1100" dirty="0"/>
          </a:p>
          <a:p>
            <a:pPr indent="0" marL="0">
              <a:buNone/>
            </a:pPr>
            <a:r>
              <a:rPr lang="en-US" sz="600" dirty="0">
                <a:solidFill>
                  <a:srgbClr val="000000"/>
                </a:solidFill>
              </a:rPr>
              <a:t> </a:t>
            </a:r>
            <a:endParaRPr lang="en-US" sz="1100" dirty="0"/>
          </a:p>
          <a:p>
            <a:pPr indent="0" marL="0">
              <a:buNone/>
            </a:pPr>
            <a:r>
              <a:rPr lang="en-US" sz="1100" b="1" spc="200" kern="0" dirty="0">
                <a:solidFill>
                  <a:srgbClr val="D9A441"/>
                </a:solidFill>
              </a:rPr>
              <a:t>GENRE · SOURCE</a:t>
            </a:r>
            <a:endParaRPr lang="en-US" sz="1100" dirty="0"/>
          </a:p>
          <a:p>
            <a:pPr indent="0" marL="0">
              <a:buNone/>
            </a:pPr>
            <a:r>
              <a:rPr lang="en-US" sz="1300" dirty="0">
                <a:solidFill>
                  <a:srgbClr val="E6DFD3"/>
                </a:solidFill>
              </a:rPr>
              <a:t>Crime comedy-drama based on Guy Lawson’s reporting (2011, 2015)</a:t>
            </a:r>
            <a:endParaRPr lang="en-US" sz="1100" dirty="0"/>
          </a:p>
          <a:p>
            <a:pPr indent="0" marL="0">
              <a:buNone/>
            </a:pPr>
            <a:r>
              <a:rPr lang="en-US" sz="600" dirty="0">
                <a:solidFill>
                  <a:srgbClr val="000000"/>
                </a:solidFill>
              </a:rPr>
              <a:t> </a:t>
            </a:r>
            <a:endParaRPr lang="en-US" sz="1100" dirty="0"/>
          </a:p>
          <a:p>
            <a:pPr indent="0" marL="0">
              <a:buNone/>
            </a:pPr>
            <a:r>
              <a:rPr lang="en-US" sz="1100" b="1" spc="200" kern="0" dirty="0">
                <a:solidFill>
                  <a:srgbClr val="D9A441"/>
                </a:solidFill>
              </a:rPr>
              <a:t>THEME</a:t>
            </a:r>
            <a:endParaRPr lang="en-US" sz="1100" dirty="0"/>
          </a:p>
          <a:p>
            <a:pPr indent="0" marL="0">
              <a:buNone/>
            </a:pPr>
            <a:r>
              <a:rPr lang="en-US" sz="1300" dirty="0">
                <a:solidFill>
                  <a:srgbClr val="E6DFD3"/>
                </a:solidFill>
              </a:rPr>
              <a:t>Profiting from war without fighting it</a:t>
            </a:r>
            <a:endParaRPr lang="en-US" sz="1100" dirty="0"/>
          </a:p>
        </p:txBody>
      </p:sp>
      <p:sp>
        <p:nvSpPr>
          <p:cNvPr id="13" name="Text 10"/>
          <p:cNvSpPr txBox="1"/>
          <p:nvPr/>
        </p:nvSpPr>
        <p:spPr>
          <a:xfrm>
            <a:off x="548640" y="5544028"/>
            <a:ext cx="11094415" cy="256032"/>
          </a:xfrm>
          <a:prstGeom prst="rect">
            <a:avLst/>
          </a:prstGeom>
          <a:noFill/>
          <a:ln/>
        </p:spPr>
        <p:txBody>
          <a:bodyPr wrap="square" lIns="0" tIns="0" rIns="0" bIns="0" rtlCol="0" anchor="ctr"/>
          <a:lstStyle/>
          <a:p>
            <a:pPr indent="0" marL="0">
              <a:buNone/>
            </a:pPr>
            <a:r>
              <a:rPr lang="en-US" sz="1100" i="1" dirty="0">
                <a:solidFill>
                  <a:srgbClr val="5F6675"/>
                </a:solidFill>
              </a:rPr>
              <a:t>Copper line: the bullet’s journey. Dashed teal line: the money returning to Miami. Map is schematic.</a:t>
            </a:r>
            <a:endParaRPr lang="en-US" sz="11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968E"/>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racker line"/>
          <p:cNvSpPr/>
          <p:nvPr/>
        </p:nvSpPr>
        <p:spPr>
          <a:xfrm>
            <a:off x="548640" y="384048"/>
            <a:ext cx="6949440" cy="0"/>
          </a:xfrm>
          <a:prstGeom prst="line">
            <a:avLst/>
          </a:prstGeom>
          <a:noFill/>
          <a:ln w="25400">
            <a:solidFill>
              <a:srgbClr val="D8D3CA"/>
            </a:solidFill>
            <a:prstDash val="solid"/>
          </a:ln>
        </p:spPr>
      </p:sp>
      <p:sp>
        <p:nvSpPr>
          <p:cNvPr id="3" name="stop 1"/>
          <p:cNvSpPr/>
          <p:nvPr/>
        </p:nvSpPr>
        <p:spPr>
          <a:xfrm>
            <a:off x="429768" y="265176"/>
            <a:ext cx="237744" cy="237744"/>
          </a:xfrm>
          <a:prstGeom prst="ellipse">
            <a:avLst/>
          </a:prstGeom>
          <a:solidFill>
            <a:srgbClr val="C26A2E"/>
          </a:solidFill>
          <a:ln w="19050">
            <a:solidFill>
              <a:srgbClr val="C26A2E"/>
            </a:solidFill>
            <a:prstDash val="solid"/>
          </a:ln>
        </p:spPr>
      </p:sp>
      <p:sp>
        <p:nvSpPr>
          <p:cNvPr id="4" name="stop 2"/>
          <p:cNvSpPr/>
          <p:nvPr/>
        </p:nvSpPr>
        <p:spPr>
          <a:xfrm>
            <a:off x="1633728" y="310896"/>
            <a:ext cx="146304" cy="146304"/>
          </a:xfrm>
          <a:prstGeom prst="ellipse">
            <a:avLst/>
          </a:prstGeom>
          <a:solidFill>
            <a:srgbClr val="FFFFFF"/>
          </a:solidFill>
          <a:ln w="19050">
            <a:solidFill>
              <a:srgbClr val="B9B3A8"/>
            </a:solidFill>
            <a:prstDash val="solid"/>
          </a:ln>
        </p:spPr>
      </p:sp>
      <p:sp>
        <p:nvSpPr>
          <p:cNvPr id="5" name="stop 3"/>
          <p:cNvSpPr/>
          <p:nvPr/>
        </p:nvSpPr>
        <p:spPr>
          <a:xfrm>
            <a:off x="2791968" y="310896"/>
            <a:ext cx="146304" cy="146304"/>
          </a:xfrm>
          <a:prstGeom prst="ellipse">
            <a:avLst/>
          </a:prstGeom>
          <a:solidFill>
            <a:srgbClr val="FFFFFF"/>
          </a:solidFill>
          <a:ln w="19050">
            <a:solidFill>
              <a:srgbClr val="B9B3A8"/>
            </a:solidFill>
            <a:prstDash val="solid"/>
          </a:ln>
        </p:spPr>
      </p:sp>
      <p:sp>
        <p:nvSpPr>
          <p:cNvPr id="6" name="stop 4"/>
          <p:cNvSpPr/>
          <p:nvPr/>
        </p:nvSpPr>
        <p:spPr>
          <a:xfrm>
            <a:off x="3950208" y="310896"/>
            <a:ext cx="146304" cy="146304"/>
          </a:xfrm>
          <a:prstGeom prst="ellipse">
            <a:avLst/>
          </a:prstGeom>
          <a:solidFill>
            <a:srgbClr val="FFFFFF"/>
          </a:solidFill>
          <a:ln w="19050">
            <a:solidFill>
              <a:srgbClr val="B9B3A8"/>
            </a:solidFill>
            <a:prstDash val="solid"/>
          </a:ln>
        </p:spPr>
      </p:sp>
      <p:sp>
        <p:nvSpPr>
          <p:cNvPr id="7" name="stop 5"/>
          <p:cNvSpPr/>
          <p:nvPr/>
        </p:nvSpPr>
        <p:spPr>
          <a:xfrm>
            <a:off x="5108448" y="310896"/>
            <a:ext cx="146304" cy="146304"/>
          </a:xfrm>
          <a:prstGeom prst="ellipse">
            <a:avLst/>
          </a:prstGeom>
          <a:solidFill>
            <a:srgbClr val="FFFFFF"/>
          </a:solidFill>
          <a:ln w="19050">
            <a:solidFill>
              <a:srgbClr val="B9B3A8"/>
            </a:solidFill>
            <a:prstDash val="solid"/>
          </a:ln>
        </p:spPr>
      </p:sp>
      <p:sp>
        <p:nvSpPr>
          <p:cNvPr id="8" name="stop 6"/>
          <p:cNvSpPr/>
          <p:nvPr/>
        </p:nvSpPr>
        <p:spPr>
          <a:xfrm>
            <a:off x="6266688" y="310896"/>
            <a:ext cx="146304" cy="146304"/>
          </a:xfrm>
          <a:prstGeom prst="ellipse">
            <a:avLst/>
          </a:prstGeom>
          <a:solidFill>
            <a:srgbClr val="FFFFFF"/>
          </a:solidFill>
          <a:ln w="19050">
            <a:solidFill>
              <a:srgbClr val="B9B3A8"/>
            </a:solidFill>
            <a:prstDash val="solid"/>
          </a:ln>
        </p:spPr>
      </p:sp>
      <p:sp>
        <p:nvSpPr>
          <p:cNvPr id="9" name="stop 7"/>
          <p:cNvSpPr/>
          <p:nvPr/>
        </p:nvSpPr>
        <p:spPr>
          <a:xfrm>
            <a:off x="7424928" y="310896"/>
            <a:ext cx="146304" cy="146304"/>
          </a:xfrm>
          <a:prstGeom prst="ellipse">
            <a:avLst/>
          </a:prstGeom>
          <a:solidFill>
            <a:srgbClr val="FFFFFF"/>
          </a:solidFill>
          <a:ln w="19050">
            <a:solidFill>
              <a:srgbClr val="B9B3A8"/>
            </a:solidFill>
            <a:prstDash val="solid"/>
          </a:ln>
        </p:spPr>
      </p:sp>
      <p:sp>
        <p:nvSpPr>
          <p:cNvPr id="10" name="Text 8"/>
          <p:cNvSpPr txBox="1"/>
          <p:nvPr/>
        </p:nvSpPr>
        <p:spPr>
          <a:xfrm>
            <a:off x="7772400" y="237744"/>
            <a:ext cx="3840480" cy="292608"/>
          </a:xfrm>
          <a:prstGeom prst="rect">
            <a:avLst/>
          </a:prstGeom>
          <a:noFill/>
          <a:ln/>
        </p:spPr>
        <p:txBody>
          <a:bodyPr wrap="square" lIns="0" tIns="0" rIns="0" bIns="0" rtlCol="0" anchor="ctr"/>
          <a:lstStyle/>
          <a:p>
            <a:pPr indent="0" marL="0">
              <a:buNone/>
            </a:pPr>
            <a:r>
              <a:rPr lang="en-US" sz="1200" b="1" spc="200" kern="0" dirty="0">
                <a:solidFill>
                  <a:srgbClr val="C26A2E"/>
                </a:solidFill>
              </a:rPr>
              <a:t>STOP 1 OF 7  ·  MIAMI</a:t>
            </a:r>
            <a:endParaRPr lang="en-US" sz="1200" dirty="0"/>
          </a:p>
        </p:txBody>
      </p:sp>
      <p:sp>
        <p:nvSpPr>
          <p:cNvPr id="11" name="Text 0"/>
          <p:cNvSpPr/>
          <p:nvPr>
            <p:ph idx="100"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2800" b="1" dirty="0">
                <a:solidFill>
                  <a:schemeClr val="tx1"/>
                </a:solidFill>
              </a:rPr>
              <a:t>Stop 1: demand meets desperation in Miami</a:t>
            </a:r>
            <a:endParaRPr lang="en-US" sz="2800" dirty="0"/>
          </a:p>
        </p:txBody>
      </p:sp>
      <p:sp>
        <p:nvSpPr>
          <p:cNvPr id="12" name="location circle"/>
          <p:cNvSpPr/>
          <p:nvPr/>
        </p:nvSpPr>
        <p:spPr>
          <a:xfrm>
            <a:off x="548640" y="1600200"/>
            <a:ext cx="502920" cy="502920"/>
          </a:xfrm>
          <a:prstGeom prst="ellipse">
            <a:avLst/>
          </a:prstGeom>
          <a:solidFill>
            <a:srgbClr val="C26A2E"/>
          </a:solidFill>
          <a:ln/>
        </p:spPr>
      </p:sp>
      <p:pic>
        <p:nvPicPr>
          <p:cNvPr id="13" name="location icon" descr="location">    </p:cNvPr>
          <p:cNvPicPr>
            <a:picLocks noChangeAspect="1"/>
          </p:cNvPicPr>
          <p:nvPr/>
        </p:nvPicPr>
        <p:blipFill>
          <a:blip r:embed="rId1"/>
          <a:stretch>
            <a:fillRect/>
          </a:stretch>
        </p:blipFill>
        <p:spPr>
          <a:xfrm>
            <a:off x="669341" y="1720901"/>
            <a:ext cx="261518" cy="261518"/>
          </a:xfrm>
          <a:prstGeom prst="rect">
            <a:avLst/>
          </a:prstGeom>
        </p:spPr>
      </p:pic>
      <p:sp>
        <p:nvSpPr>
          <p:cNvPr id="14" name="Text 11"/>
          <p:cNvSpPr txBox="1"/>
          <p:nvPr/>
        </p:nvSpPr>
        <p:spPr>
          <a:xfrm>
            <a:off x="1188720" y="1554480"/>
            <a:ext cx="4297680" cy="59436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Miami Beach, Florida</a:t>
            </a:r>
            <a:endParaRPr lang="en-US" sz="1800" dirty="0"/>
          </a:p>
          <a:p>
            <a:pPr indent="0" marL="0">
              <a:buNone/>
            </a:pPr>
            <a:r>
              <a:rPr lang="en-US" sz="1200" dirty="0">
                <a:solidFill>
                  <a:srgbClr val="5F6675"/>
                </a:solidFill>
              </a:rPr>
              <a:t>The starting point</a:t>
            </a:r>
            <a:endParaRPr lang="en-US" sz="1800" dirty="0"/>
          </a:p>
        </p:txBody>
      </p:sp>
      <p:sp>
        <p:nvSpPr>
          <p:cNvPr id="15" name="Text 12"/>
          <p:cNvSpPr txBox="1"/>
          <p:nvPr/>
        </p:nvSpPr>
        <p:spPr>
          <a:xfrm>
            <a:off x="548640" y="2377440"/>
            <a:ext cx="4754880" cy="256032"/>
          </a:xfrm>
          <a:prstGeom prst="rect">
            <a:avLst/>
          </a:prstGeom>
          <a:noFill/>
          <a:ln/>
        </p:spPr>
        <p:txBody>
          <a:bodyPr wrap="square" lIns="0" tIns="0" rIns="0" bIns="0" rtlCol="0" anchor="ctr"/>
          <a:lstStyle/>
          <a:p>
            <a:pPr indent="0" marL="0">
              <a:buNone/>
            </a:pPr>
            <a:r>
              <a:rPr lang="en-US" sz="1100" b="1" spc="200" kern="0" dirty="0">
                <a:solidFill>
                  <a:srgbClr val="5F6675"/>
                </a:solidFill>
              </a:rPr>
              <a:t>WHAT HAPPENS HERE</a:t>
            </a:r>
            <a:endParaRPr lang="en-US" sz="1100" dirty="0"/>
          </a:p>
        </p:txBody>
      </p:sp>
      <p:sp>
        <p:nvSpPr>
          <p:cNvPr id="16" name="Text 13"/>
          <p:cNvSpPr txBox="1"/>
          <p:nvPr/>
        </p:nvSpPr>
        <p:spPr>
          <a:xfrm>
            <a:off x="548640" y="2697480"/>
            <a:ext cx="4754880" cy="2331720"/>
          </a:xfrm>
          <a:prstGeom prst="rect">
            <a:avLst/>
          </a:prstGeom>
          <a:noFill/>
          <a:ln/>
        </p:spPr>
        <p:txBody>
          <a:bodyPr wrap="square" lIns="0" tIns="0" rIns="0" bIns="0" rtlCol="0" anchor="t"/>
          <a:lstStyle/>
          <a:p>
            <a:pPr indent="0" marL="0">
              <a:buNone/>
            </a:pPr>
            <a:r>
              <a:rPr lang="en-US" sz="1600" dirty="0">
                <a:solidFill>
                  <a:srgbClr val="1F2A44"/>
                </a:solidFill>
              </a:rPr>
              <a:t>David, a broke massage therapist with a baby on the way, reunites with childhood friend Efraim. Efraim’s company, AEY, bids online for the “crumbs” of Pentagon procurement: small contracts the big defence firms ignore.</a:t>
            </a:r>
            <a:endParaRPr lang="en-US" sz="1600" dirty="0"/>
          </a:p>
        </p:txBody>
      </p:sp>
      <p:sp>
        <p:nvSpPr>
          <p:cNvPr id="17" name="THE BULLET"/>
          <p:cNvSpPr/>
          <p:nvPr/>
        </p:nvSpPr>
        <p:spPr>
          <a:xfrm>
            <a:off x="548640" y="5166360"/>
            <a:ext cx="2377440" cy="777240"/>
          </a:xfrm>
          <a:prstGeom prst="rect">
            <a:avLst/>
          </a:prstGeom>
          <a:solidFill>
            <a:srgbClr val="FFFFFF"/>
          </a:solidFill>
          <a:ln w="12700">
            <a:solidFill>
              <a:srgbClr val="C26A2E"/>
            </a:solidFill>
            <a:prstDash val="solid"/>
          </a:ln>
        </p:spPr>
      </p:sp>
      <p:sp>
        <p:nvSpPr>
          <p:cNvPr id="18" name="THE BULLET circle"/>
          <p:cNvSpPr/>
          <p:nvPr/>
        </p:nvSpPr>
        <p:spPr>
          <a:xfrm>
            <a:off x="658368" y="5321808"/>
            <a:ext cx="457200" cy="457200"/>
          </a:xfrm>
          <a:prstGeom prst="ellipse">
            <a:avLst/>
          </a:prstGeom>
          <a:solidFill>
            <a:srgbClr val="C26A2E"/>
          </a:solidFill>
          <a:ln/>
        </p:spPr>
      </p:sp>
      <p:pic>
        <p:nvPicPr>
          <p:cNvPr id="19" name="THE BULLET icon" descr="THE BULLET">    </p:cNvPr>
          <p:cNvPicPr>
            <a:picLocks noChangeAspect="1"/>
          </p:cNvPicPr>
          <p:nvPr/>
        </p:nvPicPr>
        <p:blipFill>
          <a:blip r:embed="rId2"/>
          <a:stretch>
            <a:fillRect/>
          </a:stretch>
        </p:blipFill>
        <p:spPr>
          <a:xfrm>
            <a:off x="768096" y="5431536"/>
            <a:ext cx="237744" cy="237744"/>
          </a:xfrm>
          <a:prstGeom prst="rect">
            <a:avLst/>
          </a:prstGeom>
        </p:spPr>
      </p:pic>
      <p:sp>
        <p:nvSpPr>
          <p:cNvPr id="20" name="Text 16"/>
          <p:cNvSpPr txBox="1"/>
          <p:nvPr/>
        </p:nvSpPr>
        <p:spPr>
          <a:xfrm>
            <a:off x="1207008" y="5166360"/>
            <a:ext cx="1645920" cy="777240"/>
          </a:xfrm>
          <a:prstGeom prst="rect">
            <a:avLst/>
          </a:prstGeom>
          <a:noFill/>
          <a:ln/>
        </p:spPr>
        <p:txBody>
          <a:bodyPr wrap="square" lIns="0" tIns="0" rIns="0" bIns="0" rtlCol="0" anchor="ctr"/>
          <a:lstStyle/>
          <a:p>
            <a:pPr indent="0" marL="0">
              <a:buNone/>
            </a:pPr>
            <a:r>
              <a:rPr lang="en-US" sz="1000" b="1" spc="100" kern="0" dirty="0">
                <a:solidFill>
                  <a:srgbClr val="C26A2E"/>
                </a:solidFill>
              </a:rPr>
              <a:t>THE BULLET</a:t>
            </a:r>
            <a:endParaRPr lang="en-US" sz="1000" dirty="0"/>
          </a:p>
          <a:p>
            <a:pPr indent="0" marL="0">
              <a:buNone/>
            </a:pPr>
            <a:r>
              <a:rPr lang="en-US" sz="1200" dirty="0">
                <a:solidFill>
                  <a:srgbClr val="1F2A44"/>
                </a:solidFill>
              </a:rPr>
              <a:t>Not yet bought</a:t>
            </a:r>
            <a:endParaRPr lang="en-US" sz="1000" dirty="0"/>
          </a:p>
        </p:txBody>
      </p:sp>
      <p:sp>
        <p:nvSpPr>
          <p:cNvPr id="21" name="THE MONEY"/>
          <p:cNvSpPr/>
          <p:nvPr/>
        </p:nvSpPr>
        <p:spPr>
          <a:xfrm>
            <a:off x="3063240" y="5166360"/>
            <a:ext cx="2377440" cy="777240"/>
          </a:xfrm>
          <a:prstGeom prst="rect">
            <a:avLst/>
          </a:prstGeom>
          <a:solidFill>
            <a:srgbClr val="FFFFFF"/>
          </a:solidFill>
          <a:ln w="12700">
            <a:solidFill>
              <a:srgbClr val="1F7A8C"/>
            </a:solidFill>
            <a:prstDash val="solid"/>
          </a:ln>
        </p:spPr>
      </p:sp>
      <p:sp>
        <p:nvSpPr>
          <p:cNvPr id="22" name="THE MONEY circle"/>
          <p:cNvSpPr/>
          <p:nvPr/>
        </p:nvSpPr>
        <p:spPr>
          <a:xfrm>
            <a:off x="3172968" y="5321808"/>
            <a:ext cx="457200" cy="457200"/>
          </a:xfrm>
          <a:prstGeom prst="ellipse">
            <a:avLst/>
          </a:prstGeom>
          <a:solidFill>
            <a:srgbClr val="1F7A8C"/>
          </a:solidFill>
          <a:ln/>
        </p:spPr>
      </p:sp>
      <p:pic>
        <p:nvPicPr>
          <p:cNvPr id="23" name="THE MONEY icon" descr="THE MONEY">    </p:cNvPr>
          <p:cNvPicPr>
            <a:picLocks noChangeAspect="1"/>
          </p:cNvPicPr>
          <p:nvPr/>
        </p:nvPicPr>
        <p:blipFill>
          <a:blip r:embed="rId3"/>
          <a:stretch>
            <a:fillRect/>
          </a:stretch>
        </p:blipFill>
        <p:spPr>
          <a:xfrm>
            <a:off x="3282696" y="5431536"/>
            <a:ext cx="237744" cy="237744"/>
          </a:xfrm>
          <a:prstGeom prst="rect">
            <a:avLst/>
          </a:prstGeom>
        </p:spPr>
      </p:pic>
      <p:sp>
        <p:nvSpPr>
          <p:cNvPr id="24" name="Text 19"/>
          <p:cNvSpPr txBox="1"/>
          <p:nvPr/>
        </p:nvSpPr>
        <p:spPr>
          <a:xfrm>
            <a:off x="3721608" y="5166360"/>
            <a:ext cx="1645920" cy="777240"/>
          </a:xfrm>
          <a:prstGeom prst="rect">
            <a:avLst/>
          </a:prstGeom>
          <a:noFill/>
          <a:ln/>
        </p:spPr>
        <p:txBody>
          <a:bodyPr wrap="square" lIns="0" tIns="0" rIns="0" bIns="0" rtlCol="0" anchor="ctr"/>
          <a:lstStyle/>
          <a:p>
            <a:pPr indent="0" marL="0">
              <a:buNone/>
            </a:pPr>
            <a:r>
              <a:rPr lang="en-US" sz="1000" b="1" spc="100" kern="0" dirty="0">
                <a:solidFill>
                  <a:srgbClr val="1F7A8C"/>
                </a:solidFill>
              </a:rPr>
              <a:t>THE MONEY</a:t>
            </a:r>
            <a:endParaRPr lang="en-US" sz="1000" dirty="0"/>
          </a:p>
          <a:p>
            <a:pPr indent="0" marL="0">
              <a:buNone/>
            </a:pPr>
            <a:r>
              <a:rPr lang="en-US" sz="1200" dirty="0">
                <a:solidFill>
                  <a:srgbClr val="1F2A44"/>
                </a:solidFill>
              </a:rPr>
              <a:t>Pentagon posts tenders online</a:t>
            </a:r>
            <a:endParaRPr lang="en-US" sz="1000" dirty="0"/>
          </a:p>
        </p:txBody>
      </p:sp>
      <p:sp>
        <p:nvSpPr>
          <p:cNvPr id="25" name="Text 20"/>
          <p:cNvSpPr txBox="1"/>
          <p:nvPr/>
        </p:nvSpPr>
        <p:spPr>
          <a:xfrm>
            <a:off x="5760720" y="1600200"/>
            <a:ext cx="5882335" cy="256032"/>
          </a:xfrm>
          <a:prstGeom prst="rect">
            <a:avLst/>
          </a:prstGeom>
          <a:noFill/>
          <a:ln/>
        </p:spPr>
        <p:txBody>
          <a:bodyPr wrap="square" lIns="0" tIns="0" rIns="0" bIns="0" rtlCol="0" anchor="ctr"/>
          <a:lstStyle/>
          <a:p>
            <a:pPr indent="0" marL="0">
              <a:buNone/>
            </a:pPr>
            <a:r>
              <a:rPr lang="en-US" sz="1100" b="1" spc="200" kern="0" dirty="0">
                <a:solidFill>
                  <a:srgbClr val="1F7A8C"/>
                </a:solidFill>
              </a:rPr>
              <a:t>CRIMINOLOGY CHECKPOINT</a:t>
            </a:r>
            <a:endParaRPr lang="en-US" sz="1100" dirty="0"/>
          </a:p>
        </p:txBody>
      </p:sp>
      <p:sp>
        <p:nvSpPr>
          <p:cNvPr id="26" name="Strain and institutional anomie"/>
          <p:cNvSpPr/>
          <p:nvPr/>
        </p:nvSpPr>
        <p:spPr>
          <a:xfrm>
            <a:off x="5760720" y="1920240"/>
            <a:ext cx="5882335" cy="2011680"/>
          </a:xfrm>
          <a:prstGeom prst="rect">
            <a:avLst/>
          </a:prstGeom>
          <a:solidFill>
            <a:srgbClr val="FFFFFF"/>
          </a:solidFill>
          <a:ln w="12700">
            <a:solidFill>
              <a:srgbClr val="D8D3CA"/>
            </a:solidFill>
            <a:prstDash val="solid"/>
          </a:ln>
          <a:effectLst>
            <a:outerShdw sx="100000" sy="100000" kx="0" ky="0" algn="bl" rotWithShape="0" blurRad="76200" dist="25400" dir="5400000">
              <a:srgbClr val="000000">
                <a:alpha val="7000"/>
              </a:srgbClr>
            </a:outerShdw>
          </a:effectLst>
        </p:spPr>
      </p:sp>
      <p:sp>
        <p:nvSpPr>
          <p:cNvPr id="27" name="Strain and institutional anomie circle"/>
          <p:cNvSpPr/>
          <p:nvPr/>
        </p:nvSpPr>
        <p:spPr>
          <a:xfrm>
            <a:off x="5961888" y="2121408"/>
            <a:ext cx="457200" cy="457200"/>
          </a:xfrm>
          <a:prstGeom prst="ellipse">
            <a:avLst/>
          </a:prstGeom>
          <a:solidFill>
            <a:srgbClr val="1F7A8C"/>
          </a:solidFill>
          <a:ln/>
        </p:spPr>
      </p:sp>
      <p:pic>
        <p:nvPicPr>
          <p:cNvPr id="28" name="Strain and institutional anomie icon" descr="Strain and institutional anomie">    </p:cNvPr>
          <p:cNvPicPr>
            <a:picLocks noChangeAspect="1"/>
          </p:cNvPicPr>
          <p:nvPr/>
        </p:nvPicPr>
        <p:blipFill>
          <a:blip r:embed="rId4"/>
          <a:stretch>
            <a:fillRect/>
          </a:stretch>
        </p:blipFill>
        <p:spPr>
          <a:xfrm>
            <a:off x="6071616" y="2231136"/>
            <a:ext cx="237744" cy="237744"/>
          </a:xfrm>
          <a:prstGeom prst="rect">
            <a:avLst/>
          </a:prstGeom>
        </p:spPr>
      </p:pic>
      <p:sp>
        <p:nvSpPr>
          <p:cNvPr id="29" name="Text 23"/>
          <p:cNvSpPr txBox="1"/>
          <p:nvPr/>
        </p:nvSpPr>
        <p:spPr>
          <a:xfrm>
            <a:off x="6583680" y="2029968"/>
            <a:ext cx="4876495" cy="64008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Strain and institutional anomie</a:t>
            </a:r>
            <a:endParaRPr lang="en-US" sz="1700" dirty="0"/>
          </a:p>
          <a:p>
            <a:pPr indent="0" marL="0">
              <a:buNone/>
            </a:pPr>
            <a:r>
              <a:rPr lang="en-US" sz="1200" dirty="0">
                <a:solidFill>
                  <a:srgbClr val="5F6675"/>
                </a:solidFill>
              </a:rPr>
              <a:t>Merton (1938); Messner &amp; Rosenfeld (1994)</a:t>
            </a:r>
            <a:endParaRPr lang="en-US" sz="1700" dirty="0"/>
          </a:p>
        </p:txBody>
      </p:sp>
      <p:sp>
        <p:nvSpPr>
          <p:cNvPr id="30" name="Text 24"/>
          <p:cNvSpPr txBox="1"/>
          <p:nvPr/>
        </p:nvSpPr>
        <p:spPr>
          <a:xfrm>
            <a:off x="6583680" y="2697480"/>
            <a:ext cx="4830775" cy="1143000"/>
          </a:xfrm>
          <a:prstGeom prst="rect">
            <a:avLst/>
          </a:prstGeom>
          <a:noFill/>
          <a:ln/>
        </p:spPr>
        <p:txBody>
          <a:bodyPr wrap="square" lIns="0" tIns="0" rIns="0" bIns="0" rtlCol="0" anchor="t"/>
          <a:lstStyle/>
          <a:p>
            <a:pPr indent="0" marL="0">
              <a:buNone/>
            </a:pPr>
            <a:r>
              <a:rPr lang="en-US" sz="1500" dirty="0">
                <a:solidFill>
                  <a:srgbClr val="1F2A44"/>
                </a:solidFill>
              </a:rPr>
              <a:t>David accepts the goal of wealth but lacks legitimate means, so he “innovates”. Money starts to override family.</a:t>
            </a:r>
            <a:endParaRPr lang="en-US" sz="1500" dirty="0"/>
          </a:p>
        </p:txBody>
      </p:sp>
      <p:sp>
        <p:nvSpPr>
          <p:cNvPr id="31" name="Differential association"/>
          <p:cNvSpPr/>
          <p:nvPr/>
        </p:nvSpPr>
        <p:spPr>
          <a:xfrm>
            <a:off x="5760720" y="4114800"/>
            <a:ext cx="5882335" cy="2011680"/>
          </a:xfrm>
          <a:prstGeom prst="rect">
            <a:avLst/>
          </a:prstGeom>
          <a:solidFill>
            <a:srgbClr val="FFFFFF"/>
          </a:solidFill>
          <a:ln w="12700">
            <a:solidFill>
              <a:srgbClr val="D8D3CA"/>
            </a:solidFill>
            <a:prstDash val="solid"/>
          </a:ln>
          <a:effectLst>
            <a:outerShdw sx="100000" sy="100000" kx="0" ky="0" algn="bl" rotWithShape="0" blurRad="76200" dist="25400" dir="5400000">
              <a:srgbClr val="000000">
                <a:alpha val="7000"/>
              </a:srgbClr>
            </a:outerShdw>
          </a:effectLst>
        </p:spPr>
      </p:sp>
      <p:sp>
        <p:nvSpPr>
          <p:cNvPr id="32" name="Differential association circle"/>
          <p:cNvSpPr/>
          <p:nvPr/>
        </p:nvSpPr>
        <p:spPr>
          <a:xfrm>
            <a:off x="5961888" y="4315968"/>
            <a:ext cx="457200" cy="457200"/>
          </a:xfrm>
          <a:prstGeom prst="ellipse">
            <a:avLst/>
          </a:prstGeom>
          <a:solidFill>
            <a:srgbClr val="1F7A8C"/>
          </a:solidFill>
          <a:ln/>
        </p:spPr>
      </p:sp>
      <p:pic>
        <p:nvPicPr>
          <p:cNvPr id="33" name="Differential association icon" descr="Differential association">    </p:cNvPr>
          <p:cNvPicPr>
            <a:picLocks noChangeAspect="1"/>
          </p:cNvPicPr>
          <p:nvPr/>
        </p:nvPicPr>
        <p:blipFill>
          <a:blip r:embed="rId5"/>
          <a:stretch>
            <a:fillRect/>
          </a:stretch>
        </p:blipFill>
        <p:spPr>
          <a:xfrm>
            <a:off x="6071616" y="4425696"/>
            <a:ext cx="237744" cy="237744"/>
          </a:xfrm>
          <a:prstGeom prst="rect">
            <a:avLst/>
          </a:prstGeom>
        </p:spPr>
      </p:pic>
      <p:sp>
        <p:nvSpPr>
          <p:cNvPr id="34" name="Text 27"/>
          <p:cNvSpPr txBox="1"/>
          <p:nvPr/>
        </p:nvSpPr>
        <p:spPr>
          <a:xfrm>
            <a:off x="6583680" y="4224528"/>
            <a:ext cx="4876495" cy="64008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Differential association</a:t>
            </a:r>
            <a:endParaRPr lang="en-US" sz="1700" dirty="0"/>
          </a:p>
          <a:p>
            <a:pPr indent="0" marL="0">
              <a:buNone/>
            </a:pPr>
            <a:r>
              <a:rPr lang="en-US" sz="1200" dirty="0">
                <a:solidFill>
                  <a:srgbClr val="5F6675"/>
                </a:solidFill>
              </a:rPr>
              <a:t>Sutherland (1940)</a:t>
            </a:r>
            <a:endParaRPr lang="en-US" sz="1700" dirty="0"/>
          </a:p>
        </p:txBody>
      </p:sp>
      <p:sp>
        <p:nvSpPr>
          <p:cNvPr id="35" name="Text 28"/>
          <p:cNvSpPr txBox="1"/>
          <p:nvPr/>
        </p:nvSpPr>
        <p:spPr>
          <a:xfrm>
            <a:off x="6583680" y="4892040"/>
            <a:ext cx="4830775" cy="1143000"/>
          </a:xfrm>
          <a:prstGeom prst="rect">
            <a:avLst/>
          </a:prstGeom>
          <a:noFill/>
          <a:ln/>
        </p:spPr>
        <p:txBody>
          <a:bodyPr wrap="square" lIns="0" tIns="0" rIns="0" bIns="0" rtlCol="0" anchor="t"/>
          <a:lstStyle/>
          <a:p>
            <a:pPr indent="0" marL="0">
              <a:buNone/>
            </a:pPr>
            <a:r>
              <a:rPr lang="en-US" sz="1500" dirty="0">
                <a:solidFill>
                  <a:srgbClr val="1F2A44"/>
                </a:solidFill>
              </a:rPr>
              <a:t>David learns the techniques and the justifications of the trade from Efraim, his close friend.</a:t>
            </a:r>
            <a:endParaRPr lang="en-US" sz="15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968E"/>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racker line"/>
          <p:cNvSpPr/>
          <p:nvPr/>
        </p:nvSpPr>
        <p:spPr>
          <a:xfrm>
            <a:off x="548640" y="384048"/>
            <a:ext cx="6949440" cy="0"/>
          </a:xfrm>
          <a:prstGeom prst="line">
            <a:avLst/>
          </a:prstGeom>
          <a:noFill/>
          <a:ln w="25400">
            <a:solidFill>
              <a:srgbClr val="D8D3CA"/>
            </a:solidFill>
            <a:prstDash val="solid"/>
          </a:ln>
        </p:spPr>
      </p:sp>
      <p:sp>
        <p:nvSpPr>
          <p:cNvPr id="3" name="tracker progress"/>
          <p:cNvSpPr/>
          <p:nvPr/>
        </p:nvSpPr>
        <p:spPr>
          <a:xfrm>
            <a:off x="548640" y="384048"/>
            <a:ext cx="1158240" cy="0"/>
          </a:xfrm>
          <a:prstGeom prst="line">
            <a:avLst/>
          </a:prstGeom>
          <a:noFill/>
          <a:ln w="38100">
            <a:solidFill>
              <a:srgbClr val="C26A2E"/>
            </a:solidFill>
            <a:prstDash val="solid"/>
          </a:ln>
        </p:spPr>
      </p:sp>
      <p:sp>
        <p:nvSpPr>
          <p:cNvPr id="4" name="stop 1"/>
          <p:cNvSpPr/>
          <p:nvPr/>
        </p:nvSpPr>
        <p:spPr>
          <a:xfrm>
            <a:off x="475488" y="310896"/>
            <a:ext cx="146304" cy="146304"/>
          </a:xfrm>
          <a:prstGeom prst="ellipse">
            <a:avLst/>
          </a:prstGeom>
          <a:solidFill>
            <a:srgbClr val="C26A2E"/>
          </a:solidFill>
          <a:ln w="19050">
            <a:solidFill>
              <a:srgbClr val="C26A2E"/>
            </a:solidFill>
            <a:prstDash val="solid"/>
          </a:ln>
        </p:spPr>
      </p:sp>
      <p:sp>
        <p:nvSpPr>
          <p:cNvPr id="5" name="stop 2"/>
          <p:cNvSpPr/>
          <p:nvPr/>
        </p:nvSpPr>
        <p:spPr>
          <a:xfrm>
            <a:off x="1588008" y="265176"/>
            <a:ext cx="237744" cy="237744"/>
          </a:xfrm>
          <a:prstGeom prst="ellipse">
            <a:avLst/>
          </a:prstGeom>
          <a:solidFill>
            <a:srgbClr val="C26A2E"/>
          </a:solidFill>
          <a:ln w="19050">
            <a:solidFill>
              <a:srgbClr val="C26A2E"/>
            </a:solidFill>
            <a:prstDash val="solid"/>
          </a:ln>
        </p:spPr>
      </p:sp>
      <p:sp>
        <p:nvSpPr>
          <p:cNvPr id="6" name="stop 3"/>
          <p:cNvSpPr/>
          <p:nvPr/>
        </p:nvSpPr>
        <p:spPr>
          <a:xfrm>
            <a:off x="2791968" y="310896"/>
            <a:ext cx="146304" cy="146304"/>
          </a:xfrm>
          <a:prstGeom prst="ellipse">
            <a:avLst/>
          </a:prstGeom>
          <a:solidFill>
            <a:srgbClr val="FFFFFF"/>
          </a:solidFill>
          <a:ln w="19050">
            <a:solidFill>
              <a:srgbClr val="B9B3A8"/>
            </a:solidFill>
            <a:prstDash val="solid"/>
          </a:ln>
        </p:spPr>
      </p:sp>
      <p:sp>
        <p:nvSpPr>
          <p:cNvPr id="7" name="stop 4"/>
          <p:cNvSpPr/>
          <p:nvPr/>
        </p:nvSpPr>
        <p:spPr>
          <a:xfrm>
            <a:off x="3950208" y="310896"/>
            <a:ext cx="146304" cy="146304"/>
          </a:xfrm>
          <a:prstGeom prst="ellipse">
            <a:avLst/>
          </a:prstGeom>
          <a:solidFill>
            <a:srgbClr val="FFFFFF"/>
          </a:solidFill>
          <a:ln w="19050">
            <a:solidFill>
              <a:srgbClr val="B9B3A8"/>
            </a:solidFill>
            <a:prstDash val="solid"/>
          </a:ln>
        </p:spPr>
      </p:sp>
      <p:sp>
        <p:nvSpPr>
          <p:cNvPr id="8" name="stop 5"/>
          <p:cNvSpPr/>
          <p:nvPr/>
        </p:nvSpPr>
        <p:spPr>
          <a:xfrm>
            <a:off x="5108448" y="310896"/>
            <a:ext cx="146304" cy="146304"/>
          </a:xfrm>
          <a:prstGeom prst="ellipse">
            <a:avLst/>
          </a:prstGeom>
          <a:solidFill>
            <a:srgbClr val="FFFFFF"/>
          </a:solidFill>
          <a:ln w="19050">
            <a:solidFill>
              <a:srgbClr val="B9B3A8"/>
            </a:solidFill>
            <a:prstDash val="solid"/>
          </a:ln>
        </p:spPr>
      </p:sp>
      <p:sp>
        <p:nvSpPr>
          <p:cNvPr id="9" name="stop 6"/>
          <p:cNvSpPr/>
          <p:nvPr/>
        </p:nvSpPr>
        <p:spPr>
          <a:xfrm>
            <a:off x="6266688" y="310896"/>
            <a:ext cx="146304" cy="146304"/>
          </a:xfrm>
          <a:prstGeom prst="ellipse">
            <a:avLst/>
          </a:prstGeom>
          <a:solidFill>
            <a:srgbClr val="FFFFFF"/>
          </a:solidFill>
          <a:ln w="19050">
            <a:solidFill>
              <a:srgbClr val="B9B3A8"/>
            </a:solidFill>
            <a:prstDash val="solid"/>
          </a:ln>
        </p:spPr>
      </p:sp>
      <p:sp>
        <p:nvSpPr>
          <p:cNvPr id="10" name="stop 7"/>
          <p:cNvSpPr/>
          <p:nvPr/>
        </p:nvSpPr>
        <p:spPr>
          <a:xfrm>
            <a:off x="7424928" y="310896"/>
            <a:ext cx="146304" cy="146304"/>
          </a:xfrm>
          <a:prstGeom prst="ellipse">
            <a:avLst/>
          </a:prstGeom>
          <a:solidFill>
            <a:srgbClr val="FFFFFF"/>
          </a:solidFill>
          <a:ln w="19050">
            <a:solidFill>
              <a:srgbClr val="B9B3A8"/>
            </a:solidFill>
            <a:prstDash val="solid"/>
          </a:ln>
        </p:spPr>
      </p:sp>
      <p:sp>
        <p:nvSpPr>
          <p:cNvPr id="11" name="Text 9"/>
          <p:cNvSpPr txBox="1"/>
          <p:nvPr/>
        </p:nvSpPr>
        <p:spPr>
          <a:xfrm>
            <a:off x="7772400" y="237744"/>
            <a:ext cx="3840480" cy="292608"/>
          </a:xfrm>
          <a:prstGeom prst="rect">
            <a:avLst/>
          </a:prstGeom>
          <a:noFill/>
          <a:ln/>
        </p:spPr>
        <p:txBody>
          <a:bodyPr wrap="square" lIns="0" tIns="0" rIns="0" bIns="0" rtlCol="0" anchor="ctr"/>
          <a:lstStyle/>
          <a:p>
            <a:pPr indent="0" marL="0">
              <a:buNone/>
            </a:pPr>
            <a:r>
              <a:rPr lang="en-US" sz="1200" b="1" spc="200" kern="0" dirty="0">
                <a:solidFill>
                  <a:srgbClr val="C26A2E"/>
                </a:solidFill>
              </a:rPr>
              <a:t>STOP 2 OF 7  ·  JORDAN → IRAQ</a:t>
            </a:r>
            <a:endParaRPr lang="en-US" sz="1200" dirty="0"/>
          </a:p>
        </p:txBody>
      </p:sp>
      <p:sp>
        <p:nvSpPr>
          <p:cNvPr id="12" name="Text 0"/>
          <p:cNvSpPr/>
          <p:nvPr>
            <p:ph idx="100"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2800" b="1" dirty="0">
                <a:solidFill>
                  <a:schemeClr val="tx1"/>
                </a:solidFill>
              </a:rPr>
              <a:t>Stop 2: a grey run through Jordan into Iraq</a:t>
            </a:r>
            <a:endParaRPr lang="en-US" sz="2800" dirty="0"/>
          </a:p>
        </p:txBody>
      </p:sp>
      <p:sp>
        <p:nvSpPr>
          <p:cNvPr id="13" name="location circle"/>
          <p:cNvSpPr/>
          <p:nvPr/>
        </p:nvSpPr>
        <p:spPr>
          <a:xfrm>
            <a:off x="548640" y="1600200"/>
            <a:ext cx="502920" cy="502920"/>
          </a:xfrm>
          <a:prstGeom prst="ellipse">
            <a:avLst/>
          </a:prstGeom>
          <a:solidFill>
            <a:srgbClr val="C26A2E"/>
          </a:solidFill>
          <a:ln/>
        </p:spPr>
      </p:sp>
      <p:pic>
        <p:nvPicPr>
          <p:cNvPr id="14" name="location icon" descr="location">    </p:cNvPr>
          <p:cNvPicPr>
            <a:picLocks noChangeAspect="1"/>
          </p:cNvPicPr>
          <p:nvPr/>
        </p:nvPicPr>
        <p:blipFill>
          <a:blip r:embed="rId1"/>
          <a:stretch>
            <a:fillRect/>
          </a:stretch>
        </p:blipFill>
        <p:spPr>
          <a:xfrm>
            <a:off x="669341" y="1720901"/>
            <a:ext cx="261518" cy="261518"/>
          </a:xfrm>
          <a:prstGeom prst="rect">
            <a:avLst/>
          </a:prstGeom>
        </p:spPr>
      </p:pic>
      <p:sp>
        <p:nvSpPr>
          <p:cNvPr id="15" name="Text 12"/>
          <p:cNvSpPr txBox="1"/>
          <p:nvPr/>
        </p:nvSpPr>
        <p:spPr>
          <a:xfrm>
            <a:off x="1188720" y="1554480"/>
            <a:ext cx="4297680" cy="59436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Amman, Jordan → Iraq</a:t>
            </a:r>
            <a:endParaRPr lang="en-US" sz="1800" dirty="0"/>
          </a:p>
          <a:p>
            <a:pPr indent="0" marL="0">
              <a:buNone/>
            </a:pPr>
            <a:r>
              <a:rPr lang="en-US" sz="1200" dirty="0">
                <a:solidFill>
                  <a:srgbClr val="5F6675"/>
                </a:solidFill>
              </a:rPr>
              <a:t>The first big risk</a:t>
            </a:r>
            <a:endParaRPr lang="en-US" sz="1800" dirty="0"/>
          </a:p>
        </p:txBody>
      </p:sp>
      <p:sp>
        <p:nvSpPr>
          <p:cNvPr id="16" name="Text 13"/>
          <p:cNvSpPr txBox="1"/>
          <p:nvPr/>
        </p:nvSpPr>
        <p:spPr>
          <a:xfrm>
            <a:off x="548640" y="2377440"/>
            <a:ext cx="4754880" cy="256032"/>
          </a:xfrm>
          <a:prstGeom prst="rect">
            <a:avLst/>
          </a:prstGeom>
          <a:noFill/>
          <a:ln/>
        </p:spPr>
        <p:txBody>
          <a:bodyPr wrap="square" lIns="0" tIns="0" rIns="0" bIns="0" rtlCol="0" anchor="ctr"/>
          <a:lstStyle/>
          <a:p>
            <a:pPr indent="0" marL="0">
              <a:buNone/>
            </a:pPr>
            <a:r>
              <a:rPr lang="en-US" sz="1100" b="1" spc="200" kern="0" dirty="0">
                <a:solidFill>
                  <a:srgbClr val="5F6675"/>
                </a:solidFill>
              </a:rPr>
              <a:t>WHAT HAPPENS HERE</a:t>
            </a:r>
            <a:endParaRPr lang="en-US" sz="1100" dirty="0"/>
          </a:p>
        </p:txBody>
      </p:sp>
      <p:sp>
        <p:nvSpPr>
          <p:cNvPr id="17" name="Text 14"/>
          <p:cNvSpPr txBox="1"/>
          <p:nvPr/>
        </p:nvSpPr>
        <p:spPr>
          <a:xfrm>
            <a:off x="548640" y="2697480"/>
            <a:ext cx="4754880" cy="2331720"/>
          </a:xfrm>
          <a:prstGeom prst="rect">
            <a:avLst/>
          </a:prstGeom>
          <a:noFill/>
          <a:ln/>
        </p:spPr>
        <p:txBody>
          <a:bodyPr wrap="square" lIns="0" tIns="0" rIns="0" bIns="0" rtlCol="0" anchor="t"/>
          <a:lstStyle/>
          <a:p>
            <a:pPr indent="0" marL="0">
              <a:buNone/>
            </a:pPr>
            <a:r>
              <a:rPr lang="en-US" sz="1600" dirty="0">
                <a:solidFill>
                  <a:srgbClr val="1F2A44"/>
                </a:solidFill>
              </a:rPr>
              <a:t>A shipment of pistols for the Iraqi police is stuck in Jordan. Instead of losing the contract, the pair fly to Amman, rely on local fixers and drive the cargo through dangerous territory into Iraq. They get paid, and bigger contracts follow.</a:t>
            </a:r>
            <a:endParaRPr lang="en-US" sz="1600" dirty="0"/>
          </a:p>
        </p:txBody>
      </p:sp>
      <p:sp>
        <p:nvSpPr>
          <p:cNvPr id="18" name="THE BULLET"/>
          <p:cNvSpPr/>
          <p:nvPr/>
        </p:nvSpPr>
        <p:spPr>
          <a:xfrm>
            <a:off x="548640" y="5166360"/>
            <a:ext cx="2377440" cy="777240"/>
          </a:xfrm>
          <a:prstGeom prst="rect">
            <a:avLst/>
          </a:prstGeom>
          <a:solidFill>
            <a:srgbClr val="FFFFFF"/>
          </a:solidFill>
          <a:ln w="12700">
            <a:solidFill>
              <a:srgbClr val="C26A2E"/>
            </a:solidFill>
            <a:prstDash val="solid"/>
          </a:ln>
        </p:spPr>
      </p:sp>
      <p:sp>
        <p:nvSpPr>
          <p:cNvPr id="19" name="THE BULLET circle"/>
          <p:cNvSpPr/>
          <p:nvPr/>
        </p:nvSpPr>
        <p:spPr>
          <a:xfrm>
            <a:off x="658368" y="5321808"/>
            <a:ext cx="457200" cy="457200"/>
          </a:xfrm>
          <a:prstGeom prst="ellipse">
            <a:avLst/>
          </a:prstGeom>
          <a:solidFill>
            <a:srgbClr val="C26A2E"/>
          </a:solidFill>
          <a:ln/>
        </p:spPr>
      </p:sp>
      <p:pic>
        <p:nvPicPr>
          <p:cNvPr id="20" name="THE BULLET icon" descr="THE BULLET">    </p:cNvPr>
          <p:cNvPicPr>
            <a:picLocks noChangeAspect="1"/>
          </p:cNvPicPr>
          <p:nvPr/>
        </p:nvPicPr>
        <p:blipFill>
          <a:blip r:embed="rId2"/>
          <a:stretch>
            <a:fillRect/>
          </a:stretch>
        </p:blipFill>
        <p:spPr>
          <a:xfrm>
            <a:off x="768096" y="5431536"/>
            <a:ext cx="237744" cy="237744"/>
          </a:xfrm>
          <a:prstGeom prst="rect">
            <a:avLst/>
          </a:prstGeom>
        </p:spPr>
      </p:pic>
      <p:sp>
        <p:nvSpPr>
          <p:cNvPr id="21" name="Text 17"/>
          <p:cNvSpPr txBox="1"/>
          <p:nvPr/>
        </p:nvSpPr>
        <p:spPr>
          <a:xfrm>
            <a:off x="1207008" y="5166360"/>
            <a:ext cx="1645920" cy="777240"/>
          </a:xfrm>
          <a:prstGeom prst="rect">
            <a:avLst/>
          </a:prstGeom>
          <a:noFill/>
          <a:ln/>
        </p:spPr>
        <p:txBody>
          <a:bodyPr wrap="square" lIns="0" tIns="0" rIns="0" bIns="0" rtlCol="0" anchor="ctr"/>
          <a:lstStyle/>
          <a:p>
            <a:pPr indent="0" marL="0">
              <a:buNone/>
            </a:pPr>
            <a:r>
              <a:rPr lang="en-US" sz="1000" b="1" spc="100" kern="0" dirty="0">
                <a:solidFill>
                  <a:srgbClr val="C26A2E"/>
                </a:solidFill>
              </a:rPr>
              <a:t>THE BULLET</a:t>
            </a:r>
            <a:endParaRPr lang="en-US" sz="1000" dirty="0"/>
          </a:p>
          <a:p>
            <a:pPr indent="0" marL="0">
              <a:buNone/>
            </a:pPr>
            <a:r>
              <a:rPr lang="en-US" sz="1200" dirty="0">
                <a:solidFill>
                  <a:srgbClr val="1F2A44"/>
                </a:solidFill>
              </a:rPr>
              <a:t>Pistols stuck at the border</a:t>
            </a:r>
            <a:endParaRPr lang="en-US" sz="1000" dirty="0"/>
          </a:p>
        </p:txBody>
      </p:sp>
      <p:sp>
        <p:nvSpPr>
          <p:cNvPr id="22" name="THE MONEY"/>
          <p:cNvSpPr/>
          <p:nvPr/>
        </p:nvSpPr>
        <p:spPr>
          <a:xfrm>
            <a:off x="3063240" y="5166360"/>
            <a:ext cx="2377440" cy="777240"/>
          </a:xfrm>
          <a:prstGeom prst="rect">
            <a:avLst/>
          </a:prstGeom>
          <a:solidFill>
            <a:srgbClr val="FFFFFF"/>
          </a:solidFill>
          <a:ln w="12700">
            <a:solidFill>
              <a:srgbClr val="1F7A8C"/>
            </a:solidFill>
            <a:prstDash val="solid"/>
          </a:ln>
        </p:spPr>
      </p:sp>
      <p:sp>
        <p:nvSpPr>
          <p:cNvPr id="23" name="THE MONEY circle"/>
          <p:cNvSpPr/>
          <p:nvPr/>
        </p:nvSpPr>
        <p:spPr>
          <a:xfrm>
            <a:off x="3172968" y="5321808"/>
            <a:ext cx="457200" cy="457200"/>
          </a:xfrm>
          <a:prstGeom prst="ellipse">
            <a:avLst/>
          </a:prstGeom>
          <a:solidFill>
            <a:srgbClr val="1F7A8C"/>
          </a:solidFill>
          <a:ln/>
        </p:spPr>
      </p:sp>
      <p:pic>
        <p:nvPicPr>
          <p:cNvPr id="24" name="THE MONEY icon" descr="THE MONEY">    </p:cNvPr>
          <p:cNvPicPr>
            <a:picLocks noChangeAspect="1"/>
          </p:cNvPicPr>
          <p:nvPr/>
        </p:nvPicPr>
        <p:blipFill>
          <a:blip r:embed="rId3"/>
          <a:stretch>
            <a:fillRect/>
          </a:stretch>
        </p:blipFill>
        <p:spPr>
          <a:xfrm>
            <a:off x="3282696" y="5431536"/>
            <a:ext cx="237744" cy="237744"/>
          </a:xfrm>
          <a:prstGeom prst="rect">
            <a:avLst/>
          </a:prstGeom>
        </p:spPr>
      </p:pic>
      <p:sp>
        <p:nvSpPr>
          <p:cNvPr id="25" name="Text 20"/>
          <p:cNvSpPr txBox="1"/>
          <p:nvPr/>
        </p:nvSpPr>
        <p:spPr>
          <a:xfrm>
            <a:off x="3721608" y="5166360"/>
            <a:ext cx="1645920" cy="777240"/>
          </a:xfrm>
          <a:prstGeom prst="rect">
            <a:avLst/>
          </a:prstGeom>
          <a:noFill/>
          <a:ln/>
        </p:spPr>
        <p:txBody>
          <a:bodyPr wrap="square" lIns="0" tIns="0" rIns="0" bIns="0" rtlCol="0" anchor="ctr"/>
          <a:lstStyle/>
          <a:p>
            <a:pPr indent="0" marL="0">
              <a:buNone/>
            </a:pPr>
            <a:r>
              <a:rPr lang="en-US" sz="1000" b="1" spc="100" kern="0" dirty="0">
                <a:solidFill>
                  <a:srgbClr val="1F7A8C"/>
                </a:solidFill>
              </a:rPr>
              <a:t>THE MONEY</a:t>
            </a:r>
            <a:endParaRPr lang="en-US" sz="1000" dirty="0"/>
          </a:p>
          <a:p>
            <a:pPr indent="0" marL="0">
              <a:buNone/>
            </a:pPr>
            <a:r>
              <a:rPr lang="en-US" sz="1200" dirty="0">
                <a:solidFill>
                  <a:srgbClr val="1F2A44"/>
                </a:solidFill>
              </a:rPr>
              <a:t>Fixers paid to move the cargo</a:t>
            </a:r>
            <a:endParaRPr lang="en-US" sz="1000" dirty="0"/>
          </a:p>
        </p:txBody>
      </p:sp>
      <p:sp>
        <p:nvSpPr>
          <p:cNvPr id="26" name="Text 21"/>
          <p:cNvSpPr txBox="1"/>
          <p:nvPr/>
        </p:nvSpPr>
        <p:spPr>
          <a:xfrm>
            <a:off x="5760720" y="1600200"/>
            <a:ext cx="5882335" cy="256032"/>
          </a:xfrm>
          <a:prstGeom prst="rect">
            <a:avLst/>
          </a:prstGeom>
          <a:noFill/>
          <a:ln/>
        </p:spPr>
        <p:txBody>
          <a:bodyPr wrap="square" lIns="0" tIns="0" rIns="0" bIns="0" rtlCol="0" anchor="ctr"/>
          <a:lstStyle/>
          <a:p>
            <a:pPr indent="0" marL="0">
              <a:buNone/>
            </a:pPr>
            <a:r>
              <a:rPr lang="en-US" sz="1100" b="1" spc="200" kern="0" dirty="0">
                <a:solidFill>
                  <a:srgbClr val="1F7A8C"/>
                </a:solidFill>
              </a:rPr>
              <a:t>CRIMINOLOGY CHECKPOINT</a:t>
            </a:r>
            <a:endParaRPr lang="en-US" sz="1100" dirty="0"/>
          </a:p>
        </p:txBody>
      </p:sp>
      <p:sp>
        <p:nvSpPr>
          <p:cNvPr id="27" name="Enterprise model"/>
          <p:cNvSpPr/>
          <p:nvPr/>
        </p:nvSpPr>
        <p:spPr>
          <a:xfrm>
            <a:off x="5760720" y="1920240"/>
            <a:ext cx="5882335" cy="2011680"/>
          </a:xfrm>
          <a:prstGeom prst="rect">
            <a:avLst/>
          </a:prstGeom>
          <a:solidFill>
            <a:srgbClr val="FFFFFF"/>
          </a:solidFill>
          <a:ln w="12700">
            <a:solidFill>
              <a:srgbClr val="D8D3CA"/>
            </a:solidFill>
            <a:prstDash val="solid"/>
          </a:ln>
          <a:effectLst>
            <a:outerShdw sx="100000" sy="100000" kx="0" ky="0" algn="bl" rotWithShape="0" blurRad="76200" dist="25400" dir="5400000">
              <a:srgbClr val="000000">
                <a:alpha val="7000"/>
              </a:srgbClr>
            </a:outerShdw>
          </a:effectLst>
        </p:spPr>
      </p:sp>
      <p:sp>
        <p:nvSpPr>
          <p:cNvPr id="28" name="Enterprise model circle"/>
          <p:cNvSpPr/>
          <p:nvPr/>
        </p:nvSpPr>
        <p:spPr>
          <a:xfrm>
            <a:off x="5961888" y="2121408"/>
            <a:ext cx="457200" cy="457200"/>
          </a:xfrm>
          <a:prstGeom prst="ellipse">
            <a:avLst/>
          </a:prstGeom>
          <a:solidFill>
            <a:srgbClr val="1F7A8C"/>
          </a:solidFill>
          <a:ln/>
        </p:spPr>
      </p:sp>
      <p:pic>
        <p:nvPicPr>
          <p:cNvPr id="29" name="Enterprise model icon" descr="Enterprise model">    </p:cNvPr>
          <p:cNvPicPr>
            <a:picLocks noChangeAspect="1"/>
          </p:cNvPicPr>
          <p:nvPr/>
        </p:nvPicPr>
        <p:blipFill>
          <a:blip r:embed="rId4"/>
          <a:stretch>
            <a:fillRect/>
          </a:stretch>
        </p:blipFill>
        <p:spPr>
          <a:xfrm>
            <a:off x="6071616" y="2231136"/>
            <a:ext cx="237744" cy="237744"/>
          </a:xfrm>
          <a:prstGeom prst="rect">
            <a:avLst/>
          </a:prstGeom>
        </p:spPr>
      </p:pic>
      <p:sp>
        <p:nvSpPr>
          <p:cNvPr id="30" name="Text 24"/>
          <p:cNvSpPr txBox="1"/>
          <p:nvPr/>
        </p:nvSpPr>
        <p:spPr>
          <a:xfrm>
            <a:off x="6583680" y="2029968"/>
            <a:ext cx="4876495" cy="64008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Enterprise model</a:t>
            </a:r>
            <a:endParaRPr lang="en-US" sz="1700" dirty="0"/>
          </a:p>
          <a:p>
            <a:pPr indent="0" marL="0">
              <a:buNone/>
            </a:pPr>
            <a:r>
              <a:rPr lang="en-US" sz="1200" dirty="0">
                <a:solidFill>
                  <a:srgbClr val="5F6675"/>
                </a:solidFill>
              </a:rPr>
              <a:t>Smith (1980)</a:t>
            </a:r>
            <a:endParaRPr lang="en-US" sz="1700" dirty="0"/>
          </a:p>
        </p:txBody>
      </p:sp>
      <p:sp>
        <p:nvSpPr>
          <p:cNvPr id="31" name="Text 25"/>
          <p:cNvSpPr txBox="1"/>
          <p:nvPr/>
        </p:nvSpPr>
        <p:spPr>
          <a:xfrm>
            <a:off x="6583680" y="2697480"/>
            <a:ext cx="4830775" cy="1143000"/>
          </a:xfrm>
          <a:prstGeom prst="rect">
            <a:avLst/>
          </a:prstGeom>
          <a:noFill/>
          <a:ln/>
        </p:spPr>
        <p:txBody>
          <a:bodyPr wrap="square" lIns="0" tIns="0" rIns="0" bIns="0" rtlCol="0" anchor="t"/>
          <a:lstStyle/>
          <a:p>
            <a:pPr indent="0" marL="0">
              <a:buNone/>
            </a:pPr>
            <a:r>
              <a:rPr lang="en-US" sz="1500" dirty="0">
                <a:solidFill>
                  <a:srgbClr val="1F2A44"/>
                </a:solidFill>
              </a:rPr>
              <a:t>Legal and illegal business sit on one spectrum. Here AEY slides from legal bidding into grey dealing to keep a contract.</a:t>
            </a:r>
            <a:endParaRPr lang="en-US" sz="1500" dirty="0"/>
          </a:p>
        </p:txBody>
      </p:sp>
      <p:sp>
        <p:nvSpPr>
          <p:cNvPr id="32" name="Rational choice"/>
          <p:cNvSpPr/>
          <p:nvPr/>
        </p:nvSpPr>
        <p:spPr>
          <a:xfrm>
            <a:off x="5760720" y="4114800"/>
            <a:ext cx="5882335" cy="2011680"/>
          </a:xfrm>
          <a:prstGeom prst="rect">
            <a:avLst/>
          </a:prstGeom>
          <a:solidFill>
            <a:srgbClr val="FFFFFF"/>
          </a:solidFill>
          <a:ln w="12700">
            <a:solidFill>
              <a:srgbClr val="D8D3CA"/>
            </a:solidFill>
            <a:prstDash val="solid"/>
          </a:ln>
          <a:effectLst>
            <a:outerShdw sx="100000" sy="100000" kx="0" ky="0" algn="bl" rotWithShape="0" blurRad="76200" dist="25400" dir="5400000">
              <a:srgbClr val="000000">
                <a:alpha val="7000"/>
              </a:srgbClr>
            </a:outerShdw>
          </a:effectLst>
        </p:spPr>
      </p:sp>
      <p:sp>
        <p:nvSpPr>
          <p:cNvPr id="33" name="Rational choice circle"/>
          <p:cNvSpPr/>
          <p:nvPr/>
        </p:nvSpPr>
        <p:spPr>
          <a:xfrm>
            <a:off x="5961888" y="4315968"/>
            <a:ext cx="457200" cy="457200"/>
          </a:xfrm>
          <a:prstGeom prst="ellipse">
            <a:avLst/>
          </a:prstGeom>
          <a:solidFill>
            <a:srgbClr val="1F7A8C"/>
          </a:solidFill>
          <a:ln/>
        </p:spPr>
      </p:sp>
      <p:pic>
        <p:nvPicPr>
          <p:cNvPr id="34" name="Rational choice icon" descr="Rational choice">    </p:cNvPr>
          <p:cNvPicPr>
            <a:picLocks noChangeAspect="1"/>
          </p:cNvPicPr>
          <p:nvPr/>
        </p:nvPicPr>
        <p:blipFill>
          <a:blip r:embed="rId5"/>
          <a:stretch>
            <a:fillRect/>
          </a:stretch>
        </p:blipFill>
        <p:spPr>
          <a:xfrm>
            <a:off x="6071616" y="4425696"/>
            <a:ext cx="237744" cy="237744"/>
          </a:xfrm>
          <a:prstGeom prst="rect">
            <a:avLst/>
          </a:prstGeom>
        </p:spPr>
      </p:pic>
      <p:sp>
        <p:nvSpPr>
          <p:cNvPr id="35" name="Text 28"/>
          <p:cNvSpPr txBox="1"/>
          <p:nvPr/>
        </p:nvSpPr>
        <p:spPr>
          <a:xfrm>
            <a:off x="6583680" y="4224528"/>
            <a:ext cx="4876495" cy="64008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Rational choice</a:t>
            </a:r>
            <a:endParaRPr lang="en-US" sz="1700" dirty="0"/>
          </a:p>
          <a:p>
            <a:pPr indent="0" marL="0">
              <a:buNone/>
            </a:pPr>
            <a:r>
              <a:rPr lang="en-US" sz="1200" dirty="0">
                <a:solidFill>
                  <a:srgbClr val="5F6675"/>
                </a:solidFill>
              </a:rPr>
              <a:t>Cornish &amp; Clarke (1986)</a:t>
            </a:r>
            <a:endParaRPr lang="en-US" sz="1700" dirty="0"/>
          </a:p>
        </p:txBody>
      </p:sp>
      <p:sp>
        <p:nvSpPr>
          <p:cNvPr id="36" name="Text 29"/>
          <p:cNvSpPr txBox="1"/>
          <p:nvPr/>
        </p:nvSpPr>
        <p:spPr>
          <a:xfrm>
            <a:off x="6583680" y="4892040"/>
            <a:ext cx="4830775" cy="1143000"/>
          </a:xfrm>
          <a:prstGeom prst="rect">
            <a:avLst/>
          </a:prstGeom>
          <a:noFill/>
          <a:ln/>
        </p:spPr>
        <p:txBody>
          <a:bodyPr wrap="square" lIns="0" tIns="0" rIns="0" bIns="0" rtlCol="0" anchor="t"/>
          <a:lstStyle/>
          <a:p>
            <a:pPr indent="0" marL="0">
              <a:buNone/>
            </a:pPr>
            <a:r>
              <a:rPr lang="en-US" sz="1500" dirty="0">
                <a:solidFill>
                  <a:srgbClr val="1F2A44"/>
                </a:solidFill>
              </a:rPr>
              <a:t>A calculated gamble: high reward, risks they judge worth taking. Success rewards the next, bigger risk.</a:t>
            </a:r>
            <a:endParaRPr lang="en-US" sz="15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968E"/>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racker line"/>
          <p:cNvSpPr/>
          <p:nvPr/>
        </p:nvSpPr>
        <p:spPr>
          <a:xfrm>
            <a:off x="548640" y="384048"/>
            <a:ext cx="6949440" cy="0"/>
          </a:xfrm>
          <a:prstGeom prst="line">
            <a:avLst/>
          </a:prstGeom>
          <a:noFill/>
          <a:ln w="25400">
            <a:solidFill>
              <a:srgbClr val="D8D3CA"/>
            </a:solidFill>
            <a:prstDash val="solid"/>
          </a:ln>
        </p:spPr>
      </p:sp>
      <p:sp>
        <p:nvSpPr>
          <p:cNvPr id="3" name="tracker progress"/>
          <p:cNvSpPr/>
          <p:nvPr/>
        </p:nvSpPr>
        <p:spPr>
          <a:xfrm>
            <a:off x="548640" y="384048"/>
            <a:ext cx="2316480" cy="0"/>
          </a:xfrm>
          <a:prstGeom prst="line">
            <a:avLst/>
          </a:prstGeom>
          <a:noFill/>
          <a:ln w="38100">
            <a:solidFill>
              <a:srgbClr val="C26A2E"/>
            </a:solidFill>
            <a:prstDash val="solid"/>
          </a:ln>
        </p:spPr>
      </p:sp>
      <p:sp>
        <p:nvSpPr>
          <p:cNvPr id="4" name="stop 1"/>
          <p:cNvSpPr/>
          <p:nvPr/>
        </p:nvSpPr>
        <p:spPr>
          <a:xfrm>
            <a:off x="475488" y="310896"/>
            <a:ext cx="146304" cy="146304"/>
          </a:xfrm>
          <a:prstGeom prst="ellipse">
            <a:avLst/>
          </a:prstGeom>
          <a:solidFill>
            <a:srgbClr val="C26A2E"/>
          </a:solidFill>
          <a:ln w="19050">
            <a:solidFill>
              <a:srgbClr val="C26A2E"/>
            </a:solidFill>
            <a:prstDash val="solid"/>
          </a:ln>
        </p:spPr>
      </p:sp>
      <p:sp>
        <p:nvSpPr>
          <p:cNvPr id="5" name="stop 2"/>
          <p:cNvSpPr/>
          <p:nvPr/>
        </p:nvSpPr>
        <p:spPr>
          <a:xfrm>
            <a:off x="1633728" y="310896"/>
            <a:ext cx="146304" cy="146304"/>
          </a:xfrm>
          <a:prstGeom prst="ellipse">
            <a:avLst/>
          </a:prstGeom>
          <a:solidFill>
            <a:srgbClr val="C26A2E"/>
          </a:solidFill>
          <a:ln w="19050">
            <a:solidFill>
              <a:srgbClr val="C26A2E"/>
            </a:solidFill>
            <a:prstDash val="solid"/>
          </a:ln>
        </p:spPr>
      </p:sp>
      <p:sp>
        <p:nvSpPr>
          <p:cNvPr id="6" name="stop 3"/>
          <p:cNvSpPr/>
          <p:nvPr/>
        </p:nvSpPr>
        <p:spPr>
          <a:xfrm>
            <a:off x="2746248" y="265176"/>
            <a:ext cx="237744" cy="237744"/>
          </a:xfrm>
          <a:prstGeom prst="ellipse">
            <a:avLst/>
          </a:prstGeom>
          <a:solidFill>
            <a:srgbClr val="C26A2E"/>
          </a:solidFill>
          <a:ln w="19050">
            <a:solidFill>
              <a:srgbClr val="C26A2E"/>
            </a:solidFill>
            <a:prstDash val="solid"/>
          </a:ln>
        </p:spPr>
      </p:sp>
      <p:sp>
        <p:nvSpPr>
          <p:cNvPr id="7" name="stop 4"/>
          <p:cNvSpPr/>
          <p:nvPr/>
        </p:nvSpPr>
        <p:spPr>
          <a:xfrm>
            <a:off x="3950208" y="310896"/>
            <a:ext cx="146304" cy="146304"/>
          </a:xfrm>
          <a:prstGeom prst="ellipse">
            <a:avLst/>
          </a:prstGeom>
          <a:solidFill>
            <a:srgbClr val="FFFFFF"/>
          </a:solidFill>
          <a:ln w="19050">
            <a:solidFill>
              <a:srgbClr val="B9B3A8"/>
            </a:solidFill>
            <a:prstDash val="solid"/>
          </a:ln>
        </p:spPr>
      </p:sp>
      <p:sp>
        <p:nvSpPr>
          <p:cNvPr id="8" name="stop 5"/>
          <p:cNvSpPr/>
          <p:nvPr/>
        </p:nvSpPr>
        <p:spPr>
          <a:xfrm>
            <a:off x="5108448" y="310896"/>
            <a:ext cx="146304" cy="146304"/>
          </a:xfrm>
          <a:prstGeom prst="ellipse">
            <a:avLst/>
          </a:prstGeom>
          <a:solidFill>
            <a:srgbClr val="FFFFFF"/>
          </a:solidFill>
          <a:ln w="19050">
            <a:solidFill>
              <a:srgbClr val="B9B3A8"/>
            </a:solidFill>
            <a:prstDash val="solid"/>
          </a:ln>
        </p:spPr>
      </p:sp>
      <p:sp>
        <p:nvSpPr>
          <p:cNvPr id="9" name="stop 6"/>
          <p:cNvSpPr/>
          <p:nvPr/>
        </p:nvSpPr>
        <p:spPr>
          <a:xfrm>
            <a:off x="6266688" y="310896"/>
            <a:ext cx="146304" cy="146304"/>
          </a:xfrm>
          <a:prstGeom prst="ellipse">
            <a:avLst/>
          </a:prstGeom>
          <a:solidFill>
            <a:srgbClr val="FFFFFF"/>
          </a:solidFill>
          <a:ln w="19050">
            <a:solidFill>
              <a:srgbClr val="B9B3A8"/>
            </a:solidFill>
            <a:prstDash val="solid"/>
          </a:ln>
        </p:spPr>
      </p:sp>
      <p:sp>
        <p:nvSpPr>
          <p:cNvPr id="10" name="stop 7"/>
          <p:cNvSpPr/>
          <p:nvPr/>
        </p:nvSpPr>
        <p:spPr>
          <a:xfrm>
            <a:off x="7424928" y="310896"/>
            <a:ext cx="146304" cy="146304"/>
          </a:xfrm>
          <a:prstGeom prst="ellipse">
            <a:avLst/>
          </a:prstGeom>
          <a:solidFill>
            <a:srgbClr val="FFFFFF"/>
          </a:solidFill>
          <a:ln w="19050">
            <a:solidFill>
              <a:srgbClr val="B9B3A8"/>
            </a:solidFill>
            <a:prstDash val="solid"/>
          </a:ln>
        </p:spPr>
      </p:sp>
      <p:sp>
        <p:nvSpPr>
          <p:cNvPr id="11" name="Text 9"/>
          <p:cNvSpPr txBox="1"/>
          <p:nvPr/>
        </p:nvSpPr>
        <p:spPr>
          <a:xfrm>
            <a:off x="7772400" y="237744"/>
            <a:ext cx="3840480" cy="292608"/>
          </a:xfrm>
          <a:prstGeom prst="rect">
            <a:avLst/>
          </a:prstGeom>
          <a:noFill/>
          <a:ln/>
        </p:spPr>
        <p:txBody>
          <a:bodyPr wrap="square" lIns="0" tIns="0" rIns="0" bIns="0" rtlCol="0" anchor="ctr"/>
          <a:lstStyle/>
          <a:p>
            <a:pPr indent="0" marL="0">
              <a:buNone/>
            </a:pPr>
            <a:r>
              <a:rPr lang="en-US" sz="1200" b="1" spc="200" kern="0" dirty="0">
                <a:solidFill>
                  <a:srgbClr val="C26A2E"/>
                </a:solidFill>
              </a:rPr>
              <a:t>STOP 3 OF 7  ·  LAS VEGAS</a:t>
            </a:r>
            <a:endParaRPr lang="en-US" sz="1200" dirty="0"/>
          </a:p>
        </p:txBody>
      </p:sp>
      <p:sp>
        <p:nvSpPr>
          <p:cNvPr id="12" name="Text 0"/>
          <p:cNvSpPr/>
          <p:nvPr>
            <p:ph idx="100"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2800" b="1" dirty="0">
                <a:solidFill>
                  <a:schemeClr val="tx1"/>
                </a:solidFill>
              </a:rPr>
              <a:t>Stop 3: the broker who cannot trade in his own name</a:t>
            </a:r>
            <a:endParaRPr lang="en-US" sz="2800" dirty="0"/>
          </a:p>
        </p:txBody>
      </p:sp>
      <p:sp>
        <p:nvSpPr>
          <p:cNvPr id="13" name="location circle"/>
          <p:cNvSpPr/>
          <p:nvPr/>
        </p:nvSpPr>
        <p:spPr>
          <a:xfrm>
            <a:off x="548640" y="1600200"/>
            <a:ext cx="502920" cy="502920"/>
          </a:xfrm>
          <a:prstGeom prst="ellipse">
            <a:avLst/>
          </a:prstGeom>
          <a:solidFill>
            <a:srgbClr val="C26A2E"/>
          </a:solidFill>
          <a:ln/>
        </p:spPr>
      </p:sp>
      <p:pic>
        <p:nvPicPr>
          <p:cNvPr id="14" name="location icon" descr="location">    </p:cNvPr>
          <p:cNvPicPr>
            <a:picLocks noChangeAspect="1"/>
          </p:cNvPicPr>
          <p:nvPr/>
        </p:nvPicPr>
        <p:blipFill>
          <a:blip r:embed="rId1"/>
          <a:stretch>
            <a:fillRect/>
          </a:stretch>
        </p:blipFill>
        <p:spPr>
          <a:xfrm>
            <a:off x="669341" y="1720901"/>
            <a:ext cx="261518" cy="261518"/>
          </a:xfrm>
          <a:prstGeom prst="rect">
            <a:avLst/>
          </a:prstGeom>
        </p:spPr>
      </p:pic>
      <p:sp>
        <p:nvSpPr>
          <p:cNvPr id="15" name="Text 12"/>
          <p:cNvSpPr txBox="1"/>
          <p:nvPr/>
        </p:nvSpPr>
        <p:spPr>
          <a:xfrm>
            <a:off x="1188720" y="1554480"/>
            <a:ext cx="4297680" cy="59436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Las Vegas, Nevada</a:t>
            </a:r>
            <a:endParaRPr lang="en-US" sz="1800" dirty="0"/>
          </a:p>
          <a:p>
            <a:pPr indent="0" marL="0">
              <a:buNone/>
            </a:pPr>
            <a:r>
              <a:rPr lang="en-US" sz="1200" dirty="0">
                <a:solidFill>
                  <a:srgbClr val="5F6675"/>
                </a:solidFill>
              </a:rPr>
              <a:t>At an arms fair</a:t>
            </a:r>
            <a:endParaRPr lang="en-US" sz="1800" dirty="0"/>
          </a:p>
        </p:txBody>
      </p:sp>
      <p:sp>
        <p:nvSpPr>
          <p:cNvPr id="16" name="Text 13"/>
          <p:cNvSpPr txBox="1"/>
          <p:nvPr/>
        </p:nvSpPr>
        <p:spPr>
          <a:xfrm>
            <a:off x="548640" y="2377440"/>
            <a:ext cx="4754880" cy="256032"/>
          </a:xfrm>
          <a:prstGeom prst="rect">
            <a:avLst/>
          </a:prstGeom>
          <a:noFill/>
          <a:ln/>
        </p:spPr>
        <p:txBody>
          <a:bodyPr wrap="square" lIns="0" tIns="0" rIns="0" bIns="0" rtlCol="0" anchor="ctr"/>
          <a:lstStyle/>
          <a:p>
            <a:pPr indent="0" marL="0">
              <a:buNone/>
            </a:pPr>
            <a:r>
              <a:rPr lang="en-US" sz="1100" b="1" spc="200" kern="0" dirty="0">
                <a:solidFill>
                  <a:srgbClr val="5F6675"/>
                </a:solidFill>
              </a:rPr>
              <a:t>WHAT HAPPENS HERE</a:t>
            </a:r>
            <a:endParaRPr lang="en-US" sz="1100" dirty="0"/>
          </a:p>
        </p:txBody>
      </p:sp>
      <p:sp>
        <p:nvSpPr>
          <p:cNvPr id="17" name="Text 14"/>
          <p:cNvSpPr txBox="1"/>
          <p:nvPr/>
        </p:nvSpPr>
        <p:spPr>
          <a:xfrm>
            <a:off x="548640" y="2697480"/>
            <a:ext cx="4754880" cy="2331720"/>
          </a:xfrm>
          <a:prstGeom prst="rect">
            <a:avLst/>
          </a:prstGeom>
          <a:noFill/>
          <a:ln/>
        </p:spPr>
        <p:txBody>
          <a:bodyPr wrap="square" lIns="0" tIns="0" rIns="0" bIns="0" rtlCol="0" anchor="t"/>
          <a:lstStyle/>
          <a:p>
            <a:pPr indent="0" marL="0">
              <a:buNone/>
            </a:pPr>
            <a:r>
              <a:rPr lang="en-US" sz="1600" dirty="0">
                <a:solidFill>
                  <a:srgbClr val="1F2A44"/>
                </a:solidFill>
              </a:rPr>
              <a:t>The pair meet Henry Girard, an arms dealer on a terrorist watch list who cannot sell to the US directly. He has access to about 100 million rounds in Albania. AEY needs supply; Henry needs a clean American front. A deal is born.</a:t>
            </a:r>
            <a:endParaRPr lang="en-US" sz="1600" dirty="0"/>
          </a:p>
        </p:txBody>
      </p:sp>
      <p:sp>
        <p:nvSpPr>
          <p:cNvPr id="18" name="THE BULLET"/>
          <p:cNvSpPr/>
          <p:nvPr/>
        </p:nvSpPr>
        <p:spPr>
          <a:xfrm>
            <a:off x="548640" y="5166360"/>
            <a:ext cx="2377440" cy="777240"/>
          </a:xfrm>
          <a:prstGeom prst="rect">
            <a:avLst/>
          </a:prstGeom>
          <a:solidFill>
            <a:srgbClr val="FFFFFF"/>
          </a:solidFill>
          <a:ln w="12700">
            <a:solidFill>
              <a:srgbClr val="C26A2E"/>
            </a:solidFill>
            <a:prstDash val="solid"/>
          </a:ln>
        </p:spPr>
      </p:sp>
      <p:sp>
        <p:nvSpPr>
          <p:cNvPr id="19" name="THE BULLET circle"/>
          <p:cNvSpPr/>
          <p:nvPr/>
        </p:nvSpPr>
        <p:spPr>
          <a:xfrm>
            <a:off x="658368" y="5321808"/>
            <a:ext cx="457200" cy="457200"/>
          </a:xfrm>
          <a:prstGeom prst="ellipse">
            <a:avLst/>
          </a:prstGeom>
          <a:solidFill>
            <a:srgbClr val="C26A2E"/>
          </a:solidFill>
          <a:ln/>
        </p:spPr>
      </p:sp>
      <p:pic>
        <p:nvPicPr>
          <p:cNvPr id="20" name="THE BULLET icon" descr="THE BULLET">    </p:cNvPr>
          <p:cNvPicPr>
            <a:picLocks noChangeAspect="1"/>
          </p:cNvPicPr>
          <p:nvPr/>
        </p:nvPicPr>
        <p:blipFill>
          <a:blip r:embed="rId2"/>
          <a:stretch>
            <a:fillRect/>
          </a:stretch>
        </p:blipFill>
        <p:spPr>
          <a:xfrm>
            <a:off x="768096" y="5431536"/>
            <a:ext cx="237744" cy="237744"/>
          </a:xfrm>
          <a:prstGeom prst="rect">
            <a:avLst/>
          </a:prstGeom>
        </p:spPr>
      </p:pic>
      <p:sp>
        <p:nvSpPr>
          <p:cNvPr id="21" name="Text 17"/>
          <p:cNvSpPr txBox="1"/>
          <p:nvPr/>
        </p:nvSpPr>
        <p:spPr>
          <a:xfrm>
            <a:off x="1207008" y="5166360"/>
            <a:ext cx="1645920" cy="777240"/>
          </a:xfrm>
          <a:prstGeom prst="rect">
            <a:avLst/>
          </a:prstGeom>
          <a:noFill/>
          <a:ln/>
        </p:spPr>
        <p:txBody>
          <a:bodyPr wrap="square" lIns="0" tIns="0" rIns="0" bIns="0" rtlCol="0" anchor="ctr"/>
          <a:lstStyle/>
          <a:p>
            <a:pPr indent="0" marL="0">
              <a:buNone/>
            </a:pPr>
            <a:r>
              <a:rPr lang="en-US" sz="1000" b="1" spc="100" kern="0" dirty="0">
                <a:solidFill>
                  <a:srgbClr val="C26A2E"/>
                </a:solidFill>
              </a:rPr>
              <a:t>THE BULLET</a:t>
            </a:r>
            <a:endParaRPr lang="en-US" sz="1000" dirty="0"/>
          </a:p>
          <a:p>
            <a:pPr indent="0" marL="0">
              <a:buNone/>
            </a:pPr>
            <a:r>
              <a:rPr lang="en-US" sz="1200" dirty="0">
                <a:solidFill>
                  <a:srgbClr val="1F2A44"/>
                </a:solidFill>
              </a:rPr>
              <a:t>Located: ~100M rounds in Albania</a:t>
            </a:r>
            <a:endParaRPr lang="en-US" sz="1000" dirty="0"/>
          </a:p>
        </p:txBody>
      </p:sp>
      <p:sp>
        <p:nvSpPr>
          <p:cNvPr id="22" name="THE MONEY"/>
          <p:cNvSpPr/>
          <p:nvPr/>
        </p:nvSpPr>
        <p:spPr>
          <a:xfrm>
            <a:off x="3063240" y="5166360"/>
            <a:ext cx="2377440" cy="777240"/>
          </a:xfrm>
          <a:prstGeom prst="rect">
            <a:avLst/>
          </a:prstGeom>
          <a:solidFill>
            <a:srgbClr val="FFFFFF"/>
          </a:solidFill>
          <a:ln w="12700">
            <a:solidFill>
              <a:srgbClr val="1F7A8C"/>
            </a:solidFill>
            <a:prstDash val="solid"/>
          </a:ln>
        </p:spPr>
      </p:sp>
      <p:sp>
        <p:nvSpPr>
          <p:cNvPr id="23" name="THE MONEY circle"/>
          <p:cNvSpPr/>
          <p:nvPr/>
        </p:nvSpPr>
        <p:spPr>
          <a:xfrm>
            <a:off x="3172968" y="5321808"/>
            <a:ext cx="457200" cy="457200"/>
          </a:xfrm>
          <a:prstGeom prst="ellipse">
            <a:avLst/>
          </a:prstGeom>
          <a:solidFill>
            <a:srgbClr val="1F7A8C"/>
          </a:solidFill>
          <a:ln/>
        </p:spPr>
      </p:sp>
      <p:pic>
        <p:nvPicPr>
          <p:cNvPr id="24" name="THE MONEY icon" descr="THE MONEY">    </p:cNvPr>
          <p:cNvPicPr>
            <a:picLocks noChangeAspect="1"/>
          </p:cNvPicPr>
          <p:nvPr/>
        </p:nvPicPr>
        <p:blipFill>
          <a:blip r:embed="rId3"/>
          <a:stretch>
            <a:fillRect/>
          </a:stretch>
        </p:blipFill>
        <p:spPr>
          <a:xfrm>
            <a:off x="3282696" y="5431536"/>
            <a:ext cx="237744" cy="237744"/>
          </a:xfrm>
          <a:prstGeom prst="rect">
            <a:avLst/>
          </a:prstGeom>
        </p:spPr>
      </p:pic>
      <p:sp>
        <p:nvSpPr>
          <p:cNvPr id="25" name="Text 20"/>
          <p:cNvSpPr txBox="1"/>
          <p:nvPr/>
        </p:nvSpPr>
        <p:spPr>
          <a:xfrm>
            <a:off x="3721608" y="5166360"/>
            <a:ext cx="1645920" cy="777240"/>
          </a:xfrm>
          <a:prstGeom prst="rect">
            <a:avLst/>
          </a:prstGeom>
          <a:noFill/>
          <a:ln/>
        </p:spPr>
        <p:txBody>
          <a:bodyPr wrap="square" lIns="0" tIns="0" rIns="0" bIns="0" rtlCol="0" anchor="ctr"/>
          <a:lstStyle/>
          <a:p>
            <a:pPr indent="0" marL="0">
              <a:buNone/>
            </a:pPr>
            <a:r>
              <a:rPr lang="en-US" sz="1000" b="1" spc="100" kern="0" dirty="0">
                <a:solidFill>
                  <a:srgbClr val="1F7A8C"/>
                </a:solidFill>
              </a:rPr>
              <a:t>THE MONEY</a:t>
            </a:r>
            <a:endParaRPr lang="en-US" sz="1000" dirty="0"/>
          </a:p>
          <a:p>
            <a:pPr indent="0" marL="0">
              <a:buNone/>
            </a:pPr>
            <a:r>
              <a:rPr lang="en-US" sz="1200" dirty="0">
                <a:solidFill>
                  <a:srgbClr val="1F2A44"/>
                </a:solidFill>
              </a:rPr>
              <a:t>Henry wants his cut</a:t>
            </a:r>
            <a:endParaRPr lang="en-US" sz="1000" dirty="0"/>
          </a:p>
        </p:txBody>
      </p:sp>
      <p:sp>
        <p:nvSpPr>
          <p:cNvPr id="26" name="Text 21"/>
          <p:cNvSpPr txBox="1"/>
          <p:nvPr/>
        </p:nvSpPr>
        <p:spPr>
          <a:xfrm>
            <a:off x="5760720" y="1600200"/>
            <a:ext cx="5882335" cy="256032"/>
          </a:xfrm>
          <a:prstGeom prst="rect">
            <a:avLst/>
          </a:prstGeom>
          <a:noFill/>
          <a:ln/>
        </p:spPr>
        <p:txBody>
          <a:bodyPr wrap="square" lIns="0" tIns="0" rIns="0" bIns="0" rtlCol="0" anchor="ctr"/>
          <a:lstStyle/>
          <a:p>
            <a:pPr indent="0" marL="0">
              <a:buNone/>
            </a:pPr>
            <a:r>
              <a:rPr lang="en-US" sz="1100" b="1" spc="200" kern="0" dirty="0">
                <a:solidFill>
                  <a:srgbClr val="1F7A8C"/>
                </a:solidFill>
              </a:rPr>
              <a:t>CRIMINOLOGY CHECKPOINT</a:t>
            </a:r>
            <a:endParaRPr lang="en-US" sz="1100" dirty="0"/>
          </a:p>
        </p:txBody>
      </p:sp>
      <p:sp>
        <p:nvSpPr>
          <p:cNvPr id="27" name="Network model and brokerage"/>
          <p:cNvSpPr/>
          <p:nvPr/>
        </p:nvSpPr>
        <p:spPr>
          <a:xfrm>
            <a:off x="5760720" y="1920240"/>
            <a:ext cx="5882335" cy="2011680"/>
          </a:xfrm>
          <a:prstGeom prst="rect">
            <a:avLst/>
          </a:prstGeom>
          <a:solidFill>
            <a:srgbClr val="FFFFFF"/>
          </a:solidFill>
          <a:ln w="12700">
            <a:solidFill>
              <a:srgbClr val="C26A2E"/>
            </a:solidFill>
            <a:prstDash val="solid"/>
          </a:ln>
          <a:effectLst>
            <a:outerShdw sx="100000" sy="100000" kx="0" ky="0" algn="bl" rotWithShape="0" blurRad="76200" dist="25400" dir="5400000">
              <a:srgbClr val="000000">
                <a:alpha val="7000"/>
              </a:srgbClr>
            </a:outerShdw>
          </a:effectLst>
        </p:spPr>
      </p:sp>
      <p:sp>
        <p:nvSpPr>
          <p:cNvPr id="28" name="Network model and brokerage circle"/>
          <p:cNvSpPr/>
          <p:nvPr/>
        </p:nvSpPr>
        <p:spPr>
          <a:xfrm>
            <a:off x="5961888" y="2121408"/>
            <a:ext cx="457200" cy="457200"/>
          </a:xfrm>
          <a:prstGeom prst="ellipse">
            <a:avLst/>
          </a:prstGeom>
          <a:solidFill>
            <a:srgbClr val="C26A2E"/>
          </a:solidFill>
          <a:ln/>
        </p:spPr>
      </p:sp>
      <p:pic>
        <p:nvPicPr>
          <p:cNvPr id="29" name="Network model and brokerage icon" descr="Network model and brokerage">    </p:cNvPr>
          <p:cNvPicPr>
            <a:picLocks noChangeAspect="1"/>
          </p:cNvPicPr>
          <p:nvPr/>
        </p:nvPicPr>
        <p:blipFill>
          <a:blip r:embed="rId4"/>
          <a:stretch>
            <a:fillRect/>
          </a:stretch>
        </p:blipFill>
        <p:spPr>
          <a:xfrm>
            <a:off x="6071616" y="2231136"/>
            <a:ext cx="237744" cy="237744"/>
          </a:xfrm>
          <a:prstGeom prst="rect">
            <a:avLst/>
          </a:prstGeom>
        </p:spPr>
      </p:pic>
      <p:sp>
        <p:nvSpPr>
          <p:cNvPr id="30" name="Text 24"/>
          <p:cNvSpPr txBox="1"/>
          <p:nvPr/>
        </p:nvSpPr>
        <p:spPr>
          <a:xfrm>
            <a:off x="6583680" y="2029968"/>
            <a:ext cx="4876495" cy="64008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Network model and brokerage</a:t>
            </a:r>
            <a:endParaRPr lang="en-US" sz="1700" dirty="0"/>
          </a:p>
          <a:p>
            <a:pPr indent="0" marL="0">
              <a:buNone/>
            </a:pPr>
            <a:r>
              <a:rPr lang="en-US" sz="1200" dirty="0">
                <a:solidFill>
                  <a:srgbClr val="5F6675"/>
                </a:solidFill>
              </a:rPr>
              <a:t>Morselli (2009)</a:t>
            </a:r>
            <a:endParaRPr lang="en-US" sz="1700" dirty="0"/>
          </a:p>
        </p:txBody>
      </p:sp>
      <p:sp>
        <p:nvSpPr>
          <p:cNvPr id="31" name="Text 25"/>
          <p:cNvSpPr txBox="1"/>
          <p:nvPr/>
        </p:nvSpPr>
        <p:spPr>
          <a:xfrm>
            <a:off x="6583680" y="2697480"/>
            <a:ext cx="4830775" cy="1143000"/>
          </a:xfrm>
          <a:prstGeom prst="rect">
            <a:avLst/>
          </a:prstGeom>
          <a:noFill/>
          <a:ln/>
        </p:spPr>
        <p:txBody>
          <a:bodyPr wrap="square" lIns="0" tIns="0" rIns="0" bIns="0" rtlCol="0" anchor="t"/>
          <a:lstStyle/>
          <a:p>
            <a:pPr indent="0" marL="0">
              <a:buNone/>
            </a:pPr>
            <a:r>
              <a:rPr lang="en-US" sz="1500" dirty="0">
                <a:solidFill>
                  <a:srgbClr val="1F2A44"/>
                </a:solidFill>
              </a:rPr>
              <a:t>Power belongs to brokers who connect worlds that cannot reach each other: the Pentagon on one side, Balkan stockpiles on the other.</a:t>
            </a:r>
            <a:endParaRPr lang="en-US" sz="1500" dirty="0"/>
          </a:p>
        </p:txBody>
      </p:sp>
      <p:sp>
        <p:nvSpPr>
          <p:cNvPr id="32" name="Patron–client and crime–terror nexus"/>
          <p:cNvSpPr/>
          <p:nvPr/>
        </p:nvSpPr>
        <p:spPr>
          <a:xfrm>
            <a:off x="5760720" y="4114800"/>
            <a:ext cx="5882335" cy="2011680"/>
          </a:xfrm>
          <a:prstGeom prst="rect">
            <a:avLst/>
          </a:prstGeom>
          <a:solidFill>
            <a:srgbClr val="FFFFFF"/>
          </a:solidFill>
          <a:ln w="12700">
            <a:solidFill>
              <a:srgbClr val="D8D3CA"/>
            </a:solidFill>
            <a:prstDash val="solid"/>
          </a:ln>
          <a:effectLst>
            <a:outerShdw sx="100000" sy="100000" kx="0" ky="0" algn="bl" rotWithShape="0" blurRad="76200" dist="25400" dir="5400000">
              <a:srgbClr val="000000">
                <a:alpha val="7000"/>
              </a:srgbClr>
            </a:outerShdw>
          </a:effectLst>
        </p:spPr>
      </p:sp>
      <p:sp>
        <p:nvSpPr>
          <p:cNvPr id="33" name="Patron–client and crime–terror nexus circle"/>
          <p:cNvSpPr/>
          <p:nvPr/>
        </p:nvSpPr>
        <p:spPr>
          <a:xfrm>
            <a:off x="5961888" y="4315968"/>
            <a:ext cx="457200" cy="457200"/>
          </a:xfrm>
          <a:prstGeom prst="ellipse">
            <a:avLst/>
          </a:prstGeom>
          <a:solidFill>
            <a:srgbClr val="1F7A8C"/>
          </a:solidFill>
          <a:ln/>
        </p:spPr>
      </p:sp>
      <p:pic>
        <p:nvPicPr>
          <p:cNvPr id="34" name="Patron–client and crime–terror nexus icon" descr="Patron–client and crime–terror nexus">    </p:cNvPr>
          <p:cNvPicPr>
            <a:picLocks noChangeAspect="1"/>
          </p:cNvPicPr>
          <p:nvPr/>
        </p:nvPicPr>
        <p:blipFill>
          <a:blip r:embed="rId5"/>
          <a:stretch>
            <a:fillRect/>
          </a:stretch>
        </p:blipFill>
        <p:spPr>
          <a:xfrm>
            <a:off x="6071616" y="4425696"/>
            <a:ext cx="237744" cy="237744"/>
          </a:xfrm>
          <a:prstGeom prst="rect">
            <a:avLst/>
          </a:prstGeom>
        </p:spPr>
      </p:pic>
      <p:sp>
        <p:nvSpPr>
          <p:cNvPr id="35" name="Text 28"/>
          <p:cNvSpPr txBox="1"/>
          <p:nvPr/>
        </p:nvSpPr>
        <p:spPr>
          <a:xfrm>
            <a:off x="6583680" y="4224528"/>
            <a:ext cx="4876495" cy="64008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Patron–client and crime–terror nexus</a:t>
            </a:r>
            <a:endParaRPr lang="en-US" sz="1700" dirty="0"/>
          </a:p>
          <a:p>
            <a:pPr indent="0" marL="0">
              <a:buNone/>
            </a:pPr>
            <a:r>
              <a:rPr lang="en-US" sz="1200" dirty="0">
                <a:solidFill>
                  <a:srgbClr val="5F6675"/>
                </a:solidFill>
              </a:rPr>
              <a:t>Albini (1971)</a:t>
            </a:r>
            <a:endParaRPr lang="en-US" sz="1700" dirty="0"/>
          </a:p>
        </p:txBody>
      </p:sp>
      <p:sp>
        <p:nvSpPr>
          <p:cNvPr id="36" name="Text 29"/>
          <p:cNvSpPr txBox="1"/>
          <p:nvPr/>
        </p:nvSpPr>
        <p:spPr>
          <a:xfrm>
            <a:off x="6583680" y="4892040"/>
            <a:ext cx="4830775" cy="1143000"/>
          </a:xfrm>
          <a:prstGeom prst="rect">
            <a:avLst/>
          </a:prstGeom>
          <a:noFill/>
          <a:ln/>
        </p:spPr>
        <p:txBody>
          <a:bodyPr wrap="square" lIns="0" tIns="0" rIns="0" bIns="0" rtlCol="0" anchor="t"/>
          <a:lstStyle/>
          <a:p>
            <a:pPr indent="0" marL="0">
              <a:buNone/>
            </a:pPr>
            <a:r>
              <a:rPr lang="en-US" sz="1500" dirty="0">
                <a:solidFill>
                  <a:srgbClr val="1F2A44"/>
                </a:solidFill>
              </a:rPr>
              <a:t>Henry trades access for a share of profits. A watch-listed actor stays in the market by borrowing a clean company’s name.</a:t>
            </a:r>
            <a:endParaRPr lang="en-US" sz="1500" dirty="0"/>
          </a:p>
        </p:txBody>
      </p:sp>
      <p:sp>
        <p:nvSpPr>
          <p:cNvPr id="37" name="Text 30"/>
          <p:cNvSpPr txBox="1"/>
          <p:nvPr/>
        </p:nvSpPr>
        <p:spPr>
          <a:xfrm>
            <a:off x="548640" y="6108192"/>
            <a:ext cx="11094415" cy="201168"/>
          </a:xfrm>
          <a:prstGeom prst="rect">
            <a:avLst/>
          </a:prstGeom>
          <a:noFill/>
          <a:ln/>
        </p:spPr>
        <p:txBody>
          <a:bodyPr wrap="square" lIns="0" tIns="0" rIns="0" bIns="0" rtlCol="0" anchor="ctr"/>
          <a:lstStyle/>
          <a:p>
            <a:pPr indent="0" marL="0">
              <a:buNone/>
            </a:pPr>
            <a:r>
              <a:rPr lang="en-US" sz="1000" i="1" dirty="0">
                <a:solidFill>
                  <a:srgbClr val="9A968E"/>
                </a:solidFill>
              </a:rPr>
              <a:t>Henry Girard is a composite character inspired by the real broker Heinrich Thomet.</a:t>
            </a:r>
            <a:endParaRPr lang="en-US" sz="10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968E"/>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racker line"/>
          <p:cNvSpPr/>
          <p:nvPr/>
        </p:nvSpPr>
        <p:spPr>
          <a:xfrm>
            <a:off x="548640" y="384048"/>
            <a:ext cx="6949440" cy="0"/>
          </a:xfrm>
          <a:prstGeom prst="line">
            <a:avLst/>
          </a:prstGeom>
          <a:noFill/>
          <a:ln w="25400">
            <a:solidFill>
              <a:srgbClr val="D8D3CA"/>
            </a:solidFill>
            <a:prstDash val="solid"/>
          </a:ln>
        </p:spPr>
      </p:sp>
      <p:sp>
        <p:nvSpPr>
          <p:cNvPr id="3" name="tracker progress"/>
          <p:cNvSpPr/>
          <p:nvPr/>
        </p:nvSpPr>
        <p:spPr>
          <a:xfrm>
            <a:off x="548640" y="384048"/>
            <a:ext cx="3474720" cy="0"/>
          </a:xfrm>
          <a:prstGeom prst="line">
            <a:avLst/>
          </a:prstGeom>
          <a:noFill/>
          <a:ln w="38100">
            <a:solidFill>
              <a:srgbClr val="C26A2E"/>
            </a:solidFill>
            <a:prstDash val="solid"/>
          </a:ln>
        </p:spPr>
      </p:sp>
      <p:sp>
        <p:nvSpPr>
          <p:cNvPr id="4" name="stop 1"/>
          <p:cNvSpPr/>
          <p:nvPr/>
        </p:nvSpPr>
        <p:spPr>
          <a:xfrm>
            <a:off x="475488" y="310896"/>
            <a:ext cx="146304" cy="146304"/>
          </a:xfrm>
          <a:prstGeom prst="ellipse">
            <a:avLst/>
          </a:prstGeom>
          <a:solidFill>
            <a:srgbClr val="C26A2E"/>
          </a:solidFill>
          <a:ln w="19050">
            <a:solidFill>
              <a:srgbClr val="C26A2E"/>
            </a:solidFill>
            <a:prstDash val="solid"/>
          </a:ln>
        </p:spPr>
      </p:sp>
      <p:sp>
        <p:nvSpPr>
          <p:cNvPr id="5" name="stop 2"/>
          <p:cNvSpPr/>
          <p:nvPr/>
        </p:nvSpPr>
        <p:spPr>
          <a:xfrm>
            <a:off x="1633728" y="310896"/>
            <a:ext cx="146304" cy="146304"/>
          </a:xfrm>
          <a:prstGeom prst="ellipse">
            <a:avLst/>
          </a:prstGeom>
          <a:solidFill>
            <a:srgbClr val="C26A2E"/>
          </a:solidFill>
          <a:ln w="19050">
            <a:solidFill>
              <a:srgbClr val="C26A2E"/>
            </a:solidFill>
            <a:prstDash val="solid"/>
          </a:ln>
        </p:spPr>
      </p:sp>
      <p:sp>
        <p:nvSpPr>
          <p:cNvPr id="6" name="stop 3"/>
          <p:cNvSpPr/>
          <p:nvPr/>
        </p:nvSpPr>
        <p:spPr>
          <a:xfrm>
            <a:off x="2791968" y="310896"/>
            <a:ext cx="146304" cy="146304"/>
          </a:xfrm>
          <a:prstGeom prst="ellipse">
            <a:avLst/>
          </a:prstGeom>
          <a:solidFill>
            <a:srgbClr val="C26A2E"/>
          </a:solidFill>
          <a:ln w="19050">
            <a:solidFill>
              <a:srgbClr val="C26A2E"/>
            </a:solidFill>
            <a:prstDash val="solid"/>
          </a:ln>
        </p:spPr>
      </p:sp>
      <p:sp>
        <p:nvSpPr>
          <p:cNvPr id="7" name="stop 4"/>
          <p:cNvSpPr/>
          <p:nvPr/>
        </p:nvSpPr>
        <p:spPr>
          <a:xfrm>
            <a:off x="3904488" y="265176"/>
            <a:ext cx="237744" cy="237744"/>
          </a:xfrm>
          <a:prstGeom prst="ellipse">
            <a:avLst/>
          </a:prstGeom>
          <a:solidFill>
            <a:srgbClr val="C26A2E"/>
          </a:solidFill>
          <a:ln w="19050">
            <a:solidFill>
              <a:srgbClr val="C26A2E"/>
            </a:solidFill>
            <a:prstDash val="solid"/>
          </a:ln>
        </p:spPr>
      </p:sp>
      <p:sp>
        <p:nvSpPr>
          <p:cNvPr id="8" name="stop 5"/>
          <p:cNvSpPr/>
          <p:nvPr/>
        </p:nvSpPr>
        <p:spPr>
          <a:xfrm>
            <a:off x="5108448" y="310896"/>
            <a:ext cx="146304" cy="146304"/>
          </a:xfrm>
          <a:prstGeom prst="ellipse">
            <a:avLst/>
          </a:prstGeom>
          <a:solidFill>
            <a:srgbClr val="FFFFFF"/>
          </a:solidFill>
          <a:ln w="19050">
            <a:solidFill>
              <a:srgbClr val="B9B3A8"/>
            </a:solidFill>
            <a:prstDash val="solid"/>
          </a:ln>
        </p:spPr>
      </p:sp>
      <p:sp>
        <p:nvSpPr>
          <p:cNvPr id="9" name="stop 6"/>
          <p:cNvSpPr/>
          <p:nvPr/>
        </p:nvSpPr>
        <p:spPr>
          <a:xfrm>
            <a:off x="6266688" y="310896"/>
            <a:ext cx="146304" cy="146304"/>
          </a:xfrm>
          <a:prstGeom prst="ellipse">
            <a:avLst/>
          </a:prstGeom>
          <a:solidFill>
            <a:srgbClr val="FFFFFF"/>
          </a:solidFill>
          <a:ln w="19050">
            <a:solidFill>
              <a:srgbClr val="B9B3A8"/>
            </a:solidFill>
            <a:prstDash val="solid"/>
          </a:ln>
        </p:spPr>
      </p:sp>
      <p:sp>
        <p:nvSpPr>
          <p:cNvPr id="10" name="stop 7"/>
          <p:cNvSpPr/>
          <p:nvPr/>
        </p:nvSpPr>
        <p:spPr>
          <a:xfrm>
            <a:off x="7424928" y="310896"/>
            <a:ext cx="146304" cy="146304"/>
          </a:xfrm>
          <a:prstGeom prst="ellipse">
            <a:avLst/>
          </a:prstGeom>
          <a:solidFill>
            <a:srgbClr val="FFFFFF"/>
          </a:solidFill>
          <a:ln w="19050">
            <a:solidFill>
              <a:srgbClr val="B9B3A8"/>
            </a:solidFill>
            <a:prstDash val="solid"/>
          </a:ln>
        </p:spPr>
      </p:sp>
      <p:sp>
        <p:nvSpPr>
          <p:cNvPr id="11" name="Text 9"/>
          <p:cNvSpPr txBox="1"/>
          <p:nvPr/>
        </p:nvSpPr>
        <p:spPr>
          <a:xfrm>
            <a:off x="7772400" y="237744"/>
            <a:ext cx="3840480" cy="292608"/>
          </a:xfrm>
          <a:prstGeom prst="rect">
            <a:avLst/>
          </a:prstGeom>
          <a:noFill/>
          <a:ln/>
        </p:spPr>
        <p:txBody>
          <a:bodyPr wrap="square" lIns="0" tIns="0" rIns="0" bIns="0" rtlCol="0" anchor="ctr"/>
          <a:lstStyle/>
          <a:p>
            <a:pPr indent="0" marL="0">
              <a:buNone/>
            </a:pPr>
            <a:r>
              <a:rPr lang="en-US" sz="1200" b="1" spc="200" kern="0" dirty="0">
                <a:solidFill>
                  <a:srgbClr val="C26A2E"/>
                </a:solidFill>
              </a:rPr>
              <a:t>STOP 4 OF 7  ·  ALBANIA</a:t>
            </a:r>
            <a:endParaRPr lang="en-US" sz="1200" dirty="0"/>
          </a:p>
        </p:txBody>
      </p:sp>
      <p:sp>
        <p:nvSpPr>
          <p:cNvPr id="12" name="Text 0"/>
          <p:cNvSpPr/>
          <p:nvPr>
            <p:ph idx="100"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2800" b="1" dirty="0">
                <a:solidFill>
                  <a:schemeClr val="tx1"/>
                </a:solidFill>
              </a:rPr>
              <a:t>Stop 4: an Albanian stockpile and a chain of hands</a:t>
            </a:r>
            <a:endParaRPr lang="en-US" sz="2800" dirty="0"/>
          </a:p>
        </p:txBody>
      </p:sp>
      <p:sp>
        <p:nvSpPr>
          <p:cNvPr id="13" name="location circle"/>
          <p:cNvSpPr/>
          <p:nvPr/>
        </p:nvSpPr>
        <p:spPr>
          <a:xfrm>
            <a:off x="548640" y="1600200"/>
            <a:ext cx="502920" cy="502920"/>
          </a:xfrm>
          <a:prstGeom prst="ellipse">
            <a:avLst/>
          </a:prstGeom>
          <a:solidFill>
            <a:srgbClr val="C26A2E"/>
          </a:solidFill>
          <a:ln/>
        </p:spPr>
      </p:sp>
      <p:pic>
        <p:nvPicPr>
          <p:cNvPr id="14" name="location icon" descr="location">    </p:cNvPr>
          <p:cNvPicPr>
            <a:picLocks noChangeAspect="1"/>
          </p:cNvPicPr>
          <p:nvPr/>
        </p:nvPicPr>
        <p:blipFill>
          <a:blip r:embed="rId1"/>
          <a:stretch>
            <a:fillRect/>
          </a:stretch>
        </p:blipFill>
        <p:spPr>
          <a:xfrm>
            <a:off x="669341" y="1720901"/>
            <a:ext cx="261518" cy="261518"/>
          </a:xfrm>
          <a:prstGeom prst="rect">
            <a:avLst/>
          </a:prstGeom>
        </p:spPr>
      </p:pic>
      <p:sp>
        <p:nvSpPr>
          <p:cNvPr id="15" name="Text 12"/>
          <p:cNvSpPr txBox="1"/>
          <p:nvPr/>
        </p:nvSpPr>
        <p:spPr>
          <a:xfrm>
            <a:off x="1188720" y="1554480"/>
            <a:ext cx="4297680" cy="59436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Tirana, Albania</a:t>
            </a:r>
            <a:endParaRPr lang="en-US" sz="1800" dirty="0"/>
          </a:p>
          <a:p>
            <a:pPr indent="0" marL="0">
              <a:buNone/>
            </a:pPr>
            <a:r>
              <a:rPr lang="en-US" sz="1200" dirty="0">
                <a:solidFill>
                  <a:srgbClr val="5F6675"/>
                </a:solidFill>
              </a:rPr>
              <a:t>The source of supply</a:t>
            </a:r>
            <a:endParaRPr lang="en-US" sz="1800" dirty="0"/>
          </a:p>
        </p:txBody>
      </p:sp>
      <p:sp>
        <p:nvSpPr>
          <p:cNvPr id="16" name="Text 13"/>
          <p:cNvSpPr txBox="1"/>
          <p:nvPr/>
        </p:nvSpPr>
        <p:spPr>
          <a:xfrm>
            <a:off x="548640" y="2377440"/>
            <a:ext cx="4754880" cy="256032"/>
          </a:xfrm>
          <a:prstGeom prst="rect">
            <a:avLst/>
          </a:prstGeom>
          <a:noFill/>
          <a:ln/>
        </p:spPr>
        <p:txBody>
          <a:bodyPr wrap="square" lIns="0" tIns="0" rIns="0" bIns="0" rtlCol="0" anchor="ctr"/>
          <a:lstStyle/>
          <a:p>
            <a:pPr indent="0" marL="0">
              <a:buNone/>
            </a:pPr>
            <a:r>
              <a:rPr lang="en-US" sz="1100" b="1" spc="200" kern="0" dirty="0">
                <a:solidFill>
                  <a:srgbClr val="5F6675"/>
                </a:solidFill>
              </a:rPr>
              <a:t>WHAT HAPPENS HERE</a:t>
            </a:r>
            <a:endParaRPr lang="en-US" sz="1100" dirty="0"/>
          </a:p>
        </p:txBody>
      </p:sp>
      <p:sp>
        <p:nvSpPr>
          <p:cNvPr id="17" name="Text 14"/>
          <p:cNvSpPr txBox="1"/>
          <p:nvPr/>
        </p:nvSpPr>
        <p:spPr>
          <a:xfrm>
            <a:off x="548640" y="2697480"/>
            <a:ext cx="4754880" cy="2331720"/>
          </a:xfrm>
          <a:prstGeom prst="rect">
            <a:avLst/>
          </a:prstGeom>
          <a:noFill/>
          <a:ln/>
        </p:spPr>
        <p:txBody>
          <a:bodyPr wrap="square" lIns="0" tIns="0" rIns="0" bIns="0" rtlCol="0" anchor="t"/>
          <a:lstStyle/>
          <a:p>
            <a:pPr indent="0" marL="0">
              <a:buNone/>
            </a:pPr>
            <a:r>
              <a:rPr lang="en-US" sz="1600" dirty="0">
                <a:solidFill>
                  <a:srgbClr val="1F2A44"/>
                </a:solidFill>
              </a:rPr>
              <a:t>The ammunition sits in old state depots. To reach it, AEY works through local intermediaries and officials, each of whom takes a share. Pressure grows as Efraim tries to cut Henry out of the profits.</a:t>
            </a:r>
            <a:endParaRPr lang="en-US" sz="1600" dirty="0"/>
          </a:p>
        </p:txBody>
      </p:sp>
      <p:sp>
        <p:nvSpPr>
          <p:cNvPr id="18" name="THE BULLET"/>
          <p:cNvSpPr/>
          <p:nvPr/>
        </p:nvSpPr>
        <p:spPr>
          <a:xfrm>
            <a:off x="548640" y="5166360"/>
            <a:ext cx="2377440" cy="777240"/>
          </a:xfrm>
          <a:prstGeom prst="rect">
            <a:avLst/>
          </a:prstGeom>
          <a:solidFill>
            <a:srgbClr val="FFFFFF"/>
          </a:solidFill>
          <a:ln w="12700">
            <a:solidFill>
              <a:srgbClr val="C26A2E"/>
            </a:solidFill>
            <a:prstDash val="solid"/>
          </a:ln>
        </p:spPr>
      </p:sp>
      <p:sp>
        <p:nvSpPr>
          <p:cNvPr id="19" name="THE BULLET circle"/>
          <p:cNvSpPr/>
          <p:nvPr/>
        </p:nvSpPr>
        <p:spPr>
          <a:xfrm>
            <a:off x="658368" y="5321808"/>
            <a:ext cx="457200" cy="457200"/>
          </a:xfrm>
          <a:prstGeom prst="ellipse">
            <a:avLst/>
          </a:prstGeom>
          <a:solidFill>
            <a:srgbClr val="C26A2E"/>
          </a:solidFill>
          <a:ln/>
        </p:spPr>
      </p:sp>
      <p:pic>
        <p:nvPicPr>
          <p:cNvPr id="20" name="THE BULLET icon" descr="THE BULLET">    </p:cNvPr>
          <p:cNvPicPr>
            <a:picLocks noChangeAspect="1"/>
          </p:cNvPicPr>
          <p:nvPr/>
        </p:nvPicPr>
        <p:blipFill>
          <a:blip r:embed="rId2"/>
          <a:stretch>
            <a:fillRect/>
          </a:stretch>
        </p:blipFill>
        <p:spPr>
          <a:xfrm>
            <a:off x="768096" y="5431536"/>
            <a:ext cx="237744" cy="237744"/>
          </a:xfrm>
          <a:prstGeom prst="rect">
            <a:avLst/>
          </a:prstGeom>
        </p:spPr>
      </p:pic>
      <p:sp>
        <p:nvSpPr>
          <p:cNvPr id="21" name="Text 17"/>
          <p:cNvSpPr txBox="1"/>
          <p:nvPr/>
        </p:nvSpPr>
        <p:spPr>
          <a:xfrm>
            <a:off x="1207008" y="5166360"/>
            <a:ext cx="1645920" cy="777240"/>
          </a:xfrm>
          <a:prstGeom prst="rect">
            <a:avLst/>
          </a:prstGeom>
          <a:noFill/>
          <a:ln/>
        </p:spPr>
        <p:txBody>
          <a:bodyPr wrap="square" lIns="0" tIns="0" rIns="0" bIns="0" rtlCol="0" anchor="ctr"/>
          <a:lstStyle/>
          <a:p>
            <a:pPr indent="0" marL="0">
              <a:buNone/>
            </a:pPr>
            <a:r>
              <a:rPr lang="en-US" sz="1000" b="1" spc="100" kern="0" dirty="0">
                <a:solidFill>
                  <a:srgbClr val="C26A2E"/>
                </a:solidFill>
              </a:rPr>
              <a:t>THE BULLET</a:t>
            </a:r>
            <a:endParaRPr lang="en-US" sz="1000" dirty="0"/>
          </a:p>
          <a:p>
            <a:pPr indent="0" marL="0">
              <a:buNone/>
            </a:pPr>
            <a:r>
              <a:rPr lang="en-US" sz="1200" dirty="0">
                <a:solidFill>
                  <a:srgbClr val="1F2A44"/>
                </a:solidFill>
              </a:rPr>
              <a:t>Old stock in state depots</a:t>
            </a:r>
            <a:endParaRPr lang="en-US" sz="1000" dirty="0"/>
          </a:p>
        </p:txBody>
      </p:sp>
      <p:sp>
        <p:nvSpPr>
          <p:cNvPr id="22" name="THE MONEY"/>
          <p:cNvSpPr/>
          <p:nvPr/>
        </p:nvSpPr>
        <p:spPr>
          <a:xfrm>
            <a:off x="3063240" y="5166360"/>
            <a:ext cx="2377440" cy="777240"/>
          </a:xfrm>
          <a:prstGeom prst="rect">
            <a:avLst/>
          </a:prstGeom>
          <a:solidFill>
            <a:srgbClr val="FFFFFF"/>
          </a:solidFill>
          <a:ln w="12700">
            <a:solidFill>
              <a:srgbClr val="1F7A8C"/>
            </a:solidFill>
            <a:prstDash val="solid"/>
          </a:ln>
        </p:spPr>
      </p:sp>
      <p:sp>
        <p:nvSpPr>
          <p:cNvPr id="23" name="THE MONEY circle"/>
          <p:cNvSpPr/>
          <p:nvPr/>
        </p:nvSpPr>
        <p:spPr>
          <a:xfrm>
            <a:off x="3172968" y="5321808"/>
            <a:ext cx="457200" cy="457200"/>
          </a:xfrm>
          <a:prstGeom prst="ellipse">
            <a:avLst/>
          </a:prstGeom>
          <a:solidFill>
            <a:srgbClr val="1F7A8C"/>
          </a:solidFill>
          <a:ln/>
        </p:spPr>
      </p:sp>
      <p:pic>
        <p:nvPicPr>
          <p:cNvPr id="24" name="THE MONEY icon" descr="THE MONEY">    </p:cNvPr>
          <p:cNvPicPr>
            <a:picLocks noChangeAspect="1"/>
          </p:cNvPicPr>
          <p:nvPr/>
        </p:nvPicPr>
        <p:blipFill>
          <a:blip r:embed="rId3"/>
          <a:stretch>
            <a:fillRect/>
          </a:stretch>
        </p:blipFill>
        <p:spPr>
          <a:xfrm>
            <a:off x="3282696" y="5431536"/>
            <a:ext cx="237744" cy="237744"/>
          </a:xfrm>
          <a:prstGeom prst="rect">
            <a:avLst/>
          </a:prstGeom>
        </p:spPr>
      </p:pic>
      <p:sp>
        <p:nvSpPr>
          <p:cNvPr id="25" name="Text 20"/>
          <p:cNvSpPr txBox="1"/>
          <p:nvPr/>
        </p:nvSpPr>
        <p:spPr>
          <a:xfrm>
            <a:off x="3721608" y="5166360"/>
            <a:ext cx="1645920" cy="777240"/>
          </a:xfrm>
          <a:prstGeom prst="rect">
            <a:avLst/>
          </a:prstGeom>
          <a:noFill/>
          <a:ln/>
        </p:spPr>
        <p:txBody>
          <a:bodyPr wrap="square" lIns="0" tIns="0" rIns="0" bIns="0" rtlCol="0" anchor="ctr"/>
          <a:lstStyle/>
          <a:p>
            <a:pPr indent="0" marL="0">
              <a:buNone/>
            </a:pPr>
            <a:r>
              <a:rPr lang="en-US" sz="1000" b="1" spc="100" kern="0" dirty="0">
                <a:solidFill>
                  <a:srgbClr val="1F7A8C"/>
                </a:solidFill>
              </a:rPr>
              <a:t>THE MONEY</a:t>
            </a:r>
            <a:endParaRPr lang="en-US" sz="1000" dirty="0"/>
          </a:p>
          <a:p>
            <a:pPr indent="0" marL="0">
              <a:buNone/>
            </a:pPr>
            <a:r>
              <a:rPr lang="en-US" sz="1200" dirty="0">
                <a:solidFill>
                  <a:srgbClr val="1F2A44"/>
                </a:solidFill>
              </a:rPr>
              <a:t>Officials and middlemen skim</a:t>
            </a:r>
            <a:endParaRPr lang="en-US" sz="1000" dirty="0"/>
          </a:p>
        </p:txBody>
      </p:sp>
      <p:sp>
        <p:nvSpPr>
          <p:cNvPr id="26" name="Text 21"/>
          <p:cNvSpPr txBox="1"/>
          <p:nvPr/>
        </p:nvSpPr>
        <p:spPr>
          <a:xfrm>
            <a:off x="5760720" y="1600200"/>
            <a:ext cx="5882335" cy="256032"/>
          </a:xfrm>
          <a:prstGeom prst="rect">
            <a:avLst/>
          </a:prstGeom>
          <a:noFill/>
          <a:ln/>
        </p:spPr>
        <p:txBody>
          <a:bodyPr wrap="square" lIns="0" tIns="0" rIns="0" bIns="0" rtlCol="0" anchor="ctr"/>
          <a:lstStyle/>
          <a:p>
            <a:pPr indent="0" marL="0">
              <a:buNone/>
            </a:pPr>
            <a:r>
              <a:rPr lang="en-US" sz="1100" b="1" spc="200" kern="0" dirty="0">
                <a:solidFill>
                  <a:srgbClr val="1F7A8C"/>
                </a:solidFill>
              </a:rPr>
              <a:t>CRIMINOLOGY CHECKPOINT</a:t>
            </a:r>
            <a:endParaRPr lang="en-US" sz="1100" dirty="0"/>
          </a:p>
        </p:txBody>
      </p:sp>
      <p:sp>
        <p:nvSpPr>
          <p:cNvPr id="27" name="Corruption"/>
          <p:cNvSpPr/>
          <p:nvPr/>
        </p:nvSpPr>
        <p:spPr>
          <a:xfrm>
            <a:off x="5760720" y="1920240"/>
            <a:ext cx="5882335" cy="2011680"/>
          </a:xfrm>
          <a:prstGeom prst="rect">
            <a:avLst/>
          </a:prstGeom>
          <a:solidFill>
            <a:srgbClr val="FFFFFF"/>
          </a:solidFill>
          <a:ln w="12700">
            <a:solidFill>
              <a:srgbClr val="B23A48"/>
            </a:solidFill>
            <a:prstDash val="solid"/>
          </a:ln>
          <a:effectLst>
            <a:outerShdw sx="100000" sy="100000" kx="0" ky="0" algn="bl" rotWithShape="0" blurRad="76200" dist="25400" dir="5400000">
              <a:srgbClr val="000000">
                <a:alpha val="7000"/>
              </a:srgbClr>
            </a:outerShdw>
          </a:effectLst>
        </p:spPr>
      </p:sp>
      <p:sp>
        <p:nvSpPr>
          <p:cNvPr id="28" name="Corruption circle"/>
          <p:cNvSpPr/>
          <p:nvPr/>
        </p:nvSpPr>
        <p:spPr>
          <a:xfrm>
            <a:off x="5961888" y="2121408"/>
            <a:ext cx="457200" cy="457200"/>
          </a:xfrm>
          <a:prstGeom prst="ellipse">
            <a:avLst/>
          </a:prstGeom>
          <a:solidFill>
            <a:srgbClr val="B23A48"/>
          </a:solidFill>
          <a:ln/>
        </p:spPr>
      </p:sp>
      <p:pic>
        <p:nvPicPr>
          <p:cNvPr id="29" name="Corruption icon" descr="Corruption">    </p:cNvPr>
          <p:cNvPicPr>
            <a:picLocks noChangeAspect="1"/>
          </p:cNvPicPr>
          <p:nvPr/>
        </p:nvPicPr>
        <p:blipFill>
          <a:blip r:embed="rId4"/>
          <a:stretch>
            <a:fillRect/>
          </a:stretch>
        </p:blipFill>
        <p:spPr>
          <a:xfrm>
            <a:off x="6071616" y="2231136"/>
            <a:ext cx="237744" cy="237744"/>
          </a:xfrm>
          <a:prstGeom prst="rect">
            <a:avLst/>
          </a:prstGeom>
        </p:spPr>
      </p:pic>
      <p:sp>
        <p:nvSpPr>
          <p:cNvPr id="30" name="Text 24"/>
          <p:cNvSpPr txBox="1"/>
          <p:nvPr/>
        </p:nvSpPr>
        <p:spPr>
          <a:xfrm>
            <a:off x="6583680" y="2029968"/>
            <a:ext cx="4876495" cy="64008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Corruption</a:t>
            </a:r>
            <a:endParaRPr lang="en-US" sz="1700" dirty="0"/>
          </a:p>
          <a:p>
            <a:pPr indent="0" marL="0">
              <a:buNone/>
            </a:pPr>
            <a:r>
              <a:rPr lang="en-US" sz="1200" dirty="0">
                <a:solidFill>
                  <a:srgbClr val="5F6675"/>
                </a:solidFill>
              </a:rPr>
              <a:t>Transparency International (n.d.)</a:t>
            </a:r>
            <a:endParaRPr lang="en-US" sz="1700" dirty="0"/>
          </a:p>
        </p:txBody>
      </p:sp>
      <p:sp>
        <p:nvSpPr>
          <p:cNvPr id="31" name="Text 25"/>
          <p:cNvSpPr txBox="1"/>
          <p:nvPr/>
        </p:nvSpPr>
        <p:spPr>
          <a:xfrm>
            <a:off x="6583680" y="2697480"/>
            <a:ext cx="4830775" cy="1143000"/>
          </a:xfrm>
          <a:prstGeom prst="rect">
            <a:avLst/>
          </a:prstGeom>
          <a:noFill/>
          <a:ln/>
        </p:spPr>
        <p:txBody>
          <a:bodyPr wrap="square" lIns="0" tIns="0" rIns="0" bIns="0" rtlCol="0" anchor="t"/>
          <a:lstStyle/>
          <a:p>
            <a:pPr indent="0" marL="0">
              <a:buNone/>
            </a:pPr>
            <a:r>
              <a:rPr lang="en-US" sz="1500" dirty="0">
                <a:solidFill>
                  <a:srgbClr val="1F2A44"/>
                </a:solidFill>
              </a:rPr>
              <a:t>The abuse of entrusted power for private gain: officials and intermediaries profit from controlling access to state stock.</a:t>
            </a:r>
            <a:endParaRPr lang="en-US" sz="1500" dirty="0"/>
          </a:p>
        </p:txBody>
      </p:sp>
      <p:sp>
        <p:nvSpPr>
          <p:cNvPr id="32" name="Klitgaard’s formula: C = M + D − A"/>
          <p:cNvSpPr/>
          <p:nvPr/>
        </p:nvSpPr>
        <p:spPr>
          <a:xfrm>
            <a:off x="5760720" y="4114800"/>
            <a:ext cx="5882335" cy="2011680"/>
          </a:xfrm>
          <a:prstGeom prst="rect">
            <a:avLst/>
          </a:prstGeom>
          <a:solidFill>
            <a:srgbClr val="FFFFFF"/>
          </a:solidFill>
          <a:ln w="12700">
            <a:solidFill>
              <a:srgbClr val="B23A48"/>
            </a:solidFill>
            <a:prstDash val="solid"/>
          </a:ln>
          <a:effectLst>
            <a:outerShdw sx="100000" sy="100000" kx="0" ky="0" algn="bl" rotWithShape="0" blurRad="76200" dist="25400" dir="5400000">
              <a:srgbClr val="000000">
                <a:alpha val="7000"/>
              </a:srgbClr>
            </a:outerShdw>
          </a:effectLst>
        </p:spPr>
      </p:sp>
      <p:sp>
        <p:nvSpPr>
          <p:cNvPr id="33" name="Klitgaard’s formula: C = M + D − A circle"/>
          <p:cNvSpPr/>
          <p:nvPr/>
        </p:nvSpPr>
        <p:spPr>
          <a:xfrm>
            <a:off x="5961888" y="4315968"/>
            <a:ext cx="457200" cy="457200"/>
          </a:xfrm>
          <a:prstGeom prst="ellipse">
            <a:avLst/>
          </a:prstGeom>
          <a:solidFill>
            <a:srgbClr val="B23A48"/>
          </a:solidFill>
          <a:ln/>
        </p:spPr>
      </p:sp>
      <p:pic>
        <p:nvPicPr>
          <p:cNvPr id="34" name="Klitgaard’s formula: C = M + D − A icon" descr="Klitgaard’s formula: C = M + D − A">    </p:cNvPr>
          <p:cNvPicPr>
            <a:picLocks noChangeAspect="1"/>
          </p:cNvPicPr>
          <p:nvPr/>
        </p:nvPicPr>
        <p:blipFill>
          <a:blip r:embed="rId5"/>
          <a:stretch>
            <a:fillRect/>
          </a:stretch>
        </p:blipFill>
        <p:spPr>
          <a:xfrm>
            <a:off x="6071616" y="4425696"/>
            <a:ext cx="237744" cy="237744"/>
          </a:xfrm>
          <a:prstGeom prst="rect">
            <a:avLst/>
          </a:prstGeom>
        </p:spPr>
      </p:pic>
      <p:sp>
        <p:nvSpPr>
          <p:cNvPr id="35" name="Text 28"/>
          <p:cNvSpPr txBox="1"/>
          <p:nvPr/>
        </p:nvSpPr>
        <p:spPr>
          <a:xfrm>
            <a:off x="6583680" y="4224528"/>
            <a:ext cx="4876495" cy="64008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Klitgaard’s formula: C = M + D − A</a:t>
            </a:r>
            <a:endParaRPr lang="en-US" sz="1700" dirty="0"/>
          </a:p>
          <a:p>
            <a:pPr indent="0" marL="0">
              <a:buNone/>
            </a:pPr>
            <a:r>
              <a:rPr lang="en-US" sz="1200" dirty="0">
                <a:solidFill>
                  <a:srgbClr val="5F6675"/>
                </a:solidFill>
              </a:rPr>
              <a:t>Klitgaard (1988)</a:t>
            </a:r>
            <a:endParaRPr lang="en-US" sz="1700" dirty="0"/>
          </a:p>
        </p:txBody>
      </p:sp>
      <p:sp>
        <p:nvSpPr>
          <p:cNvPr id="36" name="Text 29"/>
          <p:cNvSpPr txBox="1"/>
          <p:nvPr/>
        </p:nvSpPr>
        <p:spPr>
          <a:xfrm>
            <a:off x="6583680" y="4892040"/>
            <a:ext cx="4830775" cy="1143000"/>
          </a:xfrm>
          <a:prstGeom prst="rect">
            <a:avLst/>
          </a:prstGeom>
          <a:noFill/>
          <a:ln/>
        </p:spPr>
        <p:txBody>
          <a:bodyPr wrap="square" lIns="0" tIns="0" rIns="0" bIns="0" rtlCol="0" anchor="t"/>
          <a:lstStyle/>
          <a:p>
            <a:pPr indent="0" marL="0">
              <a:buNone/>
            </a:pPr>
            <a:r>
              <a:rPr lang="en-US" sz="1500" dirty="0">
                <a:solidFill>
                  <a:srgbClr val="1F2A44"/>
                </a:solidFill>
              </a:rPr>
              <a:t>Monopoly (Henry’s access) plus discretion (officials, fixers) minus accountability (weak wartime oversight) equals corruption.</a:t>
            </a:r>
            <a:endParaRPr lang="en-US" sz="1500" dirty="0"/>
          </a:p>
        </p:txBody>
      </p:sp>
      <p:sp>
        <p:nvSpPr>
          <p:cNvPr id="37" name="Text 30"/>
          <p:cNvSpPr txBox="1"/>
          <p:nvPr/>
        </p:nvSpPr>
        <p:spPr>
          <a:xfrm>
            <a:off x="548640" y="6108192"/>
            <a:ext cx="11094415" cy="201168"/>
          </a:xfrm>
          <a:prstGeom prst="rect">
            <a:avLst/>
          </a:prstGeom>
          <a:noFill/>
          <a:ln/>
        </p:spPr>
        <p:txBody>
          <a:bodyPr wrap="square" lIns="0" tIns="0" rIns="0" bIns="0" rtlCol="0" anchor="ctr"/>
          <a:lstStyle/>
          <a:p>
            <a:pPr indent="0" marL="0">
              <a:buNone/>
            </a:pPr>
            <a:r>
              <a:rPr lang="en-US" sz="1000" i="1" dirty="0">
                <a:solidFill>
                  <a:srgbClr val="9A968E"/>
                </a:solidFill>
              </a:rPr>
              <a:t>Not in the film: Albania’s Gërdec depot explosion of March 2008 killed 26 people and led to charges against senior officials (Al Jazeera, 2008).</a:t>
            </a:r>
            <a:endParaRPr lang="en-US" sz="10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968E"/>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racker line"/>
          <p:cNvSpPr/>
          <p:nvPr/>
        </p:nvSpPr>
        <p:spPr>
          <a:xfrm>
            <a:off x="548640" y="384048"/>
            <a:ext cx="6949440" cy="0"/>
          </a:xfrm>
          <a:prstGeom prst="line">
            <a:avLst/>
          </a:prstGeom>
          <a:noFill/>
          <a:ln w="25400">
            <a:solidFill>
              <a:srgbClr val="D8D3CA"/>
            </a:solidFill>
            <a:prstDash val="solid"/>
          </a:ln>
        </p:spPr>
      </p:sp>
      <p:sp>
        <p:nvSpPr>
          <p:cNvPr id="3" name="tracker progress"/>
          <p:cNvSpPr/>
          <p:nvPr/>
        </p:nvSpPr>
        <p:spPr>
          <a:xfrm>
            <a:off x="548640" y="384048"/>
            <a:ext cx="4632960" cy="0"/>
          </a:xfrm>
          <a:prstGeom prst="line">
            <a:avLst/>
          </a:prstGeom>
          <a:noFill/>
          <a:ln w="38100">
            <a:solidFill>
              <a:srgbClr val="C26A2E"/>
            </a:solidFill>
            <a:prstDash val="solid"/>
          </a:ln>
        </p:spPr>
      </p:sp>
      <p:sp>
        <p:nvSpPr>
          <p:cNvPr id="4" name="stop 1"/>
          <p:cNvSpPr/>
          <p:nvPr/>
        </p:nvSpPr>
        <p:spPr>
          <a:xfrm>
            <a:off x="475488" y="310896"/>
            <a:ext cx="146304" cy="146304"/>
          </a:xfrm>
          <a:prstGeom prst="ellipse">
            <a:avLst/>
          </a:prstGeom>
          <a:solidFill>
            <a:srgbClr val="C26A2E"/>
          </a:solidFill>
          <a:ln w="19050">
            <a:solidFill>
              <a:srgbClr val="C26A2E"/>
            </a:solidFill>
            <a:prstDash val="solid"/>
          </a:ln>
        </p:spPr>
      </p:sp>
      <p:sp>
        <p:nvSpPr>
          <p:cNvPr id="5" name="stop 2"/>
          <p:cNvSpPr/>
          <p:nvPr/>
        </p:nvSpPr>
        <p:spPr>
          <a:xfrm>
            <a:off x="1633728" y="310896"/>
            <a:ext cx="146304" cy="146304"/>
          </a:xfrm>
          <a:prstGeom prst="ellipse">
            <a:avLst/>
          </a:prstGeom>
          <a:solidFill>
            <a:srgbClr val="C26A2E"/>
          </a:solidFill>
          <a:ln w="19050">
            <a:solidFill>
              <a:srgbClr val="C26A2E"/>
            </a:solidFill>
            <a:prstDash val="solid"/>
          </a:ln>
        </p:spPr>
      </p:sp>
      <p:sp>
        <p:nvSpPr>
          <p:cNvPr id="6" name="stop 3"/>
          <p:cNvSpPr/>
          <p:nvPr/>
        </p:nvSpPr>
        <p:spPr>
          <a:xfrm>
            <a:off x="2791968" y="310896"/>
            <a:ext cx="146304" cy="146304"/>
          </a:xfrm>
          <a:prstGeom prst="ellipse">
            <a:avLst/>
          </a:prstGeom>
          <a:solidFill>
            <a:srgbClr val="C26A2E"/>
          </a:solidFill>
          <a:ln w="19050">
            <a:solidFill>
              <a:srgbClr val="C26A2E"/>
            </a:solidFill>
            <a:prstDash val="solid"/>
          </a:ln>
        </p:spPr>
      </p:sp>
      <p:sp>
        <p:nvSpPr>
          <p:cNvPr id="7" name="stop 4"/>
          <p:cNvSpPr/>
          <p:nvPr/>
        </p:nvSpPr>
        <p:spPr>
          <a:xfrm>
            <a:off x="3950208" y="310896"/>
            <a:ext cx="146304" cy="146304"/>
          </a:xfrm>
          <a:prstGeom prst="ellipse">
            <a:avLst/>
          </a:prstGeom>
          <a:solidFill>
            <a:srgbClr val="C26A2E"/>
          </a:solidFill>
          <a:ln w="19050">
            <a:solidFill>
              <a:srgbClr val="C26A2E"/>
            </a:solidFill>
            <a:prstDash val="solid"/>
          </a:ln>
        </p:spPr>
      </p:sp>
      <p:sp>
        <p:nvSpPr>
          <p:cNvPr id="8" name="stop 5"/>
          <p:cNvSpPr/>
          <p:nvPr/>
        </p:nvSpPr>
        <p:spPr>
          <a:xfrm>
            <a:off x="5062728" y="265176"/>
            <a:ext cx="237744" cy="237744"/>
          </a:xfrm>
          <a:prstGeom prst="ellipse">
            <a:avLst/>
          </a:prstGeom>
          <a:solidFill>
            <a:srgbClr val="C26A2E"/>
          </a:solidFill>
          <a:ln w="19050">
            <a:solidFill>
              <a:srgbClr val="C26A2E"/>
            </a:solidFill>
            <a:prstDash val="solid"/>
          </a:ln>
        </p:spPr>
      </p:sp>
      <p:sp>
        <p:nvSpPr>
          <p:cNvPr id="9" name="stop 6"/>
          <p:cNvSpPr/>
          <p:nvPr/>
        </p:nvSpPr>
        <p:spPr>
          <a:xfrm>
            <a:off x="6266688" y="310896"/>
            <a:ext cx="146304" cy="146304"/>
          </a:xfrm>
          <a:prstGeom prst="ellipse">
            <a:avLst/>
          </a:prstGeom>
          <a:solidFill>
            <a:srgbClr val="FFFFFF"/>
          </a:solidFill>
          <a:ln w="19050">
            <a:solidFill>
              <a:srgbClr val="B9B3A8"/>
            </a:solidFill>
            <a:prstDash val="solid"/>
          </a:ln>
        </p:spPr>
      </p:sp>
      <p:sp>
        <p:nvSpPr>
          <p:cNvPr id="10" name="stop 7"/>
          <p:cNvSpPr/>
          <p:nvPr/>
        </p:nvSpPr>
        <p:spPr>
          <a:xfrm>
            <a:off x="7424928" y="310896"/>
            <a:ext cx="146304" cy="146304"/>
          </a:xfrm>
          <a:prstGeom prst="ellipse">
            <a:avLst/>
          </a:prstGeom>
          <a:solidFill>
            <a:srgbClr val="FFFFFF"/>
          </a:solidFill>
          <a:ln w="19050">
            <a:solidFill>
              <a:srgbClr val="B9B3A8"/>
            </a:solidFill>
            <a:prstDash val="solid"/>
          </a:ln>
        </p:spPr>
      </p:sp>
      <p:sp>
        <p:nvSpPr>
          <p:cNvPr id="11" name="Text 9"/>
          <p:cNvSpPr txBox="1"/>
          <p:nvPr/>
        </p:nvSpPr>
        <p:spPr>
          <a:xfrm>
            <a:off x="7772400" y="237744"/>
            <a:ext cx="3840480" cy="292608"/>
          </a:xfrm>
          <a:prstGeom prst="rect">
            <a:avLst/>
          </a:prstGeom>
          <a:noFill/>
          <a:ln/>
        </p:spPr>
        <p:txBody>
          <a:bodyPr wrap="square" lIns="0" tIns="0" rIns="0" bIns="0" rtlCol="0" anchor="ctr"/>
          <a:lstStyle/>
          <a:p>
            <a:pPr indent="0" marL="0">
              <a:buNone/>
            </a:pPr>
            <a:r>
              <a:rPr lang="en-US" sz="1200" b="1" spc="200" kern="0" dirty="0">
                <a:solidFill>
                  <a:srgbClr val="C26A2E"/>
                </a:solidFill>
              </a:rPr>
              <a:t>STOP 5 OF 7  ·  THE REPACK</a:t>
            </a:r>
            <a:endParaRPr lang="en-US" sz="1200" dirty="0"/>
          </a:p>
        </p:txBody>
      </p:sp>
      <p:sp>
        <p:nvSpPr>
          <p:cNvPr id="12" name="Text 0"/>
          <p:cNvSpPr/>
          <p:nvPr>
            <p:ph idx="100"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2800" b="1" dirty="0">
                <a:solidFill>
                  <a:schemeClr val="tx1"/>
                </a:solidFill>
              </a:rPr>
              <a:t>Stop 5: the repack that turned a deal into a fraud</a:t>
            </a:r>
            <a:endParaRPr lang="en-US" sz="2800" dirty="0"/>
          </a:p>
        </p:txBody>
      </p:sp>
      <p:sp>
        <p:nvSpPr>
          <p:cNvPr id="13" name="location circle"/>
          <p:cNvSpPr/>
          <p:nvPr/>
        </p:nvSpPr>
        <p:spPr>
          <a:xfrm>
            <a:off x="548640" y="1600200"/>
            <a:ext cx="502920" cy="502920"/>
          </a:xfrm>
          <a:prstGeom prst="ellipse">
            <a:avLst/>
          </a:prstGeom>
          <a:solidFill>
            <a:srgbClr val="C26A2E"/>
          </a:solidFill>
          <a:ln/>
        </p:spPr>
      </p:sp>
      <p:pic>
        <p:nvPicPr>
          <p:cNvPr id="14" name="location icon" descr="location">    </p:cNvPr>
          <p:cNvPicPr>
            <a:picLocks noChangeAspect="1"/>
          </p:cNvPicPr>
          <p:nvPr/>
        </p:nvPicPr>
        <p:blipFill>
          <a:blip r:embed="rId1"/>
          <a:stretch>
            <a:fillRect/>
          </a:stretch>
        </p:blipFill>
        <p:spPr>
          <a:xfrm>
            <a:off x="669341" y="1720901"/>
            <a:ext cx="261518" cy="261518"/>
          </a:xfrm>
          <a:prstGeom prst="rect">
            <a:avLst/>
          </a:prstGeom>
        </p:spPr>
      </p:pic>
      <p:sp>
        <p:nvSpPr>
          <p:cNvPr id="15" name="Text 12"/>
          <p:cNvSpPr txBox="1"/>
          <p:nvPr/>
        </p:nvSpPr>
        <p:spPr>
          <a:xfrm>
            <a:off x="1188720" y="1554480"/>
            <a:ext cx="4297680" cy="59436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Albania, a warehouse</a:t>
            </a:r>
            <a:endParaRPr lang="en-US" sz="1800" dirty="0"/>
          </a:p>
          <a:p>
            <a:pPr indent="0" marL="0">
              <a:buNone/>
            </a:pPr>
            <a:r>
              <a:rPr lang="en-US" sz="1200" dirty="0">
                <a:solidFill>
                  <a:srgbClr val="5F6675"/>
                </a:solidFill>
              </a:rPr>
              <a:t>The point of no return</a:t>
            </a:r>
            <a:endParaRPr lang="en-US" sz="1800" dirty="0"/>
          </a:p>
        </p:txBody>
      </p:sp>
      <p:sp>
        <p:nvSpPr>
          <p:cNvPr id="16" name="Text 13"/>
          <p:cNvSpPr txBox="1"/>
          <p:nvPr/>
        </p:nvSpPr>
        <p:spPr>
          <a:xfrm>
            <a:off x="548640" y="2377440"/>
            <a:ext cx="4754880" cy="256032"/>
          </a:xfrm>
          <a:prstGeom prst="rect">
            <a:avLst/>
          </a:prstGeom>
          <a:noFill/>
          <a:ln/>
        </p:spPr>
        <p:txBody>
          <a:bodyPr wrap="square" lIns="0" tIns="0" rIns="0" bIns="0" rtlCol="0" anchor="ctr"/>
          <a:lstStyle/>
          <a:p>
            <a:pPr indent="0" marL="0">
              <a:buNone/>
            </a:pPr>
            <a:r>
              <a:rPr lang="en-US" sz="1100" b="1" spc="200" kern="0" dirty="0">
                <a:solidFill>
                  <a:srgbClr val="5F6675"/>
                </a:solidFill>
              </a:rPr>
              <a:t>WHAT HAPPENS HERE</a:t>
            </a:r>
            <a:endParaRPr lang="en-US" sz="1100" dirty="0"/>
          </a:p>
        </p:txBody>
      </p:sp>
      <p:sp>
        <p:nvSpPr>
          <p:cNvPr id="17" name="Text 14"/>
          <p:cNvSpPr txBox="1"/>
          <p:nvPr/>
        </p:nvSpPr>
        <p:spPr>
          <a:xfrm>
            <a:off x="548640" y="2697480"/>
            <a:ext cx="4754880" cy="2331720"/>
          </a:xfrm>
          <a:prstGeom prst="rect">
            <a:avLst/>
          </a:prstGeom>
          <a:noFill/>
          <a:ln/>
        </p:spPr>
        <p:txBody>
          <a:bodyPr wrap="square" lIns="0" tIns="0" rIns="0" bIns="0" rtlCol="0" anchor="t"/>
          <a:lstStyle/>
          <a:p>
            <a:pPr indent="0" marL="0">
              <a:buNone/>
            </a:pPr>
            <a:r>
              <a:rPr lang="en-US" sz="1600" dirty="0">
                <a:solidFill>
                  <a:srgbClr val="1F2A44"/>
                </a:solidFill>
              </a:rPr>
              <a:t>David discovers the ammunition was made in China, which is banned under a US arms embargo and by the contract itself. Instead of disclosing it, AEY has the rounds repackaged to remove the Chinese markings and passes them off as Albanian.</a:t>
            </a:r>
            <a:endParaRPr lang="en-US" sz="1600" dirty="0"/>
          </a:p>
        </p:txBody>
      </p:sp>
      <p:sp>
        <p:nvSpPr>
          <p:cNvPr id="18" name="THE BULLET"/>
          <p:cNvSpPr/>
          <p:nvPr/>
        </p:nvSpPr>
        <p:spPr>
          <a:xfrm>
            <a:off x="548640" y="5166360"/>
            <a:ext cx="2377440" cy="777240"/>
          </a:xfrm>
          <a:prstGeom prst="rect">
            <a:avLst/>
          </a:prstGeom>
          <a:solidFill>
            <a:srgbClr val="FFFFFF"/>
          </a:solidFill>
          <a:ln w="12700">
            <a:solidFill>
              <a:srgbClr val="C26A2E"/>
            </a:solidFill>
            <a:prstDash val="solid"/>
          </a:ln>
        </p:spPr>
      </p:sp>
      <p:sp>
        <p:nvSpPr>
          <p:cNvPr id="19" name="THE BULLET circle"/>
          <p:cNvSpPr/>
          <p:nvPr/>
        </p:nvSpPr>
        <p:spPr>
          <a:xfrm>
            <a:off x="658368" y="5321808"/>
            <a:ext cx="457200" cy="457200"/>
          </a:xfrm>
          <a:prstGeom prst="ellipse">
            <a:avLst/>
          </a:prstGeom>
          <a:solidFill>
            <a:srgbClr val="C26A2E"/>
          </a:solidFill>
          <a:ln/>
        </p:spPr>
      </p:sp>
      <p:pic>
        <p:nvPicPr>
          <p:cNvPr id="20" name="THE BULLET icon" descr="THE BULLET">    </p:cNvPr>
          <p:cNvPicPr>
            <a:picLocks noChangeAspect="1"/>
          </p:cNvPicPr>
          <p:nvPr/>
        </p:nvPicPr>
        <p:blipFill>
          <a:blip r:embed="rId2"/>
          <a:stretch>
            <a:fillRect/>
          </a:stretch>
        </p:blipFill>
        <p:spPr>
          <a:xfrm>
            <a:off x="768096" y="5431536"/>
            <a:ext cx="237744" cy="237744"/>
          </a:xfrm>
          <a:prstGeom prst="rect">
            <a:avLst/>
          </a:prstGeom>
        </p:spPr>
      </p:pic>
      <p:sp>
        <p:nvSpPr>
          <p:cNvPr id="21" name="Text 17"/>
          <p:cNvSpPr txBox="1"/>
          <p:nvPr/>
        </p:nvSpPr>
        <p:spPr>
          <a:xfrm>
            <a:off x="1207008" y="5166360"/>
            <a:ext cx="1645920" cy="777240"/>
          </a:xfrm>
          <a:prstGeom prst="rect">
            <a:avLst/>
          </a:prstGeom>
          <a:noFill/>
          <a:ln/>
        </p:spPr>
        <p:txBody>
          <a:bodyPr wrap="square" lIns="0" tIns="0" rIns="0" bIns="0" rtlCol="0" anchor="ctr"/>
          <a:lstStyle/>
          <a:p>
            <a:pPr indent="0" marL="0">
              <a:buNone/>
            </a:pPr>
            <a:r>
              <a:rPr lang="en-US" sz="1000" b="1" spc="100" kern="0" dirty="0">
                <a:solidFill>
                  <a:srgbClr val="C26A2E"/>
                </a:solidFill>
              </a:rPr>
              <a:t>THE BULLET</a:t>
            </a:r>
            <a:endParaRPr lang="en-US" sz="1000" dirty="0"/>
          </a:p>
          <a:p>
            <a:pPr indent="0" marL="0">
              <a:buNone/>
            </a:pPr>
            <a:r>
              <a:rPr lang="en-US" sz="1200" dirty="0">
                <a:solidFill>
                  <a:srgbClr val="1F2A44"/>
                </a:solidFill>
              </a:rPr>
              <a:t>“Made in China” markings removed</a:t>
            </a:r>
            <a:endParaRPr lang="en-US" sz="1000" dirty="0"/>
          </a:p>
        </p:txBody>
      </p:sp>
      <p:sp>
        <p:nvSpPr>
          <p:cNvPr id="22" name="THE MONEY"/>
          <p:cNvSpPr/>
          <p:nvPr/>
        </p:nvSpPr>
        <p:spPr>
          <a:xfrm>
            <a:off x="3063240" y="5166360"/>
            <a:ext cx="2377440" cy="777240"/>
          </a:xfrm>
          <a:prstGeom prst="rect">
            <a:avLst/>
          </a:prstGeom>
          <a:solidFill>
            <a:srgbClr val="FFFFFF"/>
          </a:solidFill>
          <a:ln w="12700">
            <a:solidFill>
              <a:srgbClr val="1F7A8C"/>
            </a:solidFill>
            <a:prstDash val="solid"/>
          </a:ln>
        </p:spPr>
      </p:sp>
      <p:sp>
        <p:nvSpPr>
          <p:cNvPr id="23" name="THE MONEY circle"/>
          <p:cNvSpPr/>
          <p:nvPr/>
        </p:nvSpPr>
        <p:spPr>
          <a:xfrm>
            <a:off x="3172968" y="5321808"/>
            <a:ext cx="457200" cy="457200"/>
          </a:xfrm>
          <a:prstGeom prst="ellipse">
            <a:avLst/>
          </a:prstGeom>
          <a:solidFill>
            <a:srgbClr val="1F7A8C"/>
          </a:solidFill>
          <a:ln/>
        </p:spPr>
      </p:sp>
      <p:pic>
        <p:nvPicPr>
          <p:cNvPr id="24" name="THE MONEY icon" descr="THE MONEY">    </p:cNvPr>
          <p:cNvPicPr>
            <a:picLocks noChangeAspect="1"/>
          </p:cNvPicPr>
          <p:nvPr/>
        </p:nvPicPr>
        <p:blipFill>
          <a:blip r:embed="rId3"/>
          <a:stretch>
            <a:fillRect/>
          </a:stretch>
        </p:blipFill>
        <p:spPr>
          <a:xfrm>
            <a:off x="3282696" y="5431536"/>
            <a:ext cx="237744" cy="237744"/>
          </a:xfrm>
          <a:prstGeom prst="rect">
            <a:avLst/>
          </a:prstGeom>
        </p:spPr>
      </p:pic>
      <p:sp>
        <p:nvSpPr>
          <p:cNvPr id="25" name="Text 20"/>
          <p:cNvSpPr txBox="1"/>
          <p:nvPr/>
        </p:nvSpPr>
        <p:spPr>
          <a:xfrm>
            <a:off x="3721608" y="5166360"/>
            <a:ext cx="1645920" cy="777240"/>
          </a:xfrm>
          <a:prstGeom prst="rect">
            <a:avLst/>
          </a:prstGeom>
          <a:noFill/>
          <a:ln/>
        </p:spPr>
        <p:txBody>
          <a:bodyPr wrap="square" lIns="0" tIns="0" rIns="0" bIns="0" rtlCol="0" anchor="ctr"/>
          <a:lstStyle/>
          <a:p>
            <a:pPr indent="0" marL="0">
              <a:buNone/>
            </a:pPr>
            <a:r>
              <a:rPr lang="en-US" sz="1000" b="1" spc="100" kern="0" dirty="0">
                <a:solidFill>
                  <a:srgbClr val="1F7A8C"/>
                </a:solidFill>
              </a:rPr>
              <a:t>THE MONEY</a:t>
            </a:r>
            <a:endParaRPr lang="en-US" sz="1000" dirty="0"/>
          </a:p>
          <a:p>
            <a:pPr indent="0" marL="0">
              <a:buNone/>
            </a:pPr>
            <a:r>
              <a:rPr lang="en-US" sz="1200" dirty="0">
                <a:solidFill>
                  <a:srgbClr val="1F2A44"/>
                </a:solidFill>
              </a:rPr>
              <a:t>$298M contract at stake</a:t>
            </a:r>
            <a:endParaRPr lang="en-US" sz="1000" dirty="0"/>
          </a:p>
        </p:txBody>
      </p:sp>
      <p:sp>
        <p:nvSpPr>
          <p:cNvPr id="26" name="Text 21"/>
          <p:cNvSpPr txBox="1"/>
          <p:nvPr/>
        </p:nvSpPr>
        <p:spPr>
          <a:xfrm>
            <a:off x="5760720" y="1600200"/>
            <a:ext cx="5882335" cy="256032"/>
          </a:xfrm>
          <a:prstGeom prst="rect">
            <a:avLst/>
          </a:prstGeom>
          <a:noFill/>
          <a:ln/>
        </p:spPr>
        <p:txBody>
          <a:bodyPr wrap="square" lIns="0" tIns="0" rIns="0" bIns="0" rtlCol="0" anchor="ctr"/>
          <a:lstStyle/>
          <a:p>
            <a:pPr indent="0" marL="0">
              <a:buNone/>
            </a:pPr>
            <a:r>
              <a:rPr lang="en-US" sz="1100" b="1" spc="200" kern="0" dirty="0">
                <a:solidFill>
                  <a:srgbClr val="1F7A8C"/>
                </a:solidFill>
              </a:rPr>
              <a:t>CRIMINOLOGY CHECKPOINT</a:t>
            </a:r>
            <a:endParaRPr lang="en-US" sz="1100" dirty="0"/>
          </a:p>
        </p:txBody>
      </p:sp>
      <p:sp>
        <p:nvSpPr>
          <p:cNvPr id="27" name="White-collar crime and fraud"/>
          <p:cNvSpPr/>
          <p:nvPr/>
        </p:nvSpPr>
        <p:spPr>
          <a:xfrm>
            <a:off x="5760720" y="1920240"/>
            <a:ext cx="5882335" cy="2011680"/>
          </a:xfrm>
          <a:prstGeom prst="rect">
            <a:avLst/>
          </a:prstGeom>
          <a:solidFill>
            <a:srgbClr val="FFFFFF"/>
          </a:solidFill>
          <a:ln w="12700">
            <a:solidFill>
              <a:srgbClr val="C26A2E"/>
            </a:solidFill>
            <a:prstDash val="solid"/>
          </a:ln>
          <a:effectLst>
            <a:outerShdw sx="100000" sy="100000" kx="0" ky="0" algn="bl" rotWithShape="0" blurRad="76200" dist="25400" dir="5400000">
              <a:srgbClr val="000000">
                <a:alpha val="7000"/>
              </a:srgbClr>
            </a:outerShdw>
          </a:effectLst>
        </p:spPr>
      </p:sp>
      <p:sp>
        <p:nvSpPr>
          <p:cNvPr id="28" name="White-collar crime and fraud circle"/>
          <p:cNvSpPr/>
          <p:nvPr/>
        </p:nvSpPr>
        <p:spPr>
          <a:xfrm>
            <a:off x="5961888" y="2121408"/>
            <a:ext cx="457200" cy="457200"/>
          </a:xfrm>
          <a:prstGeom prst="ellipse">
            <a:avLst/>
          </a:prstGeom>
          <a:solidFill>
            <a:srgbClr val="C26A2E"/>
          </a:solidFill>
          <a:ln/>
        </p:spPr>
      </p:sp>
      <p:pic>
        <p:nvPicPr>
          <p:cNvPr id="29" name="White-collar crime and fraud icon" descr="White-collar crime and fraud">    </p:cNvPr>
          <p:cNvPicPr>
            <a:picLocks noChangeAspect="1"/>
          </p:cNvPicPr>
          <p:nvPr/>
        </p:nvPicPr>
        <p:blipFill>
          <a:blip r:embed="rId4"/>
          <a:stretch>
            <a:fillRect/>
          </a:stretch>
        </p:blipFill>
        <p:spPr>
          <a:xfrm>
            <a:off x="6071616" y="2231136"/>
            <a:ext cx="237744" cy="237744"/>
          </a:xfrm>
          <a:prstGeom prst="rect">
            <a:avLst/>
          </a:prstGeom>
        </p:spPr>
      </p:pic>
      <p:sp>
        <p:nvSpPr>
          <p:cNvPr id="30" name="Text 24"/>
          <p:cNvSpPr txBox="1"/>
          <p:nvPr/>
        </p:nvSpPr>
        <p:spPr>
          <a:xfrm>
            <a:off x="6583680" y="2029968"/>
            <a:ext cx="4876495" cy="64008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White-collar crime and fraud</a:t>
            </a:r>
            <a:endParaRPr lang="en-US" sz="1700" dirty="0"/>
          </a:p>
          <a:p>
            <a:pPr indent="0" marL="0">
              <a:buNone/>
            </a:pPr>
            <a:r>
              <a:rPr lang="en-US" sz="1200" dirty="0">
                <a:solidFill>
                  <a:srgbClr val="5F6675"/>
                </a:solidFill>
              </a:rPr>
              <a:t>Sutherland (1940)</a:t>
            </a:r>
            <a:endParaRPr lang="en-US" sz="1700" dirty="0"/>
          </a:p>
        </p:txBody>
      </p:sp>
      <p:sp>
        <p:nvSpPr>
          <p:cNvPr id="31" name="Text 25"/>
          <p:cNvSpPr txBox="1"/>
          <p:nvPr/>
        </p:nvSpPr>
        <p:spPr>
          <a:xfrm>
            <a:off x="6583680" y="2697480"/>
            <a:ext cx="4830775" cy="1143000"/>
          </a:xfrm>
          <a:prstGeom prst="rect">
            <a:avLst/>
          </a:prstGeom>
          <a:noFill/>
          <a:ln/>
        </p:spPr>
        <p:txBody>
          <a:bodyPr wrap="square" lIns="0" tIns="0" rIns="0" bIns="0" rtlCol="0" anchor="t"/>
          <a:lstStyle/>
          <a:p>
            <a:pPr indent="0" marL="0">
              <a:buNone/>
            </a:pPr>
            <a:r>
              <a:rPr lang="en-US" sz="1500" dirty="0">
                <a:solidFill>
                  <a:srgbClr val="1F2A44"/>
                </a:solidFill>
              </a:rPr>
              <a:t>Respectable businessmen commit crime in the course of their work: deceiving the government to protect a contract.</a:t>
            </a:r>
            <a:endParaRPr lang="en-US" sz="1500" dirty="0"/>
          </a:p>
        </p:txBody>
      </p:sp>
      <p:sp>
        <p:nvSpPr>
          <p:cNvPr id="32" name="Techniques of neutralization"/>
          <p:cNvSpPr/>
          <p:nvPr/>
        </p:nvSpPr>
        <p:spPr>
          <a:xfrm>
            <a:off x="5760720" y="4114800"/>
            <a:ext cx="5882335" cy="2011680"/>
          </a:xfrm>
          <a:prstGeom prst="rect">
            <a:avLst/>
          </a:prstGeom>
          <a:solidFill>
            <a:srgbClr val="FFFFFF"/>
          </a:solidFill>
          <a:ln w="12700">
            <a:solidFill>
              <a:srgbClr val="D8D3CA"/>
            </a:solidFill>
            <a:prstDash val="solid"/>
          </a:ln>
          <a:effectLst>
            <a:outerShdw sx="100000" sy="100000" kx="0" ky="0" algn="bl" rotWithShape="0" blurRad="76200" dist="25400" dir="5400000">
              <a:srgbClr val="000000">
                <a:alpha val="7000"/>
              </a:srgbClr>
            </a:outerShdw>
          </a:effectLst>
        </p:spPr>
      </p:sp>
      <p:sp>
        <p:nvSpPr>
          <p:cNvPr id="33" name="Techniques of neutralization circle"/>
          <p:cNvSpPr/>
          <p:nvPr/>
        </p:nvSpPr>
        <p:spPr>
          <a:xfrm>
            <a:off x="5961888" y="4315968"/>
            <a:ext cx="457200" cy="457200"/>
          </a:xfrm>
          <a:prstGeom prst="ellipse">
            <a:avLst/>
          </a:prstGeom>
          <a:solidFill>
            <a:srgbClr val="1F7A8C"/>
          </a:solidFill>
          <a:ln/>
        </p:spPr>
      </p:sp>
      <p:pic>
        <p:nvPicPr>
          <p:cNvPr id="34" name="Techniques of neutralization icon" descr="Techniques of neutralization">    </p:cNvPr>
          <p:cNvPicPr>
            <a:picLocks noChangeAspect="1"/>
          </p:cNvPicPr>
          <p:nvPr/>
        </p:nvPicPr>
        <p:blipFill>
          <a:blip r:embed="rId5"/>
          <a:stretch>
            <a:fillRect/>
          </a:stretch>
        </p:blipFill>
        <p:spPr>
          <a:xfrm>
            <a:off x="6071616" y="4425696"/>
            <a:ext cx="237744" cy="237744"/>
          </a:xfrm>
          <a:prstGeom prst="rect">
            <a:avLst/>
          </a:prstGeom>
        </p:spPr>
      </p:pic>
      <p:sp>
        <p:nvSpPr>
          <p:cNvPr id="35" name="Text 28"/>
          <p:cNvSpPr txBox="1"/>
          <p:nvPr/>
        </p:nvSpPr>
        <p:spPr>
          <a:xfrm>
            <a:off x="6583680" y="4224528"/>
            <a:ext cx="4876495" cy="64008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Techniques of neutralization</a:t>
            </a:r>
            <a:endParaRPr lang="en-US" sz="1700" dirty="0"/>
          </a:p>
          <a:p>
            <a:pPr indent="0" marL="0">
              <a:buNone/>
            </a:pPr>
            <a:r>
              <a:rPr lang="en-US" sz="1200" dirty="0">
                <a:solidFill>
                  <a:srgbClr val="5F6675"/>
                </a:solidFill>
              </a:rPr>
              <a:t>Sykes &amp; Matza (1957)</a:t>
            </a:r>
            <a:endParaRPr lang="en-US" sz="1700" dirty="0"/>
          </a:p>
        </p:txBody>
      </p:sp>
      <p:sp>
        <p:nvSpPr>
          <p:cNvPr id="36" name="Text 29"/>
          <p:cNvSpPr txBox="1"/>
          <p:nvPr/>
        </p:nvSpPr>
        <p:spPr>
          <a:xfrm>
            <a:off x="6583680" y="4892040"/>
            <a:ext cx="4830775" cy="1143000"/>
          </a:xfrm>
          <a:prstGeom prst="rect">
            <a:avLst/>
          </a:prstGeom>
          <a:noFill/>
          <a:ln/>
        </p:spPr>
        <p:txBody>
          <a:bodyPr wrap="square" lIns="0" tIns="0" rIns="0" bIns="0" rtlCol="0" anchor="t"/>
          <a:lstStyle/>
          <a:p>
            <a:pPr indent="0" marL="0">
              <a:buNone/>
            </a:pPr>
            <a:r>
              <a:rPr lang="en-US" sz="1500" dirty="0">
                <a:solidFill>
                  <a:srgbClr val="1F2A44"/>
                </a:solidFill>
              </a:rPr>
              <a:t>Excuses such as “the troops still get working bullets” (denial of injury) and “the government does it too” silence their conscience.</a:t>
            </a:r>
            <a:endParaRPr lang="en-US" sz="1500" dirty="0"/>
          </a:p>
        </p:txBody>
      </p:sp>
      <p:sp>
        <p:nvSpPr>
          <p:cNvPr id="37" name="Text 30"/>
          <p:cNvSpPr txBox="1"/>
          <p:nvPr/>
        </p:nvSpPr>
        <p:spPr>
          <a:xfrm>
            <a:off x="548640" y="6108192"/>
            <a:ext cx="11094415" cy="201168"/>
          </a:xfrm>
          <a:prstGeom prst="rect">
            <a:avLst/>
          </a:prstGeom>
          <a:noFill/>
          <a:ln/>
        </p:spPr>
        <p:txBody>
          <a:bodyPr wrap="square" lIns="0" tIns="0" rIns="0" bIns="0" rtlCol="0" anchor="ctr"/>
          <a:lstStyle/>
          <a:p>
            <a:pPr indent="0" marL="0">
              <a:buNone/>
            </a:pPr>
            <a:r>
              <a:rPr lang="en-US" sz="1000" i="1" dirty="0">
                <a:solidFill>
                  <a:srgbClr val="9A968E"/>
                </a:solidFill>
              </a:rPr>
              <a:t>Repackaging is documented in the real case (Lawson, 2015). Quoted excuses are our paraphrases.</a:t>
            </a:r>
            <a:endParaRPr lang="en-US" sz="10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968E"/>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racker line"/>
          <p:cNvSpPr/>
          <p:nvPr/>
        </p:nvSpPr>
        <p:spPr>
          <a:xfrm>
            <a:off x="548640" y="384048"/>
            <a:ext cx="6949440" cy="0"/>
          </a:xfrm>
          <a:prstGeom prst="line">
            <a:avLst/>
          </a:prstGeom>
          <a:noFill/>
          <a:ln w="25400">
            <a:solidFill>
              <a:srgbClr val="D8D3CA"/>
            </a:solidFill>
            <a:prstDash val="solid"/>
          </a:ln>
        </p:spPr>
      </p:sp>
      <p:sp>
        <p:nvSpPr>
          <p:cNvPr id="3" name="tracker progress"/>
          <p:cNvSpPr/>
          <p:nvPr/>
        </p:nvSpPr>
        <p:spPr>
          <a:xfrm>
            <a:off x="548640" y="384048"/>
            <a:ext cx="5791200" cy="0"/>
          </a:xfrm>
          <a:prstGeom prst="line">
            <a:avLst/>
          </a:prstGeom>
          <a:noFill/>
          <a:ln w="38100">
            <a:solidFill>
              <a:srgbClr val="C26A2E"/>
            </a:solidFill>
            <a:prstDash val="solid"/>
          </a:ln>
        </p:spPr>
      </p:sp>
      <p:sp>
        <p:nvSpPr>
          <p:cNvPr id="4" name="stop 1"/>
          <p:cNvSpPr/>
          <p:nvPr/>
        </p:nvSpPr>
        <p:spPr>
          <a:xfrm>
            <a:off x="475488" y="310896"/>
            <a:ext cx="146304" cy="146304"/>
          </a:xfrm>
          <a:prstGeom prst="ellipse">
            <a:avLst/>
          </a:prstGeom>
          <a:solidFill>
            <a:srgbClr val="C26A2E"/>
          </a:solidFill>
          <a:ln w="19050">
            <a:solidFill>
              <a:srgbClr val="C26A2E"/>
            </a:solidFill>
            <a:prstDash val="solid"/>
          </a:ln>
        </p:spPr>
      </p:sp>
      <p:sp>
        <p:nvSpPr>
          <p:cNvPr id="5" name="stop 2"/>
          <p:cNvSpPr/>
          <p:nvPr/>
        </p:nvSpPr>
        <p:spPr>
          <a:xfrm>
            <a:off x="1633728" y="310896"/>
            <a:ext cx="146304" cy="146304"/>
          </a:xfrm>
          <a:prstGeom prst="ellipse">
            <a:avLst/>
          </a:prstGeom>
          <a:solidFill>
            <a:srgbClr val="C26A2E"/>
          </a:solidFill>
          <a:ln w="19050">
            <a:solidFill>
              <a:srgbClr val="C26A2E"/>
            </a:solidFill>
            <a:prstDash val="solid"/>
          </a:ln>
        </p:spPr>
      </p:sp>
      <p:sp>
        <p:nvSpPr>
          <p:cNvPr id="6" name="stop 3"/>
          <p:cNvSpPr/>
          <p:nvPr/>
        </p:nvSpPr>
        <p:spPr>
          <a:xfrm>
            <a:off x="2791968" y="310896"/>
            <a:ext cx="146304" cy="146304"/>
          </a:xfrm>
          <a:prstGeom prst="ellipse">
            <a:avLst/>
          </a:prstGeom>
          <a:solidFill>
            <a:srgbClr val="C26A2E"/>
          </a:solidFill>
          <a:ln w="19050">
            <a:solidFill>
              <a:srgbClr val="C26A2E"/>
            </a:solidFill>
            <a:prstDash val="solid"/>
          </a:ln>
        </p:spPr>
      </p:sp>
      <p:sp>
        <p:nvSpPr>
          <p:cNvPr id="7" name="stop 4"/>
          <p:cNvSpPr/>
          <p:nvPr/>
        </p:nvSpPr>
        <p:spPr>
          <a:xfrm>
            <a:off x="3950208" y="310896"/>
            <a:ext cx="146304" cy="146304"/>
          </a:xfrm>
          <a:prstGeom prst="ellipse">
            <a:avLst/>
          </a:prstGeom>
          <a:solidFill>
            <a:srgbClr val="C26A2E"/>
          </a:solidFill>
          <a:ln w="19050">
            <a:solidFill>
              <a:srgbClr val="C26A2E"/>
            </a:solidFill>
            <a:prstDash val="solid"/>
          </a:ln>
        </p:spPr>
      </p:sp>
      <p:sp>
        <p:nvSpPr>
          <p:cNvPr id="8" name="stop 5"/>
          <p:cNvSpPr/>
          <p:nvPr/>
        </p:nvSpPr>
        <p:spPr>
          <a:xfrm>
            <a:off x="5108448" y="310896"/>
            <a:ext cx="146304" cy="146304"/>
          </a:xfrm>
          <a:prstGeom prst="ellipse">
            <a:avLst/>
          </a:prstGeom>
          <a:solidFill>
            <a:srgbClr val="C26A2E"/>
          </a:solidFill>
          <a:ln w="19050">
            <a:solidFill>
              <a:srgbClr val="C26A2E"/>
            </a:solidFill>
            <a:prstDash val="solid"/>
          </a:ln>
        </p:spPr>
      </p:sp>
      <p:sp>
        <p:nvSpPr>
          <p:cNvPr id="9" name="stop 6"/>
          <p:cNvSpPr/>
          <p:nvPr/>
        </p:nvSpPr>
        <p:spPr>
          <a:xfrm>
            <a:off x="6220968" y="265176"/>
            <a:ext cx="237744" cy="237744"/>
          </a:xfrm>
          <a:prstGeom prst="ellipse">
            <a:avLst/>
          </a:prstGeom>
          <a:solidFill>
            <a:srgbClr val="C26A2E"/>
          </a:solidFill>
          <a:ln w="19050">
            <a:solidFill>
              <a:srgbClr val="C26A2E"/>
            </a:solidFill>
            <a:prstDash val="solid"/>
          </a:ln>
        </p:spPr>
      </p:sp>
      <p:sp>
        <p:nvSpPr>
          <p:cNvPr id="10" name="stop 7"/>
          <p:cNvSpPr/>
          <p:nvPr/>
        </p:nvSpPr>
        <p:spPr>
          <a:xfrm>
            <a:off x="7424928" y="310896"/>
            <a:ext cx="146304" cy="146304"/>
          </a:xfrm>
          <a:prstGeom prst="ellipse">
            <a:avLst/>
          </a:prstGeom>
          <a:solidFill>
            <a:srgbClr val="FFFFFF"/>
          </a:solidFill>
          <a:ln w="19050">
            <a:solidFill>
              <a:srgbClr val="B9B3A8"/>
            </a:solidFill>
            <a:prstDash val="solid"/>
          </a:ln>
        </p:spPr>
      </p:sp>
      <p:sp>
        <p:nvSpPr>
          <p:cNvPr id="11" name="Text 9"/>
          <p:cNvSpPr txBox="1"/>
          <p:nvPr/>
        </p:nvSpPr>
        <p:spPr>
          <a:xfrm>
            <a:off x="7772400" y="237744"/>
            <a:ext cx="3840480" cy="292608"/>
          </a:xfrm>
          <a:prstGeom prst="rect">
            <a:avLst/>
          </a:prstGeom>
          <a:noFill/>
          <a:ln/>
        </p:spPr>
        <p:txBody>
          <a:bodyPr wrap="square" lIns="0" tIns="0" rIns="0" bIns="0" rtlCol="0" anchor="ctr"/>
          <a:lstStyle/>
          <a:p>
            <a:pPr indent="0" marL="0">
              <a:buNone/>
            </a:pPr>
            <a:r>
              <a:rPr lang="en-US" sz="1200" b="1" spc="200" kern="0" dirty="0">
                <a:solidFill>
                  <a:srgbClr val="C26A2E"/>
                </a:solidFill>
              </a:rPr>
              <a:t>STOP 6 OF 7  ·  KABUL</a:t>
            </a:r>
            <a:endParaRPr lang="en-US" sz="1200" dirty="0"/>
          </a:p>
        </p:txBody>
      </p:sp>
      <p:sp>
        <p:nvSpPr>
          <p:cNvPr id="12" name="Text 0"/>
          <p:cNvSpPr/>
          <p:nvPr>
            <p:ph idx="100"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2800" b="1" dirty="0">
                <a:solidFill>
                  <a:schemeClr val="tx1"/>
                </a:solidFill>
              </a:rPr>
              <a:t>Stop 6: Kabul, where the bullets and the victims meet</a:t>
            </a:r>
            <a:endParaRPr lang="en-US" sz="2800" dirty="0"/>
          </a:p>
        </p:txBody>
      </p:sp>
      <p:sp>
        <p:nvSpPr>
          <p:cNvPr id="13" name="location circle"/>
          <p:cNvSpPr/>
          <p:nvPr/>
        </p:nvSpPr>
        <p:spPr>
          <a:xfrm>
            <a:off x="548640" y="1600200"/>
            <a:ext cx="502920" cy="502920"/>
          </a:xfrm>
          <a:prstGeom prst="ellipse">
            <a:avLst/>
          </a:prstGeom>
          <a:solidFill>
            <a:srgbClr val="C26A2E"/>
          </a:solidFill>
          <a:ln/>
        </p:spPr>
      </p:sp>
      <p:pic>
        <p:nvPicPr>
          <p:cNvPr id="14" name="location icon" descr="location">    </p:cNvPr>
          <p:cNvPicPr>
            <a:picLocks noChangeAspect="1"/>
          </p:cNvPicPr>
          <p:nvPr/>
        </p:nvPicPr>
        <p:blipFill>
          <a:blip r:embed="rId1"/>
          <a:stretch>
            <a:fillRect/>
          </a:stretch>
        </p:blipFill>
        <p:spPr>
          <a:xfrm>
            <a:off x="669341" y="1720901"/>
            <a:ext cx="261518" cy="261518"/>
          </a:xfrm>
          <a:prstGeom prst="rect">
            <a:avLst/>
          </a:prstGeom>
        </p:spPr>
      </p:pic>
      <p:sp>
        <p:nvSpPr>
          <p:cNvPr id="15" name="Text 12"/>
          <p:cNvSpPr txBox="1"/>
          <p:nvPr/>
        </p:nvSpPr>
        <p:spPr>
          <a:xfrm>
            <a:off x="1188720" y="1554480"/>
            <a:ext cx="4297680" cy="59436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Kabul, Afghanistan</a:t>
            </a:r>
            <a:endParaRPr lang="en-US" sz="1800" dirty="0"/>
          </a:p>
          <a:p>
            <a:pPr indent="0" marL="0">
              <a:buNone/>
            </a:pPr>
            <a:r>
              <a:rPr lang="en-US" sz="1200" dirty="0">
                <a:solidFill>
                  <a:srgbClr val="5F6675"/>
                </a:solidFill>
              </a:rPr>
              <a:t>The end user</a:t>
            </a:r>
            <a:endParaRPr lang="en-US" sz="1800" dirty="0"/>
          </a:p>
        </p:txBody>
      </p:sp>
      <p:sp>
        <p:nvSpPr>
          <p:cNvPr id="16" name="Text 13"/>
          <p:cNvSpPr txBox="1"/>
          <p:nvPr/>
        </p:nvSpPr>
        <p:spPr>
          <a:xfrm>
            <a:off x="548640" y="2377440"/>
            <a:ext cx="4754880" cy="256032"/>
          </a:xfrm>
          <a:prstGeom prst="rect">
            <a:avLst/>
          </a:prstGeom>
          <a:noFill/>
          <a:ln/>
        </p:spPr>
        <p:txBody>
          <a:bodyPr wrap="square" lIns="0" tIns="0" rIns="0" bIns="0" rtlCol="0" anchor="ctr"/>
          <a:lstStyle/>
          <a:p>
            <a:pPr indent="0" marL="0">
              <a:buNone/>
            </a:pPr>
            <a:r>
              <a:rPr lang="en-US" sz="1100" b="1" spc="200" kern="0" dirty="0">
                <a:solidFill>
                  <a:srgbClr val="5F6675"/>
                </a:solidFill>
              </a:rPr>
              <a:t>WHAT HAPPENS HERE</a:t>
            </a:r>
            <a:endParaRPr lang="en-US" sz="1100" dirty="0"/>
          </a:p>
        </p:txBody>
      </p:sp>
      <p:sp>
        <p:nvSpPr>
          <p:cNvPr id="17" name="Text 14"/>
          <p:cNvSpPr txBox="1"/>
          <p:nvPr/>
        </p:nvSpPr>
        <p:spPr>
          <a:xfrm>
            <a:off x="548640" y="2697480"/>
            <a:ext cx="4754880" cy="2331720"/>
          </a:xfrm>
          <a:prstGeom prst="rect">
            <a:avLst/>
          </a:prstGeom>
          <a:noFill/>
          <a:ln/>
        </p:spPr>
        <p:txBody>
          <a:bodyPr wrap="square" lIns="0" tIns="0" rIns="0" bIns="0" rtlCol="0" anchor="t"/>
          <a:lstStyle/>
          <a:p>
            <a:pPr indent="0" marL="0">
              <a:buNone/>
            </a:pPr>
            <a:r>
              <a:rPr lang="en-US" sz="1600" dirty="0">
                <a:solidFill>
                  <a:srgbClr val="1F2A44"/>
                </a:solidFill>
              </a:rPr>
              <a:t>The decades-old ammunition is delivered to the Afghan National Army. The victims are not on screen for long: soldiers relying on old rounds, and taxpayers who funded the contract. So is the group behind it “organized crime”?</a:t>
            </a:r>
            <a:endParaRPr lang="en-US" sz="1600" dirty="0"/>
          </a:p>
        </p:txBody>
      </p:sp>
      <p:sp>
        <p:nvSpPr>
          <p:cNvPr id="18" name="THE BULLET"/>
          <p:cNvSpPr/>
          <p:nvPr/>
        </p:nvSpPr>
        <p:spPr>
          <a:xfrm>
            <a:off x="548640" y="5166360"/>
            <a:ext cx="2377440" cy="777240"/>
          </a:xfrm>
          <a:prstGeom prst="rect">
            <a:avLst/>
          </a:prstGeom>
          <a:solidFill>
            <a:srgbClr val="FFFFFF"/>
          </a:solidFill>
          <a:ln w="12700">
            <a:solidFill>
              <a:srgbClr val="C26A2E"/>
            </a:solidFill>
            <a:prstDash val="solid"/>
          </a:ln>
        </p:spPr>
      </p:sp>
      <p:sp>
        <p:nvSpPr>
          <p:cNvPr id="19" name="THE BULLET circle"/>
          <p:cNvSpPr/>
          <p:nvPr/>
        </p:nvSpPr>
        <p:spPr>
          <a:xfrm>
            <a:off x="658368" y="5321808"/>
            <a:ext cx="457200" cy="457200"/>
          </a:xfrm>
          <a:prstGeom prst="ellipse">
            <a:avLst/>
          </a:prstGeom>
          <a:solidFill>
            <a:srgbClr val="C26A2E"/>
          </a:solidFill>
          <a:ln/>
        </p:spPr>
      </p:sp>
      <p:pic>
        <p:nvPicPr>
          <p:cNvPr id="20" name="THE BULLET icon" descr="THE BULLET">    </p:cNvPr>
          <p:cNvPicPr>
            <a:picLocks noChangeAspect="1"/>
          </p:cNvPicPr>
          <p:nvPr/>
        </p:nvPicPr>
        <p:blipFill>
          <a:blip r:embed="rId2"/>
          <a:stretch>
            <a:fillRect/>
          </a:stretch>
        </p:blipFill>
        <p:spPr>
          <a:xfrm>
            <a:off x="768096" y="5431536"/>
            <a:ext cx="237744" cy="237744"/>
          </a:xfrm>
          <a:prstGeom prst="rect">
            <a:avLst/>
          </a:prstGeom>
        </p:spPr>
      </p:pic>
      <p:sp>
        <p:nvSpPr>
          <p:cNvPr id="21" name="Text 17"/>
          <p:cNvSpPr txBox="1"/>
          <p:nvPr/>
        </p:nvSpPr>
        <p:spPr>
          <a:xfrm>
            <a:off x="1207008" y="5166360"/>
            <a:ext cx="1645920" cy="777240"/>
          </a:xfrm>
          <a:prstGeom prst="rect">
            <a:avLst/>
          </a:prstGeom>
          <a:noFill/>
          <a:ln/>
        </p:spPr>
        <p:txBody>
          <a:bodyPr wrap="square" lIns="0" tIns="0" rIns="0" bIns="0" rtlCol="0" anchor="ctr"/>
          <a:lstStyle/>
          <a:p>
            <a:pPr indent="0" marL="0">
              <a:buNone/>
            </a:pPr>
            <a:r>
              <a:rPr lang="en-US" sz="1000" b="1" spc="100" kern="0" dirty="0">
                <a:solidFill>
                  <a:srgbClr val="C26A2E"/>
                </a:solidFill>
              </a:rPr>
              <a:t>THE BULLET</a:t>
            </a:r>
            <a:endParaRPr lang="en-US" sz="1000" dirty="0"/>
          </a:p>
          <a:p>
            <a:pPr indent="0" marL="0">
              <a:buNone/>
            </a:pPr>
            <a:r>
              <a:rPr lang="en-US" sz="1200" dirty="0">
                <a:solidFill>
                  <a:srgbClr val="1F2A44"/>
                </a:solidFill>
              </a:rPr>
              <a:t>Decades-old rounds issued to soldiers</a:t>
            </a:r>
            <a:endParaRPr lang="en-US" sz="1000" dirty="0"/>
          </a:p>
        </p:txBody>
      </p:sp>
      <p:sp>
        <p:nvSpPr>
          <p:cNvPr id="22" name="THE MONEY"/>
          <p:cNvSpPr/>
          <p:nvPr/>
        </p:nvSpPr>
        <p:spPr>
          <a:xfrm>
            <a:off x="3063240" y="5166360"/>
            <a:ext cx="2377440" cy="777240"/>
          </a:xfrm>
          <a:prstGeom prst="rect">
            <a:avLst/>
          </a:prstGeom>
          <a:solidFill>
            <a:srgbClr val="FFFFFF"/>
          </a:solidFill>
          <a:ln w="12700">
            <a:solidFill>
              <a:srgbClr val="1F7A8C"/>
            </a:solidFill>
            <a:prstDash val="solid"/>
          </a:ln>
        </p:spPr>
      </p:sp>
      <p:sp>
        <p:nvSpPr>
          <p:cNvPr id="23" name="THE MONEY circle"/>
          <p:cNvSpPr/>
          <p:nvPr/>
        </p:nvSpPr>
        <p:spPr>
          <a:xfrm>
            <a:off x="3172968" y="5321808"/>
            <a:ext cx="457200" cy="457200"/>
          </a:xfrm>
          <a:prstGeom prst="ellipse">
            <a:avLst/>
          </a:prstGeom>
          <a:solidFill>
            <a:srgbClr val="1F7A8C"/>
          </a:solidFill>
          <a:ln/>
        </p:spPr>
      </p:sp>
      <p:pic>
        <p:nvPicPr>
          <p:cNvPr id="24" name="THE MONEY icon" descr="THE MONEY">    </p:cNvPr>
          <p:cNvPicPr>
            <a:picLocks noChangeAspect="1"/>
          </p:cNvPicPr>
          <p:nvPr/>
        </p:nvPicPr>
        <p:blipFill>
          <a:blip r:embed="rId3"/>
          <a:stretch>
            <a:fillRect/>
          </a:stretch>
        </p:blipFill>
        <p:spPr>
          <a:xfrm>
            <a:off x="3282696" y="5431536"/>
            <a:ext cx="237744" cy="237744"/>
          </a:xfrm>
          <a:prstGeom prst="rect">
            <a:avLst/>
          </a:prstGeom>
        </p:spPr>
      </p:pic>
      <p:sp>
        <p:nvSpPr>
          <p:cNvPr id="25" name="Text 20"/>
          <p:cNvSpPr txBox="1"/>
          <p:nvPr/>
        </p:nvSpPr>
        <p:spPr>
          <a:xfrm>
            <a:off x="3721608" y="5166360"/>
            <a:ext cx="1645920" cy="777240"/>
          </a:xfrm>
          <a:prstGeom prst="rect">
            <a:avLst/>
          </a:prstGeom>
          <a:noFill/>
          <a:ln/>
        </p:spPr>
        <p:txBody>
          <a:bodyPr wrap="square" lIns="0" tIns="0" rIns="0" bIns="0" rtlCol="0" anchor="ctr"/>
          <a:lstStyle/>
          <a:p>
            <a:pPr indent="0" marL="0">
              <a:buNone/>
            </a:pPr>
            <a:r>
              <a:rPr lang="en-US" sz="1000" b="1" spc="100" kern="0" dirty="0">
                <a:solidFill>
                  <a:srgbClr val="1F7A8C"/>
                </a:solidFill>
              </a:rPr>
              <a:t>THE MONEY</a:t>
            </a:r>
            <a:endParaRPr lang="en-US" sz="1000" dirty="0"/>
          </a:p>
          <a:p>
            <a:pPr indent="0" marL="0">
              <a:buNone/>
            </a:pPr>
            <a:r>
              <a:rPr lang="en-US" sz="1200" dirty="0">
                <a:solidFill>
                  <a:srgbClr val="1F2A44"/>
                </a:solidFill>
              </a:rPr>
              <a:t>US taxpayers pay the bill</a:t>
            </a:r>
            <a:endParaRPr lang="en-US" sz="1000" dirty="0"/>
          </a:p>
        </p:txBody>
      </p:sp>
      <p:sp>
        <p:nvSpPr>
          <p:cNvPr id="26" name="Text 21"/>
          <p:cNvSpPr txBox="1"/>
          <p:nvPr/>
        </p:nvSpPr>
        <p:spPr>
          <a:xfrm>
            <a:off x="5760720" y="1600200"/>
            <a:ext cx="5882335" cy="256032"/>
          </a:xfrm>
          <a:prstGeom prst="rect">
            <a:avLst/>
          </a:prstGeom>
          <a:noFill/>
          <a:ln/>
        </p:spPr>
        <p:txBody>
          <a:bodyPr wrap="square" lIns="0" tIns="0" rIns="0" bIns="0" rtlCol="0" anchor="ctr"/>
          <a:lstStyle/>
          <a:p>
            <a:pPr indent="0" marL="0">
              <a:buNone/>
            </a:pPr>
            <a:r>
              <a:rPr lang="en-US" sz="1100" b="1" spc="200" kern="0" dirty="0">
                <a:solidFill>
                  <a:srgbClr val="1F7A8C"/>
                </a:solidFill>
              </a:rPr>
              <a:t>CRIMINOLOGY CHECKPOINT</a:t>
            </a:r>
            <a:endParaRPr lang="en-US" sz="1100" dirty="0"/>
          </a:p>
        </p:txBody>
      </p:sp>
      <p:sp>
        <p:nvSpPr>
          <p:cNvPr id="27" name="UNTOC definition: yes, organized crime"/>
          <p:cNvSpPr/>
          <p:nvPr/>
        </p:nvSpPr>
        <p:spPr>
          <a:xfrm>
            <a:off x="5760720" y="1920240"/>
            <a:ext cx="5882335" cy="2011680"/>
          </a:xfrm>
          <a:prstGeom prst="rect">
            <a:avLst/>
          </a:prstGeom>
          <a:solidFill>
            <a:srgbClr val="FFFFFF"/>
          </a:solidFill>
          <a:ln w="12700">
            <a:solidFill>
              <a:srgbClr val="1F7A8C"/>
            </a:solidFill>
            <a:prstDash val="solid"/>
          </a:ln>
          <a:effectLst>
            <a:outerShdw sx="100000" sy="100000" kx="0" ky="0" algn="bl" rotWithShape="0" blurRad="76200" dist="25400" dir="5400000">
              <a:srgbClr val="000000">
                <a:alpha val="7000"/>
              </a:srgbClr>
            </a:outerShdw>
          </a:effectLst>
        </p:spPr>
      </p:sp>
      <p:sp>
        <p:nvSpPr>
          <p:cNvPr id="28" name="UNTOC definition: yes, organized crime circle"/>
          <p:cNvSpPr/>
          <p:nvPr/>
        </p:nvSpPr>
        <p:spPr>
          <a:xfrm>
            <a:off x="5961888" y="2121408"/>
            <a:ext cx="457200" cy="457200"/>
          </a:xfrm>
          <a:prstGeom prst="ellipse">
            <a:avLst/>
          </a:prstGeom>
          <a:solidFill>
            <a:srgbClr val="1F7A8C"/>
          </a:solidFill>
          <a:ln/>
        </p:spPr>
      </p:sp>
      <p:pic>
        <p:nvPicPr>
          <p:cNvPr id="29" name="UNTOC definition: yes, organized crime icon" descr="UNTOC definition: yes, organized crime">    </p:cNvPr>
          <p:cNvPicPr>
            <a:picLocks noChangeAspect="1"/>
          </p:cNvPicPr>
          <p:nvPr/>
        </p:nvPicPr>
        <p:blipFill>
          <a:blip r:embed="rId4"/>
          <a:stretch>
            <a:fillRect/>
          </a:stretch>
        </p:blipFill>
        <p:spPr>
          <a:xfrm>
            <a:off x="6071616" y="2231136"/>
            <a:ext cx="237744" cy="237744"/>
          </a:xfrm>
          <a:prstGeom prst="rect">
            <a:avLst/>
          </a:prstGeom>
        </p:spPr>
      </p:pic>
      <p:sp>
        <p:nvSpPr>
          <p:cNvPr id="30" name="Text 24"/>
          <p:cNvSpPr txBox="1"/>
          <p:nvPr/>
        </p:nvSpPr>
        <p:spPr>
          <a:xfrm>
            <a:off x="6583680" y="2029968"/>
            <a:ext cx="4876495" cy="64008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UNTOC definition: yes, organized crime</a:t>
            </a:r>
            <a:endParaRPr lang="en-US" sz="1700" dirty="0"/>
          </a:p>
          <a:p>
            <a:pPr indent="0" marL="0">
              <a:buNone/>
            </a:pPr>
            <a:r>
              <a:rPr lang="en-US" sz="1200" dirty="0">
                <a:solidFill>
                  <a:srgbClr val="5F6675"/>
                </a:solidFill>
              </a:rPr>
              <a:t>UNODC (2004), Article 2</a:t>
            </a:r>
            <a:endParaRPr lang="en-US" sz="1700" dirty="0"/>
          </a:p>
        </p:txBody>
      </p:sp>
      <p:sp>
        <p:nvSpPr>
          <p:cNvPr id="31" name="Text 25"/>
          <p:cNvSpPr txBox="1"/>
          <p:nvPr/>
        </p:nvSpPr>
        <p:spPr>
          <a:xfrm>
            <a:off x="6583680" y="2697480"/>
            <a:ext cx="4830775" cy="1143000"/>
          </a:xfrm>
          <a:prstGeom prst="rect">
            <a:avLst/>
          </a:prstGeom>
          <a:noFill/>
          <a:ln/>
        </p:spPr>
        <p:txBody>
          <a:bodyPr wrap="square" lIns="0" tIns="0" rIns="0" bIns="0" rtlCol="0" anchor="t"/>
          <a:lstStyle/>
          <a:p>
            <a:pPr indent="0" marL="0">
              <a:buNone/>
            </a:pPr>
            <a:r>
              <a:rPr lang="en-US" sz="1500" dirty="0">
                <a:solidFill>
                  <a:srgbClr val="1F2A44"/>
                </a:solidFill>
              </a:rPr>
              <a:t>A structured group of 3+ persons (Efraim, David, financier, Henry, suppliers), existing over time, committing serious crime for material benefit.</a:t>
            </a:r>
            <a:endParaRPr lang="en-US" sz="1500" dirty="0"/>
          </a:p>
        </p:txBody>
      </p:sp>
      <p:sp>
        <p:nvSpPr>
          <p:cNvPr id="32" name="Transnational organized crime"/>
          <p:cNvSpPr/>
          <p:nvPr/>
        </p:nvSpPr>
        <p:spPr>
          <a:xfrm>
            <a:off x="5760720" y="4114800"/>
            <a:ext cx="5882335" cy="2011680"/>
          </a:xfrm>
          <a:prstGeom prst="rect">
            <a:avLst/>
          </a:prstGeom>
          <a:solidFill>
            <a:srgbClr val="FFFFFF"/>
          </a:solidFill>
          <a:ln w="12700">
            <a:solidFill>
              <a:srgbClr val="D8D3CA"/>
            </a:solidFill>
            <a:prstDash val="solid"/>
          </a:ln>
          <a:effectLst>
            <a:outerShdw sx="100000" sy="100000" kx="0" ky="0" algn="bl" rotWithShape="0" blurRad="76200" dist="25400" dir="5400000">
              <a:srgbClr val="000000">
                <a:alpha val="7000"/>
              </a:srgbClr>
            </a:outerShdw>
          </a:effectLst>
        </p:spPr>
      </p:sp>
      <p:sp>
        <p:nvSpPr>
          <p:cNvPr id="33" name="Transnational organized crime circle"/>
          <p:cNvSpPr/>
          <p:nvPr/>
        </p:nvSpPr>
        <p:spPr>
          <a:xfrm>
            <a:off x="5961888" y="4315968"/>
            <a:ext cx="457200" cy="457200"/>
          </a:xfrm>
          <a:prstGeom prst="ellipse">
            <a:avLst/>
          </a:prstGeom>
          <a:solidFill>
            <a:srgbClr val="1F7A8C"/>
          </a:solidFill>
          <a:ln/>
        </p:spPr>
      </p:sp>
      <p:pic>
        <p:nvPicPr>
          <p:cNvPr id="34" name="Transnational organized crime icon" descr="Transnational organized crime">    </p:cNvPr>
          <p:cNvPicPr>
            <a:picLocks noChangeAspect="1"/>
          </p:cNvPicPr>
          <p:nvPr/>
        </p:nvPicPr>
        <p:blipFill>
          <a:blip r:embed="rId5"/>
          <a:stretch>
            <a:fillRect/>
          </a:stretch>
        </p:blipFill>
        <p:spPr>
          <a:xfrm>
            <a:off x="6071616" y="4425696"/>
            <a:ext cx="237744" cy="237744"/>
          </a:xfrm>
          <a:prstGeom prst="rect">
            <a:avLst/>
          </a:prstGeom>
        </p:spPr>
      </p:pic>
      <p:sp>
        <p:nvSpPr>
          <p:cNvPr id="35" name="Text 28"/>
          <p:cNvSpPr txBox="1"/>
          <p:nvPr/>
        </p:nvSpPr>
        <p:spPr>
          <a:xfrm>
            <a:off x="6583680" y="4224528"/>
            <a:ext cx="4876495" cy="64008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Transnational organized crime</a:t>
            </a:r>
            <a:endParaRPr lang="en-US" sz="1700" dirty="0"/>
          </a:p>
          <a:p>
            <a:pPr indent="0" marL="0">
              <a:buNone/>
            </a:pPr>
            <a:r>
              <a:rPr lang="en-US" sz="1200" dirty="0">
                <a:solidFill>
                  <a:srgbClr val="5F6675"/>
                </a:solidFill>
              </a:rPr>
              <a:t>UNODC (2004)</a:t>
            </a:r>
            <a:endParaRPr lang="en-US" sz="1700" dirty="0"/>
          </a:p>
        </p:txBody>
      </p:sp>
      <p:sp>
        <p:nvSpPr>
          <p:cNvPr id="36" name="Text 29"/>
          <p:cNvSpPr txBox="1"/>
          <p:nvPr/>
        </p:nvSpPr>
        <p:spPr>
          <a:xfrm>
            <a:off x="6583680" y="4892040"/>
            <a:ext cx="4830775" cy="1143000"/>
          </a:xfrm>
          <a:prstGeom prst="rect">
            <a:avLst/>
          </a:prstGeom>
          <a:noFill/>
          <a:ln/>
        </p:spPr>
        <p:txBody>
          <a:bodyPr wrap="square" lIns="0" tIns="0" rIns="0" bIns="0" rtlCol="0" anchor="t"/>
          <a:lstStyle/>
          <a:p>
            <a:pPr indent="0" marL="0">
              <a:buNone/>
            </a:pPr>
            <a:r>
              <a:rPr lang="en-US" sz="1500" dirty="0">
                <a:solidFill>
                  <a:srgbClr val="1F2A44"/>
                </a:solidFill>
              </a:rPr>
              <a:t>The scheme crossed the US, Jordan, Iraq, Albania and Afghanistan, exploiting gaps between national laws and weak record-keeping.</a:t>
            </a:r>
            <a:endParaRPr lang="en-US" sz="15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968E"/>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racker line"/>
          <p:cNvSpPr/>
          <p:nvPr/>
        </p:nvSpPr>
        <p:spPr>
          <a:xfrm>
            <a:off x="548640" y="384048"/>
            <a:ext cx="6949440" cy="0"/>
          </a:xfrm>
          <a:prstGeom prst="line">
            <a:avLst/>
          </a:prstGeom>
          <a:noFill/>
          <a:ln w="25400">
            <a:solidFill>
              <a:srgbClr val="D8D3CA"/>
            </a:solidFill>
            <a:prstDash val="solid"/>
          </a:ln>
        </p:spPr>
      </p:sp>
      <p:sp>
        <p:nvSpPr>
          <p:cNvPr id="3" name="tracker progress"/>
          <p:cNvSpPr/>
          <p:nvPr/>
        </p:nvSpPr>
        <p:spPr>
          <a:xfrm>
            <a:off x="548640" y="384048"/>
            <a:ext cx="6949440" cy="0"/>
          </a:xfrm>
          <a:prstGeom prst="line">
            <a:avLst/>
          </a:prstGeom>
          <a:noFill/>
          <a:ln w="38100">
            <a:solidFill>
              <a:srgbClr val="C26A2E"/>
            </a:solidFill>
            <a:prstDash val="solid"/>
          </a:ln>
        </p:spPr>
      </p:sp>
      <p:sp>
        <p:nvSpPr>
          <p:cNvPr id="4" name="stop 1"/>
          <p:cNvSpPr/>
          <p:nvPr/>
        </p:nvSpPr>
        <p:spPr>
          <a:xfrm>
            <a:off x="475488" y="310896"/>
            <a:ext cx="146304" cy="146304"/>
          </a:xfrm>
          <a:prstGeom prst="ellipse">
            <a:avLst/>
          </a:prstGeom>
          <a:solidFill>
            <a:srgbClr val="C26A2E"/>
          </a:solidFill>
          <a:ln w="19050">
            <a:solidFill>
              <a:srgbClr val="C26A2E"/>
            </a:solidFill>
            <a:prstDash val="solid"/>
          </a:ln>
        </p:spPr>
      </p:sp>
      <p:sp>
        <p:nvSpPr>
          <p:cNvPr id="5" name="stop 2"/>
          <p:cNvSpPr/>
          <p:nvPr/>
        </p:nvSpPr>
        <p:spPr>
          <a:xfrm>
            <a:off x="1633728" y="310896"/>
            <a:ext cx="146304" cy="146304"/>
          </a:xfrm>
          <a:prstGeom prst="ellipse">
            <a:avLst/>
          </a:prstGeom>
          <a:solidFill>
            <a:srgbClr val="C26A2E"/>
          </a:solidFill>
          <a:ln w="19050">
            <a:solidFill>
              <a:srgbClr val="C26A2E"/>
            </a:solidFill>
            <a:prstDash val="solid"/>
          </a:ln>
        </p:spPr>
      </p:sp>
      <p:sp>
        <p:nvSpPr>
          <p:cNvPr id="6" name="stop 3"/>
          <p:cNvSpPr/>
          <p:nvPr/>
        </p:nvSpPr>
        <p:spPr>
          <a:xfrm>
            <a:off x="2791968" y="310896"/>
            <a:ext cx="146304" cy="146304"/>
          </a:xfrm>
          <a:prstGeom prst="ellipse">
            <a:avLst/>
          </a:prstGeom>
          <a:solidFill>
            <a:srgbClr val="C26A2E"/>
          </a:solidFill>
          <a:ln w="19050">
            <a:solidFill>
              <a:srgbClr val="C26A2E"/>
            </a:solidFill>
            <a:prstDash val="solid"/>
          </a:ln>
        </p:spPr>
      </p:sp>
      <p:sp>
        <p:nvSpPr>
          <p:cNvPr id="7" name="stop 4"/>
          <p:cNvSpPr/>
          <p:nvPr/>
        </p:nvSpPr>
        <p:spPr>
          <a:xfrm>
            <a:off x="3950208" y="310896"/>
            <a:ext cx="146304" cy="146304"/>
          </a:xfrm>
          <a:prstGeom prst="ellipse">
            <a:avLst/>
          </a:prstGeom>
          <a:solidFill>
            <a:srgbClr val="C26A2E"/>
          </a:solidFill>
          <a:ln w="19050">
            <a:solidFill>
              <a:srgbClr val="C26A2E"/>
            </a:solidFill>
            <a:prstDash val="solid"/>
          </a:ln>
        </p:spPr>
      </p:sp>
      <p:sp>
        <p:nvSpPr>
          <p:cNvPr id="8" name="stop 5"/>
          <p:cNvSpPr/>
          <p:nvPr/>
        </p:nvSpPr>
        <p:spPr>
          <a:xfrm>
            <a:off x="5108448" y="310896"/>
            <a:ext cx="146304" cy="146304"/>
          </a:xfrm>
          <a:prstGeom prst="ellipse">
            <a:avLst/>
          </a:prstGeom>
          <a:solidFill>
            <a:srgbClr val="C26A2E"/>
          </a:solidFill>
          <a:ln w="19050">
            <a:solidFill>
              <a:srgbClr val="C26A2E"/>
            </a:solidFill>
            <a:prstDash val="solid"/>
          </a:ln>
        </p:spPr>
      </p:sp>
      <p:sp>
        <p:nvSpPr>
          <p:cNvPr id="9" name="stop 6"/>
          <p:cNvSpPr/>
          <p:nvPr/>
        </p:nvSpPr>
        <p:spPr>
          <a:xfrm>
            <a:off x="6266688" y="310896"/>
            <a:ext cx="146304" cy="146304"/>
          </a:xfrm>
          <a:prstGeom prst="ellipse">
            <a:avLst/>
          </a:prstGeom>
          <a:solidFill>
            <a:srgbClr val="C26A2E"/>
          </a:solidFill>
          <a:ln w="19050">
            <a:solidFill>
              <a:srgbClr val="C26A2E"/>
            </a:solidFill>
            <a:prstDash val="solid"/>
          </a:ln>
        </p:spPr>
      </p:sp>
      <p:sp>
        <p:nvSpPr>
          <p:cNvPr id="10" name="stop 7"/>
          <p:cNvSpPr/>
          <p:nvPr/>
        </p:nvSpPr>
        <p:spPr>
          <a:xfrm>
            <a:off x="7379208" y="265176"/>
            <a:ext cx="237744" cy="237744"/>
          </a:xfrm>
          <a:prstGeom prst="ellipse">
            <a:avLst/>
          </a:prstGeom>
          <a:solidFill>
            <a:srgbClr val="C26A2E"/>
          </a:solidFill>
          <a:ln w="19050">
            <a:solidFill>
              <a:srgbClr val="C26A2E"/>
            </a:solidFill>
            <a:prstDash val="solid"/>
          </a:ln>
        </p:spPr>
      </p:sp>
      <p:sp>
        <p:nvSpPr>
          <p:cNvPr id="11" name="Text 9"/>
          <p:cNvSpPr txBox="1"/>
          <p:nvPr/>
        </p:nvSpPr>
        <p:spPr>
          <a:xfrm>
            <a:off x="7772400" y="237744"/>
            <a:ext cx="3840480" cy="292608"/>
          </a:xfrm>
          <a:prstGeom prst="rect">
            <a:avLst/>
          </a:prstGeom>
          <a:noFill/>
          <a:ln/>
        </p:spPr>
        <p:txBody>
          <a:bodyPr wrap="square" lIns="0" tIns="0" rIns="0" bIns="0" rtlCol="0" anchor="ctr"/>
          <a:lstStyle/>
          <a:p>
            <a:pPr indent="0" marL="0">
              <a:buNone/>
            </a:pPr>
            <a:r>
              <a:rPr lang="en-US" sz="1200" b="1" spc="200" kern="0" dirty="0">
                <a:solidFill>
                  <a:srgbClr val="C26A2E"/>
                </a:solidFill>
              </a:rPr>
              <a:t>STOP 7 OF 7  ·  COURTROOM</a:t>
            </a:r>
            <a:endParaRPr lang="en-US" sz="1200" dirty="0"/>
          </a:p>
        </p:txBody>
      </p:sp>
      <p:sp>
        <p:nvSpPr>
          <p:cNvPr id="12" name="Text 0"/>
          <p:cNvSpPr/>
          <p:nvPr>
            <p:ph idx="100"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2800" b="1" dirty="0">
                <a:solidFill>
                  <a:schemeClr val="tx1"/>
                </a:solidFill>
              </a:rPr>
              <a:t>Stop 7: a Miami courtroom, and why AEY is not the mafia</a:t>
            </a:r>
            <a:endParaRPr lang="en-US" sz="2800" dirty="0"/>
          </a:p>
        </p:txBody>
      </p:sp>
      <p:sp>
        <p:nvSpPr>
          <p:cNvPr id="13" name="location circle"/>
          <p:cNvSpPr/>
          <p:nvPr/>
        </p:nvSpPr>
        <p:spPr>
          <a:xfrm>
            <a:off x="548640" y="1600200"/>
            <a:ext cx="502920" cy="502920"/>
          </a:xfrm>
          <a:prstGeom prst="ellipse">
            <a:avLst/>
          </a:prstGeom>
          <a:solidFill>
            <a:srgbClr val="C26A2E"/>
          </a:solidFill>
          <a:ln/>
        </p:spPr>
      </p:sp>
      <p:pic>
        <p:nvPicPr>
          <p:cNvPr id="14" name="location icon" descr="location">    </p:cNvPr>
          <p:cNvPicPr>
            <a:picLocks noChangeAspect="1"/>
          </p:cNvPicPr>
          <p:nvPr/>
        </p:nvPicPr>
        <p:blipFill>
          <a:blip r:embed="rId1"/>
          <a:stretch>
            <a:fillRect/>
          </a:stretch>
        </p:blipFill>
        <p:spPr>
          <a:xfrm>
            <a:off x="669341" y="1720901"/>
            <a:ext cx="261518" cy="261518"/>
          </a:xfrm>
          <a:prstGeom prst="rect">
            <a:avLst/>
          </a:prstGeom>
        </p:spPr>
      </p:pic>
      <p:sp>
        <p:nvSpPr>
          <p:cNvPr id="15" name="Text 12"/>
          <p:cNvSpPr txBox="1"/>
          <p:nvPr/>
        </p:nvSpPr>
        <p:spPr>
          <a:xfrm>
            <a:off x="1188720" y="1554480"/>
            <a:ext cx="4297680" cy="59436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Federal court, Miami</a:t>
            </a:r>
            <a:endParaRPr lang="en-US" sz="1800" dirty="0"/>
          </a:p>
          <a:p>
            <a:pPr indent="0" marL="0">
              <a:buNone/>
            </a:pPr>
            <a:r>
              <a:rPr lang="en-US" sz="1200" dirty="0">
                <a:solidFill>
                  <a:srgbClr val="5F6675"/>
                </a:solidFill>
              </a:rPr>
              <a:t>The end of the line</a:t>
            </a:r>
            <a:endParaRPr lang="en-US" sz="1800" dirty="0"/>
          </a:p>
        </p:txBody>
      </p:sp>
      <p:sp>
        <p:nvSpPr>
          <p:cNvPr id="16" name="Text 13"/>
          <p:cNvSpPr txBox="1"/>
          <p:nvPr/>
        </p:nvSpPr>
        <p:spPr>
          <a:xfrm>
            <a:off x="548640" y="2377440"/>
            <a:ext cx="4754880" cy="256032"/>
          </a:xfrm>
          <a:prstGeom prst="rect">
            <a:avLst/>
          </a:prstGeom>
          <a:noFill/>
          <a:ln/>
        </p:spPr>
        <p:txBody>
          <a:bodyPr wrap="square" lIns="0" tIns="0" rIns="0" bIns="0" rtlCol="0" anchor="ctr"/>
          <a:lstStyle/>
          <a:p>
            <a:pPr indent="0" marL="0">
              <a:buNone/>
            </a:pPr>
            <a:r>
              <a:rPr lang="en-US" sz="1100" b="1" spc="200" kern="0" dirty="0">
                <a:solidFill>
                  <a:srgbClr val="5F6675"/>
                </a:solidFill>
              </a:rPr>
              <a:t>WHAT HAPPENS HERE</a:t>
            </a:r>
            <a:endParaRPr lang="en-US" sz="1100" dirty="0"/>
          </a:p>
        </p:txBody>
      </p:sp>
      <p:sp>
        <p:nvSpPr>
          <p:cNvPr id="17" name="Text 14"/>
          <p:cNvSpPr txBox="1"/>
          <p:nvPr/>
        </p:nvSpPr>
        <p:spPr>
          <a:xfrm>
            <a:off x="548640" y="2697480"/>
            <a:ext cx="4754880" cy="2331720"/>
          </a:xfrm>
          <a:prstGeom prst="rect">
            <a:avLst/>
          </a:prstGeom>
          <a:noFill/>
          <a:ln/>
        </p:spPr>
        <p:txBody>
          <a:bodyPr wrap="square" lIns="0" tIns="0" rIns="0" bIns="0" rtlCol="0" anchor="t"/>
          <a:lstStyle/>
          <a:p>
            <a:pPr indent="0" marL="0">
              <a:buNone/>
            </a:pPr>
            <a:r>
              <a:rPr lang="en-US" sz="1600" dirty="0">
                <a:solidFill>
                  <a:srgbClr val="1F2A44"/>
                </a:solidFill>
              </a:rPr>
              <a:t>Greed and betrayal destroy the partnership, journalists expose AEY, and the government investigates. In the film, as in reality, Efraim is sentenced to 4 years in prison and David, who cooperates, to 7 months of house arrest.</a:t>
            </a:r>
            <a:endParaRPr lang="en-US" sz="1600" dirty="0"/>
          </a:p>
        </p:txBody>
      </p:sp>
      <p:sp>
        <p:nvSpPr>
          <p:cNvPr id="18" name="THE BULLET"/>
          <p:cNvSpPr/>
          <p:nvPr/>
        </p:nvSpPr>
        <p:spPr>
          <a:xfrm>
            <a:off x="548640" y="5166360"/>
            <a:ext cx="2377440" cy="777240"/>
          </a:xfrm>
          <a:prstGeom prst="rect">
            <a:avLst/>
          </a:prstGeom>
          <a:solidFill>
            <a:srgbClr val="FFFFFF"/>
          </a:solidFill>
          <a:ln w="12700">
            <a:solidFill>
              <a:srgbClr val="C26A2E"/>
            </a:solidFill>
            <a:prstDash val="solid"/>
          </a:ln>
        </p:spPr>
      </p:sp>
      <p:sp>
        <p:nvSpPr>
          <p:cNvPr id="19" name="THE BULLET circle"/>
          <p:cNvSpPr/>
          <p:nvPr/>
        </p:nvSpPr>
        <p:spPr>
          <a:xfrm>
            <a:off x="658368" y="5321808"/>
            <a:ext cx="457200" cy="457200"/>
          </a:xfrm>
          <a:prstGeom prst="ellipse">
            <a:avLst/>
          </a:prstGeom>
          <a:solidFill>
            <a:srgbClr val="C26A2E"/>
          </a:solidFill>
          <a:ln/>
        </p:spPr>
      </p:sp>
      <p:pic>
        <p:nvPicPr>
          <p:cNvPr id="20" name="THE BULLET icon" descr="THE BULLET">    </p:cNvPr>
          <p:cNvPicPr>
            <a:picLocks noChangeAspect="1"/>
          </p:cNvPicPr>
          <p:nvPr/>
        </p:nvPicPr>
        <p:blipFill>
          <a:blip r:embed="rId2"/>
          <a:stretch>
            <a:fillRect/>
          </a:stretch>
        </p:blipFill>
        <p:spPr>
          <a:xfrm>
            <a:off x="768096" y="5431536"/>
            <a:ext cx="237744" cy="237744"/>
          </a:xfrm>
          <a:prstGeom prst="rect">
            <a:avLst/>
          </a:prstGeom>
        </p:spPr>
      </p:pic>
      <p:sp>
        <p:nvSpPr>
          <p:cNvPr id="21" name="Text 17"/>
          <p:cNvSpPr txBox="1"/>
          <p:nvPr/>
        </p:nvSpPr>
        <p:spPr>
          <a:xfrm>
            <a:off x="1207008" y="5166360"/>
            <a:ext cx="1645920" cy="777240"/>
          </a:xfrm>
          <a:prstGeom prst="rect">
            <a:avLst/>
          </a:prstGeom>
          <a:noFill/>
          <a:ln/>
        </p:spPr>
        <p:txBody>
          <a:bodyPr wrap="square" lIns="0" tIns="0" rIns="0" bIns="0" rtlCol="0" anchor="ctr"/>
          <a:lstStyle/>
          <a:p>
            <a:pPr indent="0" marL="0">
              <a:buNone/>
            </a:pPr>
            <a:r>
              <a:rPr lang="en-US" sz="1000" b="1" spc="100" kern="0" dirty="0">
                <a:solidFill>
                  <a:srgbClr val="C26A2E"/>
                </a:solidFill>
              </a:rPr>
              <a:t>THE BULLET</a:t>
            </a:r>
            <a:endParaRPr lang="en-US" sz="1000" dirty="0"/>
          </a:p>
          <a:p>
            <a:pPr indent="0" marL="0">
              <a:buNone/>
            </a:pPr>
            <a:r>
              <a:rPr lang="en-US" sz="1200" dirty="0">
                <a:solidFill>
                  <a:srgbClr val="1F2A44"/>
                </a:solidFill>
              </a:rPr>
              <a:t>AEY’s supplies exposed (2008)</a:t>
            </a:r>
            <a:endParaRPr lang="en-US" sz="1000" dirty="0"/>
          </a:p>
        </p:txBody>
      </p:sp>
      <p:sp>
        <p:nvSpPr>
          <p:cNvPr id="22" name="THE MONEY"/>
          <p:cNvSpPr/>
          <p:nvPr/>
        </p:nvSpPr>
        <p:spPr>
          <a:xfrm>
            <a:off x="3063240" y="5166360"/>
            <a:ext cx="2377440" cy="777240"/>
          </a:xfrm>
          <a:prstGeom prst="rect">
            <a:avLst/>
          </a:prstGeom>
          <a:solidFill>
            <a:srgbClr val="FFFFFF"/>
          </a:solidFill>
          <a:ln w="12700">
            <a:solidFill>
              <a:srgbClr val="1F7A8C"/>
            </a:solidFill>
            <a:prstDash val="solid"/>
          </a:ln>
        </p:spPr>
      </p:sp>
      <p:sp>
        <p:nvSpPr>
          <p:cNvPr id="23" name="THE MONEY circle"/>
          <p:cNvSpPr/>
          <p:nvPr/>
        </p:nvSpPr>
        <p:spPr>
          <a:xfrm>
            <a:off x="3172968" y="5321808"/>
            <a:ext cx="457200" cy="457200"/>
          </a:xfrm>
          <a:prstGeom prst="ellipse">
            <a:avLst/>
          </a:prstGeom>
          <a:solidFill>
            <a:srgbClr val="1F7A8C"/>
          </a:solidFill>
          <a:ln/>
        </p:spPr>
      </p:sp>
      <p:pic>
        <p:nvPicPr>
          <p:cNvPr id="24" name="THE MONEY icon" descr="THE MONEY">    </p:cNvPr>
          <p:cNvPicPr>
            <a:picLocks noChangeAspect="1"/>
          </p:cNvPicPr>
          <p:nvPr/>
        </p:nvPicPr>
        <p:blipFill>
          <a:blip r:embed="rId3"/>
          <a:stretch>
            <a:fillRect/>
          </a:stretch>
        </p:blipFill>
        <p:spPr>
          <a:xfrm>
            <a:off x="3282696" y="5431536"/>
            <a:ext cx="237744" cy="237744"/>
          </a:xfrm>
          <a:prstGeom prst="rect">
            <a:avLst/>
          </a:prstGeom>
        </p:spPr>
      </p:pic>
      <p:sp>
        <p:nvSpPr>
          <p:cNvPr id="25" name="Text 20"/>
          <p:cNvSpPr txBox="1"/>
          <p:nvPr/>
        </p:nvSpPr>
        <p:spPr>
          <a:xfrm>
            <a:off x="3721608" y="5166360"/>
            <a:ext cx="1645920" cy="777240"/>
          </a:xfrm>
          <a:prstGeom prst="rect">
            <a:avLst/>
          </a:prstGeom>
          <a:noFill/>
          <a:ln/>
        </p:spPr>
        <p:txBody>
          <a:bodyPr wrap="square" lIns="0" tIns="0" rIns="0" bIns="0" rtlCol="0" anchor="ctr"/>
          <a:lstStyle/>
          <a:p>
            <a:pPr indent="0" marL="0">
              <a:buNone/>
            </a:pPr>
            <a:r>
              <a:rPr lang="en-US" sz="1000" b="1" spc="100" kern="0" dirty="0">
                <a:solidFill>
                  <a:srgbClr val="1F7A8C"/>
                </a:solidFill>
              </a:rPr>
              <a:t>THE MONEY</a:t>
            </a:r>
            <a:endParaRPr lang="en-US" sz="1000" dirty="0"/>
          </a:p>
          <a:p>
            <a:pPr indent="0" marL="0">
              <a:buNone/>
            </a:pPr>
            <a:r>
              <a:rPr lang="en-US" sz="1200" dirty="0">
                <a:solidFill>
                  <a:srgbClr val="1F2A44"/>
                </a:solidFill>
              </a:rPr>
              <a:t>Profits lost; prison and house arrest</a:t>
            </a:r>
            <a:endParaRPr lang="en-US" sz="1000" dirty="0"/>
          </a:p>
        </p:txBody>
      </p:sp>
      <p:sp>
        <p:nvSpPr>
          <p:cNvPr id="26" name="Text 21"/>
          <p:cNvSpPr txBox="1"/>
          <p:nvPr/>
        </p:nvSpPr>
        <p:spPr>
          <a:xfrm>
            <a:off x="5760720" y="1600200"/>
            <a:ext cx="5882335" cy="256032"/>
          </a:xfrm>
          <a:prstGeom prst="rect">
            <a:avLst/>
          </a:prstGeom>
          <a:noFill/>
          <a:ln/>
        </p:spPr>
        <p:txBody>
          <a:bodyPr wrap="square" lIns="0" tIns="0" rIns="0" bIns="0" rtlCol="0" anchor="ctr"/>
          <a:lstStyle/>
          <a:p>
            <a:pPr indent="0" marL="0">
              <a:buNone/>
            </a:pPr>
            <a:r>
              <a:rPr lang="en-US" sz="1100" b="1" spc="200" kern="0" dirty="0">
                <a:solidFill>
                  <a:srgbClr val="1F7A8C"/>
                </a:solidFill>
              </a:rPr>
              <a:t>CRIMINOLOGY CHECKPOINT</a:t>
            </a:r>
            <a:endParaRPr lang="en-US" sz="1100" dirty="0"/>
          </a:p>
        </p:txBody>
      </p:sp>
      <p:sp>
        <p:nvSpPr>
          <p:cNvPr id="27" name="Abadinsky’s attributes: mostly not met"/>
          <p:cNvSpPr/>
          <p:nvPr/>
        </p:nvSpPr>
        <p:spPr>
          <a:xfrm>
            <a:off x="5760720" y="1920240"/>
            <a:ext cx="5882335" cy="2011680"/>
          </a:xfrm>
          <a:prstGeom prst="rect">
            <a:avLst/>
          </a:prstGeom>
          <a:solidFill>
            <a:srgbClr val="FFFFFF"/>
          </a:solidFill>
          <a:ln w="12700">
            <a:solidFill>
              <a:srgbClr val="B23A48"/>
            </a:solidFill>
            <a:prstDash val="solid"/>
          </a:ln>
          <a:effectLst>
            <a:outerShdw sx="100000" sy="100000" kx="0" ky="0" algn="bl" rotWithShape="0" blurRad="76200" dist="25400" dir="5400000">
              <a:srgbClr val="000000">
                <a:alpha val="7000"/>
              </a:srgbClr>
            </a:outerShdw>
          </a:effectLst>
        </p:spPr>
      </p:sp>
      <p:sp>
        <p:nvSpPr>
          <p:cNvPr id="28" name="Abadinsky’s attributes: mostly not met circle"/>
          <p:cNvSpPr/>
          <p:nvPr/>
        </p:nvSpPr>
        <p:spPr>
          <a:xfrm>
            <a:off x="5961888" y="2121408"/>
            <a:ext cx="457200" cy="457200"/>
          </a:xfrm>
          <a:prstGeom prst="ellipse">
            <a:avLst/>
          </a:prstGeom>
          <a:solidFill>
            <a:srgbClr val="B23A48"/>
          </a:solidFill>
          <a:ln/>
        </p:spPr>
      </p:sp>
      <p:pic>
        <p:nvPicPr>
          <p:cNvPr id="29" name="Abadinsky’s attributes: mostly not met icon" descr="Abadinsky’s attributes: mostly not met">    </p:cNvPr>
          <p:cNvPicPr>
            <a:picLocks noChangeAspect="1"/>
          </p:cNvPicPr>
          <p:nvPr/>
        </p:nvPicPr>
        <p:blipFill>
          <a:blip r:embed="rId4"/>
          <a:stretch>
            <a:fillRect/>
          </a:stretch>
        </p:blipFill>
        <p:spPr>
          <a:xfrm>
            <a:off x="6071616" y="2231136"/>
            <a:ext cx="237744" cy="237744"/>
          </a:xfrm>
          <a:prstGeom prst="rect">
            <a:avLst/>
          </a:prstGeom>
        </p:spPr>
      </p:pic>
      <p:sp>
        <p:nvSpPr>
          <p:cNvPr id="30" name="Text 24"/>
          <p:cNvSpPr txBox="1"/>
          <p:nvPr/>
        </p:nvSpPr>
        <p:spPr>
          <a:xfrm>
            <a:off x="6583680" y="2029968"/>
            <a:ext cx="4876495" cy="64008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Abadinsky’s attributes: mostly not met</a:t>
            </a:r>
            <a:endParaRPr lang="en-US" sz="1700" dirty="0"/>
          </a:p>
          <a:p>
            <a:pPr indent="0" marL="0">
              <a:buNone/>
            </a:pPr>
            <a:r>
              <a:rPr lang="en-US" sz="1200" dirty="0">
                <a:solidFill>
                  <a:srgbClr val="5F6675"/>
                </a:solidFill>
              </a:rPr>
              <a:t>Abadinsky (2013)</a:t>
            </a:r>
            <a:endParaRPr lang="en-US" sz="1700" dirty="0"/>
          </a:p>
        </p:txBody>
      </p:sp>
      <p:sp>
        <p:nvSpPr>
          <p:cNvPr id="31" name="Text 25"/>
          <p:cNvSpPr txBox="1"/>
          <p:nvPr/>
        </p:nvSpPr>
        <p:spPr>
          <a:xfrm>
            <a:off x="6583680" y="2697480"/>
            <a:ext cx="4830775" cy="1143000"/>
          </a:xfrm>
          <a:prstGeom prst="rect">
            <a:avLst/>
          </a:prstGeom>
          <a:noFill/>
          <a:ln/>
        </p:spPr>
        <p:txBody>
          <a:bodyPr wrap="square" lIns="0" tIns="0" rIns="0" bIns="0" rtlCol="0" anchor="t"/>
          <a:lstStyle/>
          <a:p>
            <a:pPr indent="0" marL="0">
              <a:buNone/>
            </a:pPr>
            <a:r>
              <a:rPr lang="en-US" sz="1500" dirty="0">
                <a:solidFill>
                  <a:srgbClr val="1F2A44"/>
                </a:solidFill>
              </a:rPr>
              <a:t>No hierarchy, no exclusive membership, no code, and it collapsed once its leaders were charged. It is not the mafia.</a:t>
            </a:r>
            <a:endParaRPr lang="en-US" sz="1500" dirty="0"/>
          </a:p>
        </p:txBody>
      </p:sp>
      <p:sp>
        <p:nvSpPr>
          <p:cNvPr id="32" name="Our classification"/>
          <p:cNvSpPr/>
          <p:nvPr/>
        </p:nvSpPr>
        <p:spPr>
          <a:xfrm>
            <a:off x="5760720" y="4114800"/>
            <a:ext cx="5882335" cy="2011680"/>
          </a:xfrm>
          <a:prstGeom prst="rect">
            <a:avLst/>
          </a:prstGeom>
          <a:solidFill>
            <a:srgbClr val="FFFFFF"/>
          </a:solidFill>
          <a:ln w="12700">
            <a:solidFill>
              <a:srgbClr val="D8D3CA"/>
            </a:solidFill>
            <a:prstDash val="solid"/>
          </a:ln>
          <a:effectLst>
            <a:outerShdw sx="100000" sy="100000" kx="0" ky="0" algn="bl" rotWithShape="0" blurRad="76200" dist="25400" dir="5400000">
              <a:srgbClr val="000000">
                <a:alpha val="7000"/>
              </a:srgbClr>
            </a:outerShdw>
          </a:effectLst>
        </p:spPr>
      </p:sp>
      <p:sp>
        <p:nvSpPr>
          <p:cNvPr id="33" name="Our classification circle"/>
          <p:cNvSpPr/>
          <p:nvPr/>
        </p:nvSpPr>
        <p:spPr>
          <a:xfrm>
            <a:off x="5961888" y="4315968"/>
            <a:ext cx="457200" cy="457200"/>
          </a:xfrm>
          <a:prstGeom prst="ellipse">
            <a:avLst/>
          </a:prstGeom>
          <a:solidFill>
            <a:srgbClr val="1F7A8C"/>
          </a:solidFill>
          <a:ln/>
        </p:spPr>
      </p:sp>
      <p:pic>
        <p:nvPicPr>
          <p:cNvPr id="34" name="Our classification icon" descr="Our classification">    </p:cNvPr>
          <p:cNvPicPr>
            <a:picLocks noChangeAspect="1"/>
          </p:cNvPicPr>
          <p:nvPr/>
        </p:nvPicPr>
        <p:blipFill>
          <a:blip r:embed="rId5"/>
          <a:stretch>
            <a:fillRect/>
          </a:stretch>
        </p:blipFill>
        <p:spPr>
          <a:xfrm>
            <a:off x="6071616" y="4425696"/>
            <a:ext cx="237744" cy="237744"/>
          </a:xfrm>
          <a:prstGeom prst="rect">
            <a:avLst/>
          </a:prstGeom>
        </p:spPr>
      </p:pic>
      <p:sp>
        <p:nvSpPr>
          <p:cNvPr id="35" name="Text 28"/>
          <p:cNvSpPr txBox="1"/>
          <p:nvPr/>
        </p:nvSpPr>
        <p:spPr>
          <a:xfrm>
            <a:off x="6583680" y="4224528"/>
            <a:ext cx="4876495" cy="64008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Our classification</a:t>
            </a:r>
            <a:endParaRPr lang="en-US" sz="1700" dirty="0"/>
          </a:p>
          <a:p>
            <a:pPr indent="0" marL="0">
              <a:buNone/>
            </a:pPr>
            <a:r>
              <a:rPr lang="en-US" sz="1200" dirty="0">
                <a:solidFill>
                  <a:srgbClr val="5F6675"/>
                </a:solidFill>
              </a:rPr>
              <a:t>Sutherland (1940); Kramer et al. (2002)</a:t>
            </a:r>
            <a:endParaRPr lang="en-US" sz="1700" dirty="0"/>
          </a:p>
        </p:txBody>
      </p:sp>
      <p:sp>
        <p:nvSpPr>
          <p:cNvPr id="36" name="Text 29"/>
          <p:cNvSpPr txBox="1"/>
          <p:nvPr/>
        </p:nvSpPr>
        <p:spPr>
          <a:xfrm>
            <a:off x="6583680" y="4892040"/>
            <a:ext cx="4830775" cy="1143000"/>
          </a:xfrm>
          <a:prstGeom prst="rect">
            <a:avLst/>
          </a:prstGeom>
          <a:noFill/>
          <a:ln/>
        </p:spPr>
        <p:txBody>
          <a:bodyPr wrap="square" lIns="0" tIns="0" rIns="0" bIns="0" rtlCol="0" anchor="t"/>
          <a:lstStyle/>
          <a:p>
            <a:pPr indent="0" marL="0">
              <a:buNone/>
            </a:pPr>
            <a:r>
              <a:rPr lang="en-US" sz="1500" dirty="0">
                <a:solidFill>
                  <a:srgbClr val="1F2A44"/>
                </a:solidFill>
              </a:rPr>
              <a:t>Organized white-collar crime, made possible by state-corporate failure: war outsourced to the lowest bidder with weak vetting.</a:t>
            </a:r>
            <a:endParaRPr lang="en-US" sz="1500" dirty="0"/>
          </a:p>
        </p:txBody>
      </p:sp>
      <p:sp>
        <p:nvSpPr>
          <p:cNvPr id="37" name="Text 30"/>
          <p:cNvSpPr txBox="1"/>
          <p:nvPr/>
        </p:nvSpPr>
        <p:spPr>
          <a:xfrm>
            <a:off x="548640" y="6108192"/>
            <a:ext cx="11094415" cy="201168"/>
          </a:xfrm>
          <a:prstGeom prst="rect">
            <a:avLst/>
          </a:prstGeom>
          <a:noFill/>
          <a:ln/>
        </p:spPr>
        <p:txBody>
          <a:bodyPr wrap="square" lIns="0" tIns="0" rIns="0" bIns="0" rtlCol="0" anchor="ctr"/>
          <a:lstStyle/>
          <a:p>
            <a:pPr indent="0" marL="0">
              <a:buNone/>
            </a:pPr>
            <a:r>
              <a:rPr lang="en-US" sz="1000" i="1" dirty="0">
                <a:solidFill>
                  <a:srgbClr val="9A968E"/>
                </a:solidFill>
              </a:rPr>
              <a:t>Sentences: Lawson (2015).</a:t>
            </a:r>
            <a:endParaRPr lang="en-US" sz="10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968E"/>
                </a:solidFil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C26A2E"/>
                </a:solidFill>
              </a:rPr>
              <a:t>ARRIVAL  ·  LOOKING BACK AT THE WHOLE ROUTE</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2800" b="1" dirty="0">
                <a:solidFill>
                  <a:schemeClr val="tx1"/>
                </a:solidFill>
              </a:rPr>
              <a:t>Which model explains the whole journey? Enterprise and network</a:t>
            </a:r>
            <a:endParaRPr lang="en-US" sz="2800" dirty="0"/>
          </a:p>
        </p:txBody>
      </p:sp>
      <p:sp>
        <p:nvSpPr>
          <p:cNvPr id="4" name="Enterprise"/>
          <p:cNvSpPr/>
          <p:nvPr/>
        </p:nvSpPr>
        <p:spPr>
          <a:xfrm>
            <a:off x="548640" y="1600200"/>
            <a:ext cx="11094415" cy="932688"/>
          </a:xfrm>
          <a:prstGeom prst="rect">
            <a:avLst/>
          </a:prstGeom>
          <a:solidFill>
            <a:srgbClr val="FFFFFF"/>
          </a:solidFill>
          <a:ln w="19050">
            <a:solidFill>
              <a:srgbClr val="C26A2E"/>
            </a:solidFill>
            <a:prstDash val="solid"/>
          </a:ln>
          <a:effectLst>
            <a:outerShdw sx="100000" sy="100000" kx="0" ky="0" algn="bl" rotWithShape="0" blurRad="76200" dist="25400" dir="5400000">
              <a:srgbClr val="000000">
                <a:alpha val="7000"/>
              </a:srgbClr>
            </a:outerShdw>
          </a:effectLst>
        </p:spPr>
      </p:sp>
      <p:sp>
        <p:nvSpPr>
          <p:cNvPr id="5" name="Text 3"/>
          <p:cNvSpPr txBox="1"/>
          <p:nvPr/>
        </p:nvSpPr>
        <p:spPr>
          <a:xfrm>
            <a:off x="777240" y="1600200"/>
            <a:ext cx="2377440" cy="932688"/>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Enterprise</a:t>
            </a:r>
            <a:endParaRPr lang="en-US" sz="1800" dirty="0"/>
          </a:p>
          <a:p>
            <a:pPr indent="0" marL="0">
              <a:buNone/>
            </a:pPr>
            <a:r>
              <a:rPr lang="en-US" sz="1200" dirty="0">
                <a:solidFill>
                  <a:srgbClr val="5F6675"/>
                </a:solidFill>
              </a:rPr>
              <a:t>Smith (1980)</a:t>
            </a:r>
            <a:endParaRPr lang="en-US" sz="1800" dirty="0"/>
          </a:p>
        </p:txBody>
      </p:sp>
      <p:sp>
        <p:nvSpPr>
          <p:cNvPr id="6" name="Enterprise fit 1"/>
          <p:cNvSpPr/>
          <p:nvPr/>
        </p:nvSpPr>
        <p:spPr>
          <a:xfrm>
            <a:off x="3291840" y="1929384"/>
            <a:ext cx="274320" cy="274320"/>
          </a:xfrm>
          <a:prstGeom prst="ellipse">
            <a:avLst/>
          </a:prstGeom>
          <a:solidFill>
            <a:srgbClr val="C26A2E"/>
          </a:solidFill>
          <a:ln w="12700">
            <a:solidFill>
              <a:srgbClr val="C26A2E"/>
            </a:solidFill>
            <a:prstDash val="solid"/>
          </a:ln>
        </p:spPr>
      </p:sp>
      <p:sp>
        <p:nvSpPr>
          <p:cNvPr id="7" name="Enterprise fit 2"/>
          <p:cNvSpPr/>
          <p:nvPr/>
        </p:nvSpPr>
        <p:spPr>
          <a:xfrm>
            <a:off x="3675888" y="1929384"/>
            <a:ext cx="274320" cy="274320"/>
          </a:xfrm>
          <a:prstGeom prst="ellipse">
            <a:avLst/>
          </a:prstGeom>
          <a:solidFill>
            <a:srgbClr val="C26A2E"/>
          </a:solidFill>
          <a:ln w="12700">
            <a:solidFill>
              <a:srgbClr val="C26A2E"/>
            </a:solidFill>
            <a:prstDash val="solid"/>
          </a:ln>
        </p:spPr>
      </p:sp>
      <p:sp>
        <p:nvSpPr>
          <p:cNvPr id="8" name="Enterprise fit 3"/>
          <p:cNvSpPr/>
          <p:nvPr/>
        </p:nvSpPr>
        <p:spPr>
          <a:xfrm>
            <a:off x="4059936" y="1929384"/>
            <a:ext cx="274320" cy="274320"/>
          </a:xfrm>
          <a:prstGeom prst="ellipse">
            <a:avLst/>
          </a:prstGeom>
          <a:solidFill>
            <a:srgbClr val="C26A2E"/>
          </a:solidFill>
          <a:ln w="12700">
            <a:solidFill>
              <a:srgbClr val="C26A2E"/>
            </a:solidFill>
            <a:prstDash val="solid"/>
          </a:ln>
        </p:spPr>
      </p:sp>
      <p:sp>
        <p:nvSpPr>
          <p:cNvPr id="9" name="Enterprise fit 4"/>
          <p:cNvSpPr/>
          <p:nvPr/>
        </p:nvSpPr>
        <p:spPr>
          <a:xfrm>
            <a:off x="4443984" y="1929384"/>
            <a:ext cx="274320" cy="274320"/>
          </a:xfrm>
          <a:prstGeom prst="ellipse">
            <a:avLst/>
          </a:prstGeom>
          <a:solidFill>
            <a:srgbClr val="C26A2E"/>
          </a:solidFill>
          <a:ln w="12700">
            <a:solidFill>
              <a:srgbClr val="C26A2E"/>
            </a:solidFill>
            <a:prstDash val="solid"/>
          </a:ln>
        </p:spPr>
      </p:sp>
      <p:sp>
        <p:nvSpPr>
          <p:cNvPr id="10" name="Enterprise fit 5"/>
          <p:cNvSpPr/>
          <p:nvPr/>
        </p:nvSpPr>
        <p:spPr>
          <a:xfrm>
            <a:off x="4828032" y="1929384"/>
            <a:ext cx="274320" cy="274320"/>
          </a:xfrm>
          <a:prstGeom prst="ellipse">
            <a:avLst/>
          </a:prstGeom>
          <a:solidFill>
            <a:srgbClr val="C26A2E"/>
          </a:solidFill>
          <a:ln w="12700">
            <a:solidFill>
              <a:srgbClr val="C26A2E"/>
            </a:solidFill>
            <a:prstDash val="solid"/>
          </a:ln>
        </p:spPr>
      </p:sp>
      <p:sp>
        <p:nvSpPr>
          <p:cNvPr id="11" name="Text 9"/>
          <p:cNvSpPr txBox="1"/>
          <p:nvPr/>
        </p:nvSpPr>
        <p:spPr>
          <a:xfrm>
            <a:off x="5303520" y="1600200"/>
            <a:ext cx="1280160" cy="932688"/>
          </a:xfrm>
          <a:prstGeom prst="rect">
            <a:avLst/>
          </a:prstGeom>
          <a:noFill/>
          <a:ln/>
        </p:spPr>
        <p:txBody>
          <a:bodyPr wrap="square" lIns="0" tIns="0" rIns="0" bIns="0" rtlCol="0" anchor="ctr"/>
          <a:lstStyle/>
          <a:p>
            <a:pPr indent="0" marL="0">
              <a:buNone/>
            </a:pPr>
            <a:r>
              <a:rPr lang="en-US" sz="1300" b="1" dirty="0">
                <a:solidFill>
                  <a:srgbClr val="C26A2E"/>
                </a:solidFill>
              </a:rPr>
              <a:t>Strong fit</a:t>
            </a:r>
            <a:endParaRPr lang="en-US" sz="1300" dirty="0"/>
          </a:p>
        </p:txBody>
      </p:sp>
      <p:sp>
        <p:nvSpPr>
          <p:cNvPr id="12" name="Text 10"/>
          <p:cNvSpPr txBox="1"/>
          <p:nvPr/>
        </p:nvSpPr>
        <p:spPr>
          <a:xfrm>
            <a:off x="6675120" y="1600200"/>
            <a:ext cx="4739335" cy="932688"/>
          </a:xfrm>
          <a:prstGeom prst="rect">
            <a:avLst/>
          </a:prstGeom>
          <a:noFill/>
          <a:ln/>
        </p:spPr>
        <p:txBody>
          <a:bodyPr wrap="square" lIns="0" tIns="0" rIns="0" bIns="0" rtlCol="0" anchor="ctr"/>
          <a:lstStyle/>
          <a:p>
            <a:pPr indent="0" marL="0">
              <a:buNone/>
            </a:pPr>
            <a:r>
              <a:rPr lang="en-US" sz="1500" dirty="0">
                <a:solidFill>
                  <a:srgbClr val="1F2A44"/>
                </a:solidFill>
              </a:rPr>
              <a:t>Stops 1–5: AEY slides from legal bidding to fixers to fraud as demand grows.</a:t>
            </a:r>
            <a:endParaRPr lang="en-US" sz="1500" dirty="0"/>
          </a:p>
        </p:txBody>
      </p:sp>
      <p:sp>
        <p:nvSpPr>
          <p:cNvPr id="13" name="Network"/>
          <p:cNvSpPr/>
          <p:nvPr/>
        </p:nvSpPr>
        <p:spPr>
          <a:xfrm>
            <a:off x="548640" y="2679192"/>
            <a:ext cx="11094415" cy="932688"/>
          </a:xfrm>
          <a:prstGeom prst="rect">
            <a:avLst/>
          </a:prstGeom>
          <a:solidFill>
            <a:srgbClr val="FFFFFF"/>
          </a:solidFill>
          <a:ln w="19050">
            <a:solidFill>
              <a:srgbClr val="C26A2E"/>
            </a:solidFill>
            <a:prstDash val="solid"/>
          </a:ln>
          <a:effectLst>
            <a:outerShdw sx="100000" sy="100000" kx="0" ky="0" algn="bl" rotWithShape="0" blurRad="76200" dist="25400" dir="5400000">
              <a:srgbClr val="000000">
                <a:alpha val="7000"/>
              </a:srgbClr>
            </a:outerShdw>
          </a:effectLst>
        </p:spPr>
      </p:sp>
      <p:sp>
        <p:nvSpPr>
          <p:cNvPr id="14" name="Text 12"/>
          <p:cNvSpPr txBox="1"/>
          <p:nvPr/>
        </p:nvSpPr>
        <p:spPr>
          <a:xfrm>
            <a:off x="777240" y="2679192"/>
            <a:ext cx="2377440" cy="932688"/>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Network</a:t>
            </a:r>
            <a:endParaRPr lang="en-US" sz="1800" dirty="0"/>
          </a:p>
          <a:p>
            <a:pPr indent="0" marL="0">
              <a:buNone/>
            </a:pPr>
            <a:r>
              <a:rPr lang="en-US" sz="1200" dirty="0">
                <a:solidFill>
                  <a:srgbClr val="5F6675"/>
                </a:solidFill>
              </a:rPr>
              <a:t>Morselli (2009)</a:t>
            </a:r>
            <a:endParaRPr lang="en-US" sz="1800" dirty="0"/>
          </a:p>
        </p:txBody>
      </p:sp>
      <p:sp>
        <p:nvSpPr>
          <p:cNvPr id="15" name="Network fit 1"/>
          <p:cNvSpPr/>
          <p:nvPr/>
        </p:nvSpPr>
        <p:spPr>
          <a:xfrm>
            <a:off x="3291840" y="3008376"/>
            <a:ext cx="274320" cy="274320"/>
          </a:xfrm>
          <a:prstGeom prst="ellipse">
            <a:avLst/>
          </a:prstGeom>
          <a:solidFill>
            <a:srgbClr val="C26A2E"/>
          </a:solidFill>
          <a:ln w="12700">
            <a:solidFill>
              <a:srgbClr val="C26A2E"/>
            </a:solidFill>
            <a:prstDash val="solid"/>
          </a:ln>
        </p:spPr>
      </p:sp>
      <p:sp>
        <p:nvSpPr>
          <p:cNvPr id="16" name="Network fit 2"/>
          <p:cNvSpPr/>
          <p:nvPr/>
        </p:nvSpPr>
        <p:spPr>
          <a:xfrm>
            <a:off x="3675888" y="3008376"/>
            <a:ext cx="274320" cy="274320"/>
          </a:xfrm>
          <a:prstGeom prst="ellipse">
            <a:avLst/>
          </a:prstGeom>
          <a:solidFill>
            <a:srgbClr val="C26A2E"/>
          </a:solidFill>
          <a:ln w="12700">
            <a:solidFill>
              <a:srgbClr val="C26A2E"/>
            </a:solidFill>
            <a:prstDash val="solid"/>
          </a:ln>
        </p:spPr>
      </p:sp>
      <p:sp>
        <p:nvSpPr>
          <p:cNvPr id="17" name="Network fit 3"/>
          <p:cNvSpPr/>
          <p:nvPr/>
        </p:nvSpPr>
        <p:spPr>
          <a:xfrm>
            <a:off x="4059936" y="3008376"/>
            <a:ext cx="274320" cy="274320"/>
          </a:xfrm>
          <a:prstGeom prst="ellipse">
            <a:avLst/>
          </a:prstGeom>
          <a:solidFill>
            <a:srgbClr val="C26A2E"/>
          </a:solidFill>
          <a:ln w="12700">
            <a:solidFill>
              <a:srgbClr val="C26A2E"/>
            </a:solidFill>
            <a:prstDash val="solid"/>
          </a:ln>
        </p:spPr>
      </p:sp>
      <p:sp>
        <p:nvSpPr>
          <p:cNvPr id="18" name="Network fit 4"/>
          <p:cNvSpPr/>
          <p:nvPr/>
        </p:nvSpPr>
        <p:spPr>
          <a:xfrm>
            <a:off x="4443984" y="3008376"/>
            <a:ext cx="274320" cy="274320"/>
          </a:xfrm>
          <a:prstGeom prst="ellipse">
            <a:avLst/>
          </a:prstGeom>
          <a:solidFill>
            <a:srgbClr val="C26A2E"/>
          </a:solidFill>
          <a:ln w="12700">
            <a:solidFill>
              <a:srgbClr val="C26A2E"/>
            </a:solidFill>
            <a:prstDash val="solid"/>
          </a:ln>
        </p:spPr>
      </p:sp>
      <p:sp>
        <p:nvSpPr>
          <p:cNvPr id="19" name="Network fit 5"/>
          <p:cNvSpPr/>
          <p:nvPr/>
        </p:nvSpPr>
        <p:spPr>
          <a:xfrm>
            <a:off x="4828032" y="3008376"/>
            <a:ext cx="274320" cy="274320"/>
          </a:xfrm>
          <a:prstGeom prst="ellipse">
            <a:avLst/>
          </a:prstGeom>
          <a:solidFill>
            <a:srgbClr val="C26A2E"/>
          </a:solidFill>
          <a:ln w="12700">
            <a:solidFill>
              <a:srgbClr val="C26A2E"/>
            </a:solidFill>
            <a:prstDash val="solid"/>
          </a:ln>
        </p:spPr>
      </p:sp>
      <p:sp>
        <p:nvSpPr>
          <p:cNvPr id="20" name="Text 18"/>
          <p:cNvSpPr txBox="1"/>
          <p:nvPr/>
        </p:nvSpPr>
        <p:spPr>
          <a:xfrm>
            <a:off x="5303520" y="2679192"/>
            <a:ext cx="1280160" cy="932688"/>
          </a:xfrm>
          <a:prstGeom prst="rect">
            <a:avLst/>
          </a:prstGeom>
          <a:noFill/>
          <a:ln/>
        </p:spPr>
        <p:txBody>
          <a:bodyPr wrap="square" lIns="0" tIns="0" rIns="0" bIns="0" rtlCol="0" anchor="ctr"/>
          <a:lstStyle/>
          <a:p>
            <a:pPr indent="0" marL="0">
              <a:buNone/>
            </a:pPr>
            <a:r>
              <a:rPr lang="en-US" sz="1300" b="1" dirty="0">
                <a:solidFill>
                  <a:srgbClr val="C26A2E"/>
                </a:solidFill>
              </a:rPr>
              <a:t>Strong fit</a:t>
            </a:r>
            <a:endParaRPr lang="en-US" sz="1300" dirty="0"/>
          </a:p>
        </p:txBody>
      </p:sp>
      <p:sp>
        <p:nvSpPr>
          <p:cNvPr id="21" name="Text 19"/>
          <p:cNvSpPr txBox="1"/>
          <p:nvPr/>
        </p:nvSpPr>
        <p:spPr>
          <a:xfrm>
            <a:off x="6675120" y="2679192"/>
            <a:ext cx="4739335" cy="932688"/>
          </a:xfrm>
          <a:prstGeom prst="rect">
            <a:avLst/>
          </a:prstGeom>
          <a:noFill/>
          <a:ln/>
        </p:spPr>
        <p:txBody>
          <a:bodyPr wrap="square" lIns="0" tIns="0" rIns="0" bIns="0" rtlCol="0" anchor="ctr"/>
          <a:lstStyle/>
          <a:p>
            <a:pPr indent="0" marL="0">
              <a:buNone/>
            </a:pPr>
            <a:r>
              <a:rPr lang="en-US" sz="1500" dirty="0">
                <a:solidFill>
                  <a:srgbClr val="1F2A44"/>
                </a:solidFill>
              </a:rPr>
              <a:t>Stops 3–4: brokers bridging the Pentagon and Balkan stockpiles hold the power.</a:t>
            </a:r>
            <a:endParaRPr lang="en-US" sz="1500" dirty="0"/>
          </a:p>
        </p:txBody>
      </p:sp>
      <p:sp>
        <p:nvSpPr>
          <p:cNvPr id="22" name="Patron–client"/>
          <p:cNvSpPr/>
          <p:nvPr/>
        </p:nvSpPr>
        <p:spPr>
          <a:xfrm>
            <a:off x="548640" y="3758184"/>
            <a:ext cx="11094415" cy="932688"/>
          </a:xfrm>
          <a:prstGeom prst="rect">
            <a:avLst/>
          </a:prstGeom>
          <a:solidFill>
            <a:srgbClr val="FFFFFF"/>
          </a:solidFill>
          <a:ln w="12700">
            <a:solidFill>
              <a:srgbClr val="D8D3CA"/>
            </a:solidFill>
            <a:prstDash val="solid"/>
          </a:ln>
          <a:effectLst>
            <a:outerShdw sx="100000" sy="100000" kx="0" ky="0" algn="bl" rotWithShape="0" blurRad="76200" dist="25400" dir="5400000">
              <a:srgbClr val="000000">
                <a:alpha val="7000"/>
              </a:srgbClr>
            </a:outerShdw>
          </a:effectLst>
        </p:spPr>
      </p:sp>
      <p:sp>
        <p:nvSpPr>
          <p:cNvPr id="23" name="Text 21"/>
          <p:cNvSpPr txBox="1"/>
          <p:nvPr/>
        </p:nvSpPr>
        <p:spPr>
          <a:xfrm>
            <a:off x="777240" y="3758184"/>
            <a:ext cx="2377440" cy="932688"/>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Patron–client</a:t>
            </a:r>
            <a:endParaRPr lang="en-US" sz="1800" dirty="0"/>
          </a:p>
          <a:p>
            <a:pPr indent="0" marL="0">
              <a:buNone/>
            </a:pPr>
            <a:r>
              <a:rPr lang="en-US" sz="1200" dirty="0">
                <a:solidFill>
                  <a:srgbClr val="5F6675"/>
                </a:solidFill>
              </a:rPr>
              <a:t>Albini (1971)</a:t>
            </a:r>
            <a:endParaRPr lang="en-US" sz="1800" dirty="0"/>
          </a:p>
        </p:txBody>
      </p:sp>
      <p:sp>
        <p:nvSpPr>
          <p:cNvPr id="24" name="Patron–client fit 1"/>
          <p:cNvSpPr/>
          <p:nvPr/>
        </p:nvSpPr>
        <p:spPr>
          <a:xfrm>
            <a:off x="3291840" y="4087368"/>
            <a:ext cx="274320" cy="274320"/>
          </a:xfrm>
          <a:prstGeom prst="ellipse">
            <a:avLst/>
          </a:prstGeom>
          <a:solidFill>
            <a:srgbClr val="B9B3A8"/>
          </a:solidFill>
          <a:ln w="12700">
            <a:solidFill>
              <a:srgbClr val="B9B3A8"/>
            </a:solidFill>
            <a:prstDash val="solid"/>
          </a:ln>
        </p:spPr>
      </p:sp>
      <p:sp>
        <p:nvSpPr>
          <p:cNvPr id="25" name="Patron–client fit 2"/>
          <p:cNvSpPr/>
          <p:nvPr/>
        </p:nvSpPr>
        <p:spPr>
          <a:xfrm>
            <a:off x="3675888" y="4087368"/>
            <a:ext cx="274320" cy="274320"/>
          </a:xfrm>
          <a:prstGeom prst="ellipse">
            <a:avLst/>
          </a:prstGeom>
          <a:solidFill>
            <a:srgbClr val="B9B3A8"/>
          </a:solidFill>
          <a:ln w="12700">
            <a:solidFill>
              <a:srgbClr val="B9B3A8"/>
            </a:solidFill>
            <a:prstDash val="solid"/>
          </a:ln>
        </p:spPr>
      </p:sp>
      <p:sp>
        <p:nvSpPr>
          <p:cNvPr id="26" name="Patron–client fit 3"/>
          <p:cNvSpPr/>
          <p:nvPr/>
        </p:nvSpPr>
        <p:spPr>
          <a:xfrm>
            <a:off x="4059936" y="4087368"/>
            <a:ext cx="274320" cy="274320"/>
          </a:xfrm>
          <a:prstGeom prst="ellipse">
            <a:avLst/>
          </a:prstGeom>
          <a:solidFill>
            <a:srgbClr val="B9B3A8"/>
          </a:solidFill>
          <a:ln w="12700">
            <a:solidFill>
              <a:srgbClr val="B9B3A8"/>
            </a:solidFill>
            <a:prstDash val="solid"/>
          </a:ln>
        </p:spPr>
      </p:sp>
      <p:sp>
        <p:nvSpPr>
          <p:cNvPr id="27" name="Patron–client fit 4"/>
          <p:cNvSpPr/>
          <p:nvPr/>
        </p:nvSpPr>
        <p:spPr>
          <a:xfrm>
            <a:off x="4443984" y="4087368"/>
            <a:ext cx="274320" cy="274320"/>
          </a:xfrm>
          <a:prstGeom prst="ellipse">
            <a:avLst/>
          </a:prstGeom>
          <a:solidFill>
            <a:srgbClr val="EFEBE4"/>
          </a:solidFill>
          <a:ln w="12700">
            <a:solidFill>
              <a:srgbClr val="D8D3CA"/>
            </a:solidFill>
            <a:prstDash val="solid"/>
          </a:ln>
        </p:spPr>
      </p:sp>
      <p:sp>
        <p:nvSpPr>
          <p:cNvPr id="28" name="Patron–client fit 5"/>
          <p:cNvSpPr/>
          <p:nvPr/>
        </p:nvSpPr>
        <p:spPr>
          <a:xfrm>
            <a:off x="4828032" y="4087368"/>
            <a:ext cx="274320" cy="274320"/>
          </a:xfrm>
          <a:prstGeom prst="ellipse">
            <a:avLst/>
          </a:prstGeom>
          <a:solidFill>
            <a:srgbClr val="EFEBE4"/>
          </a:solidFill>
          <a:ln w="12700">
            <a:solidFill>
              <a:srgbClr val="D8D3CA"/>
            </a:solidFill>
            <a:prstDash val="solid"/>
          </a:ln>
        </p:spPr>
      </p:sp>
      <p:sp>
        <p:nvSpPr>
          <p:cNvPr id="29" name="Text 27"/>
          <p:cNvSpPr txBox="1"/>
          <p:nvPr/>
        </p:nvSpPr>
        <p:spPr>
          <a:xfrm>
            <a:off x="5303520" y="3758184"/>
            <a:ext cx="1280160" cy="932688"/>
          </a:xfrm>
          <a:prstGeom prst="rect">
            <a:avLst/>
          </a:prstGeom>
          <a:noFill/>
          <a:ln/>
        </p:spPr>
        <p:txBody>
          <a:bodyPr wrap="square" lIns="0" tIns="0" rIns="0" bIns="0" rtlCol="0" anchor="ctr"/>
          <a:lstStyle/>
          <a:p>
            <a:pPr indent="0" marL="0">
              <a:buNone/>
            </a:pPr>
            <a:r>
              <a:rPr lang="en-US" sz="1300" b="1" dirty="0">
                <a:solidFill>
                  <a:srgbClr val="5F6675"/>
                </a:solidFill>
              </a:rPr>
              <a:t>Partial fit</a:t>
            </a:r>
            <a:endParaRPr lang="en-US" sz="1300" dirty="0"/>
          </a:p>
        </p:txBody>
      </p:sp>
      <p:sp>
        <p:nvSpPr>
          <p:cNvPr id="30" name="Text 28"/>
          <p:cNvSpPr txBox="1"/>
          <p:nvPr/>
        </p:nvSpPr>
        <p:spPr>
          <a:xfrm>
            <a:off x="6675120" y="3758184"/>
            <a:ext cx="4739335" cy="932688"/>
          </a:xfrm>
          <a:prstGeom prst="rect">
            <a:avLst/>
          </a:prstGeom>
          <a:noFill/>
          <a:ln/>
        </p:spPr>
        <p:txBody>
          <a:bodyPr wrap="square" lIns="0" tIns="0" rIns="0" bIns="0" rtlCol="0" anchor="ctr"/>
          <a:lstStyle/>
          <a:p>
            <a:pPr indent="0" marL="0">
              <a:buNone/>
            </a:pPr>
            <a:r>
              <a:rPr lang="en-US" sz="1500" dirty="0">
                <a:solidFill>
                  <a:srgbClr val="1F2A44"/>
                </a:solidFill>
              </a:rPr>
              <a:t>Stop 3: Henry trades access to supply for a share of the profits.</a:t>
            </a:r>
            <a:endParaRPr lang="en-US" sz="1500" dirty="0"/>
          </a:p>
        </p:txBody>
      </p:sp>
      <p:sp>
        <p:nvSpPr>
          <p:cNvPr id="31" name="Hierarchical"/>
          <p:cNvSpPr/>
          <p:nvPr/>
        </p:nvSpPr>
        <p:spPr>
          <a:xfrm>
            <a:off x="548640" y="4837176"/>
            <a:ext cx="11094415" cy="932688"/>
          </a:xfrm>
          <a:prstGeom prst="rect">
            <a:avLst/>
          </a:prstGeom>
          <a:solidFill>
            <a:srgbClr val="FFFFFF"/>
          </a:solidFill>
          <a:ln w="12700">
            <a:solidFill>
              <a:srgbClr val="D8D3CA"/>
            </a:solidFill>
            <a:prstDash val="solid"/>
          </a:ln>
          <a:effectLst>
            <a:outerShdw sx="100000" sy="100000" kx="0" ky="0" algn="bl" rotWithShape="0" blurRad="76200" dist="25400" dir="5400000">
              <a:srgbClr val="000000">
                <a:alpha val="7000"/>
              </a:srgbClr>
            </a:outerShdw>
          </a:effectLst>
        </p:spPr>
      </p:sp>
      <p:sp>
        <p:nvSpPr>
          <p:cNvPr id="32" name="Text 30"/>
          <p:cNvSpPr txBox="1"/>
          <p:nvPr/>
        </p:nvSpPr>
        <p:spPr>
          <a:xfrm>
            <a:off x="777240" y="4837176"/>
            <a:ext cx="2377440" cy="932688"/>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Hierarchical</a:t>
            </a:r>
            <a:endParaRPr lang="en-US" sz="1800" dirty="0"/>
          </a:p>
          <a:p>
            <a:pPr indent="0" marL="0">
              <a:buNone/>
            </a:pPr>
            <a:r>
              <a:rPr lang="en-US" sz="1200" dirty="0">
                <a:solidFill>
                  <a:srgbClr val="5F6675"/>
                </a:solidFill>
              </a:rPr>
              <a:t>Cressey (1969)</a:t>
            </a:r>
            <a:endParaRPr lang="en-US" sz="1800" dirty="0"/>
          </a:p>
        </p:txBody>
      </p:sp>
      <p:sp>
        <p:nvSpPr>
          <p:cNvPr id="33" name="Hierarchical fit 1"/>
          <p:cNvSpPr/>
          <p:nvPr/>
        </p:nvSpPr>
        <p:spPr>
          <a:xfrm>
            <a:off x="3291840" y="5166360"/>
            <a:ext cx="274320" cy="274320"/>
          </a:xfrm>
          <a:prstGeom prst="ellipse">
            <a:avLst/>
          </a:prstGeom>
          <a:solidFill>
            <a:srgbClr val="B9B3A8"/>
          </a:solidFill>
          <a:ln w="12700">
            <a:solidFill>
              <a:srgbClr val="B9B3A8"/>
            </a:solidFill>
            <a:prstDash val="solid"/>
          </a:ln>
        </p:spPr>
      </p:sp>
      <p:sp>
        <p:nvSpPr>
          <p:cNvPr id="34" name="Hierarchical fit 2"/>
          <p:cNvSpPr/>
          <p:nvPr/>
        </p:nvSpPr>
        <p:spPr>
          <a:xfrm>
            <a:off x="3675888" y="5166360"/>
            <a:ext cx="274320" cy="274320"/>
          </a:xfrm>
          <a:prstGeom prst="ellipse">
            <a:avLst/>
          </a:prstGeom>
          <a:solidFill>
            <a:srgbClr val="EFEBE4"/>
          </a:solidFill>
          <a:ln w="12700">
            <a:solidFill>
              <a:srgbClr val="D8D3CA"/>
            </a:solidFill>
            <a:prstDash val="solid"/>
          </a:ln>
        </p:spPr>
      </p:sp>
      <p:sp>
        <p:nvSpPr>
          <p:cNvPr id="35" name="Hierarchical fit 3"/>
          <p:cNvSpPr/>
          <p:nvPr/>
        </p:nvSpPr>
        <p:spPr>
          <a:xfrm>
            <a:off x="4059936" y="5166360"/>
            <a:ext cx="274320" cy="274320"/>
          </a:xfrm>
          <a:prstGeom prst="ellipse">
            <a:avLst/>
          </a:prstGeom>
          <a:solidFill>
            <a:srgbClr val="EFEBE4"/>
          </a:solidFill>
          <a:ln w="12700">
            <a:solidFill>
              <a:srgbClr val="D8D3CA"/>
            </a:solidFill>
            <a:prstDash val="solid"/>
          </a:ln>
        </p:spPr>
      </p:sp>
      <p:sp>
        <p:nvSpPr>
          <p:cNvPr id="36" name="Hierarchical fit 4"/>
          <p:cNvSpPr/>
          <p:nvPr/>
        </p:nvSpPr>
        <p:spPr>
          <a:xfrm>
            <a:off x="4443984" y="5166360"/>
            <a:ext cx="274320" cy="274320"/>
          </a:xfrm>
          <a:prstGeom prst="ellipse">
            <a:avLst/>
          </a:prstGeom>
          <a:solidFill>
            <a:srgbClr val="EFEBE4"/>
          </a:solidFill>
          <a:ln w="12700">
            <a:solidFill>
              <a:srgbClr val="D8D3CA"/>
            </a:solidFill>
            <a:prstDash val="solid"/>
          </a:ln>
        </p:spPr>
      </p:sp>
      <p:sp>
        <p:nvSpPr>
          <p:cNvPr id="37" name="Hierarchical fit 5"/>
          <p:cNvSpPr/>
          <p:nvPr/>
        </p:nvSpPr>
        <p:spPr>
          <a:xfrm>
            <a:off x="4828032" y="5166360"/>
            <a:ext cx="274320" cy="274320"/>
          </a:xfrm>
          <a:prstGeom prst="ellipse">
            <a:avLst/>
          </a:prstGeom>
          <a:solidFill>
            <a:srgbClr val="EFEBE4"/>
          </a:solidFill>
          <a:ln w="12700">
            <a:solidFill>
              <a:srgbClr val="D8D3CA"/>
            </a:solidFill>
            <a:prstDash val="solid"/>
          </a:ln>
        </p:spPr>
      </p:sp>
      <p:sp>
        <p:nvSpPr>
          <p:cNvPr id="38" name="Text 36"/>
          <p:cNvSpPr txBox="1"/>
          <p:nvPr/>
        </p:nvSpPr>
        <p:spPr>
          <a:xfrm>
            <a:off x="5303520" y="4837176"/>
            <a:ext cx="1280160" cy="932688"/>
          </a:xfrm>
          <a:prstGeom prst="rect">
            <a:avLst/>
          </a:prstGeom>
          <a:noFill/>
          <a:ln/>
        </p:spPr>
        <p:txBody>
          <a:bodyPr wrap="square" lIns="0" tIns="0" rIns="0" bIns="0" rtlCol="0" anchor="ctr"/>
          <a:lstStyle/>
          <a:p>
            <a:pPr indent="0" marL="0">
              <a:buNone/>
            </a:pPr>
            <a:r>
              <a:rPr lang="en-US" sz="1300" b="1" dirty="0">
                <a:solidFill>
                  <a:srgbClr val="5F6675"/>
                </a:solidFill>
              </a:rPr>
              <a:t>Weak fit</a:t>
            </a:r>
            <a:endParaRPr lang="en-US" sz="1300" dirty="0"/>
          </a:p>
        </p:txBody>
      </p:sp>
      <p:sp>
        <p:nvSpPr>
          <p:cNvPr id="39" name="Text 37"/>
          <p:cNvSpPr txBox="1"/>
          <p:nvPr/>
        </p:nvSpPr>
        <p:spPr>
          <a:xfrm>
            <a:off x="6675120" y="4837176"/>
            <a:ext cx="4739335" cy="932688"/>
          </a:xfrm>
          <a:prstGeom prst="rect">
            <a:avLst/>
          </a:prstGeom>
          <a:noFill/>
          <a:ln/>
        </p:spPr>
        <p:txBody>
          <a:bodyPr wrap="square" lIns="0" tIns="0" rIns="0" bIns="0" rtlCol="0" anchor="ctr"/>
          <a:lstStyle/>
          <a:p>
            <a:pPr indent="0" marL="0">
              <a:buNone/>
            </a:pPr>
            <a:r>
              <a:rPr lang="en-US" sz="1500" dirty="0">
                <a:solidFill>
                  <a:srgbClr val="1F2A44"/>
                </a:solidFill>
              </a:rPr>
              <a:t>Stop 7: no ranks, no code, no family; the group collapses after arrests.</a:t>
            </a:r>
            <a:endParaRPr lang="en-US" sz="1500" dirty="0"/>
          </a:p>
        </p:txBody>
      </p:sp>
      <p:sp>
        <p:nvSpPr>
          <p:cNvPr id="40" name="Text 38"/>
          <p:cNvSpPr txBox="1"/>
          <p:nvPr/>
        </p:nvSpPr>
        <p:spPr>
          <a:xfrm>
            <a:off x="548640" y="5943600"/>
            <a:ext cx="11094415" cy="201168"/>
          </a:xfrm>
          <a:prstGeom prst="rect">
            <a:avLst/>
          </a:prstGeom>
          <a:noFill/>
          <a:ln/>
        </p:spPr>
        <p:txBody>
          <a:bodyPr wrap="square" lIns="0" tIns="0" rIns="0" bIns="0" rtlCol="0" anchor="ctr"/>
          <a:lstStyle/>
          <a:p>
            <a:pPr indent="0" marL="0">
              <a:buNone/>
            </a:pPr>
            <a:r>
              <a:rPr lang="en-US" sz="1000" i="1" dirty="0">
                <a:solidFill>
                  <a:srgbClr val="9A968E"/>
                </a:solidFill>
              </a:rPr>
              <a:t>Fit ratings are the group’s assessment.</a:t>
            </a:r>
            <a:endParaRPr lang="en-US" sz="10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968E"/>
                </a:solidFil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rgbClr val="C26A2E"/>
                </a:solidFill>
              </a:rPr>
              <a:t>THE VERDICT  ·  IS THE FILM ACCURATE?</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2800" b="1" dirty="0">
                <a:solidFill>
                  <a:schemeClr val="tx1"/>
                </a:solidFill>
              </a:rPr>
              <a:t>Accurate in substance, exaggerated in style</a:t>
            </a:r>
            <a:endParaRPr lang="en-US" sz="2800" dirty="0"/>
          </a:p>
        </p:txBody>
      </p:sp>
      <p:sp>
        <p:nvSpPr>
          <p:cNvPr id="4" name="WHAT IT GETS RIGHT"/>
          <p:cNvSpPr/>
          <p:nvPr/>
        </p:nvSpPr>
        <p:spPr>
          <a:xfrm>
            <a:off x="548640" y="1600200"/>
            <a:ext cx="5387188" cy="4297680"/>
          </a:xfrm>
          <a:prstGeom prst="rect">
            <a:avLst/>
          </a:prstGeom>
          <a:solidFill>
            <a:srgbClr val="FFFFFF"/>
          </a:solidFill>
          <a:ln w="19050">
            <a:solidFill>
              <a:srgbClr val="1F7A8C"/>
            </a:solidFill>
            <a:prstDash val="solid"/>
          </a:ln>
          <a:effectLst>
            <a:outerShdw sx="100000" sy="100000" kx="0" ky="0" algn="bl" rotWithShape="0" blurRad="76200" dist="25400" dir="5400000">
              <a:srgbClr val="000000">
                <a:alpha val="7000"/>
              </a:srgbClr>
            </a:outerShdw>
          </a:effectLst>
        </p:spPr>
      </p:sp>
      <p:sp>
        <p:nvSpPr>
          <p:cNvPr id="5" name="WHAT IT GETS RIGHT circle"/>
          <p:cNvSpPr/>
          <p:nvPr/>
        </p:nvSpPr>
        <p:spPr>
          <a:xfrm>
            <a:off x="822960" y="1783080"/>
            <a:ext cx="548640" cy="548640"/>
          </a:xfrm>
          <a:prstGeom prst="ellipse">
            <a:avLst/>
          </a:prstGeom>
          <a:solidFill>
            <a:srgbClr val="1F7A8C"/>
          </a:solidFill>
          <a:ln/>
        </p:spPr>
      </p:sp>
      <p:pic>
        <p:nvPicPr>
          <p:cNvPr id="6" name="WHAT IT GETS RIGHT icon" descr="WHAT IT GETS RIGHT">    </p:cNvPr>
          <p:cNvPicPr>
            <a:picLocks noChangeAspect="1"/>
          </p:cNvPicPr>
          <p:nvPr/>
        </p:nvPicPr>
        <p:blipFill>
          <a:blip r:embed="rId1"/>
          <a:stretch>
            <a:fillRect/>
          </a:stretch>
        </p:blipFill>
        <p:spPr>
          <a:xfrm>
            <a:off x="954634" y="1914754"/>
            <a:ext cx="285293" cy="285293"/>
          </a:xfrm>
          <a:prstGeom prst="rect">
            <a:avLst/>
          </a:prstGeom>
        </p:spPr>
      </p:pic>
      <p:sp>
        <p:nvSpPr>
          <p:cNvPr id="7" name="Text 4"/>
          <p:cNvSpPr txBox="1"/>
          <p:nvPr/>
        </p:nvSpPr>
        <p:spPr>
          <a:xfrm>
            <a:off x="1508760" y="1783080"/>
            <a:ext cx="4198468" cy="548640"/>
          </a:xfrm>
          <a:prstGeom prst="rect">
            <a:avLst/>
          </a:prstGeom>
          <a:noFill/>
          <a:ln/>
        </p:spPr>
        <p:txBody>
          <a:bodyPr wrap="square" lIns="0" tIns="0" rIns="0" bIns="0" rtlCol="0" anchor="ctr"/>
          <a:lstStyle/>
          <a:p>
            <a:pPr indent="0" marL="0">
              <a:buNone/>
            </a:pPr>
            <a:r>
              <a:rPr lang="en-US" sz="1500" b="1" spc="200" kern="0" dirty="0">
                <a:solidFill>
                  <a:srgbClr val="1F7A8C"/>
                </a:solidFill>
              </a:rPr>
              <a:t>WHAT IT GETS RIGHT</a:t>
            </a:r>
            <a:endParaRPr lang="en-US" sz="1500" dirty="0"/>
          </a:p>
        </p:txBody>
      </p:sp>
      <p:sp>
        <p:nvSpPr>
          <p:cNvPr id="8" name="Text 5"/>
          <p:cNvSpPr txBox="1"/>
          <p:nvPr/>
        </p:nvSpPr>
        <p:spPr>
          <a:xfrm>
            <a:off x="822960" y="2560320"/>
            <a:ext cx="4838548" cy="713232"/>
          </a:xfrm>
          <a:prstGeom prst="rect">
            <a:avLst/>
          </a:prstGeom>
          <a:noFill/>
          <a:ln/>
        </p:spPr>
        <p:txBody>
          <a:bodyPr wrap="square" lIns="0" tIns="0" rIns="0" bIns="0" rtlCol="0" anchor="ctr"/>
          <a:lstStyle/>
          <a:p>
            <a:pPr indent="0" marL="0">
              <a:buNone/>
            </a:pPr>
            <a:r>
              <a:rPr lang="en-US" sz="1600" dirty="0">
                <a:solidFill>
                  <a:srgbClr val="1F2A44"/>
                </a:solidFill>
              </a:rPr>
              <a:t>Breaks the mafia stereotype: crime as a business with invoices</a:t>
            </a:r>
            <a:endParaRPr lang="en-US" sz="1600" dirty="0"/>
          </a:p>
        </p:txBody>
      </p:sp>
      <p:sp>
        <p:nvSpPr>
          <p:cNvPr id="9" name="Shape 6"/>
          <p:cNvSpPr/>
          <p:nvPr/>
        </p:nvSpPr>
        <p:spPr>
          <a:xfrm>
            <a:off x="822960" y="3328416"/>
            <a:ext cx="4838548" cy="0"/>
          </a:xfrm>
          <a:prstGeom prst="line">
            <a:avLst/>
          </a:prstGeom>
          <a:noFill/>
          <a:ln w="12700">
            <a:solidFill>
              <a:srgbClr val="D8D3CA"/>
            </a:solidFill>
            <a:prstDash val="solid"/>
          </a:ln>
        </p:spPr>
      </p:sp>
      <p:sp>
        <p:nvSpPr>
          <p:cNvPr id="10" name="Text 7"/>
          <p:cNvSpPr txBox="1"/>
          <p:nvPr/>
        </p:nvSpPr>
        <p:spPr>
          <a:xfrm>
            <a:off x="822960" y="3383280"/>
            <a:ext cx="4838548" cy="713232"/>
          </a:xfrm>
          <a:prstGeom prst="rect">
            <a:avLst/>
          </a:prstGeom>
          <a:noFill/>
          <a:ln/>
        </p:spPr>
        <p:txBody>
          <a:bodyPr wrap="square" lIns="0" tIns="0" rIns="0" bIns="0" rtlCol="0" anchor="ctr"/>
          <a:lstStyle/>
          <a:p>
            <a:pPr indent="0" marL="0">
              <a:buNone/>
            </a:pPr>
            <a:r>
              <a:rPr lang="en-US" sz="1600" dirty="0">
                <a:solidFill>
                  <a:srgbClr val="1F2A44"/>
                </a:solidFill>
              </a:rPr>
              <a:t>Fits the UN definition and the enterprise and network models</a:t>
            </a:r>
            <a:endParaRPr lang="en-US" sz="1600" dirty="0"/>
          </a:p>
        </p:txBody>
      </p:sp>
      <p:sp>
        <p:nvSpPr>
          <p:cNvPr id="11" name="Shape 8"/>
          <p:cNvSpPr/>
          <p:nvPr/>
        </p:nvSpPr>
        <p:spPr>
          <a:xfrm>
            <a:off x="822960" y="4151376"/>
            <a:ext cx="4838548" cy="0"/>
          </a:xfrm>
          <a:prstGeom prst="line">
            <a:avLst/>
          </a:prstGeom>
          <a:noFill/>
          <a:ln w="12700">
            <a:solidFill>
              <a:srgbClr val="D8D3CA"/>
            </a:solidFill>
            <a:prstDash val="solid"/>
          </a:ln>
        </p:spPr>
      </p:sp>
      <p:sp>
        <p:nvSpPr>
          <p:cNvPr id="12" name="Text 9"/>
          <p:cNvSpPr txBox="1"/>
          <p:nvPr/>
        </p:nvSpPr>
        <p:spPr>
          <a:xfrm>
            <a:off x="822960" y="4206240"/>
            <a:ext cx="4838548" cy="713232"/>
          </a:xfrm>
          <a:prstGeom prst="rect">
            <a:avLst/>
          </a:prstGeom>
          <a:noFill/>
          <a:ln/>
        </p:spPr>
        <p:txBody>
          <a:bodyPr wrap="square" lIns="0" tIns="0" rIns="0" bIns="0" rtlCol="0" anchor="ctr"/>
          <a:lstStyle/>
          <a:p>
            <a:pPr indent="0" marL="0">
              <a:buNone/>
            </a:pPr>
            <a:r>
              <a:rPr lang="en-US" sz="1600" dirty="0">
                <a:solidFill>
                  <a:srgbClr val="1F2A44"/>
                </a:solidFill>
              </a:rPr>
              <a:t>Offenders who never see themselves as criminals</a:t>
            </a:r>
            <a:endParaRPr lang="en-US" sz="1600" dirty="0"/>
          </a:p>
        </p:txBody>
      </p:sp>
      <p:sp>
        <p:nvSpPr>
          <p:cNvPr id="13" name="Shape 10"/>
          <p:cNvSpPr/>
          <p:nvPr/>
        </p:nvSpPr>
        <p:spPr>
          <a:xfrm>
            <a:off x="822960" y="4974336"/>
            <a:ext cx="4838548" cy="0"/>
          </a:xfrm>
          <a:prstGeom prst="line">
            <a:avLst/>
          </a:prstGeom>
          <a:noFill/>
          <a:ln w="12700">
            <a:solidFill>
              <a:srgbClr val="D8D3CA"/>
            </a:solidFill>
            <a:prstDash val="solid"/>
          </a:ln>
        </p:spPr>
      </p:sp>
      <p:sp>
        <p:nvSpPr>
          <p:cNvPr id="14" name="Text 11"/>
          <p:cNvSpPr txBox="1"/>
          <p:nvPr/>
        </p:nvSpPr>
        <p:spPr>
          <a:xfrm>
            <a:off x="822960" y="5029200"/>
            <a:ext cx="4838548" cy="713232"/>
          </a:xfrm>
          <a:prstGeom prst="rect">
            <a:avLst/>
          </a:prstGeom>
          <a:noFill/>
          <a:ln/>
        </p:spPr>
        <p:txBody>
          <a:bodyPr wrap="square" lIns="0" tIns="0" rIns="0" bIns="0" rtlCol="0" anchor="ctr"/>
          <a:lstStyle/>
          <a:p>
            <a:pPr indent="0" marL="0">
              <a:buNone/>
            </a:pPr>
            <a:r>
              <a:rPr lang="en-US" sz="1600" dirty="0">
                <a:solidFill>
                  <a:srgbClr val="1F2A44"/>
                </a:solidFill>
              </a:rPr>
              <a:t>Real facts: the $298M contract, the repack, the sentences</a:t>
            </a:r>
            <a:endParaRPr lang="en-US" sz="1600" dirty="0"/>
          </a:p>
        </p:txBody>
      </p:sp>
      <p:sp>
        <p:nvSpPr>
          <p:cNvPr id="15" name="WHAT IT GETS WRONG"/>
          <p:cNvSpPr/>
          <p:nvPr/>
        </p:nvSpPr>
        <p:spPr>
          <a:xfrm>
            <a:off x="6255868" y="1600200"/>
            <a:ext cx="5387188" cy="4297680"/>
          </a:xfrm>
          <a:prstGeom prst="rect">
            <a:avLst/>
          </a:prstGeom>
          <a:solidFill>
            <a:srgbClr val="FFFFFF"/>
          </a:solidFill>
          <a:ln w="19050">
            <a:solidFill>
              <a:srgbClr val="B23A48"/>
            </a:solidFill>
            <a:prstDash val="solid"/>
          </a:ln>
          <a:effectLst>
            <a:outerShdw sx="100000" sy="100000" kx="0" ky="0" algn="bl" rotWithShape="0" blurRad="76200" dist="25400" dir="5400000">
              <a:srgbClr val="000000">
                <a:alpha val="7000"/>
              </a:srgbClr>
            </a:outerShdw>
          </a:effectLst>
        </p:spPr>
      </p:sp>
      <p:sp>
        <p:nvSpPr>
          <p:cNvPr id="16" name="WHAT IT GETS WRONG circle"/>
          <p:cNvSpPr/>
          <p:nvPr/>
        </p:nvSpPr>
        <p:spPr>
          <a:xfrm>
            <a:off x="6530188" y="1783080"/>
            <a:ext cx="548640" cy="548640"/>
          </a:xfrm>
          <a:prstGeom prst="ellipse">
            <a:avLst/>
          </a:prstGeom>
          <a:solidFill>
            <a:srgbClr val="B23A48"/>
          </a:solidFill>
          <a:ln/>
        </p:spPr>
      </p:sp>
      <p:pic>
        <p:nvPicPr>
          <p:cNvPr id="17" name="WHAT IT GETS WRONG icon" descr="WHAT IT GETS WRONG">    </p:cNvPr>
          <p:cNvPicPr>
            <a:picLocks noChangeAspect="1"/>
          </p:cNvPicPr>
          <p:nvPr/>
        </p:nvPicPr>
        <p:blipFill>
          <a:blip r:embed="rId2"/>
          <a:stretch>
            <a:fillRect/>
          </a:stretch>
        </p:blipFill>
        <p:spPr>
          <a:xfrm>
            <a:off x="6661861" y="1914754"/>
            <a:ext cx="285293" cy="285293"/>
          </a:xfrm>
          <a:prstGeom prst="rect">
            <a:avLst/>
          </a:prstGeom>
        </p:spPr>
      </p:pic>
      <p:sp>
        <p:nvSpPr>
          <p:cNvPr id="18" name="Text 14"/>
          <p:cNvSpPr txBox="1"/>
          <p:nvPr/>
        </p:nvSpPr>
        <p:spPr>
          <a:xfrm>
            <a:off x="7215988" y="1783080"/>
            <a:ext cx="4198468" cy="548640"/>
          </a:xfrm>
          <a:prstGeom prst="rect">
            <a:avLst/>
          </a:prstGeom>
          <a:noFill/>
          <a:ln/>
        </p:spPr>
        <p:txBody>
          <a:bodyPr wrap="square" lIns="0" tIns="0" rIns="0" bIns="0" rtlCol="0" anchor="ctr"/>
          <a:lstStyle/>
          <a:p>
            <a:pPr indent="0" marL="0">
              <a:buNone/>
            </a:pPr>
            <a:r>
              <a:rPr lang="en-US" sz="1500" b="1" spc="200" kern="0" dirty="0">
                <a:solidFill>
                  <a:srgbClr val="B23A48"/>
                </a:solidFill>
              </a:rPr>
              <a:t>WHAT IT GETS WRONG</a:t>
            </a:r>
            <a:endParaRPr lang="en-US" sz="1500" dirty="0"/>
          </a:p>
        </p:txBody>
      </p:sp>
      <p:sp>
        <p:nvSpPr>
          <p:cNvPr id="19" name="Text 15"/>
          <p:cNvSpPr txBox="1"/>
          <p:nvPr/>
        </p:nvSpPr>
        <p:spPr>
          <a:xfrm>
            <a:off x="6530188" y="2560320"/>
            <a:ext cx="4838548" cy="713232"/>
          </a:xfrm>
          <a:prstGeom prst="rect">
            <a:avLst/>
          </a:prstGeom>
          <a:noFill/>
          <a:ln/>
        </p:spPr>
        <p:txBody>
          <a:bodyPr wrap="square" lIns="0" tIns="0" rIns="0" bIns="0" rtlCol="0" anchor="ctr"/>
          <a:lstStyle/>
          <a:p>
            <a:pPr indent="0" marL="0">
              <a:buNone/>
            </a:pPr>
            <a:r>
              <a:rPr lang="en-US" sz="1600" dirty="0">
                <a:solidFill>
                  <a:srgbClr val="1F2A44"/>
                </a:solidFill>
              </a:rPr>
              <a:t>Comedy glamorizes the money and softens the fraud</a:t>
            </a:r>
            <a:endParaRPr lang="en-US" sz="1600" dirty="0"/>
          </a:p>
        </p:txBody>
      </p:sp>
      <p:sp>
        <p:nvSpPr>
          <p:cNvPr id="20" name="Shape 16"/>
          <p:cNvSpPr/>
          <p:nvPr/>
        </p:nvSpPr>
        <p:spPr>
          <a:xfrm>
            <a:off x="6530188" y="3328416"/>
            <a:ext cx="4838548" cy="0"/>
          </a:xfrm>
          <a:prstGeom prst="line">
            <a:avLst/>
          </a:prstGeom>
          <a:noFill/>
          <a:ln w="12700">
            <a:solidFill>
              <a:srgbClr val="D8D3CA"/>
            </a:solidFill>
            <a:prstDash val="solid"/>
          </a:ln>
        </p:spPr>
      </p:sp>
      <p:sp>
        <p:nvSpPr>
          <p:cNvPr id="21" name="Text 17"/>
          <p:cNvSpPr txBox="1"/>
          <p:nvPr/>
        </p:nvSpPr>
        <p:spPr>
          <a:xfrm>
            <a:off x="6530188" y="3383280"/>
            <a:ext cx="4838548" cy="713232"/>
          </a:xfrm>
          <a:prstGeom prst="rect">
            <a:avLst/>
          </a:prstGeom>
          <a:noFill/>
          <a:ln/>
        </p:spPr>
        <p:txBody>
          <a:bodyPr wrap="square" lIns="0" tIns="0" rIns="0" bIns="0" rtlCol="0" anchor="ctr"/>
          <a:lstStyle/>
          <a:p>
            <a:pPr indent="0" marL="0">
              <a:buNone/>
            </a:pPr>
            <a:r>
              <a:rPr lang="en-US" sz="1600" dirty="0">
                <a:solidFill>
                  <a:srgbClr val="1F2A44"/>
                </a:solidFill>
              </a:rPr>
              <a:t>Henry is a composite; the Albanian threats are invented</a:t>
            </a:r>
            <a:endParaRPr lang="en-US" sz="1600" dirty="0"/>
          </a:p>
        </p:txBody>
      </p:sp>
      <p:sp>
        <p:nvSpPr>
          <p:cNvPr id="22" name="Shape 18"/>
          <p:cNvSpPr/>
          <p:nvPr/>
        </p:nvSpPr>
        <p:spPr>
          <a:xfrm>
            <a:off x="6530188" y="4151376"/>
            <a:ext cx="4838548" cy="0"/>
          </a:xfrm>
          <a:prstGeom prst="line">
            <a:avLst/>
          </a:prstGeom>
          <a:noFill/>
          <a:ln w="12700">
            <a:solidFill>
              <a:srgbClr val="D8D3CA"/>
            </a:solidFill>
            <a:prstDash val="solid"/>
          </a:ln>
        </p:spPr>
      </p:sp>
      <p:sp>
        <p:nvSpPr>
          <p:cNvPr id="23" name="Text 19"/>
          <p:cNvSpPr txBox="1"/>
          <p:nvPr/>
        </p:nvSpPr>
        <p:spPr>
          <a:xfrm>
            <a:off x="6530188" y="4206240"/>
            <a:ext cx="4838548" cy="713232"/>
          </a:xfrm>
          <a:prstGeom prst="rect">
            <a:avLst/>
          </a:prstGeom>
          <a:noFill/>
          <a:ln/>
        </p:spPr>
        <p:txBody>
          <a:bodyPr wrap="square" lIns="0" tIns="0" rIns="0" bIns="0" rtlCol="0" anchor="ctr"/>
          <a:lstStyle/>
          <a:p>
            <a:pPr indent="0" marL="0">
              <a:buNone/>
            </a:pPr>
            <a:r>
              <a:rPr lang="en-US" sz="1600" dirty="0">
                <a:solidFill>
                  <a:srgbClr val="1F2A44"/>
                </a:solidFill>
              </a:rPr>
              <a:t>Blames two young men, not the system that let them in</a:t>
            </a:r>
            <a:endParaRPr lang="en-US" sz="1600" dirty="0"/>
          </a:p>
        </p:txBody>
      </p:sp>
      <p:sp>
        <p:nvSpPr>
          <p:cNvPr id="24" name="Shape 20"/>
          <p:cNvSpPr/>
          <p:nvPr/>
        </p:nvSpPr>
        <p:spPr>
          <a:xfrm>
            <a:off x="6530188" y="4974336"/>
            <a:ext cx="4838548" cy="0"/>
          </a:xfrm>
          <a:prstGeom prst="line">
            <a:avLst/>
          </a:prstGeom>
          <a:noFill/>
          <a:ln w="12700">
            <a:solidFill>
              <a:srgbClr val="D8D3CA"/>
            </a:solidFill>
            <a:prstDash val="solid"/>
          </a:ln>
        </p:spPr>
      </p:sp>
      <p:sp>
        <p:nvSpPr>
          <p:cNvPr id="25" name="Text 21"/>
          <p:cNvSpPr txBox="1"/>
          <p:nvPr/>
        </p:nvSpPr>
        <p:spPr>
          <a:xfrm>
            <a:off x="6530188" y="5029200"/>
            <a:ext cx="4838548" cy="713232"/>
          </a:xfrm>
          <a:prstGeom prst="rect">
            <a:avLst/>
          </a:prstGeom>
          <a:noFill/>
          <a:ln/>
        </p:spPr>
        <p:txBody>
          <a:bodyPr wrap="square" lIns="0" tIns="0" rIns="0" bIns="0" rtlCol="0" anchor="ctr"/>
          <a:lstStyle/>
          <a:p>
            <a:pPr indent="0" marL="0">
              <a:buNone/>
            </a:pPr>
            <a:r>
              <a:rPr lang="en-US" sz="1600" dirty="0">
                <a:solidFill>
                  <a:srgbClr val="1F2A44"/>
                </a:solidFill>
              </a:rPr>
              <a:t>Leaves out real victims, including the 26 killed at Gërdec</a:t>
            </a:r>
            <a:endParaRPr lang="en-US" sz="1600" dirty="0"/>
          </a:p>
        </p:txBody>
      </p:sp>
      <p:sp>
        <p:nvSpPr>
          <p:cNvPr id="26" name="Text 22"/>
          <p:cNvSpPr txBox="1"/>
          <p:nvPr/>
        </p:nvSpPr>
        <p:spPr>
          <a:xfrm>
            <a:off x="548640" y="6108192"/>
            <a:ext cx="11094415" cy="201168"/>
          </a:xfrm>
          <a:prstGeom prst="rect">
            <a:avLst/>
          </a:prstGeom>
          <a:noFill/>
          <a:ln/>
        </p:spPr>
        <p:txBody>
          <a:bodyPr wrap="square" lIns="0" tIns="0" rIns="0" bIns="0" rtlCol="0" anchor="ctr"/>
          <a:lstStyle/>
          <a:p>
            <a:pPr indent="0" marL="0">
              <a:buNone/>
            </a:pPr>
            <a:r>
              <a:rPr lang="en-US" sz="1000" i="1" dirty="0">
                <a:solidFill>
                  <a:srgbClr val="9A968E"/>
                </a:solidFill>
              </a:rPr>
              <a:t>Sources: Lawson (2015); Al Jazeera (2008). Verdict is the group’s assessment.</a:t>
            </a:r>
            <a:endParaRPr lang="en-US" sz="10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9A968E"/>
                </a:solidFil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route map" descr="Route map">    </p:cNvPr>
          <p:cNvPicPr>
            <a:picLocks noChangeAspect="1"/>
          </p:cNvPicPr>
          <p:nvPr/>
        </p:nvPicPr>
        <p:blipFill>
          <a:blip r:embed="rId1"/>
          <a:stretch>
            <a:fillRect/>
          </a:stretch>
        </p:blipFill>
        <p:spPr>
          <a:xfrm>
            <a:off x="7543800" y="3200400"/>
            <a:ext cx="4297680" cy="2248786"/>
          </a:xfrm>
          <a:prstGeom prst="rect">
            <a:avLst/>
          </a:prstGeom>
        </p:spPr>
      </p:pic>
      <p:sp>
        <p:nvSpPr>
          <p:cNvPr id="3" name="Text 0"/>
          <p:cNvSpPr txBox="1"/>
          <p:nvPr/>
        </p:nvSpPr>
        <p:spPr>
          <a:xfrm>
            <a:off x="548640" y="731520"/>
            <a:ext cx="7315200" cy="274320"/>
          </a:xfrm>
          <a:prstGeom prst="rect">
            <a:avLst/>
          </a:prstGeom>
          <a:noFill/>
          <a:ln/>
        </p:spPr>
        <p:txBody>
          <a:bodyPr wrap="square" lIns="0" tIns="0" rIns="0" bIns="0" rtlCol="0" anchor="ctr"/>
          <a:lstStyle/>
          <a:p>
            <a:pPr indent="0" marL="0">
              <a:buNone/>
            </a:pPr>
            <a:r>
              <a:rPr lang="en-US" sz="1200" b="1" spc="300" kern="0" dirty="0">
                <a:solidFill>
                  <a:srgbClr val="D9A441"/>
                </a:solidFill>
              </a:rPr>
              <a:t>END OF THE LINE</a:t>
            </a:r>
            <a:endParaRPr lang="en-US" sz="1200" dirty="0"/>
          </a:p>
        </p:txBody>
      </p:sp>
      <p:sp>
        <p:nvSpPr>
          <p:cNvPr id="4" name="Text 1"/>
          <p:cNvSpPr txBox="1"/>
          <p:nvPr/>
        </p:nvSpPr>
        <p:spPr>
          <a:xfrm>
            <a:off x="548640" y="1143000"/>
            <a:ext cx="6949440" cy="182880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Follow the bullet and you find a business. </a:t>
            </a:r>
            <a:pPr indent="0" marL="0">
              <a:buNone/>
            </a:pPr>
            <a:r>
              <a:rPr lang="en-US" sz="3000" b="1" dirty="0">
                <a:solidFill>
                  <a:srgbClr val="D9A441"/>
                </a:solidFill>
                <a:latin typeface="Cambria" pitchFamily="34" charset="0"/>
                <a:ea typeface="Cambria" pitchFamily="34" charset="-122"/>
                <a:cs typeface="Cambria" pitchFamily="34" charset="-120"/>
              </a:rPr>
              <a:t>Follow the money and you find the system.</a:t>
            </a:r>
            <a:endParaRPr lang="en-US" sz="3000" dirty="0"/>
          </a:p>
        </p:txBody>
      </p:sp>
      <p:sp>
        <p:nvSpPr>
          <p:cNvPr id="5" name="takeaway 1"/>
          <p:cNvSpPr/>
          <p:nvPr/>
        </p:nvSpPr>
        <p:spPr>
          <a:xfrm>
            <a:off x="548640" y="3246120"/>
            <a:ext cx="6766560" cy="987552"/>
          </a:xfrm>
          <a:prstGeom prst="rect">
            <a:avLst/>
          </a:prstGeom>
          <a:solidFill>
            <a:srgbClr val="22304F"/>
          </a:solidFill>
          <a:ln w="15875">
            <a:solidFill>
              <a:srgbClr val="C26A2E"/>
            </a:solidFill>
            <a:prstDash val="solid"/>
          </a:ln>
        </p:spPr>
      </p:sp>
      <p:sp>
        <p:nvSpPr>
          <p:cNvPr id="6" name="Text 3"/>
          <p:cNvSpPr txBox="1"/>
          <p:nvPr/>
        </p:nvSpPr>
        <p:spPr>
          <a:xfrm>
            <a:off x="777240" y="3319272"/>
            <a:ext cx="6309360" cy="841248"/>
          </a:xfrm>
          <a:prstGeom prst="rect">
            <a:avLst/>
          </a:prstGeom>
          <a:noFill/>
          <a:ln/>
        </p:spPr>
        <p:txBody>
          <a:bodyPr wrap="square" lIns="0" tIns="0" rIns="0" bIns="0" rtlCol="0" anchor="ctr"/>
          <a:lstStyle/>
          <a:p>
            <a:pPr indent="0" marL="0">
              <a:spcAft>
                <a:spcPts val="300"/>
              </a:spcAft>
              <a:buNone/>
            </a:pPr>
            <a:r>
              <a:rPr lang="en-US" sz="1100" b="1" spc="200" kern="0" dirty="0">
                <a:solidFill>
                  <a:srgbClr val="E89A63"/>
                </a:solidFill>
              </a:rPr>
              <a:t>THE ANSWER</a:t>
            </a:r>
            <a:endParaRPr lang="en-US" sz="1100" dirty="0"/>
          </a:p>
          <a:p>
            <a:pPr indent="0" marL="0">
              <a:spcAft>
                <a:spcPts val="300"/>
              </a:spcAft>
              <a:buNone/>
            </a:pPr>
            <a:r>
              <a:rPr lang="en-US" sz="1500" dirty="0">
                <a:solidFill>
                  <a:srgbClr val="E6DFD3"/>
                </a:solidFill>
              </a:rPr>
              <a:t>Organized crime under the UN definition, but not the mafia: organized white-collar crime.</a:t>
            </a:r>
            <a:endParaRPr lang="en-US" sz="1100" dirty="0"/>
          </a:p>
        </p:txBody>
      </p:sp>
      <p:sp>
        <p:nvSpPr>
          <p:cNvPr id="7" name="takeaway 2"/>
          <p:cNvSpPr/>
          <p:nvPr/>
        </p:nvSpPr>
        <p:spPr>
          <a:xfrm>
            <a:off x="548640" y="4389120"/>
            <a:ext cx="6766560" cy="987552"/>
          </a:xfrm>
          <a:prstGeom prst="rect">
            <a:avLst/>
          </a:prstGeom>
          <a:solidFill>
            <a:srgbClr val="22304F"/>
          </a:solidFill>
          <a:ln w="15875">
            <a:solidFill>
              <a:srgbClr val="4FB3C4"/>
            </a:solidFill>
            <a:prstDash val="solid"/>
          </a:ln>
        </p:spPr>
      </p:sp>
      <p:sp>
        <p:nvSpPr>
          <p:cNvPr id="8" name="Text 5"/>
          <p:cNvSpPr txBox="1"/>
          <p:nvPr/>
        </p:nvSpPr>
        <p:spPr>
          <a:xfrm>
            <a:off x="777240" y="4462272"/>
            <a:ext cx="6309360" cy="841248"/>
          </a:xfrm>
          <a:prstGeom prst="rect">
            <a:avLst/>
          </a:prstGeom>
          <a:noFill/>
          <a:ln/>
        </p:spPr>
        <p:txBody>
          <a:bodyPr wrap="square" lIns="0" tIns="0" rIns="0" bIns="0" rtlCol="0" anchor="ctr"/>
          <a:lstStyle/>
          <a:p>
            <a:pPr indent="0" marL="0">
              <a:spcAft>
                <a:spcPts val="300"/>
              </a:spcAft>
              <a:buNone/>
            </a:pPr>
            <a:r>
              <a:rPr lang="en-US" sz="1100" b="1" spc="200" kern="0" dirty="0">
                <a:solidFill>
                  <a:srgbClr val="7FD0DC"/>
                </a:solidFill>
              </a:rPr>
              <a:t>THE LESSON FOR BANGLADESH</a:t>
            </a:r>
            <a:endParaRPr lang="en-US" sz="1100" dirty="0"/>
          </a:p>
          <a:p>
            <a:pPr indent="0" marL="0">
              <a:spcAft>
                <a:spcPts val="300"/>
              </a:spcAft>
              <a:buNone/>
            </a:pPr>
            <a:r>
              <a:rPr lang="en-US" sz="1500" dirty="0">
                <a:solidFill>
                  <a:srgbClr val="E6DFD3"/>
                </a:solidFill>
              </a:rPr>
              <a:t>Large procurement relies on middlemen too. Vet contractors, disclose real owners, and check where goods come from.</a:t>
            </a:r>
            <a:endParaRPr lang="en-US" sz="1100" dirty="0"/>
          </a:p>
        </p:txBody>
      </p:sp>
      <p:sp>
        <p:nvSpPr>
          <p:cNvPr id="9" name="Text 6"/>
          <p:cNvSpPr txBox="1"/>
          <p:nvPr/>
        </p:nvSpPr>
        <p:spPr>
          <a:xfrm>
            <a:off x="548640" y="5715000"/>
            <a:ext cx="5486400" cy="50292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Thank you.  </a:t>
            </a:r>
            <a:pPr indent="0" marL="0">
              <a:buNone/>
            </a:pPr>
            <a:r>
              <a:rPr lang="en-US" sz="2400" i="1" dirty="0">
                <a:solidFill>
                  <a:srgbClr val="D9A441"/>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Follow the Bullet">
  <a:themeElements>
    <a:clrScheme name="Follow the Bullet">
      <a:dk1>
        <a:srgbClr val="1F2A44"/>
      </a:dk1>
      <a:lt1>
        <a:srgbClr val="FFFFFF"/>
      </a:lt1>
      <a:dk2>
        <a:srgbClr val="17203A"/>
      </a:dk2>
      <a:lt2>
        <a:srgbClr val="F4F2EE"/>
      </a:lt2>
      <a:accent1>
        <a:srgbClr val="C26A2E"/>
      </a:accent1>
      <a:accent2>
        <a:srgbClr val="1F7A8C"/>
      </a:accent2>
      <a:accent3>
        <a:srgbClr val="B23A48"/>
      </a:accent3>
      <a:accent4>
        <a:srgbClr val="6B7280"/>
      </a:accent4>
      <a:accent5>
        <a:srgbClr val="E8DCCB"/>
      </a:accent5>
      <a:accent6>
        <a:srgbClr val="D9A441"/>
      </a:accent6>
      <a:hlink>
        <a:srgbClr val="1F7A8C"/>
      </a:hlink>
      <a:folHlink>
        <a:srgbClr val="C26A2E"/>
      </a:folHlink>
    </a:clrScheme>
    <a:fontScheme name="Follow the Bulle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Follow the Bullet: War Dogs and the Grey Arms Trade – Group 6</dc:title>
  <dc:subject>MCCJ 527 Organized Crime and Corruption</dc:subject>
  <dc:creator>PptxGenJS</dc:creator>
  <cp:lastModifiedBy>PptxGenJS</cp:lastModifiedBy>
  <cp:revision>1</cp:revision>
  <dcterms:created xsi:type="dcterms:W3CDTF">2026-10-17T17:30:00Z</dcterms:created>
  <dcterms:modified xsi:type="dcterms:W3CDTF">2026-10-17T17:30:00Z</dcterms:modified>
</cp:coreProperties>
</file>