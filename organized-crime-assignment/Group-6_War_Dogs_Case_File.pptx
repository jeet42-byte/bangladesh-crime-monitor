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ase Opening" id="{8c21fb42-672b-0bd0-918c-b3a1c5020046}">
          <p14:sldIdLst>
            <p14:sldId id="256"/>
            <p14:sldId id="257"/>
          </p14:sldIdLst>
        </p14:section>
        <p14:section name="Suspects and Operation" id="{f7acd89e-31be-414f-a6ef-3e64ff8dd172}">
          <p14:sldIdLst>
            <p14:sldId id="258"/>
            <p14:sldId id="259"/>
          </p14:sldIdLst>
        </p14:section>
        <p14:section name="Legal Analysis" id="{3e820b42-878c-126b-9adf-9f182eedb881}">
          <p14:sldIdLst>
            <p14:sldId id="260"/>
            <p14:sldId id="261"/>
          </p14:sldIdLst>
        </p14:section>
        <p14:section name="Network and Models" id="{c7a59bbb-ba00-f25b-9249-e3606cb9d9f0}">
          <p14:sldIdLst>
            <p14:sldId id="262"/>
            <p14:sldId id="263"/>
          </p14:sldIdLst>
        </p14:section>
        <p14:section name="Motive and Corruption" id="{81876398-92ff-bf6e-891c-0f0793304b9a}">
          <p14:sldIdLst>
            <p14:sldId id="264"/>
            <p14:sldId id="265"/>
          </p14:sldIdLst>
        </p14:section>
        <p14:section name="Case Closed" id="{016e2fb5-b705-cd4f-1ca0-cc50c46e9bf0}">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 Roll 27 – [Name] (about 50 seconds)
[Hold up a folder or pretend to open one.] This file has just landed on our desk. Case number 527-06: War Dogs.
Two young men from Miami. A company with a website and a bank account. A Pentagon contract worth almost 300 million dollars. Banned ammunition from China, hidden in Albania. And a broker on a terrorist watch list.
Good morning. We are Group 6, and today we are not just reviewing a movie. We are investigating it. Like an organized crime review unit, we will open the case file, profile the suspects, map their network, analyse their motives, and finally decide: is this organized crime?
Let's open the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 Roll 27 – [Name] (about 50 seconds)
Page one: the case summary. The film is War Dogs, from 2016, directed by Todd Phillips and released by Warner Bros. It stars Jonah Hill and Miles Teller, with Ana de Armas and Bradley Cooper. It is filed as a comedy, but it is based on a true story, reported by journalist Guy Lawson.
The central theme: people who profit from war without ever fighting in it.
[Right side.] The key evidence: a contract worth 298 million dollars, signed in 2007, to arm the Afghan National Army. The supplier's origin was hidden [point to the black bar]... and later revealed to be China. The outcome: four years in prison for one partner, seven months of house arrest for the other.
[Member 2] will introduce the suspects.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 Roll 8 – [Name] (about 50 seconds)
Thank you, [Member 1]. Page two: the suspects. [Point to each card.]
Subject one: Efraim Diveroli, played by Jonah Hill. Founder of AEY, the deal-maker and risk-taker. Status: four years in prison.
Subject two: David Packouz, played by Miles Teller. A broke massage therapist who becomes Efraim's partner, and the narrator of the film. Status: seven months of house arrest, after cooperating.
Subject three: Henry Girard, played by Bradley Cooper. An arms broker on a terrorist watch list, with access to supply in Albania. He is a composite character, inspired by a real Swiss broker.
Subject four: Ralph, played by Kevin Pollak, the financier who funds the deals, based on a real backer.
Four men, four roles: already, this looks like a structured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 Roll 8 – [Name] (about 50 seconds)
Page three: how the operation unfolded, in five phases. [Move along the timeline.]
Phase one, the crumbs: AEY bids online for small Pentagon contracts that the big defence firms ignore.
Phase two, the Iraq run: a stuck shipment of pistols is pushed through Jordan into Iraq with help from fixers.
Phase three, the broker: Henry opens access to about 100 million rounds of ammunition in Albania, and they win the Afghan contract.
Phase four, the fraud: the rounds are Chinese-made and banned, and instead of reporting it, they repackage them to hide the origin. [Point to the red stamp.] This is the point of no return.
Phase five, the collapse: betrayal, exposure by journalists in 2008, and prosecution.
[Member 3] will now present the legal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 Roll 37 – [Name] (about 50 seconds)
Thank you, [Member 2]. Exhibit A: the legal test. Article 2 of the UN Convention against Transnational Organized Crime defines an organized criminal group. Let's check the evidence. [Go down the list.]
A structured group of three or more persons: yes. Efraim, David, Ralph, Henry and the Albanian suppliers, each with a role.
Existing for a period of time: yes, several years.
Committing serious crime: yes. Fraud against the US government, conspiracy, and breaching an arms embargo.
For financial benefit: yes, millions.
[Right side.] Our finding: all four criteria are met. Under international law, AEY is an organized criminal group. Notice that the definition does not require a formal hierarchy or violence. That matters for the next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 Roll 37 – [Name] (about 50 seconds)
Exhibit B. If AEY is organized crime under the UN, is it like the mafia? Abadinsky lists eight attributes of traditional organized crime. [Point at the grid.]
Profit-driven and specialized roles: these fit. Violence, bribery and monopoly fit only partly. But hierarchical ranks, exclusive membership with rituals, a code of conduct, and the ability to survive the arrest of its leaders: none of these fit. AEY collapsed the moment its founders were charged.
[Right panel.] So our classification is organized white-collar crime: a legal, registered company committing organized and transnational fraud. And because it did not look criminal, nobody checked it closely.
[Member 4] will now show you how the network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 Roll 33 – [Name] (about 50 seconds)
Thank you, [Member 3]. Page six: the link analysis, our detective's pinboard. [Trace the bright red strings.]
The US Army buys through open online tenders. The ammunition sits in an Albanian depot. These two worlds cannot connect directly. In the middle sit two brokers: AEY, with its clean American name, and Henry, who has the supply but is on a terrorist watch list. A financier supplies the money, and at the end of the chain, Afghan soldiers receive decades-old ammunition.
[Yellow note.] This is Morselli's idea of brokerage: power belongs to whoever connects worlds that cannot reach each other, not to a boss at the top. And Henry shows the crime–terror nexus: someone barred from legal trade simply borrows a clean company's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 Roll 33 – [Name] (about 50 seconds)
Page seven: our analyst assessment. Which model of organized crime best explains AEY? We rated our confidence in each.
High confidence: Smith's enterprise model. Legal and illegal business sit on one spectrum, and AEY slid from legal bidding, to fixers, to fraud, as demand grew.
Also high confidence: Morselli's network model. The brokers bridging the Pentagon and the Balkan stockpiles held the real power.
Medium confidence: Albini's patron–client model. Henry acts as a patron, trading access for a share.
And low confidence: Cressey's hierarchical model. There were no ranks, no code and no family. Everything rested on Efraim.
[Member 5] will analyse the motives.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5 – Roll 24 – [Name] (about 50 seconds)
Thank you, [Member 4]. Page eight: motive analysis. Why did two ordinary young men choose fraud? Four theories from our course.
One: strain and institutional anomie. David is broke with a baby coming. In Merton's terms, he "innovates": he keeps the goal of wealth but uses illegitimate means. And money starts to override his family.
Two: differential association. David learns both the methods and the excuses from Efraim.
Three: rational choice. Repackaging banned ammunition offered a huge reward against a small chance of being caught.
Four: techniques of neutralization. Excuses like "the troops still get working bullets", which is denial of injury, or "the government does it too". These are our paraphrases of the characters' attitudes.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5 – Roll 24 – [Name] (about 50 seconds)
Page nine: corruption. Transparency International defines corruption as the abuse of entrusted power for private gain. And Robert Klitgaard gives a formula: corruption equals monopoly, plus discretion, minus accountability.
[Cards.] Monopoly: Henry controls the only access to cheap Balkan ammunition, so everyone must pay him. Discretion: officials, fixers and border agents decide with little scrutiny, and middlemen skim money. And low accountability: in wartime urgency, a company run by a man in his early twenties passes the Pentagon's vetting.
[Dark box.] So this is also state-corporate crime. The harm grew from a government policy of outsourcing war to the lowest bidder, not just from two rogue young men.
[Member 6] will close the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6 – Roll 21 – [Name] (about 50 seconds)
Thank you, [Member 5]. Page ten. Every investigator must ask: is the witness reliable? So, is the film reliable? Our answer: accurate in substance, exaggerated in style.
[Left, green.] Corroborated: it breaks the mafia stereotype and shows crime as business. It fits the UN definition and the enterprise and network models. Its characters never see themselves as criminals. And the core facts are real: the contract, the repackaging and the sentences.
[Right, red.] Unreliable or omitted: the comedy glamorizes the money. Henry is a composite and the threats in Albania were invented. It blames two men, not the system that let them in. And it leaves out real victims, like the 26 people killed in the Gërdec depot explosion in Albania in 2008.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6 – Roll 21 – [Name] (about 50 seconds)
So, our final report. [Read slowly.] Organized crime doesn't always carry guns. Sometimes it sells them, with a government contract.
Our verdict: AEY is organized crime under the UN definition, but it is not the mafia. It is organized white-collar crime, best explained by the enterprise and network models, and enabled by a corrupt and weakly supervised system.
And our recommendation for Bangladesh: our own large procurement projects also rely on middlemen. Vetting contractors, disclosing who really owns a company, and checking where goods come from is not just paperwork. It is crime prevention.
[Tap the "Case Closed" stamp.] Case closed. Thank you, and we are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FOLDER-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PAPER-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OLD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AP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868680" y="658368"/>
            <a:ext cx="10637215" cy="658368"/>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868680" y="6382512"/>
            <a:ext cx="7315200" cy="201168"/>
          </a:xfrm>
          <a:prstGeom prst="rect">
            <a:avLst/>
          </a:prstGeom>
          <a:noFill/>
          <a:ln/>
        </p:spPr>
        <p:txBody>
          <a:bodyPr wrap="square" lIns="0" tIns="0" rIns="0" bIns="0" rtlCol="0" anchor="ctr"/>
          <a:lstStyle/>
          <a:p>
            <a:pPr indent="0" marL="0">
              <a:buNone/>
            </a:pPr>
            <a:r>
              <a:rPr lang="en-US" sz="900" b="1" dirty="0">
                <a:solidFill>
                  <a:srgbClr val="8A8170"/>
                </a:solidFill>
                <a:latin typeface="Courier New" pitchFamily="34" charset="0"/>
                <a:ea typeface="Courier New" pitchFamily="34" charset="-122"/>
                <a:cs typeface="Courier New" pitchFamily="34" charset="-120"/>
              </a:rPr>
              <a:t>CASE FILE 527-06  ·  WAR DOGS  ·  MCCJ 527 GROUP 6  ·  FOR CLASS USE ONLY</a:t>
            </a:r>
            <a:endParaRPr lang="en-US" sz="900" dirty="0"/>
          </a:p>
        </p:txBody>
      </p:sp>
      <p:sp>
        <p:nvSpPr>
          <p:cNvPr id="25" name="Slide Number Placeholder 0"/>
          <p:cNvSpPr>
            <a:spLocks noGrp="1"/>
          </p:cNvSpPr>
          <p:nvPr>
            <p:ph type="sldNum" sz="quarter" idx="4294967295"/>
          </p:nvPr>
        </p:nvSpPr>
        <p:spPr>
          <a:xfrm>
            <a:off x="8503920" y="6382512"/>
            <a:ext cx="82296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8A8170"/>
                </a:solidFill>
                <a:latin typeface="Courier New"/>
                <a:ea typeface="Courier New"/>
                <a:cs typeface="Courier New"/>
              </a:defRPr>
            </a:lvl1pPr>
          </a:lstStyle>
          <a:p>
            <a:pPr algn="r"/>
            <a:fld id="{F7021451-1387-4CA6-816F-3879F97B5CBC}" type="slidenum">
              <a:rPr b="1"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503920" y="6382512"/>
            <a:ext cx="82296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8A8170"/>
                </a:solidFill>
                <a:latin typeface="Courier New"/>
                <a:ea typeface="Courier New"/>
                <a:cs typeface="Courier New"/>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slideLayout" Target="../slideLayouts/slideLayout3.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1005840" y="365760"/>
            <a:ext cx="3474720" cy="365760"/>
          </a:xfrm>
          <a:prstGeom prst="rect">
            <a:avLst/>
          </a:prstGeom>
          <a:noFill/>
          <a:ln/>
        </p:spPr>
        <p:txBody>
          <a:bodyPr wrap="square" lIns="0" tIns="0" rIns="0" bIns="0" rtlCol="0" anchor="ctr"/>
          <a:lstStyle/>
          <a:p>
            <a:pPr indent="0" marL="0">
              <a:buNone/>
            </a:pPr>
            <a:r>
              <a:rPr lang="en-US" sz="1600" b="1" spc="300" kern="0" dirty="0">
                <a:solidFill>
                  <a:srgbClr val="5A3D12"/>
                </a:solidFill>
                <a:latin typeface="Courier New" pitchFamily="34" charset="0"/>
                <a:ea typeface="Courier New" pitchFamily="34" charset="-122"/>
                <a:cs typeface="Courier New" pitchFamily="34" charset="-120"/>
              </a:rPr>
              <a:t>FILE 527-06</a:t>
            </a:r>
            <a:endParaRPr lang="en-US" sz="1600" dirty="0"/>
          </a:p>
        </p:txBody>
      </p:sp>
      <p:sp>
        <p:nvSpPr>
          <p:cNvPr id="3" name="file label"/>
          <p:cNvSpPr/>
          <p:nvPr/>
        </p:nvSpPr>
        <p:spPr>
          <a:xfrm>
            <a:off x="960120" y="1325880"/>
            <a:ext cx="6309360" cy="4206240"/>
          </a:xfrm>
          <a:prstGeom prst="rect">
            <a:avLst/>
          </a:prstGeom>
          <a:solidFill>
            <a:srgbClr val="FFFDF7"/>
          </a:solidFill>
          <a:ln w="12700">
            <a:solidFill>
              <a:srgbClr val="B89B6A"/>
            </a:solidFill>
            <a:prstDash val="solid"/>
          </a:ln>
          <a:effectLst>
            <a:outerShdw sx="100000" sy="100000" kx="0" ky="0" algn="bl" rotWithShape="0" blurRad="76200" dist="38100" dir="5400000">
              <a:srgbClr val="000000">
                <a:alpha val="25000"/>
              </a:srgbClr>
            </a:outerShdw>
          </a:effectLst>
        </p:spPr>
      </p:sp>
      <p:sp>
        <p:nvSpPr>
          <p:cNvPr id="4" name="Text 2"/>
          <p:cNvSpPr txBox="1"/>
          <p:nvPr/>
        </p:nvSpPr>
        <p:spPr>
          <a:xfrm>
            <a:off x="1234440" y="1508760"/>
            <a:ext cx="5760720" cy="256032"/>
          </a:xfrm>
          <a:prstGeom prst="rect">
            <a:avLst/>
          </a:prstGeom>
          <a:noFill/>
          <a:ln/>
        </p:spPr>
        <p:txBody>
          <a:bodyPr wrap="square" lIns="0" tIns="0" rIns="0" bIns="0" rtlCol="0" anchor="ctr"/>
          <a:lstStyle/>
          <a:p>
            <a:pPr indent="0" marL="0">
              <a:buNone/>
            </a:pPr>
            <a:r>
              <a:rPr lang="en-US" sz="1100" b="1" spc="100" kern="0" dirty="0">
                <a:solidFill>
                  <a:srgbClr val="B3261E"/>
                </a:solidFill>
                <a:latin typeface="Courier New" pitchFamily="34" charset="0"/>
                <a:ea typeface="Courier New" pitchFamily="34" charset="-122"/>
                <a:cs typeface="Courier New" pitchFamily="34" charset="-120"/>
              </a:rPr>
              <a:t>ORGANIZED CRIME REVIEW UNIT  ·  MCCJ 527</a:t>
            </a:r>
            <a:endParaRPr lang="en-US" sz="1100" dirty="0"/>
          </a:p>
        </p:txBody>
      </p:sp>
      <p:sp>
        <p:nvSpPr>
          <p:cNvPr id="5" name="Text 3"/>
          <p:cNvSpPr txBox="1"/>
          <p:nvPr/>
        </p:nvSpPr>
        <p:spPr>
          <a:xfrm>
            <a:off x="1234440" y="1874520"/>
            <a:ext cx="5760720" cy="868680"/>
          </a:xfrm>
          <a:prstGeom prst="rect">
            <a:avLst/>
          </a:prstGeom>
          <a:noFill/>
          <a:ln/>
        </p:spPr>
        <p:txBody>
          <a:bodyPr wrap="square" lIns="0" tIns="0" rIns="0" bIns="0" rtlCol="0" anchor="ctr"/>
          <a:lstStyle/>
          <a:p>
            <a:pPr indent="0" marL="0">
              <a:buNone/>
            </a:pPr>
            <a:r>
              <a:rPr lang="en-US" sz="4400" b="1" dirty="0">
                <a:solidFill>
                  <a:srgbClr val="1E2A3A"/>
                </a:solidFill>
                <a:latin typeface="Cambria" pitchFamily="34" charset="0"/>
                <a:ea typeface="Cambria" pitchFamily="34" charset="-122"/>
                <a:cs typeface="Cambria" pitchFamily="34" charset="-120"/>
              </a:rPr>
              <a:t>CASE: WAR DOGS</a:t>
            </a:r>
            <a:endParaRPr lang="en-US" sz="4400" dirty="0"/>
          </a:p>
        </p:txBody>
      </p:sp>
      <p:sp>
        <p:nvSpPr>
          <p:cNvPr id="6" name="Text 4"/>
          <p:cNvSpPr txBox="1"/>
          <p:nvPr/>
        </p:nvSpPr>
        <p:spPr>
          <a:xfrm>
            <a:off x="1234440" y="2743200"/>
            <a:ext cx="5760720" cy="731520"/>
          </a:xfrm>
          <a:prstGeom prst="rect">
            <a:avLst/>
          </a:prstGeom>
          <a:noFill/>
          <a:ln/>
        </p:spPr>
        <p:txBody>
          <a:bodyPr wrap="square" lIns="0" tIns="0" rIns="0" bIns="0" rtlCol="0" anchor="t"/>
          <a:lstStyle/>
          <a:p>
            <a:pPr indent="0" marL="0">
              <a:buNone/>
            </a:pPr>
            <a:r>
              <a:rPr lang="en-US" sz="1700" i="1" dirty="0">
                <a:solidFill>
                  <a:srgbClr val="5E6670"/>
                </a:solidFill>
              </a:rPr>
              <a:t>The arms deal that turned two young men into an organized criminal enterprise</a:t>
            </a:r>
            <a:endParaRPr lang="en-US" sz="1700" dirty="0"/>
          </a:p>
        </p:txBody>
      </p:sp>
      <p:sp>
        <p:nvSpPr>
          <p:cNvPr id="7" name="Text 5"/>
          <p:cNvSpPr txBox="1"/>
          <p:nvPr/>
        </p:nvSpPr>
        <p:spPr>
          <a:xfrm>
            <a:off x="1234440" y="3566160"/>
            <a:ext cx="2011680" cy="256032"/>
          </a:xfrm>
          <a:prstGeom prst="rect">
            <a:avLst/>
          </a:prstGeom>
          <a:noFill/>
          <a:ln/>
        </p:spPr>
        <p:txBody>
          <a:bodyPr wrap="square" lIns="0" tIns="0" rIns="0" bIns="0" rtlCol="0" anchor="ctr"/>
          <a:lstStyle/>
          <a:p>
            <a:pPr indent="0" marL="0">
              <a:buNone/>
            </a:pPr>
            <a:r>
              <a:rPr lang="en-US" sz="1000" b="1" spc="100" kern="0" dirty="0">
                <a:solidFill>
                  <a:srgbClr val="5E6670"/>
                </a:solidFill>
                <a:latin typeface="Courier New" pitchFamily="34" charset="0"/>
                <a:ea typeface="Courier New" pitchFamily="34" charset="-122"/>
                <a:cs typeface="Courier New" pitchFamily="34" charset="-120"/>
              </a:rPr>
              <a:t>SUBJECT FILM</a:t>
            </a:r>
            <a:endParaRPr lang="en-US" sz="1000" dirty="0"/>
          </a:p>
        </p:txBody>
      </p:sp>
      <p:sp>
        <p:nvSpPr>
          <p:cNvPr id="8" name="Text 6"/>
          <p:cNvSpPr txBox="1"/>
          <p:nvPr/>
        </p:nvSpPr>
        <p:spPr>
          <a:xfrm>
            <a:off x="3108960" y="3520440"/>
            <a:ext cx="3931920" cy="347472"/>
          </a:xfrm>
          <a:prstGeom prst="rect">
            <a:avLst/>
          </a:prstGeom>
          <a:noFill/>
          <a:ln/>
        </p:spPr>
        <p:txBody>
          <a:bodyPr wrap="square" lIns="0" tIns="0" rIns="0" bIns="0" rtlCol="0" anchor="ctr"/>
          <a:lstStyle/>
          <a:p>
            <a:pPr indent="0" marL="0">
              <a:buNone/>
            </a:pPr>
            <a:r>
              <a:rPr lang="en-US" sz="1400" dirty="0">
                <a:solidFill>
                  <a:srgbClr val="1E2A3A"/>
                </a:solidFill>
              </a:rPr>
              <a:t>War Dogs (2016), dir. Todd Phillips</a:t>
            </a:r>
            <a:endParaRPr lang="en-US" sz="1400" dirty="0"/>
          </a:p>
        </p:txBody>
      </p:sp>
      <p:sp>
        <p:nvSpPr>
          <p:cNvPr id="9" name="Shape 7"/>
          <p:cNvSpPr/>
          <p:nvPr/>
        </p:nvSpPr>
        <p:spPr>
          <a:xfrm>
            <a:off x="1234440" y="3913632"/>
            <a:ext cx="5760720" cy="0"/>
          </a:xfrm>
          <a:prstGeom prst="line">
            <a:avLst/>
          </a:prstGeom>
          <a:noFill/>
          <a:ln w="9525">
            <a:solidFill>
              <a:srgbClr val="CFC5AE"/>
            </a:solidFill>
            <a:prstDash val="dash"/>
          </a:ln>
        </p:spPr>
      </p:sp>
      <p:sp>
        <p:nvSpPr>
          <p:cNvPr id="10" name="Text 8"/>
          <p:cNvSpPr txBox="1"/>
          <p:nvPr/>
        </p:nvSpPr>
        <p:spPr>
          <a:xfrm>
            <a:off x="1234440" y="4114800"/>
            <a:ext cx="2011680" cy="256032"/>
          </a:xfrm>
          <a:prstGeom prst="rect">
            <a:avLst/>
          </a:prstGeom>
          <a:noFill/>
          <a:ln/>
        </p:spPr>
        <p:txBody>
          <a:bodyPr wrap="square" lIns="0" tIns="0" rIns="0" bIns="0" rtlCol="0" anchor="ctr"/>
          <a:lstStyle/>
          <a:p>
            <a:pPr indent="0" marL="0">
              <a:buNone/>
            </a:pPr>
            <a:r>
              <a:rPr lang="en-US" sz="1000" b="1" spc="100" kern="0" dirty="0">
                <a:solidFill>
                  <a:srgbClr val="5E6670"/>
                </a:solidFill>
                <a:latin typeface="Courier New" pitchFamily="34" charset="0"/>
                <a:ea typeface="Courier New" pitchFamily="34" charset="-122"/>
                <a:cs typeface="Courier New" pitchFamily="34" charset="-120"/>
              </a:rPr>
              <a:t>INVESTIGATED BY</a:t>
            </a:r>
            <a:endParaRPr lang="en-US" sz="1000" dirty="0"/>
          </a:p>
        </p:txBody>
      </p:sp>
      <p:sp>
        <p:nvSpPr>
          <p:cNvPr id="11" name="Text 9"/>
          <p:cNvSpPr txBox="1"/>
          <p:nvPr/>
        </p:nvSpPr>
        <p:spPr>
          <a:xfrm>
            <a:off x="3108960" y="4069080"/>
            <a:ext cx="3931920" cy="347472"/>
          </a:xfrm>
          <a:prstGeom prst="rect">
            <a:avLst/>
          </a:prstGeom>
          <a:noFill/>
          <a:ln/>
        </p:spPr>
        <p:txBody>
          <a:bodyPr wrap="square" lIns="0" tIns="0" rIns="0" bIns="0" rtlCol="0" anchor="ctr"/>
          <a:lstStyle/>
          <a:p>
            <a:pPr indent="0" marL="0">
              <a:buNone/>
            </a:pPr>
            <a:r>
              <a:rPr lang="en-US" sz="1400" dirty="0">
                <a:solidFill>
                  <a:srgbClr val="1E2A3A"/>
                </a:solidFill>
              </a:rPr>
              <a:t>Group 6: Rolls 27, 8, 37, 33, 24, 21</a:t>
            </a:r>
            <a:endParaRPr lang="en-US" sz="1400" dirty="0"/>
          </a:p>
        </p:txBody>
      </p:sp>
      <p:sp>
        <p:nvSpPr>
          <p:cNvPr id="12" name="Shape 10"/>
          <p:cNvSpPr/>
          <p:nvPr/>
        </p:nvSpPr>
        <p:spPr>
          <a:xfrm>
            <a:off x="1234440" y="4462272"/>
            <a:ext cx="5760720" cy="0"/>
          </a:xfrm>
          <a:prstGeom prst="line">
            <a:avLst/>
          </a:prstGeom>
          <a:noFill/>
          <a:ln w="9525">
            <a:solidFill>
              <a:srgbClr val="CFC5AE"/>
            </a:solidFill>
            <a:prstDash val="dash"/>
          </a:ln>
        </p:spPr>
      </p:sp>
      <p:sp>
        <p:nvSpPr>
          <p:cNvPr id="13" name="Text 11"/>
          <p:cNvSpPr txBox="1"/>
          <p:nvPr/>
        </p:nvSpPr>
        <p:spPr>
          <a:xfrm>
            <a:off x="1234440" y="4663440"/>
            <a:ext cx="2011680" cy="256032"/>
          </a:xfrm>
          <a:prstGeom prst="rect">
            <a:avLst/>
          </a:prstGeom>
          <a:noFill/>
          <a:ln/>
        </p:spPr>
        <p:txBody>
          <a:bodyPr wrap="square" lIns="0" tIns="0" rIns="0" bIns="0" rtlCol="0" anchor="ctr"/>
          <a:lstStyle/>
          <a:p>
            <a:pPr indent="0" marL="0">
              <a:buNone/>
            </a:pPr>
            <a:r>
              <a:rPr lang="en-US" sz="1000" b="1" spc="100" kern="0" dirty="0">
                <a:solidFill>
                  <a:srgbClr val="5E6670"/>
                </a:solidFill>
                <a:latin typeface="Courier New" pitchFamily="34" charset="0"/>
                <a:ea typeface="Courier New" pitchFamily="34" charset="-122"/>
                <a:cs typeface="Courier New" pitchFamily="34" charset="-120"/>
              </a:rPr>
              <a:t>UNIT</a:t>
            </a:r>
            <a:endParaRPr lang="en-US" sz="1000" dirty="0"/>
          </a:p>
        </p:txBody>
      </p:sp>
      <p:sp>
        <p:nvSpPr>
          <p:cNvPr id="14" name="Text 12"/>
          <p:cNvSpPr txBox="1"/>
          <p:nvPr/>
        </p:nvSpPr>
        <p:spPr>
          <a:xfrm>
            <a:off x="3108960" y="4617720"/>
            <a:ext cx="3931920" cy="347472"/>
          </a:xfrm>
          <a:prstGeom prst="rect">
            <a:avLst/>
          </a:prstGeom>
          <a:noFill/>
          <a:ln/>
        </p:spPr>
        <p:txBody>
          <a:bodyPr wrap="square" lIns="0" tIns="0" rIns="0" bIns="0" rtlCol="0" anchor="ctr"/>
          <a:lstStyle/>
          <a:p>
            <a:pPr indent="0" marL="0">
              <a:buNone/>
            </a:pPr>
            <a:r>
              <a:rPr lang="en-US" sz="1400" dirty="0">
                <a:solidFill>
                  <a:srgbClr val="1E2A3A"/>
                </a:solidFill>
              </a:rPr>
              <a:t>Dept. of Criminology, University of Dhaka</a:t>
            </a:r>
            <a:endParaRPr lang="en-US" sz="1400" dirty="0"/>
          </a:p>
        </p:txBody>
      </p:sp>
      <p:sp>
        <p:nvSpPr>
          <p:cNvPr id="15" name="Shape 13"/>
          <p:cNvSpPr/>
          <p:nvPr/>
        </p:nvSpPr>
        <p:spPr>
          <a:xfrm>
            <a:off x="1234440" y="5010912"/>
            <a:ext cx="5760720" cy="0"/>
          </a:xfrm>
          <a:prstGeom prst="line">
            <a:avLst/>
          </a:prstGeom>
          <a:noFill/>
          <a:ln w="9525">
            <a:solidFill>
              <a:srgbClr val="CFC5AE"/>
            </a:solidFill>
            <a:prstDash val="dash"/>
          </a:ln>
        </p:spPr>
      </p:sp>
      <p:sp>
        <p:nvSpPr>
          <p:cNvPr id="16" name="stamp"/>
          <p:cNvSpPr txBox="1"/>
          <p:nvPr/>
        </p:nvSpPr>
        <p:spPr>
          <a:xfrm rot="-720000">
            <a:off x="7818120" y="1828800"/>
            <a:ext cx="3649980" cy="777240"/>
          </a:xfrm>
          <a:prstGeom prst="rect">
            <a:avLst/>
          </a:prstGeom>
          <a:noFill/>
          <a:ln w="38100">
            <a:solidFill>
              <a:srgbClr val="B3261E"/>
            </a:solidFill>
          </a:ln>
        </p:spPr>
        <p:txBody>
          <a:bodyPr wrap="square" lIns="0" tIns="0" rIns="0" bIns="0" rtlCol="0" anchor="ctr"/>
          <a:lstStyle/>
          <a:p>
            <a:pPr algn="ctr" indent="0" marL="0">
              <a:buNone/>
            </a:pPr>
            <a:r>
              <a:rPr lang="en-US" sz="3000" b="1" spc="100" kern="0" dirty="0">
                <a:solidFill>
                  <a:srgbClr val="B3261E"/>
                </a:solidFill>
                <a:latin typeface="Courier New" pitchFamily="34" charset="0"/>
                <a:ea typeface="Courier New" pitchFamily="34" charset="-122"/>
                <a:cs typeface="Courier New" pitchFamily="34" charset="-120"/>
              </a:rPr>
              <a:t>CLASSIFIED</a:t>
            </a:r>
            <a:endParaRPr lang="en-US" sz="3000" dirty="0"/>
          </a:p>
        </p:txBody>
      </p:sp>
      <p:sp>
        <p:nvSpPr>
          <p:cNvPr id="17" name="stamp"/>
          <p:cNvSpPr txBox="1"/>
          <p:nvPr/>
        </p:nvSpPr>
        <p:spPr>
          <a:xfrm rot="-360000">
            <a:off x="8001000" y="3017520"/>
            <a:ext cx="3459480" cy="502920"/>
          </a:xfrm>
          <a:prstGeom prst="rect">
            <a:avLst/>
          </a:prstGeom>
          <a:noFill/>
          <a:ln w="38100">
            <a:solidFill>
              <a:srgbClr val="1F3A5F"/>
            </a:solidFill>
          </a:ln>
        </p:spPr>
        <p:txBody>
          <a:bodyPr wrap="square" lIns="0" tIns="0" rIns="0" bIns="0" rtlCol="0" anchor="ctr"/>
          <a:lstStyle/>
          <a:p>
            <a:pPr algn="ctr" indent="0" marL="0">
              <a:buNone/>
            </a:pPr>
            <a:r>
              <a:rPr lang="en-US" sz="1600" b="1" spc="100" kern="0" dirty="0">
                <a:solidFill>
                  <a:srgbClr val="1F3A5F"/>
                </a:solidFill>
                <a:latin typeface="Courier New" pitchFamily="34" charset="0"/>
                <a:ea typeface="Courier New" pitchFamily="34" charset="-122"/>
                <a:cs typeface="Courier New" pitchFamily="34" charset="-120"/>
              </a:rPr>
              <a:t>FOR CLASS REVIEW</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file tag"/>
          <p:cNvSpPr txBox="1"/>
          <p:nvPr/>
        </p:nvSpPr>
        <p:spPr>
          <a:xfrm>
            <a:off x="868680" y="329184"/>
            <a:ext cx="10637215" cy="274320"/>
          </a:xfrm>
          <a:prstGeom prst="rect">
            <a:avLst/>
          </a:prstGeom>
          <a:noFill/>
          <a:ln/>
        </p:spPr>
        <p:txBody>
          <a:bodyPr wrap="square" lIns="0" tIns="0" rIns="0" bIns="0" rtlCol="0" anchor="ctr"/>
          <a:lstStyle/>
          <a:p>
            <a:pPr indent="0" marL="0">
              <a:buNone/>
            </a:pPr>
            <a:r>
              <a:rPr lang="en-US" sz="1200" b="1" spc="200" kern="0" dirty="0">
                <a:solidFill>
                  <a:srgbClr val="B3261E"/>
                </a:solidFill>
                <a:latin typeface="Courier New" pitchFamily="34" charset="0"/>
                <a:ea typeface="Courier New" pitchFamily="34" charset="-122"/>
                <a:cs typeface="Courier New" pitchFamily="34" charset="-120"/>
              </a:rPr>
              <a:t>PAGE 01  ·  CASE SUMMARY</a:t>
            </a:r>
            <a:endParaRPr lang="en-US" sz="1200" dirty="0"/>
          </a:p>
        </p:txBody>
      </p:sp>
      <p:sp>
        <p:nvSpPr>
          <p:cNvPr id="3" name="Text 0"/>
          <p:cNvSpPr/>
          <p:nvPr>
            <p:ph idx="100" type="title" hasCustomPrompt="1"/>
          </p:nvPr>
        </p:nvSpPr>
        <p:spPr>
          <a:xfrm>
            <a:off x="868680" y="658368"/>
            <a:ext cx="10637215" cy="658368"/>
          </a:xfrm>
          <a:prstGeom prst="rect">
            <a:avLst/>
          </a:prstGeom>
          <a:noFill/>
          <a:ln/>
        </p:spPr>
        <p:txBody>
          <a:bodyPr wrap="square" lIns="0" tIns="0" rIns="0" bIns="0" rtlCol="0" anchor="ctr"/>
          <a:lstStyle/>
          <a:p>
            <a:pPr algn="l" indent="0" marL="0">
              <a:buNone/>
            </a:pPr>
            <a:r>
              <a:rPr lang="en-US" sz="2800" b="1" dirty="0">
                <a:solidFill>
                  <a:schemeClr val="tx1"/>
                </a:solidFill>
              </a:rPr>
              <a:t>Case summary: a true story filed under comedy</a:t>
            </a:r>
            <a:endParaRPr lang="en-US" sz="2800" dirty="0"/>
          </a:p>
        </p:txBody>
      </p:sp>
      <p:sp>
        <p:nvSpPr>
          <p:cNvPr id="4" name="summary sheet"/>
          <p:cNvSpPr/>
          <p:nvPr/>
        </p:nvSpPr>
        <p:spPr>
          <a:xfrm>
            <a:off x="868680" y="1508760"/>
            <a:ext cx="5486400" cy="4389120"/>
          </a:xfrm>
          <a:prstGeom prst="rect">
            <a:avLst/>
          </a:prstGeom>
          <a:solidFill>
            <a:srgbClr val="FFFDF7"/>
          </a:solidFill>
          <a:ln w="12700">
            <a:solidFill>
              <a:srgbClr val="CFC5AE"/>
            </a:solidFill>
            <a:prstDash val="solid"/>
          </a:ln>
          <a:effectLst>
            <a:outerShdw sx="100000" sy="100000" kx="0" ky="0" algn="bl" rotWithShape="0" blurRad="63500" dist="25400" dir="5400000">
              <a:srgbClr val="000000">
                <a:alpha val="15000"/>
              </a:srgbClr>
            </a:outerShdw>
          </a:effectLst>
        </p:spPr>
      </p:sp>
      <p:sp>
        <p:nvSpPr>
          <p:cNvPr id="5" name="Text 3"/>
          <p:cNvSpPr txBox="1"/>
          <p:nvPr/>
        </p:nvSpPr>
        <p:spPr>
          <a:xfrm>
            <a:off x="1143000" y="1645920"/>
            <a:ext cx="4572000" cy="256032"/>
          </a:xfrm>
          <a:prstGeom prst="rect">
            <a:avLst/>
          </a:prstGeom>
          <a:noFill/>
          <a:ln/>
        </p:spPr>
        <p:txBody>
          <a:bodyPr wrap="square" lIns="0" tIns="0" rIns="0" bIns="0" rtlCol="0" anchor="ctr"/>
          <a:lstStyle/>
          <a:p>
            <a:pPr indent="0" marL="0">
              <a:buNone/>
            </a:pPr>
            <a:r>
              <a:rPr lang="en-US" sz="1100" b="1" spc="100" kern="0" dirty="0">
                <a:solidFill>
                  <a:srgbClr val="B3261E"/>
                </a:solidFill>
                <a:latin typeface="Courier New" pitchFamily="34" charset="0"/>
                <a:ea typeface="Courier New" pitchFamily="34" charset="-122"/>
                <a:cs typeface="Courier New" pitchFamily="34" charset="-120"/>
              </a:rPr>
              <a:t>FILM DETAILS</a:t>
            </a:r>
            <a:endParaRPr lang="en-US" sz="1100" dirty="0"/>
          </a:p>
        </p:txBody>
      </p:sp>
      <p:sp>
        <p:nvSpPr>
          <p:cNvPr id="6" name="Text 4"/>
          <p:cNvSpPr txBox="1"/>
          <p:nvPr/>
        </p:nvSpPr>
        <p:spPr>
          <a:xfrm>
            <a:off x="1143000" y="2011680"/>
            <a:ext cx="1234440" cy="411480"/>
          </a:xfrm>
          <a:prstGeom prst="rect">
            <a:avLst/>
          </a:prstGeom>
          <a:noFill/>
          <a:ln/>
        </p:spPr>
        <p:txBody>
          <a:bodyPr wrap="square" lIns="0" tIns="0" rIns="0" bIns="0" rtlCol="0" anchor="ctr"/>
          <a:lstStyle/>
          <a:p>
            <a:pPr indent="0" marL="0">
              <a:buNone/>
            </a:pPr>
            <a:r>
              <a:rPr lang="en-US" sz="1000" b="1" dirty="0">
                <a:solidFill>
                  <a:srgbClr val="5E6670"/>
                </a:solidFill>
                <a:latin typeface="Courier New" pitchFamily="34" charset="0"/>
                <a:ea typeface="Courier New" pitchFamily="34" charset="-122"/>
                <a:cs typeface="Courier New" pitchFamily="34" charset="-120"/>
              </a:rPr>
              <a:t>TITLE</a:t>
            </a:r>
            <a:endParaRPr lang="en-US" sz="1000" dirty="0"/>
          </a:p>
        </p:txBody>
      </p:sp>
      <p:sp>
        <p:nvSpPr>
          <p:cNvPr id="7" name="Text 5"/>
          <p:cNvSpPr txBox="1"/>
          <p:nvPr/>
        </p:nvSpPr>
        <p:spPr>
          <a:xfrm>
            <a:off x="2423160" y="2011680"/>
            <a:ext cx="3703320" cy="411480"/>
          </a:xfrm>
          <a:prstGeom prst="rect">
            <a:avLst/>
          </a:prstGeom>
          <a:noFill/>
          <a:ln/>
        </p:spPr>
        <p:txBody>
          <a:bodyPr wrap="square" lIns="0" tIns="0" rIns="0" bIns="0" rtlCol="0" anchor="ctr"/>
          <a:lstStyle/>
          <a:p>
            <a:pPr indent="0" marL="0">
              <a:buNone/>
            </a:pPr>
            <a:r>
              <a:rPr lang="en-US" sz="1400" dirty="0">
                <a:solidFill>
                  <a:srgbClr val="1E2A3A"/>
                </a:solidFill>
              </a:rPr>
              <a:t>War Dogs (2016)</a:t>
            </a:r>
            <a:endParaRPr lang="en-US" sz="1400" dirty="0"/>
          </a:p>
        </p:txBody>
      </p:sp>
      <p:sp>
        <p:nvSpPr>
          <p:cNvPr id="8" name="Text 6"/>
          <p:cNvSpPr txBox="1"/>
          <p:nvPr/>
        </p:nvSpPr>
        <p:spPr>
          <a:xfrm>
            <a:off x="1143000" y="2487168"/>
            <a:ext cx="1234440" cy="411480"/>
          </a:xfrm>
          <a:prstGeom prst="rect">
            <a:avLst/>
          </a:prstGeom>
          <a:noFill/>
          <a:ln/>
        </p:spPr>
        <p:txBody>
          <a:bodyPr wrap="square" lIns="0" tIns="0" rIns="0" bIns="0" rtlCol="0" anchor="ctr"/>
          <a:lstStyle/>
          <a:p>
            <a:pPr indent="0" marL="0">
              <a:buNone/>
            </a:pPr>
            <a:r>
              <a:rPr lang="en-US" sz="1000" b="1" dirty="0">
                <a:solidFill>
                  <a:srgbClr val="5E6670"/>
                </a:solidFill>
                <a:latin typeface="Courier New" pitchFamily="34" charset="0"/>
                <a:ea typeface="Courier New" pitchFamily="34" charset="-122"/>
                <a:cs typeface="Courier New" pitchFamily="34" charset="-120"/>
              </a:rPr>
              <a:t>DIRECTOR</a:t>
            </a:r>
            <a:endParaRPr lang="en-US" sz="1000" dirty="0"/>
          </a:p>
        </p:txBody>
      </p:sp>
      <p:sp>
        <p:nvSpPr>
          <p:cNvPr id="9" name="Text 7"/>
          <p:cNvSpPr txBox="1"/>
          <p:nvPr/>
        </p:nvSpPr>
        <p:spPr>
          <a:xfrm>
            <a:off x="2423160" y="2487168"/>
            <a:ext cx="3703320" cy="411480"/>
          </a:xfrm>
          <a:prstGeom prst="rect">
            <a:avLst/>
          </a:prstGeom>
          <a:noFill/>
          <a:ln/>
        </p:spPr>
        <p:txBody>
          <a:bodyPr wrap="square" lIns="0" tIns="0" rIns="0" bIns="0" rtlCol="0" anchor="ctr"/>
          <a:lstStyle/>
          <a:p>
            <a:pPr indent="0" marL="0">
              <a:buNone/>
            </a:pPr>
            <a:r>
              <a:rPr lang="en-US" sz="1400" dirty="0">
                <a:solidFill>
                  <a:srgbClr val="1E2A3A"/>
                </a:solidFill>
              </a:rPr>
              <a:t>Todd Phillips · Warner Bros.</a:t>
            </a:r>
            <a:endParaRPr lang="en-US" sz="1400" dirty="0"/>
          </a:p>
        </p:txBody>
      </p:sp>
      <p:sp>
        <p:nvSpPr>
          <p:cNvPr id="10" name="Text 8"/>
          <p:cNvSpPr txBox="1"/>
          <p:nvPr/>
        </p:nvSpPr>
        <p:spPr>
          <a:xfrm>
            <a:off x="1143000" y="2962656"/>
            <a:ext cx="1234440" cy="411480"/>
          </a:xfrm>
          <a:prstGeom prst="rect">
            <a:avLst/>
          </a:prstGeom>
          <a:noFill/>
          <a:ln/>
        </p:spPr>
        <p:txBody>
          <a:bodyPr wrap="square" lIns="0" tIns="0" rIns="0" bIns="0" rtlCol="0" anchor="ctr"/>
          <a:lstStyle/>
          <a:p>
            <a:pPr indent="0" marL="0">
              <a:buNone/>
            </a:pPr>
            <a:r>
              <a:rPr lang="en-US" sz="1000" b="1" dirty="0">
                <a:solidFill>
                  <a:srgbClr val="5E6670"/>
                </a:solidFill>
                <a:latin typeface="Courier New" pitchFamily="34" charset="0"/>
                <a:ea typeface="Courier New" pitchFamily="34" charset="-122"/>
                <a:cs typeface="Courier New" pitchFamily="34" charset="-120"/>
              </a:rPr>
              <a:t>GENRE</a:t>
            </a:r>
            <a:endParaRPr lang="en-US" sz="1000" dirty="0"/>
          </a:p>
        </p:txBody>
      </p:sp>
      <p:sp>
        <p:nvSpPr>
          <p:cNvPr id="11" name="Text 9"/>
          <p:cNvSpPr txBox="1"/>
          <p:nvPr/>
        </p:nvSpPr>
        <p:spPr>
          <a:xfrm>
            <a:off x="2423160" y="2962656"/>
            <a:ext cx="3703320" cy="411480"/>
          </a:xfrm>
          <a:prstGeom prst="rect">
            <a:avLst/>
          </a:prstGeom>
          <a:noFill/>
          <a:ln/>
        </p:spPr>
        <p:txBody>
          <a:bodyPr wrap="square" lIns="0" tIns="0" rIns="0" bIns="0" rtlCol="0" anchor="ctr"/>
          <a:lstStyle/>
          <a:p>
            <a:pPr indent="0" marL="0">
              <a:buNone/>
            </a:pPr>
            <a:r>
              <a:rPr lang="en-US" sz="1400" dirty="0">
                <a:solidFill>
                  <a:srgbClr val="1E2A3A"/>
                </a:solidFill>
              </a:rPr>
              <a:t>Crime comedy-drama, based on true events</a:t>
            </a:r>
            <a:endParaRPr lang="en-US" sz="1400" dirty="0"/>
          </a:p>
        </p:txBody>
      </p:sp>
      <p:sp>
        <p:nvSpPr>
          <p:cNvPr id="12" name="Text 10"/>
          <p:cNvSpPr txBox="1"/>
          <p:nvPr/>
        </p:nvSpPr>
        <p:spPr>
          <a:xfrm>
            <a:off x="1143000" y="3438144"/>
            <a:ext cx="1234440" cy="411480"/>
          </a:xfrm>
          <a:prstGeom prst="rect">
            <a:avLst/>
          </a:prstGeom>
          <a:noFill/>
          <a:ln/>
        </p:spPr>
        <p:txBody>
          <a:bodyPr wrap="square" lIns="0" tIns="0" rIns="0" bIns="0" rtlCol="0" anchor="ctr"/>
          <a:lstStyle/>
          <a:p>
            <a:pPr indent="0" marL="0">
              <a:buNone/>
            </a:pPr>
            <a:r>
              <a:rPr lang="en-US" sz="1000" b="1" dirty="0">
                <a:solidFill>
                  <a:srgbClr val="5E6670"/>
                </a:solidFill>
                <a:latin typeface="Courier New" pitchFamily="34" charset="0"/>
                <a:ea typeface="Courier New" pitchFamily="34" charset="-122"/>
                <a:cs typeface="Courier New" pitchFamily="34" charset="-120"/>
              </a:rPr>
              <a:t>STARRING</a:t>
            </a:r>
            <a:endParaRPr lang="en-US" sz="1000" dirty="0"/>
          </a:p>
        </p:txBody>
      </p:sp>
      <p:sp>
        <p:nvSpPr>
          <p:cNvPr id="13" name="Text 11"/>
          <p:cNvSpPr txBox="1"/>
          <p:nvPr/>
        </p:nvSpPr>
        <p:spPr>
          <a:xfrm>
            <a:off x="2423160" y="3438144"/>
            <a:ext cx="3703320" cy="411480"/>
          </a:xfrm>
          <a:prstGeom prst="rect">
            <a:avLst/>
          </a:prstGeom>
          <a:noFill/>
          <a:ln/>
        </p:spPr>
        <p:txBody>
          <a:bodyPr wrap="square" lIns="0" tIns="0" rIns="0" bIns="0" rtlCol="0" anchor="ctr"/>
          <a:lstStyle/>
          <a:p>
            <a:pPr indent="0" marL="0">
              <a:buNone/>
            </a:pPr>
            <a:r>
              <a:rPr lang="en-US" sz="1400" dirty="0">
                <a:solidFill>
                  <a:srgbClr val="1E2A3A"/>
                </a:solidFill>
              </a:rPr>
              <a:t>Jonah Hill, Miles Teller, Ana de Armas, Bradley Cooper</a:t>
            </a:r>
            <a:endParaRPr lang="en-US" sz="1400" dirty="0"/>
          </a:p>
        </p:txBody>
      </p:sp>
      <p:sp>
        <p:nvSpPr>
          <p:cNvPr id="14" name="Text 12"/>
          <p:cNvSpPr txBox="1"/>
          <p:nvPr/>
        </p:nvSpPr>
        <p:spPr>
          <a:xfrm>
            <a:off x="1143000" y="3913632"/>
            <a:ext cx="1234440" cy="411480"/>
          </a:xfrm>
          <a:prstGeom prst="rect">
            <a:avLst/>
          </a:prstGeom>
          <a:noFill/>
          <a:ln/>
        </p:spPr>
        <p:txBody>
          <a:bodyPr wrap="square" lIns="0" tIns="0" rIns="0" bIns="0" rtlCol="0" anchor="ctr"/>
          <a:lstStyle/>
          <a:p>
            <a:pPr indent="0" marL="0">
              <a:buNone/>
            </a:pPr>
            <a:r>
              <a:rPr lang="en-US" sz="1000" b="1" dirty="0">
                <a:solidFill>
                  <a:srgbClr val="5E6670"/>
                </a:solidFill>
                <a:latin typeface="Courier New" pitchFamily="34" charset="0"/>
                <a:ea typeface="Courier New" pitchFamily="34" charset="-122"/>
                <a:cs typeface="Courier New" pitchFamily="34" charset="-120"/>
              </a:rPr>
              <a:t>SOURCE</a:t>
            </a:r>
            <a:endParaRPr lang="en-US" sz="1000" dirty="0"/>
          </a:p>
        </p:txBody>
      </p:sp>
      <p:sp>
        <p:nvSpPr>
          <p:cNvPr id="15" name="Text 13"/>
          <p:cNvSpPr txBox="1"/>
          <p:nvPr/>
        </p:nvSpPr>
        <p:spPr>
          <a:xfrm>
            <a:off x="2423160" y="3913632"/>
            <a:ext cx="3703320" cy="411480"/>
          </a:xfrm>
          <a:prstGeom prst="rect">
            <a:avLst/>
          </a:prstGeom>
          <a:noFill/>
          <a:ln/>
        </p:spPr>
        <p:txBody>
          <a:bodyPr wrap="square" lIns="0" tIns="0" rIns="0" bIns="0" rtlCol="0" anchor="ctr"/>
          <a:lstStyle/>
          <a:p>
            <a:pPr indent="0" marL="0">
              <a:buNone/>
            </a:pPr>
            <a:r>
              <a:rPr lang="en-US" sz="1400" dirty="0">
                <a:solidFill>
                  <a:srgbClr val="1E2A3A"/>
                </a:solidFill>
              </a:rPr>
              <a:t>Guy Lawson, Rolling Stone (2011); Arms and the Dudes (2015)</a:t>
            </a:r>
            <a:endParaRPr lang="en-US" sz="1400" dirty="0"/>
          </a:p>
        </p:txBody>
      </p:sp>
      <p:sp>
        <p:nvSpPr>
          <p:cNvPr id="16" name="Text 14"/>
          <p:cNvSpPr txBox="1"/>
          <p:nvPr/>
        </p:nvSpPr>
        <p:spPr>
          <a:xfrm>
            <a:off x="1143000" y="4526280"/>
            <a:ext cx="4572000" cy="256032"/>
          </a:xfrm>
          <a:prstGeom prst="rect">
            <a:avLst/>
          </a:prstGeom>
          <a:noFill/>
          <a:ln/>
        </p:spPr>
        <p:txBody>
          <a:bodyPr wrap="square" lIns="0" tIns="0" rIns="0" bIns="0" rtlCol="0" anchor="ctr"/>
          <a:lstStyle/>
          <a:p>
            <a:pPr indent="0" marL="0">
              <a:buNone/>
            </a:pPr>
            <a:r>
              <a:rPr lang="en-US" sz="1100" b="1" spc="100" kern="0" dirty="0">
                <a:solidFill>
                  <a:srgbClr val="B3261E"/>
                </a:solidFill>
                <a:latin typeface="Courier New" pitchFamily="34" charset="0"/>
                <a:ea typeface="Courier New" pitchFamily="34" charset="-122"/>
                <a:cs typeface="Courier New" pitchFamily="34" charset="-120"/>
              </a:rPr>
              <a:t>CENTRAL THEME</a:t>
            </a:r>
            <a:endParaRPr lang="en-US" sz="1100" dirty="0"/>
          </a:p>
        </p:txBody>
      </p:sp>
      <p:sp>
        <p:nvSpPr>
          <p:cNvPr id="17" name="Text 15"/>
          <p:cNvSpPr txBox="1"/>
          <p:nvPr/>
        </p:nvSpPr>
        <p:spPr>
          <a:xfrm>
            <a:off x="1143000" y="4828032"/>
            <a:ext cx="4937760" cy="914400"/>
          </a:xfrm>
          <a:prstGeom prst="rect">
            <a:avLst/>
          </a:prstGeom>
          <a:noFill/>
          <a:ln/>
        </p:spPr>
        <p:txBody>
          <a:bodyPr wrap="square" lIns="0" tIns="0" rIns="0" bIns="0" rtlCol="0" anchor="t"/>
          <a:lstStyle/>
          <a:p>
            <a:pPr indent="0" marL="0">
              <a:buNone/>
            </a:pPr>
            <a:r>
              <a:rPr lang="en-US" sz="1500" dirty="0">
                <a:solidFill>
                  <a:srgbClr val="1E2A3A"/>
                </a:solidFill>
              </a:rPr>
              <a:t>Profiting from war </a:t>
            </a:r>
            <a:pPr indent="0" marL="0">
              <a:buNone/>
            </a:pPr>
            <a:r>
              <a:rPr lang="en-US" sz="1500" dirty="0">
                <a:solidFill>
                  <a:srgbClr val="1E2A3A"/>
                </a:solidFill>
                <a:highlight>
                  <a:srgbClr val="F6E27F"/>
                </a:highlight>
              </a:rPr>
              <a:t>without ever fighting in it</a:t>
            </a:r>
            <a:pPr indent="0" marL="0">
              <a:buNone/>
            </a:pPr>
            <a:r>
              <a:rPr lang="en-US" sz="1500" dirty="0">
                <a:solidFill>
                  <a:srgbClr val="1E2A3A"/>
                </a:solidFill>
              </a:rPr>
              <a:t>: the grey zone where business, state and crime overlap.</a:t>
            </a:r>
            <a:endParaRPr lang="en-US" sz="1500" dirty="0"/>
          </a:p>
        </p:txBody>
      </p:sp>
      <p:sp>
        <p:nvSpPr>
          <p:cNvPr id="18" name="evidence sheet"/>
          <p:cNvSpPr/>
          <p:nvPr/>
        </p:nvSpPr>
        <p:spPr>
          <a:xfrm>
            <a:off x="6675120" y="1508760"/>
            <a:ext cx="4830775" cy="4389120"/>
          </a:xfrm>
          <a:prstGeom prst="rect">
            <a:avLst/>
          </a:prstGeom>
          <a:solidFill>
            <a:srgbClr val="FFFDF7"/>
          </a:solidFill>
          <a:ln w="12700">
            <a:solidFill>
              <a:srgbClr val="CFC5AE"/>
            </a:solidFill>
            <a:prstDash val="solid"/>
          </a:ln>
          <a:effectLst>
            <a:outerShdw sx="100000" sy="100000" kx="0" ky="0" algn="bl" rotWithShape="0" blurRad="63500" dist="25400" dir="5400000">
              <a:srgbClr val="000000">
                <a:alpha val="15000"/>
              </a:srgbClr>
            </a:outerShdw>
          </a:effectLst>
        </p:spPr>
      </p:sp>
      <p:sp>
        <p:nvSpPr>
          <p:cNvPr id="19" name="Text 17"/>
          <p:cNvSpPr txBox="1"/>
          <p:nvPr/>
        </p:nvSpPr>
        <p:spPr>
          <a:xfrm>
            <a:off x="6949440" y="1645920"/>
            <a:ext cx="4282135" cy="256032"/>
          </a:xfrm>
          <a:prstGeom prst="rect">
            <a:avLst/>
          </a:prstGeom>
          <a:noFill/>
          <a:ln/>
        </p:spPr>
        <p:txBody>
          <a:bodyPr wrap="square" lIns="0" tIns="0" rIns="0" bIns="0" rtlCol="0" anchor="ctr"/>
          <a:lstStyle/>
          <a:p>
            <a:pPr indent="0" marL="0">
              <a:buNone/>
            </a:pPr>
            <a:r>
              <a:rPr lang="en-US" sz="1100" b="1" spc="100" kern="0" dirty="0">
                <a:solidFill>
                  <a:srgbClr val="B3261E"/>
                </a:solidFill>
                <a:latin typeface="Courier New" pitchFamily="34" charset="0"/>
                <a:ea typeface="Courier New" pitchFamily="34" charset="-122"/>
                <a:cs typeface="Courier New" pitchFamily="34" charset="-120"/>
              </a:rPr>
              <a:t>KEY EVIDENCE</a:t>
            </a:r>
            <a:endParaRPr lang="en-US" sz="1100" dirty="0"/>
          </a:p>
        </p:txBody>
      </p:sp>
      <p:sp>
        <p:nvSpPr>
          <p:cNvPr id="20" name="Text 18"/>
          <p:cNvSpPr txBox="1"/>
          <p:nvPr/>
        </p:nvSpPr>
        <p:spPr>
          <a:xfrm>
            <a:off x="6949440" y="2057400"/>
            <a:ext cx="4282135" cy="256032"/>
          </a:xfrm>
          <a:prstGeom prst="rect">
            <a:avLst/>
          </a:prstGeom>
          <a:noFill/>
          <a:ln/>
        </p:spPr>
        <p:txBody>
          <a:bodyPr wrap="square" lIns="0" tIns="0" rIns="0" bIns="0" rtlCol="0" anchor="ctr"/>
          <a:lstStyle/>
          <a:p>
            <a:pPr indent="0" marL="0">
              <a:buNone/>
            </a:pPr>
            <a:r>
              <a:rPr lang="en-US" sz="1000" b="1" dirty="0">
                <a:solidFill>
                  <a:srgbClr val="5E6670"/>
                </a:solidFill>
                <a:latin typeface="Courier New" pitchFamily="34" charset="0"/>
                <a:ea typeface="Courier New" pitchFamily="34" charset="-122"/>
                <a:cs typeface="Courier New" pitchFamily="34" charset="-120"/>
              </a:rPr>
              <a:t>CONTRACT VALUE</a:t>
            </a:r>
            <a:endParaRPr lang="en-US" sz="1000" dirty="0"/>
          </a:p>
        </p:txBody>
      </p:sp>
      <p:sp>
        <p:nvSpPr>
          <p:cNvPr id="21" name="Text 19"/>
          <p:cNvSpPr txBox="1"/>
          <p:nvPr/>
        </p:nvSpPr>
        <p:spPr>
          <a:xfrm>
            <a:off x="6949440" y="2331720"/>
            <a:ext cx="4282135" cy="411480"/>
          </a:xfrm>
          <a:prstGeom prst="rect">
            <a:avLst/>
          </a:prstGeom>
          <a:noFill/>
          <a:ln/>
        </p:spPr>
        <p:txBody>
          <a:bodyPr wrap="square" lIns="0" tIns="0" rIns="0" bIns="0" rtlCol="0" anchor="ctr"/>
          <a:lstStyle/>
          <a:p>
            <a:pPr indent="0" marL="0">
              <a:buNone/>
            </a:pPr>
            <a:r>
              <a:rPr lang="en-US" sz="1600" b="1" dirty="0">
                <a:solidFill>
                  <a:srgbClr val="1E2A3A"/>
                </a:solidFill>
              </a:rPr>
              <a:t>$298 million (2007)</a:t>
            </a:r>
            <a:endParaRPr lang="en-US" sz="1600" dirty="0"/>
          </a:p>
        </p:txBody>
      </p:sp>
      <p:sp>
        <p:nvSpPr>
          <p:cNvPr id="22" name="Text 20"/>
          <p:cNvSpPr txBox="1"/>
          <p:nvPr/>
        </p:nvSpPr>
        <p:spPr>
          <a:xfrm>
            <a:off x="6949440" y="2926080"/>
            <a:ext cx="4282135" cy="256032"/>
          </a:xfrm>
          <a:prstGeom prst="rect">
            <a:avLst/>
          </a:prstGeom>
          <a:noFill/>
          <a:ln/>
        </p:spPr>
        <p:txBody>
          <a:bodyPr wrap="square" lIns="0" tIns="0" rIns="0" bIns="0" rtlCol="0" anchor="ctr"/>
          <a:lstStyle/>
          <a:p>
            <a:pPr indent="0" marL="0">
              <a:buNone/>
            </a:pPr>
            <a:r>
              <a:rPr lang="en-US" sz="1000" b="1" dirty="0">
                <a:solidFill>
                  <a:srgbClr val="5E6670"/>
                </a:solidFill>
                <a:latin typeface="Courier New" pitchFamily="34" charset="0"/>
                <a:ea typeface="Courier New" pitchFamily="34" charset="-122"/>
                <a:cs typeface="Courier New" pitchFamily="34" charset="-120"/>
              </a:rPr>
              <a:t>BUYER</a:t>
            </a:r>
            <a:endParaRPr lang="en-US" sz="1000" dirty="0"/>
          </a:p>
        </p:txBody>
      </p:sp>
      <p:sp>
        <p:nvSpPr>
          <p:cNvPr id="23" name="Text 21"/>
          <p:cNvSpPr txBox="1"/>
          <p:nvPr/>
        </p:nvSpPr>
        <p:spPr>
          <a:xfrm>
            <a:off x="6949440" y="3200400"/>
            <a:ext cx="4282135" cy="411480"/>
          </a:xfrm>
          <a:prstGeom prst="rect">
            <a:avLst/>
          </a:prstGeom>
          <a:noFill/>
          <a:ln/>
        </p:spPr>
        <p:txBody>
          <a:bodyPr wrap="square" lIns="0" tIns="0" rIns="0" bIns="0" rtlCol="0" anchor="ctr"/>
          <a:lstStyle/>
          <a:p>
            <a:pPr indent="0" marL="0">
              <a:buNone/>
            </a:pPr>
            <a:r>
              <a:rPr lang="en-US" sz="1600" b="1" dirty="0">
                <a:solidFill>
                  <a:srgbClr val="1E2A3A"/>
                </a:solidFill>
              </a:rPr>
              <a:t>US Army, for the Afghan National Army</a:t>
            </a:r>
            <a:endParaRPr lang="en-US" sz="1600" dirty="0"/>
          </a:p>
        </p:txBody>
      </p:sp>
      <p:sp>
        <p:nvSpPr>
          <p:cNvPr id="24" name="Text 22"/>
          <p:cNvSpPr txBox="1"/>
          <p:nvPr/>
        </p:nvSpPr>
        <p:spPr>
          <a:xfrm>
            <a:off x="6949440" y="3794760"/>
            <a:ext cx="4282135" cy="256032"/>
          </a:xfrm>
          <a:prstGeom prst="rect">
            <a:avLst/>
          </a:prstGeom>
          <a:noFill/>
          <a:ln/>
        </p:spPr>
        <p:txBody>
          <a:bodyPr wrap="square" lIns="0" tIns="0" rIns="0" bIns="0" rtlCol="0" anchor="ctr"/>
          <a:lstStyle/>
          <a:p>
            <a:pPr indent="0" marL="0">
              <a:buNone/>
            </a:pPr>
            <a:r>
              <a:rPr lang="en-US" sz="1000" b="1" dirty="0">
                <a:solidFill>
                  <a:srgbClr val="5E6670"/>
                </a:solidFill>
                <a:latin typeface="Courier New" pitchFamily="34" charset="0"/>
                <a:ea typeface="Courier New" pitchFamily="34" charset="-122"/>
                <a:cs typeface="Courier New" pitchFamily="34" charset="-120"/>
              </a:rPr>
              <a:t>SUPPLIER ORIGIN</a:t>
            </a:r>
            <a:endParaRPr lang="en-US" sz="1000" dirty="0"/>
          </a:p>
        </p:txBody>
      </p:sp>
      <p:sp>
        <p:nvSpPr>
          <p:cNvPr id="25" name="redaction bar"/>
          <p:cNvSpPr/>
          <p:nvPr/>
        </p:nvSpPr>
        <p:spPr>
          <a:xfrm>
            <a:off x="6949440" y="4142232"/>
            <a:ext cx="1737360" cy="274320"/>
          </a:xfrm>
          <a:prstGeom prst="rect">
            <a:avLst/>
          </a:prstGeom>
          <a:solidFill>
            <a:srgbClr val="111111"/>
          </a:solidFill>
          <a:ln/>
        </p:spPr>
      </p:sp>
      <p:sp>
        <p:nvSpPr>
          <p:cNvPr id="26" name="Text 24"/>
          <p:cNvSpPr txBox="1"/>
          <p:nvPr/>
        </p:nvSpPr>
        <p:spPr>
          <a:xfrm>
            <a:off x="8778240" y="4069080"/>
            <a:ext cx="2453335" cy="411480"/>
          </a:xfrm>
          <a:prstGeom prst="rect">
            <a:avLst/>
          </a:prstGeom>
          <a:noFill/>
          <a:ln/>
        </p:spPr>
        <p:txBody>
          <a:bodyPr wrap="square" lIns="0" tIns="0" rIns="0" bIns="0" rtlCol="0" anchor="ctr"/>
          <a:lstStyle/>
          <a:p>
            <a:pPr indent="0" marL="0">
              <a:buNone/>
            </a:pPr>
            <a:r>
              <a:rPr lang="en-US" sz="1400" i="1" dirty="0">
                <a:solidFill>
                  <a:srgbClr val="B3261E"/>
                </a:solidFill>
              </a:rPr>
              <a:t>(later revealed: China)</a:t>
            </a:r>
            <a:endParaRPr lang="en-US" sz="1400" dirty="0"/>
          </a:p>
        </p:txBody>
      </p:sp>
      <p:sp>
        <p:nvSpPr>
          <p:cNvPr id="27" name="Text 25"/>
          <p:cNvSpPr txBox="1"/>
          <p:nvPr/>
        </p:nvSpPr>
        <p:spPr>
          <a:xfrm>
            <a:off x="6949440" y="4663440"/>
            <a:ext cx="4282135" cy="256032"/>
          </a:xfrm>
          <a:prstGeom prst="rect">
            <a:avLst/>
          </a:prstGeom>
          <a:noFill/>
          <a:ln/>
        </p:spPr>
        <p:txBody>
          <a:bodyPr wrap="square" lIns="0" tIns="0" rIns="0" bIns="0" rtlCol="0" anchor="ctr"/>
          <a:lstStyle/>
          <a:p>
            <a:pPr indent="0" marL="0">
              <a:buNone/>
            </a:pPr>
            <a:r>
              <a:rPr lang="en-US" sz="1000" b="1" dirty="0">
                <a:solidFill>
                  <a:srgbClr val="5E6670"/>
                </a:solidFill>
                <a:latin typeface="Courier New" pitchFamily="34" charset="0"/>
                <a:ea typeface="Courier New" pitchFamily="34" charset="-122"/>
                <a:cs typeface="Courier New" pitchFamily="34" charset="-120"/>
              </a:rPr>
              <a:t>OUTCOME</a:t>
            </a:r>
            <a:endParaRPr lang="en-US" sz="1000" dirty="0"/>
          </a:p>
        </p:txBody>
      </p:sp>
      <p:sp>
        <p:nvSpPr>
          <p:cNvPr id="28" name="Text 26"/>
          <p:cNvSpPr txBox="1"/>
          <p:nvPr/>
        </p:nvSpPr>
        <p:spPr>
          <a:xfrm>
            <a:off x="6949440" y="4937760"/>
            <a:ext cx="4282135" cy="411480"/>
          </a:xfrm>
          <a:prstGeom prst="rect">
            <a:avLst/>
          </a:prstGeom>
          <a:noFill/>
          <a:ln/>
        </p:spPr>
        <p:txBody>
          <a:bodyPr wrap="square" lIns="0" tIns="0" rIns="0" bIns="0" rtlCol="0" anchor="ctr"/>
          <a:lstStyle/>
          <a:p>
            <a:pPr indent="0" marL="0">
              <a:buNone/>
            </a:pPr>
            <a:r>
              <a:rPr lang="en-US" sz="1600" b="1" dirty="0">
                <a:solidFill>
                  <a:srgbClr val="1E2A3A"/>
                </a:solidFill>
              </a:rPr>
              <a:t>4 yrs prison · 7 months house arrest</a:t>
            </a:r>
            <a:endParaRPr lang="en-US" sz="1600" dirty="0"/>
          </a:p>
        </p:txBody>
      </p:sp>
      <p:sp>
        <p:nvSpPr>
          <p:cNvPr id="29" name="stamp"/>
          <p:cNvSpPr txBox="1"/>
          <p:nvPr/>
        </p:nvSpPr>
        <p:spPr>
          <a:xfrm rot="-540000">
            <a:off x="9357055" y="5166360"/>
            <a:ext cx="2316480" cy="457200"/>
          </a:xfrm>
          <a:prstGeom prst="rect">
            <a:avLst/>
          </a:prstGeom>
          <a:noFill/>
          <a:ln w="38100">
            <a:solidFill>
              <a:srgbClr val="B3261E"/>
            </a:solidFill>
          </a:ln>
        </p:spPr>
        <p:txBody>
          <a:bodyPr wrap="square" lIns="0" tIns="0" rIns="0" bIns="0" rtlCol="0" anchor="ctr"/>
          <a:lstStyle/>
          <a:p>
            <a:pPr algn="ctr" indent="0" marL="0">
              <a:buNone/>
            </a:pPr>
            <a:r>
              <a:rPr lang="en-US" sz="1600" b="1" spc="100" kern="0" dirty="0">
                <a:solidFill>
                  <a:srgbClr val="B3261E"/>
                </a:solidFill>
                <a:latin typeface="Courier New" pitchFamily="34" charset="0"/>
                <a:ea typeface="Courier New" pitchFamily="34" charset="-122"/>
                <a:cs typeface="Courier New" pitchFamily="34" charset="-120"/>
              </a:rPr>
              <a:t>TRUE STORY</a:t>
            </a:r>
            <a:endParaRPr lang="en-US" sz="1600" dirty="0"/>
          </a:p>
        </p:txBody>
      </p:sp>
      <p:sp>
        <p:nvSpPr>
          <p:cNvPr id="30" name="Text 28"/>
          <p:cNvSpPr txBox="1"/>
          <p:nvPr/>
        </p:nvSpPr>
        <p:spPr>
          <a:xfrm>
            <a:off x="868680" y="6089904"/>
            <a:ext cx="8503920" cy="219456"/>
          </a:xfrm>
          <a:prstGeom prst="rect">
            <a:avLst/>
          </a:prstGeom>
          <a:noFill/>
          <a:ln/>
        </p:spPr>
        <p:txBody>
          <a:bodyPr wrap="square" lIns="0" tIns="0" rIns="0" bIns="0" rtlCol="0" anchor="ctr"/>
          <a:lstStyle/>
          <a:p>
            <a:pPr indent="0" marL="0">
              <a:buNone/>
            </a:pPr>
            <a:r>
              <a:rPr lang="en-US" sz="1000" i="1" dirty="0">
                <a:solidFill>
                  <a:srgbClr val="8A8170"/>
                </a:solidFill>
              </a:rPr>
              <a:t>Sources: Phillips (2016); Lawson (2011, 2015).</a:t>
            </a:r>
            <a:endParaRPr lang="en-US" sz="1000" dirty="0"/>
          </a:p>
        </p:txBody>
      </p:sp>
      <p:sp>
        <p:nvSpPr>
          <p:cNvPr id="25" name="Slide Number Placeholder 0"/>
          <p:cNvSpPr>
            <a:spLocks noGrp="1"/>
          </p:cNvSpPr>
          <p:nvPr>
            <p:ph type="sldNum" sz="quarter" idx="4294967295"/>
          </p:nvPr>
        </p:nvSpPr>
        <p:spPr>
          <a:xfrm>
            <a:off x="8503920" y="6382512"/>
            <a:ext cx="82296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8A8170"/>
                </a:solidFill>
                <a:latin typeface="Courier New"/>
                <a:ea typeface="Courier New"/>
                <a:cs typeface="Courier New"/>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file tag"/>
          <p:cNvSpPr txBox="1"/>
          <p:nvPr/>
        </p:nvSpPr>
        <p:spPr>
          <a:xfrm>
            <a:off x="868680" y="329184"/>
            <a:ext cx="10637215" cy="274320"/>
          </a:xfrm>
          <a:prstGeom prst="rect">
            <a:avLst/>
          </a:prstGeom>
          <a:noFill/>
          <a:ln/>
        </p:spPr>
        <p:txBody>
          <a:bodyPr wrap="square" lIns="0" tIns="0" rIns="0" bIns="0" rtlCol="0" anchor="ctr"/>
          <a:lstStyle/>
          <a:p>
            <a:pPr indent="0" marL="0">
              <a:buNone/>
            </a:pPr>
            <a:r>
              <a:rPr lang="en-US" sz="1200" b="1" spc="200" kern="0" dirty="0">
                <a:solidFill>
                  <a:srgbClr val="B3261E"/>
                </a:solidFill>
                <a:latin typeface="Courier New" pitchFamily="34" charset="0"/>
                <a:ea typeface="Courier New" pitchFamily="34" charset="-122"/>
                <a:cs typeface="Courier New" pitchFamily="34" charset="-120"/>
              </a:rPr>
              <a:t>PAGE 02  ·  SUBJECT PROFILES</a:t>
            </a:r>
            <a:endParaRPr lang="en-US" sz="1200" dirty="0"/>
          </a:p>
        </p:txBody>
      </p:sp>
      <p:sp>
        <p:nvSpPr>
          <p:cNvPr id="3" name="Text 0"/>
          <p:cNvSpPr/>
          <p:nvPr>
            <p:ph idx="100" type="title" hasCustomPrompt="1"/>
          </p:nvPr>
        </p:nvSpPr>
        <p:spPr>
          <a:xfrm>
            <a:off x="868680" y="658368"/>
            <a:ext cx="10637215" cy="658368"/>
          </a:xfrm>
          <a:prstGeom prst="rect">
            <a:avLst/>
          </a:prstGeom>
          <a:noFill/>
          <a:ln/>
        </p:spPr>
        <p:txBody>
          <a:bodyPr wrap="square" lIns="0" tIns="0" rIns="0" bIns="0" rtlCol="0" anchor="ctr"/>
          <a:lstStyle/>
          <a:p>
            <a:pPr algn="l" indent="0" marL="0">
              <a:buNone/>
            </a:pPr>
            <a:r>
              <a:rPr lang="en-US" sz="2800" b="1" dirty="0">
                <a:solidFill>
                  <a:schemeClr val="tx1"/>
                </a:solidFill>
              </a:rPr>
              <a:t>The suspects: four men, four roles, one enterprise</a:t>
            </a:r>
            <a:endParaRPr lang="en-US" sz="2800" dirty="0"/>
          </a:p>
        </p:txBody>
      </p:sp>
      <p:sp>
        <p:nvSpPr>
          <p:cNvPr id="4" name="subject 01"/>
          <p:cNvSpPr/>
          <p:nvPr/>
        </p:nvSpPr>
        <p:spPr>
          <a:xfrm>
            <a:off x="868680" y="1508760"/>
            <a:ext cx="2453564" cy="4434840"/>
          </a:xfrm>
          <a:prstGeom prst="rect">
            <a:avLst/>
          </a:prstGeom>
          <a:solidFill>
            <a:srgbClr val="FFFDF7"/>
          </a:solidFill>
          <a:ln w="12700">
            <a:solidFill>
              <a:srgbClr val="CFC5AE"/>
            </a:solidFill>
            <a:prstDash val="solid"/>
          </a:ln>
          <a:effectLst>
            <a:outerShdw sx="100000" sy="100000" kx="0" ky="0" algn="bl" rotWithShape="0" blurRad="63500" dist="25400" dir="5400000">
              <a:srgbClr val="000000">
                <a:alpha val="15000"/>
              </a:srgbClr>
            </a:outerShdw>
          </a:effectLst>
        </p:spPr>
      </p:sp>
      <p:sp>
        <p:nvSpPr>
          <p:cNvPr id="5" name="height board"/>
          <p:cNvSpPr/>
          <p:nvPr/>
        </p:nvSpPr>
        <p:spPr>
          <a:xfrm>
            <a:off x="1005840" y="1645920"/>
            <a:ext cx="2179244" cy="1874520"/>
          </a:xfrm>
          <a:prstGeom prst="rect">
            <a:avLst/>
          </a:prstGeom>
          <a:solidFill>
            <a:srgbClr val="E4E1DA"/>
          </a:solidFill>
          <a:ln/>
        </p:spPr>
      </p:sp>
      <p:sp>
        <p:nvSpPr>
          <p:cNvPr id="6" name="height line"/>
          <p:cNvSpPr/>
          <p:nvPr/>
        </p:nvSpPr>
        <p:spPr>
          <a:xfrm>
            <a:off x="1005840" y="1828800"/>
            <a:ext cx="2179244" cy="0"/>
          </a:xfrm>
          <a:prstGeom prst="line">
            <a:avLst/>
          </a:prstGeom>
          <a:noFill/>
          <a:ln w="9525">
            <a:solidFill>
              <a:srgbClr val="B9B4AA"/>
            </a:solidFill>
            <a:prstDash val="solid"/>
          </a:ln>
        </p:spPr>
      </p:sp>
      <p:sp>
        <p:nvSpPr>
          <p:cNvPr id="7" name="height line"/>
          <p:cNvSpPr/>
          <p:nvPr/>
        </p:nvSpPr>
        <p:spPr>
          <a:xfrm>
            <a:off x="1005840" y="2194560"/>
            <a:ext cx="2179244" cy="0"/>
          </a:xfrm>
          <a:prstGeom prst="line">
            <a:avLst/>
          </a:prstGeom>
          <a:noFill/>
          <a:ln w="9525">
            <a:solidFill>
              <a:srgbClr val="B9B4AA"/>
            </a:solidFill>
            <a:prstDash val="solid"/>
          </a:ln>
        </p:spPr>
      </p:sp>
      <p:sp>
        <p:nvSpPr>
          <p:cNvPr id="8" name="height line"/>
          <p:cNvSpPr/>
          <p:nvPr/>
        </p:nvSpPr>
        <p:spPr>
          <a:xfrm>
            <a:off x="1005840" y="2560320"/>
            <a:ext cx="2179244" cy="0"/>
          </a:xfrm>
          <a:prstGeom prst="line">
            <a:avLst/>
          </a:prstGeom>
          <a:noFill/>
          <a:ln w="9525">
            <a:solidFill>
              <a:srgbClr val="B9B4AA"/>
            </a:solidFill>
            <a:prstDash val="solid"/>
          </a:ln>
        </p:spPr>
      </p:sp>
      <p:sp>
        <p:nvSpPr>
          <p:cNvPr id="9" name="height line"/>
          <p:cNvSpPr/>
          <p:nvPr/>
        </p:nvSpPr>
        <p:spPr>
          <a:xfrm>
            <a:off x="1005840" y="2926080"/>
            <a:ext cx="2179244" cy="0"/>
          </a:xfrm>
          <a:prstGeom prst="line">
            <a:avLst/>
          </a:prstGeom>
          <a:noFill/>
          <a:ln w="9525">
            <a:solidFill>
              <a:srgbClr val="B9B4AA"/>
            </a:solidFill>
            <a:prstDash val="solid"/>
          </a:ln>
        </p:spPr>
      </p:sp>
      <p:sp>
        <p:nvSpPr>
          <p:cNvPr id="10" name="height line"/>
          <p:cNvSpPr/>
          <p:nvPr/>
        </p:nvSpPr>
        <p:spPr>
          <a:xfrm>
            <a:off x="1005840" y="3291840"/>
            <a:ext cx="2179244" cy="0"/>
          </a:xfrm>
          <a:prstGeom prst="line">
            <a:avLst/>
          </a:prstGeom>
          <a:noFill/>
          <a:ln w="9525">
            <a:solidFill>
              <a:srgbClr val="B9B4AA"/>
            </a:solidFill>
            <a:prstDash val="solid"/>
          </a:ln>
        </p:spPr>
      </p:sp>
      <p:pic>
        <p:nvPicPr>
          <p:cNvPr id="11" name="EFRAIM DIVEROLI silhouette" descr="EFRAIM DIVEROLI silhouette">    </p:cNvPr>
          <p:cNvPicPr>
            <a:picLocks noChangeAspect="1"/>
          </p:cNvPicPr>
          <p:nvPr/>
        </p:nvPicPr>
        <p:blipFill>
          <a:blip r:embed="rId1"/>
          <a:stretch>
            <a:fillRect/>
          </a:stretch>
        </p:blipFill>
        <p:spPr>
          <a:xfrm>
            <a:off x="1409662" y="1874520"/>
            <a:ext cx="1371600" cy="1371600"/>
          </a:xfrm>
          <a:prstGeom prst="rect">
            <a:avLst/>
          </a:prstGeom>
        </p:spPr>
      </p:pic>
      <p:sp>
        <p:nvSpPr>
          <p:cNvPr id="12" name="Text 9"/>
          <p:cNvSpPr txBox="1"/>
          <p:nvPr/>
        </p:nvSpPr>
        <p:spPr>
          <a:xfrm>
            <a:off x="1005840" y="3337560"/>
            <a:ext cx="2179244" cy="329184"/>
          </a:xfrm>
          <a:prstGeom prst="rect">
            <a:avLst/>
          </a:prstGeom>
          <a:solidFill>
            <a:srgbClr val="1E2A3A"/>
          </a:solid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01 · EFRAIM DIVEROLI</a:t>
            </a:r>
            <a:endParaRPr lang="en-US" sz="1000" dirty="0"/>
          </a:p>
        </p:txBody>
      </p:sp>
      <p:sp>
        <p:nvSpPr>
          <p:cNvPr id="13" name="Text 10"/>
          <p:cNvSpPr txBox="1"/>
          <p:nvPr/>
        </p:nvSpPr>
        <p:spPr>
          <a:xfrm>
            <a:off x="1051560" y="3794760"/>
            <a:ext cx="2087804" cy="1280160"/>
          </a:xfrm>
          <a:prstGeom prst="rect">
            <a:avLst/>
          </a:prstGeom>
          <a:noFill/>
          <a:ln/>
        </p:spPr>
        <p:txBody>
          <a:bodyPr wrap="square" lIns="0" tIns="0" rIns="0" bIns="0" rtlCol="0" anchor="t"/>
          <a:lstStyle/>
          <a:p>
            <a:pPr indent="0" marL="0">
              <a:spcAft>
                <a:spcPts val="400"/>
              </a:spcAft>
              <a:buNone/>
            </a:pPr>
            <a:r>
              <a:rPr lang="en-US" sz="1200" i="1" dirty="0">
                <a:solidFill>
                  <a:srgbClr val="5E6670"/>
                </a:solidFill>
              </a:rPr>
              <a:t>Played by Jonah Hill</a:t>
            </a:r>
            <a:endParaRPr lang="en-US" sz="1200" dirty="0"/>
          </a:p>
          <a:p>
            <a:pPr indent="0" marL="0">
              <a:spcAft>
                <a:spcPts val="400"/>
              </a:spcAft>
              <a:buNone/>
            </a:pPr>
            <a:r>
              <a:rPr lang="en-US" sz="1400" dirty="0">
                <a:solidFill>
                  <a:srgbClr val="1E2A3A"/>
                </a:solidFill>
              </a:rPr>
              <a:t>Founder of AEY Inc.; deal-maker and risk-taker</a:t>
            </a:r>
            <a:endParaRPr lang="en-US" sz="1200" dirty="0"/>
          </a:p>
        </p:txBody>
      </p:sp>
      <p:sp>
        <p:nvSpPr>
          <p:cNvPr id="14" name="Text 11"/>
          <p:cNvSpPr txBox="1"/>
          <p:nvPr/>
        </p:nvSpPr>
        <p:spPr>
          <a:xfrm>
            <a:off x="1051560" y="5212080"/>
            <a:ext cx="2087804" cy="502920"/>
          </a:xfrm>
          <a:prstGeom prst="rect">
            <a:avLst/>
          </a:prstGeom>
          <a:noFill/>
          <a:ln w="19050">
            <a:solidFill>
              <a:srgbClr val="B3261E"/>
            </a:solidFill>
          </a:ln>
        </p:spPr>
        <p:txBody>
          <a:bodyPr wrap="square" lIns="25400" tIns="25400" rIns="25400" bIns="25400" rtlCol="0" anchor="ctr"/>
          <a:lstStyle/>
          <a:p>
            <a:pPr algn="ctr" indent="0" marL="0">
              <a:buNone/>
            </a:pPr>
            <a:r>
              <a:rPr lang="en-US" sz="1000" b="1" dirty="0">
                <a:solidFill>
                  <a:srgbClr val="B3261E"/>
                </a:solidFill>
                <a:latin typeface="Courier New" pitchFamily="34" charset="0"/>
                <a:ea typeface="Courier New" pitchFamily="34" charset="-122"/>
                <a:cs typeface="Courier New" pitchFamily="34" charset="-120"/>
              </a:rPr>
              <a:t>STATUS: 4 YEARS IN PRISON</a:t>
            </a:r>
            <a:endParaRPr lang="en-US" sz="1000" dirty="0"/>
          </a:p>
        </p:txBody>
      </p:sp>
      <p:sp>
        <p:nvSpPr>
          <p:cNvPr id="15" name="subject 02"/>
          <p:cNvSpPr/>
          <p:nvPr/>
        </p:nvSpPr>
        <p:spPr>
          <a:xfrm>
            <a:off x="3596564" y="1508760"/>
            <a:ext cx="2453564" cy="4434840"/>
          </a:xfrm>
          <a:prstGeom prst="rect">
            <a:avLst/>
          </a:prstGeom>
          <a:solidFill>
            <a:srgbClr val="FFFDF7"/>
          </a:solidFill>
          <a:ln w="12700">
            <a:solidFill>
              <a:srgbClr val="CFC5AE"/>
            </a:solidFill>
            <a:prstDash val="solid"/>
          </a:ln>
          <a:effectLst>
            <a:outerShdw sx="100000" sy="100000" kx="0" ky="0" algn="bl" rotWithShape="0" blurRad="63500" dist="25400" dir="5400000">
              <a:srgbClr val="000000">
                <a:alpha val="15000"/>
              </a:srgbClr>
            </a:outerShdw>
          </a:effectLst>
        </p:spPr>
      </p:sp>
      <p:sp>
        <p:nvSpPr>
          <p:cNvPr id="16" name="height board"/>
          <p:cNvSpPr/>
          <p:nvPr/>
        </p:nvSpPr>
        <p:spPr>
          <a:xfrm>
            <a:off x="3733724" y="1645920"/>
            <a:ext cx="2179244" cy="1874520"/>
          </a:xfrm>
          <a:prstGeom prst="rect">
            <a:avLst/>
          </a:prstGeom>
          <a:solidFill>
            <a:srgbClr val="E4E1DA"/>
          </a:solidFill>
          <a:ln/>
        </p:spPr>
      </p:sp>
      <p:sp>
        <p:nvSpPr>
          <p:cNvPr id="17" name="height line"/>
          <p:cNvSpPr/>
          <p:nvPr/>
        </p:nvSpPr>
        <p:spPr>
          <a:xfrm>
            <a:off x="3733724" y="1828800"/>
            <a:ext cx="2179244" cy="0"/>
          </a:xfrm>
          <a:prstGeom prst="line">
            <a:avLst/>
          </a:prstGeom>
          <a:noFill/>
          <a:ln w="9525">
            <a:solidFill>
              <a:srgbClr val="B9B4AA"/>
            </a:solidFill>
            <a:prstDash val="solid"/>
          </a:ln>
        </p:spPr>
      </p:sp>
      <p:sp>
        <p:nvSpPr>
          <p:cNvPr id="18" name="height line"/>
          <p:cNvSpPr/>
          <p:nvPr/>
        </p:nvSpPr>
        <p:spPr>
          <a:xfrm>
            <a:off x="3733724" y="2194560"/>
            <a:ext cx="2179244" cy="0"/>
          </a:xfrm>
          <a:prstGeom prst="line">
            <a:avLst/>
          </a:prstGeom>
          <a:noFill/>
          <a:ln w="9525">
            <a:solidFill>
              <a:srgbClr val="B9B4AA"/>
            </a:solidFill>
            <a:prstDash val="solid"/>
          </a:ln>
        </p:spPr>
      </p:sp>
      <p:sp>
        <p:nvSpPr>
          <p:cNvPr id="19" name="height line"/>
          <p:cNvSpPr/>
          <p:nvPr/>
        </p:nvSpPr>
        <p:spPr>
          <a:xfrm>
            <a:off x="3733724" y="2560320"/>
            <a:ext cx="2179244" cy="0"/>
          </a:xfrm>
          <a:prstGeom prst="line">
            <a:avLst/>
          </a:prstGeom>
          <a:noFill/>
          <a:ln w="9525">
            <a:solidFill>
              <a:srgbClr val="B9B4AA"/>
            </a:solidFill>
            <a:prstDash val="solid"/>
          </a:ln>
        </p:spPr>
      </p:sp>
      <p:sp>
        <p:nvSpPr>
          <p:cNvPr id="20" name="height line"/>
          <p:cNvSpPr/>
          <p:nvPr/>
        </p:nvSpPr>
        <p:spPr>
          <a:xfrm>
            <a:off x="3733724" y="2926080"/>
            <a:ext cx="2179244" cy="0"/>
          </a:xfrm>
          <a:prstGeom prst="line">
            <a:avLst/>
          </a:prstGeom>
          <a:noFill/>
          <a:ln w="9525">
            <a:solidFill>
              <a:srgbClr val="B9B4AA"/>
            </a:solidFill>
            <a:prstDash val="solid"/>
          </a:ln>
        </p:spPr>
      </p:sp>
      <p:sp>
        <p:nvSpPr>
          <p:cNvPr id="21" name="height line"/>
          <p:cNvSpPr/>
          <p:nvPr/>
        </p:nvSpPr>
        <p:spPr>
          <a:xfrm>
            <a:off x="3733724" y="3291840"/>
            <a:ext cx="2179244" cy="0"/>
          </a:xfrm>
          <a:prstGeom prst="line">
            <a:avLst/>
          </a:prstGeom>
          <a:noFill/>
          <a:ln w="9525">
            <a:solidFill>
              <a:srgbClr val="B9B4AA"/>
            </a:solidFill>
            <a:prstDash val="solid"/>
          </a:ln>
        </p:spPr>
      </p:sp>
      <p:pic>
        <p:nvPicPr>
          <p:cNvPr id="22" name="DAVID PACKOUZ silhouette" descr="DAVID PACKOUZ silhouette">    </p:cNvPr>
          <p:cNvPicPr>
            <a:picLocks noChangeAspect="1"/>
          </p:cNvPicPr>
          <p:nvPr/>
        </p:nvPicPr>
        <p:blipFill>
          <a:blip r:embed="rId2"/>
          <a:stretch>
            <a:fillRect/>
          </a:stretch>
        </p:blipFill>
        <p:spPr>
          <a:xfrm>
            <a:off x="4137546" y="1874520"/>
            <a:ext cx="1371600" cy="1371600"/>
          </a:xfrm>
          <a:prstGeom prst="rect">
            <a:avLst/>
          </a:prstGeom>
        </p:spPr>
      </p:pic>
      <p:sp>
        <p:nvSpPr>
          <p:cNvPr id="23" name="Text 19"/>
          <p:cNvSpPr txBox="1"/>
          <p:nvPr/>
        </p:nvSpPr>
        <p:spPr>
          <a:xfrm>
            <a:off x="3733724" y="3337560"/>
            <a:ext cx="2179244" cy="329184"/>
          </a:xfrm>
          <a:prstGeom prst="rect">
            <a:avLst/>
          </a:prstGeom>
          <a:solidFill>
            <a:srgbClr val="1E2A3A"/>
          </a:solid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02 · DAVID PACKOUZ</a:t>
            </a:r>
            <a:endParaRPr lang="en-US" sz="1000" dirty="0"/>
          </a:p>
        </p:txBody>
      </p:sp>
      <p:sp>
        <p:nvSpPr>
          <p:cNvPr id="24" name="Text 20"/>
          <p:cNvSpPr txBox="1"/>
          <p:nvPr/>
        </p:nvSpPr>
        <p:spPr>
          <a:xfrm>
            <a:off x="3779444" y="3794760"/>
            <a:ext cx="2087804" cy="1280160"/>
          </a:xfrm>
          <a:prstGeom prst="rect">
            <a:avLst/>
          </a:prstGeom>
          <a:noFill/>
          <a:ln/>
        </p:spPr>
        <p:txBody>
          <a:bodyPr wrap="square" lIns="0" tIns="0" rIns="0" bIns="0" rtlCol="0" anchor="t"/>
          <a:lstStyle/>
          <a:p>
            <a:pPr indent="0" marL="0">
              <a:spcAft>
                <a:spcPts val="400"/>
              </a:spcAft>
              <a:buNone/>
            </a:pPr>
            <a:r>
              <a:rPr lang="en-US" sz="1200" i="1" dirty="0">
                <a:solidFill>
                  <a:srgbClr val="5E6670"/>
                </a:solidFill>
              </a:rPr>
              <a:t>Played by Miles Teller</a:t>
            </a:r>
            <a:endParaRPr lang="en-US" sz="1200" dirty="0"/>
          </a:p>
          <a:p>
            <a:pPr indent="0" marL="0">
              <a:spcAft>
                <a:spcPts val="400"/>
              </a:spcAft>
              <a:buNone/>
            </a:pPr>
            <a:r>
              <a:rPr lang="en-US" sz="1400" dirty="0">
                <a:solidFill>
                  <a:srgbClr val="1E2A3A"/>
                </a:solidFill>
              </a:rPr>
              <a:t>Broke masseur turned partner; the film’s narrator</a:t>
            </a:r>
            <a:endParaRPr lang="en-US" sz="1200" dirty="0"/>
          </a:p>
        </p:txBody>
      </p:sp>
      <p:sp>
        <p:nvSpPr>
          <p:cNvPr id="25" name="Text 21"/>
          <p:cNvSpPr txBox="1"/>
          <p:nvPr/>
        </p:nvSpPr>
        <p:spPr>
          <a:xfrm>
            <a:off x="3779444" y="5212080"/>
            <a:ext cx="2087804" cy="502920"/>
          </a:xfrm>
          <a:prstGeom prst="rect">
            <a:avLst/>
          </a:prstGeom>
          <a:noFill/>
          <a:ln w="19050">
            <a:solidFill>
              <a:srgbClr val="1F3A5F"/>
            </a:solidFill>
          </a:ln>
        </p:spPr>
        <p:txBody>
          <a:bodyPr wrap="square" lIns="25400" tIns="25400" rIns="25400" bIns="25400" rtlCol="0" anchor="ctr"/>
          <a:lstStyle/>
          <a:p>
            <a:pPr algn="ctr" indent="0" marL="0">
              <a:buNone/>
            </a:pPr>
            <a:r>
              <a:rPr lang="en-US" sz="1000" b="1" dirty="0">
                <a:solidFill>
                  <a:srgbClr val="1F3A5F"/>
                </a:solidFill>
                <a:latin typeface="Courier New" pitchFamily="34" charset="0"/>
                <a:ea typeface="Courier New" pitchFamily="34" charset="-122"/>
                <a:cs typeface="Courier New" pitchFamily="34" charset="-120"/>
              </a:rPr>
              <a:t>STATUS: 7 MONTHS HOUSE ARREST</a:t>
            </a:r>
            <a:endParaRPr lang="en-US" sz="1000" dirty="0"/>
          </a:p>
        </p:txBody>
      </p:sp>
      <p:sp>
        <p:nvSpPr>
          <p:cNvPr id="26" name="subject 03"/>
          <p:cNvSpPr/>
          <p:nvPr/>
        </p:nvSpPr>
        <p:spPr>
          <a:xfrm>
            <a:off x="6324448" y="1508760"/>
            <a:ext cx="2453564" cy="4434840"/>
          </a:xfrm>
          <a:prstGeom prst="rect">
            <a:avLst/>
          </a:prstGeom>
          <a:solidFill>
            <a:srgbClr val="FFFDF7"/>
          </a:solidFill>
          <a:ln w="12700">
            <a:solidFill>
              <a:srgbClr val="CFC5AE"/>
            </a:solidFill>
            <a:prstDash val="solid"/>
          </a:ln>
          <a:effectLst>
            <a:outerShdw sx="100000" sy="100000" kx="0" ky="0" algn="bl" rotWithShape="0" blurRad="63500" dist="25400" dir="5400000">
              <a:srgbClr val="000000">
                <a:alpha val="15000"/>
              </a:srgbClr>
            </a:outerShdw>
          </a:effectLst>
        </p:spPr>
      </p:sp>
      <p:sp>
        <p:nvSpPr>
          <p:cNvPr id="27" name="height board"/>
          <p:cNvSpPr/>
          <p:nvPr/>
        </p:nvSpPr>
        <p:spPr>
          <a:xfrm>
            <a:off x="6461608" y="1645920"/>
            <a:ext cx="2179244" cy="1874520"/>
          </a:xfrm>
          <a:prstGeom prst="rect">
            <a:avLst/>
          </a:prstGeom>
          <a:solidFill>
            <a:srgbClr val="E4E1DA"/>
          </a:solidFill>
          <a:ln/>
        </p:spPr>
      </p:sp>
      <p:sp>
        <p:nvSpPr>
          <p:cNvPr id="28" name="height line"/>
          <p:cNvSpPr/>
          <p:nvPr/>
        </p:nvSpPr>
        <p:spPr>
          <a:xfrm>
            <a:off x="6461608" y="1828800"/>
            <a:ext cx="2179244" cy="0"/>
          </a:xfrm>
          <a:prstGeom prst="line">
            <a:avLst/>
          </a:prstGeom>
          <a:noFill/>
          <a:ln w="9525">
            <a:solidFill>
              <a:srgbClr val="B9B4AA"/>
            </a:solidFill>
            <a:prstDash val="solid"/>
          </a:ln>
        </p:spPr>
      </p:sp>
      <p:sp>
        <p:nvSpPr>
          <p:cNvPr id="29" name="height line"/>
          <p:cNvSpPr/>
          <p:nvPr/>
        </p:nvSpPr>
        <p:spPr>
          <a:xfrm>
            <a:off x="6461608" y="2194560"/>
            <a:ext cx="2179244" cy="0"/>
          </a:xfrm>
          <a:prstGeom prst="line">
            <a:avLst/>
          </a:prstGeom>
          <a:noFill/>
          <a:ln w="9525">
            <a:solidFill>
              <a:srgbClr val="B9B4AA"/>
            </a:solidFill>
            <a:prstDash val="solid"/>
          </a:ln>
        </p:spPr>
      </p:sp>
      <p:sp>
        <p:nvSpPr>
          <p:cNvPr id="30" name="height line"/>
          <p:cNvSpPr/>
          <p:nvPr/>
        </p:nvSpPr>
        <p:spPr>
          <a:xfrm>
            <a:off x="6461608" y="2560320"/>
            <a:ext cx="2179244" cy="0"/>
          </a:xfrm>
          <a:prstGeom prst="line">
            <a:avLst/>
          </a:prstGeom>
          <a:noFill/>
          <a:ln w="9525">
            <a:solidFill>
              <a:srgbClr val="B9B4AA"/>
            </a:solidFill>
            <a:prstDash val="solid"/>
          </a:ln>
        </p:spPr>
      </p:sp>
      <p:sp>
        <p:nvSpPr>
          <p:cNvPr id="31" name="height line"/>
          <p:cNvSpPr/>
          <p:nvPr/>
        </p:nvSpPr>
        <p:spPr>
          <a:xfrm>
            <a:off x="6461608" y="2926080"/>
            <a:ext cx="2179244" cy="0"/>
          </a:xfrm>
          <a:prstGeom prst="line">
            <a:avLst/>
          </a:prstGeom>
          <a:noFill/>
          <a:ln w="9525">
            <a:solidFill>
              <a:srgbClr val="B9B4AA"/>
            </a:solidFill>
            <a:prstDash val="solid"/>
          </a:ln>
        </p:spPr>
      </p:sp>
      <p:sp>
        <p:nvSpPr>
          <p:cNvPr id="32" name="height line"/>
          <p:cNvSpPr/>
          <p:nvPr/>
        </p:nvSpPr>
        <p:spPr>
          <a:xfrm>
            <a:off x="6461608" y="3291840"/>
            <a:ext cx="2179244" cy="0"/>
          </a:xfrm>
          <a:prstGeom prst="line">
            <a:avLst/>
          </a:prstGeom>
          <a:noFill/>
          <a:ln w="9525">
            <a:solidFill>
              <a:srgbClr val="B9B4AA"/>
            </a:solidFill>
            <a:prstDash val="solid"/>
          </a:ln>
        </p:spPr>
      </p:sp>
      <p:pic>
        <p:nvPicPr>
          <p:cNvPr id="33" name="HENRY GIRARD silhouette" descr="HENRY GIRARD silhouette">    </p:cNvPr>
          <p:cNvPicPr>
            <a:picLocks noChangeAspect="1"/>
          </p:cNvPicPr>
          <p:nvPr/>
        </p:nvPicPr>
        <p:blipFill>
          <a:blip r:embed="rId3"/>
          <a:stretch>
            <a:fillRect/>
          </a:stretch>
        </p:blipFill>
        <p:spPr>
          <a:xfrm>
            <a:off x="6865430" y="1874520"/>
            <a:ext cx="1371600" cy="1371600"/>
          </a:xfrm>
          <a:prstGeom prst="rect">
            <a:avLst/>
          </a:prstGeom>
        </p:spPr>
      </p:pic>
      <p:sp>
        <p:nvSpPr>
          <p:cNvPr id="34" name="Text 29"/>
          <p:cNvSpPr txBox="1"/>
          <p:nvPr/>
        </p:nvSpPr>
        <p:spPr>
          <a:xfrm>
            <a:off x="6461608" y="3337560"/>
            <a:ext cx="2179244" cy="329184"/>
          </a:xfrm>
          <a:prstGeom prst="rect">
            <a:avLst/>
          </a:prstGeom>
          <a:solidFill>
            <a:srgbClr val="1E2A3A"/>
          </a:solid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03 · HENRY GIRARD</a:t>
            </a:r>
            <a:endParaRPr lang="en-US" sz="1000" dirty="0"/>
          </a:p>
        </p:txBody>
      </p:sp>
      <p:sp>
        <p:nvSpPr>
          <p:cNvPr id="35" name="Text 30"/>
          <p:cNvSpPr txBox="1"/>
          <p:nvPr/>
        </p:nvSpPr>
        <p:spPr>
          <a:xfrm>
            <a:off x="6507328" y="3794760"/>
            <a:ext cx="2087804" cy="1280160"/>
          </a:xfrm>
          <a:prstGeom prst="rect">
            <a:avLst/>
          </a:prstGeom>
          <a:noFill/>
          <a:ln/>
        </p:spPr>
        <p:txBody>
          <a:bodyPr wrap="square" lIns="0" tIns="0" rIns="0" bIns="0" rtlCol="0" anchor="t"/>
          <a:lstStyle/>
          <a:p>
            <a:pPr indent="0" marL="0">
              <a:spcAft>
                <a:spcPts val="400"/>
              </a:spcAft>
              <a:buNone/>
            </a:pPr>
            <a:r>
              <a:rPr lang="en-US" sz="1200" i="1" dirty="0">
                <a:solidFill>
                  <a:srgbClr val="5E6670"/>
                </a:solidFill>
              </a:rPr>
              <a:t>Played by Bradley Cooper</a:t>
            </a:r>
            <a:endParaRPr lang="en-US" sz="1200" dirty="0"/>
          </a:p>
          <a:p>
            <a:pPr indent="0" marL="0">
              <a:spcAft>
                <a:spcPts val="400"/>
              </a:spcAft>
              <a:buNone/>
            </a:pPr>
            <a:r>
              <a:rPr lang="en-US" sz="1400" dirty="0">
                <a:solidFill>
                  <a:srgbClr val="1E2A3A"/>
                </a:solidFill>
              </a:rPr>
              <a:t>Watch-listed arms broker with Albanian supply</a:t>
            </a:r>
            <a:endParaRPr lang="en-US" sz="1200" dirty="0"/>
          </a:p>
        </p:txBody>
      </p:sp>
      <p:sp>
        <p:nvSpPr>
          <p:cNvPr id="36" name="Text 31"/>
          <p:cNvSpPr txBox="1"/>
          <p:nvPr/>
        </p:nvSpPr>
        <p:spPr>
          <a:xfrm>
            <a:off x="6507328" y="5212080"/>
            <a:ext cx="2087804" cy="502920"/>
          </a:xfrm>
          <a:prstGeom prst="rect">
            <a:avLst/>
          </a:prstGeom>
          <a:noFill/>
          <a:ln w="19050">
            <a:solidFill>
              <a:srgbClr val="C9A227"/>
            </a:solidFill>
          </a:ln>
        </p:spPr>
        <p:txBody>
          <a:bodyPr wrap="square" lIns="25400" tIns="25400" rIns="25400" bIns="25400" rtlCol="0" anchor="ctr"/>
          <a:lstStyle/>
          <a:p>
            <a:pPr algn="ctr" indent="0" marL="0">
              <a:buNone/>
            </a:pPr>
            <a:r>
              <a:rPr lang="en-US" sz="1000" b="1" dirty="0">
                <a:solidFill>
                  <a:srgbClr val="C9A227"/>
                </a:solidFill>
                <a:latin typeface="Courier New" pitchFamily="34" charset="0"/>
                <a:ea typeface="Courier New" pitchFamily="34" charset="-122"/>
                <a:cs typeface="Courier New" pitchFamily="34" charset="-120"/>
              </a:rPr>
              <a:t>STATUS: COMPOSITE CHARACTER</a:t>
            </a:r>
            <a:endParaRPr lang="en-US" sz="1000" dirty="0"/>
          </a:p>
        </p:txBody>
      </p:sp>
      <p:sp>
        <p:nvSpPr>
          <p:cNvPr id="37" name="subject 04"/>
          <p:cNvSpPr/>
          <p:nvPr/>
        </p:nvSpPr>
        <p:spPr>
          <a:xfrm>
            <a:off x="9052331" y="1508760"/>
            <a:ext cx="2453564" cy="4434840"/>
          </a:xfrm>
          <a:prstGeom prst="rect">
            <a:avLst/>
          </a:prstGeom>
          <a:solidFill>
            <a:srgbClr val="FFFDF7"/>
          </a:solidFill>
          <a:ln w="12700">
            <a:solidFill>
              <a:srgbClr val="CFC5AE"/>
            </a:solidFill>
            <a:prstDash val="solid"/>
          </a:ln>
          <a:effectLst>
            <a:outerShdw sx="100000" sy="100000" kx="0" ky="0" algn="bl" rotWithShape="0" blurRad="63500" dist="25400" dir="5400000">
              <a:srgbClr val="000000">
                <a:alpha val="15000"/>
              </a:srgbClr>
            </a:outerShdw>
          </a:effectLst>
        </p:spPr>
      </p:sp>
      <p:sp>
        <p:nvSpPr>
          <p:cNvPr id="38" name="height board"/>
          <p:cNvSpPr/>
          <p:nvPr/>
        </p:nvSpPr>
        <p:spPr>
          <a:xfrm>
            <a:off x="9189491" y="1645920"/>
            <a:ext cx="2179244" cy="1874520"/>
          </a:xfrm>
          <a:prstGeom prst="rect">
            <a:avLst/>
          </a:prstGeom>
          <a:solidFill>
            <a:srgbClr val="E4E1DA"/>
          </a:solidFill>
          <a:ln/>
        </p:spPr>
      </p:sp>
      <p:sp>
        <p:nvSpPr>
          <p:cNvPr id="39" name="height line"/>
          <p:cNvSpPr/>
          <p:nvPr/>
        </p:nvSpPr>
        <p:spPr>
          <a:xfrm>
            <a:off x="9189491" y="1828800"/>
            <a:ext cx="2179244" cy="0"/>
          </a:xfrm>
          <a:prstGeom prst="line">
            <a:avLst/>
          </a:prstGeom>
          <a:noFill/>
          <a:ln w="9525">
            <a:solidFill>
              <a:srgbClr val="B9B4AA"/>
            </a:solidFill>
            <a:prstDash val="solid"/>
          </a:ln>
        </p:spPr>
      </p:sp>
      <p:sp>
        <p:nvSpPr>
          <p:cNvPr id="40" name="height line"/>
          <p:cNvSpPr/>
          <p:nvPr/>
        </p:nvSpPr>
        <p:spPr>
          <a:xfrm>
            <a:off x="9189491" y="2194560"/>
            <a:ext cx="2179244" cy="0"/>
          </a:xfrm>
          <a:prstGeom prst="line">
            <a:avLst/>
          </a:prstGeom>
          <a:noFill/>
          <a:ln w="9525">
            <a:solidFill>
              <a:srgbClr val="B9B4AA"/>
            </a:solidFill>
            <a:prstDash val="solid"/>
          </a:ln>
        </p:spPr>
      </p:sp>
      <p:sp>
        <p:nvSpPr>
          <p:cNvPr id="41" name="height line"/>
          <p:cNvSpPr/>
          <p:nvPr/>
        </p:nvSpPr>
        <p:spPr>
          <a:xfrm>
            <a:off x="9189491" y="2560320"/>
            <a:ext cx="2179244" cy="0"/>
          </a:xfrm>
          <a:prstGeom prst="line">
            <a:avLst/>
          </a:prstGeom>
          <a:noFill/>
          <a:ln w="9525">
            <a:solidFill>
              <a:srgbClr val="B9B4AA"/>
            </a:solidFill>
            <a:prstDash val="solid"/>
          </a:ln>
        </p:spPr>
      </p:sp>
      <p:sp>
        <p:nvSpPr>
          <p:cNvPr id="42" name="height line"/>
          <p:cNvSpPr/>
          <p:nvPr/>
        </p:nvSpPr>
        <p:spPr>
          <a:xfrm>
            <a:off x="9189491" y="2926080"/>
            <a:ext cx="2179244" cy="0"/>
          </a:xfrm>
          <a:prstGeom prst="line">
            <a:avLst/>
          </a:prstGeom>
          <a:noFill/>
          <a:ln w="9525">
            <a:solidFill>
              <a:srgbClr val="B9B4AA"/>
            </a:solidFill>
            <a:prstDash val="solid"/>
          </a:ln>
        </p:spPr>
      </p:sp>
      <p:sp>
        <p:nvSpPr>
          <p:cNvPr id="43" name="height line"/>
          <p:cNvSpPr/>
          <p:nvPr/>
        </p:nvSpPr>
        <p:spPr>
          <a:xfrm>
            <a:off x="9189491" y="3291840"/>
            <a:ext cx="2179244" cy="0"/>
          </a:xfrm>
          <a:prstGeom prst="line">
            <a:avLst/>
          </a:prstGeom>
          <a:noFill/>
          <a:ln w="9525">
            <a:solidFill>
              <a:srgbClr val="B9B4AA"/>
            </a:solidFill>
            <a:prstDash val="solid"/>
          </a:ln>
        </p:spPr>
      </p:sp>
      <p:pic>
        <p:nvPicPr>
          <p:cNvPr id="44" name="RALPH SLUTZKY silhouette" descr="RALPH SLUTZKY silhouette">    </p:cNvPr>
          <p:cNvPicPr>
            <a:picLocks noChangeAspect="1"/>
          </p:cNvPicPr>
          <p:nvPr/>
        </p:nvPicPr>
        <p:blipFill>
          <a:blip r:embed="rId4"/>
          <a:stretch>
            <a:fillRect/>
          </a:stretch>
        </p:blipFill>
        <p:spPr>
          <a:xfrm>
            <a:off x="9593313" y="1874520"/>
            <a:ext cx="1371600" cy="1371600"/>
          </a:xfrm>
          <a:prstGeom prst="rect">
            <a:avLst/>
          </a:prstGeom>
        </p:spPr>
      </p:pic>
      <p:sp>
        <p:nvSpPr>
          <p:cNvPr id="45" name="Text 39"/>
          <p:cNvSpPr txBox="1"/>
          <p:nvPr/>
        </p:nvSpPr>
        <p:spPr>
          <a:xfrm>
            <a:off x="9189491" y="3337560"/>
            <a:ext cx="2179244" cy="329184"/>
          </a:xfrm>
          <a:prstGeom prst="rect">
            <a:avLst/>
          </a:prstGeom>
          <a:solidFill>
            <a:srgbClr val="1E2A3A"/>
          </a:solid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04 · RALPH SLUTZKY</a:t>
            </a:r>
            <a:endParaRPr lang="en-US" sz="1000" dirty="0"/>
          </a:p>
        </p:txBody>
      </p:sp>
      <p:sp>
        <p:nvSpPr>
          <p:cNvPr id="46" name="Text 40"/>
          <p:cNvSpPr txBox="1"/>
          <p:nvPr/>
        </p:nvSpPr>
        <p:spPr>
          <a:xfrm>
            <a:off x="9235211" y="3794760"/>
            <a:ext cx="2087804" cy="1280160"/>
          </a:xfrm>
          <a:prstGeom prst="rect">
            <a:avLst/>
          </a:prstGeom>
          <a:noFill/>
          <a:ln/>
        </p:spPr>
        <p:txBody>
          <a:bodyPr wrap="square" lIns="0" tIns="0" rIns="0" bIns="0" rtlCol="0" anchor="t"/>
          <a:lstStyle/>
          <a:p>
            <a:pPr indent="0" marL="0">
              <a:spcAft>
                <a:spcPts val="400"/>
              </a:spcAft>
              <a:buNone/>
            </a:pPr>
            <a:r>
              <a:rPr lang="en-US" sz="1200" i="1" dirty="0">
                <a:solidFill>
                  <a:srgbClr val="5E6670"/>
                </a:solidFill>
              </a:rPr>
              <a:t>Played by Kevin Pollak</a:t>
            </a:r>
            <a:endParaRPr lang="en-US" sz="1200" dirty="0"/>
          </a:p>
          <a:p>
            <a:pPr indent="0" marL="0">
              <a:spcAft>
                <a:spcPts val="400"/>
              </a:spcAft>
              <a:buNone/>
            </a:pPr>
            <a:r>
              <a:rPr lang="en-US" sz="1400" dirty="0">
                <a:solidFill>
                  <a:srgbClr val="1E2A3A"/>
                </a:solidFill>
              </a:rPr>
              <a:t>Financier who funds the deals</a:t>
            </a:r>
            <a:endParaRPr lang="en-US" sz="1200" dirty="0"/>
          </a:p>
        </p:txBody>
      </p:sp>
      <p:sp>
        <p:nvSpPr>
          <p:cNvPr id="47" name="Text 41"/>
          <p:cNvSpPr txBox="1"/>
          <p:nvPr/>
        </p:nvSpPr>
        <p:spPr>
          <a:xfrm>
            <a:off x="9235211" y="5212080"/>
            <a:ext cx="2087804" cy="502920"/>
          </a:xfrm>
          <a:prstGeom prst="rect">
            <a:avLst/>
          </a:prstGeom>
          <a:noFill/>
          <a:ln w="19050">
            <a:solidFill>
              <a:srgbClr val="5E6670"/>
            </a:solidFill>
          </a:ln>
        </p:spPr>
        <p:txBody>
          <a:bodyPr wrap="square" lIns="25400" tIns="25400" rIns="25400" bIns="25400" rtlCol="0" anchor="ctr"/>
          <a:lstStyle/>
          <a:p>
            <a:pPr algn="ctr" indent="0" marL="0">
              <a:buNone/>
            </a:pPr>
            <a:r>
              <a:rPr lang="en-US" sz="1000" b="1" dirty="0">
                <a:solidFill>
                  <a:srgbClr val="5E6670"/>
                </a:solidFill>
                <a:latin typeface="Courier New" pitchFamily="34" charset="0"/>
                <a:ea typeface="Courier New" pitchFamily="34" charset="-122"/>
                <a:cs typeface="Courier New" pitchFamily="34" charset="-120"/>
              </a:rPr>
              <a:t>STATUS: BASED ON A REAL BACKER</a:t>
            </a:r>
            <a:endParaRPr lang="en-US" sz="1000" dirty="0"/>
          </a:p>
        </p:txBody>
      </p:sp>
      <p:sp>
        <p:nvSpPr>
          <p:cNvPr id="48" name="Text 42"/>
          <p:cNvSpPr txBox="1"/>
          <p:nvPr/>
        </p:nvSpPr>
        <p:spPr>
          <a:xfrm>
            <a:off x="868680" y="6089904"/>
            <a:ext cx="8503920" cy="219456"/>
          </a:xfrm>
          <a:prstGeom prst="rect">
            <a:avLst/>
          </a:prstGeom>
          <a:noFill/>
          <a:ln/>
        </p:spPr>
        <p:txBody>
          <a:bodyPr wrap="square" lIns="0" tIns="0" rIns="0" bIns="0" rtlCol="0" anchor="ctr"/>
          <a:lstStyle/>
          <a:p>
            <a:pPr indent="0" marL="0">
              <a:buNone/>
            </a:pPr>
            <a:r>
              <a:rPr lang="en-US" sz="1000" i="1" dirty="0">
                <a:solidFill>
                  <a:srgbClr val="8A8170"/>
                </a:solidFill>
              </a:rPr>
              <a:t>Silhouettes are illustrative. Henry is inspired by broker Heinrich Thomet; Ralph by financier Ralph Merrill (Lawson, 2015).</a:t>
            </a:r>
            <a:endParaRPr lang="en-US" sz="1000" dirty="0"/>
          </a:p>
        </p:txBody>
      </p:sp>
      <p:sp>
        <p:nvSpPr>
          <p:cNvPr id="25" name="Slide Number Placeholder 0"/>
          <p:cNvSpPr>
            <a:spLocks noGrp="1"/>
          </p:cNvSpPr>
          <p:nvPr>
            <p:ph type="sldNum" sz="quarter" idx="4294967295"/>
          </p:nvPr>
        </p:nvSpPr>
        <p:spPr>
          <a:xfrm>
            <a:off x="8503920" y="6382512"/>
            <a:ext cx="82296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8A8170"/>
                </a:solidFill>
                <a:latin typeface="Courier New"/>
                <a:ea typeface="Courier New"/>
                <a:cs typeface="Courier New"/>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file tag"/>
          <p:cNvSpPr txBox="1"/>
          <p:nvPr/>
        </p:nvSpPr>
        <p:spPr>
          <a:xfrm>
            <a:off x="868680" y="329184"/>
            <a:ext cx="10637215" cy="274320"/>
          </a:xfrm>
          <a:prstGeom prst="rect">
            <a:avLst/>
          </a:prstGeom>
          <a:noFill/>
          <a:ln/>
        </p:spPr>
        <p:txBody>
          <a:bodyPr wrap="square" lIns="0" tIns="0" rIns="0" bIns="0" rtlCol="0" anchor="ctr"/>
          <a:lstStyle/>
          <a:p>
            <a:pPr indent="0" marL="0">
              <a:buNone/>
            </a:pPr>
            <a:r>
              <a:rPr lang="en-US" sz="1200" b="1" spc="200" kern="0" dirty="0">
                <a:solidFill>
                  <a:srgbClr val="B3261E"/>
                </a:solidFill>
                <a:latin typeface="Courier New" pitchFamily="34" charset="0"/>
                <a:ea typeface="Courier New" pitchFamily="34" charset="-122"/>
                <a:cs typeface="Courier New" pitchFamily="34" charset="-120"/>
              </a:rPr>
              <a:t>PAGE 03  ·  OPERATIONAL TIMELINE</a:t>
            </a:r>
            <a:endParaRPr lang="en-US" sz="1200" dirty="0"/>
          </a:p>
        </p:txBody>
      </p:sp>
      <p:sp>
        <p:nvSpPr>
          <p:cNvPr id="3" name="Text 0"/>
          <p:cNvSpPr/>
          <p:nvPr>
            <p:ph idx="100" type="title" hasCustomPrompt="1"/>
          </p:nvPr>
        </p:nvSpPr>
        <p:spPr>
          <a:xfrm>
            <a:off x="868680" y="658368"/>
            <a:ext cx="10637215" cy="658368"/>
          </a:xfrm>
          <a:prstGeom prst="rect">
            <a:avLst/>
          </a:prstGeom>
          <a:noFill/>
          <a:ln/>
        </p:spPr>
        <p:txBody>
          <a:bodyPr wrap="square" lIns="0" tIns="0" rIns="0" bIns="0" rtlCol="0" anchor="ctr"/>
          <a:lstStyle/>
          <a:p>
            <a:pPr algn="l" indent="0" marL="0">
              <a:buNone/>
            </a:pPr>
            <a:r>
              <a:rPr lang="en-US" sz="2800" b="1" dirty="0">
                <a:solidFill>
                  <a:schemeClr val="tx1"/>
                </a:solidFill>
              </a:rPr>
              <a:t>How the operation unfolded, in five phases</a:t>
            </a:r>
            <a:endParaRPr lang="en-US" sz="2800" dirty="0"/>
          </a:p>
        </p:txBody>
      </p:sp>
      <p:sp>
        <p:nvSpPr>
          <p:cNvPr id="4" name="timeline"/>
          <p:cNvSpPr/>
          <p:nvPr/>
        </p:nvSpPr>
        <p:spPr>
          <a:xfrm>
            <a:off x="868680" y="2240280"/>
            <a:ext cx="10637215" cy="0"/>
          </a:xfrm>
          <a:prstGeom prst="line">
            <a:avLst/>
          </a:prstGeom>
          <a:noFill/>
          <a:ln w="31750">
            <a:solidFill>
              <a:srgbClr val="1E2A3A"/>
            </a:solidFill>
            <a:prstDash val="solid"/>
          </a:ln>
        </p:spPr>
      </p:sp>
      <p:sp>
        <p:nvSpPr>
          <p:cNvPr id="5" name="PHASE 1 pin"/>
          <p:cNvSpPr/>
          <p:nvPr/>
        </p:nvSpPr>
        <p:spPr>
          <a:xfrm>
            <a:off x="1694658" y="2093976"/>
            <a:ext cx="292608" cy="292608"/>
          </a:xfrm>
          <a:prstGeom prst="ellipse">
            <a:avLst/>
          </a:prstGeom>
          <a:solidFill>
            <a:srgbClr val="1E2A3A"/>
          </a:solidFill>
          <a:ln w="25400">
            <a:solidFill>
              <a:srgbClr val="F4EEDF"/>
            </a:solidFill>
            <a:prstDash val="solid"/>
          </a:ln>
        </p:spPr>
      </p:sp>
      <p:sp>
        <p:nvSpPr>
          <p:cNvPr id="6" name="Text 4"/>
          <p:cNvSpPr txBox="1"/>
          <p:nvPr/>
        </p:nvSpPr>
        <p:spPr>
          <a:xfrm>
            <a:off x="868680" y="1600200"/>
            <a:ext cx="1944563" cy="256032"/>
          </a:xfrm>
          <a:prstGeom prst="rect">
            <a:avLst/>
          </a:prstGeom>
          <a:noFill/>
          <a:ln/>
        </p:spPr>
        <p:txBody>
          <a:bodyPr wrap="square" lIns="0" tIns="0" rIns="0" bIns="0" rtlCol="0" anchor="ctr"/>
          <a:lstStyle/>
          <a:p>
            <a:pPr indent="0" marL="0">
              <a:buNone/>
            </a:pPr>
            <a:r>
              <a:rPr lang="en-US" sz="1100" b="1" spc="100" kern="0" dirty="0">
                <a:solidFill>
                  <a:srgbClr val="5E6670"/>
                </a:solidFill>
                <a:latin typeface="Courier New" pitchFamily="34" charset="0"/>
                <a:ea typeface="Courier New" pitchFamily="34" charset="-122"/>
                <a:cs typeface="Courier New" pitchFamily="34" charset="-120"/>
              </a:rPr>
              <a:t>PHASE 1</a:t>
            </a:r>
            <a:endParaRPr lang="en-US" sz="1100" dirty="0"/>
          </a:p>
        </p:txBody>
      </p:sp>
      <p:sp>
        <p:nvSpPr>
          <p:cNvPr id="7" name="PHASE 1"/>
          <p:cNvSpPr/>
          <p:nvPr/>
        </p:nvSpPr>
        <p:spPr>
          <a:xfrm>
            <a:off x="868680" y="2606040"/>
            <a:ext cx="1944563" cy="2834640"/>
          </a:xfrm>
          <a:prstGeom prst="rect">
            <a:avLst/>
          </a:prstGeom>
          <a:solidFill>
            <a:srgbClr val="FFFDF7"/>
          </a:solidFill>
          <a:ln w="12700">
            <a:solidFill>
              <a:srgbClr val="CFC5AE"/>
            </a:solidFill>
            <a:prstDash val="solid"/>
          </a:ln>
          <a:effectLst>
            <a:outerShdw sx="100000" sy="100000" kx="0" ky="0" algn="bl" rotWithShape="0" blurRad="63500" dist="25400" dir="5400000">
              <a:srgbClr val="000000">
                <a:alpha val="15000"/>
              </a:srgbClr>
            </a:outerShdw>
          </a:effectLst>
        </p:spPr>
      </p:sp>
      <p:sp>
        <p:nvSpPr>
          <p:cNvPr id="8" name="Text 6"/>
          <p:cNvSpPr txBox="1"/>
          <p:nvPr/>
        </p:nvSpPr>
        <p:spPr>
          <a:xfrm>
            <a:off x="1051560" y="2743200"/>
            <a:ext cx="1578803" cy="457200"/>
          </a:xfrm>
          <a:prstGeom prst="rect">
            <a:avLst/>
          </a:prstGeom>
          <a:noFill/>
          <a:ln/>
        </p:spPr>
        <p:txBody>
          <a:bodyPr wrap="square" lIns="0" tIns="0" rIns="0" bIns="0" rtlCol="0" anchor="ctr"/>
          <a:lstStyle/>
          <a:p>
            <a:pPr indent="0" marL="0">
              <a:buNone/>
            </a:pPr>
            <a:r>
              <a:rPr lang="en-US" sz="1700" b="1" dirty="0">
                <a:solidFill>
                  <a:srgbClr val="1E2A3A"/>
                </a:solidFill>
                <a:latin typeface="Cambria" pitchFamily="34" charset="0"/>
                <a:ea typeface="Cambria" pitchFamily="34" charset="-122"/>
                <a:cs typeface="Cambria" pitchFamily="34" charset="-120"/>
              </a:rPr>
              <a:t>The crumbs</a:t>
            </a:r>
            <a:endParaRPr lang="en-US" sz="1700" dirty="0"/>
          </a:p>
        </p:txBody>
      </p:sp>
      <p:sp>
        <p:nvSpPr>
          <p:cNvPr id="9" name="Text 7"/>
          <p:cNvSpPr txBox="1"/>
          <p:nvPr/>
        </p:nvSpPr>
        <p:spPr>
          <a:xfrm>
            <a:off x="1051560" y="3246120"/>
            <a:ext cx="1578803" cy="2103120"/>
          </a:xfrm>
          <a:prstGeom prst="rect">
            <a:avLst/>
          </a:prstGeom>
          <a:noFill/>
          <a:ln/>
        </p:spPr>
        <p:txBody>
          <a:bodyPr wrap="square" lIns="0" tIns="0" rIns="0" bIns="0" rtlCol="0" anchor="t"/>
          <a:lstStyle/>
          <a:p>
            <a:pPr indent="0" marL="0">
              <a:buNone/>
            </a:pPr>
            <a:r>
              <a:rPr lang="en-US" sz="1400" dirty="0">
                <a:solidFill>
                  <a:srgbClr val="1E2A3A"/>
                </a:solidFill>
              </a:rPr>
              <a:t>AEY bids online for small Pentagon contracts that big firms ignore.</a:t>
            </a:r>
            <a:endParaRPr lang="en-US" sz="1400" dirty="0"/>
          </a:p>
        </p:txBody>
      </p:sp>
      <p:sp>
        <p:nvSpPr>
          <p:cNvPr id="10" name="PHASE 2 pin"/>
          <p:cNvSpPr/>
          <p:nvPr/>
        </p:nvSpPr>
        <p:spPr>
          <a:xfrm>
            <a:off x="3867821" y="2093976"/>
            <a:ext cx="292608" cy="292608"/>
          </a:xfrm>
          <a:prstGeom prst="ellipse">
            <a:avLst/>
          </a:prstGeom>
          <a:solidFill>
            <a:srgbClr val="1E2A3A"/>
          </a:solidFill>
          <a:ln w="25400">
            <a:solidFill>
              <a:srgbClr val="F4EEDF"/>
            </a:solidFill>
            <a:prstDash val="solid"/>
          </a:ln>
        </p:spPr>
      </p:sp>
      <p:sp>
        <p:nvSpPr>
          <p:cNvPr id="11" name="Text 9"/>
          <p:cNvSpPr txBox="1"/>
          <p:nvPr/>
        </p:nvSpPr>
        <p:spPr>
          <a:xfrm>
            <a:off x="3041843" y="1600200"/>
            <a:ext cx="1944563" cy="256032"/>
          </a:xfrm>
          <a:prstGeom prst="rect">
            <a:avLst/>
          </a:prstGeom>
          <a:noFill/>
          <a:ln/>
        </p:spPr>
        <p:txBody>
          <a:bodyPr wrap="square" lIns="0" tIns="0" rIns="0" bIns="0" rtlCol="0" anchor="ctr"/>
          <a:lstStyle/>
          <a:p>
            <a:pPr indent="0" marL="0">
              <a:buNone/>
            </a:pPr>
            <a:r>
              <a:rPr lang="en-US" sz="1100" b="1" spc="100" kern="0" dirty="0">
                <a:solidFill>
                  <a:srgbClr val="5E6670"/>
                </a:solidFill>
                <a:latin typeface="Courier New" pitchFamily="34" charset="0"/>
                <a:ea typeface="Courier New" pitchFamily="34" charset="-122"/>
                <a:cs typeface="Courier New" pitchFamily="34" charset="-120"/>
              </a:rPr>
              <a:t>PHASE 2</a:t>
            </a:r>
            <a:endParaRPr lang="en-US" sz="1100" dirty="0"/>
          </a:p>
        </p:txBody>
      </p:sp>
      <p:sp>
        <p:nvSpPr>
          <p:cNvPr id="12" name="PHASE 2"/>
          <p:cNvSpPr/>
          <p:nvPr/>
        </p:nvSpPr>
        <p:spPr>
          <a:xfrm>
            <a:off x="3041843" y="2606040"/>
            <a:ext cx="1944563" cy="2834640"/>
          </a:xfrm>
          <a:prstGeom prst="rect">
            <a:avLst/>
          </a:prstGeom>
          <a:solidFill>
            <a:srgbClr val="FFFDF7"/>
          </a:solidFill>
          <a:ln w="12700">
            <a:solidFill>
              <a:srgbClr val="CFC5AE"/>
            </a:solidFill>
            <a:prstDash val="solid"/>
          </a:ln>
          <a:effectLst>
            <a:outerShdw sx="100000" sy="100000" kx="0" ky="0" algn="bl" rotWithShape="0" blurRad="63500" dist="25400" dir="5400000">
              <a:srgbClr val="000000">
                <a:alpha val="15000"/>
              </a:srgbClr>
            </a:outerShdw>
          </a:effectLst>
        </p:spPr>
      </p:sp>
      <p:sp>
        <p:nvSpPr>
          <p:cNvPr id="13" name="Text 11"/>
          <p:cNvSpPr txBox="1"/>
          <p:nvPr/>
        </p:nvSpPr>
        <p:spPr>
          <a:xfrm>
            <a:off x="3224723" y="2743200"/>
            <a:ext cx="1578803" cy="457200"/>
          </a:xfrm>
          <a:prstGeom prst="rect">
            <a:avLst/>
          </a:prstGeom>
          <a:noFill/>
          <a:ln/>
        </p:spPr>
        <p:txBody>
          <a:bodyPr wrap="square" lIns="0" tIns="0" rIns="0" bIns="0" rtlCol="0" anchor="ctr"/>
          <a:lstStyle/>
          <a:p>
            <a:pPr indent="0" marL="0">
              <a:buNone/>
            </a:pPr>
            <a:r>
              <a:rPr lang="en-US" sz="1700" b="1" dirty="0">
                <a:solidFill>
                  <a:srgbClr val="1E2A3A"/>
                </a:solidFill>
                <a:latin typeface="Cambria" pitchFamily="34" charset="0"/>
                <a:ea typeface="Cambria" pitchFamily="34" charset="-122"/>
                <a:cs typeface="Cambria" pitchFamily="34" charset="-120"/>
              </a:rPr>
              <a:t>The Iraq run</a:t>
            </a:r>
            <a:endParaRPr lang="en-US" sz="1700" dirty="0"/>
          </a:p>
        </p:txBody>
      </p:sp>
      <p:sp>
        <p:nvSpPr>
          <p:cNvPr id="14" name="Text 12"/>
          <p:cNvSpPr txBox="1"/>
          <p:nvPr/>
        </p:nvSpPr>
        <p:spPr>
          <a:xfrm>
            <a:off x="3224723" y="3246120"/>
            <a:ext cx="1578803" cy="2103120"/>
          </a:xfrm>
          <a:prstGeom prst="rect">
            <a:avLst/>
          </a:prstGeom>
          <a:noFill/>
          <a:ln/>
        </p:spPr>
        <p:txBody>
          <a:bodyPr wrap="square" lIns="0" tIns="0" rIns="0" bIns="0" rtlCol="0" anchor="t"/>
          <a:lstStyle/>
          <a:p>
            <a:pPr indent="0" marL="0">
              <a:buNone/>
            </a:pPr>
            <a:r>
              <a:rPr lang="en-US" sz="1400" dirty="0">
                <a:solidFill>
                  <a:srgbClr val="1E2A3A"/>
                </a:solidFill>
              </a:rPr>
              <a:t>A stuck pistol shipment is pushed through Jordan into Iraq using fixers.</a:t>
            </a:r>
            <a:endParaRPr lang="en-US" sz="1400" dirty="0"/>
          </a:p>
        </p:txBody>
      </p:sp>
      <p:sp>
        <p:nvSpPr>
          <p:cNvPr id="15" name="PHASE 3 pin"/>
          <p:cNvSpPr/>
          <p:nvPr/>
        </p:nvSpPr>
        <p:spPr>
          <a:xfrm>
            <a:off x="6040984" y="2093976"/>
            <a:ext cx="292608" cy="292608"/>
          </a:xfrm>
          <a:prstGeom prst="ellipse">
            <a:avLst/>
          </a:prstGeom>
          <a:solidFill>
            <a:srgbClr val="1E2A3A"/>
          </a:solidFill>
          <a:ln w="25400">
            <a:solidFill>
              <a:srgbClr val="F4EEDF"/>
            </a:solidFill>
            <a:prstDash val="solid"/>
          </a:ln>
        </p:spPr>
      </p:sp>
      <p:sp>
        <p:nvSpPr>
          <p:cNvPr id="16" name="Text 14"/>
          <p:cNvSpPr txBox="1"/>
          <p:nvPr/>
        </p:nvSpPr>
        <p:spPr>
          <a:xfrm>
            <a:off x="5215006" y="1600200"/>
            <a:ext cx="1944563" cy="256032"/>
          </a:xfrm>
          <a:prstGeom prst="rect">
            <a:avLst/>
          </a:prstGeom>
          <a:noFill/>
          <a:ln/>
        </p:spPr>
        <p:txBody>
          <a:bodyPr wrap="square" lIns="0" tIns="0" rIns="0" bIns="0" rtlCol="0" anchor="ctr"/>
          <a:lstStyle/>
          <a:p>
            <a:pPr indent="0" marL="0">
              <a:buNone/>
            </a:pPr>
            <a:r>
              <a:rPr lang="en-US" sz="1100" b="1" spc="100" kern="0" dirty="0">
                <a:solidFill>
                  <a:srgbClr val="5E6670"/>
                </a:solidFill>
                <a:latin typeface="Courier New" pitchFamily="34" charset="0"/>
                <a:ea typeface="Courier New" pitchFamily="34" charset="-122"/>
                <a:cs typeface="Courier New" pitchFamily="34" charset="-120"/>
              </a:rPr>
              <a:t>PHASE 3</a:t>
            </a:r>
            <a:endParaRPr lang="en-US" sz="1100" dirty="0"/>
          </a:p>
        </p:txBody>
      </p:sp>
      <p:sp>
        <p:nvSpPr>
          <p:cNvPr id="17" name="PHASE 3"/>
          <p:cNvSpPr/>
          <p:nvPr/>
        </p:nvSpPr>
        <p:spPr>
          <a:xfrm>
            <a:off x="5215006" y="2606040"/>
            <a:ext cx="1944563" cy="2834640"/>
          </a:xfrm>
          <a:prstGeom prst="rect">
            <a:avLst/>
          </a:prstGeom>
          <a:solidFill>
            <a:srgbClr val="FFFDF7"/>
          </a:solidFill>
          <a:ln w="12700">
            <a:solidFill>
              <a:srgbClr val="CFC5AE"/>
            </a:solidFill>
            <a:prstDash val="solid"/>
          </a:ln>
          <a:effectLst>
            <a:outerShdw sx="100000" sy="100000" kx="0" ky="0" algn="bl" rotWithShape="0" blurRad="63500" dist="25400" dir="5400000">
              <a:srgbClr val="000000">
                <a:alpha val="15000"/>
              </a:srgbClr>
            </a:outerShdw>
          </a:effectLst>
        </p:spPr>
      </p:sp>
      <p:sp>
        <p:nvSpPr>
          <p:cNvPr id="18" name="Text 16"/>
          <p:cNvSpPr txBox="1"/>
          <p:nvPr/>
        </p:nvSpPr>
        <p:spPr>
          <a:xfrm>
            <a:off x="5397886" y="2743200"/>
            <a:ext cx="1578803" cy="457200"/>
          </a:xfrm>
          <a:prstGeom prst="rect">
            <a:avLst/>
          </a:prstGeom>
          <a:noFill/>
          <a:ln/>
        </p:spPr>
        <p:txBody>
          <a:bodyPr wrap="square" lIns="0" tIns="0" rIns="0" bIns="0" rtlCol="0" anchor="ctr"/>
          <a:lstStyle/>
          <a:p>
            <a:pPr indent="0" marL="0">
              <a:buNone/>
            </a:pPr>
            <a:r>
              <a:rPr lang="en-US" sz="1700" b="1" dirty="0">
                <a:solidFill>
                  <a:srgbClr val="1E2A3A"/>
                </a:solidFill>
                <a:latin typeface="Cambria" pitchFamily="34" charset="0"/>
                <a:ea typeface="Cambria" pitchFamily="34" charset="-122"/>
                <a:cs typeface="Cambria" pitchFamily="34" charset="-120"/>
              </a:rPr>
              <a:t>The broker</a:t>
            </a:r>
            <a:endParaRPr lang="en-US" sz="1700" dirty="0"/>
          </a:p>
        </p:txBody>
      </p:sp>
      <p:sp>
        <p:nvSpPr>
          <p:cNvPr id="19" name="Text 17"/>
          <p:cNvSpPr txBox="1"/>
          <p:nvPr/>
        </p:nvSpPr>
        <p:spPr>
          <a:xfrm>
            <a:off x="5397886" y="3246120"/>
            <a:ext cx="1578803" cy="2103120"/>
          </a:xfrm>
          <a:prstGeom prst="rect">
            <a:avLst/>
          </a:prstGeom>
          <a:noFill/>
          <a:ln/>
        </p:spPr>
        <p:txBody>
          <a:bodyPr wrap="square" lIns="0" tIns="0" rIns="0" bIns="0" rtlCol="0" anchor="t"/>
          <a:lstStyle/>
          <a:p>
            <a:pPr indent="0" marL="0">
              <a:buNone/>
            </a:pPr>
            <a:r>
              <a:rPr lang="en-US" sz="1400" dirty="0">
                <a:solidFill>
                  <a:srgbClr val="1E2A3A"/>
                </a:solidFill>
              </a:rPr>
              <a:t>Henry opens access to ~100 million rounds stored in Albania.</a:t>
            </a:r>
            <a:endParaRPr lang="en-US" sz="1400" dirty="0"/>
          </a:p>
        </p:txBody>
      </p:sp>
      <p:sp>
        <p:nvSpPr>
          <p:cNvPr id="20" name="PHASE 4 pin"/>
          <p:cNvSpPr/>
          <p:nvPr/>
        </p:nvSpPr>
        <p:spPr>
          <a:xfrm>
            <a:off x="8214147" y="2093976"/>
            <a:ext cx="292608" cy="292608"/>
          </a:xfrm>
          <a:prstGeom prst="ellipse">
            <a:avLst/>
          </a:prstGeom>
          <a:solidFill>
            <a:srgbClr val="B3261E"/>
          </a:solidFill>
          <a:ln w="25400">
            <a:solidFill>
              <a:srgbClr val="F4EEDF"/>
            </a:solidFill>
            <a:prstDash val="solid"/>
          </a:ln>
        </p:spPr>
      </p:sp>
      <p:sp>
        <p:nvSpPr>
          <p:cNvPr id="21" name="Text 19"/>
          <p:cNvSpPr txBox="1"/>
          <p:nvPr/>
        </p:nvSpPr>
        <p:spPr>
          <a:xfrm>
            <a:off x="7388169" y="1600200"/>
            <a:ext cx="1944563" cy="256032"/>
          </a:xfrm>
          <a:prstGeom prst="rect">
            <a:avLst/>
          </a:prstGeom>
          <a:noFill/>
          <a:ln/>
        </p:spPr>
        <p:txBody>
          <a:bodyPr wrap="square" lIns="0" tIns="0" rIns="0" bIns="0" rtlCol="0" anchor="ctr"/>
          <a:lstStyle/>
          <a:p>
            <a:pPr indent="0" marL="0">
              <a:buNone/>
            </a:pPr>
            <a:r>
              <a:rPr lang="en-US" sz="1100" b="1" spc="100" kern="0" dirty="0">
                <a:solidFill>
                  <a:srgbClr val="B3261E"/>
                </a:solidFill>
                <a:latin typeface="Courier New" pitchFamily="34" charset="0"/>
                <a:ea typeface="Courier New" pitchFamily="34" charset="-122"/>
                <a:cs typeface="Courier New" pitchFamily="34" charset="-120"/>
              </a:rPr>
              <a:t>PHASE 4</a:t>
            </a:r>
            <a:endParaRPr lang="en-US" sz="1100" dirty="0"/>
          </a:p>
        </p:txBody>
      </p:sp>
      <p:sp>
        <p:nvSpPr>
          <p:cNvPr id="22" name="PHASE 4"/>
          <p:cNvSpPr/>
          <p:nvPr/>
        </p:nvSpPr>
        <p:spPr>
          <a:xfrm>
            <a:off x="7388169" y="2606040"/>
            <a:ext cx="1944563" cy="2834640"/>
          </a:xfrm>
          <a:prstGeom prst="rect">
            <a:avLst/>
          </a:prstGeom>
          <a:solidFill>
            <a:srgbClr val="FFFDF7"/>
          </a:solidFill>
          <a:ln w="19050">
            <a:solidFill>
              <a:srgbClr val="B3261E"/>
            </a:solidFill>
            <a:prstDash val="solid"/>
          </a:ln>
          <a:effectLst>
            <a:outerShdw sx="100000" sy="100000" kx="0" ky="0" algn="bl" rotWithShape="0" blurRad="63500" dist="25400" dir="5400000">
              <a:srgbClr val="000000">
                <a:alpha val="15000"/>
              </a:srgbClr>
            </a:outerShdw>
          </a:effectLst>
        </p:spPr>
      </p:sp>
      <p:sp>
        <p:nvSpPr>
          <p:cNvPr id="23" name="Text 21"/>
          <p:cNvSpPr txBox="1"/>
          <p:nvPr/>
        </p:nvSpPr>
        <p:spPr>
          <a:xfrm>
            <a:off x="7571049" y="2743200"/>
            <a:ext cx="1578803" cy="457200"/>
          </a:xfrm>
          <a:prstGeom prst="rect">
            <a:avLst/>
          </a:prstGeom>
          <a:noFill/>
          <a:ln/>
        </p:spPr>
        <p:txBody>
          <a:bodyPr wrap="square" lIns="0" tIns="0" rIns="0" bIns="0" rtlCol="0" anchor="ctr"/>
          <a:lstStyle/>
          <a:p>
            <a:pPr indent="0" marL="0">
              <a:buNone/>
            </a:pPr>
            <a:r>
              <a:rPr lang="en-US" sz="1700" b="1" dirty="0">
                <a:solidFill>
                  <a:srgbClr val="B3261E"/>
                </a:solidFill>
                <a:latin typeface="Cambria" pitchFamily="34" charset="0"/>
                <a:ea typeface="Cambria" pitchFamily="34" charset="-122"/>
                <a:cs typeface="Cambria" pitchFamily="34" charset="-120"/>
              </a:rPr>
              <a:t>The fraud</a:t>
            </a:r>
            <a:endParaRPr lang="en-US" sz="1700" dirty="0"/>
          </a:p>
        </p:txBody>
      </p:sp>
      <p:sp>
        <p:nvSpPr>
          <p:cNvPr id="24" name="Text 22"/>
          <p:cNvSpPr txBox="1"/>
          <p:nvPr/>
        </p:nvSpPr>
        <p:spPr>
          <a:xfrm>
            <a:off x="7571049" y="3246120"/>
            <a:ext cx="1578803" cy="2103120"/>
          </a:xfrm>
          <a:prstGeom prst="rect">
            <a:avLst/>
          </a:prstGeom>
          <a:noFill/>
          <a:ln/>
        </p:spPr>
        <p:txBody>
          <a:bodyPr wrap="square" lIns="0" tIns="0" rIns="0" bIns="0" rtlCol="0" anchor="t"/>
          <a:lstStyle/>
          <a:p>
            <a:pPr indent="0" marL="0">
              <a:buNone/>
            </a:pPr>
            <a:r>
              <a:rPr lang="en-US" sz="1400" dirty="0">
                <a:solidFill>
                  <a:srgbClr val="1E2A3A"/>
                </a:solidFill>
              </a:rPr>
              <a:t>The rounds are Chinese-made and banned; they are repackaged to hide it.</a:t>
            </a:r>
            <a:endParaRPr lang="en-US" sz="1400" dirty="0"/>
          </a:p>
        </p:txBody>
      </p:sp>
      <p:sp>
        <p:nvSpPr>
          <p:cNvPr id="25" name="PHASE 5 pin"/>
          <p:cNvSpPr/>
          <p:nvPr/>
        </p:nvSpPr>
        <p:spPr>
          <a:xfrm>
            <a:off x="10387310" y="2093976"/>
            <a:ext cx="292608" cy="292608"/>
          </a:xfrm>
          <a:prstGeom prst="ellipse">
            <a:avLst/>
          </a:prstGeom>
          <a:solidFill>
            <a:srgbClr val="1E2A3A"/>
          </a:solidFill>
          <a:ln w="25400">
            <a:solidFill>
              <a:srgbClr val="F4EEDF"/>
            </a:solidFill>
            <a:prstDash val="solid"/>
          </a:ln>
        </p:spPr>
      </p:sp>
      <p:sp>
        <p:nvSpPr>
          <p:cNvPr id="26" name="Text 24"/>
          <p:cNvSpPr txBox="1"/>
          <p:nvPr/>
        </p:nvSpPr>
        <p:spPr>
          <a:xfrm>
            <a:off x="9561332" y="1600200"/>
            <a:ext cx="1944563" cy="256032"/>
          </a:xfrm>
          <a:prstGeom prst="rect">
            <a:avLst/>
          </a:prstGeom>
          <a:noFill/>
          <a:ln/>
        </p:spPr>
        <p:txBody>
          <a:bodyPr wrap="square" lIns="0" tIns="0" rIns="0" bIns="0" rtlCol="0" anchor="ctr"/>
          <a:lstStyle/>
          <a:p>
            <a:pPr indent="0" marL="0">
              <a:buNone/>
            </a:pPr>
            <a:r>
              <a:rPr lang="en-US" sz="1100" b="1" spc="100" kern="0" dirty="0">
                <a:solidFill>
                  <a:srgbClr val="5E6670"/>
                </a:solidFill>
                <a:latin typeface="Courier New" pitchFamily="34" charset="0"/>
                <a:ea typeface="Courier New" pitchFamily="34" charset="-122"/>
                <a:cs typeface="Courier New" pitchFamily="34" charset="-120"/>
              </a:rPr>
              <a:t>PHASE 5</a:t>
            </a:r>
            <a:endParaRPr lang="en-US" sz="1100" dirty="0"/>
          </a:p>
        </p:txBody>
      </p:sp>
      <p:sp>
        <p:nvSpPr>
          <p:cNvPr id="27" name="PHASE 5"/>
          <p:cNvSpPr/>
          <p:nvPr/>
        </p:nvSpPr>
        <p:spPr>
          <a:xfrm>
            <a:off x="9561332" y="2606040"/>
            <a:ext cx="1944563" cy="2834640"/>
          </a:xfrm>
          <a:prstGeom prst="rect">
            <a:avLst/>
          </a:prstGeom>
          <a:solidFill>
            <a:srgbClr val="FFFDF7"/>
          </a:solidFill>
          <a:ln w="12700">
            <a:solidFill>
              <a:srgbClr val="CFC5AE"/>
            </a:solidFill>
            <a:prstDash val="solid"/>
          </a:ln>
          <a:effectLst>
            <a:outerShdw sx="100000" sy="100000" kx="0" ky="0" algn="bl" rotWithShape="0" blurRad="63500" dist="25400" dir="5400000">
              <a:srgbClr val="000000">
                <a:alpha val="15000"/>
              </a:srgbClr>
            </a:outerShdw>
          </a:effectLst>
        </p:spPr>
      </p:sp>
      <p:sp>
        <p:nvSpPr>
          <p:cNvPr id="28" name="Text 26"/>
          <p:cNvSpPr txBox="1"/>
          <p:nvPr/>
        </p:nvSpPr>
        <p:spPr>
          <a:xfrm>
            <a:off x="9744212" y="2743200"/>
            <a:ext cx="1578803" cy="457200"/>
          </a:xfrm>
          <a:prstGeom prst="rect">
            <a:avLst/>
          </a:prstGeom>
          <a:noFill/>
          <a:ln/>
        </p:spPr>
        <p:txBody>
          <a:bodyPr wrap="square" lIns="0" tIns="0" rIns="0" bIns="0" rtlCol="0" anchor="ctr"/>
          <a:lstStyle/>
          <a:p>
            <a:pPr indent="0" marL="0">
              <a:buNone/>
            </a:pPr>
            <a:r>
              <a:rPr lang="en-US" sz="1700" b="1" dirty="0">
                <a:solidFill>
                  <a:srgbClr val="1E2A3A"/>
                </a:solidFill>
                <a:latin typeface="Cambria" pitchFamily="34" charset="0"/>
                <a:ea typeface="Cambria" pitchFamily="34" charset="-122"/>
                <a:cs typeface="Cambria" pitchFamily="34" charset="-120"/>
              </a:rPr>
              <a:t>The collapse</a:t>
            </a:r>
            <a:endParaRPr lang="en-US" sz="1700" dirty="0"/>
          </a:p>
        </p:txBody>
      </p:sp>
      <p:sp>
        <p:nvSpPr>
          <p:cNvPr id="29" name="Text 27"/>
          <p:cNvSpPr txBox="1"/>
          <p:nvPr/>
        </p:nvSpPr>
        <p:spPr>
          <a:xfrm>
            <a:off x="9744212" y="3246120"/>
            <a:ext cx="1578803" cy="2103120"/>
          </a:xfrm>
          <a:prstGeom prst="rect">
            <a:avLst/>
          </a:prstGeom>
          <a:noFill/>
          <a:ln/>
        </p:spPr>
        <p:txBody>
          <a:bodyPr wrap="square" lIns="0" tIns="0" rIns="0" bIns="0" rtlCol="0" anchor="t"/>
          <a:lstStyle/>
          <a:p>
            <a:pPr indent="0" marL="0">
              <a:buNone/>
            </a:pPr>
            <a:r>
              <a:rPr lang="en-US" sz="1400" dirty="0">
                <a:solidFill>
                  <a:srgbClr val="1E2A3A"/>
                </a:solidFill>
              </a:rPr>
              <a:t>Betrayal, exposure in 2008, prosecution and sentencing.</a:t>
            </a:r>
            <a:endParaRPr lang="en-US" sz="1400" dirty="0"/>
          </a:p>
        </p:txBody>
      </p:sp>
      <p:sp>
        <p:nvSpPr>
          <p:cNvPr id="30" name="stamp"/>
          <p:cNvSpPr txBox="1"/>
          <p:nvPr/>
        </p:nvSpPr>
        <p:spPr>
          <a:xfrm rot="-300000">
            <a:off x="7251009" y="5532120"/>
            <a:ext cx="2983230" cy="384048"/>
          </a:xfrm>
          <a:prstGeom prst="rect">
            <a:avLst/>
          </a:prstGeom>
          <a:noFill/>
          <a:ln w="38100">
            <a:solidFill>
              <a:srgbClr val="B3261E"/>
            </a:solidFill>
          </a:ln>
        </p:spPr>
        <p:txBody>
          <a:bodyPr wrap="square" lIns="0" tIns="0" rIns="0" bIns="0" rtlCol="0" anchor="ctr"/>
          <a:lstStyle/>
          <a:p>
            <a:pPr algn="ctr" indent="0" marL="0">
              <a:buNone/>
            </a:pPr>
            <a:r>
              <a:rPr lang="en-US" sz="1100" b="1" spc="100" kern="0" dirty="0">
                <a:solidFill>
                  <a:srgbClr val="B3261E"/>
                </a:solidFill>
                <a:latin typeface="Courier New" pitchFamily="34" charset="0"/>
                <a:ea typeface="Courier New" pitchFamily="34" charset="-122"/>
                <a:cs typeface="Courier New" pitchFamily="34" charset="-120"/>
              </a:rPr>
              <a:t>POINT OF NO RETURN</a:t>
            </a:r>
            <a:endParaRPr lang="en-US" sz="1100" dirty="0"/>
          </a:p>
        </p:txBody>
      </p:sp>
      <p:sp>
        <p:nvSpPr>
          <p:cNvPr id="25" name="Slide Number Placeholder 0"/>
          <p:cNvSpPr>
            <a:spLocks noGrp="1"/>
          </p:cNvSpPr>
          <p:nvPr>
            <p:ph type="sldNum" sz="quarter" idx="4294967295"/>
          </p:nvPr>
        </p:nvSpPr>
        <p:spPr>
          <a:xfrm>
            <a:off x="8503920" y="6382512"/>
            <a:ext cx="82296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8A8170"/>
                </a:solidFill>
                <a:latin typeface="Courier New"/>
                <a:ea typeface="Courier New"/>
                <a:cs typeface="Courier New"/>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file tag"/>
          <p:cNvSpPr txBox="1"/>
          <p:nvPr/>
        </p:nvSpPr>
        <p:spPr>
          <a:xfrm>
            <a:off x="868680" y="329184"/>
            <a:ext cx="10637215" cy="274320"/>
          </a:xfrm>
          <a:prstGeom prst="rect">
            <a:avLst/>
          </a:prstGeom>
          <a:noFill/>
          <a:ln/>
        </p:spPr>
        <p:txBody>
          <a:bodyPr wrap="square" lIns="0" tIns="0" rIns="0" bIns="0" rtlCol="0" anchor="ctr"/>
          <a:lstStyle/>
          <a:p>
            <a:pPr indent="0" marL="0">
              <a:buNone/>
            </a:pPr>
            <a:r>
              <a:rPr lang="en-US" sz="1200" b="1" spc="200" kern="0" dirty="0">
                <a:solidFill>
                  <a:srgbClr val="B3261E"/>
                </a:solidFill>
                <a:latin typeface="Courier New" pitchFamily="34" charset="0"/>
                <a:ea typeface="Courier New" pitchFamily="34" charset="-122"/>
                <a:cs typeface="Courier New" pitchFamily="34" charset="-120"/>
              </a:rPr>
              <a:t>PAGE 04  ·  LEGAL TEST</a:t>
            </a:r>
            <a:endParaRPr lang="en-US" sz="1200" dirty="0"/>
          </a:p>
        </p:txBody>
      </p:sp>
      <p:sp>
        <p:nvSpPr>
          <p:cNvPr id="3" name="Text 0"/>
          <p:cNvSpPr/>
          <p:nvPr>
            <p:ph idx="100" type="title" hasCustomPrompt="1"/>
          </p:nvPr>
        </p:nvSpPr>
        <p:spPr>
          <a:xfrm>
            <a:off x="868680" y="658368"/>
            <a:ext cx="10637215" cy="658368"/>
          </a:xfrm>
          <a:prstGeom prst="rect">
            <a:avLst/>
          </a:prstGeom>
          <a:noFill/>
          <a:ln/>
        </p:spPr>
        <p:txBody>
          <a:bodyPr wrap="square" lIns="0" tIns="0" rIns="0" bIns="0" rtlCol="0" anchor="ctr"/>
          <a:lstStyle/>
          <a:p>
            <a:pPr algn="l" indent="0" marL="0">
              <a:buNone/>
            </a:pPr>
            <a:r>
              <a:rPr lang="en-US" sz="2800" b="1" dirty="0">
                <a:solidFill>
                  <a:schemeClr val="tx1"/>
                </a:solidFill>
              </a:rPr>
              <a:t>Exhibit A: AEY meets the UN definition of organized crime</a:t>
            </a:r>
            <a:endParaRPr lang="en-US" sz="2800" dirty="0"/>
          </a:p>
        </p:txBody>
      </p:sp>
      <p:sp>
        <p:nvSpPr>
          <p:cNvPr id="4" name="exhibit tag"/>
          <p:cNvSpPr/>
          <p:nvPr/>
        </p:nvSpPr>
        <p:spPr>
          <a:xfrm>
            <a:off x="868680" y="1508760"/>
            <a:ext cx="1463040" cy="347472"/>
          </a:xfrm>
          <a:prstGeom prst="roundRect">
            <a:avLst>
              <a:gd name="adj" fmla="val 13158"/>
            </a:avLst>
          </a:prstGeom>
          <a:solidFill>
            <a:srgbClr val="F6E27F"/>
          </a:solidFill>
          <a:ln w="12700">
            <a:solidFill>
              <a:srgbClr val="B89B2A"/>
            </a:solidFill>
            <a:prstDash val="solid"/>
          </a:ln>
        </p:spPr>
      </p:sp>
      <p:pic>
        <p:nvPicPr>
          <p:cNvPr id="5" name="tag icon" descr="preencoded.png">    </p:cNvPr>
          <p:cNvPicPr>
            <a:picLocks noChangeAspect="1"/>
          </p:cNvPicPr>
          <p:nvPr/>
        </p:nvPicPr>
        <p:blipFill>
          <a:blip r:embed="rId1"/>
          <a:stretch>
            <a:fillRect/>
          </a:stretch>
        </p:blipFill>
        <p:spPr>
          <a:xfrm>
            <a:off x="960120" y="1591056"/>
            <a:ext cx="182880" cy="182880"/>
          </a:xfrm>
          <a:prstGeom prst="rect">
            <a:avLst/>
          </a:prstGeom>
        </p:spPr>
      </p:pic>
      <p:sp>
        <p:nvSpPr>
          <p:cNvPr id="6" name="Text 3"/>
          <p:cNvSpPr txBox="1"/>
          <p:nvPr/>
        </p:nvSpPr>
        <p:spPr>
          <a:xfrm>
            <a:off x="1188720" y="1508760"/>
            <a:ext cx="1097280" cy="347472"/>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EXHIBIT A</a:t>
            </a:r>
            <a:endParaRPr lang="en-US" sz="1200" dirty="0"/>
          </a:p>
        </p:txBody>
      </p:sp>
      <p:sp>
        <p:nvSpPr>
          <p:cNvPr id="7" name="Text 4"/>
          <p:cNvSpPr txBox="1"/>
          <p:nvPr/>
        </p:nvSpPr>
        <p:spPr>
          <a:xfrm>
            <a:off x="2514600" y="1481328"/>
            <a:ext cx="8991295" cy="411480"/>
          </a:xfrm>
          <a:prstGeom prst="rect">
            <a:avLst/>
          </a:prstGeom>
          <a:noFill/>
          <a:ln/>
        </p:spPr>
        <p:txBody>
          <a:bodyPr wrap="square" lIns="0" tIns="0" rIns="0" bIns="0" rtlCol="0" anchor="ctr"/>
          <a:lstStyle/>
          <a:p>
            <a:pPr indent="0" marL="0">
              <a:buNone/>
            </a:pPr>
            <a:r>
              <a:rPr lang="en-US" sz="1300" i="1" dirty="0">
                <a:solidFill>
                  <a:srgbClr val="5E6670"/>
                </a:solidFill>
              </a:rPr>
              <a:t>UNTOC, Article 2(a): “a structured group of three or more persons, existing for a period of time and acting in concert…”</a:t>
            </a:r>
            <a:endParaRPr lang="en-US" sz="1300" dirty="0"/>
          </a:p>
        </p:txBody>
      </p:sp>
      <p:sp>
        <p:nvSpPr>
          <p:cNvPr id="8" name="Structured group of 3+ persons"/>
          <p:cNvSpPr/>
          <p:nvPr/>
        </p:nvSpPr>
        <p:spPr>
          <a:xfrm>
            <a:off x="868680" y="2103120"/>
            <a:ext cx="7315200" cy="786384"/>
          </a:xfrm>
          <a:prstGeom prst="rect">
            <a:avLst/>
          </a:prstGeom>
          <a:solidFill>
            <a:srgbClr val="FFFDF7"/>
          </a:solidFill>
          <a:ln w="12700">
            <a:solidFill>
              <a:srgbClr val="CFC5AE"/>
            </a:solidFill>
            <a:prstDash val="solid"/>
          </a:ln>
          <a:effectLst>
            <a:outerShdw sx="100000" sy="100000" kx="0" ky="0" algn="bl" rotWithShape="0" blurRad="63500" dist="25400" dir="5400000">
              <a:srgbClr val="000000">
                <a:alpha val="15000"/>
              </a:srgbClr>
            </a:outerShdw>
          </a:effectLst>
        </p:spPr>
      </p:sp>
      <p:sp>
        <p:nvSpPr>
          <p:cNvPr id="9" name="met"/>
          <p:cNvSpPr/>
          <p:nvPr/>
        </p:nvSpPr>
        <p:spPr>
          <a:xfrm>
            <a:off x="1051560" y="2267712"/>
            <a:ext cx="457200" cy="457200"/>
          </a:xfrm>
          <a:prstGeom prst="ellipse">
            <a:avLst/>
          </a:prstGeom>
          <a:solidFill>
            <a:srgbClr val="2E7D4F"/>
          </a:solidFill>
          <a:ln/>
        </p:spPr>
      </p:sp>
      <p:pic>
        <p:nvPicPr>
          <p:cNvPr id="10" name="check" descr="criterion met">    </p:cNvPr>
          <p:cNvPicPr>
            <a:picLocks noChangeAspect="1"/>
          </p:cNvPicPr>
          <p:nvPr/>
        </p:nvPicPr>
        <p:blipFill>
          <a:blip r:embed="rId2"/>
          <a:stretch>
            <a:fillRect/>
          </a:stretch>
        </p:blipFill>
        <p:spPr>
          <a:xfrm>
            <a:off x="1161288" y="2377440"/>
            <a:ext cx="237744" cy="237744"/>
          </a:xfrm>
          <a:prstGeom prst="rect">
            <a:avLst/>
          </a:prstGeom>
        </p:spPr>
      </p:pic>
      <p:sp>
        <p:nvSpPr>
          <p:cNvPr id="11" name="Text 7"/>
          <p:cNvSpPr txBox="1"/>
          <p:nvPr/>
        </p:nvSpPr>
        <p:spPr>
          <a:xfrm>
            <a:off x="1691640" y="2103120"/>
            <a:ext cx="6400800" cy="786384"/>
          </a:xfrm>
          <a:prstGeom prst="rect">
            <a:avLst/>
          </a:prstGeom>
          <a:noFill/>
          <a:ln/>
        </p:spPr>
        <p:txBody>
          <a:bodyPr wrap="square" lIns="0" tIns="0" rIns="0" bIns="0" rtlCol="0" anchor="ctr"/>
          <a:lstStyle/>
          <a:p>
            <a:pPr indent="0" marL="0">
              <a:buNone/>
            </a:pPr>
            <a:r>
              <a:rPr lang="en-US" sz="1500" b="1" dirty="0">
                <a:solidFill>
                  <a:srgbClr val="1E2A3A"/>
                </a:solidFill>
              </a:rPr>
              <a:t>Structured group of 3+ persons</a:t>
            </a:r>
            <a:endParaRPr lang="en-US" sz="1500" dirty="0"/>
          </a:p>
          <a:p>
            <a:pPr indent="0" marL="0">
              <a:buNone/>
            </a:pPr>
            <a:r>
              <a:rPr lang="en-US" sz="1300" dirty="0">
                <a:solidFill>
                  <a:srgbClr val="5E6670"/>
                </a:solidFill>
              </a:rPr>
              <a:t>Efraim, David, Ralph, Henry and the Albanian suppliers, each with a role</a:t>
            </a:r>
            <a:endParaRPr lang="en-US" sz="1500" dirty="0"/>
          </a:p>
        </p:txBody>
      </p:sp>
      <p:sp>
        <p:nvSpPr>
          <p:cNvPr id="12" name="Existing for a period of time"/>
          <p:cNvSpPr/>
          <p:nvPr/>
        </p:nvSpPr>
        <p:spPr>
          <a:xfrm>
            <a:off x="868680" y="3017520"/>
            <a:ext cx="7315200" cy="786384"/>
          </a:xfrm>
          <a:prstGeom prst="rect">
            <a:avLst/>
          </a:prstGeom>
          <a:solidFill>
            <a:srgbClr val="FFFDF7"/>
          </a:solidFill>
          <a:ln w="12700">
            <a:solidFill>
              <a:srgbClr val="CFC5AE"/>
            </a:solidFill>
            <a:prstDash val="solid"/>
          </a:ln>
          <a:effectLst>
            <a:outerShdw sx="100000" sy="100000" kx="0" ky="0" algn="bl" rotWithShape="0" blurRad="63500" dist="25400" dir="5400000">
              <a:srgbClr val="000000">
                <a:alpha val="15000"/>
              </a:srgbClr>
            </a:outerShdw>
          </a:effectLst>
        </p:spPr>
      </p:sp>
      <p:sp>
        <p:nvSpPr>
          <p:cNvPr id="13" name="met"/>
          <p:cNvSpPr/>
          <p:nvPr/>
        </p:nvSpPr>
        <p:spPr>
          <a:xfrm>
            <a:off x="1051560" y="3182112"/>
            <a:ext cx="457200" cy="457200"/>
          </a:xfrm>
          <a:prstGeom prst="ellipse">
            <a:avLst/>
          </a:prstGeom>
          <a:solidFill>
            <a:srgbClr val="2E7D4F"/>
          </a:solidFill>
          <a:ln/>
        </p:spPr>
      </p:sp>
      <p:pic>
        <p:nvPicPr>
          <p:cNvPr id="14" name="check" descr="criterion met">    </p:cNvPr>
          <p:cNvPicPr>
            <a:picLocks noChangeAspect="1"/>
          </p:cNvPicPr>
          <p:nvPr/>
        </p:nvPicPr>
        <p:blipFill>
          <a:blip r:embed="rId3"/>
          <a:stretch>
            <a:fillRect/>
          </a:stretch>
        </p:blipFill>
        <p:spPr>
          <a:xfrm>
            <a:off x="1161288" y="3291840"/>
            <a:ext cx="237744" cy="237744"/>
          </a:xfrm>
          <a:prstGeom prst="rect">
            <a:avLst/>
          </a:prstGeom>
        </p:spPr>
      </p:pic>
      <p:sp>
        <p:nvSpPr>
          <p:cNvPr id="15" name="Text 10"/>
          <p:cNvSpPr txBox="1"/>
          <p:nvPr/>
        </p:nvSpPr>
        <p:spPr>
          <a:xfrm>
            <a:off x="1691640" y="3017520"/>
            <a:ext cx="6400800" cy="786384"/>
          </a:xfrm>
          <a:prstGeom prst="rect">
            <a:avLst/>
          </a:prstGeom>
          <a:noFill/>
          <a:ln/>
        </p:spPr>
        <p:txBody>
          <a:bodyPr wrap="square" lIns="0" tIns="0" rIns="0" bIns="0" rtlCol="0" anchor="ctr"/>
          <a:lstStyle/>
          <a:p>
            <a:pPr indent="0" marL="0">
              <a:buNone/>
            </a:pPr>
            <a:r>
              <a:rPr lang="en-US" sz="1500" b="1" dirty="0">
                <a:solidFill>
                  <a:srgbClr val="1E2A3A"/>
                </a:solidFill>
              </a:rPr>
              <a:t>Existing for a period of time</a:t>
            </a:r>
            <a:endParaRPr lang="en-US" sz="1500" dirty="0"/>
          </a:p>
          <a:p>
            <a:pPr indent="0" marL="0">
              <a:buNone/>
            </a:pPr>
            <a:r>
              <a:rPr lang="en-US" sz="1300" dirty="0">
                <a:solidFill>
                  <a:srgbClr val="5E6670"/>
                </a:solidFill>
              </a:rPr>
              <a:t>Operated over several years, not a one-off offence</a:t>
            </a:r>
            <a:endParaRPr lang="en-US" sz="1500" dirty="0"/>
          </a:p>
        </p:txBody>
      </p:sp>
      <p:sp>
        <p:nvSpPr>
          <p:cNvPr id="16" name="Committing serious crime"/>
          <p:cNvSpPr/>
          <p:nvPr/>
        </p:nvSpPr>
        <p:spPr>
          <a:xfrm>
            <a:off x="868680" y="3931920"/>
            <a:ext cx="7315200" cy="786384"/>
          </a:xfrm>
          <a:prstGeom prst="rect">
            <a:avLst/>
          </a:prstGeom>
          <a:solidFill>
            <a:srgbClr val="FFFDF7"/>
          </a:solidFill>
          <a:ln w="12700">
            <a:solidFill>
              <a:srgbClr val="CFC5AE"/>
            </a:solidFill>
            <a:prstDash val="solid"/>
          </a:ln>
          <a:effectLst>
            <a:outerShdw sx="100000" sy="100000" kx="0" ky="0" algn="bl" rotWithShape="0" blurRad="63500" dist="25400" dir="5400000">
              <a:srgbClr val="000000">
                <a:alpha val="15000"/>
              </a:srgbClr>
            </a:outerShdw>
          </a:effectLst>
        </p:spPr>
      </p:sp>
      <p:sp>
        <p:nvSpPr>
          <p:cNvPr id="17" name="met"/>
          <p:cNvSpPr/>
          <p:nvPr/>
        </p:nvSpPr>
        <p:spPr>
          <a:xfrm>
            <a:off x="1051560" y="4096512"/>
            <a:ext cx="457200" cy="457200"/>
          </a:xfrm>
          <a:prstGeom prst="ellipse">
            <a:avLst/>
          </a:prstGeom>
          <a:solidFill>
            <a:srgbClr val="2E7D4F"/>
          </a:solidFill>
          <a:ln/>
        </p:spPr>
      </p:sp>
      <p:pic>
        <p:nvPicPr>
          <p:cNvPr id="18" name="check" descr="criterion met">    </p:cNvPr>
          <p:cNvPicPr>
            <a:picLocks noChangeAspect="1"/>
          </p:cNvPicPr>
          <p:nvPr/>
        </p:nvPicPr>
        <p:blipFill>
          <a:blip r:embed="rId4"/>
          <a:stretch>
            <a:fillRect/>
          </a:stretch>
        </p:blipFill>
        <p:spPr>
          <a:xfrm>
            <a:off x="1161288" y="4206240"/>
            <a:ext cx="237744" cy="237744"/>
          </a:xfrm>
          <a:prstGeom prst="rect">
            <a:avLst/>
          </a:prstGeom>
        </p:spPr>
      </p:pic>
      <p:sp>
        <p:nvSpPr>
          <p:cNvPr id="19" name="Text 13"/>
          <p:cNvSpPr txBox="1"/>
          <p:nvPr/>
        </p:nvSpPr>
        <p:spPr>
          <a:xfrm>
            <a:off x="1691640" y="3931920"/>
            <a:ext cx="6400800" cy="786384"/>
          </a:xfrm>
          <a:prstGeom prst="rect">
            <a:avLst/>
          </a:prstGeom>
          <a:noFill/>
          <a:ln/>
        </p:spPr>
        <p:txBody>
          <a:bodyPr wrap="square" lIns="0" tIns="0" rIns="0" bIns="0" rtlCol="0" anchor="ctr"/>
          <a:lstStyle/>
          <a:p>
            <a:pPr indent="0" marL="0">
              <a:buNone/>
            </a:pPr>
            <a:r>
              <a:rPr lang="en-US" sz="1500" b="1" dirty="0">
                <a:solidFill>
                  <a:srgbClr val="1E2A3A"/>
                </a:solidFill>
              </a:rPr>
              <a:t>Committing serious crime</a:t>
            </a:r>
            <a:endParaRPr lang="en-US" sz="1500" dirty="0"/>
          </a:p>
          <a:p>
            <a:pPr indent="0" marL="0">
              <a:buNone/>
            </a:pPr>
            <a:r>
              <a:rPr lang="en-US" sz="1300" dirty="0">
                <a:solidFill>
                  <a:srgbClr val="5E6670"/>
                </a:solidFill>
              </a:rPr>
              <a:t>Fraud on the US government, conspiracy, breach of an arms embargo</a:t>
            </a:r>
            <a:endParaRPr lang="en-US" sz="1500" dirty="0"/>
          </a:p>
        </p:txBody>
      </p:sp>
      <p:sp>
        <p:nvSpPr>
          <p:cNvPr id="20" name="For financial or material benefit"/>
          <p:cNvSpPr/>
          <p:nvPr/>
        </p:nvSpPr>
        <p:spPr>
          <a:xfrm>
            <a:off x="868680" y="4846320"/>
            <a:ext cx="7315200" cy="786384"/>
          </a:xfrm>
          <a:prstGeom prst="rect">
            <a:avLst/>
          </a:prstGeom>
          <a:solidFill>
            <a:srgbClr val="FFFDF7"/>
          </a:solidFill>
          <a:ln w="12700">
            <a:solidFill>
              <a:srgbClr val="CFC5AE"/>
            </a:solidFill>
            <a:prstDash val="solid"/>
          </a:ln>
          <a:effectLst>
            <a:outerShdw sx="100000" sy="100000" kx="0" ky="0" algn="bl" rotWithShape="0" blurRad="63500" dist="25400" dir="5400000">
              <a:srgbClr val="000000">
                <a:alpha val="15000"/>
              </a:srgbClr>
            </a:outerShdw>
          </a:effectLst>
        </p:spPr>
      </p:sp>
      <p:sp>
        <p:nvSpPr>
          <p:cNvPr id="21" name="met"/>
          <p:cNvSpPr/>
          <p:nvPr/>
        </p:nvSpPr>
        <p:spPr>
          <a:xfrm>
            <a:off x="1051560" y="5010912"/>
            <a:ext cx="457200" cy="457200"/>
          </a:xfrm>
          <a:prstGeom prst="ellipse">
            <a:avLst/>
          </a:prstGeom>
          <a:solidFill>
            <a:srgbClr val="2E7D4F"/>
          </a:solidFill>
          <a:ln/>
        </p:spPr>
      </p:sp>
      <p:pic>
        <p:nvPicPr>
          <p:cNvPr id="22" name="check" descr="criterion met">    </p:cNvPr>
          <p:cNvPicPr>
            <a:picLocks noChangeAspect="1"/>
          </p:cNvPicPr>
          <p:nvPr/>
        </p:nvPicPr>
        <p:blipFill>
          <a:blip r:embed="rId5"/>
          <a:stretch>
            <a:fillRect/>
          </a:stretch>
        </p:blipFill>
        <p:spPr>
          <a:xfrm>
            <a:off x="1161288" y="5120640"/>
            <a:ext cx="237744" cy="237744"/>
          </a:xfrm>
          <a:prstGeom prst="rect">
            <a:avLst/>
          </a:prstGeom>
        </p:spPr>
      </p:pic>
      <p:sp>
        <p:nvSpPr>
          <p:cNvPr id="23" name="Text 16"/>
          <p:cNvSpPr txBox="1"/>
          <p:nvPr/>
        </p:nvSpPr>
        <p:spPr>
          <a:xfrm>
            <a:off x="1691640" y="4846320"/>
            <a:ext cx="6400800" cy="786384"/>
          </a:xfrm>
          <a:prstGeom prst="rect">
            <a:avLst/>
          </a:prstGeom>
          <a:noFill/>
          <a:ln/>
        </p:spPr>
        <p:txBody>
          <a:bodyPr wrap="square" lIns="0" tIns="0" rIns="0" bIns="0" rtlCol="0" anchor="ctr"/>
          <a:lstStyle/>
          <a:p>
            <a:pPr indent="0" marL="0">
              <a:buNone/>
            </a:pPr>
            <a:r>
              <a:rPr lang="en-US" sz="1500" b="1" dirty="0">
                <a:solidFill>
                  <a:srgbClr val="1E2A3A"/>
                </a:solidFill>
              </a:rPr>
              <a:t>For financial or material benefit</a:t>
            </a:r>
            <a:endParaRPr lang="en-US" sz="1500" dirty="0"/>
          </a:p>
          <a:p>
            <a:pPr indent="0" marL="0">
              <a:buNone/>
            </a:pPr>
            <a:r>
              <a:rPr lang="en-US" sz="1300" dirty="0">
                <a:solidFill>
                  <a:srgbClr val="5E6670"/>
                </a:solidFill>
              </a:rPr>
              <a:t>Millions in profit from the Afghan contract</a:t>
            </a:r>
            <a:endParaRPr lang="en-US" sz="1500" dirty="0"/>
          </a:p>
        </p:txBody>
      </p:sp>
      <p:sp>
        <p:nvSpPr>
          <p:cNvPr id="24" name="finding"/>
          <p:cNvSpPr/>
          <p:nvPr/>
        </p:nvSpPr>
        <p:spPr>
          <a:xfrm>
            <a:off x="8458200" y="2103120"/>
            <a:ext cx="3047695" cy="3529584"/>
          </a:xfrm>
          <a:prstGeom prst="rect">
            <a:avLst/>
          </a:prstGeom>
          <a:solidFill>
            <a:srgbClr val="FFFDF7"/>
          </a:solidFill>
          <a:ln w="19050">
            <a:solidFill>
              <a:srgbClr val="B3261E"/>
            </a:solidFill>
            <a:prstDash val="solid"/>
          </a:ln>
          <a:effectLst>
            <a:outerShdw sx="100000" sy="100000" kx="0" ky="0" algn="bl" rotWithShape="0" blurRad="63500" dist="25400" dir="5400000">
              <a:srgbClr val="000000">
                <a:alpha val="15000"/>
              </a:srgbClr>
            </a:outerShdw>
          </a:effectLst>
        </p:spPr>
      </p:sp>
      <p:sp>
        <p:nvSpPr>
          <p:cNvPr id="25" name="Text 18"/>
          <p:cNvSpPr txBox="1"/>
          <p:nvPr/>
        </p:nvSpPr>
        <p:spPr>
          <a:xfrm>
            <a:off x="8686800" y="2240280"/>
            <a:ext cx="2590495" cy="256032"/>
          </a:xfrm>
          <a:prstGeom prst="rect">
            <a:avLst/>
          </a:prstGeom>
          <a:noFill/>
          <a:ln/>
        </p:spPr>
        <p:txBody>
          <a:bodyPr wrap="square" lIns="0" tIns="0" rIns="0" bIns="0" rtlCol="0" anchor="ctr"/>
          <a:lstStyle/>
          <a:p>
            <a:pPr indent="0" marL="0">
              <a:buNone/>
            </a:pPr>
            <a:r>
              <a:rPr lang="en-US" sz="1100" b="1" spc="100" kern="0" dirty="0">
                <a:solidFill>
                  <a:srgbClr val="B3261E"/>
                </a:solidFill>
                <a:latin typeface="Courier New" pitchFamily="34" charset="0"/>
                <a:ea typeface="Courier New" pitchFamily="34" charset="-122"/>
                <a:cs typeface="Courier New" pitchFamily="34" charset="-120"/>
              </a:rPr>
              <a:t>FINDING</a:t>
            </a:r>
            <a:endParaRPr lang="en-US" sz="1100" dirty="0"/>
          </a:p>
        </p:txBody>
      </p:sp>
      <p:sp>
        <p:nvSpPr>
          <p:cNvPr id="26" name="Text 19"/>
          <p:cNvSpPr txBox="1"/>
          <p:nvPr/>
        </p:nvSpPr>
        <p:spPr>
          <a:xfrm>
            <a:off x="8686800" y="2560320"/>
            <a:ext cx="2590495" cy="1463040"/>
          </a:xfrm>
          <a:prstGeom prst="rect">
            <a:avLst/>
          </a:prstGeom>
          <a:noFill/>
          <a:ln/>
        </p:spPr>
        <p:txBody>
          <a:bodyPr wrap="square" lIns="0" tIns="0" rIns="0" bIns="0" rtlCol="0" anchor="t"/>
          <a:lstStyle/>
          <a:p>
            <a:pPr indent="0" marL="0">
              <a:buNone/>
            </a:pPr>
            <a:r>
              <a:rPr lang="en-US" sz="1700" b="1" dirty="0">
                <a:solidFill>
                  <a:srgbClr val="1E2A3A"/>
                </a:solidFill>
                <a:latin typeface="Cambria" pitchFamily="34" charset="0"/>
                <a:ea typeface="Cambria" pitchFamily="34" charset="-122"/>
                <a:cs typeface="Cambria" pitchFamily="34" charset="-120"/>
              </a:rPr>
              <a:t>All four criteria are met. Under international law, AEY is an organized criminal group.</a:t>
            </a:r>
            <a:endParaRPr lang="en-US" sz="1700" dirty="0"/>
          </a:p>
        </p:txBody>
      </p:sp>
      <p:sp>
        <p:nvSpPr>
          <p:cNvPr id="27" name="Text 20"/>
          <p:cNvSpPr txBox="1"/>
          <p:nvPr/>
        </p:nvSpPr>
        <p:spPr>
          <a:xfrm>
            <a:off x="8686800" y="4069080"/>
            <a:ext cx="2590495" cy="914400"/>
          </a:xfrm>
          <a:prstGeom prst="rect">
            <a:avLst/>
          </a:prstGeom>
          <a:noFill/>
          <a:ln/>
        </p:spPr>
        <p:txBody>
          <a:bodyPr wrap="square" lIns="0" tIns="0" rIns="0" bIns="0" rtlCol="0" anchor="t"/>
          <a:lstStyle/>
          <a:p>
            <a:pPr indent="0" marL="0">
              <a:buNone/>
            </a:pPr>
            <a:r>
              <a:rPr lang="en-US" sz="1300" i="1" dirty="0">
                <a:solidFill>
                  <a:srgbClr val="5E6670"/>
                </a:solidFill>
              </a:rPr>
              <a:t>“Serious crime” = punishable by at least 4 years. A formal hierarchy is not required.</a:t>
            </a:r>
            <a:endParaRPr lang="en-US" sz="1300" dirty="0"/>
          </a:p>
        </p:txBody>
      </p:sp>
      <p:sp>
        <p:nvSpPr>
          <p:cNvPr id="28" name="stamp"/>
          <p:cNvSpPr txBox="1"/>
          <p:nvPr/>
        </p:nvSpPr>
        <p:spPr>
          <a:xfrm rot="-360000">
            <a:off x="8778240" y="4983480"/>
            <a:ext cx="2407615" cy="411480"/>
          </a:xfrm>
          <a:prstGeom prst="rect">
            <a:avLst/>
          </a:prstGeom>
          <a:noFill/>
          <a:ln w="38100">
            <a:solidFill>
              <a:srgbClr val="2E7D4F"/>
            </a:solidFill>
          </a:ln>
        </p:spPr>
        <p:txBody>
          <a:bodyPr wrap="square" lIns="0" tIns="0" rIns="0" bIns="0" rtlCol="0" anchor="ctr"/>
          <a:lstStyle/>
          <a:p>
            <a:pPr algn="ctr" indent="0" marL="0">
              <a:buNone/>
            </a:pPr>
            <a:r>
              <a:rPr lang="en-US" sz="1300" b="1" spc="100" kern="0" dirty="0">
                <a:solidFill>
                  <a:srgbClr val="2E7D4F"/>
                </a:solidFill>
                <a:latin typeface="Courier New" pitchFamily="34" charset="0"/>
                <a:ea typeface="Courier New" pitchFamily="34" charset="-122"/>
                <a:cs typeface="Courier New" pitchFamily="34" charset="-120"/>
              </a:rPr>
              <a:t>CRITERIA MET</a:t>
            </a:r>
            <a:endParaRPr lang="en-US" sz="1300" dirty="0"/>
          </a:p>
        </p:txBody>
      </p:sp>
      <p:sp>
        <p:nvSpPr>
          <p:cNvPr id="29" name="Text 22"/>
          <p:cNvSpPr txBox="1"/>
          <p:nvPr/>
        </p:nvSpPr>
        <p:spPr>
          <a:xfrm>
            <a:off x="868680" y="6089904"/>
            <a:ext cx="8503920" cy="219456"/>
          </a:xfrm>
          <a:prstGeom prst="rect">
            <a:avLst/>
          </a:prstGeom>
          <a:noFill/>
          <a:ln/>
        </p:spPr>
        <p:txBody>
          <a:bodyPr wrap="square" lIns="0" tIns="0" rIns="0" bIns="0" rtlCol="0" anchor="ctr"/>
          <a:lstStyle/>
          <a:p>
            <a:pPr indent="0" marL="0">
              <a:buNone/>
            </a:pPr>
            <a:r>
              <a:rPr lang="en-US" sz="1000" i="1" dirty="0">
                <a:solidFill>
                  <a:srgbClr val="8A8170"/>
                </a:solidFill>
              </a:rPr>
              <a:t>Source: UNODC (2004), United Nations Convention against Transnational Organized Crime, Art. 2.</a:t>
            </a:r>
            <a:endParaRPr lang="en-US" sz="1000" dirty="0"/>
          </a:p>
        </p:txBody>
      </p:sp>
      <p:sp>
        <p:nvSpPr>
          <p:cNvPr id="25" name="Slide Number Placeholder 0"/>
          <p:cNvSpPr>
            <a:spLocks noGrp="1"/>
          </p:cNvSpPr>
          <p:nvPr>
            <p:ph type="sldNum" sz="quarter" idx="4294967295"/>
          </p:nvPr>
        </p:nvSpPr>
        <p:spPr>
          <a:xfrm>
            <a:off x="8503920" y="6382512"/>
            <a:ext cx="82296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8A8170"/>
                </a:solidFill>
                <a:latin typeface="Courier New"/>
                <a:ea typeface="Courier New"/>
                <a:cs typeface="Courier New"/>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file tag"/>
          <p:cNvSpPr txBox="1"/>
          <p:nvPr/>
        </p:nvSpPr>
        <p:spPr>
          <a:xfrm>
            <a:off x="868680" y="329184"/>
            <a:ext cx="10637215" cy="274320"/>
          </a:xfrm>
          <a:prstGeom prst="rect">
            <a:avLst/>
          </a:prstGeom>
          <a:noFill/>
          <a:ln/>
        </p:spPr>
        <p:txBody>
          <a:bodyPr wrap="square" lIns="0" tIns="0" rIns="0" bIns="0" rtlCol="0" anchor="ctr"/>
          <a:lstStyle/>
          <a:p>
            <a:pPr indent="0" marL="0">
              <a:buNone/>
            </a:pPr>
            <a:r>
              <a:rPr lang="en-US" sz="1200" b="1" spc="200" kern="0" dirty="0">
                <a:solidFill>
                  <a:srgbClr val="B3261E"/>
                </a:solidFill>
                <a:latin typeface="Courier New" pitchFamily="34" charset="0"/>
                <a:ea typeface="Courier New" pitchFamily="34" charset="-122"/>
                <a:cs typeface="Courier New" pitchFamily="34" charset="-120"/>
              </a:rPr>
              <a:t>PAGE 05  ·  CLASSIFICATION</a:t>
            </a:r>
            <a:endParaRPr lang="en-US" sz="1200" dirty="0"/>
          </a:p>
        </p:txBody>
      </p:sp>
      <p:sp>
        <p:nvSpPr>
          <p:cNvPr id="3" name="Text 0"/>
          <p:cNvSpPr/>
          <p:nvPr>
            <p:ph idx="100" type="title" hasCustomPrompt="1"/>
          </p:nvPr>
        </p:nvSpPr>
        <p:spPr>
          <a:xfrm>
            <a:off x="868680" y="658368"/>
            <a:ext cx="10637215" cy="658368"/>
          </a:xfrm>
          <a:prstGeom prst="rect">
            <a:avLst/>
          </a:prstGeom>
          <a:noFill/>
          <a:ln/>
        </p:spPr>
        <p:txBody>
          <a:bodyPr wrap="square" lIns="0" tIns="0" rIns="0" bIns="0" rtlCol="0" anchor="ctr"/>
          <a:lstStyle/>
          <a:p>
            <a:pPr algn="l" indent="0" marL="0">
              <a:buNone/>
            </a:pPr>
            <a:r>
              <a:rPr lang="en-US" sz="2800" b="1" dirty="0">
                <a:solidFill>
                  <a:schemeClr val="tx1"/>
                </a:solidFill>
              </a:rPr>
              <a:t>Exhibit B: but AEY is not the mafia</a:t>
            </a:r>
            <a:endParaRPr lang="en-US" sz="2800" dirty="0"/>
          </a:p>
        </p:txBody>
      </p:sp>
      <p:sp>
        <p:nvSpPr>
          <p:cNvPr id="4" name="exhibit tag"/>
          <p:cNvSpPr/>
          <p:nvPr/>
        </p:nvSpPr>
        <p:spPr>
          <a:xfrm>
            <a:off x="868680" y="1508760"/>
            <a:ext cx="1463040" cy="347472"/>
          </a:xfrm>
          <a:prstGeom prst="roundRect">
            <a:avLst>
              <a:gd name="adj" fmla="val 13158"/>
            </a:avLst>
          </a:prstGeom>
          <a:solidFill>
            <a:srgbClr val="F6E27F"/>
          </a:solidFill>
          <a:ln w="12700">
            <a:solidFill>
              <a:srgbClr val="B89B2A"/>
            </a:solidFill>
            <a:prstDash val="solid"/>
          </a:ln>
        </p:spPr>
      </p:sp>
      <p:pic>
        <p:nvPicPr>
          <p:cNvPr id="5" name="tag icon" descr="preencoded.png">    </p:cNvPr>
          <p:cNvPicPr>
            <a:picLocks noChangeAspect="1"/>
          </p:cNvPicPr>
          <p:nvPr/>
        </p:nvPicPr>
        <p:blipFill>
          <a:blip r:embed="rId1"/>
          <a:stretch>
            <a:fillRect/>
          </a:stretch>
        </p:blipFill>
        <p:spPr>
          <a:xfrm>
            <a:off x="960120" y="1591056"/>
            <a:ext cx="182880" cy="182880"/>
          </a:xfrm>
          <a:prstGeom prst="rect">
            <a:avLst/>
          </a:prstGeom>
        </p:spPr>
      </p:pic>
      <p:sp>
        <p:nvSpPr>
          <p:cNvPr id="6" name="Text 3"/>
          <p:cNvSpPr txBox="1"/>
          <p:nvPr/>
        </p:nvSpPr>
        <p:spPr>
          <a:xfrm>
            <a:off x="1188720" y="1508760"/>
            <a:ext cx="1097280" cy="347472"/>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EXHIBIT B</a:t>
            </a:r>
            <a:endParaRPr lang="en-US" sz="1200" dirty="0"/>
          </a:p>
        </p:txBody>
      </p:sp>
      <p:sp>
        <p:nvSpPr>
          <p:cNvPr id="7" name="Text 4"/>
          <p:cNvSpPr txBox="1"/>
          <p:nvPr/>
        </p:nvSpPr>
        <p:spPr>
          <a:xfrm>
            <a:off x="2514600" y="1481328"/>
            <a:ext cx="6400800" cy="411480"/>
          </a:xfrm>
          <a:prstGeom prst="rect">
            <a:avLst/>
          </a:prstGeom>
          <a:noFill/>
          <a:ln/>
        </p:spPr>
        <p:txBody>
          <a:bodyPr wrap="square" lIns="0" tIns="0" rIns="0" bIns="0" rtlCol="0" anchor="ctr"/>
          <a:lstStyle/>
          <a:p>
            <a:pPr indent="0" marL="0">
              <a:buNone/>
            </a:pPr>
            <a:r>
              <a:rPr lang="en-US" sz="1300" i="1" dirty="0">
                <a:solidFill>
                  <a:srgbClr val="5E6670"/>
                </a:solidFill>
              </a:rPr>
              <a:t>Abadinsky’s (2013) attributes of traditional organized crime</a:t>
            </a:r>
            <a:endParaRPr lang="en-US" sz="1300" dirty="0"/>
          </a:p>
        </p:txBody>
      </p:sp>
      <p:sp>
        <p:nvSpPr>
          <p:cNvPr id="8" name="Non-ideological, profit-driven"/>
          <p:cNvSpPr/>
          <p:nvPr/>
        </p:nvSpPr>
        <p:spPr>
          <a:xfrm>
            <a:off x="868680" y="2057400"/>
            <a:ext cx="3474720" cy="749808"/>
          </a:xfrm>
          <a:prstGeom prst="rect">
            <a:avLst/>
          </a:prstGeom>
          <a:solidFill>
            <a:srgbClr val="FFFDF7"/>
          </a:solidFill>
          <a:ln w="12700">
            <a:solidFill>
              <a:srgbClr val="CFC5AE"/>
            </a:solidFill>
            <a:prstDash val="solid"/>
          </a:ln>
          <a:effectLst>
            <a:outerShdw sx="100000" sy="100000" kx="0" ky="0" algn="bl" rotWithShape="0" blurRad="63500" dist="25400" dir="5400000">
              <a:srgbClr val="000000">
                <a:alpha val="15000"/>
              </a:srgbClr>
            </a:outerShdw>
          </a:effectLst>
        </p:spPr>
      </p:sp>
      <p:sp>
        <p:nvSpPr>
          <p:cNvPr id="9" name="verdict dot"/>
          <p:cNvSpPr/>
          <p:nvPr/>
        </p:nvSpPr>
        <p:spPr>
          <a:xfrm>
            <a:off x="1014984" y="2203704"/>
            <a:ext cx="457200" cy="457200"/>
          </a:xfrm>
          <a:prstGeom prst="ellipse">
            <a:avLst/>
          </a:prstGeom>
          <a:solidFill>
            <a:srgbClr val="2E7D4F"/>
          </a:solidFill>
          <a:ln/>
        </p:spPr>
      </p:sp>
      <p:pic>
        <p:nvPicPr>
          <p:cNvPr id="10" name="verdict icon" descr="fits">    </p:cNvPr>
          <p:cNvPicPr>
            <a:picLocks noChangeAspect="1"/>
          </p:cNvPicPr>
          <p:nvPr/>
        </p:nvPicPr>
        <p:blipFill>
          <a:blip r:embed="rId2"/>
          <a:stretch>
            <a:fillRect/>
          </a:stretch>
        </p:blipFill>
        <p:spPr>
          <a:xfrm>
            <a:off x="1124712" y="2313432"/>
            <a:ext cx="237744" cy="237744"/>
          </a:xfrm>
          <a:prstGeom prst="rect">
            <a:avLst/>
          </a:prstGeom>
        </p:spPr>
      </p:pic>
      <p:sp>
        <p:nvSpPr>
          <p:cNvPr id="11" name="Text 7"/>
          <p:cNvSpPr txBox="1"/>
          <p:nvPr/>
        </p:nvSpPr>
        <p:spPr>
          <a:xfrm>
            <a:off x="1600200" y="2057400"/>
            <a:ext cx="2651760" cy="749808"/>
          </a:xfrm>
          <a:prstGeom prst="rect">
            <a:avLst/>
          </a:prstGeom>
          <a:noFill/>
          <a:ln/>
        </p:spPr>
        <p:txBody>
          <a:bodyPr wrap="square" lIns="0" tIns="0" rIns="0" bIns="0" rtlCol="0" anchor="ctr"/>
          <a:lstStyle/>
          <a:p>
            <a:pPr indent="0" marL="0">
              <a:buNone/>
            </a:pPr>
            <a:r>
              <a:rPr lang="en-US" sz="1400" b="1" dirty="0">
                <a:solidFill>
                  <a:srgbClr val="1E2A3A"/>
                </a:solidFill>
              </a:rPr>
              <a:t>Non-ideological, profit-driven</a:t>
            </a:r>
            <a:endParaRPr lang="en-US" sz="1400" dirty="0"/>
          </a:p>
          <a:p>
            <a:pPr indent="0" marL="0">
              <a:buNone/>
            </a:pPr>
            <a:r>
              <a:rPr lang="en-US" sz="1200" dirty="0">
                <a:solidFill>
                  <a:srgbClr val="5E6670"/>
                </a:solidFill>
              </a:rPr>
              <a:t>Fits</a:t>
            </a:r>
            <a:endParaRPr lang="en-US" sz="1400" dirty="0"/>
          </a:p>
        </p:txBody>
      </p:sp>
      <p:sp>
        <p:nvSpPr>
          <p:cNvPr id="12" name="Hierarchical ranks"/>
          <p:cNvSpPr/>
          <p:nvPr/>
        </p:nvSpPr>
        <p:spPr>
          <a:xfrm>
            <a:off x="4480560" y="2057400"/>
            <a:ext cx="3474720" cy="749808"/>
          </a:xfrm>
          <a:prstGeom prst="rect">
            <a:avLst/>
          </a:prstGeom>
          <a:solidFill>
            <a:srgbClr val="FFFDF7"/>
          </a:solidFill>
          <a:ln w="12700">
            <a:solidFill>
              <a:srgbClr val="CFC5AE"/>
            </a:solidFill>
            <a:prstDash val="solid"/>
          </a:ln>
          <a:effectLst>
            <a:outerShdw sx="100000" sy="100000" kx="0" ky="0" algn="bl" rotWithShape="0" blurRad="63500" dist="25400" dir="5400000">
              <a:srgbClr val="000000">
                <a:alpha val="15000"/>
              </a:srgbClr>
            </a:outerShdw>
          </a:effectLst>
        </p:spPr>
      </p:sp>
      <p:sp>
        <p:nvSpPr>
          <p:cNvPr id="13" name="verdict dot"/>
          <p:cNvSpPr/>
          <p:nvPr/>
        </p:nvSpPr>
        <p:spPr>
          <a:xfrm>
            <a:off x="4626864" y="2203704"/>
            <a:ext cx="457200" cy="457200"/>
          </a:xfrm>
          <a:prstGeom prst="ellipse">
            <a:avLst/>
          </a:prstGeom>
          <a:solidFill>
            <a:srgbClr val="B3261E"/>
          </a:solidFill>
          <a:ln/>
        </p:spPr>
      </p:sp>
      <p:pic>
        <p:nvPicPr>
          <p:cNvPr id="14" name="verdict icon" descr="does not fit">    </p:cNvPr>
          <p:cNvPicPr>
            <a:picLocks noChangeAspect="1"/>
          </p:cNvPicPr>
          <p:nvPr/>
        </p:nvPicPr>
        <p:blipFill>
          <a:blip r:embed="rId3"/>
          <a:stretch>
            <a:fillRect/>
          </a:stretch>
        </p:blipFill>
        <p:spPr>
          <a:xfrm>
            <a:off x="4736592" y="2313432"/>
            <a:ext cx="237744" cy="237744"/>
          </a:xfrm>
          <a:prstGeom prst="rect">
            <a:avLst/>
          </a:prstGeom>
        </p:spPr>
      </p:pic>
      <p:sp>
        <p:nvSpPr>
          <p:cNvPr id="15" name="Text 10"/>
          <p:cNvSpPr txBox="1"/>
          <p:nvPr/>
        </p:nvSpPr>
        <p:spPr>
          <a:xfrm>
            <a:off x="5212080" y="2057400"/>
            <a:ext cx="2651760" cy="749808"/>
          </a:xfrm>
          <a:prstGeom prst="rect">
            <a:avLst/>
          </a:prstGeom>
          <a:noFill/>
          <a:ln/>
        </p:spPr>
        <p:txBody>
          <a:bodyPr wrap="square" lIns="0" tIns="0" rIns="0" bIns="0" rtlCol="0" anchor="ctr"/>
          <a:lstStyle/>
          <a:p>
            <a:pPr indent="0" marL="0">
              <a:buNone/>
            </a:pPr>
            <a:r>
              <a:rPr lang="en-US" sz="1400" b="1" dirty="0">
                <a:solidFill>
                  <a:srgbClr val="1E2A3A"/>
                </a:solidFill>
              </a:rPr>
              <a:t>Hierarchical ranks</a:t>
            </a:r>
            <a:endParaRPr lang="en-US" sz="1400" dirty="0"/>
          </a:p>
          <a:p>
            <a:pPr indent="0" marL="0">
              <a:buNone/>
            </a:pPr>
            <a:r>
              <a:rPr lang="en-US" sz="1200" dirty="0">
                <a:solidFill>
                  <a:srgbClr val="5E6670"/>
                </a:solidFill>
              </a:rPr>
              <a:t>Does not fit</a:t>
            </a:r>
            <a:endParaRPr lang="en-US" sz="1400" dirty="0"/>
          </a:p>
        </p:txBody>
      </p:sp>
      <p:sp>
        <p:nvSpPr>
          <p:cNvPr id="16" name="Exclusive membership, rituals"/>
          <p:cNvSpPr/>
          <p:nvPr/>
        </p:nvSpPr>
        <p:spPr>
          <a:xfrm>
            <a:off x="868680" y="2953512"/>
            <a:ext cx="3474720" cy="749808"/>
          </a:xfrm>
          <a:prstGeom prst="rect">
            <a:avLst/>
          </a:prstGeom>
          <a:solidFill>
            <a:srgbClr val="FFFDF7"/>
          </a:solidFill>
          <a:ln w="12700">
            <a:solidFill>
              <a:srgbClr val="CFC5AE"/>
            </a:solidFill>
            <a:prstDash val="solid"/>
          </a:ln>
          <a:effectLst>
            <a:outerShdw sx="100000" sy="100000" kx="0" ky="0" algn="bl" rotWithShape="0" blurRad="63500" dist="25400" dir="5400000">
              <a:srgbClr val="000000">
                <a:alpha val="15000"/>
              </a:srgbClr>
            </a:outerShdw>
          </a:effectLst>
        </p:spPr>
      </p:sp>
      <p:sp>
        <p:nvSpPr>
          <p:cNvPr id="17" name="verdict dot"/>
          <p:cNvSpPr/>
          <p:nvPr/>
        </p:nvSpPr>
        <p:spPr>
          <a:xfrm>
            <a:off x="1014984" y="3099816"/>
            <a:ext cx="457200" cy="457200"/>
          </a:xfrm>
          <a:prstGeom prst="ellipse">
            <a:avLst/>
          </a:prstGeom>
          <a:solidFill>
            <a:srgbClr val="B3261E"/>
          </a:solidFill>
          <a:ln/>
        </p:spPr>
      </p:sp>
      <p:pic>
        <p:nvPicPr>
          <p:cNvPr id="18" name="verdict icon" descr="does not fit">    </p:cNvPr>
          <p:cNvPicPr>
            <a:picLocks noChangeAspect="1"/>
          </p:cNvPicPr>
          <p:nvPr/>
        </p:nvPicPr>
        <p:blipFill>
          <a:blip r:embed="rId4"/>
          <a:stretch>
            <a:fillRect/>
          </a:stretch>
        </p:blipFill>
        <p:spPr>
          <a:xfrm>
            <a:off x="1124712" y="3209544"/>
            <a:ext cx="237744" cy="237744"/>
          </a:xfrm>
          <a:prstGeom prst="rect">
            <a:avLst/>
          </a:prstGeom>
        </p:spPr>
      </p:pic>
      <p:sp>
        <p:nvSpPr>
          <p:cNvPr id="19" name="Text 13"/>
          <p:cNvSpPr txBox="1"/>
          <p:nvPr/>
        </p:nvSpPr>
        <p:spPr>
          <a:xfrm>
            <a:off x="1600200" y="2953512"/>
            <a:ext cx="2651760" cy="749808"/>
          </a:xfrm>
          <a:prstGeom prst="rect">
            <a:avLst/>
          </a:prstGeom>
          <a:noFill/>
          <a:ln/>
        </p:spPr>
        <p:txBody>
          <a:bodyPr wrap="square" lIns="0" tIns="0" rIns="0" bIns="0" rtlCol="0" anchor="ctr"/>
          <a:lstStyle/>
          <a:p>
            <a:pPr indent="0" marL="0">
              <a:buNone/>
            </a:pPr>
            <a:r>
              <a:rPr lang="en-US" sz="1400" b="1" dirty="0">
                <a:solidFill>
                  <a:srgbClr val="1E2A3A"/>
                </a:solidFill>
              </a:rPr>
              <a:t>Exclusive membership, rituals</a:t>
            </a:r>
            <a:endParaRPr lang="en-US" sz="1400" dirty="0"/>
          </a:p>
          <a:p>
            <a:pPr indent="0" marL="0">
              <a:buNone/>
            </a:pPr>
            <a:r>
              <a:rPr lang="en-US" sz="1200" dirty="0">
                <a:solidFill>
                  <a:srgbClr val="5E6670"/>
                </a:solidFill>
              </a:rPr>
              <a:t>Does not fit</a:t>
            </a:r>
            <a:endParaRPr lang="en-US" sz="1400" dirty="0"/>
          </a:p>
        </p:txBody>
      </p:sp>
      <p:sp>
        <p:nvSpPr>
          <p:cNvPr id="20" name="Survives arrest of its leaders"/>
          <p:cNvSpPr/>
          <p:nvPr/>
        </p:nvSpPr>
        <p:spPr>
          <a:xfrm>
            <a:off x="4480560" y="2953512"/>
            <a:ext cx="3474720" cy="749808"/>
          </a:xfrm>
          <a:prstGeom prst="rect">
            <a:avLst/>
          </a:prstGeom>
          <a:solidFill>
            <a:srgbClr val="FFFDF7"/>
          </a:solidFill>
          <a:ln w="12700">
            <a:solidFill>
              <a:srgbClr val="CFC5AE"/>
            </a:solidFill>
            <a:prstDash val="solid"/>
          </a:ln>
          <a:effectLst>
            <a:outerShdw sx="100000" sy="100000" kx="0" ky="0" algn="bl" rotWithShape="0" blurRad="63500" dist="25400" dir="5400000">
              <a:srgbClr val="000000">
                <a:alpha val="15000"/>
              </a:srgbClr>
            </a:outerShdw>
          </a:effectLst>
        </p:spPr>
      </p:sp>
      <p:sp>
        <p:nvSpPr>
          <p:cNvPr id="21" name="verdict dot"/>
          <p:cNvSpPr/>
          <p:nvPr/>
        </p:nvSpPr>
        <p:spPr>
          <a:xfrm>
            <a:off x="4626864" y="3099816"/>
            <a:ext cx="457200" cy="457200"/>
          </a:xfrm>
          <a:prstGeom prst="ellipse">
            <a:avLst/>
          </a:prstGeom>
          <a:solidFill>
            <a:srgbClr val="B3261E"/>
          </a:solidFill>
          <a:ln/>
        </p:spPr>
      </p:sp>
      <p:pic>
        <p:nvPicPr>
          <p:cNvPr id="22" name="verdict icon" descr="does not fit">    </p:cNvPr>
          <p:cNvPicPr>
            <a:picLocks noChangeAspect="1"/>
          </p:cNvPicPr>
          <p:nvPr/>
        </p:nvPicPr>
        <p:blipFill>
          <a:blip r:embed="rId5"/>
          <a:stretch>
            <a:fillRect/>
          </a:stretch>
        </p:blipFill>
        <p:spPr>
          <a:xfrm>
            <a:off x="4736592" y="3209544"/>
            <a:ext cx="237744" cy="237744"/>
          </a:xfrm>
          <a:prstGeom prst="rect">
            <a:avLst/>
          </a:prstGeom>
        </p:spPr>
      </p:pic>
      <p:sp>
        <p:nvSpPr>
          <p:cNvPr id="23" name="Text 16"/>
          <p:cNvSpPr txBox="1"/>
          <p:nvPr/>
        </p:nvSpPr>
        <p:spPr>
          <a:xfrm>
            <a:off x="5212080" y="2953512"/>
            <a:ext cx="2651760" cy="749808"/>
          </a:xfrm>
          <a:prstGeom prst="rect">
            <a:avLst/>
          </a:prstGeom>
          <a:noFill/>
          <a:ln/>
        </p:spPr>
        <p:txBody>
          <a:bodyPr wrap="square" lIns="0" tIns="0" rIns="0" bIns="0" rtlCol="0" anchor="ctr"/>
          <a:lstStyle/>
          <a:p>
            <a:pPr indent="0" marL="0">
              <a:buNone/>
            </a:pPr>
            <a:r>
              <a:rPr lang="en-US" sz="1400" b="1" dirty="0">
                <a:solidFill>
                  <a:srgbClr val="1E2A3A"/>
                </a:solidFill>
              </a:rPr>
              <a:t>Survives arrest of its leaders</a:t>
            </a:r>
            <a:endParaRPr lang="en-US" sz="1400" dirty="0"/>
          </a:p>
          <a:p>
            <a:pPr indent="0" marL="0">
              <a:buNone/>
            </a:pPr>
            <a:r>
              <a:rPr lang="en-US" sz="1200" dirty="0">
                <a:solidFill>
                  <a:srgbClr val="5E6670"/>
                </a:solidFill>
              </a:rPr>
              <a:t>Does not fit</a:t>
            </a:r>
            <a:endParaRPr lang="en-US" sz="1400" dirty="0"/>
          </a:p>
        </p:txBody>
      </p:sp>
      <p:sp>
        <p:nvSpPr>
          <p:cNvPr id="24" name="Violence or bribery"/>
          <p:cNvSpPr/>
          <p:nvPr/>
        </p:nvSpPr>
        <p:spPr>
          <a:xfrm>
            <a:off x="868680" y="3849624"/>
            <a:ext cx="3474720" cy="749808"/>
          </a:xfrm>
          <a:prstGeom prst="rect">
            <a:avLst/>
          </a:prstGeom>
          <a:solidFill>
            <a:srgbClr val="FFFDF7"/>
          </a:solidFill>
          <a:ln w="12700">
            <a:solidFill>
              <a:srgbClr val="CFC5AE"/>
            </a:solidFill>
            <a:prstDash val="solid"/>
          </a:ln>
          <a:effectLst>
            <a:outerShdw sx="100000" sy="100000" kx="0" ky="0" algn="bl" rotWithShape="0" blurRad="63500" dist="25400" dir="5400000">
              <a:srgbClr val="000000">
                <a:alpha val="15000"/>
              </a:srgbClr>
            </a:outerShdw>
          </a:effectLst>
        </p:spPr>
      </p:sp>
      <p:sp>
        <p:nvSpPr>
          <p:cNvPr id="25" name="verdict dot"/>
          <p:cNvSpPr/>
          <p:nvPr/>
        </p:nvSpPr>
        <p:spPr>
          <a:xfrm>
            <a:off x="1014984" y="3995928"/>
            <a:ext cx="457200" cy="457200"/>
          </a:xfrm>
          <a:prstGeom prst="ellipse">
            <a:avLst/>
          </a:prstGeom>
          <a:solidFill>
            <a:srgbClr val="C9A227"/>
          </a:solidFill>
          <a:ln/>
        </p:spPr>
      </p:sp>
      <p:pic>
        <p:nvPicPr>
          <p:cNvPr id="26" name="verdict icon" descr="partly fits">    </p:cNvPr>
          <p:cNvPicPr>
            <a:picLocks noChangeAspect="1"/>
          </p:cNvPicPr>
          <p:nvPr/>
        </p:nvPicPr>
        <p:blipFill>
          <a:blip r:embed="rId6"/>
          <a:stretch>
            <a:fillRect/>
          </a:stretch>
        </p:blipFill>
        <p:spPr>
          <a:xfrm>
            <a:off x="1124712" y="4105656"/>
            <a:ext cx="237744" cy="237744"/>
          </a:xfrm>
          <a:prstGeom prst="rect">
            <a:avLst/>
          </a:prstGeom>
        </p:spPr>
      </p:pic>
      <p:sp>
        <p:nvSpPr>
          <p:cNvPr id="27" name="Text 19"/>
          <p:cNvSpPr txBox="1"/>
          <p:nvPr/>
        </p:nvSpPr>
        <p:spPr>
          <a:xfrm>
            <a:off x="1600200" y="3849624"/>
            <a:ext cx="2651760" cy="749808"/>
          </a:xfrm>
          <a:prstGeom prst="rect">
            <a:avLst/>
          </a:prstGeom>
          <a:noFill/>
          <a:ln/>
        </p:spPr>
        <p:txBody>
          <a:bodyPr wrap="square" lIns="0" tIns="0" rIns="0" bIns="0" rtlCol="0" anchor="ctr"/>
          <a:lstStyle/>
          <a:p>
            <a:pPr indent="0" marL="0">
              <a:buNone/>
            </a:pPr>
            <a:r>
              <a:rPr lang="en-US" sz="1400" b="1" dirty="0">
                <a:solidFill>
                  <a:srgbClr val="1E2A3A"/>
                </a:solidFill>
              </a:rPr>
              <a:t>Violence or bribery</a:t>
            </a:r>
            <a:endParaRPr lang="en-US" sz="1400" dirty="0"/>
          </a:p>
          <a:p>
            <a:pPr indent="0" marL="0">
              <a:buNone/>
            </a:pPr>
            <a:r>
              <a:rPr lang="en-US" sz="1200" dirty="0">
                <a:solidFill>
                  <a:srgbClr val="5E6670"/>
                </a:solidFill>
              </a:rPr>
              <a:t>Partly fits</a:t>
            </a:r>
            <a:endParaRPr lang="en-US" sz="1400" dirty="0"/>
          </a:p>
        </p:txBody>
      </p:sp>
      <p:sp>
        <p:nvSpPr>
          <p:cNvPr id="28" name="Specialized roles"/>
          <p:cNvSpPr/>
          <p:nvPr/>
        </p:nvSpPr>
        <p:spPr>
          <a:xfrm>
            <a:off x="4480560" y="3849624"/>
            <a:ext cx="3474720" cy="749808"/>
          </a:xfrm>
          <a:prstGeom prst="rect">
            <a:avLst/>
          </a:prstGeom>
          <a:solidFill>
            <a:srgbClr val="FFFDF7"/>
          </a:solidFill>
          <a:ln w="12700">
            <a:solidFill>
              <a:srgbClr val="CFC5AE"/>
            </a:solidFill>
            <a:prstDash val="solid"/>
          </a:ln>
          <a:effectLst>
            <a:outerShdw sx="100000" sy="100000" kx="0" ky="0" algn="bl" rotWithShape="0" blurRad="63500" dist="25400" dir="5400000">
              <a:srgbClr val="000000">
                <a:alpha val="15000"/>
              </a:srgbClr>
            </a:outerShdw>
          </a:effectLst>
        </p:spPr>
      </p:sp>
      <p:sp>
        <p:nvSpPr>
          <p:cNvPr id="29" name="verdict dot"/>
          <p:cNvSpPr/>
          <p:nvPr/>
        </p:nvSpPr>
        <p:spPr>
          <a:xfrm>
            <a:off x="4626864" y="3995928"/>
            <a:ext cx="457200" cy="457200"/>
          </a:xfrm>
          <a:prstGeom prst="ellipse">
            <a:avLst/>
          </a:prstGeom>
          <a:solidFill>
            <a:srgbClr val="2E7D4F"/>
          </a:solidFill>
          <a:ln/>
        </p:spPr>
      </p:sp>
      <p:pic>
        <p:nvPicPr>
          <p:cNvPr id="30" name="verdict icon" descr="fits">    </p:cNvPr>
          <p:cNvPicPr>
            <a:picLocks noChangeAspect="1"/>
          </p:cNvPicPr>
          <p:nvPr/>
        </p:nvPicPr>
        <p:blipFill>
          <a:blip r:embed="rId7"/>
          <a:stretch>
            <a:fillRect/>
          </a:stretch>
        </p:blipFill>
        <p:spPr>
          <a:xfrm>
            <a:off x="4736592" y="4105656"/>
            <a:ext cx="237744" cy="237744"/>
          </a:xfrm>
          <a:prstGeom prst="rect">
            <a:avLst/>
          </a:prstGeom>
        </p:spPr>
      </p:pic>
      <p:sp>
        <p:nvSpPr>
          <p:cNvPr id="31" name="Text 22"/>
          <p:cNvSpPr txBox="1"/>
          <p:nvPr/>
        </p:nvSpPr>
        <p:spPr>
          <a:xfrm>
            <a:off x="5212080" y="3849624"/>
            <a:ext cx="2651760" cy="749808"/>
          </a:xfrm>
          <a:prstGeom prst="rect">
            <a:avLst/>
          </a:prstGeom>
          <a:noFill/>
          <a:ln/>
        </p:spPr>
        <p:txBody>
          <a:bodyPr wrap="square" lIns="0" tIns="0" rIns="0" bIns="0" rtlCol="0" anchor="ctr"/>
          <a:lstStyle/>
          <a:p>
            <a:pPr indent="0" marL="0">
              <a:buNone/>
            </a:pPr>
            <a:r>
              <a:rPr lang="en-US" sz="1400" b="1" dirty="0">
                <a:solidFill>
                  <a:srgbClr val="1E2A3A"/>
                </a:solidFill>
              </a:rPr>
              <a:t>Specialized roles</a:t>
            </a:r>
            <a:endParaRPr lang="en-US" sz="1400" dirty="0"/>
          </a:p>
          <a:p>
            <a:pPr indent="0" marL="0">
              <a:buNone/>
            </a:pPr>
            <a:r>
              <a:rPr lang="en-US" sz="1200" dirty="0">
                <a:solidFill>
                  <a:srgbClr val="5E6670"/>
                </a:solidFill>
              </a:rPr>
              <a:t>Fits</a:t>
            </a:r>
            <a:endParaRPr lang="en-US" sz="1400" dirty="0"/>
          </a:p>
        </p:txBody>
      </p:sp>
      <p:sp>
        <p:nvSpPr>
          <p:cNvPr id="32" name="Seeks monopoly"/>
          <p:cNvSpPr/>
          <p:nvPr/>
        </p:nvSpPr>
        <p:spPr>
          <a:xfrm>
            <a:off x="868680" y="4745736"/>
            <a:ext cx="3474720" cy="749808"/>
          </a:xfrm>
          <a:prstGeom prst="rect">
            <a:avLst/>
          </a:prstGeom>
          <a:solidFill>
            <a:srgbClr val="FFFDF7"/>
          </a:solidFill>
          <a:ln w="12700">
            <a:solidFill>
              <a:srgbClr val="CFC5AE"/>
            </a:solidFill>
            <a:prstDash val="solid"/>
          </a:ln>
          <a:effectLst>
            <a:outerShdw sx="100000" sy="100000" kx="0" ky="0" algn="bl" rotWithShape="0" blurRad="63500" dist="25400" dir="5400000">
              <a:srgbClr val="000000">
                <a:alpha val="15000"/>
              </a:srgbClr>
            </a:outerShdw>
          </a:effectLst>
        </p:spPr>
      </p:sp>
      <p:sp>
        <p:nvSpPr>
          <p:cNvPr id="33" name="verdict dot"/>
          <p:cNvSpPr/>
          <p:nvPr/>
        </p:nvSpPr>
        <p:spPr>
          <a:xfrm>
            <a:off x="1014984" y="4892040"/>
            <a:ext cx="457200" cy="457200"/>
          </a:xfrm>
          <a:prstGeom prst="ellipse">
            <a:avLst/>
          </a:prstGeom>
          <a:solidFill>
            <a:srgbClr val="C9A227"/>
          </a:solidFill>
          <a:ln/>
        </p:spPr>
      </p:sp>
      <p:pic>
        <p:nvPicPr>
          <p:cNvPr id="34" name="verdict icon" descr="partly fits">    </p:cNvPr>
          <p:cNvPicPr>
            <a:picLocks noChangeAspect="1"/>
          </p:cNvPicPr>
          <p:nvPr/>
        </p:nvPicPr>
        <p:blipFill>
          <a:blip r:embed="rId8"/>
          <a:stretch>
            <a:fillRect/>
          </a:stretch>
        </p:blipFill>
        <p:spPr>
          <a:xfrm>
            <a:off x="1124712" y="5001768"/>
            <a:ext cx="237744" cy="237744"/>
          </a:xfrm>
          <a:prstGeom prst="rect">
            <a:avLst/>
          </a:prstGeom>
        </p:spPr>
      </p:pic>
      <p:sp>
        <p:nvSpPr>
          <p:cNvPr id="35" name="Text 25"/>
          <p:cNvSpPr txBox="1"/>
          <p:nvPr/>
        </p:nvSpPr>
        <p:spPr>
          <a:xfrm>
            <a:off x="1600200" y="4745736"/>
            <a:ext cx="2651760" cy="749808"/>
          </a:xfrm>
          <a:prstGeom prst="rect">
            <a:avLst/>
          </a:prstGeom>
          <a:noFill/>
          <a:ln/>
        </p:spPr>
        <p:txBody>
          <a:bodyPr wrap="square" lIns="0" tIns="0" rIns="0" bIns="0" rtlCol="0" anchor="ctr"/>
          <a:lstStyle/>
          <a:p>
            <a:pPr indent="0" marL="0">
              <a:buNone/>
            </a:pPr>
            <a:r>
              <a:rPr lang="en-US" sz="1400" b="1" dirty="0">
                <a:solidFill>
                  <a:srgbClr val="1E2A3A"/>
                </a:solidFill>
              </a:rPr>
              <a:t>Seeks monopoly</a:t>
            </a:r>
            <a:endParaRPr lang="en-US" sz="1400" dirty="0"/>
          </a:p>
          <a:p>
            <a:pPr indent="0" marL="0">
              <a:buNone/>
            </a:pPr>
            <a:r>
              <a:rPr lang="en-US" sz="1200" dirty="0">
                <a:solidFill>
                  <a:srgbClr val="5E6670"/>
                </a:solidFill>
              </a:rPr>
              <a:t>Partly fits</a:t>
            </a:r>
            <a:endParaRPr lang="en-US" sz="1400" dirty="0"/>
          </a:p>
        </p:txBody>
      </p:sp>
      <p:sp>
        <p:nvSpPr>
          <p:cNvPr id="36" name="Rules or code of conduct"/>
          <p:cNvSpPr/>
          <p:nvPr/>
        </p:nvSpPr>
        <p:spPr>
          <a:xfrm>
            <a:off x="4480560" y="4745736"/>
            <a:ext cx="3474720" cy="749808"/>
          </a:xfrm>
          <a:prstGeom prst="rect">
            <a:avLst/>
          </a:prstGeom>
          <a:solidFill>
            <a:srgbClr val="FFFDF7"/>
          </a:solidFill>
          <a:ln w="12700">
            <a:solidFill>
              <a:srgbClr val="CFC5AE"/>
            </a:solidFill>
            <a:prstDash val="solid"/>
          </a:ln>
          <a:effectLst>
            <a:outerShdw sx="100000" sy="100000" kx="0" ky="0" algn="bl" rotWithShape="0" blurRad="63500" dist="25400" dir="5400000">
              <a:srgbClr val="000000">
                <a:alpha val="15000"/>
              </a:srgbClr>
            </a:outerShdw>
          </a:effectLst>
        </p:spPr>
      </p:sp>
      <p:sp>
        <p:nvSpPr>
          <p:cNvPr id="37" name="verdict dot"/>
          <p:cNvSpPr/>
          <p:nvPr/>
        </p:nvSpPr>
        <p:spPr>
          <a:xfrm>
            <a:off x="4626864" y="4892040"/>
            <a:ext cx="457200" cy="457200"/>
          </a:xfrm>
          <a:prstGeom prst="ellipse">
            <a:avLst/>
          </a:prstGeom>
          <a:solidFill>
            <a:srgbClr val="B3261E"/>
          </a:solidFill>
          <a:ln/>
        </p:spPr>
      </p:sp>
      <p:pic>
        <p:nvPicPr>
          <p:cNvPr id="38" name="verdict icon" descr="does not fit">    </p:cNvPr>
          <p:cNvPicPr>
            <a:picLocks noChangeAspect="1"/>
          </p:cNvPicPr>
          <p:nvPr/>
        </p:nvPicPr>
        <p:blipFill>
          <a:blip r:embed="rId9"/>
          <a:stretch>
            <a:fillRect/>
          </a:stretch>
        </p:blipFill>
        <p:spPr>
          <a:xfrm>
            <a:off x="4736592" y="5001768"/>
            <a:ext cx="237744" cy="237744"/>
          </a:xfrm>
          <a:prstGeom prst="rect">
            <a:avLst/>
          </a:prstGeom>
        </p:spPr>
      </p:pic>
      <p:sp>
        <p:nvSpPr>
          <p:cNvPr id="39" name="Text 28"/>
          <p:cNvSpPr txBox="1"/>
          <p:nvPr/>
        </p:nvSpPr>
        <p:spPr>
          <a:xfrm>
            <a:off x="5212080" y="4745736"/>
            <a:ext cx="2651760" cy="749808"/>
          </a:xfrm>
          <a:prstGeom prst="rect">
            <a:avLst/>
          </a:prstGeom>
          <a:noFill/>
          <a:ln/>
        </p:spPr>
        <p:txBody>
          <a:bodyPr wrap="square" lIns="0" tIns="0" rIns="0" bIns="0" rtlCol="0" anchor="ctr"/>
          <a:lstStyle/>
          <a:p>
            <a:pPr indent="0" marL="0">
              <a:buNone/>
            </a:pPr>
            <a:r>
              <a:rPr lang="en-US" sz="1400" b="1" dirty="0">
                <a:solidFill>
                  <a:srgbClr val="1E2A3A"/>
                </a:solidFill>
              </a:rPr>
              <a:t>Rules or code of conduct</a:t>
            </a:r>
            <a:endParaRPr lang="en-US" sz="1400" dirty="0"/>
          </a:p>
          <a:p>
            <a:pPr indent="0" marL="0">
              <a:buNone/>
            </a:pPr>
            <a:r>
              <a:rPr lang="en-US" sz="1200" dirty="0">
                <a:solidFill>
                  <a:srgbClr val="5E6670"/>
                </a:solidFill>
              </a:rPr>
              <a:t>Does not fit</a:t>
            </a:r>
            <a:endParaRPr lang="en-US" sz="1400" dirty="0"/>
          </a:p>
        </p:txBody>
      </p:sp>
      <p:sp>
        <p:nvSpPr>
          <p:cNvPr id="40" name="classification"/>
          <p:cNvSpPr/>
          <p:nvPr/>
        </p:nvSpPr>
        <p:spPr>
          <a:xfrm>
            <a:off x="8321040" y="2057400"/>
            <a:ext cx="3184855" cy="3429000"/>
          </a:xfrm>
          <a:prstGeom prst="rect">
            <a:avLst/>
          </a:prstGeom>
          <a:solidFill>
            <a:srgbClr val="1E2A3A"/>
          </a:solidFill>
          <a:ln w="12700">
            <a:solidFill>
              <a:srgbClr val="1E2A3A"/>
            </a:solidFill>
            <a:prstDash val="solid"/>
          </a:ln>
          <a:effectLst>
            <a:outerShdw sx="100000" sy="100000" kx="0" ky="0" algn="bl" rotWithShape="0" blurRad="63500" dist="25400" dir="5400000">
              <a:srgbClr val="000000">
                <a:alpha val="15000"/>
              </a:srgbClr>
            </a:outerShdw>
          </a:effectLst>
        </p:spPr>
      </p:sp>
      <p:sp>
        <p:nvSpPr>
          <p:cNvPr id="41" name="Text 30"/>
          <p:cNvSpPr txBox="1"/>
          <p:nvPr/>
        </p:nvSpPr>
        <p:spPr>
          <a:xfrm>
            <a:off x="8595360" y="2240280"/>
            <a:ext cx="2636215" cy="256032"/>
          </a:xfrm>
          <a:prstGeom prst="rect">
            <a:avLst/>
          </a:prstGeom>
          <a:noFill/>
          <a:ln/>
        </p:spPr>
        <p:txBody>
          <a:bodyPr wrap="square" lIns="0" tIns="0" rIns="0" bIns="0" rtlCol="0" anchor="ctr"/>
          <a:lstStyle/>
          <a:p>
            <a:pPr indent="0" marL="0">
              <a:buNone/>
            </a:pPr>
            <a:r>
              <a:rPr lang="en-US" sz="1100" b="1" spc="100" kern="0" dirty="0">
                <a:solidFill>
                  <a:srgbClr val="F6E27F"/>
                </a:solidFill>
                <a:latin typeface="Courier New" pitchFamily="34" charset="0"/>
                <a:ea typeface="Courier New" pitchFamily="34" charset="-122"/>
                <a:cs typeface="Courier New" pitchFamily="34" charset="-120"/>
              </a:rPr>
              <a:t>CLASSIFICATION</a:t>
            </a:r>
            <a:endParaRPr lang="en-US" sz="1100" dirty="0"/>
          </a:p>
        </p:txBody>
      </p:sp>
      <p:sp>
        <p:nvSpPr>
          <p:cNvPr id="42" name="Text 31"/>
          <p:cNvSpPr txBox="1"/>
          <p:nvPr/>
        </p:nvSpPr>
        <p:spPr>
          <a:xfrm>
            <a:off x="8595360" y="2560320"/>
            <a:ext cx="2636215" cy="91440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Organized white-collar crime</a:t>
            </a:r>
            <a:endParaRPr lang="en-US" sz="2200" dirty="0"/>
          </a:p>
        </p:txBody>
      </p:sp>
      <p:sp>
        <p:nvSpPr>
          <p:cNvPr id="43" name="Text 32"/>
          <p:cNvSpPr txBox="1"/>
          <p:nvPr/>
        </p:nvSpPr>
        <p:spPr>
          <a:xfrm>
            <a:off x="8595360" y="3520440"/>
            <a:ext cx="2636215" cy="1737360"/>
          </a:xfrm>
          <a:prstGeom prst="rect">
            <a:avLst/>
          </a:prstGeom>
          <a:noFill/>
          <a:ln/>
        </p:spPr>
        <p:txBody>
          <a:bodyPr wrap="square" lIns="0" tIns="0" rIns="0" bIns="0" rtlCol="0" anchor="t"/>
          <a:lstStyle/>
          <a:p>
            <a:pPr indent="0" marL="0">
              <a:buNone/>
            </a:pPr>
            <a:r>
              <a:rPr lang="en-US" sz="1400" dirty="0">
                <a:solidFill>
                  <a:srgbClr val="E6E0D2"/>
                </a:solidFill>
              </a:rPr>
              <a:t>A legal company committing organized, transnational fraud (Sutherland, 1940). It didn’t look criminal, so no one checked.</a:t>
            </a:r>
            <a:endParaRPr lang="en-US" sz="1400" dirty="0"/>
          </a:p>
        </p:txBody>
      </p:sp>
      <p:sp>
        <p:nvSpPr>
          <p:cNvPr id="44" name="stamp"/>
          <p:cNvSpPr txBox="1"/>
          <p:nvPr/>
        </p:nvSpPr>
        <p:spPr>
          <a:xfrm rot="-300000">
            <a:off x="8503920" y="5532120"/>
            <a:ext cx="2819095" cy="411480"/>
          </a:xfrm>
          <a:prstGeom prst="rect">
            <a:avLst/>
          </a:prstGeom>
          <a:noFill/>
          <a:ln w="38100">
            <a:solidFill>
              <a:srgbClr val="B3261E"/>
            </a:solidFill>
          </a:ln>
        </p:spPr>
        <p:txBody>
          <a:bodyPr wrap="square" lIns="0" tIns="0" rIns="0" bIns="0" rtlCol="0" anchor="ctr"/>
          <a:lstStyle/>
          <a:p>
            <a:pPr algn="ctr" indent="0" marL="0">
              <a:buNone/>
            </a:pPr>
            <a:r>
              <a:rPr lang="en-US" sz="1400" b="1" spc="100" kern="0" dirty="0">
                <a:solidFill>
                  <a:srgbClr val="B3261E"/>
                </a:solidFill>
                <a:latin typeface="Courier New" pitchFamily="34" charset="0"/>
                <a:ea typeface="Courier New" pitchFamily="34" charset="-122"/>
                <a:cs typeface="Courier New" pitchFamily="34" charset="-120"/>
              </a:rPr>
              <a:t>NOT THE MAFIA</a:t>
            </a:r>
            <a:endParaRPr lang="en-US" sz="1400" dirty="0"/>
          </a:p>
        </p:txBody>
      </p:sp>
      <p:sp>
        <p:nvSpPr>
          <p:cNvPr id="25" name="Slide Number Placeholder 0"/>
          <p:cNvSpPr>
            <a:spLocks noGrp="1"/>
          </p:cNvSpPr>
          <p:nvPr>
            <p:ph type="sldNum" sz="quarter" idx="4294967295"/>
          </p:nvPr>
        </p:nvSpPr>
        <p:spPr>
          <a:xfrm>
            <a:off x="8503920" y="6382512"/>
            <a:ext cx="82296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8A8170"/>
                </a:solidFill>
                <a:latin typeface="Courier New"/>
                <a:ea typeface="Courier New"/>
                <a:cs typeface="Courier New"/>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file tag"/>
          <p:cNvSpPr txBox="1"/>
          <p:nvPr/>
        </p:nvSpPr>
        <p:spPr>
          <a:xfrm>
            <a:off x="868680" y="329184"/>
            <a:ext cx="10637215" cy="274320"/>
          </a:xfrm>
          <a:prstGeom prst="rect">
            <a:avLst/>
          </a:prstGeom>
          <a:noFill/>
          <a:ln/>
        </p:spPr>
        <p:txBody>
          <a:bodyPr wrap="square" lIns="0" tIns="0" rIns="0" bIns="0" rtlCol="0" anchor="ctr"/>
          <a:lstStyle/>
          <a:p>
            <a:pPr indent="0" marL="0">
              <a:buNone/>
            </a:pPr>
            <a:r>
              <a:rPr lang="en-US" sz="1200" b="1" spc="200" kern="0" dirty="0">
                <a:solidFill>
                  <a:srgbClr val="B3261E"/>
                </a:solidFill>
                <a:latin typeface="Courier New" pitchFamily="34" charset="0"/>
                <a:ea typeface="Courier New" pitchFamily="34" charset="-122"/>
                <a:cs typeface="Courier New" pitchFamily="34" charset="-120"/>
              </a:rPr>
              <a:t>PAGE 06  ·  LINK ANALYSIS</a:t>
            </a:r>
            <a:endParaRPr lang="en-US" sz="1200" dirty="0"/>
          </a:p>
        </p:txBody>
      </p:sp>
      <p:sp>
        <p:nvSpPr>
          <p:cNvPr id="3" name="Text 0"/>
          <p:cNvSpPr/>
          <p:nvPr>
            <p:ph idx="100" type="title" hasCustomPrompt="1"/>
          </p:nvPr>
        </p:nvSpPr>
        <p:spPr>
          <a:xfrm>
            <a:off x="868680" y="658368"/>
            <a:ext cx="10637215" cy="658368"/>
          </a:xfrm>
          <a:prstGeom prst="rect">
            <a:avLst/>
          </a:prstGeom>
          <a:noFill/>
          <a:ln/>
        </p:spPr>
        <p:txBody>
          <a:bodyPr wrap="square" lIns="0" tIns="0" rIns="0" bIns="0" rtlCol="0" anchor="ctr"/>
          <a:lstStyle/>
          <a:p>
            <a:pPr algn="l" indent="0" marL="0">
              <a:buNone/>
            </a:pPr>
            <a:r>
              <a:rPr lang="en-US" sz="2800" b="1" dirty="0">
                <a:solidFill>
                  <a:schemeClr val="tx1"/>
                </a:solidFill>
              </a:rPr>
              <a:t>Link analysis: the brokers in the middle held the power</a:t>
            </a:r>
            <a:endParaRPr lang="en-US" sz="2800" dirty="0"/>
          </a:p>
        </p:txBody>
      </p:sp>
      <p:sp>
        <p:nvSpPr>
          <p:cNvPr id="4" name="US ARMY"/>
          <p:cNvSpPr/>
          <p:nvPr/>
        </p:nvSpPr>
        <p:spPr>
          <a:xfrm>
            <a:off x="1051560" y="1600200"/>
            <a:ext cx="1600200" cy="1874520"/>
          </a:xfrm>
          <a:prstGeom prst="rect">
            <a:avLst/>
          </a:prstGeom>
          <a:solidFill>
            <a:srgbClr val="FFFFFF"/>
          </a:solidFill>
          <a:ln w="12700">
            <a:solidFill>
              <a:srgbClr val="D9D2C2"/>
            </a:solidFill>
            <a:prstDash val="solid"/>
          </a:ln>
          <a:effectLst>
            <a:outerShdw sx="100000" sy="100000" kx="0" ky="0" algn="bl" rotWithShape="0" blurRad="63500" dist="25400" dir="5400000">
              <a:srgbClr val="000000">
                <a:alpha val="15000"/>
              </a:srgbClr>
            </a:outerShdw>
          </a:effectLst>
        </p:spPr>
      </p:sp>
      <p:sp>
        <p:nvSpPr>
          <p:cNvPr id="5" name="photo area"/>
          <p:cNvSpPr/>
          <p:nvPr/>
        </p:nvSpPr>
        <p:spPr>
          <a:xfrm>
            <a:off x="1161288" y="1828800"/>
            <a:ext cx="1380744" cy="1051560"/>
          </a:xfrm>
          <a:prstGeom prst="rect">
            <a:avLst/>
          </a:prstGeom>
          <a:solidFill>
            <a:srgbClr val="E4E1DA"/>
          </a:solidFill>
          <a:ln/>
        </p:spPr>
      </p:sp>
      <p:pic>
        <p:nvPicPr>
          <p:cNvPr id="6" name="US ARMY" descr="US ARMY">    </p:cNvPr>
          <p:cNvPicPr>
            <a:picLocks noChangeAspect="1"/>
          </p:cNvPicPr>
          <p:nvPr/>
        </p:nvPicPr>
        <p:blipFill>
          <a:blip r:embed="rId1"/>
          <a:stretch>
            <a:fillRect/>
          </a:stretch>
        </p:blipFill>
        <p:spPr>
          <a:xfrm>
            <a:off x="1467612" y="1965960"/>
            <a:ext cx="768096" cy="768096"/>
          </a:xfrm>
          <a:prstGeom prst="rect">
            <a:avLst/>
          </a:prstGeom>
        </p:spPr>
      </p:pic>
      <p:sp>
        <p:nvSpPr>
          <p:cNvPr id="7" name="Text 4"/>
          <p:cNvSpPr txBox="1"/>
          <p:nvPr/>
        </p:nvSpPr>
        <p:spPr>
          <a:xfrm>
            <a:off x="1124712" y="2926080"/>
            <a:ext cx="1453896" cy="502920"/>
          </a:xfrm>
          <a:prstGeom prst="rect">
            <a:avLst/>
          </a:prstGeom>
          <a:noFill/>
          <a:ln/>
        </p:spPr>
        <p:txBody>
          <a:bodyPr wrap="square" lIns="0" tIns="0" rIns="0" bIns="0" rtlCol="0" anchor="ct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US ARMY</a:t>
            </a:r>
            <a:endParaRPr lang="en-US" sz="1100" dirty="0"/>
          </a:p>
          <a:p>
            <a:pPr algn="ctr" indent="0" marL="0">
              <a:buNone/>
            </a:pPr>
            <a:r>
              <a:rPr lang="en-US" sz="1000" dirty="0">
                <a:solidFill>
                  <a:srgbClr val="5E6670"/>
                </a:solidFill>
              </a:rPr>
              <a:t>Buyer: open tenders</a:t>
            </a:r>
            <a:endParaRPr lang="en-US" sz="1100" dirty="0"/>
          </a:p>
        </p:txBody>
      </p:sp>
      <p:sp>
        <p:nvSpPr>
          <p:cNvPr id="8" name="AFGHAN ARMY"/>
          <p:cNvSpPr/>
          <p:nvPr/>
        </p:nvSpPr>
        <p:spPr>
          <a:xfrm>
            <a:off x="3977640" y="1508760"/>
            <a:ext cx="1600200" cy="1874520"/>
          </a:xfrm>
          <a:prstGeom prst="rect">
            <a:avLst/>
          </a:prstGeom>
          <a:solidFill>
            <a:srgbClr val="FFFFFF"/>
          </a:solidFill>
          <a:ln w="12700">
            <a:solidFill>
              <a:srgbClr val="D9D2C2"/>
            </a:solidFill>
            <a:prstDash val="solid"/>
          </a:ln>
          <a:effectLst>
            <a:outerShdw sx="100000" sy="100000" kx="0" ky="0" algn="bl" rotWithShape="0" blurRad="63500" dist="25400" dir="5400000">
              <a:srgbClr val="000000">
                <a:alpha val="15000"/>
              </a:srgbClr>
            </a:outerShdw>
          </a:effectLst>
        </p:spPr>
      </p:sp>
      <p:sp>
        <p:nvSpPr>
          <p:cNvPr id="9" name="photo area"/>
          <p:cNvSpPr/>
          <p:nvPr/>
        </p:nvSpPr>
        <p:spPr>
          <a:xfrm>
            <a:off x="4087368" y="1737360"/>
            <a:ext cx="1380744" cy="1051560"/>
          </a:xfrm>
          <a:prstGeom prst="rect">
            <a:avLst/>
          </a:prstGeom>
          <a:solidFill>
            <a:srgbClr val="E4E1DA"/>
          </a:solidFill>
          <a:ln/>
        </p:spPr>
      </p:sp>
      <p:pic>
        <p:nvPicPr>
          <p:cNvPr id="10" name="AFGHAN ARMY" descr="AFGHAN ARMY">    </p:cNvPr>
          <p:cNvPicPr>
            <a:picLocks noChangeAspect="1"/>
          </p:cNvPicPr>
          <p:nvPr/>
        </p:nvPicPr>
        <p:blipFill>
          <a:blip r:embed="rId2"/>
          <a:stretch>
            <a:fillRect/>
          </a:stretch>
        </p:blipFill>
        <p:spPr>
          <a:xfrm>
            <a:off x="4393692" y="1874520"/>
            <a:ext cx="768096" cy="768096"/>
          </a:xfrm>
          <a:prstGeom prst="rect">
            <a:avLst/>
          </a:prstGeom>
        </p:spPr>
      </p:pic>
      <p:sp>
        <p:nvSpPr>
          <p:cNvPr id="11" name="Text 7"/>
          <p:cNvSpPr txBox="1"/>
          <p:nvPr/>
        </p:nvSpPr>
        <p:spPr>
          <a:xfrm>
            <a:off x="4050792" y="2834640"/>
            <a:ext cx="1453896" cy="502920"/>
          </a:xfrm>
          <a:prstGeom prst="rect">
            <a:avLst/>
          </a:prstGeom>
          <a:noFill/>
          <a:ln/>
        </p:spPr>
        <p:txBody>
          <a:bodyPr wrap="square" lIns="0" tIns="0" rIns="0" bIns="0" rtlCol="0" anchor="ct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AFGHAN ARMY</a:t>
            </a:r>
            <a:endParaRPr lang="en-US" sz="1100" dirty="0"/>
          </a:p>
          <a:p>
            <a:pPr algn="ctr" indent="0" marL="0">
              <a:buNone/>
            </a:pPr>
            <a:r>
              <a:rPr lang="en-US" sz="1000" dirty="0">
                <a:solidFill>
                  <a:srgbClr val="5E6670"/>
                </a:solidFill>
              </a:rPr>
              <a:t>End user · victim</a:t>
            </a:r>
            <a:endParaRPr lang="en-US" sz="1100" dirty="0"/>
          </a:p>
        </p:txBody>
      </p:sp>
      <p:sp>
        <p:nvSpPr>
          <p:cNvPr id="12" name="AEY INC."/>
          <p:cNvSpPr/>
          <p:nvPr/>
        </p:nvSpPr>
        <p:spPr>
          <a:xfrm>
            <a:off x="3977640" y="3794760"/>
            <a:ext cx="1600200" cy="1874520"/>
          </a:xfrm>
          <a:prstGeom prst="rect">
            <a:avLst/>
          </a:prstGeom>
          <a:solidFill>
            <a:srgbClr val="FFFFFF"/>
          </a:solidFill>
          <a:ln w="12700">
            <a:solidFill>
              <a:srgbClr val="D9D2C2"/>
            </a:solidFill>
            <a:prstDash val="solid"/>
          </a:ln>
          <a:effectLst>
            <a:outerShdw sx="100000" sy="100000" kx="0" ky="0" algn="bl" rotWithShape="0" blurRad="63500" dist="25400" dir="5400000">
              <a:srgbClr val="000000">
                <a:alpha val="15000"/>
              </a:srgbClr>
            </a:outerShdw>
          </a:effectLst>
        </p:spPr>
      </p:sp>
      <p:sp>
        <p:nvSpPr>
          <p:cNvPr id="13" name="photo area"/>
          <p:cNvSpPr/>
          <p:nvPr/>
        </p:nvSpPr>
        <p:spPr>
          <a:xfrm>
            <a:off x="4087368" y="4023360"/>
            <a:ext cx="1380744" cy="1051560"/>
          </a:xfrm>
          <a:prstGeom prst="rect">
            <a:avLst/>
          </a:prstGeom>
          <a:solidFill>
            <a:srgbClr val="E4E1DA"/>
          </a:solidFill>
          <a:ln/>
        </p:spPr>
      </p:sp>
      <p:pic>
        <p:nvPicPr>
          <p:cNvPr id="14" name="AEY INC." descr="AEY INC.">    </p:cNvPr>
          <p:cNvPicPr>
            <a:picLocks noChangeAspect="1"/>
          </p:cNvPicPr>
          <p:nvPr/>
        </p:nvPicPr>
        <p:blipFill>
          <a:blip r:embed="rId3"/>
          <a:stretch>
            <a:fillRect/>
          </a:stretch>
        </p:blipFill>
        <p:spPr>
          <a:xfrm>
            <a:off x="4393692" y="4160520"/>
            <a:ext cx="768096" cy="768096"/>
          </a:xfrm>
          <a:prstGeom prst="rect">
            <a:avLst/>
          </a:prstGeom>
        </p:spPr>
      </p:pic>
      <p:sp>
        <p:nvSpPr>
          <p:cNvPr id="15" name="Text 10"/>
          <p:cNvSpPr txBox="1"/>
          <p:nvPr/>
        </p:nvSpPr>
        <p:spPr>
          <a:xfrm>
            <a:off x="4050792" y="5120640"/>
            <a:ext cx="1453896" cy="502920"/>
          </a:xfrm>
          <a:prstGeom prst="rect">
            <a:avLst/>
          </a:prstGeom>
          <a:noFill/>
          <a:ln/>
        </p:spPr>
        <p:txBody>
          <a:bodyPr wrap="square" lIns="0" tIns="0" rIns="0" bIns="0" rtlCol="0" anchor="ct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AEY INC.</a:t>
            </a:r>
            <a:endParaRPr lang="en-US" sz="1100" dirty="0"/>
          </a:p>
          <a:p>
            <a:pPr algn="ctr" indent="0" marL="0">
              <a:buNone/>
            </a:pPr>
            <a:r>
              <a:rPr lang="en-US" sz="1000" b="1" dirty="0">
                <a:solidFill>
                  <a:srgbClr val="B3261E"/>
                </a:solidFill>
              </a:rPr>
              <a:t>BROKER · clean US name</a:t>
            </a:r>
            <a:endParaRPr lang="en-US" sz="1100" dirty="0"/>
          </a:p>
        </p:txBody>
      </p:sp>
      <p:sp>
        <p:nvSpPr>
          <p:cNvPr id="16" name="HENRY GIRARD"/>
          <p:cNvSpPr/>
          <p:nvPr/>
        </p:nvSpPr>
        <p:spPr>
          <a:xfrm>
            <a:off x="6903720" y="1691640"/>
            <a:ext cx="1600200" cy="1874520"/>
          </a:xfrm>
          <a:prstGeom prst="rect">
            <a:avLst/>
          </a:prstGeom>
          <a:solidFill>
            <a:srgbClr val="FFFFFF"/>
          </a:solidFill>
          <a:ln w="12700">
            <a:solidFill>
              <a:srgbClr val="D9D2C2"/>
            </a:solidFill>
            <a:prstDash val="solid"/>
          </a:ln>
          <a:effectLst>
            <a:outerShdw sx="100000" sy="100000" kx="0" ky="0" algn="bl" rotWithShape="0" blurRad="63500" dist="25400" dir="5400000">
              <a:srgbClr val="000000">
                <a:alpha val="15000"/>
              </a:srgbClr>
            </a:outerShdw>
          </a:effectLst>
        </p:spPr>
      </p:sp>
      <p:sp>
        <p:nvSpPr>
          <p:cNvPr id="17" name="photo area"/>
          <p:cNvSpPr/>
          <p:nvPr/>
        </p:nvSpPr>
        <p:spPr>
          <a:xfrm>
            <a:off x="7013448" y="1920240"/>
            <a:ext cx="1380744" cy="1051560"/>
          </a:xfrm>
          <a:prstGeom prst="rect">
            <a:avLst/>
          </a:prstGeom>
          <a:solidFill>
            <a:srgbClr val="E4E1DA"/>
          </a:solidFill>
          <a:ln/>
        </p:spPr>
      </p:sp>
      <p:pic>
        <p:nvPicPr>
          <p:cNvPr id="18" name="HENRY GIRARD" descr="HENRY GIRARD">    </p:cNvPr>
          <p:cNvPicPr>
            <a:picLocks noChangeAspect="1"/>
          </p:cNvPicPr>
          <p:nvPr/>
        </p:nvPicPr>
        <p:blipFill>
          <a:blip r:embed="rId4"/>
          <a:stretch>
            <a:fillRect/>
          </a:stretch>
        </p:blipFill>
        <p:spPr>
          <a:xfrm>
            <a:off x="7319772" y="2057400"/>
            <a:ext cx="768096" cy="768096"/>
          </a:xfrm>
          <a:prstGeom prst="rect">
            <a:avLst/>
          </a:prstGeom>
        </p:spPr>
      </p:pic>
      <p:sp>
        <p:nvSpPr>
          <p:cNvPr id="19" name="Text 13"/>
          <p:cNvSpPr txBox="1"/>
          <p:nvPr/>
        </p:nvSpPr>
        <p:spPr>
          <a:xfrm>
            <a:off x="6976872" y="3017520"/>
            <a:ext cx="1453896" cy="502920"/>
          </a:xfrm>
          <a:prstGeom prst="rect">
            <a:avLst/>
          </a:prstGeom>
          <a:noFill/>
          <a:ln/>
        </p:spPr>
        <p:txBody>
          <a:bodyPr wrap="square" lIns="0" tIns="0" rIns="0" bIns="0" rtlCol="0" anchor="ct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HENRY GIRARD</a:t>
            </a:r>
            <a:endParaRPr lang="en-US" sz="1100" dirty="0"/>
          </a:p>
          <a:p>
            <a:pPr algn="ctr" indent="0" marL="0">
              <a:buNone/>
            </a:pPr>
            <a:r>
              <a:rPr lang="en-US" sz="1000" b="1" dirty="0">
                <a:solidFill>
                  <a:srgbClr val="B3261E"/>
                </a:solidFill>
              </a:rPr>
              <a:t>BROKER · watch-listed</a:t>
            </a:r>
            <a:endParaRPr lang="en-US" sz="1100" dirty="0"/>
          </a:p>
        </p:txBody>
      </p:sp>
      <p:sp>
        <p:nvSpPr>
          <p:cNvPr id="20" name="ALBANIAN DEPOT"/>
          <p:cNvSpPr/>
          <p:nvPr/>
        </p:nvSpPr>
        <p:spPr>
          <a:xfrm>
            <a:off x="6903720" y="3886200"/>
            <a:ext cx="1600200" cy="1874520"/>
          </a:xfrm>
          <a:prstGeom prst="rect">
            <a:avLst/>
          </a:prstGeom>
          <a:solidFill>
            <a:srgbClr val="FFFFFF"/>
          </a:solidFill>
          <a:ln w="12700">
            <a:solidFill>
              <a:srgbClr val="D9D2C2"/>
            </a:solidFill>
            <a:prstDash val="solid"/>
          </a:ln>
          <a:effectLst>
            <a:outerShdw sx="100000" sy="100000" kx="0" ky="0" algn="bl" rotWithShape="0" blurRad="63500" dist="25400" dir="5400000">
              <a:srgbClr val="000000">
                <a:alpha val="15000"/>
              </a:srgbClr>
            </a:outerShdw>
          </a:effectLst>
        </p:spPr>
      </p:sp>
      <p:sp>
        <p:nvSpPr>
          <p:cNvPr id="21" name="photo area"/>
          <p:cNvSpPr/>
          <p:nvPr/>
        </p:nvSpPr>
        <p:spPr>
          <a:xfrm>
            <a:off x="7013448" y="4114800"/>
            <a:ext cx="1380744" cy="1051560"/>
          </a:xfrm>
          <a:prstGeom prst="rect">
            <a:avLst/>
          </a:prstGeom>
          <a:solidFill>
            <a:srgbClr val="E4E1DA"/>
          </a:solidFill>
          <a:ln/>
        </p:spPr>
      </p:sp>
      <p:pic>
        <p:nvPicPr>
          <p:cNvPr id="22" name="ALBANIAN DEPOT" descr="ALBANIAN DEPOT">    </p:cNvPr>
          <p:cNvPicPr>
            <a:picLocks noChangeAspect="1"/>
          </p:cNvPicPr>
          <p:nvPr/>
        </p:nvPicPr>
        <p:blipFill>
          <a:blip r:embed="rId5"/>
          <a:stretch>
            <a:fillRect/>
          </a:stretch>
        </p:blipFill>
        <p:spPr>
          <a:xfrm>
            <a:off x="7319772" y="4251960"/>
            <a:ext cx="768096" cy="768096"/>
          </a:xfrm>
          <a:prstGeom prst="rect">
            <a:avLst/>
          </a:prstGeom>
        </p:spPr>
      </p:pic>
      <p:sp>
        <p:nvSpPr>
          <p:cNvPr id="23" name="Text 16"/>
          <p:cNvSpPr txBox="1"/>
          <p:nvPr/>
        </p:nvSpPr>
        <p:spPr>
          <a:xfrm>
            <a:off x="6976872" y="5212080"/>
            <a:ext cx="1453896" cy="502920"/>
          </a:xfrm>
          <a:prstGeom prst="rect">
            <a:avLst/>
          </a:prstGeom>
          <a:noFill/>
          <a:ln/>
        </p:spPr>
        <p:txBody>
          <a:bodyPr wrap="square" lIns="0" tIns="0" rIns="0" bIns="0" rtlCol="0" anchor="ct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ALBANIAN DEPOT</a:t>
            </a:r>
            <a:endParaRPr lang="en-US" sz="1100" dirty="0"/>
          </a:p>
          <a:p>
            <a:pPr algn="ctr" indent="0" marL="0">
              <a:buNone/>
            </a:pPr>
            <a:r>
              <a:rPr lang="en-US" sz="1000" dirty="0">
                <a:solidFill>
                  <a:srgbClr val="5E6670"/>
                </a:solidFill>
              </a:rPr>
              <a:t>Supply + officials</a:t>
            </a:r>
            <a:endParaRPr lang="en-US" sz="1100" dirty="0"/>
          </a:p>
        </p:txBody>
      </p:sp>
      <p:sp>
        <p:nvSpPr>
          <p:cNvPr id="24" name="FINANCIER"/>
          <p:cNvSpPr/>
          <p:nvPr/>
        </p:nvSpPr>
        <p:spPr>
          <a:xfrm>
            <a:off x="1051560" y="3886200"/>
            <a:ext cx="1600200" cy="1874520"/>
          </a:xfrm>
          <a:prstGeom prst="rect">
            <a:avLst/>
          </a:prstGeom>
          <a:solidFill>
            <a:srgbClr val="FFFFFF"/>
          </a:solidFill>
          <a:ln w="12700">
            <a:solidFill>
              <a:srgbClr val="D9D2C2"/>
            </a:solidFill>
            <a:prstDash val="solid"/>
          </a:ln>
          <a:effectLst>
            <a:outerShdw sx="100000" sy="100000" kx="0" ky="0" algn="bl" rotWithShape="0" blurRad="63500" dist="25400" dir="5400000">
              <a:srgbClr val="000000">
                <a:alpha val="15000"/>
              </a:srgbClr>
            </a:outerShdw>
          </a:effectLst>
        </p:spPr>
      </p:sp>
      <p:sp>
        <p:nvSpPr>
          <p:cNvPr id="25" name="photo area"/>
          <p:cNvSpPr/>
          <p:nvPr/>
        </p:nvSpPr>
        <p:spPr>
          <a:xfrm>
            <a:off x="1161288" y="4114800"/>
            <a:ext cx="1380744" cy="1051560"/>
          </a:xfrm>
          <a:prstGeom prst="rect">
            <a:avLst/>
          </a:prstGeom>
          <a:solidFill>
            <a:srgbClr val="E4E1DA"/>
          </a:solidFill>
          <a:ln/>
        </p:spPr>
      </p:sp>
      <p:pic>
        <p:nvPicPr>
          <p:cNvPr id="26" name="FINANCIER" descr="FINANCIER">    </p:cNvPr>
          <p:cNvPicPr>
            <a:picLocks noChangeAspect="1"/>
          </p:cNvPicPr>
          <p:nvPr/>
        </p:nvPicPr>
        <p:blipFill>
          <a:blip r:embed="rId6"/>
          <a:stretch>
            <a:fillRect/>
          </a:stretch>
        </p:blipFill>
        <p:spPr>
          <a:xfrm>
            <a:off x="1467612" y="4251960"/>
            <a:ext cx="768096" cy="768096"/>
          </a:xfrm>
          <a:prstGeom prst="rect">
            <a:avLst/>
          </a:prstGeom>
        </p:spPr>
      </p:pic>
      <p:sp>
        <p:nvSpPr>
          <p:cNvPr id="27" name="Text 19"/>
          <p:cNvSpPr txBox="1"/>
          <p:nvPr/>
        </p:nvSpPr>
        <p:spPr>
          <a:xfrm>
            <a:off x="1124712" y="5212080"/>
            <a:ext cx="1453896" cy="502920"/>
          </a:xfrm>
          <a:prstGeom prst="rect">
            <a:avLst/>
          </a:prstGeom>
          <a:noFill/>
          <a:ln/>
        </p:spPr>
        <p:txBody>
          <a:bodyPr wrap="square" lIns="0" tIns="0" rIns="0" bIns="0" rtlCol="0" anchor="ct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FINANCIER</a:t>
            </a:r>
            <a:endParaRPr lang="en-US" sz="1100" dirty="0"/>
          </a:p>
          <a:p>
            <a:pPr algn="ctr" indent="0" marL="0">
              <a:buNone/>
            </a:pPr>
            <a:r>
              <a:rPr lang="en-US" sz="1000" dirty="0">
                <a:solidFill>
                  <a:srgbClr val="5E6670"/>
                </a:solidFill>
              </a:rPr>
              <a:t>Funds the deal</a:t>
            </a:r>
            <a:endParaRPr lang="en-US" sz="1100" dirty="0"/>
          </a:p>
        </p:txBody>
      </p:sp>
      <p:sp>
        <p:nvSpPr>
          <p:cNvPr id="28" name="string pent-aey"/>
          <p:cNvSpPr/>
          <p:nvPr/>
        </p:nvSpPr>
        <p:spPr>
          <a:xfrm>
            <a:off x="1851660" y="1709928"/>
            <a:ext cx="2926080" cy="2194560"/>
          </a:xfrm>
          <a:prstGeom prst="line">
            <a:avLst/>
          </a:prstGeom>
          <a:noFill/>
          <a:ln w="34925">
            <a:solidFill>
              <a:srgbClr val="C0281F"/>
            </a:solidFill>
            <a:prstDash val="solid"/>
          </a:ln>
        </p:spPr>
      </p:sp>
      <p:sp>
        <p:nvSpPr>
          <p:cNvPr id="29" name="string aey-henry"/>
          <p:cNvSpPr/>
          <p:nvPr/>
        </p:nvSpPr>
        <p:spPr>
          <a:xfrm flipV="1">
            <a:off x="4777740" y="1801368"/>
            <a:ext cx="2926080" cy="2103120"/>
          </a:xfrm>
          <a:prstGeom prst="line">
            <a:avLst/>
          </a:prstGeom>
          <a:noFill/>
          <a:ln w="34925">
            <a:solidFill>
              <a:srgbClr val="C0281F"/>
            </a:solidFill>
            <a:prstDash val="solid"/>
          </a:ln>
        </p:spPr>
      </p:sp>
      <p:sp>
        <p:nvSpPr>
          <p:cNvPr id="30" name="string henry-alb"/>
          <p:cNvSpPr/>
          <p:nvPr/>
        </p:nvSpPr>
        <p:spPr>
          <a:xfrm>
            <a:off x="7703820" y="1801368"/>
            <a:ext cx="914" cy="2194560"/>
          </a:xfrm>
          <a:prstGeom prst="line">
            <a:avLst/>
          </a:prstGeom>
          <a:noFill/>
          <a:ln w="19050">
            <a:solidFill>
              <a:srgbClr val="B7655C"/>
            </a:solidFill>
            <a:prstDash val="solid"/>
          </a:ln>
        </p:spPr>
      </p:sp>
      <p:sp>
        <p:nvSpPr>
          <p:cNvPr id="31" name="string fin-aey"/>
          <p:cNvSpPr/>
          <p:nvPr/>
        </p:nvSpPr>
        <p:spPr>
          <a:xfrm flipV="1">
            <a:off x="1851660" y="3904488"/>
            <a:ext cx="2926080" cy="91440"/>
          </a:xfrm>
          <a:prstGeom prst="line">
            <a:avLst/>
          </a:prstGeom>
          <a:noFill/>
          <a:ln w="19050">
            <a:solidFill>
              <a:srgbClr val="B7655C"/>
            </a:solidFill>
            <a:prstDash val="solid"/>
          </a:ln>
        </p:spPr>
      </p:sp>
      <p:sp>
        <p:nvSpPr>
          <p:cNvPr id="32" name="string aey-alb"/>
          <p:cNvSpPr/>
          <p:nvPr/>
        </p:nvSpPr>
        <p:spPr>
          <a:xfrm>
            <a:off x="4777740" y="3904488"/>
            <a:ext cx="2926080" cy="91440"/>
          </a:xfrm>
          <a:prstGeom prst="line">
            <a:avLst/>
          </a:prstGeom>
          <a:noFill/>
          <a:ln w="19050">
            <a:solidFill>
              <a:srgbClr val="B7655C"/>
            </a:solidFill>
            <a:prstDash val="solid"/>
          </a:ln>
        </p:spPr>
      </p:sp>
      <p:sp>
        <p:nvSpPr>
          <p:cNvPr id="33" name="string pent-afg"/>
          <p:cNvSpPr/>
          <p:nvPr/>
        </p:nvSpPr>
        <p:spPr>
          <a:xfrm flipV="1">
            <a:off x="1851660" y="1618488"/>
            <a:ext cx="2926080" cy="91440"/>
          </a:xfrm>
          <a:prstGeom prst="line">
            <a:avLst/>
          </a:prstGeom>
          <a:noFill/>
          <a:ln w="19050">
            <a:solidFill>
              <a:srgbClr val="B7655C"/>
            </a:solidFill>
            <a:prstDash val="solid"/>
          </a:ln>
        </p:spPr>
      </p:sp>
      <p:sp>
        <p:nvSpPr>
          <p:cNvPr id="34" name="string alb-afg"/>
          <p:cNvSpPr/>
          <p:nvPr/>
        </p:nvSpPr>
        <p:spPr>
          <a:xfrm>
            <a:off x="4777740" y="1618488"/>
            <a:ext cx="2926080" cy="2377440"/>
          </a:xfrm>
          <a:prstGeom prst="line">
            <a:avLst/>
          </a:prstGeom>
          <a:noFill/>
          <a:ln w="19050">
            <a:solidFill>
              <a:srgbClr val="B7655C"/>
            </a:solidFill>
            <a:prstDash val="solid"/>
          </a:ln>
        </p:spPr>
      </p:sp>
      <p:sp>
        <p:nvSpPr>
          <p:cNvPr id="35" name="push pin"/>
          <p:cNvSpPr/>
          <p:nvPr/>
        </p:nvSpPr>
        <p:spPr>
          <a:xfrm>
            <a:off x="1751076" y="1609344"/>
            <a:ext cx="201168" cy="201168"/>
          </a:xfrm>
          <a:prstGeom prst="ellipse">
            <a:avLst/>
          </a:prstGeom>
          <a:solidFill>
            <a:srgbClr val="8C2F27"/>
          </a:solidFill>
          <a:ln w="12700">
            <a:solidFill>
              <a:srgbClr val="5A1A14"/>
            </a:solidFill>
            <a:prstDash val="solid"/>
          </a:ln>
        </p:spPr>
      </p:sp>
      <p:sp>
        <p:nvSpPr>
          <p:cNvPr id="36" name="push pin"/>
          <p:cNvSpPr/>
          <p:nvPr/>
        </p:nvSpPr>
        <p:spPr>
          <a:xfrm>
            <a:off x="4677156" y="1517904"/>
            <a:ext cx="201168" cy="201168"/>
          </a:xfrm>
          <a:prstGeom prst="ellipse">
            <a:avLst/>
          </a:prstGeom>
          <a:solidFill>
            <a:srgbClr val="8C2F27"/>
          </a:solidFill>
          <a:ln w="12700">
            <a:solidFill>
              <a:srgbClr val="5A1A14"/>
            </a:solidFill>
            <a:prstDash val="solid"/>
          </a:ln>
        </p:spPr>
      </p:sp>
      <p:sp>
        <p:nvSpPr>
          <p:cNvPr id="37" name="push pin"/>
          <p:cNvSpPr/>
          <p:nvPr/>
        </p:nvSpPr>
        <p:spPr>
          <a:xfrm>
            <a:off x="4677156" y="3803904"/>
            <a:ext cx="201168" cy="201168"/>
          </a:xfrm>
          <a:prstGeom prst="ellipse">
            <a:avLst/>
          </a:prstGeom>
          <a:solidFill>
            <a:srgbClr val="C0281F"/>
          </a:solidFill>
          <a:ln w="12700">
            <a:solidFill>
              <a:srgbClr val="5A1A14"/>
            </a:solidFill>
            <a:prstDash val="solid"/>
          </a:ln>
        </p:spPr>
      </p:sp>
      <p:sp>
        <p:nvSpPr>
          <p:cNvPr id="38" name="push pin"/>
          <p:cNvSpPr/>
          <p:nvPr/>
        </p:nvSpPr>
        <p:spPr>
          <a:xfrm>
            <a:off x="7603236" y="1700784"/>
            <a:ext cx="201168" cy="201168"/>
          </a:xfrm>
          <a:prstGeom prst="ellipse">
            <a:avLst/>
          </a:prstGeom>
          <a:solidFill>
            <a:srgbClr val="C0281F"/>
          </a:solidFill>
          <a:ln w="12700">
            <a:solidFill>
              <a:srgbClr val="5A1A14"/>
            </a:solidFill>
            <a:prstDash val="solid"/>
          </a:ln>
        </p:spPr>
      </p:sp>
      <p:sp>
        <p:nvSpPr>
          <p:cNvPr id="39" name="push pin"/>
          <p:cNvSpPr/>
          <p:nvPr/>
        </p:nvSpPr>
        <p:spPr>
          <a:xfrm>
            <a:off x="7603236" y="3895344"/>
            <a:ext cx="201168" cy="201168"/>
          </a:xfrm>
          <a:prstGeom prst="ellipse">
            <a:avLst/>
          </a:prstGeom>
          <a:solidFill>
            <a:srgbClr val="8C2F27"/>
          </a:solidFill>
          <a:ln w="12700">
            <a:solidFill>
              <a:srgbClr val="5A1A14"/>
            </a:solidFill>
            <a:prstDash val="solid"/>
          </a:ln>
        </p:spPr>
      </p:sp>
      <p:sp>
        <p:nvSpPr>
          <p:cNvPr id="40" name="push pin"/>
          <p:cNvSpPr/>
          <p:nvPr/>
        </p:nvSpPr>
        <p:spPr>
          <a:xfrm>
            <a:off x="1751076" y="3895344"/>
            <a:ext cx="201168" cy="201168"/>
          </a:xfrm>
          <a:prstGeom prst="ellipse">
            <a:avLst/>
          </a:prstGeom>
          <a:solidFill>
            <a:srgbClr val="8C2F27"/>
          </a:solidFill>
          <a:ln w="12700">
            <a:solidFill>
              <a:srgbClr val="5A1A14"/>
            </a:solidFill>
            <a:prstDash val="solid"/>
          </a:ln>
        </p:spPr>
      </p:sp>
      <p:sp>
        <p:nvSpPr>
          <p:cNvPr id="41" name="analyst note"/>
          <p:cNvSpPr/>
          <p:nvPr/>
        </p:nvSpPr>
        <p:spPr>
          <a:xfrm>
            <a:off x="8915400" y="1600200"/>
            <a:ext cx="2590495" cy="4160520"/>
          </a:xfrm>
          <a:prstGeom prst="rect">
            <a:avLst/>
          </a:prstGeom>
          <a:solidFill>
            <a:srgbClr val="FFF6C9"/>
          </a:solidFill>
          <a:ln w="12700">
            <a:solidFill>
              <a:srgbClr val="E2CF7A"/>
            </a:solidFill>
            <a:prstDash val="solid"/>
          </a:ln>
          <a:effectLst>
            <a:outerShdw sx="100000" sy="100000" kx="0" ky="0" algn="bl" rotWithShape="0" blurRad="63500" dist="25400" dir="5400000">
              <a:srgbClr val="000000">
                <a:alpha val="15000"/>
              </a:srgbClr>
            </a:outerShdw>
          </a:effectLst>
        </p:spPr>
      </p:sp>
      <p:sp>
        <p:nvSpPr>
          <p:cNvPr id="42" name="Text 34"/>
          <p:cNvSpPr txBox="1"/>
          <p:nvPr/>
        </p:nvSpPr>
        <p:spPr>
          <a:xfrm>
            <a:off x="9098280" y="1737360"/>
            <a:ext cx="2224735" cy="256032"/>
          </a:xfrm>
          <a:prstGeom prst="rect">
            <a:avLst/>
          </a:prstGeom>
          <a:noFill/>
          <a:ln/>
        </p:spPr>
        <p:txBody>
          <a:bodyPr wrap="square" lIns="0" tIns="0" rIns="0" bIns="0" rtlCol="0" anchor="ctr"/>
          <a:lstStyle/>
          <a:p>
            <a:pPr indent="0" marL="0">
              <a:buNone/>
            </a:pPr>
            <a:r>
              <a:rPr lang="en-US" sz="1100" b="1" spc="100" kern="0" dirty="0">
                <a:solidFill>
                  <a:srgbClr val="B3261E"/>
                </a:solidFill>
                <a:latin typeface="Courier New" pitchFamily="34" charset="0"/>
                <a:ea typeface="Courier New" pitchFamily="34" charset="-122"/>
                <a:cs typeface="Courier New" pitchFamily="34" charset="-120"/>
              </a:rPr>
              <a:t>ANALYST NOTE</a:t>
            </a:r>
            <a:endParaRPr lang="en-US" sz="1100" dirty="0"/>
          </a:p>
        </p:txBody>
      </p:sp>
      <p:sp>
        <p:nvSpPr>
          <p:cNvPr id="43" name="Text 35"/>
          <p:cNvSpPr txBox="1"/>
          <p:nvPr/>
        </p:nvSpPr>
        <p:spPr>
          <a:xfrm>
            <a:off x="9098280" y="2057400"/>
            <a:ext cx="2224735" cy="3566160"/>
          </a:xfrm>
          <a:prstGeom prst="rect">
            <a:avLst/>
          </a:prstGeom>
          <a:noFill/>
          <a:ln/>
        </p:spPr>
        <p:txBody>
          <a:bodyPr wrap="square" lIns="0" tIns="0" rIns="0" bIns="0" rtlCol="0" anchor="t"/>
          <a:lstStyle/>
          <a:p>
            <a:pPr indent="0" marL="0">
              <a:buNone/>
            </a:pPr>
            <a:r>
              <a:rPr lang="en-US" sz="1400" b="1" dirty="0">
                <a:solidFill>
                  <a:srgbClr val="1E2A3A"/>
                </a:solidFill>
              </a:rPr>
              <a:t>Brokerage: </a:t>
            </a:r>
            <a:pPr indent="0" marL="0">
              <a:buNone/>
            </a:pPr>
            <a:r>
              <a:rPr lang="en-US" sz="1400" dirty="0">
                <a:solidFill>
                  <a:srgbClr val="1E2A3A"/>
                </a:solidFill>
              </a:rPr>
              <a:t>power sits with whoever connects worlds that can’t reach each other (Morselli, 2009).</a:t>
            </a:r>
            <a:pPr indent="0" marL="0">
              <a:buNone/>
            </a:pPr>
            <a:endParaRPr lang="en-US" sz="1400" dirty="0"/>
          </a:p>
          <a:p>
            <a:pPr indent="0" marL="0">
              <a:buNone/>
            </a:pPr>
            <a:r>
              <a:rPr lang="en-US" sz="600" dirty="0">
                <a:solidFill>
                  <a:srgbClr val="1E2A3A"/>
                </a:solidFill>
              </a:rPr>
              <a:t> </a:t>
            </a:r>
            <a:endParaRPr lang="en-US" sz="1400" dirty="0"/>
          </a:p>
          <a:p>
            <a:pPr indent="0" marL="0">
              <a:buNone/>
            </a:pPr>
            <a:r>
              <a:rPr lang="en-US" sz="1400" b="1" dirty="0">
                <a:solidFill>
                  <a:srgbClr val="1E2A3A"/>
                </a:solidFill>
              </a:rPr>
              <a:t>Crime–terror nexus: </a:t>
            </a:r>
            <a:pPr indent="0" marL="0">
              <a:buNone/>
            </a:pPr>
            <a:r>
              <a:rPr lang="en-US" sz="1400" dirty="0">
                <a:solidFill>
                  <a:srgbClr val="1E2A3A"/>
                </a:solidFill>
              </a:rPr>
              <a:t>Henry is barred from US trade, so AEY lends him a clean name.</a:t>
            </a:r>
            <a:endParaRPr lang="en-US" sz="1400" dirty="0"/>
          </a:p>
        </p:txBody>
      </p:sp>
      <p:sp>
        <p:nvSpPr>
          <p:cNvPr id="25" name="Slide Number Placeholder 0"/>
          <p:cNvSpPr>
            <a:spLocks noGrp="1"/>
          </p:cNvSpPr>
          <p:nvPr>
            <p:ph type="sldNum" sz="quarter" idx="4294967295"/>
          </p:nvPr>
        </p:nvSpPr>
        <p:spPr>
          <a:xfrm>
            <a:off x="8503920" y="6382512"/>
            <a:ext cx="82296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8A8170"/>
                </a:solidFill>
                <a:latin typeface="Courier New"/>
                <a:ea typeface="Courier New"/>
                <a:cs typeface="Courier New"/>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file tag"/>
          <p:cNvSpPr txBox="1"/>
          <p:nvPr/>
        </p:nvSpPr>
        <p:spPr>
          <a:xfrm>
            <a:off x="868680" y="329184"/>
            <a:ext cx="10637215" cy="274320"/>
          </a:xfrm>
          <a:prstGeom prst="rect">
            <a:avLst/>
          </a:prstGeom>
          <a:noFill/>
          <a:ln/>
        </p:spPr>
        <p:txBody>
          <a:bodyPr wrap="square" lIns="0" tIns="0" rIns="0" bIns="0" rtlCol="0" anchor="ctr"/>
          <a:lstStyle/>
          <a:p>
            <a:pPr indent="0" marL="0">
              <a:buNone/>
            </a:pPr>
            <a:r>
              <a:rPr lang="en-US" sz="1200" b="1" spc="200" kern="0" dirty="0">
                <a:solidFill>
                  <a:srgbClr val="B3261E"/>
                </a:solidFill>
                <a:latin typeface="Courier New" pitchFamily="34" charset="0"/>
                <a:ea typeface="Courier New" pitchFamily="34" charset="-122"/>
                <a:cs typeface="Courier New" pitchFamily="34" charset="-120"/>
              </a:rPr>
              <a:t>PAGE 07  ·  ANALYST ASSESSMENT</a:t>
            </a:r>
            <a:endParaRPr lang="en-US" sz="1200" dirty="0"/>
          </a:p>
        </p:txBody>
      </p:sp>
      <p:sp>
        <p:nvSpPr>
          <p:cNvPr id="3" name="Text 0"/>
          <p:cNvSpPr/>
          <p:nvPr>
            <p:ph idx="100" type="title" hasCustomPrompt="1"/>
          </p:nvPr>
        </p:nvSpPr>
        <p:spPr>
          <a:xfrm>
            <a:off x="868680" y="658368"/>
            <a:ext cx="10637215" cy="658368"/>
          </a:xfrm>
          <a:prstGeom prst="rect">
            <a:avLst/>
          </a:prstGeom>
          <a:noFill/>
          <a:ln/>
        </p:spPr>
        <p:txBody>
          <a:bodyPr wrap="square" lIns="0" tIns="0" rIns="0" bIns="0" rtlCol="0" anchor="ctr"/>
          <a:lstStyle/>
          <a:p>
            <a:pPr algn="l" indent="0" marL="0">
              <a:buNone/>
            </a:pPr>
            <a:r>
              <a:rPr lang="en-US" sz="2800" b="1" dirty="0">
                <a:solidFill>
                  <a:schemeClr val="tx1"/>
                </a:solidFill>
              </a:rPr>
              <a:t>Which model explains the enterprise? Analyst confidence ratings</a:t>
            </a:r>
            <a:endParaRPr lang="en-US" sz="2800" dirty="0"/>
          </a:p>
        </p:txBody>
      </p:sp>
      <p:sp>
        <p:nvSpPr>
          <p:cNvPr id="4" name="Enterprise model"/>
          <p:cNvSpPr/>
          <p:nvPr/>
        </p:nvSpPr>
        <p:spPr>
          <a:xfrm>
            <a:off x="868680" y="1554480"/>
            <a:ext cx="10637215" cy="932688"/>
          </a:xfrm>
          <a:prstGeom prst="rect">
            <a:avLst/>
          </a:prstGeom>
          <a:solidFill>
            <a:srgbClr val="FFFDF7"/>
          </a:solidFill>
          <a:ln w="19050">
            <a:solidFill>
              <a:srgbClr val="2E7D4F"/>
            </a:solidFill>
            <a:prstDash val="solid"/>
          </a:ln>
          <a:effectLst>
            <a:outerShdw sx="100000" sy="100000" kx="0" ky="0" algn="bl" rotWithShape="0" blurRad="63500" dist="25400" dir="5400000">
              <a:srgbClr val="000000">
                <a:alpha val="15000"/>
              </a:srgbClr>
            </a:outerShdw>
          </a:effectLst>
        </p:spPr>
      </p:sp>
      <p:sp>
        <p:nvSpPr>
          <p:cNvPr id="5" name="Text 3"/>
          <p:cNvSpPr txBox="1"/>
          <p:nvPr/>
        </p:nvSpPr>
        <p:spPr>
          <a:xfrm>
            <a:off x="1097280" y="1554480"/>
            <a:ext cx="2743200" cy="932688"/>
          </a:xfrm>
          <a:prstGeom prst="rect">
            <a:avLst/>
          </a:prstGeom>
          <a:noFill/>
          <a:ln/>
        </p:spPr>
        <p:txBody>
          <a:bodyPr wrap="square" lIns="0" tIns="0" rIns="0" bIns="0" rtlCol="0" anchor="ctr"/>
          <a:lstStyle/>
          <a:p>
            <a:pPr indent="0" marL="0">
              <a:buNone/>
            </a:pPr>
            <a:r>
              <a:rPr lang="en-US" sz="1700" b="1" dirty="0">
                <a:solidFill>
                  <a:srgbClr val="1E2A3A"/>
                </a:solidFill>
                <a:latin typeface="Cambria" pitchFamily="34" charset="0"/>
                <a:ea typeface="Cambria" pitchFamily="34" charset="-122"/>
                <a:cs typeface="Cambria" pitchFamily="34" charset="-120"/>
              </a:rPr>
              <a:t>Enterprise model</a:t>
            </a:r>
            <a:endParaRPr lang="en-US" sz="1700" dirty="0"/>
          </a:p>
          <a:p>
            <a:pPr indent="0" marL="0">
              <a:buNone/>
            </a:pPr>
            <a:r>
              <a:rPr lang="en-US" sz="1200" dirty="0">
                <a:solidFill>
                  <a:srgbClr val="5E6670"/>
                </a:solidFill>
              </a:rPr>
              <a:t>Smith (1980)</a:t>
            </a:r>
            <a:endParaRPr lang="en-US" sz="1700" dirty="0"/>
          </a:p>
        </p:txBody>
      </p:sp>
      <p:sp>
        <p:nvSpPr>
          <p:cNvPr id="6" name="Text 4"/>
          <p:cNvSpPr txBox="1"/>
          <p:nvPr/>
        </p:nvSpPr>
        <p:spPr>
          <a:xfrm rot="-180000">
            <a:off x="3931920" y="1801368"/>
            <a:ext cx="2103120" cy="438912"/>
          </a:xfrm>
          <a:prstGeom prst="rect">
            <a:avLst/>
          </a:prstGeom>
          <a:noFill/>
          <a:ln w="25400">
            <a:solidFill>
              <a:srgbClr val="2E7D4F"/>
            </a:solidFill>
          </a:ln>
        </p:spPr>
        <p:txBody>
          <a:bodyPr wrap="square" lIns="0" tIns="0" rIns="0" bIns="0" rtlCol="0" anchor="ctr"/>
          <a:lstStyle/>
          <a:p>
            <a:pPr algn="ctr" indent="0" marL="0">
              <a:buNone/>
            </a:pPr>
            <a:r>
              <a:rPr lang="en-US" sz="1100" b="1" dirty="0">
                <a:solidFill>
                  <a:srgbClr val="2E7D4F"/>
                </a:solidFill>
                <a:latin typeface="Courier New" pitchFamily="34" charset="0"/>
                <a:ea typeface="Courier New" pitchFamily="34" charset="-122"/>
                <a:cs typeface="Courier New" pitchFamily="34" charset="-120"/>
              </a:rPr>
              <a:t>CONFIDENCE: HIGH</a:t>
            </a:r>
            <a:endParaRPr lang="en-US" sz="1100" dirty="0"/>
          </a:p>
        </p:txBody>
      </p:sp>
      <p:sp>
        <p:nvSpPr>
          <p:cNvPr id="7" name="Text 5"/>
          <p:cNvSpPr txBox="1"/>
          <p:nvPr/>
        </p:nvSpPr>
        <p:spPr>
          <a:xfrm>
            <a:off x="6263640" y="1554480"/>
            <a:ext cx="5059375" cy="932688"/>
          </a:xfrm>
          <a:prstGeom prst="rect">
            <a:avLst/>
          </a:prstGeom>
          <a:noFill/>
          <a:ln/>
        </p:spPr>
        <p:txBody>
          <a:bodyPr wrap="square" lIns="0" tIns="0" rIns="0" bIns="0" rtlCol="0" anchor="ctr"/>
          <a:lstStyle/>
          <a:p>
            <a:pPr indent="0" marL="0">
              <a:buNone/>
            </a:pPr>
            <a:r>
              <a:rPr lang="en-US" sz="1500" dirty="0">
                <a:solidFill>
                  <a:srgbClr val="1E2A3A"/>
                </a:solidFill>
              </a:rPr>
              <a:t>Legal and illegal business on one spectrum. AEY slid from legal bids, to fixers, to fraud as demand grew.</a:t>
            </a:r>
            <a:endParaRPr lang="en-US" sz="1500" dirty="0"/>
          </a:p>
        </p:txBody>
      </p:sp>
      <p:sp>
        <p:nvSpPr>
          <p:cNvPr id="8" name="Network model"/>
          <p:cNvSpPr/>
          <p:nvPr/>
        </p:nvSpPr>
        <p:spPr>
          <a:xfrm>
            <a:off x="868680" y="2633472"/>
            <a:ext cx="10637215" cy="932688"/>
          </a:xfrm>
          <a:prstGeom prst="rect">
            <a:avLst/>
          </a:prstGeom>
          <a:solidFill>
            <a:srgbClr val="FFFDF7"/>
          </a:solidFill>
          <a:ln w="19050">
            <a:solidFill>
              <a:srgbClr val="2E7D4F"/>
            </a:solidFill>
            <a:prstDash val="solid"/>
          </a:ln>
          <a:effectLst>
            <a:outerShdw sx="100000" sy="100000" kx="0" ky="0" algn="bl" rotWithShape="0" blurRad="63500" dist="25400" dir="5400000">
              <a:srgbClr val="000000">
                <a:alpha val="15000"/>
              </a:srgbClr>
            </a:outerShdw>
          </a:effectLst>
        </p:spPr>
      </p:sp>
      <p:sp>
        <p:nvSpPr>
          <p:cNvPr id="9" name="Text 7"/>
          <p:cNvSpPr txBox="1"/>
          <p:nvPr/>
        </p:nvSpPr>
        <p:spPr>
          <a:xfrm>
            <a:off x="1097280" y="2633472"/>
            <a:ext cx="2743200" cy="932688"/>
          </a:xfrm>
          <a:prstGeom prst="rect">
            <a:avLst/>
          </a:prstGeom>
          <a:noFill/>
          <a:ln/>
        </p:spPr>
        <p:txBody>
          <a:bodyPr wrap="square" lIns="0" tIns="0" rIns="0" bIns="0" rtlCol="0" anchor="ctr"/>
          <a:lstStyle/>
          <a:p>
            <a:pPr indent="0" marL="0">
              <a:buNone/>
            </a:pPr>
            <a:r>
              <a:rPr lang="en-US" sz="1700" b="1" dirty="0">
                <a:solidFill>
                  <a:srgbClr val="1E2A3A"/>
                </a:solidFill>
                <a:latin typeface="Cambria" pitchFamily="34" charset="0"/>
                <a:ea typeface="Cambria" pitchFamily="34" charset="-122"/>
                <a:cs typeface="Cambria" pitchFamily="34" charset="-120"/>
              </a:rPr>
              <a:t>Network model</a:t>
            </a:r>
            <a:endParaRPr lang="en-US" sz="1700" dirty="0"/>
          </a:p>
          <a:p>
            <a:pPr indent="0" marL="0">
              <a:buNone/>
            </a:pPr>
            <a:r>
              <a:rPr lang="en-US" sz="1200" dirty="0">
                <a:solidFill>
                  <a:srgbClr val="5E6670"/>
                </a:solidFill>
              </a:rPr>
              <a:t>Morselli (2009)</a:t>
            </a:r>
            <a:endParaRPr lang="en-US" sz="1700" dirty="0"/>
          </a:p>
        </p:txBody>
      </p:sp>
      <p:sp>
        <p:nvSpPr>
          <p:cNvPr id="10" name="Text 8"/>
          <p:cNvSpPr txBox="1"/>
          <p:nvPr/>
        </p:nvSpPr>
        <p:spPr>
          <a:xfrm rot="-180000">
            <a:off x="3931920" y="2880360"/>
            <a:ext cx="2103120" cy="438912"/>
          </a:xfrm>
          <a:prstGeom prst="rect">
            <a:avLst/>
          </a:prstGeom>
          <a:noFill/>
          <a:ln w="25400">
            <a:solidFill>
              <a:srgbClr val="2E7D4F"/>
            </a:solidFill>
          </a:ln>
        </p:spPr>
        <p:txBody>
          <a:bodyPr wrap="square" lIns="0" tIns="0" rIns="0" bIns="0" rtlCol="0" anchor="ctr"/>
          <a:lstStyle/>
          <a:p>
            <a:pPr algn="ctr" indent="0" marL="0">
              <a:buNone/>
            </a:pPr>
            <a:r>
              <a:rPr lang="en-US" sz="1100" b="1" dirty="0">
                <a:solidFill>
                  <a:srgbClr val="2E7D4F"/>
                </a:solidFill>
                <a:latin typeface="Courier New" pitchFamily="34" charset="0"/>
                <a:ea typeface="Courier New" pitchFamily="34" charset="-122"/>
                <a:cs typeface="Courier New" pitchFamily="34" charset="-120"/>
              </a:rPr>
              <a:t>CONFIDENCE: HIGH</a:t>
            </a:r>
            <a:endParaRPr lang="en-US" sz="1100" dirty="0"/>
          </a:p>
        </p:txBody>
      </p:sp>
      <p:sp>
        <p:nvSpPr>
          <p:cNvPr id="11" name="Text 9"/>
          <p:cNvSpPr txBox="1"/>
          <p:nvPr/>
        </p:nvSpPr>
        <p:spPr>
          <a:xfrm>
            <a:off x="6263640" y="2633472"/>
            <a:ext cx="5059375" cy="932688"/>
          </a:xfrm>
          <a:prstGeom prst="rect">
            <a:avLst/>
          </a:prstGeom>
          <a:noFill/>
          <a:ln/>
        </p:spPr>
        <p:txBody>
          <a:bodyPr wrap="square" lIns="0" tIns="0" rIns="0" bIns="0" rtlCol="0" anchor="ctr"/>
          <a:lstStyle/>
          <a:p>
            <a:pPr indent="0" marL="0">
              <a:buNone/>
            </a:pPr>
            <a:r>
              <a:rPr lang="en-US" sz="1500" dirty="0">
                <a:solidFill>
                  <a:srgbClr val="1E2A3A"/>
                </a:solidFill>
              </a:rPr>
              <a:t>Brokers bridging the Pentagon and Balkan stockpiles held the real power.</a:t>
            </a:r>
            <a:endParaRPr lang="en-US" sz="1500" dirty="0"/>
          </a:p>
        </p:txBody>
      </p:sp>
      <p:sp>
        <p:nvSpPr>
          <p:cNvPr id="12" name="Patron–client model"/>
          <p:cNvSpPr/>
          <p:nvPr/>
        </p:nvSpPr>
        <p:spPr>
          <a:xfrm>
            <a:off x="868680" y="3712464"/>
            <a:ext cx="10637215" cy="932688"/>
          </a:xfrm>
          <a:prstGeom prst="rect">
            <a:avLst/>
          </a:prstGeom>
          <a:solidFill>
            <a:srgbClr val="FFFDF7"/>
          </a:solidFill>
          <a:ln w="12700">
            <a:solidFill>
              <a:srgbClr val="CFC5AE"/>
            </a:solidFill>
            <a:prstDash val="solid"/>
          </a:ln>
          <a:effectLst>
            <a:outerShdw sx="100000" sy="100000" kx="0" ky="0" algn="bl" rotWithShape="0" blurRad="63500" dist="25400" dir="5400000">
              <a:srgbClr val="000000">
                <a:alpha val="15000"/>
              </a:srgbClr>
            </a:outerShdw>
          </a:effectLst>
        </p:spPr>
      </p:sp>
      <p:sp>
        <p:nvSpPr>
          <p:cNvPr id="13" name="Text 11"/>
          <p:cNvSpPr txBox="1"/>
          <p:nvPr/>
        </p:nvSpPr>
        <p:spPr>
          <a:xfrm>
            <a:off x="1097280" y="3712464"/>
            <a:ext cx="2743200" cy="932688"/>
          </a:xfrm>
          <a:prstGeom prst="rect">
            <a:avLst/>
          </a:prstGeom>
          <a:noFill/>
          <a:ln/>
        </p:spPr>
        <p:txBody>
          <a:bodyPr wrap="square" lIns="0" tIns="0" rIns="0" bIns="0" rtlCol="0" anchor="ctr"/>
          <a:lstStyle/>
          <a:p>
            <a:pPr indent="0" marL="0">
              <a:buNone/>
            </a:pPr>
            <a:r>
              <a:rPr lang="en-US" sz="1700" b="1" dirty="0">
                <a:solidFill>
                  <a:srgbClr val="1E2A3A"/>
                </a:solidFill>
                <a:latin typeface="Cambria" pitchFamily="34" charset="0"/>
                <a:ea typeface="Cambria" pitchFamily="34" charset="-122"/>
                <a:cs typeface="Cambria" pitchFamily="34" charset="-120"/>
              </a:rPr>
              <a:t>Patron–client model</a:t>
            </a:r>
            <a:endParaRPr lang="en-US" sz="1700" dirty="0"/>
          </a:p>
          <a:p>
            <a:pPr indent="0" marL="0">
              <a:buNone/>
            </a:pPr>
            <a:r>
              <a:rPr lang="en-US" sz="1200" dirty="0">
                <a:solidFill>
                  <a:srgbClr val="5E6670"/>
                </a:solidFill>
              </a:rPr>
              <a:t>Albini (1971)</a:t>
            </a:r>
            <a:endParaRPr lang="en-US" sz="1700" dirty="0"/>
          </a:p>
        </p:txBody>
      </p:sp>
      <p:sp>
        <p:nvSpPr>
          <p:cNvPr id="14" name="Text 12"/>
          <p:cNvSpPr txBox="1"/>
          <p:nvPr/>
        </p:nvSpPr>
        <p:spPr>
          <a:xfrm>
            <a:off x="3931920" y="3959352"/>
            <a:ext cx="2103120" cy="438912"/>
          </a:xfrm>
          <a:prstGeom prst="rect">
            <a:avLst/>
          </a:prstGeom>
          <a:noFill/>
          <a:ln w="25400">
            <a:solidFill>
              <a:srgbClr val="C9A227"/>
            </a:solidFill>
          </a:ln>
        </p:spPr>
        <p:txBody>
          <a:bodyPr wrap="square" lIns="0" tIns="0" rIns="0" bIns="0" rtlCol="0" anchor="ctr"/>
          <a:lstStyle/>
          <a:p>
            <a:pPr algn="ctr" indent="0" marL="0">
              <a:buNone/>
            </a:pPr>
            <a:r>
              <a:rPr lang="en-US" sz="1100" b="1" dirty="0">
                <a:solidFill>
                  <a:srgbClr val="C9A227"/>
                </a:solidFill>
                <a:latin typeface="Courier New" pitchFamily="34" charset="0"/>
                <a:ea typeface="Courier New" pitchFamily="34" charset="-122"/>
                <a:cs typeface="Courier New" pitchFamily="34" charset="-120"/>
              </a:rPr>
              <a:t>CONFIDENCE: MEDIUM</a:t>
            </a:r>
            <a:endParaRPr lang="en-US" sz="1100" dirty="0"/>
          </a:p>
        </p:txBody>
      </p:sp>
      <p:sp>
        <p:nvSpPr>
          <p:cNvPr id="15" name="Text 13"/>
          <p:cNvSpPr txBox="1"/>
          <p:nvPr/>
        </p:nvSpPr>
        <p:spPr>
          <a:xfrm>
            <a:off x="6263640" y="3712464"/>
            <a:ext cx="5059375" cy="932688"/>
          </a:xfrm>
          <a:prstGeom prst="rect">
            <a:avLst/>
          </a:prstGeom>
          <a:noFill/>
          <a:ln/>
        </p:spPr>
        <p:txBody>
          <a:bodyPr wrap="square" lIns="0" tIns="0" rIns="0" bIns="0" rtlCol="0" anchor="ctr"/>
          <a:lstStyle/>
          <a:p>
            <a:pPr indent="0" marL="0">
              <a:buNone/>
            </a:pPr>
            <a:r>
              <a:rPr lang="en-US" sz="1500" dirty="0">
                <a:solidFill>
                  <a:srgbClr val="1E2A3A"/>
                </a:solidFill>
              </a:rPr>
              <a:t>Henry acts as a patron, trading access to supply for a share of the profits.</a:t>
            </a:r>
            <a:endParaRPr lang="en-US" sz="1500" dirty="0"/>
          </a:p>
        </p:txBody>
      </p:sp>
      <p:sp>
        <p:nvSpPr>
          <p:cNvPr id="16" name="Hierarchical model"/>
          <p:cNvSpPr/>
          <p:nvPr/>
        </p:nvSpPr>
        <p:spPr>
          <a:xfrm>
            <a:off x="868680" y="4791456"/>
            <a:ext cx="10637215" cy="932688"/>
          </a:xfrm>
          <a:prstGeom prst="rect">
            <a:avLst/>
          </a:prstGeom>
          <a:solidFill>
            <a:srgbClr val="FFFDF7"/>
          </a:solidFill>
          <a:ln w="12700">
            <a:solidFill>
              <a:srgbClr val="CFC5AE"/>
            </a:solidFill>
            <a:prstDash val="solid"/>
          </a:ln>
          <a:effectLst>
            <a:outerShdw sx="100000" sy="100000" kx="0" ky="0" algn="bl" rotWithShape="0" blurRad="63500" dist="25400" dir="5400000">
              <a:srgbClr val="000000">
                <a:alpha val="15000"/>
              </a:srgbClr>
            </a:outerShdw>
          </a:effectLst>
        </p:spPr>
      </p:sp>
      <p:sp>
        <p:nvSpPr>
          <p:cNvPr id="17" name="Text 15"/>
          <p:cNvSpPr txBox="1"/>
          <p:nvPr/>
        </p:nvSpPr>
        <p:spPr>
          <a:xfrm>
            <a:off x="1097280" y="4791456"/>
            <a:ext cx="2743200" cy="932688"/>
          </a:xfrm>
          <a:prstGeom prst="rect">
            <a:avLst/>
          </a:prstGeom>
          <a:noFill/>
          <a:ln/>
        </p:spPr>
        <p:txBody>
          <a:bodyPr wrap="square" lIns="0" tIns="0" rIns="0" bIns="0" rtlCol="0" anchor="ctr"/>
          <a:lstStyle/>
          <a:p>
            <a:pPr indent="0" marL="0">
              <a:buNone/>
            </a:pPr>
            <a:r>
              <a:rPr lang="en-US" sz="1700" b="1" dirty="0">
                <a:solidFill>
                  <a:srgbClr val="1E2A3A"/>
                </a:solidFill>
                <a:latin typeface="Cambria" pitchFamily="34" charset="0"/>
                <a:ea typeface="Cambria" pitchFamily="34" charset="-122"/>
                <a:cs typeface="Cambria" pitchFamily="34" charset="-120"/>
              </a:rPr>
              <a:t>Hierarchical model</a:t>
            </a:r>
            <a:endParaRPr lang="en-US" sz="1700" dirty="0"/>
          </a:p>
          <a:p>
            <a:pPr indent="0" marL="0">
              <a:buNone/>
            </a:pPr>
            <a:r>
              <a:rPr lang="en-US" sz="1200" dirty="0">
                <a:solidFill>
                  <a:srgbClr val="5E6670"/>
                </a:solidFill>
              </a:rPr>
              <a:t>Cressey (1969)</a:t>
            </a:r>
            <a:endParaRPr lang="en-US" sz="1700" dirty="0"/>
          </a:p>
        </p:txBody>
      </p:sp>
      <p:sp>
        <p:nvSpPr>
          <p:cNvPr id="18" name="Text 16"/>
          <p:cNvSpPr txBox="1"/>
          <p:nvPr/>
        </p:nvSpPr>
        <p:spPr>
          <a:xfrm>
            <a:off x="3931920" y="5038344"/>
            <a:ext cx="2103120" cy="438912"/>
          </a:xfrm>
          <a:prstGeom prst="rect">
            <a:avLst/>
          </a:prstGeom>
          <a:noFill/>
          <a:ln w="25400">
            <a:solidFill>
              <a:srgbClr val="B3261E"/>
            </a:solidFill>
          </a:ln>
        </p:spPr>
        <p:txBody>
          <a:bodyPr wrap="square" lIns="0" tIns="0" rIns="0" bIns="0" rtlCol="0" anchor="ctr"/>
          <a:lstStyle/>
          <a:p>
            <a:pPr algn="ctr" indent="0" marL="0">
              <a:buNone/>
            </a:pPr>
            <a:r>
              <a:rPr lang="en-US" sz="1100" b="1" dirty="0">
                <a:solidFill>
                  <a:srgbClr val="B3261E"/>
                </a:solidFill>
                <a:latin typeface="Courier New" pitchFamily="34" charset="0"/>
                <a:ea typeface="Courier New" pitchFamily="34" charset="-122"/>
                <a:cs typeface="Courier New" pitchFamily="34" charset="-120"/>
              </a:rPr>
              <a:t>CONFIDENCE: LOW</a:t>
            </a:r>
            <a:endParaRPr lang="en-US" sz="1100" dirty="0"/>
          </a:p>
        </p:txBody>
      </p:sp>
      <p:sp>
        <p:nvSpPr>
          <p:cNvPr id="19" name="Text 17"/>
          <p:cNvSpPr txBox="1"/>
          <p:nvPr/>
        </p:nvSpPr>
        <p:spPr>
          <a:xfrm>
            <a:off x="6263640" y="4791456"/>
            <a:ext cx="5059375" cy="932688"/>
          </a:xfrm>
          <a:prstGeom prst="rect">
            <a:avLst/>
          </a:prstGeom>
          <a:noFill/>
          <a:ln/>
        </p:spPr>
        <p:txBody>
          <a:bodyPr wrap="square" lIns="0" tIns="0" rIns="0" bIns="0" rtlCol="0" anchor="ctr"/>
          <a:lstStyle/>
          <a:p>
            <a:pPr indent="0" marL="0">
              <a:buNone/>
            </a:pPr>
            <a:r>
              <a:rPr lang="en-US" sz="1500" dirty="0">
                <a:solidFill>
                  <a:srgbClr val="1E2A3A"/>
                </a:solidFill>
              </a:rPr>
              <a:t>No ranks, no code, no “family”: everything rested on Efraim.</a:t>
            </a:r>
            <a:endParaRPr lang="en-US" sz="1500" dirty="0"/>
          </a:p>
        </p:txBody>
      </p:sp>
      <p:sp>
        <p:nvSpPr>
          <p:cNvPr id="20" name="Text 18"/>
          <p:cNvSpPr txBox="1"/>
          <p:nvPr/>
        </p:nvSpPr>
        <p:spPr>
          <a:xfrm>
            <a:off x="868680" y="6089904"/>
            <a:ext cx="8503920" cy="219456"/>
          </a:xfrm>
          <a:prstGeom prst="rect">
            <a:avLst/>
          </a:prstGeom>
          <a:noFill/>
          <a:ln/>
        </p:spPr>
        <p:txBody>
          <a:bodyPr wrap="square" lIns="0" tIns="0" rIns="0" bIns="0" rtlCol="0" anchor="ctr"/>
          <a:lstStyle/>
          <a:p>
            <a:pPr indent="0" marL="0">
              <a:buNone/>
            </a:pPr>
            <a:r>
              <a:rPr lang="en-US" sz="1000" i="1" dirty="0">
                <a:solidFill>
                  <a:srgbClr val="8A8170"/>
                </a:solidFill>
              </a:rPr>
              <a:t>Confidence ratings are the group’s assessment.</a:t>
            </a:r>
            <a:endParaRPr lang="en-US" sz="1000" dirty="0"/>
          </a:p>
        </p:txBody>
      </p:sp>
      <p:sp>
        <p:nvSpPr>
          <p:cNvPr id="25" name="Slide Number Placeholder 0"/>
          <p:cNvSpPr>
            <a:spLocks noGrp="1"/>
          </p:cNvSpPr>
          <p:nvPr>
            <p:ph type="sldNum" sz="quarter" idx="4294967295"/>
          </p:nvPr>
        </p:nvSpPr>
        <p:spPr>
          <a:xfrm>
            <a:off x="8503920" y="6382512"/>
            <a:ext cx="82296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8A8170"/>
                </a:solidFill>
                <a:latin typeface="Courier New"/>
                <a:ea typeface="Courier New"/>
                <a:cs typeface="Courier New"/>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file tag"/>
          <p:cNvSpPr txBox="1"/>
          <p:nvPr/>
        </p:nvSpPr>
        <p:spPr>
          <a:xfrm>
            <a:off x="868680" y="329184"/>
            <a:ext cx="10637215" cy="274320"/>
          </a:xfrm>
          <a:prstGeom prst="rect">
            <a:avLst/>
          </a:prstGeom>
          <a:noFill/>
          <a:ln/>
        </p:spPr>
        <p:txBody>
          <a:bodyPr wrap="square" lIns="0" tIns="0" rIns="0" bIns="0" rtlCol="0" anchor="ctr"/>
          <a:lstStyle/>
          <a:p>
            <a:pPr indent="0" marL="0">
              <a:buNone/>
            </a:pPr>
            <a:r>
              <a:rPr lang="en-US" sz="1200" b="1" spc="200" kern="0" dirty="0">
                <a:solidFill>
                  <a:srgbClr val="B3261E"/>
                </a:solidFill>
                <a:latin typeface="Courier New" pitchFamily="34" charset="0"/>
                <a:ea typeface="Courier New" pitchFamily="34" charset="-122"/>
                <a:cs typeface="Courier New" pitchFamily="34" charset="-120"/>
              </a:rPr>
              <a:t>PAGE 08  ·  MOTIVE ANALYSIS</a:t>
            </a:r>
            <a:endParaRPr lang="en-US" sz="1200" dirty="0"/>
          </a:p>
        </p:txBody>
      </p:sp>
      <p:sp>
        <p:nvSpPr>
          <p:cNvPr id="3" name="Text 0"/>
          <p:cNvSpPr/>
          <p:nvPr>
            <p:ph idx="100" type="title" hasCustomPrompt="1"/>
          </p:nvPr>
        </p:nvSpPr>
        <p:spPr>
          <a:xfrm>
            <a:off x="868680" y="658368"/>
            <a:ext cx="10637215" cy="658368"/>
          </a:xfrm>
          <a:prstGeom prst="rect">
            <a:avLst/>
          </a:prstGeom>
          <a:noFill/>
          <a:ln/>
        </p:spPr>
        <p:txBody>
          <a:bodyPr wrap="square" lIns="0" tIns="0" rIns="0" bIns="0" rtlCol="0" anchor="ctr"/>
          <a:lstStyle/>
          <a:p>
            <a:pPr algn="l" indent="0" marL="0">
              <a:buNone/>
            </a:pPr>
            <a:r>
              <a:rPr lang="en-US" sz="2800" b="1" dirty="0">
                <a:solidFill>
                  <a:schemeClr val="tx1"/>
                </a:solidFill>
              </a:rPr>
              <a:t>Motive analysis: why two ordinary men chose fraud</a:t>
            </a:r>
            <a:endParaRPr lang="en-US" sz="2800" dirty="0"/>
          </a:p>
        </p:txBody>
      </p:sp>
      <p:sp>
        <p:nvSpPr>
          <p:cNvPr id="4" name="Strain / institutional anomie"/>
          <p:cNvSpPr/>
          <p:nvPr/>
        </p:nvSpPr>
        <p:spPr>
          <a:xfrm>
            <a:off x="868680" y="1554480"/>
            <a:ext cx="5181448" cy="2011680"/>
          </a:xfrm>
          <a:prstGeom prst="rect">
            <a:avLst/>
          </a:prstGeom>
          <a:solidFill>
            <a:srgbClr val="FFFDF7"/>
          </a:solidFill>
          <a:ln w="12700">
            <a:solidFill>
              <a:srgbClr val="CFC5AE"/>
            </a:solidFill>
            <a:prstDash val="solid"/>
          </a:ln>
          <a:effectLst>
            <a:outerShdw sx="100000" sy="100000" kx="0" ky="0" algn="bl" rotWithShape="0" blurRad="63500" dist="25400" dir="5400000">
              <a:srgbClr val="000000">
                <a:alpha val="15000"/>
              </a:srgbClr>
            </a:outerShdw>
          </a:effectLst>
        </p:spPr>
      </p:sp>
      <p:sp>
        <p:nvSpPr>
          <p:cNvPr id="5" name="motive index"/>
          <p:cNvSpPr/>
          <p:nvPr/>
        </p:nvSpPr>
        <p:spPr>
          <a:xfrm>
            <a:off x="1097280" y="1783080"/>
            <a:ext cx="457200" cy="457200"/>
          </a:xfrm>
          <a:prstGeom prst="rect">
            <a:avLst/>
          </a:prstGeom>
          <a:solidFill>
            <a:srgbClr val="1F3A5F"/>
          </a:solidFill>
          <a:ln/>
        </p:spPr>
      </p:sp>
      <p:sp>
        <p:nvSpPr>
          <p:cNvPr id="6" name="Text 4"/>
          <p:cNvSpPr txBox="1"/>
          <p:nvPr/>
        </p:nvSpPr>
        <p:spPr>
          <a:xfrm>
            <a:off x="1097280" y="17830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ourier New" pitchFamily="34" charset="0"/>
                <a:ea typeface="Courier New" pitchFamily="34" charset="-122"/>
                <a:cs typeface="Courier New" pitchFamily="34" charset="-120"/>
              </a:rPr>
              <a:t>1</a:t>
            </a:r>
            <a:endParaRPr lang="en-US" sz="1800" dirty="0"/>
          </a:p>
        </p:txBody>
      </p:sp>
      <p:sp>
        <p:nvSpPr>
          <p:cNvPr id="7" name="Text 5"/>
          <p:cNvSpPr txBox="1"/>
          <p:nvPr/>
        </p:nvSpPr>
        <p:spPr>
          <a:xfrm>
            <a:off x="1737360" y="1691640"/>
            <a:ext cx="4129888" cy="685800"/>
          </a:xfrm>
          <a:prstGeom prst="rect">
            <a:avLst/>
          </a:prstGeom>
          <a:noFill/>
          <a:ln/>
        </p:spPr>
        <p:txBody>
          <a:bodyPr wrap="square" lIns="0" tIns="0" rIns="0" bIns="0" rtlCol="0" anchor="ctr"/>
          <a:lstStyle/>
          <a:p>
            <a:pPr indent="0" marL="0">
              <a:buNone/>
            </a:pPr>
            <a:r>
              <a:rPr lang="en-US" sz="1700" b="1" dirty="0">
                <a:solidFill>
                  <a:srgbClr val="1E2A3A"/>
                </a:solidFill>
                <a:latin typeface="Cambria" pitchFamily="34" charset="0"/>
                <a:ea typeface="Cambria" pitchFamily="34" charset="-122"/>
                <a:cs typeface="Cambria" pitchFamily="34" charset="-120"/>
              </a:rPr>
              <a:t>Strain / institutional anomie</a:t>
            </a:r>
            <a:endParaRPr lang="en-US" sz="1700" dirty="0"/>
          </a:p>
          <a:p>
            <a:pPr indent="0" marL="0">
              <a:buNone/>
            </a:pPr>
            <a:r>
              <a:rPr lang="en-US" sz="1200" dirty="0">
                <a:solidFill>
                  <a:srgbClr val="5E6670"/>
                </a:solidFill>
              </a:rPr>
              <a:t>Merton (1938); Messner &amp; Rosenfeld (1994)</a:t>
            </a:r>
            <a:endParaRPr lang="en-US" sz="1700" dirty="0"/>
          </a:p>
        </p:txBody>
      </p:sp>
      <p:sp>
        <p:nvSpPr>
          <p:cNvPr id="8" name="Text 6"/>
          <p:cNvSpPr txBox="1"/>
          <p:nvPr/>
        </p:nvSpPr>
        <p:spPr>
          <a:xfrm>
            <a:off x="1737360" y="2423160"/>
            <a:ext cx="4129888" cy="1051560"/>
          </a:xfrm>
          <a:prstGeom prst="rect">
            <a:avLst/>
          </a:prstGeom>
          <a:noFill/>
          <a:ln/>
        </p:spPr>
        <p:txBody>
          <a:bodyPr wrap="square" lIns="0" tIns="0" rIns="0" bIns="0" rtlCol="0" anchor="t"/>
          <a:lstStyle/>
          <a:p>
            <a:pPr indent="0" marL="0">
              <a:buNone/>
            </a:pPr>
            <a:r>
              <a:rPr lang="en-US" sz="1500" dirty="0">
                <a:solidFill>
                  <a:srgbClr val="1E2A3A"/>
                </a:solidFill>
              </a:rPr>
              <a:t>Broke with a baby coming, David “innovates”: legitimate goal, illegitimate means. Money overrides family.</a:t>
            </a:r>
            <a:endParaRPr lang="en-US" sz="1500" dirty="0"/>
          </a:p>
        </p:txBody>
      </p:sp>
      <p:sp>
        <p:nvSpPr>
          <p:cNvPr id="9" name="Differential association"/>
          <p:cNvSpPr/>
          <p:nvPr/>
        </p:nvSpPr>
        <p:spPr>
          <a:xfrm>
            <a:off x="6324448" y="1554480"/>
            <a:ext cx="5181448" cy="2011680"/>
          </a:xfrm>
          <a:prstGeom prst="rect">
            <a:avLst/>
          </a:prstGeom>
          <a:solidFill>
            <a:srgbClr val="FFFDF7"/>
          </a:solidFill>
          <a:ln w="12700">
            <a:solidFill>
              <a:srgbClr val="CFC5AE"/>
            </a:solidFill>
            <a:prstDash val="solid"/>
          </a:ln>
          <a:effectLst>
            <a:outerShdw sx="100000" sy="100000" kx="0" ky="0" algn="bl" rotWithShape="0" blurRad="63500" dist="25400" dir="5400000">
              <a:srgbClr val="000000">
                <a:alpha val="15000"/>
              </a:srgbClr>
            </a:outerShdw>
          </a:effectLst>
        </p:spPr>
      </p:sp>
      <p:sp>
        <p:nvSpPr>
          <p:cNvPr id="10" name="motive index"/>
          <p:cNvSpPr/>
          <p:nvPr/>
        </p:nvSpPr>
        <p:spPr>
          <a:xfrm>
            <a:off x="6553048" y="1783080"/>
            <a:ext cx="457200" cy="457200"/>
          </a:xfrm>
          <a:prstGeom prst="rect">
            <a:avLst/>
          </a:prstGeom>
          <a:solidFill>
            <a:srgbClr val="1F3A5F"/>
          </a:solidFill>
          <a:ln/>
        </p:spPr>
      </p:sp>
      <p:sp>
        <p:nvSpPr>
          <p:cNvPr id="11" name="Text 9"/>
          <p:cNvSpPr txBox="1"/>
          <p:nvPr/>
        </p:nvSpPr>
        <p:spPr>
          <a:xfrm>
            <a:off x="6553048" y="17830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ourier New" pitchFamily="34" charset="0"/>
                <a:ea typeface="Courier New" pitchFamily="34" charset="-122"/>
                <a:cs typeface="Courier New" pitchFamily="34" charset="-120"/>
              </a:rPr>
              <a:t>2</a:t>
            </a:r>
            <a:endParaRPr lang="en-US" sz="1800" dirty="0"/>
          </a:p>
        </p:txBody>
      </p:sp>
      <p:sp>
        <p:nvSpPr>
          <p:cNvPr id="12" name="Text 10"/>
          <p:cNvSpPr txBox="1"/>
          <p:nvPr/>
        </p:nvSpPr>
        <p:spPr>
          <a:xfrm>
            <a:off x="7193128" y="1691640"/>
            <a:ext cx="4129888" cy="685800"/>
          </a:xfrm>
          <a:prstGeom prst="rect">
            <a:avLst/>
          </a:prstGeom>
          <a:noFill/>
          <a:ln/>
        </p:spPr>
        <p:txBody>
          <a:bodyPr wrap="square" lIns="0" tIns="0" rIns="0" bIns="0" rtlCol="0" anchor="ctr"/>
          <a:lstStyle/>
          <a:p>
            <a:pPr indent="0" marL="0">
              <a:buNone/>
            </a:pPr>
            <a:r>
              <a:rPr lang="en-US" sz="1700" b="1" dirty="0">
                <a:solidFill>
                  <a:srgbClr val="1E2A3A"/>
                </a:solidFill>
                <a:latin typeface="Cambria" pitchFamily="34" charset="0"/>
                <a:ea typeface="Cambria" pitchFamily="34" charset="-122"/>
                <a:cs typeface="Cambria" pitchFamily="34" charset="-120"/>
              </a:rPr>
              <a:t>Differential association</a:t>
            </a:r>
            <a:endParaRPr lang="en-US" sz="1700" dirty="0"/>
          </a:p>
          <a:p>
            <a:pPr indent="0" marL="0">
              <a:buNone/>
            </a:pPr>
            <a:r>
              <a:rPr lang="en-US" sz="1200" dirty="0">
                <a:solidFill>
                  <a:srgbClr val="5E6670"/>
                </a:solidFill>
              </a:rPr>
              <a:t>Sutherland (1940)</a:t>
            </a:r>
            <a:endParaRPr lang="en-US" sz="1700" dirty="0"/>
          </a:p>
        </p:txBody>
      </p:sp>
      <p:sp>
        <p:nvSpPr>
          <p:cNvPr id="13" name="Text 11"/>
          <p:cNvSpPr txBox="1"/>
          <p:nvPr/>
        </p:nvSpPr>
        <p:spPr>
          <a:xfrm>
            <a:off x="7193128" y="2423160"/>
            <a:ext cx="4129888" cy="1051560"/>
          </a:xfrm>
          <a:prstGeom prst="rect">
            <a:avLst/>
          </a:prstGeom>
          <a:noFill/>
          <a:ln/>
        </p:spPr>
        <p:txBody>
          <a:bodyPr wrap="square" lIns="0" tIns="0" rIns="0" bIns="0" rtlCol="0" anchor="t"/>
          <a:lstStyle/>
          <a:p>
            <a:pPr indent="0" marL="0">
              <a:buNone/>
            </a:pPr>
            <a:r>
              <a:rPr lang="en-US" sz="1500" dirty="0">
                <a:solidFill>
                  <a:srgbClr val="1E2A3A"/>
                </a:solidFill>
              </a:rPr>
              <a:t>David learns the methods and the excuses of fraud from his friend Efraim.</a:t>
            </a:r>
            <a:endParaRPr lang="en-US" sz="1500" dirty="0"/>
          </a:p>
        </p:txBody>
      </p:sp>
      <p:sp>
        <p:nvSpPr>
          <p:cNvPr id="14" name="Rational choice"/>
          <p:cNvSpPr/>
          <p:nvPr/>
        </p:nvSpPr>
        <p:spPr>
          <a:xfrm>
            <a:off x="868680" y="3749040"/>
            <a:ext cx="5181448" cy="2011680"/>
          </a:xfrm>
          <a:prstGeom prst="rect">
            <a:avLst/>
          </a:prstGeom>
          <a:solidFill>
            <a:srgbClr val="FFFDF7"/>
          </a:solidFill>
          <a:ln w="12700">
            <a:solidFill>
              <a:srgbClr val="CFC5AE"/>
            </a:solidFill>
            <a:prstDash val="solid"/>
          </a:ln>
          <a:effectLst>
            <a:outerShdw sx="100000" sy="100000" kx="0" ky="0" algn="bl" rotWithShape="0" blurRad="63500" dist="25400" dir="5400000">
              <a:srgbClr val="000000">
                <a:alpha val="15000"/>
              </a:srgbClr>
            </a:outerShdw>
          </a:effectLst>
        </p:spPr>
      </p:sp>
      <p:sp>
        <p:nvSpPr>
          <p:cNvPr id="15" name="motive index"/>
          <p:cNvSpPr/>
          <p:nvPr/>
        </p:nvSpPr>
        <p:spPr>
          <a:xfrm>
            <a:off x="1097280" y="3977640"/>
            <a:ext cx="457200" cy="457200"/>
          </a:xfrm>
          <a:prstGeom prst="rect">
            <a:avLst/>
          </a:prstGeom>
          <a:solidFill>
            <a:srgbClr val="1F3A5F"/>
          </a:solidFill>
          <a:ln/>
        </p:spPr>
      </p:sp>
      <p:sp>
        <p:nvSpPr>
          <p:cNvPr id="16" name="Text 14"/>
          <p:cNvSpPr txBox="1"/>
          <p:nvPr/>
        </p:nvSpPr>
        <p:spPr>
          <a:xfrm>
            <a:off x="1097280" y="39776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ourier New" pitchFamily="34" charset="0"/>
                <a:ea typeface="Courier New" pitchFamily="34" charset="-122"/>
                <a:cs typeface="Courier New" pitchFamily="34" charset="-120"/>
              </a:rPr>
              <a:t>3</a:t>
            </a:r>
            <a:endParaRPr lang="en-US" sz="1800" dirty="0"/>
          </a:p>
        </p:txBody>
      </p:sp>
      <p:sp>
        <p:nvSpPr>
          <p:cNvPr id="17" name="Text 15"/>
          <p:cNvSpPr txBox="1"/>
          <p:nvPr/>
        </p:nvSpPr>
        <p:spPr>
          <a:xfrm>
            <a:off x="1737360" y="3886200"/>
            <a:ext cx="4129888" cy="685800"/>
          </a:xfrm>
          <a:prstGeom prst="rect">
            <a:avLst/>
          </a:prstGeom>
          <a:noFill/>
          <a:ln/>
        </p:spPr>
        <p:txBody>
          <a:bodyPr wrap="square" lIns="0" tIns="0" rIns="0" bIns="0" rtlCol="0" anchor="ctr"/>
          <a:lstStyle/>
          <a:p>
            <a:pPr indent="0" marL="0">
              <a:buNone/>
            </a:pPr>
            <a:r>
              <a:rPr lang="en-US" sz="1700" b="1" dirty="0">
                <a:solidFill>
                  <a:srgbClr val="1E2A3A"/>
                </a:solidFill>
                <a:latin typeface="Cambria" pitchFamily="34" charset="0"/>
                <a:ea typeface="Cambria" pitchFamily="34" charset="-122"/>
                <a:cs typeface="Cambria" pitchFamily="34" charset="-120"/>
              </a:rPr>
              <a:t>Rational choice</a:t>
            </a:r>
            <a:endParaRPr lang="en-US" sz="1700" dirty="0"/>
          </a:p>
          <a:p>
            <a:pPr indent="0" marL="0">
              <a:buNone/>
            </a:pPr>
            <a:r>
              <a:rPr lang="en-US" sz="1200" dirty="0">
                <a:solidFill>
                  <a:srgbClr val="5E6670"/>
                </a:solidFill>
              </a:rPr>
              <a:t>Cornish &amp; Clarke (1986)</a:t>
            </a:r>
            <a:endParaRPr lang="en-US" sz="1700" dirty="0"/>
          </a:p>
        </p:txBody>
      </p:sp>
      <p:sp>
        <p:nvSpPr>
          <p:cNvPr id="18" name="Text 16"/>
          <p:cNvSpPr txBox="1"/>
          <p:nvPr/>
        </p:nvSpPr>
        <p:spPr>
          <a:xfrm>
            <a:off x="1737360" y="4617720"/>
            <a:ext cx="4129888" cy="1051560"/>
          </a:xfrm>
          <a:prstGeom prst="rect">
            <a:avLst/>
          </a:prstGeom>
          <a:noFill/>
          <a:ln/>
        </p:spPr>
        <p:txBody>
          <a:bodyPr wrap="square" lIns="0" tIns="0" rIns="0" bIns="0" rtlCol="0" anchor="t"/>
          <a:lstStyle/>
          <a:p>
            <a:pPr indent="0" marL="0">
              <a:buNone/>
            </a:pPr>
            <a:r>
              <a:rPr lang="en-US" sz="1500" dirty="0">
                <a:solidFill>
                  <a:srgbClr val="1E2A3A"/>
                </a:solidFill>
              </a:rPr>
              <a:t>Repackaging banned rounds: a huge reward weighed against a small chance of detection.</a:t>
            </a:r>
            <a:endParaRPr lang="en-US" sz="1500" dirty="0"/>
          </a:p>
        </p:txBody>
      </p:sp>
      <p:sp>
        <p:nvSpPr>
          <p:cNvPr id="19" name="Techniques of neutralization"/>
          <p:cNvSpPr/>
          <p:nvPr/>
        </p:nvSpPr>
        <p:spPr>
          <a:xfrm>
            <a:off x="6324448" y="3749040"/>
            <a:ext cx="5181448" cy="2011680"/>
          </a:xfrm>
          <a:prstGeom prst="rect">
            <a:avLst/>
          </a:prstGeom>
          <a:solidFill>
            <a:srgbClr val="FFFDF7"/>
          </a:solidFill>
          <a:ln w="12700">
            <a:solidFill>
              <a:srgbClr val="CFC5AE"/>
            </a:solidFill>
            <a:prstDash val="solid"/>
          </a:ln>
          <a:effectLst>
            <a:outerShdw sx="100000" sy="100000" kx="0" ky="0" algn="bl" rotWithShape="0" blurRad="63500" dist="25400" dir="5400000">
              <a:srgbClr val="000000">
                <a:alpha val="15000"/>
              </a:srgbClr>
            </a:outerShdw>
          </a:effectLst>
        </p:spPr>
      </p:sp>
      <p:sp>
        <p:nvSpPr>
          <p:cNvPr id="20" name="motive index"/>
          <p:cNvSpPr/>
          <p:nvPr/>
        </p:nvSpPr>
        <p:spPr>
          <a:xfrm>
            <a:off x="6553048" y="3977640"/>
            <a:ext cx="457200" cy="457200"/>
          </a:xfrm>
          <a:prstGeom prst="rect">
            <a:avLst/>
          </a:prstGeom>
          <a:solidFill>
            <a:srgbClr val="1F3A5F"/>
          </a:solidFill>
          <a:ln/>
        </p:spPr>
      </p:sp>
      <p:sp>
        <p:nvSpPr>
          <p:cNvPr id="21" name="Text 19"/>
          <p:cNvSpPr txBox="1"/>
          <p:nvPr/>
        </p:nvSpPr>
        <p:spPr>
          <a:xfrm>
            <a:off x="6553048" y="39776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ourier New" pitchFamily="34" charset="0"/>
                <a:ea typeface="Courier New" pitchFamily="34" charset="-122"/>
                <a:cs typeface="Courier New" pitchFamily="34" charset="-120"/>
              </a:rPr>
              <a:t>4</a:t>
            </a:r>
            <a:endParaRPr lang="en-US" sz="1800" dirty="0"/>
          </a:p>
        </p:txBody>
      </p:sp>
      <p:sp>
        <p:nvSpPr>
          <p:cNvPr id="22" name="Text 20"/>
          <p:cNvSpPr txBox="1"/>
          <p:nvPr/>
        </p:nvSpPr>
        <p:spPr>
          <a:xfrm>
            <a:off x="7193128" y="3886200"/>
            <a:ext cx="4129888" cy="685800"/>
          </a:xfrm>
          <a:prstGeom prst="rect">
            <a:avLst/>
          </a:prstGeom>
          <a:noFill/>
          <a:ln/>
        </p:spPr>
        <p:txBody>
          <a:bodyPr wrap="square" lIns="0" tIns="0" rIns="0" bIns="0" rtlCol="0" anchor="ctr"/>
          <a:lstStyle/>
          <a:p>
            <a:pPr indent="0" marL="0">
              <a:buNone/>
            </a:pPr>
            <a:r>
              <a:rPr lang="en-US" sz="1700" b="1" dirty="0">
                <a:solidFill>
                  <a:srgbClr val="1E2A3A"/>
                </a:solidFill>
                <a:latin typeface="Cambria" pitchFamily="34" charset="0"/>
                <a:ea typeface="Cambria" pitchFamily="34" charset="-122"/>
                <a:cs typeface="Cambria" pitchFamily="34" charset="-120"/>
              </a:rPr>
              <a:t>Techniques of neutralization</a:t>
            </a:r>
            <a:endParaRPr lang="en-US" sz="1700" dirty="0"/>
          </a:p>
          <a:p>
            <a:pPr indent="0" marL="0">
              <a:buNone/>
            </a:pPr>
            <a:r>
              <a:rPr lang="en-US" sz="1200" dirty="0">
                <a:solidFill>
                  <a:srgbClr val="5E6670"/>
                </a:solidFill>
              </a:rPr>
              <a:t>Sykes &amp; Matza (1957)</a:t>
            </a:r>
            <a:endParaRPr lang="en-US" sz="1700" dirty="0"/>
          </a:p>
        </p:txBody>
      </p:sp>
      <p:sp>
        <p:nvSpPr>
          <p:cNvPr id="23" name="Text 21"/>
          <p:cNvSpPr txBox="1"/>
          <p:nvPr/>
        </p:nvSpPr>
        <p:spPr>
          <a:xfrm>
            <a:off x="7193128" y="4617720"/>
            <a:ext cx="4129888" cy="1051560"/>
          </a:xfrm>
          <a:prstGeom prst="rect">
            <a:avLst/>
          </a:prstGeom>
          <a:noFill/>
          <a:ln/>
        </p:spPr>
        <p:txBody>
          <a:bodyPr wrap="square" lIns="0" tIns="0" rIns="0" bIns="0" rtlCol="0" anchor="t"/>
          <a:lstStyle/>
          <a:p>
            <a:pPr indent="0" marL="0">
              <a:buNone/>
            </a:pPr>
            <a:r>
              <a:rPr lang="en-US" sz="1500" dirty="0">
                <a:solidFill>
                  <a:srgbClr val="1E2A3A"/>
                </a:solidFill>
              </a:rPr>
              <a:t>Paraphrased excuses: “the troops still get working bullets” (denial of injury); “the government does it too”.</a:t>
            </a:r>
            <a:endParaRPr lang="en-US" sz="1500" dirty="0"/>
          </a:p>
        </p:txBody>
      </p:sp>
      <p:sp>
        <p:nvSpPr>
          <p:cNvPr id="25" name="Slide Number Placeholder 0"/>
          <p:cNvSpPr>
            <a:spLocks noGrp="1"/>
          </p:cNvSpPr>
          <p:nvPr>
            <p:ph type="sldNum" sz="quarter" idx="4294967295"/>
          </p:nvPr>
        </p:nvSpPr>
        <p:spPr>
          <a:xfrm>
            <a:off x="8503920" y="6382512"/>
            <a:ext cx="82296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8A8170"/>
                </a:solidFill>
                <a:latin typeface="Courier New"/>
                <a:ea typeface="Courier New"/>
                <a:cs typeface="Courier New"/>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file tag"/>
          <p:cNvSpPr txBox="1"/>
          <p:nvPr/>
        </p:nvSpPr>
        <p:spPr>
          <a:xfrm>
            <a:off x="868680" y="329184"/>
            <a:ext cx="10637215" cy="274320"/>
          </a:xfrm>
          <a:prstGeom prst="rect">
            <a:avLst/>
          </a:prstGeom>
          <a:noFill/>
          <a:ln/>
        </p:spPr>
        <p:txBody>
          <a:bodyPr wrap="square" lIns="0" tIns="0" rIns="0" bIns="0" rtlCol="0" anchor="ctr"/>
          <a:lstStyle/>
          <a:p>
            <a:pPr indent="0" marL="0">
              <a:buNone/>
            </a:pPr>
            <a:r>
              <a:rPr lang="en-US" sz="1200" b="1" spc="200" kern="0" dirty="0">
                <a:solidFill>
                  <a:srgbClr val="B3261E"/>
                </a:solidFill>
                <a:latin typeface="Courier New" pitchFamily="34" charset="0"/>
                <a:ea typeface="Courier New" pitchFamily="34" charset="-122"/>
                <a:cs typeface="Courier New" pitchFamily="34" charset="-120"/>
              </a:rPr>
              <a:t>PAGE 09  ·  CORRUPTION ANALYSIS</a:t>
            </a:r>
            <a:endParaRPr lang="en-US" sz="1200" dirty="0"/>
          </a:p>
        </p:txBody>
      </p:sp>
      <p:sp>
        <p:nvSpPr>
          <p:cNvPr id="3" name="Text 0"/>
          <p:cNvSpPr/>
          <p:nvPr>
            <p:ph idx="100" type="title" hasCustomPrompt="1"/>
          </p:nvPr>
        </p:nvSpPr>
        <p:spPr>
          <a:xfrm>
            <a:off x="868680" y="658368"/>
            <a:ext cx="10637215" cy="658368"/>
          </a:xfrm>
          <a:prstGeom prst="rect">
            <a:avLst/>
          </a:prstGeom>
          <a:noFill/>
          <a:ln/>
        </p:spPr>
        <p:txBody>
          <a:bodyPr wrap="square" lIns="0" tIns="0" rIns="0" bIns="0" rtlCol="0" anchor="ctr"/>
          <a:lstStyle/>
          <a:p>
            <a:pPr algn="l" indent="0" marL="0">
              <a:buNone/>
            </a:pPr>
            <a:r>
              <a:rPr lang="en-US" sz="2800" b="1" dirty="0">
                <a:solidFill>
                  <a:schemeClr val="tx1"/>
                </a:solidFill>
              </a:rPr>
              <a:t>The system made it possible: C = M + D − A</a:t>
            </a:r>
            <a:endParaRPr lang="en-US" sz="2800" dirty="0"/>
          </a:p>
        </p:txBody>
      </p:sp>
      <p:sp>
        <p:nvSpPr>
          <p:cNvPr id="4" name="Text 2"/>
          <p:cNvSpPr txBox="1"/>
          <p:nvPr/>
        </p:nvSpPr>
        <p:spPr>
          <a:xfrm>
            <a:off x="868680" y="1463040"/>
            <a:ext cx="10637215" cy="365760"/>
          </a:xfrm>
          <a:prstGeom prst="rect">
            <a:avLst/>
          </a:prstGeom>
          <a:noFill/>
          <a:ln/>
        </p:spPr>
        <p:txBody>
          <a:bodyPr wrap="square" lIns="0" tIns="0" rIns="0" bIns="0" rtlCol="0" anchor="ctr"/>
          <a:lstStyle/>
          <a:p>
            <a:pPr indent="0" marL="0">
              <a:buNone/>
            </a:pPr>
            <a:r>
              <a:rPr lang="en-US" sz="1400" b="1" dirty="0">
                <a:solidFill>
                  <a:srgbClr val="1E2A3A"/>
                </a:solidFill>
              </a:rPr>
              <a:t>Corruption: </a:t>
            </a:r>
            <a:pPr indent="0" marL="0">
              <a:buNone/>
            </a:pPr>
            <a:r>
              <a:rPr lang="en-US" sz="1400" dirty="0">
                <a:solidFill>
                  <a:srgbClr val="1E2A3A"/>
                </a:solidFill>
                <a:highlight>
                  <a:srgbClr val="F6E27F"/>
                </a:highlight>
              </a:rPr>
              <a:t>the abuse of entrusted power for private gain</a:t>
            </a:r>
            <a:pPr indent="0" marL="0">
              <a:buNone/>
            </a:pPr>
            <a:r>
              <a:rPr lang="en-US" sz="1400" dirty="0">
                <a:solidFill>
                  <a:srgbClr val="1E2A3A"/>
                </a:solidFill>
              </a:rPr>
              <a:t> (Transparency International). Formula: Klitgaard (1988).</a:t>
            </a:r>
            <a:endParaRPr lang="en-US" sz="1400" dirty="0"/>
          </a:p>
        </p:txBody>
      </p:sp>
      <p:sp>
        <p:nvSpPr>
          <p:cNvPr id="5" name="MONOPOLY"/>
          <p:cNvSpPr/>
          <p:nvPr/>
        </p:nvSpPr>
        <p:spPr>
          <a:xfrm>
            <a:off x="868680" y="2011680"/>
            <a:ext cx="3362858" cy="2514600"/>
          </a:xfrm>
          <a:prstGeom prst="rect">
            <a:avLst/>
          </a:prstGeom>
          <a:solidFill>
            <a:srgbClr val="FFFDF7"/>
          </a:solidFill>
          <a:ln w="12700">
            <a:solidFill>
              <a:srgbClr val="CFC5AE"/>
            </a:solidFill>
            <a:prstDash val="solid"/>
          </a:ln>
          <a:effectLst>
            <a:outerShdw sx="100000" sy="100000" kx="0" ky="0" algn="bl" rotWithShape="0" blurRad="63500" dist="25400" dir="5400000">
              <a:srgbClr val="000000">
                <a:alpha val="15000"/>
              </a:srgbClr>
            </a:outerShdw>
          </a:effectLst>
        </p:spPr>
      </p:sp>
      <p:sp>
        <p:nvSpPr>
          <p:cNvPr id="6" name="Text 4"/>
          <p:cNvSpPr txBox="1"/>
          <p:nvPr/>
        </p:nvSpPr>
        <p:spPr>
          <a:xfrm>
            <a:off x="1097280" y="2148840"/>
            <a:ext cx="822960" cy="868680"/>
          </a:xfrm>
          <a:prstGeom prst="rect">
            <a:avLst/>
          </a:prstGeom>
          <a:noFill/>
          <a:ln/>
        </p:spPr>
        <p:txBody>
          <a:bodyPr wrap="square" lIns="0" tIns="0" rIns="0" bIns="0" rtlCol="0" anchor="ctr"/>
          <a:lstStyle/>
          <a:p>
            <a:pPr indent="0" marL="0">
              <a:buNone/>
            </a:pPr>
            <a:r>
              <a:rPr lang="en-US" sz="5000" b="1" dirty="0">
                <a:solidFill>
                  <a:srgbClr val="1F3A5F"/>
                </a:solidFill>
                <a:latin typeface="Cambria" pitchFamily="34" charset="0"/>
                <a:ea typeface="Cambria" pitchFamily="34" charset="-122"/>
                <a:cs typeface="Cambria" pitchFamily="34" charset="-120"/>
              </a:rPr>
              <a:t>M</a:t>
            </a:r>
            <a:endParaRPr lang="en-US" sz="5000" dirty="0"/>
          </a:p>
        </p:txBody>
      </p:sp>
      <p:sp>
        <p:nvSpPr>
          <p:cNvPr id="7" name="Text 5"/>
          <p:cNvSpPr txBox="1"/>
          <p:nvPr/>
        </p:nvSpPr>
        <p:spPr>
          <a:xfrm>
            <a:off x="1920240" y="2468880"/>
            <a:ext cx="2174138" cy="256032"/>
          </a:xfrm>
          <a:prstGeom prst="rect">
            <a:avLst/>
          </a:prstGeom>
          <a:noFill/>
          <a:ln/>
        </p:spPr>
        <p:txBody>
          <a:bodyPr wrap="square" lIns="0" tIns="0" rIns="0" bIns="0" rtlCol="0" anchor="ctr"/>
          <a:lstStyle/>
          <a:p>
            <a:pPr indent="0" marL="0">
              <a:buNone/>
            </a:pPr>
            <a:r>
              <a:rPr lang="en-US" sz="1200" b="1" spc="100" kern="0" dirty="0">
                <a:solidFill>
                  <a:srgbClr val="1F3A5F"/>
                </a:solidFill>
                <a:latin typeface="Courier New" pitchFamily="34" charset="0"/>
                <a:ea typeface="Courier New" pitchFamily="34" charset="-122"/>
                <a:cs typeface="Courier New" pitchFamily="34" charset="-120"/>
              </a:rPr>
              <a:t>MONOPOLY</a:t>
            </a:r>
            <a:endParaRPr lang="en-US" sz="1200" dirty="0"/>
          </a:p>
        </p:txBody>
      </p:sp>
      <p:sp>
        <p:nvSpPr>
          <p:cNvPr id="8" name="Text 6"/>
          <p:cNvSpPr txBox="1"/>
          <p:nvPr/>
        </p:nvSpPr>
        <p:spPr>
          <a:xfrm>
            <a:off x="1097280" y="3108960"/>
            <a:ext cx="2905658" cy="1325880"/>
          </a:xfrm>
          <a:prstGeom prst="rect">
            <a:avLst/>
          </a:prstGeom>
          <a:noFill/>
          <a:ln/>
        </p:spPr>
        <p:txBody>
          <a:bodyPr wrap="square" lIns="0" tIns="0" rIns="0" bIns="0" rtlCol="0" anchor="t"/>
          <a:lstStyle/>
          <a:p>
            <a:pPr indent="0" marL="0">
              <a:buNone/>
            </a:pPr>
            <a:r>
              <a:rPr lang="en-US" sz="1500" dirty="0">
                <a:solidFill>
                  <a:srgbClr val="1E2A3A"/>
                </a:solidFill>
              </a:rPr>
              <a:t>Henry controls the only access to cheap Balkan ammunition, so everyone must pay him.</a:t>
            </a:r>
            <a:endParaRPr lang="en-US" sz="1500" dirty="0"/>
          </a:p>
        </p:txBody>
      </p:sp>
      <p:sp>
        <p:nvSpPr>
          <p:cNvPr id="9" name="DISCRETION"/>
          <p:cNvSpPr/>
          <p:nvPr/>
        </p:nvSpPr>
        <p:spPr>
          <a:xfrm>
            <a:off x="4441850" y="2011680"/>
            <a:ext cx="3362858" cy="2514600"/>
          </a:xfrm>
          <a:prstGeom prst="rect">
            <a:avLst/>
          </a:prstGeom>
          <a:solidFill>
            <a:srgbClr val="FFFDF7"/>
          </a:solidFill>
          <a:ln w="12700">
            <a:solidFill>
              <a:srgbClr val="CFC5AE"/>
            </a:solidFill>
            <a:prstDash val="solid"/>
          </a:ln>
          <a:effectLst>
            <a:outerShdw sx="100000" sy="100000" kx="0" ky="0" algn="bl" rotWithShape="0" blurRad="63500" dist="25400" dir="5400000">
              <a:srgbClr val="000000">
                <a:alpha val="15000"/>
              </a:srgbClr>
            </a:outerShdw>
          </a:effectLst>
        </p:spPr>
      </p:sp>
      <p:sp>
        <p:nvSpPr>
          <p:cNvPr id="10" name="Text 8"/>
          <p:cNvSpPr txBox="1"/>
          <p:nvPr/>
        </p:nvSpPr>
        <p:spPr>
          <a:xfrm>
            <a:off x="4670450" y="2148840"/>
            <a:ext cx="822960" cy="868680"/>
          </a:xfrm>
          <a:prstGeom prst="rect">
            <a:avLst/>
          </a:prstGeom>
          <a:noFill/>
          <a:ln/>
        </p:spPr>
        <p:txBody>
          <a:bodyPr wrap="square" lIns="0" tIns="0" rIns="0" bIns="0" rtlCol="0" anchor="ctr"/>
          <a:lstStyle/>
          <a:p>
            <a:pPr indent="0" marL="0">
              <a:buNone/>
            </a:pPr>
            <a:r>
              <a:rPr lang="en-US" sz="5000" b="1" dirty="0">
                <a:solidFill>
                  <a:srgbClr val="1F3A5F"/>
                </a:solidFill>
                <a:latin typeface="Cambria" pitchFamily="34" charset="0"/>
                <a:ea typeface="Cambria" pitchFamily="34" charset="-122"/>
                <a:cs typeface="Cambria" pitchFamily="34" charset="-120"/>
              </a:rPr>
              <a:t>D</a:t>
            </a:r>
            <a:endParaRPr lang="en-US" sz="5000" dirty="0"/>
          </a:p>
        </p:txBody>
      </p:sp>
      <p:sp>
        <p:nvSpPr>
          <p:cNvPr id="11" name="Text 9"/>
          <p:cNvSpPr txBox="1"/>
          <p:nvPr/>
        </p:nvSpPr>
        <p:spPr>
          <a:xfrm>
            <a:off x="5493410" y="2468880"/>
            <a:ext cx="2174138" cy="256032"/>
          </a:xfrm>
          <a:prstGeom prst="rect">
            <a:avLst/>
          </a:prstGeom>
          <a:noFill/>
          <a:ln/>
        </p:spPr>
        <p:txBody>
          <a:bodyPr wrap="square" lIns="0" tIns="0" rIns="0" bIns="0" rtlCol="0" anchor="ctr"/>
          <a:lstStyle/>
          <a:p>
            <a:pPr indent="0" marL="0">
              <a:buNone/>
            </a:pPr>
            <a:r>
              <a:rPr lang="en-US" sz="1200" b="1" spc="100" kern="0" dirty="0">
                <a:solidFill>
                  <a:srgbClr val="1F3A5F"/>
                </a:solidFill>
                <a:latin typeface="Courier New" pitchFamily="34" charset="0"/>
                <a:ea typeface="Courier New" pitchFamily="34" charset="-122"/>
                <a:cs typeface="Courier New" pitchFamily="34" charset="-120"/>
              </a:rPr>
              <a:t>DISCRETION</a:t>
            </a:r>
            <a:endParaRPr lang="en-US" sz="1200" dirty="0"/>
          </a:p>
        </p:txBody>
      </p:sp>
      <p:sp>
        <p:nvSpPr>
          <p:cNvPr id="12" name="Text 10"/>
          <p:cNvSpPr txBox="1"/>
          <p:nvPr/>
        </p:nvSpPr>
        <p:spPr>
          <a:xfrm>
            <a:off x="4670450" y="3108960"/>
            <a:ext cx="2905658" cy="1325880"/>
          </a:xfrm>
          <a:prstGeom prst="rect">
            <a:avLst/>
          </a:prstGeom>
          <a:noFill/>
          <a:ln/>
        </p:spPr>
        <p:txBody>
          <a:bodyPr wrap="square" lIns="0" tIns="0" rIns="0" bIns="0" rtlCol="0" anchor="t"/>
          <a:lstStyle/>
          <a:p>
            <a:pPr indent="0" marL="0">
              <a:buNone/>
            </a:pPr>
            <a:r>
              <a:rPr lang="en-US" sz="1500" dirty="0">
                <a:solidFill>
                  <a:srgbClr val="1E2A3A"/>
                </a:solidFill>
              </a:rPr>
              <a:t>Officials, fixers and border agents decide with little scrutiny; middlemen skim profits.</a:t>
            </a:r>
            <a:endParaRPr lang="en-US" sz="1500" dirty="0"/>
          </a:p>
        </p:txBody>
      </p:sp>
      <p:sp>
        <p:nvSpPr>
          <p:cNvPr id="13" name="LOW ACCOUNTABILITY"/>
          <p:cNvSpPr/>
          <p:nvPr/>
        </p:nvSpPr>
        <p:spPr>
          <a:xfrm>
            <a:off x="8015021" y="2011680"/>
            <a:ext cx="3362858" cy="2514600"/>
          </a:xfrm>
          <a:prstGeom prst="rect">
            <a:avLst/>
          </a:prstGeom>
          <a:solidFill>
            <a:srgbClr val="FFFDF7"/>
          </a:solidFill>
          <a:ln w="19050">
            <a:solidFill>
              <a:srgbClr val="B3261E"/>
            </a:solidFill>
            <a:prstDash val="solid"/>
          </a:ln>
          <a:effectLst>
            <a:outerShdw sx="100000" sy="100000" kx="0" ky="0" algn="bl" rotWithShape="0" blurRad="63500" dist="25400" dir="5400000">
              <a:srgbClr val="000000">
                <a:alpha val="15000"/>
              </a:srgbClr>
            </a:outerShdw>
          </a:effectLst>
        </p:spPr>
      </p:sp>
      <p:sp>
        <p:nvSpPr>
          <p:cNvPr id="14" name="Text 12"/>
          <p:cNvSpPr txBox="1"/>
          <p:nvPr/>
        </p:nvSpPr>
        <p:spPr>
          <a:xfrm>
            <a:off x="8243621" y="2148840"/>
            <a:ext cx="822960" cy="868680"/>
          </a:xfrm>
          <a:prstGeom prst="rect">
            <a:avLst/>
          </a:prstGeom>
          <a:noFill/>
          <a:ln/>
        </p:spPr>
        <p:txBody>
          <a:bodyPr wrap="square" lIns="0" tIns="0" rIns="0" bIns="0" rtlCol="0" anchor="ctr"/>
          <a:lstStyle/>
          <a:p>
            <a:pPr indent="0" marL="0">
              <a:buNone/>
            </a:pPr>
            <a:r>
              <a:rPr lang="en-US" sz="5000" b="1" dirty="0">
                <a:solidFill>
                  <a:srgbClr val="B3261E"/>
                </a:solidFill>
                <a:latin typeface="Cambria" pitchFamily="34" charset="0"/>
                <a:ea typeface="Cambria" pitchFamily="34" charset="-122"/>
                <a:cs typeface="Cambria" pitchFamily="34" charset="-120"/>
              </a:rPr>
              <a:t>A</a:t>
            </a:r>
            <a:endParaRPr lang="en-US" sz="5000" dirty="0"/>
          </a:p>
        </p:txBody>
      </p:sp>
      <p:sp>
        <p:nvSpPr>
          <p:cNvPr id="15" name="Text 13"/>
          <p:cNvSpPr txBox="1"/>
          <p:nvPr/>
        </p:nvSpPr>
        <p:spPr>
          <a:xfrm>
            <a:off x="9066581" y="2468880"/>
            <a:ext cx="2174138" cy="256032"/>
          </a:xfrm>
          <a:prstGeom prst="rect">
            <a:avLst/>
          </a:prstGeom>
          <a:noFill/>
          <a:ln/>
        </p:spPr>
        <p:txBody>
          <a:bodyPr wrap="square" lIns="0" tIns="0" rIns="0" bIns="0" rtlCol="0" anchor="ctr"/>
          <a:lstStyle/>
          <a:p>
            <a:pPr indent="0" marL="0">
              <a:buNone/>
            </a:pPr>
            <a:r>
              <a:rPr lang="en-US" sz="1200" b="1" spc="100" kern="0" dirty="0">
                <a:solidFill>
                  <a:srgbClr val="B3261E"/>
                </a:solidFill>
                <a:latin typeface="Courier New" pitchFamily="34" charset="0"/>
                <a:ea typeface="Courier New" pitchFamily="34" charset="-122"/>
                <a:cs typeface="Courier New" pitchFamily="34" charset="-120"/>
              </a:rPr>
              <a:t>LOW ACCOUNTABILITY</a:t>
            </a:r>
            <a:endParaRPr lang="en-US" sz="1200" dirty="0"/>
          </a:p>
        </p:txBody>
      </p:sp>
      <p:sp>
        <p:nvSpPr>
          <p:cNvPr id="16" name="Text 14"/>
          <p:cNvSpPr txBox="1"/>
          <p:nvPr/>
        </p:nvSpPr>
        <p:spPr>
          <a:xfrm>
            <a:off x="8243621" y="3108960"/>
            <a:ext cx="2905658" cy="1325880"/>
          </a:xfrm>
          <a:prstGeom prst="rect">
            <a:avLst/>
          </a:prstGeom>
          <a:noFill/>
          <a:ln/>
        </p:spPr>
        <p:txBody>
          <a:bodyPr wrap="square" lIns="0" tIns="0" rIns="0" bIns="0" rtlCol="0" anchor="t"/>
          <a:lstStyle/>
          <a:p>
            <a:pPr indent="0" marL="0">
              <a:buNone/>
            </a:pPr>
            <a:r>
              <a:rPr lang="en-US" sz="1500" dirty="0">
                <a:solidFill>
                  <a:srgbClr val="1E2A3A"/>
                </a:solidFill>
              </a:rPr>
              <a:t>Wartime urgency: a company run by a man in his early twenties passes Pentagon vetting.</a:t>
            </a:r>
            <a:endParaRPr lang="en-US" sz="1500" dirty="0"/>
          </a:p>
        </p:txBody>
      </p:sp>
      <p:sp>
        <p:nvSpPr>
          <p:cNvPr id="17" name="state-corporate"/>
          <p:cNvSpPr/>
          <p:nvPr/>
        </p:nvSpPr>
        <p:spPr>
          <a:xfrm>
            <a:off x="868680" y="4709160"/>
            <a:ext cx="10637215" cy="1188720"/>
          </a:xfrm>
          <a:prstGeom prst="rect">
            <a:avLst/>
          </a:prstGeom>
          <a:solidFill>
            <a:srgbClr val="1E2A3A"/>
          </a:solidFill>
          <a:ln w="12700">
            <a:solidFill>
              <a:srgbClr val="1E2A3A"/>
            </a:solidFill>
            <a:prstDash val="solid"/>
          </a:ln>
          <a:effectLst>
            <a:outerShdw sx="100000" sy="100000" kx="0" ky="0" algn="bl" rotWithShape="0" blurRad="63500" dist="25400" dir="5400000">
              <a:srgbClr val="000000">
                <a:alpha val="15000"/>
              </a:srgbClr>
            </a:outerShdw>
          </a:effectLst>
        </p:spPr>
      </p:sp>
      <p:sp>
        <p:nvSpPr>
          <p:cNvPr id="18" name="Text 16"/>
          <p:cNvSpPr txBox="1"/>
          <p:nvPr/>
        </p:nvSpPr>
        <p:spPr>
          <a:xfrm>
            <a:off x="1143000" y="4709160"/>
            <a:ext cx="10088575" cy="1188720"/>
          </a:xfrm>
          <a:prstGeom prst="rect">
            <a:avLst/>
          </a:prstGeom>
          <a:noFill/>
          <a:ln/>
        </p:spPr>
        <p:txBody>
          <a:bodyPr wrap="square" lIns="0" tIns="0" rIns="0" bIns="0" rtlCol="0" anchor="ctr"/>
          <a:lstStyle/>
          <a:p>
            <a:pPr indent="0" marL="0">
              <a:buNone/>
            </a:pPr>
            <a:r>
              <a:rPr lang="en-US" sz="1200" b="1" dirty="0">
                <a:solidFill>
                  <a:srgbClr val="F6E27F"/>
                </a:solidFill>
                <a:latin typeface="Courier New" pitchFamily="34" charset="0"/>
                <a:ea typeface="Courier New" pitchFamily="34" charset="-122"/>
                <a:cs typeface="Courier New" pitchFamily="34" charset="-120"/>
              </a:rPr>
              <a:t>STATE-CORPORATE CRIME  </a:t>
            </a:r>
            <a:pPr indent="0" marL="0">
              <a:buNone/>
            </a:pPr>
            <a:r>
              <a:rPr lang="en-US" sz="1500" dirty="0">
                <a:solidFill>
                  <a:srgbClr val="E6E0D2"/>
                </a:solidFill>
              </a:rPr>
              <a:t>The harm grew from a government policy of outsourcing war logistics to the lowest bidder, not just from two rogue individuals (Kramer et al., 2002).</a:t>
            </a:r>
            <a:endParaRPr lang="en-US" sz="1200" dirty="0"/>
          </a:p>
        </p:txBody>
      </p:sp>
      <p:sp>
        <p:nvSpPr>
          <p:cNvPr id="25" name="Slide Number Placeholder 0"/>
          <p:cNvSpPr>
            <a:spLocks noGrp="1"/>
          </p:cNvSpPr>
          <p:nvPr>
            <p:ph type="sldNum" sz="quarter" idx="4294967295"/>
          </p:nvPr>
        </p:nvSpPr>
        <p:spPr>
          <a:xfrm>
            <a:off x="8503920" y="6382512"/>
            <a:ext cx="82296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8A8170"/>
                </a:solidFill>
                <a:latin typeface="Courier New"/>
                <a:ea typeface="Courier New"/>
                <a:cs typeface="Courier New"/>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file tag"/>
          <p:cNvSpPr txBox="1"/>
          <p:nvPr/>
        </p:nvSpPr>
        <p:spPr>
          <a:xfrm>
            <a:off x="868680" y="329184"/>
            <a:ext cx="10637215" cy="274320"/>
          </a:xfrm>
          <a:prstGeom prst="rect">
            <a:avLst/>
          </a:prstGeom>
          <a:noFill/>
          <a:ln/>
        </p:spPr>
        <p:txBody>
          <a:bodyPr wrap="square" lIns="0" tIns="0" rIns="0" bIns="0" rtlCol="0" anchor="ctr"/>
          <a:lstStyle/>
          <a:p>
            <a:pPr indent="0" marL="0">
              <a:buNone/>
            </a:pPr>
            <a:r>
              <a:rPr lang="en-US" sz="1200" b="1" spc="200" kern="0" dirty="0">
                <a:solidFill>
                  <a:srgbClr val="B3261E"/>
                </a:solidFill>
                <a:latin typeface="Courier New" pitchFamily="34" charset="0"/>
                <a:ea typeface="Courier New" pitchFamily="34" charset="-122"/>
                <a:cs typeface="Courier New" pitchFamily="34" charset="-120"/>
              </a:rPr>
              <a:t>PAGE 10  ·  RELIABILITY OF THE SOURCE</a:t>
            </a:r>
            <a:endParaRPr lang="en-US" sz="1200" dirty="0"/>
          </a:p>
        </p:txBody>
      </p:sp>
      <p:sp>
        <p:nvSpPr>
          <p:cNvPr id="3" name="Text 0"/>
          <p:cNvSpPr/>
          <p:nvPr>
            <p:ph idx="100" type="title" hasCustomPrompt="1"/>
          </p:nvPr>
        </p:nvSpPr>
        <p:spPr>
          <a:xfrm>
            <a:off x="868680" y="658368"/>
            <a:ext cx="10637215" cy="658368"/>
          </a:xfrm>
          <a:prstGeom prst="rect">
            <a:avLst/>
          </a:prstGeom>
          <a:noFill/>
          <a:ln/>
        </p:spPr>
        <p:txBody>
          <a:bodyPr wrap="square" lIns="0" tIns="0" rIns="0" bIns="0" rtlCol="0" anchor="ctr"/>
          <a:lstStyle/>
          <a:p>
            <a:pPr algn="l" indent="0" marL="0">
              <a:buNone/>
            </a:pPr>
            <a:r>
              <a:rPr lang="en-US" sz="2800" b="1" dirty="0">
                <a:solidFill>
                  <a:schemeClr val="tx1"/>
                </a:solidFill>
              </a:rPr>
              <a:t>Accurate in substance, exaggerated in style</a:t>
            </a:r>
            <a:endParaRPr lang="en-US" sz="2800" dirty="0"/>
          </a:p>
        </p:txBody>
      </p:sp>
      <p:sp>
        <p:nvSpPr>
          <p:cNvPr id="4" name="CORROBORATED"/>
          <p:cNvSpPr/>
          <p:nvPr/>
        </p:nvSpPr>
        <p:spPr>
          <a:xfrm>
            <a:off x="868680" y="1600200"/>
            <a:ext cx="5158588" cy="4297680"/>
          </a:xfrm>
          <a:prstGeom prst="rect">
            <a:avLst/>
          </a:prstGeom>
          <a:solidFill>
            <a:srgbClr val="FFFDF7"/>
          </a:solidFill>
          <a:ln w="19050">
            <a:solidFill>
              <a:srgbClr val="2E7D4F"/>
            </a:solidFill>
            <a:prstDash val="solid"/>
          </a:ln>
          <a:effectLst>
            <a:outerShdw sx="100000" sy="100000" kx="0" ky="0" algn="bl" rotWithShape="0" blurRad="63500" dist="25400" dir="5400000">
              <a:srgbClr val="000000">
                <a:alpha val="15000"/>
              </a:srgbClr>
            </a:outerShdw>
          </a:effectLst>
        </p:spPr>
      </p:sp>
      <p:sp>
        <p:nvSpPr>
          <p:cNvPr id="5" name="stamp"/>
          <p:cNvSpPr txBox="1"/>
          <p:nvPr/>
        </p:nvSpPr>
        <p:spPr>
          <a:xfrm rot="-180000">
            <a:off x="1097280" y="1755648"/>
            <a:ext cx="2468880" cy="411480"/>
          </a:xfrm>
          <a:prstGeom prst="rect">
            <a:avLst/>
          </a:prstGeom>
          <a:noFill/>
          <a:ln w="38100">
            <a:solidFill>
              <a:srgbClr val="2E7D4F"/>
            </a:solidFill>
          </a:ln>
        </p:spPr>
        <p:txBody>
          <a:bodyPr wrap="square" lIns="0" tIns="0" rIns="0" bIns="0" rtlCol="0" anchor="ctr"/>
          <a:lstStyle/>
          <a:p>
            <a:pPr algn="ctr" indent="0" marL="0">
              <a:buNone/>
            </a:pPr>
            <a:r>
              <a:rPr lang="en-US" sz="1300" b="1" spc="100" kern="0" dirty="0">
                <a:solidFill>
                  <a:srgbClr val="2E7D4F"/>
                </a:solidFill>
                <a:latin typeface="Courier New" pitchFamily="34" charset="0"/>
                <a:ea typeface="Courier New" pitchFamily="34" charset="-122"/>
                <a:cs typeface="Courier New" pitchFamily="34" charset="-120"/>
              </a:rPr>
              <a:t>CORROBORATED</a:t>
            </a:r>
            <a:endParaRPr lang="en-US" sz="1300" dirty="0"/>
          </a:p>
        </p:txBody>
      </p:sp>
      <p:sp>
        <p:nvSpPr>
          <p:cNvPr id="6" name="Text 4"/>
          <p:cNvSpPr txBox="1"/>
          <p:nvPr/>
        </p:nvSpPr>
        <p:spPr>
          <a:xfrm>
            <a:off x="1143000" y="2423160"/>
            <a:ext cx="4609948" cy="731520"/>
          </a:xfrm>
          <a:prstGeom prst="rect">
            <a:avLst/>
          </a:prstGeom>
          <a:noFill/>
          <a:ln/>
        </p:spPr>
        <p:txBody>
          <a:bodyPr wrap="square" lIns="0" tIns="0" rIns="0" bIns="0" rtlCol="0" anchor="ctr"/>
          <a:lstStyle/>
          <a:p>
            <a:pPr indent="0" marL="0">
              <a:buNone/>
            </a:pPr>
            <a:r>
              <a:rPr lang="en-US" sz="1600" dirty="0">
                <a:solidFill>
                  <a:srgbClr val="1E2A3A"/>
                </a:solidFill>
              </a:rPr>
              <a:t>Breaks the mafia stereotype: crime as business</a:t>
            </a:r>
            <a:endParaRPr lang="en-US" sz="1600" dirty="0"/>
          </a:p>
        </p:txBody>
      </p:sp>
      <p:sp>
        <p:nvSpPr>
          <p:cNvPr id="7" name="Shape 5"/>
          <p:cNvSpPr/>
          <p:nvPr/>
        </p:nvSpPr>
        <p:spPr>
          <a:xfrm>
            <a:off x="1143000" y="3209544"/>
            <a:ext cx="4609948" cy="0"/>
          </a:xfrm>
          <a:prstGeom prst="line">
            <a:avLst/>
          </a:prstGeom>
          <a:noFill/>
          <a:ln w="12700">
            <a:solidFill>
              <a:srgbClr val="CFC5AE"/>
            </a:solidFill>
            <a:prstDash val="dash"/>
          </a:ln>
        </p:spPr>
      </p:sp>
      <p:sp>
        <p:nvSpPr>
          <p:cNvPr id="8" name="Text 6"/>
          <p:cNvSpPr txBox="1"/>
          <p:nvPr/>
        </p:nvSpPr>
        <p:spPr>
          <a:xfrm>
            <a:off x="1143000" y="3264408"/>
            <a:ext cx="4609948" cy="731520"/>
          </a:xfrm>
          <a:prstGeom prst="rect">
            <a:avLst/>
          </a:prstGeom>
          <a:noFill/>
          <a:ln/>
        </p:spPr>
        <p:txBody>
          <a:bodyPr wrap="square" lIns="0" tIns="0" rIns="0" bIns="0" rtlCol="0" anchor="ctr"/>
          <a:lstStyle/>
          <a:p>
            <a:pPr indent="0" marL="0">
              <a:buNone/>
            </a:pPr>
            <a:r>
              <a:rPr lang="en-US" sz="1600" dirty="0">
                <a:solidFill>
                  <a:srgbClr val="1E2A3A"/>
                </a:solidFill>
              </a:rPr>
              <a:t>Fits the UN definition, enterprise and network models</a:t>
            </a:r>
            <a:endParaRPr lang="en-US" sz="1600" dirty="0"/>
          </a:p>
        </p:txBody>
      </p:sp>
      <p:sp>
        <p:nvSpPr>
          <p:cNvPr id="9" name="Shape 7"/>
          <p:cNvSpPr/>
          <p:nvPr/>
        </p:nvSpPr>
        <p:spPr>
          <a:xfrm>
            <a:off x="1143000" y="4050792"/>
            <a:ext cx="4609948" cy="0"/>
          </a:xfrm>
          <a:prstGeom prst="line">
            <a:avLst/>
          </a:prstGeom>
          <a:noFill/>
          <a:ln w="12700">
            <a:solidFill>
              <a:srgbClr val="CFC5AE"/>
            </a:solidFill>
            <a:prstDash val="dash"/>
          </a:ln>
        </p:spPr>
      </p:sp>
      <p:sp>
        <p:nvSpPr>
          <p:cNvPr id="10" name="Text 8"/>
          <p:cNvSpPr txBox="1"/>
          <p:nvPr/>
        </p:nvSpPr>
        <p:spPr>
          <a:xfrm>
            <a:off x="1143000" y="4105656"/>
            <a:ext cx="4609948" cy="731520"/>
          </a:xfrm>
          <a:prstGeom prst="rect">
            <a:avLst/>
          </a:prstGeom>
          <a:noFill/>
          <a:ln/>
        </p:spPr>
        <p:txBody>
          <a:bodyPr wrap="square" lIns="0" tIns="0" rIns="0" bIns="0" rtlCol="0" anchor="ctr"/>
          <a:lstStyle/>
          <a:p>
            <a:pPr indent="0" marL="0">
              <a:buNone/>
            </a:pPr>
            <a:r>
              <a:rPr lang="en-US" sz="1600" dirty="0">
                <a:solidFill>
                  <a:srgbClr val="1E2A3A"/>
                </a:solidFill>
              </a:rPr>
              <a:t>Offenders who never see themselves as criminals</a:t>
            </a:r>
            <a:endParaRPr lang="en-US" sz="1600" dirty="0"/>
          </a:p>
        </p:txBody>
      </p:sp>
      <p:sp>
        <p:nvSpPr>
          <p:cNvPr id="11" name="Shape 9"/>
          <p:cNvSpPr/>
          <p:nvPr/>
        </p:nvSpPr>
        <p:spPr>
          <a:xfrm>
            <a:off x="1143000" y="4892040"/>
            <a:ext cx="4609948" cy="0"/>
          </a:xfrm>
          <a:prstGeom prst="line">
            <a:avLst/>
          </a:prstGeom>
          <a:noFill/>
          <a:ln w="12700">
            <a:solidFill>
              <a:srgbClr val="CFC5AE"/>
            </a:solidFill>
            <a:prstDash val="dash"/>
          </a:ln>
        </p:spPr>
      </p:sp>
      <p:sp>
        <p:nvSpPr>
          <p:cNvPr id="12" name="Text 10"/>
          <p:cNvSpPr txBox="1"/>
          <p:nvPr/>
        </p:nvSpPr>
        <p:spPr>
          <a:xfrm>
            <a:off x="1143000" y="4946904"/>
            <a:ext cx="4609948" cy="731520"/>
          </a:xfrm>
          <a:prstGeom prst="rect">
            <a:avLst/>
          </a:prstGeom>
          <a:noFill/>
          <a:ln/>
        </p:spPr>
        <p:txBody>
          <a:bodyPr wrap="square" lIns="0" tIns="0" rIns="0" bIns="0" rtlCol="0" anchor="ctr"/>
          <a:lstStyle/>
          <a:p>
            <a:pPr indent="0" marL="0">
              <a:buNone/>
            </a:pPr>
            <a:r>
              <a:rPr lang="en-US" sz="1600" dirty="0">
                <a:solidFill>
                  <a:srgbClr val="1E2A3A"/>
                </a:solidFill>
              </a:rPr>
              <a:t>Real facts: $298M contract, the repack, the sentences</a:t>
            </a:r>
            <a:endParaRPr lang="en-US" sz="1600" dirty="0"/>
          </a:p>
        </p:txBody>
      </p:sp>
      <p:sp>
        <p:nvSpPr>
          <p:cNvPr id="13" name="UNRELIABLE OR OMITTED"/>
          <p:cNvSpPr/>
          <p:nvPr/>
        </p:nvSpPr>
        <p:spPr>
          <a:xfrm>
            <a:off x="6347308" y="1600200"/>
            <a:ext cx="5158588" cy="4297680"/>
          </a:xfrm>
          <a:prstGeom prst="rect">
            <a:avLst/>
          </a:prstGeom>
          <a:solidFill>
            <a:srgbClr val="FFFDF7"/>
          </a:solidFill>
          <a:ln w="19050">
            <a:solidFill>
              <a:srgbClr val="B3261E"/>
            </a:solidFill>
            <a:prstDash val="solid"/>
          </a:ln>
          <a:effectLst>
            <a:outerShdw sx="100000" sy="100000" kx="0" ky="0" algn="bl" rotWithShape="0" blurRad="63500" dist="25400" dir="5400000">
              <a:srgbClr val="000000">
                <a:alpha val="15000"/>
              </a:srgbClr>
            </a:outerShdw>
          </a:effectLst>
        </p:spPr>
      </p:sp>
      <p:sp>
        <p:nvSpPr>
          <p:cNvPr id="14" name="stamp"/>
          <p:cNvSpPr txBox="1"/>
          <p:nvPr/>
        </p:nvSpPr>
        <p:spPr>
          <a:xfrm rot="-180000">
            <a:off x="6575908" y="1755648"/>
            <a:ext cx="3811905" cy="411480"/>
          </a:xfrm>
          <a:prstGeom prst="rect">
            <a:avLst/>
          </a:prstGeom>
          <a:noFill/>
          <a:ln w="38100">
            <a:solidFill>
              <a:srgbClr val="B3261E"/>
            </a:solidFill>
          </a:ln>
        </p:spPr>
        <p:txBody>
          <a:bodyPr wrap="square" lIns="0" tIns="0" rIns="0" bIns="0" rtlCol="0" anchor="ctr"/>
          <a:lstStyle/>
          <a:p>
            <a:pPr algn="ctr" indent="0" marL="0">
              <a:buNone/>
            </a:pPr>
            <a:r>
              <a:rPr lang="en-US" sz="1300" b="1" spc="100" kern="0" dirty="0">
                <a:solidFill>
                  <a:srgbClr val="B3261E"/>
                </a:solidFill>
                <a:latin typeface="Courier New" pitchFamily="34" charset="0"/>
                <a:ea typeface="Courier New" pitchFamily="34" charset="-122"/>
                <a:cs typeface="Courier New" pitchFamily="34" charset="-120"/>
              </a:rPr>
              <a:t>UNRELIABLE OR OMITTED</a:t>
            </a:r>
            <a:endParaRPr lang="en-US" sz="1300" dirty="0"/>
          </a:p>
        </p:txBody>
      </p:sp>
      <p:sp>
        <p:nvSpPr>
          <p:cNvPr id="15" name="Text 13"/>
          <p:cNvSpPr txBox="1"/>
          <p:nvPr/>
        </p:nvSpPr>
        <p:spPr>
          <a:xfrm>
            <a:off x="6621628" y="2423160"/>
            <a:ext cx="4609948" cy="731520"/>
          </a:xfrm>
          <a:prstGeom prst="rect">
            <a:avLst/>
          </a:prstGeom>
          <a:noFill/>
          <a:ln/>
        </p:spPr>
        <p:txBody>
          <a:bodyPr wrap="square" lIns="0" tIns="0" rIns="0" bIns="0" rtlCol="0" anchor="ctr"/>
          <a:lstStyle/>
          <a:p>
            <a:pPr indent="0" marL="0">
              <a:buNone/>
            </a:pPr>
            <a:r>
              <a:rPr lang="en-US" sz="1600" dirty="0">
                <a:solidFill>
                  <a:srgbClr val="1E2A3A"/>
                </a:solidFill>
              </a:rPr>
              <a:t>Comedy glamorizes money and softens the fraud</a:t>
            </a:r>
            <a:endParaRPr lang="en-US" sz="1600" dirty="0"/>
          </a:p>
        </p:txBody>
      </p:sp>
      <p:sp>
        <p:nvSpPr>
          <p:cNvPr id="16" name="Shape 14"/>
          <p:cNvSpPr/>
          <p:nvPr/>
        </p:nvSpPr>
        <p:spPr>
          <a:xfrm>
            <a:off x="6621628" y="3209544"/>
            <a:ext cx="4609948" cy="0"/>
          </a:xfrm>
          <a:prstGeom prst="line">
            <a:avLst/>
          </a:prstGeom>
          <a:noFill/>
          <a:ln w="12700">
            <a:solidFill>
              <a:srgbClr val="CFC5AE"/>
            </a:solidFill>
            <a:prstDash val="dash"/>
          </a:ln>
        </p:spPr>
      </p:sp>
      <p:sp>
        <p:nvSpPr>
          <p:cNvPr id="17" name="Text 15"/>
          <p:cNvSpPr txBox="1"/>
          <p:nvPr/>
        </p:nvSpPr>
        <p:spPr>
          <a:xfrm>
            <a:off x="6621628" y="3264408"/>
            <a:ext cx="4609948" cy="731520"/>
          </a:xfrm>
          <a:prstGeom prst="rect">
            <a:avLst/>
          </a:prstGeom>
          <a:noFill/>
          <a:ln/>
        </p:spPr>
        <p:txBody>
          <a:bodyPr wrap="square" lIns="0" tIns="0" rIns="0" bIns="0" rtlCol="0" anchor="ctr"/>
          <a:lstStyle/>
          <a:p>
            <a:pPr indent="0" marL="0">
              <a:buNone/>
            </a:pPr>
            <a:r>
              <a:rPr lang="en-US" sz="1600" dirty="0">
                <a:solidFill>
                  <a:srgbClr val="1E2A3A"/>
                </a:solidFill>
              </a:rPr>
              <a:t>Henry is a composite; Albanian threats invented</a:t>
            </a:r>
            <a:endParaRPr lang="en-US" sz="1600" dirty="0"/>
          </a:p>
        </p:txBody>
      </p:sp>
      <p:sp>
        <p:nvSpPr>
          <p:cNvPr id="18" name="Shape 16"/>
          <p:cNvSpPr/>
          <p:nvPr/>
        </p:nvSpPr>
        <p:spPr>
          <a:xfrm>
            <a:off x="6621628" y="4050792"/>
            <a:ext cx="4609948" cy="0"/>
          </a:xfrm>
          <a:prstGeom prst="line">
            <a:avLst/>
          </a:prstGeom>
          <a:noFill/>
          <a:ln w="12700">
            <a:solidFill>
              <a:srgbClr val="CFC5AE"/>
            </a:solidFill>
            <a:prstDash val="dash"/>
          </a:ln>
        </p:spPr>
      </p:sp>
      <p:sp>
        <p:nvSpPr>
          <p:cNvPr id="19" name="Text 17"/>
          <p:cNvSpPr txBox="1"/>
          <p:nvPr/>
        </p:nvSpPr>
        <p:spPr>
          <a:xfrm>
            <a:off x="6621628" y="4105656"/>
            <a:ext cx="4609948" cy="731520"/>
          </a:xfrm>
          <a:prstGeom prst="rect">
            <a:avLst/>
          </a:prstGeom>
          <a:noFill/>
          <a:ln/>
        </p:spPr>
        <p:txBody>
          <a:bodyPr wrap="square" lIns="0" tIns="0" rIns="0" bIns="0" rtlCol="0" anchor="ctr"/>
          <a:lstStyle/>
          <a:p>
            <a:pPr indent="0" marL="0">
              <a:buNone/>
            </a:pPr>
            <a:r>
              <a:rPr lang="en-US" sz="1600" dirty="0">
                <a:solidFill>
                  <a:srgbClr val="1E2A3A"/>
                </a:solidFill>
              </a:rPr>
              <a:t>Blames two men, not the system that let them in</a:t>
            </a:r>
            <a:endParaRPr lang="en-US" sz="1600" dirty="0"/>
          </a:p>
        </p:txBody>
      </p:sp>
      <p:sp>
        <p:nvSpPr>
          <p:cNvPr id="20" name="Shape 18"/>
          <p:cNvSpPr/>
          <p:nvPr/>
        </p:nvSpPr>
        <p:spPr>
          <a:xfrm>
            <a:off x="6621628" y="4892040"/>
            <a:ext cx="4609948" cy="0"/>
          </a:xfrm>
          <a:prstGeom prst="line">
            <a:avLst/>
          </a:prstGeom>
          <a:noFill/>
          <a:ln w="12700">
            <a:solidFill>
              <a:srgbClr val="CFC5AE"/>
            </a:solidFill>
            <a:prstDash val="dash"/>
          </a:ln>
        </p:spPr>
      </p:sp>
      <p:sp>
        <p:nvSpPr>
          <p:cNvPr id="21" name="Text 19"/>
          <p:cNvSpPr txBox="1"/>
          <p:nvPr/>
        </p:nvSpPr>
        <p:spPr>
          <a:xfrm>
            <a:off x="6621628" y="4946904"/>
            <a:ext cx="4609948" cy="731520"/>
          </a:xfrm>
          <a:prstGeom prst="rect">
            <a:avLst/>
          </a:prstGeom>
          <a:noFill/>
          <a:ln/>
        </p:spPr>
        <p:txBody>
          <a:bodyPr wrap="square" lIns="0" tIns="0" rIns="0" bIns="0" rtlCol="0" anchor="ctr"/>
          <a:lstStyle/>
          <a:p>
            <a:pPr indent="0" marL="0">
              <a:buNone/>
            </a:pPr>
            <a:r>
              <a:rPr lang="en-US" sz="1600" dirty="0">
                <a:solidFill>
                  <a:srgbClr val="1E2A3A"/>
                </a:solidFill>
              </a:rPr>
              <a:t>Omits Gërdec depot blast, 2008: 26 killed</a:t>
            </a:r>
            <a:endParaRPr lang="en-US" sz="1600" dirty="0"/>
          </a:p>
        </p:txBody>
      </p:sp>
      <p:sp>
        <p:nvSpPr>
          <p:cNvPr id="22" name="Text 20"/>
          <p:cNvSpPr txBox="1"/>
          <p:nvPr/>
        </p:nvSpPr>
        <p:spPr>
          <a:xfrm>
            <a:off x="868680" y="6089904"/>
            <a:ext cx="8503920" cy="219456"/>
          </a:xfrm>
          <a:prstGeom prst="rect">
            <a:avLst/>
          </a:prstGeom>
          <a:noFill/>
          <a:ln/>
        </p:spPr>
        <p:txBody>
          <a:bodyPr wrap="square" lIns="0" tIns="0" rIns="0" bIns="0" rtlCol="0" anchor="ctr"/>
          <a:lstStyle/>
          <a:p>
            <a:pPr indent="0" marL="0">
              <a:buNone/>
            </a:pPr>
            <a:r>
              <a:rPr lang="en-US" sz="1000" i="1" dirty="0">
                <a:solidFill>
                  <a:srgbClr val="8A8170"/>
                </a:solidFill>
              </a:rPr>
              <a:t>Sources: Lawson (2015); Al Jazeera (2008). Assessment is the group’s own.</a:t>
            </a:r>
            <a:endParaRPr lang="en-US" sz="1000" dirty="0"/>
          </a:p>
        </p:txBody>
      </p:sp>
      <p:sp>
        <p:nvSpPr>
          <p:cNvPr id="25" name="Slide Number Placeholder 0"/>
          <p:cNvSpPr>
            <a:spLocks noGrp="1"/>
          </p:cNvSpPr>
          <p:nvPr>
            <p:ph type="sldNum" sz="quarter" idx="4294967295"/>
          </p:nvPr>
        </p:nvSpPr>
        <p:spPr>
          <a:xfrm>
            <a:off x="8503920" y="6382512"/>
            <a:ext cx="82296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8A8170"/>
                </a:solidFill>
                <a:latin typeface="Courier New"/>
                <a:ea typeface="Courier New"/>
                <a:cs typeface="Courier New"/>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1005840" y="365760"/>
            <a:ext cx="3474720" cy="365760"/>
          </a:xfrm>
          <a:prstGeom prst="rect">
            <a:avLst/>
          </a:prstGeom>
          <a:noFill/>
          <a:ln/>
        </p:spPr>
        <p:txBody>
          <a:bodyPr wrap="square" lIns="0" tIns="0" rIns="0" bIns="0" rtlCol="0" anchor="ctr"/>
          <a:lstStyle/>
          <a:p>
            <a:pPr indent="0" marL="0">
              <a:buNone/>
            </a:pPr>
            <a:r>
              <a:rPr lang="en-US" sz="1600" b="1" spc="300" kern="0" dirty="0">
                <a:solidFill>
                  <a:srgbClr val="5A3D12"/>
                </a:solidFill>
                <a:latin typeface="Courier New" pitchFamily="34" charset="0"/>
                <a:ea typeface="Courier New" pitchFamily="34" charset="-122"/>
                <a:cs typeface="Courier New" pitchFamily="34" charset="-120"/>
              </a:rPr>
              <a:t>FILE 527-06</a:t>
            </a:r>
            <a:endParaRPr lang="en-US" sz="1600" dirty="0"/>
          </a:p>
        </p:txBody>
      </p:sp>
      <p:sp>
        <p:nvSpPr>
          <p:cNvPr id="3" name="conclusion sheet"/>
          <p:cNvSpPr/>
          <p:nvPr/>
        </p:nvSpPr>
        <p:spPr>
          <a:xfrm>
            <a:off x="960120" y="1280160"/>
            <a:ext cx="6766560" cy="4526280"/>
          </a:xfrm>
          <a:prstGeom prst="rect">
            <a:avLst/>
          </a:prstGeom>
          <a:solidFill>
            <a:srgbClr val="FFFDF7"/>
          </a:solidFill>
          <a:ln w="12700">
            <a:solidFill>
              <a:srgbClr val="B89B6A"/>
            </a:solidFill>
            <a:prstDash val="solid"/>
          </a:ln>
          <a:effectLst>
            <a:outerShdw sx="100000" sy="100000" kx="0" ky="0" algn="bl" rotWithShape="0" blurRad="76200" dist="38100" dir="5400000">
              <a:srgbClr val="000000">
                <a:alpha val="25000"/>
              </a:srgbClr>
            </a:outerShdw>
          </a:effectLst>
        </p:spPr>
      </p:sp>
      <p:sp>
        <p:nvSpPr>
          <p:cNvPr id="4" name="Text 2"/>
          <p:cNvSpPr txBox="1"/>
          <p:nvPr/>
        </p:nvSpPr>
        <p:spPr>
          <a:xfrm>
            <a:off x="1234440" y="1463040"/>
            <a:ext cx="6217920" cy="256032"/>
          </a:xfrm>
          <a:prstGeom prst="rect">
            <a:avLst/>
          </a:prstGeom>
          <a:noFill/>
          <a:ln/>
        </p:spPr>
        <p:txBody>
          <a:bodyPr wrap="square" lIns="0" tIns="0" rIns="0" bIns="0" rtlCol="0" anchor="ctr"/>
          <a:lstStyle/>
          <a:p>
            <a:pPr indent="0" marL="0">
              <a:buNone/>
            </a:pPr>
            <a:r>
              <a:rPr lang="en-US" sz="1100" b="1" spc="100" kern="0" dirty="0">
                <a:solidFill>
                  <a:srgbClr val="B3261E"/>
                </a:solidFill>
                <a:latin typeface="Courier New" pitchFamily="34" charset="0"/>
                <a:ea typeface="Courier New" pitchFamily="34" charset="-122"/>
                <a:cs typeface="Courier New" pitchFamily="34" charset="-120"/>
              </a:rPr>
              <a:t>FINAL REPORT  ·  CONCLUSION</a:t>
            </a:r>
            <a:endParaRPr lang="en-US" sz="1100" dirty="0"/>
          </a:p>
        </p:txBody>
      </p:sp>
      <p:sp>
        <p:nvSpPr>
          <p:cNvPr id="5" name="Text 3"/>
          <p:cNvSpPr txBox="1"/>
          <p:nvPr/>
        </p:nvSpPr>
        <p:spPr>
          <a:xfrm>
            <a:off x="1234440" y="1783080"/>
            <a:ext cx="6217920" cy="1280160"/>
          </a:xfrm>
          <a:prstGeom prst="rect">
            <a:avLst/>
          </a:prstGeom>
          <a:noFill/>
          <a:ln/>
        </p:spPr>
        <p:txBody>
          <a:bodyPr wrap="square" lIns="0" tIns="0" rIns="0" bIns="0" rtlCol="0" anchor="t"/>
          <a:lstStyle/>
          <a:p>
            <a:pPr indent="0" marL="0">
              <a:buNone/>
            </a:pPr>
            <a:r>
              <a:rPr lang="en-US" sz="2200" b="1" dirty="0">
                <a:solidFill>
                  <a:srgbClr val="1E2A3A"/>
                </a:solidFill>
                <a:latin typeface="Cambria" pitchFamily="34" charset="0"/>
                <a:ea typeface="Cambria" pitchFamily="34" charset="-122"/>
                <a:cs typeface="Cambria" pitchFamily="34" charset="-120"/>
              </a:rPr>
              <a:t>Organized crime doesn’t always carry guns. </a:t>
            </a:r>
            <a:pPr indent="0" marL="0">
              <a:buNone/>
            </a:pPr>
            <a:r>
              <a:rPr lang="en-US" sz="2200" b="1" i="1" dirty="0">
                <a:solidFill>
                  <a:srgbClr val="B3261E"/>
                </a:solidFill>
                <a:latin typeface="Cambria" pitchFamily="34" charset="0"/>
                <a:ea typeface="Cambria" pitchFamily="34" charset="-122"/>
                <a:cs typeface="Cambria" pitchFamily="34" charset="-120"/>
              </a:rPr>
              <a:t>Sometimes it sells them, with a government contract.</a:t>
            </a:r>
            <a:endParaRPr lang="en-US" sz="2200" dirty="0"/>
          </a:p>
        </p:txBody>
      </p:sp>
      <p:sp>
        <p:nvSpPr>
          <p:cNvPr id="6" name="Text 4"/>
          <p:cNvSpPr txBox="1"/>
          <p:nvPr/>
        </p:nvSpPr>
        <p:spPr>
          <a:xfrm>
            <a:off x="1234440" y="3200400"/>
            <a:ext cx="6217920" cy="256032"/>
          </a:xfrm>
          <a:prstGeom prst="rect">
            <a:avLst/>
          </a:prstGeom>
          <a:noFill/>
          <a:ln/>
        </p:spPr>
        <p:txBody>
          <a:bodyPr wrap="square" lIns="0" tIns="0" rIns="0" bIns="0" rtlCol="0" anchor="ctr"/>
          <a:lstStyle/>
          <a:p>
            <a:pPr indent="0" marL="0">
              <a:buNone/>
            </a:pPr>
            <a:r>
              <a:rPr lang="en-US" sz="1100" b="1" spc="100" kern="0" dirty="0">
                <a:solidFill>
                  <a:srgbClr val="1F3A5F"/>
                </a:solidFill>
                <a:latin typeface="Courier New" pitchFamily="34" charset="0"/>
                <a:ea typeface="Courier New" pitchFamily="34" charset="-122"/>
                <a:cs typeface="Courier New" pitchFamily="34" charset="-120"/>
              </a:rPr>
              <a:t>VERDICT</a:t>
            </a:r>
            <a:endParaRPr lang="en-US" sz="1100" dirty="0"/>
          </a:p>
        </p:txBody>
      </p:sp>
      <p:sp>
        <p:nvSpPr>
          <p:cNvPr id="7" name="Text 5"/>
          <p:cNvSpPr txBox="1"/>
          <p:nvPr/>
        </p:nvSpPr>
        <p:spPr>
          <a:xfrm>
            <a:off x="1234440" y="3474720"/>
            <a:ext cx="6217920" cy="731520"/>
          </a:xfrm>
          <a:prstGeom prst="rect">
            <a:avLst/>
          </a:prstGeom>
          <a:noFill/>
          <a:ln/>
        </p:spPr>
        <p:txBody>
          <a:bodyPr wrap="square" lIns="0" tIns="0" rIns="0" bIns="0" rtlCol="0" anchor="t"/>
          <a:lstStyle/>
          <a:p>
            <a:pPr indent="0" marL="0">
              <a:buNone/>
            </a:pPr>
            <a:r>
              <a:rPr lang="en-US" sz="1500" dirty="0">
                <a:solidFill>
                  <a:srgbClr val="1E2A3A"/>
                </a:solidFill>
              </a:rPr>
              <a:t>Organized crime under the UN definition, but not the mafia: organized white-collar crime.</a:t>
            </a:r>
            <a:endParaRPr lang="en-US" sz="1500" dirty="0"/>
          </a:p>
        </p:txBody>
      </p:sp>
      <p:sp>
        <p:nvSpPr>
          <p:cNvPr id="8" name="Text 6"/>
          <p:cNvSpPr txBox="1"/>
          <p:nvPr/>
        </p:nvSpPr>
        <p:spPr>
          <a:xfrm>
            <a:off x="1234440" y="4297680"/>
            <a:ext cx="6217920" cy="256032"/>
          </a:xfrm>
          <a:prstGeom prst="rect">
            <a:avLst/>
          </a:prstGeom>
          <a:noFill/>
          <a:ln/>
        </p:spPr>
        <p:txBody>
          <a:bodyPr wrap="square" lIns="0" tIns="0" rIns="0" bIns="0" rtlCol="0" anchor="ctr"/>
          <a:lstStyle/>
          <a:p>
            <a:pPr indent="0" marL="0">
              <a:buNone/>
            </a:pPr>
            <a:r>
              <a:rPr lang="en-US" sz="1100" b="1" spc="100" kern="0" dirty="0">
                <a:solidFill>
                  <a:srgbClr val="1F3A5F"/>
                </a:solidFill>
                <a:latin typeface="Courier New" pitchFamily="34" charset="0"/>
                <a:ea typeface="Courier New" pitchFamily="34" charset="-122"/>
                <a:cs typeface="Courier New" pitchFamily="34" charset="-120"/>
              </a:rPr>
              <a:t>RECOMMENDATION FOR BANGLADESH</a:t>
            </a:r>
            <a:endParaRPr lang="en-US" sz="1100" dirty="0"/>
          </a:p>
        </p:txBody>
      </p:sp>
      <p:sp>
        <p:nvSpPr>
          <p:cNvPr id="9" name="Text 7"/>
          <p:cNvSpPr txBox="1"/>
          <p:nvPr/>
        </p:nvSpPr>
        <p:spPr>
          <a:xfrm>
            <a:off x="1234440" y="4572000"/>
            <a:ext cx="6217920" cy="731520"/>
          </a:xfrm>
          <a:prstGeom prst="rect">
            <a:avLst/>
          </a:prstGeom>
          <a:noFill/>
          <a:ln/>
        </p:spPr>
        <p:txBody>
          <a:bodyPr wrap="square" lIns="0" tIns="0" rIns="0" bIns="0" rtlCol="0" anchor="t"/>
          <a:lstStyle/>
          <a:p>
            <a:pPr indent="0" marL="0">
              <a:buNone/>
            </a:pPr>
            <a:r>
              <a:rPr lang="en-US" sz="1500" dirty="0">
                <a:solidFill>
                  <a:srgbClr val="1E2A3A"/>
                </a:solidFill>
              </a:rPr>
              <a:t>Vet contractors, disclose real owners, check where goods come from: procurement oversight is crime prevention.</a:t>
            </a:r>
            <a:endParaRPr lang="en-US" sz="1500" dirty="0"/>
          </a:p>
        </p:txBody>
      </p:sp>
      <p:sp>
        <p:nvSpPr>
          <p:cNvPr id="10" name="stamp"/>
          <p:cNvSpPr txBox="1"/>
          <p:nvPr/>
        </p:nvSpPr>
        <p:spPr>
          <a:xfrm rot="-720000">
            <a:off x="7863840" y="1920240"/>
            <a:ext cx="3973830" cy="777240"/>
          </a:xfrm>
          <a:prstGeom prst="rect">
            <a:avLst/>
          </a:prstGeom>
          <a:noFill/>
          <a:ln w="38100">
            <a:solidFill>
              <a:srgbClr val="B3261E"/>
            </a:solidFill>
          </a:ln>
        </p:spPr>
        <p:txBody>
          <a:bodyPr wrap="square" lIns="0" tIns="0" rIns="0" bIns="0" rtlCol="0" anchor="ctr"/>
          <a:lstStyle/>
          <a:p>
            <a:pPr algn="ctr" indent="0" marL="0">
              <a:buNone/>
            </a:pPr>
            <a:r>
              <a:rPr lang="en-US" sz="3000" b="1" spc="100" kern="0" dirty="0">
                <a:solidFill>
                  <a:srgbClr val="B3261E"/>
                </a:solidFill>
                <a:latin typeface="Courier New" pitchFamily="34" charset="0"/>
                <a:ea typeface="Courier New" pitchFamily="34" charset="-122"/>
                <a:cs typeface="Courier New" pitchFamily="34" charset="-120"/>
              </a:rPr>
              <a:t>CASE CLOSED</a:t>
            </a:r>
            <a:endParaRPr lang="en-US" sz="3000" dirty="0"/>
          </a:p>
        </p:txBody>
      </p:sp>
      <p:sp>
        <p:nvSpPr>
          <p:cNvPr id="11" name="Text 9"/>
          <p:cNvSpPr txBox="1"/>
          <p:nvPr/>
        </p:nvSpPr>
        <p:spPr>
          <a:xfrm>
            <a:off x="8092440" y="3291840"/>
            <a:ext cx="3200400" cy="548640"/>
          </a:xfrm>
          <a:prstGeom prst="rect">
            <a:avLst/>
          </a:prstGeom>
          <a:noFill/>
          <a:ln/>
        </p:spPr>
        <p:txBody>
          <a:bodyPr wrap="square" lIns="0" tIns="0" rIns="0" bIns="0" rtlCol="0" anchor="ctr"/>
          <a:lstStyle/>
          <a:p>
            <a:pPr indent="0" marL="0">
              <a:buNone/>
            </a:pPr>
            <a:r>
              <a:rPr lang="en-US" sz="2400" b="1" dirty="0">
                <a:solidFill>
                  <a:srgbClr val="1E2A3A"/>
                </a:solidFill>
                <a:latin typeface="Cambria" pitchFamily="34" charset="0"/>
                <a:ea typeface="Cambria" pitchFamily="34" charset="-122"/>
                <a:cs typeface="Cambria" pitchFamily="34" charset="-120"/>
              </a:rPr>
              <a:t>Thank you.</a:t>
            </a:r>
            <a:pPr indent="0" marL="0">
              <a:buNone/>
            </a:pPr>
            <a:r>
              <a:rPr lang="en-US" sz="2400" i="1" dirty="0">
                <a:solidFill>
                  <a:srgbClr val="5A3D12"/>
                </a:solidFill>
                <a:latin typeface="Cambria" pitchFamily="34" charset="0"/>
                <a:ea typeface="Cambria" pitchFamily="34" charset="-122"/>
                <a:cs typeface="Cambria" pitchFamily="34" charset="-120"/>
              </a:rPr>
              <a:t>  Questions?</a:t>
            </a:r>
            <a:endParaRPr lang="en-US" sz="2400" dirty="0"/>
          </a:p>
        </p:txBody>
      </p:sp>
      <p:sp>
        <p:nvSpPr>
          <p:cNvPr id="12" name="Text 10"/>
          <p:cNvSpPr txBox="1"/>
          <p:nvPr/>
        </p:nvSpPr>
        <p:spPr>
          <a:xfrm>
            <a:off x="8092440" y="3931920"/>
            <a:ext cx="3200400" cy="731520"/>
          </a:xfrm>
          <a:prstGeom prst="rect">
            <a:avLst/>
          </a:prstGeom>
          <a:noFill/>
          <a:ln/>
        </p:spPr>
        <p:txBody>
          <a:bodyPr wrap="square" lIns="0" tIns="0" rIns="0" bIns="0" rtlCol="0" anchor="t"/>
          <a:lstStyle/>
          <a:p>
            <a:pPr indent="0" marL="0">
              <a:buNone/>
            </a:pPr>
            <a:r>
              <a:rPr lang="en-US" sz="1200" b="1" dirty="0">
                <a:solidFill>
                  <a:srgbClr val="5A3D12"/>
                </a:solidFill>
                <a:latin typeface="Courier New" pitchFamily="34" charset="0"/>
                <a:ea typeface="Courier New" pitchFamily="34" charset="-122"/>
                <a:cs typeface="Courier New" pitchFamily="34" charset="-120"/>
              </a:rPr>
              <a:t>Investigated by Group 6</a:t>
            </a:r>
            <a:endParaRPr lang="en-US" sz="1200" dirty="0"/>
          </a:p>
          <a:p>
            <a:pPr indent="0" marL="0">
              <a:buNone/>
            </a:pPr>
            <a:r>
              <a:rPr lang="en-US" sz="1200" b="1" dirty="0">
                <a:solidFill>
                  <a:srgbClr val="5A3D12"/>
                </a:solidFill>
                <a:latin typeface="Courier New" pitchFamily="34" charset="0"/>
                <a:ea typeface="Courier New" pitchFamily="34" charset="-122"/>
                <a:cs typeface="Courier New" pitchFamily="34" charset="-120"/>
              </a:rPr>
              <a:t>Rolls 27 · 8 · 37 · 33 · 24 · 21</a:t>
            </a:r>
            <a:endParaRPr lang="en-US" sz="1200" dirty="0"/>
          </a:p>
        </p:txBody>
      </p:sp>
    </p:spTree>
  </p:cSld>
  <p:clrMapOvr>
    <a:masterClrMapping/>
  </p:clrMapOvr>
</p:sld>
</file>

<file path=ppt/theme/theme1.xml><?xml version="1.0" encoding="utf-8"?>
<a:theme xmlns:a="http://schemas.openxmlformats.org/drawingml/2006/main" name="Case File 527-06">
  <a:themeElements>
    <a:clrScheme name="Case File 527-06">
      <a:dk1>
        <a:srgbClr val="1E2A3A"/>
      </a:dk1>
      <a:lt1>
        <a:srgbClr val="FFFFFF"/>
      </a:lt1>
      <a:dk2>
        <a:srgbClr val="141A22"/>
      </a:dk2>
      <a:lt2>
        <a:srgbClr val="F4EEDF"/>
      </a:lt2>
      <a:accent1>
        <a:srgbClr val="B3261E"/>
      </a:accent1>
      <a:accent2>
        <a:srgbClr val="1F3A5F"/>
      </a:accent2>
      <a:accent3>
        <a:srgbClr val="C9A227"/>
      </a:accent3>
      <a:accent4>
        <a:srgbClr val="5E6B5A"/>
      </a:accent4>
      <a:accent5>
        <a:srgbClr val="D9B77A"/>
      </a:accent5>
      <a:accent6>
        <a:srgbClr val="F6E27F"/>
      </a:accent6>
      <a:hlink>
        <a:srgbClr val="1F3A5F"/>
      </a:hlink>
      <a:folHlink>
        <a:srgbClr val="B3261E"/>
      </a:folHlink>
    </a:clrScheme>
    <a:fontScheme name="Case File 527-06">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Case File 527-06: War Dogs – Group 6</dc:title>
  <dc:subject>MCCJ 527 Organized Crime and Corruption</dc:subject>
  <dc:creator>PptxGenJS</dc:creator>
  <cp:lastModifiedBy>PptxGenJS</cp:lastModifiedBy>
  <cp:revision>1</cp:revision>
  <dcterms:created xsi:type="dcterms:W3CDTF">2026-10-17T17:38:39Z</dcterms:created>
  <dcterms:modified xsi:type="dcterms:W3CDTF">2026-10-17T17:38:39Z</dcterms:modified>
</cp:coreProperties>
</file>