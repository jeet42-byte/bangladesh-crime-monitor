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Night" id="{560f9daf-37d3-88c0-506a-02a20d51f82b}">
          <p14:sldIdLst>
            <p14:sldId id="256"/>
            <p14:sldId id="257"/>
          </p14:sldIdLst>
        </p14:section>
        <p14:section name="The Investigation" id="{0ccc5807-5165-a09d-a8a7-4c11f7cd14e3}">
          <p14:sldIdLst>
            <p14:sldId id="258"/>
          </p14:sldIdLst>
        </p14:section>
        <p14:section name="Five Doors" id="{286741ae-8a1f-a8ec-c175-301a0a3b4d6d}">
          <p14:sldIdLst>
            <p14:sldId id="259"/>
            <p14:sldId id="260"/>
            <p14:sldId id="261"/>
            <p14:sldId id="262"/>
            <p14:sldId id="263"/>
          </p14:sldIdLst>
        </p14:section>
        <p14:section name="The Verdict" id="{7a312299-5bbd-cdbf-a382-3b70af30636a}">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22D3EE"/>
            </a:solidFill>
            <a:effectLst/>
          </c:spPr>
          <c:invertIfNegative val="0"/>
          <c:dLbls>
            <c:numFmt formatCode="#,##0" sourceLinked="0"/>
            <c:txPr>
              <a:bodyPr/>
              <a:lstStyle/>
              <a:p>
                <a:pPr>
                  <a:defRPr b="1" i="0" strike="noStrike" sz="1000" u="none">
                    <a:solidFill>
                      <a:srgbClr val="22D3EE"/>
                    </a:solidFill>
                    <a:latin typeface="+mn-lt"/>
                  </a:defRPr>
                </a:pPr>
              </a:p>
            </c:txPr>
            <c:showLegendKey val="0"/>
            <c:showVal val="1"/>
            <c:showCatName val="0"/>
            <c:showSerName val="0"/>
            <c:showPercent val="0"/>
            <c:showBubbleSize val="0"/>
            <c:showLeaderLines val="0"/>
          </c:dLbls>
          <c:cat>
            <c:multiLvlStrRef>
              <c:f>Sheet1!$A$2:$A$6</c:f>
              <c:multiLvlStrCache>
                <c:ptCount val="5"/>
                <c:lvl>
                  <c:pt idx="0">
                    <c:v>Login protection</c:v>
                  </c:pt>
                  <c:pt idx="1">
                    <c:v>Encryption by default</c:v>
                  </c:pt>
                  <c:pt idx="2">
                    <c:v>Threat alerts</c:v>
                  </c:pt>
                  <c:pt idx="3">
                    <c:v>Recovery safety</c:v>
                  </c:pt>
                  <c:pt idx="4">
                    <c:v>Privacy controls</c:v>
                  </c:pt>
                </c:lvl>
              </c:multiLvlStrCache>
            </c:multiLvlStrRef>
          </c:cat>
          <c:val>
            <c:numRef>
              <c:f>Sheet1!$B$2:$B$6</c:f>
              <c:numCache>
                <c:formatCode>General</c:formatCode>
                <c:ptCount val="5"/>
                <c:pt idx="0">
                  <c:v>4</c:v>
                </c:pt>
                <c:pt idx="1">
                  <c:v>5</c:v>
                </c:pt>
                <c:pt idx="2">
                  <c:v>3</c:v>
                </c:pt>
                <c:pt idx="3">
                  <c:v>3</c:v>
                </c:pt>
                <c:pt idx="4">
                  <c:v>5</c:v>
                </c:pt>
              </c:numCache>
            </c:numRef>
          </c:val>
        </c:ser>
        <c:dLbls>
          <c:numFmt formatCode="#,##0" sourceLinked="0"/>
          <c:txPr>
            <a:bodyPr/>
            <a:lstStyle/>
            <a:p>
              <a:pPr>
                <a:defRPr b="1" i="0" strike="noStrike" sz="1000" u="none">
                  <a:solidFill>
                    <a:srgbClr val="22D3EE"/>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D6E2EF"/>
                </a:solidFill>
                <a:latin typeface="+mn-lt"/>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22D3EE"/>
            </a:solidFill>
            <a:effectLst/>
          </c:spPr>
          <c:invertIfNegative val="0"/>
          <c:dLbls>
            <c:numFmt formatCode="#,##0" sourceLinked="0"/>
            <c:txPr>
              <a:bodyPr/>
              <a:lstStyle/>
              <a:p>
                <a:pPr>
                  <a:defRPr b="1" i="0" strike="noStrike" sz="1000" u="none">
                    <a:solidFill>
                      <a:srgbClr val="22D3EE"/>
                    </a:solidFill>
                    <a:latin typeface="+mn-lt"/>
                  </a:defRPr>
                </a:pPr>
              </a:p>
            </c:txPr>
            <c:showLegendKey val="0"/>
            <c:showVal val="1"/>
            <c:showCatName val="0"/>
            <c:showSerName val="0"/>
            <c:showPercent val="0"/>
            <c:showBubbleSize val="0"/>
            <c:showLeaderLines val="0"/>
          </c:dLbls>
          <c:cat>
            <c:multiLvlStrRef>
              <c:f>Sheet1!$A$2:$A$6</c:f>
              <c:multiLvlStrCache>
                <c:ptCount val="5"/>
                <c:lvl>
                  <c:pt idx="0">
                    <c:v>Login protection</c:v>
                  </c:pt>
                  <c:pt idx="1">
                    <c:v>Encryption by default</c:v>
                  </c:pt>
                  <c:pt idx="2">
                    <c:v>Threat alerts</c:v>
                  </c:pt>
                  <c:pt idx="3">
                    <c:v>Recovery safety</c:v>
                  </c:pt>
                  <c:pt idx="4">
                    <c:v>Privacy controls</c:v>
                  </c:pt>
                </c:lvl>
              </c:multiLvlStrCache>
            </c:multiLvlStrRef>
          </c:cat>
          <c:val>
            <c:numRef>
              <c:f>Sheet1!$B$2:$B$6</c:f>
              <c:numCache>
                <c:formatCode>General</c:formatCode>
                <c:ptCount val="5"/>
                <c:pt idx="0">
                  <c:v>5</c:v>
                </c:pt>
                <c:pt idx="1">
                  <c:v>3</c:v>
                </c:pt>
                <c:pt idx="2">
                  <c:v>5</c:v>
                </c:pt>
                <c:pt idx="3">
                  <c:v>4</c:v>
                </c:pt>
                <c:pt idx="4">
                  <c:v>3</c:v>
                </c:pt>
              </c:numCache>
            </c:numRef>
          </c:val>
        </c:ser>
        <c:dLbls>
          <c:numFmt formatCode="#,##0" sourceLinked="0"/>
          <c:txPr>
            <a:bodyPr/>
            <a:lstStyle/>
            <a:p>
              <a:pPr>
                <a:defRPr b="1" i="0" strike="noStrike" sz="1000" u="none">
                  <a:solidFill>
                    <a:srgbClr val="22D3EE"/>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D6E2EF"/>
                </a:solidFill>
                <a:latin typeface="+mn-lt"/>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22D3EE"/>
            </a:solidFill>
            <a:effectLst/>
          </c:spPr>
          <c:invertIfNegative val="0"/>
          <c:dLbls>
            <c:numFmt formatCode="#,##0" sourceLinked="0"/>
            <c:txPr>
              <a:bodyPr/>
              <a:lstStyle/>
              <a:p>
                <a:pPr>
                  <a:defRPr b="1" i="0" strike="noStrike" sz="1000" u="none">
                    <a:solidFill>
                      <a:srgbClr val="22D3EE"/>
                    </a:solidFill>
                    <a:latin typeface="+mn-lt"/>
                  </a:defRPr>
                </a:pPr>
              </a:p>
            </c:txPr>
            <c:showLegendKey val="0"/>
            <c:showVal val="1"/>
            <c:showCatName val="0"/>
            <c:showSerName val="0"/>
            <c:showPercent val="0"/>
            <c:showBubbleSize val="0"/>
            <c:showLeaderLines val="0"/>
          </c:dLbls>
          <c:cat>
            <c:multiLvlStrRef>
              <c:f>Sheet1!$A$2:$A$6</c:f>
              <c:multiLvlStrCache>
                <c:ptCount val="5"/>
                <c:lvl>
                  <c:pt idx="0">
                    <c:v>Login protection</c:v>
                  </c:pt>
                  <c:pt idx="1">
                    <c:v>Encryption by default</c:v>
                  </c:pt>
                  <c:pt idx="2">
                    <c:v>Threat alerts</c:v>
                  </c:pt>
                  <c:pt idx="3">
                    <c:v>Recovery safety</c:v>
                  </c:pt>
                  <c:pt idx="4">
                    <c:v>Privacy controls</c:v>
                  </c:pt>
                </c:lvl>
              </c:multiLvlStrCache>
            </c:multiLvlStrRef>
          </c:cat>
          <c:val>
            <c:numRef>
              <c:f>Sheet1!$B$2:$B$6</c:f>
              <c:numCache>
                <c:formatCode>General</c:formatCode>
                <c:ptCount val="5"/>
                <c:pt idx="0">
                  <c:v>4</c:v>
                </c:pt>
                <c:pt idx="1">
                  <c:v>3</c:v>
                </c:pt>
                <c:pt idx="2">
                  <c:v>4</c:v>
                </c:pt>
                <c:pt idx="3">
                  <c:v>2</c:v>
                </c:pt>
                <c:pt idx="4">
                  <c:v>3</c:v>
                </c:pt>
              </c:numCache>
            </c:numRef>
          </c:val>
        </c:ser>
        <c:dLbls>
          <c:numFmt formatCode="#,##0" sourceLinked="0"/>
          <c:txPr>
            <a:bodyPr/>
            <a:lstStyle/>
            <a:p>
              <a:pPr>
                <a:defRPr b="1" i="0" strike="noStrike" sz="1000" u="none">
                  <a:solidFill>
                    <a:srgbClr val="22D3EE"/>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D6E2EF"/>
                </a:solidFill>
                <a:latin typeface="+mn-lt"/>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22D3EE"/>
            </a:solidFill>
            <a:effectLst/>
          </c:spPr>
          <c:invertIfNegative val="0"/>
          <c:dLbls>
            <c:numFmt formatCode="#,##0" sourceLinked="0"/>
            <c:txPr>
              <a:bodyPr/>
              <a:lstStyle/>
              <a:p>
                <a:pPr>
                  <a:defRPr b="1" i="0" strike="noStrike" sz="1000" u="none">
                    <a:solidFill>
                      <a:srgbClr val="22D3EE"/>
                    </a:solidFill>
                    <a:latin typeface="+mn-lt"/>
                  </a:defRPr>
                </a:pPr>
              </a:p>
            </c:txPr>
            <c:showLegendKey val="0"/>
            <c:showVal val="1"/>
            <c:showCatName val="0"/>
            <c:showSerName val="0"/>
            <c:showPercent val="0"/>
            <c:showBubbleSize val="0"/>
            <c:showLeaderLines val="0"/>
          </c:dLbls>
          <c:cat>
            <c:multiLvlStrRef>
              <c:f>Sheet1!$A$2:$A$6</c:f>
              <c:multiLvlStrCache>
                <c:ptCount val="5"/>
                <c:lvl>
                  <c:pt idx="0">
                    <c:v>Login protection</c:v>
                  </c:pt>
                  <c:pt idx="1">
                    <c:v>Encryption by default</c:v>
                  </c:pt>
                  <c:pt idx="2">
                    <c:v>Threat alerts</c:v>
                  </c:pt>
                  <c:pt idx="3">
                    <c:v>Recovery safety</c:v>
                  </c:pt>
                  <c:pt idx="4">
                    <c:v>Privacy controls</c:v>
                  </c:pt>
                </c:lvl>
              </c:multiLvlStrCache>
            </c:multiLvlStrRef>
          </c:cat>
          <c:val>
            <c:numRef>
              <c:f>Sheet1!$B$2:$B$6</c:f>
              <c:numCache>
                <c:formatCode>General</c:formatCode>
                <c:ptCount val="5"/>
                <c:pt idx="0">
                  <c:v>4</c:v>
                </c:pt>
                <c:pt idx="1">
                  <c:v>1</c:v>
                </c:pt>
                <c:pt idx="2">
                  <c:v>4</c:v>
                </c:pt>
                <c:pt idx="3">
                  <c:v>3</c:v>
                </c:pt>
                <c:pt idx="4">
                  <c:v>4</c:v>
                </c:pt>
              </c:numCache>
            </c:numRef>
          </c:val>
        </c:ser>
        <c:dLbls>
          <c:numFmt formatCode="#,##0" sourceLinked="0"/>
          <c:txPr>
            <a:bodyPr/>
            <a:lstStyle/>
            <a:p>
              <a:pPr>
                <a:defRPr b="1" i="0" strike="noStrike" sz="1000" u="none">
                  <a:solidFill>
                    <a:srgbClr val="22D3EE"/>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D6E2EF"/>
                </a:solidFill>
                <a:latin typeface="+mn-lt"/>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22D3EE"/>
            </a:solidFill>
            <a:effectLst/>
          </c:spPr>
          <c:invertIfNegative val="0"/>
          <c:dLbls>
            <c:numFmt formatCode="#,##0" sourceLinked="0"/>
            <c:txPr>
              <a:bodyPr/>
              <a:lstStyle/>
              <a:p>
                <a:pPr>
                  <a:defRPr b="1" i="0" strike="noStrike" sz="1000" u="none">
                    <a:solidFill>
                      <a:srgbClr val="22D3EE"/>
                    </a:solidFill>
                    <a:latin typeface="+mn-lt"/>
                  </a:defRPr>
                </a:pPr>
              </a:p>
            </c:txPr>
            <c:showLegendKey val="0"/>
            <c:showVal val="1"/>
            <c:showCatName val="0"/>
            <c:showSerName val="0"/>
            <c:showPercent val="0"/>
            <c:showBubbleSize val="0"/>
            <c:showLeaderLines val="0"/>
          </c:dLbls>
          <c:cat>
            <c:multiLvlStrRef>
              <c:f>Sheet1!$A$2:$A$6</c:f>
              <c:multiLvlStrCache>
                <c:ptCount val="5"/>
                <c:lvl>
                  <c:pt idx="0">
                    <c:v>Login protection</c:v>
                  </c:pt>
                  <c:pt idx="1">
                    <c:v>Encryption by default</c:v>
                  </c:pt>
                  <c:pt idx="2">
                    <c:v>Threat alerts</c:v>
                  </c:pt>
                  <c:pt idx="3">
                    <c:v>Recovery safety</c:v>
                  </c:pt>
                  <c:pt idx="4">
                    <c:v>Privacy controls</c:v>
                  </c:pt>
                </c:lvl>
              </c:multiLvlStrCache>
            </c:multiLvlStrRef>
          </c:cat>
          <c:val>
            <c:numRef>
              <c:f>Sheet1!$B$2:$B$6</c:f>
              <c:numCache>
                <c:formatCode>General</c:formatCode>
                <c:ptCount val="5"/>
                <c:pt idx="0">
                  <c:v>3</c:v>
                </c:pt>
                <c:pt idx="1">
                  <c:v>2</c:v>
                </c:pt>
                <c:pt idx="2">
                  <c:v>3</c:v>
                </c:pt>
                <c:pt idx="3">
                  <c:v>2</c:v>
                </c:pt>
                <c:pt idx="4">
                  <c:v>4</c:v>
                </c:pt>
              </c:numCache>
            </c:numRef>
          </c:val>
        </c:ser>
        <c:dLbls>
          <c:numFmt formatCode="#,##0" sourceLinked="0"/>
          <c:txPr>
            <a:bodyPr/>
            <a:lstStyle/>
            <a:p>
              <a:pPr>
                <a:defRPr b="1" i="0" strike="noStrike" sz="1000" u="none">
                  <a:solidFill>
                    <a:srgbClr val="22D3EE"/>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D6E2EF"/>
                </a:solidFill>
                <a:latin typeface="+mn-lt"/>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AF2FB"/>
                </a:solidFill>
                <a:latin typeface="+mn-lt"/>
              </a:defRPr>
            </a:pPr>
            <a:r>
              <a:rPr sz="1400" b="0" i="0" u="none" strike="noStrike">
                <a:solidFill>
                  <a:srgbClr val="EAF2FB"/>
                </a:solidFill>
                <a:latin typeface="+mn-lt"/>
              </a:rPr>
              <a:t>Lock score by test (out of 25)</a:t>
            </a:r>
          </a:p>
        </c:rich>
      </c:tx>
      <c:layout/>
      <c:overlay val="0"/>
    </c:title>
    <c:autoTitleDeleted val="0"/>
    <c:plotArea>
      <c:layout/>
      <c:barChart>
        <c:barDir val="bar"/>
        <c:grouping val="stacked"/>
        <c:varyColors val="0"/>
        <c:ser>
          <c:idx val="0"/>
          <c:order val="0"/>
          <c:tx>
            <c:strRef>
              <c:f>Sheet1!$B$1</c:f>
              <c:strCache>
                <c:ptCount val="1"/>
                <c:pt idx="0">
                  <c:v>Login protection</c:v>
                </c:pt>
              </c:strCache>
            </c:strRef>
          </c:tx>
          <c:spPr>
            <a:solidFill>
              <a:srgbClr val="22D3EE"/>
            </a:solidFill>
            <a:effectLst/>
          </c:spPr>
          <c:invertIfNegative val="0"/>
          <c:dLbls>
            <c:numFmt formatCode="#,##0" sourceLinked="0"/>
            <c:txPr>
              <a:bodyPr/>
              <a:lstStyle/>
              <a:p>
                <a:pPr>
                  <a:defRPr b="1" i="0" strike="noStrike" sz="1100" u="none">
                    <a:solidFill>
                      <a:srgbClr val="07111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WhatsApp (20)</c:v>
                  </c:pt>
                  <c:pt idx="1">
                    <c:v>Gmail (20)</c:v>
                  </c:pt>
                  <c:pt idx="2">
                    <c:v>Facebook (16)</c:v>
                  </c:pt>
                  <c:pt idx="3">
                    <c:v>Instagram (16)</c:v>
                  </c:pt>
                  <c:pt idx="4">
                    <c:v>Telegram (14)</c:v>
                  </c:pt>
                </c:lvl>
              </c:multiLvlStrCache>
            </c:multiLvlStrRef>
          </c:cat>
          <c:val>
            <c:numRef>
              <c:f>Sheet1!$B$2:$B$6</c:f>
              <c:numCache>
                <c:formatCode>General</c:formatCode>
                <c:ptCount val="5"/>
                <c:pt idx="0">
                  <c:v>4</c:v>
                </c:pt>
                <c:pt idx="1">
                  <c:v>5</c:v>
                </c:pt>
                <c:pt idx="2">
                  <c:v>4</c:v>
                </c:pt>
                <c:pt idx="3">
                  <c:v>4</c:v>
                </c:pt>
                <c:pt idx="4">
                  <c:v>3</c:v>
                </c:pt>
              </c:numCache>
            </c:numRef>
          </c:val>
        </c:ser>
        <c:ser>
          <c:idx val="1"/>
          <c:order val="1"/>
          <c:tx>
            <c:strRef>
              <c:f>Sheet1!$C$1</c:f>
              <c:strCache>
                <c:ptCount val="1"/>
                <c:pt idx="0">
                  <c:v>Encryption by default</c:v>
                </c:pt>
              </c:strCache>
            </c:strRef>
          </c:tx>
          <c:spPr>
            <a:solidFill>
              <a:srgbClr val="60A5FA"/>
            </a:solidFill>
            <a:effectLst/>
          </c:spPr>
          <c:invertIfNegative val="0"/>
          <c:dLbls>
            <c:numFmt formatCode="#,##0" sourceLinked="0"/>
            <c:txPr>
              <a:bodyPr/>
              <a:lstStyle/>
              <a:p>
                <a:pPr>
                  <a:defRPr b="1" i="0" strike="noStrike" sz="1100" u="none">
                    <a:solidFill>
                      <a:srgbClr val="07111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WhatsApp (20)</c:v>
                  </c:pt>
                  <c:pt idx="1">
                    <c:v>Gmail (20)</c:v>
                  </c:pt>
                  <c:pt idx="2">
                    <c:v>Facebook (16)</c:v>
                  </c:pt>
                  <c:pt idx="3">
                    <c:v>Instagram (16)</c:v>
                  </c:pt>
                  <c:pt idx="4">
                    <c:v>Telegram (14)</c:v>
                  </c:pt>
                </c:lvl>
              </c:multiLvlStrCache>
            </c:multiLvlStrRef>
          </c:cat>
          <c:val>
            <c:numRef>
              <c:f>Sheet1!$C$2:$C$6</c:f>
              <c:numCache>
                <c:formatCode>General</c:formatCode>
                <c:ptCount val="5"/>
                <c:pt idx="0">
                  <c:v>5</c:v>
                </c:pt>
                <c:pt idx="1">
                  <c:v>3</c:v>
                </c:pt>
                <c:pt idx="2">
                  <c:v>3</c:v>
                </c:pt>
                <c:pt idx="3">
                  <c:v>1</c:v>
                </c:pt>
                <c:pt idx="4">
                  <c:v>2</c:v>
                </c:pt>
              </c:numCache>
            </c:numRef>
          </c:val>
        </c:ser>
        <c:ser>
          <c:idx val="2"/>
          <c:order val="2"/>
          <c:tx>
            <c:strRef>
              <c:f>Sheet1!$D$1</c:f>
              <c:strCache>
                <c:ptCount val="1"/>
                <c:pt idx="0">
                  <c:v>Threat alerts</c:v>
                </c:pt>
              </c:strCache>
            </c:strRef>
          </c:tx>
          <c:spPr>
            <a:solidFill>
              <a:srgbClr val="34D399"/>
            </a:solidFill>
            <a:effectLst/>
          </c:spPr>
          <c:invertIfNegative val="0"/>
          <c:dLbls>
            <c:numFmt formatCode="#,##0" sourceLinked="0"/>
            <c:txPr>
              <a:bodyPr/>
              <a:lstStyle/>
              <a:p>
                <a:pPr>
                  <a:defRPr b="1" i="0" strike="noStrike" sz="1100" u="none">
                    <a:solidFill>
                      <a:srgbClr val="07111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WhatsApp (20)</c:v>
                  </c:pt>
                  <c:pt idx="1">
                    <c:v>Gmail (20)</c:v>
                  </c:pt>
                  <c:pt idx="2">
                    <c:v>Facebook (16)</c:v>
                  </c:pt>
                  <c:pt idx="3">
                    <c:v>Instagram (16)</c:v>
                  </c:pt>
                  <c:pt idx="4">
                    <c:v>Telegram (14)</c:v>
                  </c:pt>
                </c:lvl>
              </c:multiLvlStrCache>
            </c:multiLvlStrRef>
          </c:cat>
          <c:val>
            <c:numRef>
              <c:f>Sheet1!$D$2:$D$6</c:f>
              <c:numCache>
                <c:formatCode>General</c:formatCode>
                <c:ptCount val="5"/>
                <c:pt idx="0">
                  <c:v>3</c:v>
                </c:pt>
                <c:pt idx="1">
                  <c:v>5</c:v>
                </c:pt>
                <c:pt idx="2">
                  <c:v>4</c:v>
                </c:pt>
                <c:pt idx="3">
                  <c:v>4</c:v>
                </c:pt>
                <c:pt idx="4">
                  <c:v>3</c:v>
                </c:pt>
              </c:numCache>
            </c:numRef>
          </c:val>
        </c:ser>
        <c:ser>
          <c:idx val="3"/>
          <c:order val="3"/>
          <c:tx>
            <c:strRef>
              <c:f>Sheet1!$E$1</c:f>
              <c:strCache>
                <c:ptCount val="1"/>
                <c:pt idx="0">
                  <c:v>Recovery safety</c:v>
                </c:pt>
              </c:strCache>
            </c:strRef>
          </c:tx>
          <c:spPr>
            <a:solidFill>
              <a:srgbClr val="FBBF24"/>
            </a:solidFill>
            <a:effectLst/>
          </c:spPr>
          <c:invertIfNegative val="0"/>
          <c:dLbls>
            <c:numFmt formatCode="#,##0" sourceLinked="0"/>
            <c:txPr>
              <a:bodyPr/>
              <a:lstStyle/>
              <a:p>
                <a:pPr>
                  <a:defRPr b="1" i="0" strike="noStrike" sz="1100" u="none">
                    <a:solidFill>
                      <a:srgbClr val="07111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WhatsApp (20)</c:v>
                  </c:pt>
                  <c:pt idx="1">
                    <c:v>Gmail (20)</c:v>
                  </c:pt>
                  <c:pt idx="2">
                    <c:v>Facebook (16)</c:v>
                  </c:pt>
                  <c:pt idx="3">
                    <c:v>Instagram (16)</c:v>
                  </c:pt>
                  <c:pt idx="4">
                    <c:v>Telegram (14)</c:v>
                  </c:pt>
                </c:lvl>
              </c:multiLvlStrCache>
            </c:multiLvlStrRef>
          </c:cat>
          <c:val>
            <c:numRef>
              <c:f>Sheet1!$E$2:$E$6</c:f>
              <c:numCache>
                <c:formatCode>General</c:formatCode>
                <c:ptCount val="5"/>
                <c:pt idx="0">
                  <c:v>3</c:v>
                </c:pt>
                <c:pt idx="1">
                  <c:v>4</c:v>
                </c:pt>
                <c:pt idx="2">
                  <c:v>2</c:v>
                </c:pt>
                <c:pt idx="3">
                  <c:v>3</c:v>
                </c:pt>
                <c:pt idx="4">
                  <c:v>2</c:v>
                </c:pt>
              </c:numCache>
            </c:numRef>
          </c:val>
        </c:ser>
        <c:ser>
          <c:idx val="4"/>
          <c:order val="4"/>
          <c:tx>
            <c:strRef>
              <c:f>Sheet1!$F$1</c:f>
              <c:strCache>
                <c:ptCount val="1"/>
                <c:pt idx="0">
                  <c:v>Privacy controls</c:v>
                </c:pt>
              </c:strCache>
            </c:strRef>
          </c:tx>
          <c:spPr>
            <a:solidFill>
              <a:srgbClr val="A78BFA"/>
            </a:solidFill>
            <a:effectLst/>
          </c:spPr>
          <c:invertIfNegative val="0"/>
          <c:dLbls>
            <c:numFmt formatCode="#,##0" sourceLinked="0"/>
            <c:txPr>
              <a:bodyPr/>
              <a:lstStyle/>
              <a:p>
                <a:pPr>
                  <a:defRPr b="1" i="0" strike="noStrike" sz="1100" u="none">
                    <a:solidFill>
                      <a:srgbClr val="07111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WhatsApp (20)</c:v>
                  </c:pt>
                  <c:pt idx="1">
                    <c:v>Gmail (20)</c:v>
                  </c:pt>
                  <c:pt idx="2">
                    <c:v>Facebook (16)</c:v>
                  </c:pt>
                  <c:pt idx="3">
                    <c:v>Instagram (16)</c:v>
                  </c:pt>
                  <c:pt idx="4">
                    <c:v>Telegram (14)</c:v>
                  </c:pt>
                </c:lvl>
              </c:multiLvlStrCache>
            </c:multiLvlStrRef>
          </c:cat>
          <c:val>
            <c:numRef>
              <c:f>Sheet1!$F$2:$F$6</c:f>
              <c:numCache>
                <c:formatCode>General</c:formatCode>
                <c:ptCount val="5"/>
                <c:pt idx="0">
                  <c:v>5</c:v>
                </c:pt>
                <c:pt idx="1">
                  <c:v>3</c:v>
                </c:pt>
                <c:pt idx="2">
                  <c:v>3</c:v>
                </c:pt>
                <c:pt idx="3">
                  <c:v>4</c:v>
                </c:pt>
                <c:pt idx="4">
                  <c:v>4</c:v>
                </c:pt>
              </c:numCache>
            </c:numRef>
          </c:val>
        </c:ser>
        <c:dLbls>
          <c:numFmt formatCode="#,##0" sourceLinked="0"/>
          <c:txPr>
            <a:bodyPr/>
            <a:lstStyle/>
            <a:p>
              <a:pPr>
                <a:defRPr b="1" i="0" strike="noStrike" sz="1100" u="none">
                  <a:solidFill>
                    <a:srgbClr val="07111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EAF2FB"/>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b"/>
        <c:majorGridlines>
          <c:spPr>
            <a:ln w="9525" cap="flat">
              <a:solidFill>
                <a:srgbClr val="1F3A5A"/>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9FB3C8"/>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100">
              <a:solidFill>
                <a:srgbClr val="D6E2E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[Name] (about 1 minute)
[Speak slowly. Let the phone on the slide do the work.]
It is 11:47 on a normal weeknight in Dhaka. Nusrat, a 21-year-old university student, is scrolling in bed when a message arrives from her friend Rafi: "I sent a six-digit code to your number by mistake. Can you send it to me? It's urgent."
It looks harmless. It is her friend. She types the code and hits send.
Two minutes later, her WhatsApp is no longer hers.
[Pause.]
Good morning. We are Group [__], and this is "Locked or Leaked?" Nusrat is not a real person, but everything that happens to her tonight happens to real students in Bangladesh every week.
Over the next ten minutes, we will follow the attacker through five doors into Nusrat's life: WhatsApp, Gmail, Facebook, Instagram and Telegram. At each door we ask one question: was the lock strong, or did it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[Name] (about 1 minute)
Here is how Nusrat's night unfolded. [Follow the timeline left to right.]
11:49: she shares the code. She never set a two-step PIN, so the attacker takes her WhatsApp.
11:58: her friends start receiving messages from "Nusrat" asking them to send money by bKash urgently.
12:20: the attacker sends her a fake "Facebook copyright violation" link. She logs in on the fake page. She uses the same password for Gmail.
12:35: from her Gmail, the attacker resets her Facebook password and replaces her recovery email and phone number.
1:10: Instagram falls next, and her private messages are used to blackmail her.
81 minutes. Four accounts.
[Point to the bottom row.] And this is not just a story. In the Cyber Crime Awareness Foundation's 2024 study, account hacking was the number one cybercrime. About 59 percent of victims were women, 78.78 percent were aged 18 to 30, and only 12 percent went to the police.
[Member 2] will explain how we investigated each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[Name] (about 1 minute)
Thank you, [Member 1]. So we became investigators. We retraced the attacker's path through Nusrat's five accounts, the five doors you see at the top. Four were breached that night. The fifth, Telegram, was not attacked, but as you will see, it was not as safe as she believed.
For each platform, we opened the security settings on our own phones and checked them against official help pages and recent news. Then we tested each door with the same five lock tests. [Point to the bottom row.]
Can a stolen password alone get in? Can the company read my messages? Will it warn me about an attack? Can a hacker lock me out permanently? And can strangers find and contact me?
Each test is scored from 1 to 5, so a perfect door scores 25.
Let us start where the attack started: WhatsApp, at 11:49.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[Name] (about 1 minute)
Door one: WhatsApp, 11:49 PM. Score: 20 out of 25, joint highest.
[Story banner.] Here is the irony. WhatsApp has the strongest lock of all five. Every personal chat and call is end-to-end encrypted by default; not even WhatsApp can read them. That encryption never broke. Nusrat opened the door from the inside by handing over the code.
[Left list.] And WhatsApp offered more locks she never used: a six-digit two-step PIN, which would have stopped this attack completely; passkeys; passkey-locked backups since October 2025; and since January 2026, Strict Account Settings, a one-tap lockdown.
[Fix card.] Our recommendation: when someone requests a registration code, show a clear warning in Bangla, "Never share this code, even with friends", and make the two-step PIN mandatory.
With WhatsApp gone, the attacker moved to the master key. [Member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[Name] (about 1 minute)
Thank you, [Member 2]. Door two: Gmail, 12:20 AM. Score: 20 out of 25, tied for first.
[Story banner.] The attacker sent Nusrat a fake "copyright violation" page. She typed in her password, the same password she used for Gmail. She had never switched on 2-Step Verification.
[Left list.] That is painful, because Gmail has the best login protection we tested. Passkeys have been the default sign-in for personal accounts since October 2023. There is 2-Step Verification, a Security Checkup and critical sign-in alerts, and Google says its filters block over 99.9 percent of phishing and malware.
Why does Gmail matter so much? Because every "forgot password" link, for Facebook, Instagram, even bKash, goes to your email. Gmail is the master key.
[Fix card.] We recommend optional end-to-end encryption for personal mail, and special warnings for emails imitating bKash, Nagad or local banks.
And with the master key, the next door opened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[Name] (about 1 minute)
Door three: Facebook, 12:35 AM. Score: 16 out of 25.
[Story banner.] With Gmail in hand, the attacker clicked "forgot password" on Facebook, received the reset link, and then did what every attacker does first: replaced Nusrat's recovery email and phone number. By morning, Facebook believed he was Nusrat.
[Left list.] Facebook actually has good locks: two-factor authentication through an app, SMS or a security key; login alerts; passkeys since June 2025; profile lock; and encrypted Messenger chats. But a lock only helps if it is switched on.
[Score panel.] Its weakest score is recovery safety: just 2 out of 5. Changing recovery details takes minutes; getting your account back can take weeks.
[Fix card.] We propose a 48-hour cool-down before recovery details can change, with alerts sent to the old email and phone, and real human support in Bangla.
[Member 4] will take us to the next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[Name] (about 1 minute)
Thank you, [Member 3]. Door four: Instagram, 1:10 AM. Score: 16 out of 25.
[Story banner.] Nusrat's Instagram was linked to her Facebook through Meta's Accounts Center, so it fell next. The attacker scrolled through her private messages, and those messages became blackmail material. This is how sextortion usually begins.
[Score panel.] Look at encryption: 1 out of 5. Instagram DMs were never end-to-end encrypted by default, and on 8 May 2026 Meta removed even the optional encrypted chats.
[Left list.] To be fair, Instagram has useful tools. One of our favourites is "Emails from Instagram": it lists every genuine security email Instagram sent you in the last 14 days. Remember the fake "copyright" email at 12:20? This feature would have exposed it.
[Fix card.] Our recommendation: bring back encrypted DMs as the default, and blur unsolicited explicit images for every user, not just teenagers.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[Name] (about 1 minute)
Door five: Telegram. It was not attacked that night, but it was the door Nusrat trusted most, and it scored the lowest: 14 out of 25.
[Story banner.] Like many students, she believed Telegram was the "private" app. Her class group lived there. But ordinary Telegram chats, groups and channels are not end-to-end encrypted; they are stored on Telegram's servers. Only "Secret Chats" are fully encrypted, and you have to start them manually. Since September 2024, Telegram also says it will share the IP addresses and phone numbers of rule-breaking users with authorities on valid legal requests.
[Left list.] It does offer good tools: a two-step cloud password, a passcode lock, control over active sessions, and the option to hide your phone number.
[Fix card.] We recommend end-to-end encryption by default for one-to-one chats, and a prompt to set up two-step verification at sign-up.
[Member 5] will now rewind the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[Name] (about 1 minute)
Thank you, [Member 4]. Let us rewind the night and put all five doors side by side.
[Chart.] WhatsApp and Gmail tie at the top with 20. Facebook and Instagram score 16, and Telegram is last with 14.
So which platform is the most secure for an ordinary person? We chose WhatsApp. Its strongest lock, end-to-end encryption, is switched on from the moment you install it, with no setup. In Nusrat's story, it was never broken; she opened it herself.
[Second card.] Gmail deserves the most protection, because it is the master key. Once it fell at 12:20, Facebook and Instagram followed within an hour.
[Third card.] And Telegram reminds us that a reputation for privacy is not the same as privacy by default.
But here is the most important finding of our whole investigation: in Nusrat's story, not a single lock was broken. Every door was opened because a lock was switched off, or a code was handed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[Name] (about 1 minute)
So let us replay the night, with five small changes. [Move across the cards.]
11:49: if Nusrat had a two-step PIN on WhatsApp, the code alone would be useless. Hijack blocked.
11:49: if she knew never to share a code, not even with a friend, the door stays shut.
12:20: with a unique password and a passkey on Gmail, the fake page steals nothing. The master key is safe.
12:35: with up-to-date recovery details and login alerts on, the takeover is spotted immediately.
1:10: by logging out of devices she does not recognise, she removes the attacker.
Each of these takes less than five minutes. All of them already exist in the apps on your phone.
[Pause. Read the last line slowly.] 11:47 PM. The message arrives. This time, Nusrat says no.
The most secure app is the one you set up.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LOSING-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7315200" cy="173736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3" name="Text 0"/>
          <p:cNvSpPr/>
          <p:nvPr>
            <p:ph idx="101" type="body" hasCustomPrompt="1"/>
          </p:nvPr>
        </p:nvSpPr>
        <p:spPr>
          <a:xfrm>
            <a:off x="548640" y="3474720"/>
            <a:ext cx="6766560" cy="8686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64008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3" name="Text 0"/>
          <p:cNvSpPr/>
          <p:nvPr/>
        </p:nvSpPr>
        <p:spPr>
          <a:xfrm>
            <a:off x="548640" y="6400800"/>
            <a:ext cx="5486400" cy="228600"/>
          </a:xfrm>
          <a:prstGeom prst="rect">
            <a:avLst/>
          </a:prstGeom>
          <a:noFill/>
          <a:ln/>
        </p:spPr>
        <p:txBody>
          <a:bodyPr wrap="square" lIns="0" tIns="0" rIns="0" bIns="0" rtlCol="0" anchor="ctr"/>
          <a:lstStyle/>
          <a:p>
            <a:pPr indent="0" marL="0">
              <a:buNone/>
            </a:pPr>
            <a:r>
              <a:rPr lang="en-US" sz="900" spc="200" kern="0" dirty="0">
                <a:solidFill>
                  <a:srgbClr val="6B829C"/>
                </a:solidFill>
                <a:latin typeface="Consolas" pitchFamily="34" charset="0"/>
                <a:ea typeface="Consolas" pitchFamily="34" charset="-122"/>
                <a:cs typeface="Consolas" pitchFamily="34" charset="-120"/>
              </a:rPr>
              <a:t>MCCJ 525  //  LOCKED OR LEAKED?</a:t>
            </a:r>
            <a:endParaRPr lang="en-US" sz="900" dirty="0"/>
          </a:p>
        </p:txBody>
      </p:sp>
      <p:sp>
        <p:nvSpPr>
          <p:cNvPr id="4" name="Shape 1"/>
          <p:cNvSpPr/>
          <p:nvPr/>
        </p:nvSpPr>
        <p:spPr>
          <a:xfrm>
            <a:off x="548640" y="6327648"/>
            <a:ext cx="11094415" cy="0"/>
          </a:xfrm>
          <a:prstGeom prst="line">
            <a:avLst/>
          </a:prstGeom>
          <a:noFill/>
          <a:ln w="9525">
            <a:solidFill>
              <a:srgbClr val="1F3A5A"/>
            </a:solidFill>
            <a:prstDash val="solid"/>
          </a:ln>
        </p:spPr>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829C"/>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4415"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829C"/>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3.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7" Type="http://schemas.openxmlformats.org/officeDocument/2006/relationships/chart" Target="/ppt/charts/chart1.xm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7" Type="http://schemas.openxmlformats.org/officeDocument/2006/relationships/chart" Target="/ppt/charts/chart2.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7" Type="http://schemas.openxmlformats.org/officeDocument/2006/relationships/chart" Target="/ppt/charts/chart3.xm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8" Type="http://schemas.openxmlformats.org/officeDocument/2006/relationships/image" Target="../media/image-6-7.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6" Type="http://schemas.openxmlformats.org/officeDocument/2006/relationships/chart" Target="/ppt/charts/chart4.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6" Type="http://schemas.openxmlformats.org/officeDocument/2006/relationships/chart" Target="/ppt/charts/chart5.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97280"/>
            <a:ext cx="7315200" cy="32004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onsolas" pitchFamily="34" charset="0"/>
                <a:ea typeface="Consolas" pitchFamily="34" charset="-122"/>
                <a:cs typeface="Consolas" pitchFamily="34" charset="-120"/>
              </a:rPr>
              <a:t>11:47 PM  ·  DHAKA  ·  AN ORDINARY WEEKNIGHT</a:t>
            </a:r>
            <a:endParaRPr lang="en-US" sz="1400" dirty="0"/>
          </a:p>
        </p:txBody>
      </p:sp>
      <p:sp>
        <p:nvSpPr>
          <p:cNvPr id="3" name="Text 0"/>
          <p:cNvSpPr/>
          <p:nvPr>
            <p:ph idx="100" type="title" hasCustomPrompt="1"/>
          </p:nvPr>
        </p:nvSpPr>
        <p:spPr>
          <a:xfrm>
            <a:off x="548640" y="1600200"/>
            <a:ext cx="7315200" cy="1737360"/>
          </a:xfrm>
          <a:prstGeom prst="rect">
            <a:avLst/>
          </a:prstGeom>
          <a:noFill/>
          <a:ln/>
        </p:spPr>
        <p:txBody>
          <a:bodyPr wrap="square" lIns="0" tIns="0" rIns="0" bIns="0" rtlCol="0" anchor="b"/>
          <a:lstStyle/>
          <a:p>
            <a:pPr algn="l" indent="0" marL="0">
              <a:buNone/>
            </a:pPr>
            <a:r>
              <a:rPr lang="en-US" sz="5000" b="1" dirty="0">
                <a:solidFill>
                  <a:schemeClr val="bg1"/>
                </a:solidFill>
              </a:rPr>
              <a:t>One message. One night. Five doors.</a:t>
            </a:r>
            <a:endParaRPr lang="en-US" sz="5000" dirty="0"/>
          </a:p>
        </p:txBody>
      </p:sp>
      <p:sp>
        <p:nvSpPr>
          <p:cNvPr id="4" name="Text 0"/>
          <p:cNvSpPr/>
          <p:nvPr>
            <p:ph idx="101" type="body" hasCustomPrompt="1"/>
          </p:nvPr>
        </p:nvSpPr>
        <p:spPr>
          <a:xfrm>
            <a:off x="548640" y="3474720"/>
            <a:ext cx="6766560" cy="868680"/>
          </a:xfrm>
          <a:prstGeom prst="rect">
            <a:avLst/>
          </a:prstGeom>
          <a:noFill/>
          <a:ln/>
        </p:spPr>
        <p:txBody>
          <a:bodyPr wrap="square" lIns="0" tIns="0" rIns="0" bIns="0" rtlCol="0" anchor="t"/>
          <a:lstStyle/>
          <a:p>
            <a:pPr algn="l" indent="0" marL="0">
              <a:buNone/>
            </a:pPr>
            <a:r>
              <a:rPr lang="en-US" sz="2000" b="1" dirty="0">
                <a:solidFill>
                  <a:schemeClr val="accent1"/>
                </a:solidFill>
              </a:rPr>
              <a:t>Locked or Leaked? </a:t>
            </a:r>
            <a:pPr algn="l" indent="0" marL="0">
              <a:buNone/>
            </a:pPr>
            <a:r>
              <a:rPr lang="en-US" sz="2000" dirty="0">
                <a:solidFill>
                  <a:schemeClr val="bg2"/>
                </a:solidFill>
              </a:rPr>
              <a:t>A security investigation of Facebook, Instagram, WhatsApp, Gmail and Telegram</a:t>
            </a:r>
            <a:endParaRPr lang="en-US" sz="2000" dirty="0"/>
          </a:p>
        </p:txBody>
      </p:sp>
      <p:sp>
        <p:nvSpPr>
          <p:cNvPr id="5" name="Text 3"/>
          <p:cNvSpPr txBox="1"/>
          <p:nvPr/>
        </p:nvSpPr>
        <p:spPr>
          <a:xfrm>
            <a:off x="548640" y="4983480"/>
            <a:ext cx="6949440" cy="1051560"/>
          </a:xfrm>
          <a:prstGeom prst="rect">
            <a:avLst/>
          </a:prstGeom>
          <a:noFill/>
          <a:ln/>
        </p:spPr>
        <p:txBody>
          <a:bodyPr wrap="square" lIns="0" tIns="0" rIns="0" bIns="0" rtlCol="0" anchor="t"/>
          <a:lstStyle/>
          <a:p>
            <a:pPr indent="0" marL="0">
              <a:spcAft>
                <a:spcPts val="400"/>
              </a:spcAft>
              <a:buNone/>
            </a:pPr>
            <a:r>
              <a:rPr lang="en-US" sz="1100" b="1" spc="200" kern="0" dirty="0">
                <a:solidFill>
                  <a:schemeClr val="accent1"/>
                </a:solidFill>
                <a:latin typeface="Consolas" pitchFamily="34" charset="0"/>
                <a:ea typeface="Consolas" pitchFamily="34" charset="-122"/>
                <a:cs typeface="Consolas" pitchFamily="34" charset="-120"/>
              </a:rPr>
              <a:t>MCCJ 525 · CYBERCRIMES AND SECURITY</a:t>
            </a:r>
            <a:endParaRPr lang="en-US" sz="1400" dirty="0"/>
          </a:p>
          <a:p>
            <a:pPr indent="0" marL="0">
              <a:spcAft>
                <a:spcPts val="400"/>
              </a:spcAft>
              <a:buNone/>
            </a:pPr>
            <a:r>
              <a:rPr lang="en-US" sz="1400" dirty="0">
                <a:solidFill>
                  <a:schemeClr val="bg1"/>
                </a:solidFill>
              </a:rPr>
              <a:t>[Member 1]  ·  [Member 2]  ·  [Member 3]  ·  [Member 4]  ·  [Member 5]</a:t>
            </a:r>
            <a:endParaRPr lang="en-US" sz="1400" dirty="0"/>
          </a:p>
          <a:p>
            <a:pPr indent="0" marL="0">
              <a:spcAft>
                <a:spcPts val="400"/>
              </a:spcAft>
              <a:buNone/>
            </a:pPr>
            <a:r>
              <a:rPr lang="en-US" sz="1400" dirty="0">
                <a:solidFill>
                  <a:srgbClr val="9FB3C8"/>
                </a:solidFill>
              </a:rPr>
              <a:t>Group [__]  |  [Department], [University]  |  [Date]</a:t>
            </a:r>
            <a:endParaRPr lang="en-US" sz="1400" dirty="0"/>
          </a:p>
        </p:txBody>
      </p:sp>
      <p:sp>
        <p:nvSpPr>
          <p:cNvPr id="6" name="phone frame"/>
          <p:cNvSpPr/>
          <p:nvPr/>
        </p:nvSpPr>
        <p:spPr>
          <a:xfrm>
            <a:off x="8183880" y="685800"/>
            <a:ext cx="3246120" cy="5486400"/>
          </a:xfrm>
          <a:prstGeom prst="roundRect">
            <a:avLst>
              <a:gd name="adj" fmla="val 9859"/>
            </a:avLst>
          </a:prstGeom>
          <a:solidFill>
            <a:srgbClr val="050B16"/>
          </a:solidFill>
          <a:ln w="31750">
            <a:solidFill>
              <a:srgbClr val="2A4A6E"/>
            </a:solidFill>
            <a:prstDash val="solid"/>
          </a:ln>
          <a:effectLst>
            <a:outerShdw sx="100000" sy="100000" kx="0" ky="0" algn="bl" rotWithShape="0" blurRad="228600" dist="50800" dir="5400000">
              <a:srgbClr val="22D3EE">
                <a:alpha val="35000"/>
              </a:srgbClr>
            </a:outerShdw>
          </a:effectLst>
        </p:spPr>
      </p:sp>
      <p:sp>
        <p:nvSpPr>
          <p:cNvPr id="7" name="phone screen"/>
          <p:cNvSpPr/>
          <p:nvPr/>
        </p:nvSpPr>
        <p:spPr>
          <a:xfrm>
            <a:off x="8321040" y="822960"/>
            <a:ext cx="2971800" cy="5212080"/>
          </a:xfrm>
          <a:prstGeom prst="roundRect">
            <a:avLst>
              <a:gd name="adj" fmla="val 7692"/>
            </a:avLst>
          </a:prstGeom>
          <a:solidFill>
            <a:srgbClr val="0D1A2B"/>
          </a:solidFill>
          <a:ln/>
        </p:spPr>
      </p:sp>
      <p:sp>
        <p:nvSpPr>
          <p:cNvPr id="8" name="chat header"/>
          <p:cNvSpPr/>
          <p:nvPr/>
        </p:nvSpPr>
        <p:spPr>
          <a:xfrm>
            <a:off x="8321040" y="1097280"/>
            <a:ext cx="2971800" cy="640080"/>
          </a:xfrm>
          <a:prstGeom prst="rect">
            <a:avLst/>
          </a:prstGeom>
          <a:solidFill>
            <a:srgbClr val="13253C"/>
          </a:solidFill>
          <a:ln/>
        </p:spPr>
      </p:sp>
      <p:pic>
        <p:nvPicPr>
          <p:cNvPr id="9" name="avatar" descr="contact">    </p:cNvPr>
          <p:cNvPicPr>
            <a:picLocks noChangeAspect="1"/>
          </p:cNvPicPr>
          <p:nvPr/>
        </p:nvPicPr>
        <p:blipFill>
          <a:blip r:embed="rId1"/>
          <a:stretch>
            <a:fillRect/>
          </a:stretch>
        </p:blipFill>
        <p:spPr>
          <a:xfrm>
            <a:off x="8458200" y="1188720"/>
            <a:ext cx="457200" cy="457200"/>
          </a:xfrm>
          <a:prstGeom prst="rect">
            <a:avLst/>
          </a:prstGeom>
        </p:spPr>
      </p:pic>
      <p:sp>
        <p:nvSpPr>
          <p:cNvPr id="10" name="Text 7"/>
          <p:cNvSpPr txBox="1"/>
          <p:nvPr/>
        </p:nvSpPr>
        <p:spPr>
          <a:xfrm>
            <a:off x="9006840" y="1161288"/>
            <a:ext cx="2011680" cy="512064"/>
          </a:xfrm>
          <a:prstGeom prst="rect">
            <a:avLst/>
          </a:prstGeom>
          <a:noFill/>
          <a:ln/>
        </p:spPr>
        <p:txBody>
          <a:bodyPr wrap="square" lIns="0" tIns="0" rIns="0" bIns="0" rtlCol="0" anchor="ctr"/>
          <a:lstStyle/>
          <a:p>
            <a:pPr indent="0" marL="0">
              <a:buNone/>
            </a:pPr>
            <a:r>
              <a:rPr lang="en-US" sz="1300" b="1" dirty="0">
                <a:solidFill>
                  <a:schemeClr val="bg1"/>
                </a:solidFill>
              </a:rPr>
              <a:t>Rafi (friend)</a:t>
            </a:r>
            <a:endParaRPr lang="en-US" sz="1300" dirty="0"/>
          </a:p>
          <a:p>
            <a:pPr indent="0" marL="0">
              <a:buNone/>
            </a:pPr>
            <a:r>
              <a:rPr lang="en-US" sz="1000" dirty="0">
                <a:solidFill>
                  <a:schemeClr val="accent6"/>
                </a:solidFill>
              </a:rPr>
              <a:t>online</a:t>
            </a:r>
            <a:endParaRPr lang="en-US" sz="1300" dirty="0"/>
          </a:p>
        </p:txBody>
      </p:sp>
      <p:sp>
        <p:nvSpPr>
          <p:cNvPr id="11" name="Text 8"/>
          <p:cNvSpPr txBox="1"/>
          <p:nvPr/>
        </p:nvSpPr>
        <p:spPr>
          <a:xfrm>
            <a:off x="8458200" y="1874520"/>
            <a:ext cx="2697480" cy="228600"/>
          </a:xfrm>
          <a:prstGeom prst="rect">
            <a:avLst/>
          </a:prstGeom>
          <a:noFill/>
          <a:ln/>
        </p:spPr>
        <p:txBody>
          <a:bodyPr wrap="square" lIns="0" tIns="0" rIns="0" bIns="0" rtlCol="0" anchor="ctr"/>
          <a:lstStyle/>
          <a:p>
            <a:pPr algn="ctr" indent="0" marL="0">
              <a:buNone/>
            </a:pPr>
            <a:r>
              <a:rPr lang="en-US" sz="1000" dirty="0">
                <a:solidFill>
                  <a:srgbClr val="6B829C"/>
                </a:solidFill>
                <a:latin typeface="Consolas" pitchFamily="34" charset="0"/>
                <a:ea typeface="Consolas" pitchFamily="34" charset="-122"/>
                <a:cs typeface="Consolas" pitchFamily="34" charset="-120"/>
              </a:rPr>
              <a:t>11:47 PM</a:t>
            </a:r>
            <a:endParaRPr lang="en-US" sz="1000" dirty="0"/>
          </a:p>
        </p:txBody>
      </p:sp>
      <p:sp>
        <p:nvSpPr>
          <p:cNvPr id="12" name="incoming bubble"/>
          <p:cNvSpPr txBox="1"/>
          <p:nvPr/>
        </p:nvSpPr>
        <p:spPr>
          <a:xfrm>
            <a:off x="8458200" y="2194560"/>
            <a:ext cx="2377440" cy="1097280"/>
          </a:xfrm>
          <a:prstGeom prst="roundRect">
            <a:avLst>
              <a:gd name="adj" fmla="val 10000"/>
            </a:avLst>
          </a:prstGeom>
          <a:solidFill>
            <a:srgbClr val="1E2E45"/>
          </a:solidFill>
          <a:ln/>
        </p:spPr>
        <p:txBody>
          <a:bodyPr wrap="square" lIns="101600" tIns="101600" rIns="101600" bIns="101600" rtlCol="0" anchor="ctr"/>
          <a:lstStyle/>
          <a:p>
            <a:pPr indent="0" marL="0">
              <a:buNone/>
            </a:pPr>
            <a:r>
              <a:rPr lang="en-US" sz="1400" dirty="0">
                <a:solidFill>
                  <a:schemeClr val="bg1"/>
                </a:solidFill>
              </a:rPr>
              <a:t>Hi! I sent a 6-digit code to your number by mistake. Can you send it to me? It’s urgent</a:t>
            </a:r>
            <a:endParaRPr lang="en-US" sz="1400" dirty="0"/>
          </a:p>
        </p:txBody>
      </p:sp>
      <p:sp>
        <p:nvSpPr>
          <p:cNvPr id="13" name="outgoing bubble"/>
          <p:cNvSpPr txBox="1"/>
          <p:nvPr/>
        </p:nvSpPr>
        <p:spPr>
          <a:xfrm>
            <a:off x="9418320" y="3474720"/>
            <a:ext cx="1737360" cy="457200"/>
          </a:xfrm>
          <a:prstGeom prst="roundRect">
            <a:avLst>
              <a:gd name="adj" fmla="val 24000"/>
            </a:avLst>
          </a:prstGeom>
          <a:solidFill>
            <a:srgbClr val="0E7490"/>
          </a:solidFill>
          <a:ln/>
        </p:spPr>
        <p:txBody>
          <a:bodyPr wrap="square" lIns="101600" tIns="101600" rIns="101600" bIns="101600" rtlCol="0" anchor="ctr"/>
          <a:lstStyle/>
          <a:p>
            <a:pPr algn="r" indent="0" marL="0">
              <a:buNone/>
            </a:pPr>
            <a:r>
              <a:rPr lang="en-US" sz="1400" dirty="0">
                <a:solidFill>
                  <a:schemeClr val="bg1"/>
                </a:solidFill>
              </a:rPr>
              <a:t>Sure: 482 913</a:t>
            </a:r>
            <a:endParaRPr lang="en-US" sz="1400" dirty="0"/>
          </a:p>
        </p:txBody>
      </p:sp>
      <p:sp>
        <p:nvSpPr>
          <p:cNvPr id="14" name="Text 11"/>
          <p:cNvSpPr txBox="1"/>
          <p:nvPr/>
        </p:nvSpPr>
        <p:spPr>
          <a:xfrm>
            <a:off x="9418320" y="3977640"/>
            <a:ext cx="1737360" cy="201168"/>
          </a:xfrm>
          <a:prstGeom prst="rect">
            <a:avLst/>
          </a:prstGeom>
          <a:noFill/>
          <a:ln/>
        </p:spPr>
        <p:txBody>
          <a:bodyPr wrap="square" lIns="0" tIns="0" rIns="0" bIns="0" rtlCol="0" anchor="ctr"/>
          <a:lstStyle/>
          <a:p>
            <a:pPr algn="r" indent="0" marL="0">
              <a:buNone/>
            </a:pPr>
            <a:r>
              <a:rPr lang="en-US" sz="1000" dirty="0">
                <a:solidFill>
                  <a:srgbClr val="6B829C"/>
                </a:solidFill>
                <a:latin typeface="Consolas" pitchFamily="34" charset="0"/>
                <a:ea typeface="Consolas" pitchFamily="34" charset="-122"/>
                <a:cs typeface="Consolas" pitchFamily="34" charset="-120"/>
              </a:rPr>
              <a:t>11:49 PM</a:t>
            </a:r>
            <a:endParaRPr lang="en-US" sz="1000" dirty="0"/>
          </a:p>
        </p:txBody>
      </p:sp>
      <p:sp>
        <p:nvSpPr>
          <p:cNvPr id="15" name="stamp"/>
          <p:cNvSpPr txBox="1"/>
          <p:nvPr/>
        </p:nvSpPr>
        <p:spPr>
          <a:xfrm rot="-480000">
            <a:off x="8549640" y="4663440"/>
            <a:ext cx="2514600" cy="457200"/>
          </a:xfrm>
          <a:prstGeom prst="rect">
            <a:avLst/>
          </a:prstGeom>
          <a:noFill/>
          <a:ln w="28575">
            <a:solidFill>
              <a:srgbClr val="F87171"/>
            </a:solidFill>
          </a:ln>
        </p:spPr>
        <p:txBody>
          <a:bodyPr wrap="square" lIns="0" tIns="0" rIns="0" bIns="0" rtlCol="0" anchor="ctr"/>
          <a:lstStyle/>
          <a:p>
            <a:pPr algn="ctr" indent="0" marL="0">
              <a:buNone/>
            </a:pPr>
            <a:r>
              <a:rPr lang="en-US" sz="1600" b="1" spc="300" kern="0" dirty="0">
                <a:solidFill>
                  <a:srgbClr val="F87171"/>
                </a:solidFill>
                <a:latin typeface="Consolas" pitchFamily="34" charset="0"/>
                <a:ea typeface="Consolas" pitchFamily="34" charset="-122"/>
                <a:cs typeface="Consolas" pitchFamily="34" charset="-120"/>
              </a:rPr>
              <a:t>ACCOUNT HIJACKED</a:t>
            </a:r>
            <a:endParaRPr lang="en-US" sz="1600" dirty="0"/>
          </a:p>
        </p:txBody>
      </p:sp>
      <p:sp>
        <p:nvSpPr>
          <p:cNvPr id="16" name="Text 13"/>
          <p:cNvSpPr txBox="1"/>
          <p:nvPr/>
        </p:nvSpPr>
        <p:spPr>
          <a:xfrm>
            <a:off x="548640" y="6263640"/>
            <a:ext cx="7315200" cy="228600"/>
          </a:xfrm>
          <a:prstGeom prst="rect">
            <a:avLst/>
          </a:prstGeom>
          <a:noFill/>
          <a:ln/>
        </p:spPr>
        <p:txBody>
          <a:bodyPr wrap="square" lIns="0" tIns="0" rIns="0" bIns="0" rtlCol="0" anchor="ctr"/>
          <a:lstStyle/>
          <a:p>
            <a:pPr indent="0" marL="0">
              <a:buNone/>
            </a:pPr>
            <a:r>
              <a:rPr lang="en-US" sz="1000" i="1" dirty="0">
                <a:solidFill>
                  <a:srgbClr val="6B829C"/>
                </a:solidFill>
              </a:rPr>
              <a:t>Nusrat is a fictional composite based on common attack patterns in Bangladesh.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tag"/>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onsolas" pitchFamily="34" charset="0"/>
                <a:ea typeface="Consolas" pitchFamily="34" charset="-122"/>
                <a:cs typeface="Consolas" pitchFamily="34" charset="-120"/>
              </a:rPr>
              <a:t>// 01  INCIDENT TIMELINE</a:t>
            </a:r>
            <a:endParaRPr lang="en-US" sz="1200" dirty="0"/>
          </a:p>
        </p:txBody>
      </p:sp>
      <p:sp>
        <p:nvSpPr>
          <p:cNvPr id="3" name="Text 0"/>
          <p:cNvSpPr/>
          <p:nvPr>
            <p:ph idx="100"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bg1"/>
                </a:solidFill>
              </a:rPr>
              <a:t>In 81 minutes, one shared code cost Nusrat four accounts</a:t>
            </a:r>
            <a:endParaRPr lang="en-US" sz="2800" dirty="0"/>
          </a:p>
        </p:txBody>
      </p:sp>
      <p:sp>
        <p:nvSpPr>
          <p:cNvPr id="4" name="timeline"/>
          <p:cNvSpPr/>
          <p:nvPr/>
        </p:nvSpPr>
        <p:spPr>
          <a:xfrm>
            <a:off x="1554480" y="2148840"/>
            <a:ext cx="9082735" cy="0"/>
          </a:xfrm>
          <a:prstGeom prst="line">
            <a:avLst/>
          </a:prstGeom>
          <a:noFill/>
          <a:ln w="25400">
            <a:solidFill>
              <a:srgbClr val="F87171"/>
            </a:solidFill>
            <a:prstDash val="dash"/>
          </a:ln>
        </p:spPr>
      </p:sp>
      <p:sp>
        <p:nvSpPr>
          <p:cNvPr id="5" name="Text 3"/>
          <p:cNvSpPr txBox="1"/>
          <p:nvPr/>
        </p:nvSpPr>
        <p:spPr>
          <a:xfrm>
            <a:off x="548640" y="1417320"/>
            <a:ext cx="2011680" cy="274320"/>
          </a:xfrm>
          <a:prstGeom prst="rect">
            <a:avLst/>
          </a:prstGeom>
          <a:noFill/>
          <a:ln/>
        </p:spPr>
        <p:txBody>
          <a:bodyPr wrap="square" lIns="0" tIns="0" rIns="0" bIns="0" rtlCol="0" anchor="ctr"/>
          <a:lstStyle/>
          <a:p>
            <a:pPr algn="ctr" indent="0" marL="0">
              <a:buNone/>
            </a:pPr>
            <a:r>
              <a:rPr lang="en-US" sz="1400" b="1" dirty="0">
                <a:solidFill>
                  <a:srgbClr val="F87171"/>
                </a:solidFill>
                <a:latin typeface="Consolas" pitchFamily="34" charset="0"/>
                <a:ea typeface="Consolas" pitchFamily="34" charset="-122"/>
                <a:cs typeface="Consolas" pitchFamily="34" charset="-120"/>
              </a:rPr>
              <a:t>11:49 PM</a:t>
            </a:r>
            <a:endParaRPr lang="en-US" sz="1400" dirty="0"/>
          </a:p>
        </p:txBody>
      </p:sp>
      <p:sp>
        <p:nvSpPr>
          <p:cNvPr id="6" name="event 1 circle"/>
          <p:cNvSpPr/>
          <p:nvPr/>
        </p:nvSpPr>
        <p:spPr>
          <a:xfrm>
            <a:off x="1234440" y="1828800"/>
            <a:ext cx="640080" cy="640080"/>
          </a:xfrm>
          <a:prstGeom prst="ellipse">
            <a:avLst/>
          </a:prstGeom>
          <a:solidFill>
            <a:srgbClr val="F87171"/>
          </a:solidFill>
          <a:ln/>
        </p:spPr>
      </p:sp>
      <p:pic>
        <p:nvPicPr>
          <p:cNvPr id="7" name="event 1 icon" descr="event 1">    </p:cNvPr>
          <p:cNvPicPr>
            <a:picLocks noChangeAspect="1"/>
          </p:cNvPicPr>
          <p:nvPr/>
        </p:nvPicPr>
        <p:blipFill>
          <a:blip r:embed="rId1"/>
          <a:stretch>
            <a:fillRect/>
          </a:stretch>
        </p:blipFill>
        <p:spPr>
          <a:xfrm>
            <a:off x="1388059" y="1982419"/>
            <a:ext cx="332842" cy="332842"/>
          </a:xfrm>
          <a:prstGeom prst="rect">
            <a:avLst/>
          </a:prstGeom>
        </p:spPr>
      </p:pic>
      <p:sp>
        <p:nvSpPr>
          <p:cNvPr id="8" name="Text 5"/>
          <p:cNvSpPr txBox="1"/>
          <p:nvPr/>
        </p:nvSpPr>
        <p:spPr>
          <a:xfrm>
            <a:off x="548640" y="2606040"/>
            <a:ext cx="2011680" cy="914400"/>
          </a:xfrm>
          <a:prstGeom prst="rect">
            <a:avLst/>
          </a:prstGeom>
          <a:noFill/>
          <a:ln/>
        </p:spPr>
        <p:txBody>
          <a:bodyPr wrap="square" lIns="0" tIns="0" rIns="0" bIns="0" rtlCol="0" anchor="t"/>
          <a:lstStyle/>
          <a:p>
            <a:pPr algn="ctr" indent="0" marL="0">
              <a:buNone/>
            </a:pPr>
            <a:r>
              <a:rPr lang="en-US" sz="1400" dirty="0">
                <a:solidFill>
                  <a:schemeClr val="bg2"/>
                </a:solidFill>
              </a:rPr>
              <a:t>Shares the code. WhatsApp hijacked: no two-step PIN.</a:t>
            </a:r>
            <a:endParaRPr lang="en-US" sz="1400" dirty="0"/>
          </a:p>
        </p:txBody>
      </p:sp>
      <p:sp>
        <p:nvSpPr>
          <p:cNvPr id="9" name="Text 6"/>
          <p:cNvSpPr txBox="1"/>
          <p:nvPr/>
        </p:nvSpPr>
        <p:spPr>
          <a:xfrm>
            <a:off x="2819324" y="1417320"/>
            <a:ext cx="2011680" cy="274320"/>
          </a:xfrm>
          <a:prstGeom prst="rect">
            <a:avLst/>
          </a:prstGeom>
          <a:noFill/>
          <a:ln/>
        </p:spPr>
        <p:txBody>
          <a:bodyPr wrap="square" lIns="0" tIns="0" rIns="0" bIns="0" rtlCol="0" anchor="ctr"/>
          <a:lstStyle/>
          <a:p>
            <a:pPr algn="ctr" indent="0" marL="0">
              <a:buNone/>
            </a:pPr>
            <a:r>
              <a:rPr lang="en-US" sz="1400" b="1" dirty="0">
                <a:solidFill>
                  <a:srgbClr val="F87171"/>
                </a:solidFill>
                <a:latin typeface="Consolas" pitchFamily="34" charset="0"/>
                <a:ea typeface="Consolas" pitchFamily="34" charset="-122"/>
                <a:cs typeface="Consolas" pitchFamily="34" charset="-120"/>
              </a:rPr>
              <a:t>11:58 PM</a:t>
            </a:r>
            <a:endParaRPr lang="en-US" sz="1400" dirty="0"/>
          </a:p>
        </p:txBody>
      </p:sp>
      <p:sp>
        <p:nvSpPr>
          <p:cNvPr id="10" name="event 2 circle"/>
          <p:cNvSpPr/>
          <p:nvPr/>
        </p:nvSpPr>
        <p:spPr>
          <a:xfrm>
            <a:off x="3505124" y="1828800"/>
            <a:ext cx="640080" cy="640080"/>
          </a:xfrm>
          <a:prstGeom prst="ellipse">
            <a:avLst/>
          </a:prstGeom>
          <a:solidFill>
            <a:srgbClr val="F87171"/>
          </a:solidFill>
          <a:ln/>
        </p:spPr>
      </p:sp>
      <p:pic>
        <p:nvPicPr>
          <p:cNvPr id="11" name="event 2 icon" descr="event 2">    </p:cNvPr>
          <p:cNvPicPr>
            <a:picLocks noChangeAspect="1"/>
          </p:cNvPicPr>
          <p:nvPr/>
        </p:nvPicPr>
        <p:blipFill>
          <a:blip r:embed="rId2"/>
          <a:stretch>
            <a:fillRect/>
          </a:stretch>
        </p:blipFill>
        <p:spPr>
          <a:xfrm>
            <a:off x="3658743" y="1982419"/>
            <a:ext cx="332842" cy="332842"/>
          </a:xfrm>
          <a:prstGeom prst="rect">
            <a:avLst/>
          </a:prstGeom>
        </p:spPr>
      </p:pic>
      <p:sp>
        <p:nvSpPr>
          <p:cNvPr id="12" name="Text 8"/>
          <p:cNvSpPr txBox="1"/>
          <p:nvPr/>
        </p:nvSpPr>
        <p:spPr>
          <a:xfrm>
            <a:off x="2819324" y="2606040"/>
            <a:ext cx="2011680" cy="914400"/>
          </a:xfrm>
          <a:prstGeom prst="rect">
            <a:avLst/>
          </a:prstGeom>
          <a:noFill/>
          <a:ln/>
        </p:spPr>
        <p:txBody>
          <a:bodyPr wrap="square" lIns="0" tIns="0" rIns="0" bIns="0" rtlCol="0" anchor="t"/>
          <a:lstStyle/>
          <a:p>
            <a:pPr algn="ctr" indent="0" marL="0">
              <a:buNone/>
            </a:pPr>
            <a:r>
              <a:rPr lang="en-US" sz="1400" dirty="0">
                <a:solidFill>
                  <a:schemeClr val="bg2"/>
                </a:solidFill>
              </a:rPr>
              <a:t>Friends get “urgent” requests to send bKash money.</a:t>
            </a:r>
            <a:endParaRPr lang="en-US" sz="1400" dirty="0"/>
          </a:p>
        </p:txBody>
      </p:sp>
      <p:sp>
        <p:nvSpPr>
          <p:cNvPr id="13" name="Text 9"/>
          <p:cNvSpPr txBox="1"/>
          <p:nvPr/>
        </p:nvSpPr>
        <p:spPr>
          <a:xfrm>
            <a:off x="5090008" y="1417320"/>
            <a:ext cx="2011680" cy="274320"/>
          </a:xfrm>
          <a:prstGeom prst="rect">
            <a:avLst/>
          </a:prstGeom>
          <a:noFill/>
          <a:ln/>
        </p:spPr>
        <p:txBody>
          <a:bodyPr wrap="square" lIns="0" tIns="0" rIns="0" bIns="0" rtlCol="0" anchor="ctr"/>
          <a:lstStyle/>
          <a:p>
            <a:pPr algn="ctr" indent="0" marL="0">
              <a:buNone/>
            </a:pPr>
            <a:r>
              <a:rPr lang="en-US" sz="1400" b="1" dirty="0">
                <a:solidFill>
                  <a:srgbClr val="F87171"/>
                </a:solidFill>
                <a:latin typeface="Consolas" pitchFamily="34" charset="0"/>
                <a:ea typeface="Consolas" pitchFamily="34" charset="-122"/>
                <a:cs typeface="Consolas" pitchFamily="34" charset="-120"/>
              </a:rPr>
              <a:t>12:20 AM</a:t>
            </a:r>
            <a:endParaRPr lang="en-US" sz="1400" dirty="0"/>
          </a:p>
        </p:txBody>
      </p:sp>
      <p:sp>
        <p:nvSpPr>
          <p:cNvPr id="14" name="event 3 circle"/>
          <p:cNvSpPr/>
          <p:nvPr/>
        </p:nvSpPr>
        <p:spPr>
          <a:xfrm>
            <a:off x="5775808" y="1828800"/>
            <a:ext cx="640080" cy="640080"/>
          </a:xfrm>
          <a:prstGeom prst="ellipse">
            <a:avLst/>
          </a:prstGeom>
          <a:solidFill>
            <a:srgbClr val="F87171"/>
          </a:solidFill>
          <a:ln/>
        </p:spPr>
      </p:sp>
      <p:pic>
        <p:nvPicPr>
          <p:cNvPr id="15" name="event 3 icon" descr="event 3">    </p:cNvPr>
          <p:cNvPicPr>
            <a:picLocks noChangeAspect="1"/>
          </p:cNvPicPr>
          <p:nvPr/>
        </p:nvPicPr>
        <p:blipFill>
          <a:blip r:embed="rId3"/>
          <a:stretch>
            <a:fillRect/>
          </a:stretch>
        </p:blipFill>
        <p:spPr>
          <a:xfrm>
            <a:off x="5929427" y="1982419"/>
            <a:ext cx="332842" cy="332842"/>
          </a:xfrm>
          <a:prstGeom prst="rect">
            <a:avLst/>
          </a:prstGeom>
        </p:spPr>
      </p:pic>
      <p:sp>
        <p:nvSpPr>
          <p:cNvPr id="16" name="Text 11"/>
          <p:cNvSpPr txBox="1"/>
          <p:nvPr/>
        </p:nvSpPr>
        <p:spPr>
          <a:xfrm>
            <a:off x="5090008" y="2606040"/>
            <a:ext cx="2011680" cy="914400"/>
          </a:xfrm>
          <a:prstGeom prst="rect">
            <a:avLst/>
          </a:prstGeom>
          <a:noFill/>
          <a:ln/>
        </p:spPr>
        <p:txBody>
          <a:bodyPr wrap="square" lIns="0" tIns="0" rIns="0" bIns="0" rtlCol="0" anchor="t"/>
          <a:lstStyle/>
          <a:p>
            <a:pPr algn="ctr" indent="0" marL="0">
              <a:buNone/>
            </a:pPr>
            <a:r>
              <a:rPr lang="en-US" sz="1400" dirty="0">
                <a:solidFill>
                  <a:schemeClr val="bg2"/>
                </a:solidFill>
              </a:rPr>
              <a:t>Fake “copyright” link steals her reused password.</a:t>
            </a:r>
            <a:endParaRPr lang="en-US" sz="1400" dirty="0"/>
          </a:p>
        </p:txBody>
      </p:sp>
      <p:sp>
        <p:nvSpPr>
          <p:cNvPr id="17" name="Text 12"/>
          <p:cNvSpPr txBox="1"/>
          <p:nvPr/>
        </p:nvSpPr>
        <p:spPr>
          <a:xfrm>
            <a:off x="7360691" y="1417320"/>
            <a:ext cx="2011680" cy="274320"/>
          </a:xfrm>
          <a:prstGeom prst="rect">
            <a:avLst/>
          </a:prstGeom>
          <a:noFill/>
          <a:ln/>
        </p:spPr>
        <p:txBody>
          <a:bodyPr wrap="square" lIns="0" tIns="0" rIns="0" bIns="0" rtlCol="0" anchor="ctr"/>
          <a:lstStyle/>
          <a:p>
            <a:pPr algn="ctr" indent="0" marL="0">
              <a:buNone/>
            </a:pPr>
            <a:r>
              <a:rPr lang="en-US" sz="1400" b="1" dirty="0">
                <a:solidFill>
                  <a:srgbClr val="F87171"/>
                </a:solidFill>
                <a:latin typeface="Consolas" pitchFamily="34" charset="0"/>
                <a:ea typeface="Consolas" pitchFamily="34" charset="-122"/>
                <a:cs typeface="Consolas" pitchFamily="34" charset="-120"/>
              </a:rPr>
              <a:t>12:35 AM</a:t>
            </a:r>
            <a:endParaRPr lang="en-US" sz="1400" dirty="0"/>
          </a:p>
        </p:txBody>
      </p:sp>
      <p:sp>
        <p:nvSpPr>
          <p:cNvPr id="18" name="event 4 circle"/>
          <p:cNvSpPr/>
          <p:nvPr/>
        </p:nvSpPr>
        <p:spPr>
          <a:xfrm>
            <a:off x="8046491" y="1828800"/>
            <a:ext cx="640080" cy="640080"/>
          </a:xfrm>
          <a:prstGeom prst="ellipse">
            <a:avLst/>
          </a:prstGeom>
          <a:solidFill>
            <a:srgbClr val="F87171"/>
          </a:solidFill>
          <a:ln/>
        </p:spPr>
      </p:sp>
      <p:pic>
        <p:nvPicPr>
          <p:cNvPr id="19" name="event 4 icon" descr="event 4">    </p:cNvPr>
          <p:cNvPicPr>
            <a:picLocks noChangeAspect="1"/>
          </p:cNvPicPr>
          <p:nvPr/>
        </p:nvPicPr>
        <p:blipFill>
          <a:blip r:embed="rId4"/>
          <a:stretch>
            <a:fillRect/>
          </a:stretch>
        </p:blipFill>
        <p:spPr>
          <a:xfrm>
            <a:off x="8200111" y="1982419"/>
            <a:ext cx="332842" cy="332842"/>
          </a:xfrm>
          <a:prstGeom prst="rect">
            <a:avLst/>
          </a:prstGeom>
        </p:spPr>
      </p:pic>
      <p:sp>
        <p:nvSpPr>
          <p:cNvPr id="20" name="Text 14"/>
          <p:cNvSpPr txBox="1"/>
          <p:nvPr/>
        </p:nvSpPr>
        <p:spPr>
          <a:xfrm>
            <a:off x="7360691" y="2606040"/>
            <a:ext cx="2011680" cy="914400"/>
          </a:xfrm>
          <a:prstGeom prst="rect">
            <a:avLst/>
          </a:prstGeom>
          <a:noFill/>
          <a:ln/>
        </p:spPr>
        <p:txBody>
          <a:bodyPr wrap="square" lIns="0" tIns="0" rIns="0" bIns="0" rtlCol="0" anchor="t"/>
          <a:lstStyle/>
          <a:p>
            <a:pPr algn="ctr" indent="0" marL="0">
              <a:buNone/>
            </a:pPr>
            <a:r>
              <a:rPr lang="en-US" sz="1400" dirty="0">
                <a:solidFill>
                  <a:schemeClr val="bg2"/>
                </a:solidFill>
              </a:rPr>
              <a:t>Password reset via Gmail; recovery details swapped.</a:t>
            </a:r>
            <a:endParaRPr lang="en-US" sz="1400" dirty="0"/>
          </a:p>
        </p:txBody>
      </p:sp>
      <p:sp>
        <p:nvSpPr>
          <p:cNvPr id="21" name="Text 15"/>
          <p:cNvSpPr txBox="1"/>
          <p:nvPr/>
        </p:nvSpPr>
        <p:spPr>
          <a:xfrm>
            <a:off x="9631375" y="1417320"/>
            <a:ext cx="2011680" cy="274320"/>
          </a:xfrm>
          <a:prstGeom prst="rect">
            <a:avLst/>
          </a:prstGeom>
          <a:noFill/>
          <a:ln/>
        </p:spPr>
        <p:txBody>
          <a:bodyPr wrap="square" lIns="0" tIns="0" rIns="0" bIns="0" rtlCol="0" anchor="ctr"/>
          <a:lstStyle/>
          <a:p>
            <a:pPr algn="ctr" indent="0" marL="0">
              <a:buNone/>
            </a:pPr>
            <a:r>
              <a:rPr lang="en-US" sz="1400" b="1" dirty="0">
                <a:solidFill>
                  <a:srgbClr val="F87171"/>
                </a:solidFill>
                <a:latin typeface="Consolas" pitchFamily="34" charset="0"/>
                <a:ea typeface="Consolas" pitchFamily="34" charset="-122"/>
                <a:cs typeface="Consolas" pitchFamily="34" charset="-120"/>
              </a:rPr>
              <a:t>01:10 AM</a:t>
            </a:r>
            <a:endParaRPr lang="en-US" sz="1400" dirty="0"/>
          </a:p>
        </p:txBody>
      </p:sp>
      <p:sp>
        <p:nvSpPr>
          <p:cNvPr id="22" name="event 5 circle"/>
          <p:cNvSpPr/>
          <p:nvPr/>
        </p:nvSpPr>
        <p:spPr>
          <a:xfrm>
            <a:off x="10317175" y="1828800"/>
            <a:ext cx="640080" cy="640080"/>
          </a:xfrm>
          <a:prstGeom prst="ellipse">
            <a:avLst/>
          </a:prstGeom>
          <a:solidFill>
            <a:srgbClr val="F87171"/>
          </a:solidFill>
          <a:ln/>
        </p:spPr>
      </p:sp>
      <p:pic>
        <p:nvPicPr>
          <p:cNvPr id="23" name="event 5 icon" descr="event 5">    </p:cNvPr>
          <p:cNvPicPr>
            <a:picLocks noChangeAspect="1"/>
          </p:cNvPicPr>
          <p:nvPr/>
        </p:nvPicPr>
        <p:blipFill>
          <a:blip r:embed="rId5"/>
          <a:stretch>
            <a:fillRect/>
          </a:stretch>
        </p:blipFill>
        <p:spPr>
          <a:xfrm>
            <a:off x="10470794" y="1982419"/>
            <a:ext cx="332842" cy="332842"/>
          </a:xfrm>
          <a:prstGeom prst="rect">
            <a:avLst/>
          </a:prstGeom>
        </p:spPr>
      </p:pic>
      <p:sp>
        <p:nvSpPr>
          <p:cNvPr id="24" name="Text 17"/>
          <p:cNvSpPr txBox="1"/>
          <p:nvPr/>
        </p:nvSpPr>
        <p:spPr>
          <a:xfrm>
            <a:off x="9631375" y="2606040"/>
            <a:ext cx="2011680" cy="914400"/>
          </a:xfrm>
          <a:prstGeom prst="rect">
            <a:avLst/>
          </a:prstGeom>
          <a:noFill/>
          <a:ln/>
        </p:spPr>
        <p:txBody>
          <a:bodyPr wrap="square" lIns="0" tIns="0" rIns="0" bIns="0" rtlCol="0" anchor="t"/>
          <a:lstStyle/>
          <a:p>
            <a:pPr algn="ctr" indent="0" marL="0">
              <a:buNone/>
            </a:pPr>
            <a:r>
              <a:rPr lang="en-US" sz="1400" dirty="0">
                <a:solidFill>
                  <a:schemeClr val="bg2"/>
                </a:solidFill>
              </a:rPr>
              <a:t>Private DMs read and used to blackmail her.</a:t>
            </a:r>
            <a:endParaRPr lang="en-US" sz="1400" dirty="0"/>
          </a:p>
        </p:txBody>
      </p:sp>
      <p:sp>
        <p:nvSpPr>
          <p:cNvPr id="25" name="Text 18"/>
          <p:cNvSpPr txBox="1"/>
          <p:nvPr/>
        </p:nvSpPr>
        <p:spPr>
          <a:xfrm>
            <a:off x="548640" y="3703320"/>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onsolas" pitchFamily="34" charset="0"/>
                <a:ea typeface="Consolas" pitchFamily="34" charset="-122"/>
                <a:cs typeface="Consolas" pitchFamily="34" charset="-120"/>
              </a:rPr>
              <a:t>SHE IS NOT ALONE  //  CYBERCRIME IN BANGLADESH</a:t>
            </a:r>
            <a:endParaRPr lang="en-US" sz="1200" dirty="0"/>
          </a:p>
        </p:txBody>
      </p:sp>
      <p:sp>
        <p:nvSpPr>
          <p:cNvPr id="26" name="stat 1"/>
          <p:cNvSpPr/>
          <p:nvPr/>
        </p:nvSpPr>
        <p:spPr>
          <a:xfrm>
            <a:off x="548640" y="4069080"/>
            <a:ext cx="2606040" cy="1783080"/>
          </a:xfrm>
          <a:prstGeom prst="roundRect">
            <a:avLst>
              <a:gd name="adj" fmla="val 4103"/>
            </a:avLst>
          </a:prstGeom>
          <a:solidFill>
            <a:srgbClr val="0E1E33">
              <a:alpha val="82000"/>
            </a:srgbClr>
          </a:solidFill>
          <a:ln w="12700">
            <a:solidFill>
              <a:srgbClr val="1F3A5A"/>
            </a:solidFill>
            <a:prstDash val="solid"/>
          </a:ln>
        </p:spPr>
      </p:sp>
      <p:sp>
        <p:nvSpPr>
          <p:cNvPr id="27" name="Text 20"/>
          <p:cNvSpPr txBox="1"/>
          <p:nvPr/>
        </p:nvSpPr>
        <p:spPr>
          <a:xfrm>
            <a:off x="777240" y="4206240"/>
            <a:ext cx="2148840" cy="685800"/>
          </a:xfrm>
          <a:prstGeom prst="rect">
            <a:avLst/>
          </a:prstGeom>
          <a:noFill/>
          <a:ln/>
        </p:spPr>
        <p:txBody>
          <a:bodyPr wrap="square" lIns="0" tIns="0" rIns="0" bIns="0" rtlCol="0" anchor="ctr"/>
          <a:lstStyle/>
          <a:p>
            <a:pPr indent="0" marL="0">
              <a:buNone/>
            </a:pPr>
            <a:r>
              <a:rPr lang="en-US" sz="3800" b="1" dirty="0">
                <a:solidFill>
                  <a:srgbClr val="F87171"/>
                </a:solidFill>
              </a:rPr>
              <a:t>21.65%</a:t>
            </a:r>
            <a:endParaRPr lang="en-US" sz="3800" dirty="0"/>
          </a:p>
        </p:txBody>
      </p:sp>
      <p:sp>
        <p:nvSpPr>
          <p:cNvPr id="28" name="Text 21"/>
          <p:cNvSpPr txBox="1"/>
          <p:nvPr/>
        </p:nvSpPr>
        <p:spPr>
          <a:xfrm>
            <a:off x="777240" y="4937760"/>
            <a:ext cx="2148840" cy="777240"/>
          </a:xfrm>
          <a:prstGeom prst="rect">
            <a:avLst/>
          </a:prstGeom>
          <a:noFill/>
          <a:ln/>
        </p:spPr>
        <p:txBody>
          <a:bodyPr wrap="square" lIns="0" tIns="0" rIns="0" bIns="0" rtlCol="0" anchor="t"/>
          <a:lstStyle/>
          <a:p>
            <a:pPr indent="0" marL="0">
              <a:buNone/>
            </a:pPr>
            <a:r>
              <a:rPr lang="en-US" sz="1400" dirty="0">
                <a:solidFill>
                  <a:schemeClr val="bg2"/>
                </a:solidFill>
              </a:rPr>
              <a:t>of victims: account hacking, the #1 cybercrime</a:t>
            </a:r>
            <a:endParaRPr lang="en-US" sz="1400" dirty="0"/>
          </a:p>
        </p:txBody>
      </p:sp>
      <p:sp>
        <p:nvSpPr>
          <p:cNvPr id="29" name="stat 2"/>
          <p:cNvSpPr/>
          <p:nvPr/>
        </p:nvSpPr>
        <p:spPr>
          <a:xfrm>
            <a:off x="3378098" y="4069080"/>
            <a:ext cx="2606040" cy="1783080"/>
          </a:xfrm>
          <a:prstGeom prst="roundRect">
            <a:avLst>
              <a:gd name="adj" fmla="val 4103"/>
            </a:avLst>
          </a:prstGeom>
          <a:solidFill>
            <a:srgbClr val="0E1E33">
              <a:alpha val="82000"/>
            </a:srgbClr>
          </a:solidFill>
          <a:ln w="12700">
            <a:solidFill>
              <a:srgbClr val="1F3A5A"/>
            </a:solidFill>
            <a:prstDash val="solid"/>
          </a:ln>
        </p:spPr>
      </p:sp>
      <p:sp>
        <p:nvSpPr>
          <p:cNvPr id="30" name="Text 23"/>
          <p:cNvSpPr txBox="1"/>
          <p:nvPr/>
        </p:nvSpPr>
        <p:spPr>
          <a:xfrm>
            <a:off x="3606698" y="4206240"/>
            <a:ext cx="2148840" cy="685800"/>
          </a:xfrm>
          <a:prstGeom prst="rect">
            <a:avLst/>
          </a:prstGeom>
          <a:noFill/>
          <a:ln/>
        </p:spPr>
        <p:txBody>
          <a:bodyPr wrap="square" lIns="0" tIns="0" rIns="0" bIns="0" rtlCol="0" anchor="ctr"/>
          <a:lstStyle/>
          <a:p>
            <a:pPr indent="0" marL="0">
              <a:buNone/>
            </a:pPr>
            <a:r>
              <a:rPr lang="en-US" sz="3800" b="1" dirty="0">
                <a:solidFill>
                  <a:srgbClr val="A78BFA"/>
                </a:solidFill>
              </a:rPr>
              <a:t>≈59%</a:t>
            </a:r>
            <a:endParaRPr lang="en-US" sz="3800" dirty="0"/>
          </a:p>
        </p:txBody>
      </p:sp>
      <p:sp>
        <p:nvSpPr>
          <p:cNvPr id="31" name="Text 24"/>
          <p:cNvSpPr txBox="1"/>
          <p:nvPr/>
        </p:nvSpPr>
        <p:spPr>
          <a:xfrm>
            <a:off x="3606698" y="4937760"/>
            <a:ext cx="2148840" cy="777240"/>
          </a:xfrm>
          <a:prstGeom prst="rect">
            <a:avLst/>
          </a:prstGeom>
          <a:noFill/>
          <a:ln/>
        </p:spPr>
        <p:txBody>
          <a:bodyPr wrap="square" lIns="0" tIns="0" rIns="0" bIns="0" rtlCol="0" anchor="t"/>
          <a:lstStyle/>
          <a:p>
            <a:pPr indent="0" marL="0">
              <a:buNone/>
            </a:pPr>
            <a:r>
              <a:rPr lang="en-US" sz="1400" dirty="0">
                <a:solidFill>
                  <a:schemeClr val="bg2"/>
                </a:solidFill>
              </a:rPr>
              <a:t>of cybercrime victims are women</a:t>
            </a:r>
            <a:endParaRPr lang="en-US" sz="1400" dirty="0"/>
          </a:p>
        </p:txBody>
      </p:sp>
      <p:sp>
        <p:nvSpPr>
          <p:cNvPr id="32" name="stat 3"/>
          <p:cNvSpPr/>
          <p:nvPr/>
        </p:nvSpPr>
        <p:spPr>
          <a:xfrm>
            <a:off x="6207557" y="4069080"/>
            <a:ext cx="2606040" cy="1783080"/>
          </a:xfrm>
          <a:prstGeom prst="roundRect">
            <a:avLst>
              <a:gd name="adj" fmla="val 4103"/>
            </a:avLst>
          </a:prstGeom>
          <a:solidFill>
            <a:srgbClr val="0E1E33">
              <a:alpha val="82000"/>
            </a:srgbClr>
          </a:solidFill>
          <a:ln w="12700">
            <a:solidFill>
              <a:srgbClr val="1F3A5A"/>
            </a:solidFill>
            <a:prstDash val="solid"/>
          </a:ln>
        </p:spPr>
      </p:sp>
      <p:sp>
        <p:nvSpPr>
          <p:cNvPr id="33" name="Text 26"/>
          <p:cNvSpPr txBox="1"/>
          <p:nvPr/>
        </p:nvSpPr>
        <p:spPr>
          <a:xfrm>
            <a:off x="6436157" y="4206240"/>
            <a:ext cx="2148840" cy="685800"/>
          </a:xfrm>
          <a:prstGeom prst="rect">
            <a:avLst/>
          </a:prstGeom>
          <a:noFill/>
          <a:ln/>
        </p:spPr>
        <p:txBody>
          <a:bodyPr wrap="square" lIns="0" tIns="0" rIns="0" bIns="0" rtlCol="0" anchor="ctr"/>
          <a:lstStyle/>
          <a:p>
            <a:pPr indent="0" marL="0">
              <a:buNone/>
            </a:pPr>
            <a:r>
              <a:rPr lang="en-US" sz="3800" b="1" dirty="0">
                <a:solidFill>
                  <a:srgbClr val="60A5FA"/>
                </a:solidFill>
              </a:rPr>
              <a:t>78.78%</a:t>
            </a:r>
            <a:endParaRPr lang="en-US" sz="3800" dirty="0"/>
          </a:p>
        </p:txBody>
      </p:sp>
      <p:sp>
        <p:nvSpPr>
          <p:cNvPr id="34" name="Text 27"/>
          <p:cNvSpPr txBox="1"/>
          <p:nvPr/>
        </p:nvSpPr>
        <p:spPr>
          <a:xfrm>
            <a:off x="6436157" y="4937760"/>
            <a:ext cx="2148840" cy="777240"/>
          </a:xfrm>
          <a:prstGeom prst="rect">
            <a:avLst/>
          </a:prstGeom>
          <a:noFill/>
          <a:ln/>
        </p:spPr>
        <p:txBody>
          <a:bodyPr wrap="square" lIns="0" tIns="0" rIns="0" bIns="0" rtlCol="0" anchor="t"/>
          <a:lstStyle/>
          <a:p>
            <a:pPr indent="0" marL="0">
              <a:buNone/>
            </a:pPr>
            <a:r>
              <a:rPr lang="en-US" sz="1400" dirty="0">
                <a:solidFill>
                  <a:schemeClr val="bg2"/>
                </a:solidFill>
              </a:rPr>
              <a:t>of victims are aged 18–30, like us</a:t>
            </a:r>
            <a:endParaRPr lang="en-US" sz="1400" dirty="0"/>
          </a:p>
        </p:txBody>
      </p:sp>
      <p:sp>
        <p:nvSpPr>
          <p:cNvPr id="35" name="stat 4"/>
          <p:cNvSpPr/>
          <p:nvPr/>
        </p:nvSpPr>
        <p:spPr>
          <a:xfrm>
            <a:off x="9037015" y="4069080"/>
            <a:ext cx="2606040" cy="1783080"/>
          </a:xfrm>
          <a:prstGeom prst="roundRect">
            <a:avLst>
              <a:gd name="adj" fmla="val 4103"/>
            </a:avLst>
          </a:prstGeom>
          <a:solidFill>
            <a:srgbClr val="0E1E33">
              <a:alpha val="82000"/>
            </a:srgbClr>
          </a:solidFill>
          <a:ln w="12700">
            <a:solidFill>
              <a:srgbClr val="1F3A5A"/>
            </a:solidFill>
            <a:prstDash val="solid"/>
          </a:ln>
        </p:spPr>
      </p:sp>
      <p:sp>
        <p:nvSpPr>
          <p:cNvPr id="36" name="Text 29"/>
          <p:cNvSpPr txBox="1"/>
          <p:nvPr/>
        </p:nvSpPr>
        <p:spPr>
          <a:xfrm>
            <a:off x="9265615" y="4206240"/>
            <a:ext cx="2148840" cy="685800"/>
          </a:xfrm>
          <a:prstGeom prst="rect">
            <a:avLst/>
          </a:prstGeom>
          <a:noFill/>
          <a:ln/>
        </p:spPr>
        <p:txBody>
          <a:bodyPr wrap="square" lIns="0" tIns="0" rIns="0" bIns="0" rtlCol="0" anchor="ctr"/>
          <a:lstStyle/>
          <a:p>
            <a:pPr indent="0" marL="0">
              <a:buNone/>
            </a:pPr>
            <a:r>
              <a:rPr lang="en-US" sz="3800" b="1" dirty="0">
                <a:solidFill>
                  <a:srgbClr val="FBBF24"/>
                </a:solidFill>
              </a:rPr>
              <a:t>12%</a:t>
            </a:r>
            <a:endParaRPr lang="en-US" sz="3800" dirty="0"/>
          </a:p>
        </p:txBody>
      </p:sp>
      <p:sp>
        <p:nvSpPr>
          <p:cNvPr id="37" name="Text 30"/>
          <p:cNvSpPr txBox="1"/>
          <p:nvPr/>
        </p:nvSpPr>
        <p:spPr>
          <a:xfrm>
            <a:off x="9265615" y="4937760"/>
            <a:ext cx="2148840" cy="777240"/>
          </a:xfrm>
          <a:prstGeom prst="rect">
            <a:avLst/>
          </a:prstGeom>
          <a:noFill/>
          <a:ln/>
        </p:spPr>
        <p:txBody>
          <a:bodyPr wrap="square" lIns="0" tIns="0" rIns="0" bIns="0" rtlCol="0" anchor="t"/>
          <a:lstStyle/>
          <a:p>
            <a:pPr indent="0" marL="0">
              <a:buNone/>
            </a:pPr>
            <a:r>
              <a:rPr lang="en-US" sz="1400" dirty="0">
                <a:solidFill>
                  <a:schemeClr val="bg2"/>
                </a:solidFill>
              </a:rPr>
              <a:t>of victims ever report it to police</a:t>
            </a:r>
            <a:endParaRPr lang="en-US" sz="1400" dirty="0"/>
          </a:p>
        </p:txBody>
      </p:sp>
      <p:sp>
        <p:nvSpPr>
          <p:cNvPr id="38" name="Text 31"/>
          <p:cNvSpPr txBox="1"/>
          <p:nvPr/>
        </p:nvSpPr>
        <p:spPr>
          <a:xfrm>
            <a:off x="548640" y="6035040"/>
            <a:ext cx="11094415" cy="228600"/>
          </a:xfrm>
          <a:prstGeom prst="rect">
            <a:avLst/>
          </a:prstGeom>
          <a:noFill/>
          <a:ln/>
        </p:spPr>
        <p:txBody>
          <a:bodyPr wrap="square" lIns="0" tIns="0" rIns="0" bIns="0" rtlCol="0" anchor="ctr"/>
          <a:lstStyle/>
          <a:p>
            <a:pPr indent="0" marL="0">
              <a:buNone/>
            </a:pPr>
            <a:r>
              <a:rPr lang="en-US" sz="1000" i="1" dirty="0">
                <a:solidFill>
                  <a:srgbClr val="6B829C"/>
                </a:solidFill>
              </a:rPr>
              <a:t>Sources: Cyber Crime Awareness Foundation (2024), Cybercrime Trends in Bangladesh, reported by Dhaka Tribune. Timeline is illustrative.</a:t>
            </a:r>
            <a:endParaRPr lang="en-US" sz="10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829C"/>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watermark" descr="preencoded.png">    </p:cNvPr>
          <p:cNvPicPr>
            <a:picLocks noChangeAspect="1"/>
          </p:cNvPicPr>
          <p:nvPr/>
        </p:nvPicPr>
        <p:blipFill>
          <a:blip r:embed="rId1"/>
          <a:stretch>
            <a:fillRect/>
          </a:stretch>
        </p:blipFill>
        <p:spPr>
          <a:xfrm>
            <a:off x="8778240" y="2377440"/>
            <a:ext cx="4023360" cy="4023360"/>
          </a:xfrm>
          <a:prstGeom prst="rect">
            <a:avLst/>
          </a:prstGeom>
        </p:spPr>
      </p:pic>
      <p:sp>
        <p:nvSpPr>
          <p:cNvPr id="3" name="section tag"/>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onsolas" pitchFamily="34" charset="0"/>
                <a:ea typeface="Consolas" pitchFamily="34" charset="-122"/>
                <a:cs typeface="Consolas" pitchFamily="34" charset="-120"/>
              </a:rPr>
              <a:t>// 02  THE INVESTIGATION</a:t>
            </a:r>
            <a:endParaRPr lang="en-US" sz="1200" dirty="0"/>
          </a:p>
        </p:txBody>
      </p:sp>
      <p:sp>
        <p:nvSpPr>
          <p:cNvPr id="4" name="Text 0"/>
          <p:cNvSpPr/>
          <p:nvPr>
            <p:ph idx="100"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bg1"/>
                </a:solidFill>
              </a:rPr>
              <a:t>We retraced the attacker’s path and tested every lock</a:t>
            </a:r>
            <a:endParaRPr lang="en-US" sz="2800" dirty="0"/>
          </a:p>
        </p:txBody>
      </p:sp>
      <p:sp>
        <p:nvSpPr>
          <p:cNvPr id="5" name="door 1"/>
          <p:cNvSpPr/>
          <p:nvPr/>
        </p:nvSpPr>
        <p:spPr>
          <a:xfrm>
            <a:off x="548640" y="1417320"/>
            <a:ext cx="2011680" cy="1417320"/>
          </a:xfrm>
          <a:prstGeom prst="roundRect">
            <a:avLst>
              <a:gd name="adj" fmla="val 5161"/>
            </a:avLst>
          </a:prstGeom>
          <a:solidFill>
            <a:srgbClr val="0E1E33">
              <a:alpha val="82000"/>
            </a:srgbClr>
          </a:solidFill>
          <a:ln w="12700">
            <a:solidFill>
              <a:srgbClr val="F87171"/>
            </a:solidFill>
            <a:prstDash val="solid"/>
          </a:ln>
        </p:spPr>
      </p:sp>
      <p:sp>
        <p:nvSpPr>
          <p:cNvPr id="6" name="WhatsApp circle"/>
          <p:cNvSpPr/>
          <p:nvPr/>
        </p:nvSpPr>
        <p:spPr>
          <a:xfrm>
            <a:off x="731520" y="1618488"/>
            <a:ext cx="548640" cy="548640"/>
          </a:xfrm>
          <a:prstGeom prst="ellipse">
            <a:avLst/>
          </a:prstGeom>
          <a:solidFill>
            <a:srgbClr val="F87171"/>
          </a:solidFill>
          <a:ln/>
        </p:spPr>
      </p:sp>
      <p:pic>
        <p:nvPicPr>
          <p:cNvPr id="7" name="WhatsApp icon" descr="WhatsApp">    </p:cNvPr>
          <p:cNvPicPr>
            <a:picLocks noChangeAspect="1"/>
          </p:cNvPicPr>
          <p:nvPr/>
        </p:nvPicPr>
        <p:blipFill>
          <a:blip r:embed="rId2"/>
          <a:stretch>
            <a:fillRect/>
          </a:stretch>
        </p:blipFill>
        <p:spPr>
          <a:xfrm>
            <a:off x="863194" y="1750162"/>
            <a:ext cx="285293" cy="285293"/>
          </a:xfrm>
          <a:prstGeom prst="rect">
            <a:avLst/>
          </a:prstGeom>
        </p:spPr>
      </p:pic>
      <p:sp>
        <p:nvSpPr>
          <p:cNvPr id="8" name="Text 4"/>
          <p:cNvSpPr txBox="1"/>
          <p:nvPr/>
        </p:nvSpPr>
        <p:spPr>
          <a:xfrm>
            <a:off x="1371600" y="1581912"/>
            <a:ext cx="1097280" cy="640080"/>
          </a:xfrm>
          <a:prstGeom prst="rect">
            <a:avLst/>
          </a:prstGeom>
          <a:noFill/>
          <a:ln/>
        </p:spPr>
        <p:txBody>
          <a:bodyPr wrap="square" lIns="0" tIns="0" rIns="0" bIns="0" rtlCol="0" anchor="ctr"/>
          <a:lstStyle/>
          <a:p>
            <a:pPr indent="0" marL="0">
              <a:buNone/>
            </a:pPr>
            <a:r>
              <a:rPr lang="en-US" sz="1000" dirty="0">
                <a:solidFill>
                  <a:srgbClr val="6B829C"/>
                </a:solidFill>
                <a:latin typeface="Consolas" pitchFamily="34" charset="0"/>
                <a:ea typeface="Consolas" pitchFamily="34" charset="-122"/>
                <a:cs typeface="Consolas" pitchFamily="34" charset="-120"/>
              </a:rPr>
              <a:t>DOOR 1</a:t>
            </a:r>
            <a:endParaRPr lang="en-US" sz="1000" dirty="0"/>
          </a:p>
          <a:p>
            <a:pPr indent="0" marL="0">
              <a:buNone/>
            </a:pPr>
            <a:r>
              <a:rPr lang="en-US" sz="1600" b="1" dirty="0">
                <a:solidFill>
                  <a:schemeClr val="bg1"/>
                </a:solidFill>
              </a:rPr>
              <a:t>WhatsApp</a:t>
            </a:r>
            <a:endParaRPr lang="en-US" sz="1000" dirty="0"/>
          </a:p>
        </p:txBody>
      </p:sp>
      <p:sp>
        <p:nvSpPr>
          <p:cNvPr id="9" name="Text 5"/>
          <p:cNvSpPr txBox="1"/>
          <p:nvPr/>
        </p:nvSpPr>
        <p:spPr>
          <a:xfrm>
            <a:off x="731520" y="2286000"/>
            <a:ext cx="1645920" cy="457200"/>
          </a:xfrm>
          <a:prstGeom prst="rect">
            <a:avLst/>
          </a:prstGeom>
          <a:noFill/>
          <a:ln/>
        </p:spPr>
        <p:txBody>
          <a:bodyPr wrap="square" lIns="0" tIns="0" rIns="0" bIns="0" rtlCol="0" anchor="ctr"/>
          <a:lstStyle/>
          <a:p>
            <a:pPr indent="0" marL="0">
              <a:buNone/>
            </a:pPr>
            <a:r>
              <a:rPr lang="en-US" sz="1100" b="1" dirty="0">
                <a:solidFill>
                  <a:srgbClr val="9FB3C8"/>
                </a:solidFill>
                <a:latin typeface="Consolas" pitchFamily="34" charset="0"/>
                <a:ea typeface="Consolas" pitchFamily="34" charset="-122"/>
                <a:cs typeface="Consolas" pitchFamily="34" charset="-120"/>
              </a:rPr>
              <a:t>11:49 PM</a:t>
            </a:r>
            <a:endParaRPr lang="en-US" sz="1100" dirty="0"/>
          </a:p>
          <a:p>
            <a:pPr indent="0" marL="0">
              <a:buNone/>
            </a:pPr>
            <a:r>
              <a:rPr lang="en-US" sz="1100" b="1" dirty="0">
                <a:solidFill>
                  <a:srgbClr val="F87171"/>
                </a:solidFill>
                <a:latin typeface="Consolas" pitchFamily="34" charset="0"/>
                <a:ea typeface="Consolas" pitchFamily="34" charset="-122"/>
                <a:cs typeface="Consolas" pitchFamily="34" charset="-120"/>
              </a:rPr>
              <a:t>BREACHED</a:t>
            </a:r>
            <a:endParaRPr lang="en-US" sz="1100" dirty="0"/>
          </a:p>
        </p:txBody>
      </p:sp>
      <p:sp>
        <p:nvSpPr>
          <p:cNvPr id="10" name="door 2"/>
          <p:cNvSpPr/>
          <p:nvPr/>
        </p:nvSpPr>
        <p:spPr>
          <a:xfrm>
            <a:off x="2819324" y="1417320"/>
            <a:ext cx="2011680" cy="1417320"/>
          </a:xfrm>
          <a:prstGeom prst="roundRect">
            <a:avLst>
              <a:gd name="adj" fmla="val 5161"/>
            </a:avLst>
          </a:prstGeom>
          <a:solidFill>
            <a:srgbClr val="0E1E33">
              <a:alpha val="82000"/>
            </a:srgbClr>
          </a:solidFill>
          <a:ln w="12700">
            <a:solidFill>
              <a:srgbClr val="F87171"/>
            </a:solidFill>
            <a:prstDash val="solid"/>
          </a:ln>
        </p:spPr>
      </p:sp>
      <p:sp>
        <p:nvSpPr>
          <p:cNvPr id="11" name="Gmail circle"/>
          <p:cNvSpPr/>
          <p:nvPr/>
        </p:nvSpPr>
        <p:spPr>
          <a:xfrm>
            <a:off x="3002204" y="1618488"/>
            <a:ext cx="548640" cy="548640"/>
          </a:xfrm>
          <a:prstGeom prst="ellipse">
            <a:avLst/>
          </a:prstGeom>
          <a:solidFill>
            <a:srgbClr val="F87171"/>
          </a:solidFill>
          <a:ln/>
        </p:spPr>
      </p:sp>
      <p:pic>
        <p:nvPicPr>
          <p:cNvPr id="12" name="Gmail icon" descr="Gmail">    </p:cNvPr>
          <p:cNvPicPr>
            <a:picLocks noChangeAspect="1"/>
          </p:cNvPicPr>
          <p:nvPr/>
        </p:nvPicPr>
        <p:blipFill>
          <a:blip r:embed="rId3"/>
          <a:stretch>
            <a:fillRect/>
          </a:stretch>
        </p:blipFill>
        <p:spPr>
          <a:xfrm>
            <a:off x="3133877" y="1750162"/>
            <a:ext cx="285293" cy="285293"/>
          </a:xfrm>
          <a:prstGeom prst="rect">
            <a:avLst/>
          </a:prstGeom>
        </p:spPr>
      </p:pic>
      <p:sp>
        <p:nvSpPr>
          <p:cNvPr id="13" name="Text 8"/>
          <p:cNvSpPr txBox="1"/>
          <p:nvPr/>
        </p:nvSpPr>
        <p:spPr>
          <a:xfrm>
            <a:off x="3642284" y="1581912"/>
            <a:ext cx="1097280" cy="640080"/>
          </a:xfrm>
          <a:prstGeom prst="rect">
            <a:avLst/>
          </a:prstGeom>
          <a:noFill/>
          <a:ln/>
        </p:spPr>
        <p:txBody>
          <a:bodyPr wrap="square" lIns="0" tIns="0" rIns="0" bIns="0" rtlCol="0" anchor="ctr"/>
          <a:lstStyle/>
          <a:p>
            <a:pPr indent="0" marL="0">
              <a:buNone/>
            </a:pPr>
            <a:r>
              <a:rPr lang="en-US" sz="1000" dirty="0">
                <a:solidFill>
                  <a:srgbClr val="6B829C"/>
                </a:solidFill>
                <a:latin typeface="Consolas" pitchFamily="34" charset="0"/>
                <a:ea typeface="Consolas" pitchFamily="34" charset="-122"/>
                <a:cs typeface="Consolas" pitchFamily="34" charset="-120"/>
              </a:rPr>
              <a:t>DOOR 2</a:t>
            </a:r>
            <a:endParaRPr lang="en-US" sz="1000" dirty="0"/>
          </a:p>
          <a:p>
            <a:pPr indent="0" marL="0">
              <a:buNone/>
            </a:pPr>
            <a:r>
              <a:rPr lang="en-US" sz="1600" b="1" dirty="0">
                <a:solidFill>
                  <a:schemeClr val="bg1"/>
                </a:solidFill>
              </a:rPr>
              <a:t>Gmail</a:t>
            </a:r>
            <a:endParaRPr lang="en-US" sz="1000" dirty="0"/>
          </a:p>
        </p:txBody>
      </p:sp>
      <p:sp>
        <p:nvSpPr>
          <p:cNvPr id="14" name="Text 9"/>
          <p:cNvSpPr txBox="1"/>
          <p:nvPr/>
        </p:nvSpPr>
        <p:spPr>
          <a:xfrm>
            <a:off x="3002204" y="2286000"/>
            <a:ext cx="1645920" cy="457200"/>
          </a:xfrm>
          <a:prstGeom prst="rect">
            <a:avLst/>
          </a:prstGeom>
          <a:noFill/>
          <a:ln/>
        </p:spPr>
        <p:txBody>
          <a:bodyPr wrap="square" lIns="0" tIns="0" rIns="0" bIns="0" rtlCol="0" anchor="ctr"/>
          <a:lstStyle/>
          <a:p>
            <a:pPr indent="0" marL="0">
              <a:buNone/>
            </a:pPr>
            <a:r>
              <a:rPr lang="en-US" sz="1100" b="1" dirty="0">
                <a:solidFill>
                  <a:srgbClr val="9FB3C8"/>
                </a:solidFill>
                <a:latin typeface="Consolas" pitchFamily="34" charset="0"/>
                <a:ea typeface="Consolas" pitchFamily="34" charset="-122"/>
                <a:cs typeface="Consolas" pitchFamily="34" charset="-120"/>
              </a:rPr>
              <a:t>12:20 AM</a:t>
            </a:r>
            <a:endParaRPr lang="en-US" sz="1100" dirty="0"/>
          </a:p>
          <a:p>
            <a:pPr indent="0" marL="0">
              <a:buNone/>
            </a:pPr>
            <a:r>
              <a:rPr lang="en-US" sz="1100" b="1" dirty="0">
                <a:solidFill>
                  <a:srgbClr val="F87171"/>
                </a:solidFill>
                <a:latin typeface="Consolas" pitchFamily="34" charset="0"/>
                <a:ea typeface="Consolas" pitchFamily="34" charset="-122"/>
                <a:cs typeface="Consolas" pitchFamily="34" charset="-120"/>
              </a:rPr>
              <a:t>BREACHED</a:t>
            </a:r>
            <a:endParaRPr lang="en-US" sz="1100" dirty="0"/>
          </a:p>
        </p:txBody>
      </p:sp>
      <p:sp>
        <p:nvSpPr>
          <p:cNvPr id="15" name="door 3"/>
          <p:cNvSpPr/>
          <p:nvPr/>
        </p:nvSpPr>
        <p:spPr>
          <a:xfrm>
            <a:off x="5090008" y="1417320"/>
            <a:ext cx="2011680" cy="1417320"/>
          </a:xfrm>
          <a:prstGeom prst="roundRect">
            <a:avLst>
              <a:gd name="adj" fmla="val 5161"/>
            </a:avLst>
          </a:prstGeom>
          <a:solidFill>
            <a:srgbClr val="0E1E33">
              <a:alpha val="82000"/>
            </a:srgbClr>
          </a:solidFill>
          <a:ln w="12700">
            <a:solidFill>
              <a:srgbClr val="F87171"/>
            </a:solidFill>
            <a:prstDash val="solid"/>
          </a:ln>
        </p:spPr>
      </p:sp>
      <p:sp>
        <p:nvSpPr>
          <p:cNvPr id="16" name="Facebook circle"/>
          <p:cNvSpPr/>
          <p:nvPr/>
        </p:nvSpPr>
        <p:spPr>
          <a:xfrm>
            <a:off x="5272888" y="1618488"/>
            <a:ext cx="548640" cy="548640"/>
          </a:xfrm>
          <a:prstGeom prst="ellipse">
            <a:avLst/>
          </a:prstGeom>
          <a:solidFill>
            <a:srgbClr val="F87171"/>
          </a:solidFill>
          <a:ln/>
        </p:spPr>
      </p:sp>
      <p:pic>
        <p:nvPicPr>
          <p:cNvPr id="17" name="Facebook icon" descr="Facebook">    </p:cNvPr>
          <p:cNvPicPr>
            <a:picLocks noChangeAspect="1"/>
          </p:cNvPicPr>
          <p:nvPr/>
        </p:nvPicPr>
        <p:blipFill>
          <a:blip r:embed="rId4"/>
          <a:stretch>
            <a:fillRect/>
          </a:stretch>
        </p:blipFill>
        <p:spPr>
          <a:xfrm>
            <a:off x="5404561" y="1750162"/>
            <a:ext cx="285293" cy="285293"/>
          </a:xfrm>
          <a:prstGeom prst="rect">
            <a:avLst/>
          </a:prstGeom>
        </p:spPr>
      </p:pic>
      <p:sp>
        <p:nvSpPr>
          <p:cNvPr id="18" name="Text 12"/>
          <p:cNvSpPr txBox="1"/>
          <p:nvPr/>
        </p:nvSpPr>
        <p:spPr>
          <a:xfrm>
            <a:off x="5912968" y="1581912"/>
            <a:ext cx="1097280" cy="640080"/>
          </a:xfrm>
          <a:prstGeom prst="rect">
            <a:avLst/>
          </a:prstGeom>
          <a:noFill/>
          <a:ln/>
        </p:spPr>
        <p:txBody>
          <a:bodyPr wrap="square" lIns="0" tIns="0" rIns="0" bIns="0" rtlCol="0" anchor="ctr"/>
          <a:lstStyle/>
          <a:p>
            <a:pPr indent="0" marL="0">
              <a:buNone/>
            </a:pPr>
            <a:r>
              <a:rPr lang="en-US" sz="1000" dirty="0">
                <a:solidFill>
                  <a:srgbClr val="6B829C"/>
                </a:solidFill>
                <a:latin typeface="Consolas" pitchFamily="34" charset="0"/>
                <a:ea typeface="Consolas" pitchFamily="34" charset="-122"/>
                <a:cs typeface="Consolas" pitchFamily="34" charset="-120"/>
              </a:rPr>
              <a:t>DOOR 3</a:t>
            </a:r>
            <a:endParaRPr lang="en-US" sz="1000" dirty="0"/>
          </a:p>
          <a:p>
            <a:pPr indent="0" marL="0">
              <a:buNone/>
            </a:pPr>
            <a:r>
              <a:rPr lang="en-US" sz="1600" b="1" dirty="0">
                <a:solidFill>
                  <a:schemeClr val="bg1"/>
                </a:solidFill>
              </a:rPr>
              <a:t>Facebook</a:t>
            </a:r>
            <a:endParaRPr lang="en-US" sz="1000" dirty="0"/>
          </a:p>
        </p:txBody>
      </p:sp>
      <p:sp>
        <p:nvSpPr>
          <p:cNvPr id="19" name="Text 13"/>
          <p:cNvSpPr txBox="1"/>
          <p:nvPr/>
        </p:nvSpPr>
        <p:spPr>
          <a:xfrm>
            <a:off x="5272888" y="2286000"/>
            <a:ext cx="1645920" cy="457200"/>
          </a:xfrm>
          <a:prstGeom prst="rect">
            <a:avLst/>
          </a:prstGeom>
          <a:noFill/>
          <a:ln/>
        </p:spPr>
        <p:txBody>
          <a:bodyPr wrap="square" lIns="0" tIns="0" rIns="0" bIns="0" rtlCol="0" anchor="ctr"/>
          <a:lstStyle/>
          <a:p>
            <a:pPr indent="0" marL="0">
              <a:buNone/>
            </a:pPr>
            <a:r>
              <a:rPr lang="en-US" sz="1100" b="1" dirty="0">
                <a:solidFill>
                  <a:srgbClr val="9FB3C8"/>
                </a:solidFill>
                <a:latin typeface="Consolas" pitchFamily="34" charset="0"/>
                <a:ea typeface="Consolas" pitchFamily="34" charset="-122"/>
                <a:cs typeface="Consolas" pitchFamily="34" charset="-120"/>
              </a:rPr>
              <a:t>12:35 AM</a:t>
            </a:r>
            <a:endParaRPr lang="en-US" sz="1100" dirty="0"/>
          </a:p>
          <a:p>
            <a:pPr indent="0" marL="0">
              <a:buNone/>
            </a:pPr>
            <a:r>
              <a:rPr lang="en-US" sz="1100" b="1" dirty="0">
                <a:solidFill>
                  <a:srgbClr val="F87171"/>
                </a:solidFill>
                <a:latin typeface="Consolas" pitchFamily="34" charset="0"/>
                <a:ea typeface="Consolas" pitchFamily="34" charset="-122"/>
                <a:cs typeface="Consolas" pitchFamily="34" charset="-120"/>
              </a:rPr>
              <a:t>BREACHED</a:t>
            </a:r>
            <a:endParaRPr lang="en-US" sz="1100" dirty="0"/>
          </a:p>
        </p:txBody>
      </p:sp>
      <p:sp>
        <p:nvSpPr>
          <p:cNvPr id="20" name="door 4"/>
          <p:cNvSpPr/>
          <p:nvPr/>
        </p:nvSpPr>
        <p:spPr>
          <a:xfrm>
            <a:off x="7360691" y="1417320"/>
            <a:ext cx="2011680" cy="1417320"/>
          </a:xfrm>
          <a:prstGeom prst="roundRect">
            <a:avLst>
              <a:gd name="adj" fmla="val 5161"/>
            </a:avLst>
          </a:prstGeom>
          <a:solidFill>
            <a:srgbClr val="0E1E33">
              <a:alpha val="82000"/>
            </a:srgbClr>
          </a:solidFill>
          <a:ln w="12700">
            <a:solidFill>
              <a:srgbClr val="F87171"/>
            </a:solidFill>
            <a:prstDash val="solid"/>
          </a:ln>
        </p:spPr>
      </p:sp>
      <p:sp>
        <p:nvSpPr>
          <p:cNvPr id="21" name="Instagram circle"/>
          <p:cNvSpPr/>
          <p:nvPr/>
        </p:nvSpPr>
        <p:spPr>
          <a:xfrm>
            <a:off x="7543571" y="1618488"/>
            <a:ext cx="548640" cy="548640"/>
          </a:xfrm>
          <a:prstGeom prst="ellipse">
            <a:avLst/>
          </a:prstGeom>
          <a:solidFill>
            <a:srgbClr val="F87171"/>
          </a:solidFill>
          <a:ln/>
        </p:spPr>
      </p:sp>
      <p:pic>
        <p:nvPicPr>
          <p:cNvPr id="22" name="Instagram icon" descr="Instagram">    </p:cNvPr>
          <p:cNvPicPr>
            <a:picLocks noChangeAspect="1"/>
          </p:cNvPicPr>
          <p:nvPr/>
        </p:nvPicPr>
        <p:blipFill>
          <a:blip r:embed="rId5"/>
          <a:stretch>
            <a:fillRect/>
          </a:stretch>
        </p:blipFill>
        <p:spPr>
          <a:xfrm>
            <a:off x="7675245" y="1750162"/>
            <a:ext cx="285293" cy="285293"/>
          </a:xfrm>
          <a:prstGeom prst="rect">
            <a:avLst/>
          </a:prstGeom>
        </p:spPr>
      </p:pic>
      <p:sp>
        <p:nvSpPr>
          <p:cNvPr id="23" name="Text 16"/>
          <p:cNvSpPr txBox="1"/>
          <p:nvPr/>
        </p:nvSpPr>
        <p:spPr>
          <a:xfrm>
            <a:off x="8183651" y="1581912"/>
            <a:ext cx="1097280" cy="640080"/>
          </a:xfrm>
          <a:prstGeom prst="rect">
            <a:avLst/>
          </a:prstGeom>
          <a:noFill/>
          <a:ln/>
        </p:spPr>
        <p:txBody>
          <a:bodyPr wrap="square" lIns="0" tIns="0" rIns="0" bIns="0" rtlCol="0" anchor="ctr"/>
          <a:lstStyle/>
          <a:p>
            <a:pPr indent="0" marL="0">
              <a:buNone/>
            </a:pPr>
            <a:r>
              <a:rPr lang="en-US" sz="1000" dirty="0">
                <a:solidFill>
                  <a:srgbClr val="6B829C"/>
                </a:solidFill>
                <a:latin typeface="Consolas" pitchFamily="34" charset="0"/>
                <a:ea typeface="Consolas" pitchFamily="34" charset="-122"/>
                <a:cs typeface="Consolas" pitchFamily="34" charset="-120"/>
              </a:rPr>
              <a:t>DOOR 4</a:t>
            </a:r>
            <a:endParaRPr lang="en-US" sz="1000" dirty="0"/>
          </a:p>
          <a:p>
            <a:pPr indent="0" marL="0">
              <a:buNone/>
            </a:pPr>
            <a:r>
              <a:rPr lang="en-US" sz="1600" b="1" dirty="0">
                <a:solidFill>
                  <a:schemeClr val="bg1"/>
                </a:solidFill>
              </a:rPr>
              <a:t>Instagram</a:t>
            </a:r>
            <a:endParaRPr lang="en-US" sz="1000" dirty="0"/>
          </a:p>
        </p:txBody>
      </p:sp>
      <p:sp>
        <p:nvSpPr>
          <p:cNvPr id="24" name="Text 17"/>
          <p:cNvSpPr txBox="1"/>
          <p:nvPr/>
        </p:nvSpPr>
        <p:spPr>
          <a:xfrm>
            <a:off x="7543571" y="2286000"/>
            <a:ext cx="1645920" cy="457200"/>
          </a:xfrm>
          <a:prstGeom prst="rect">
            <a:avLst/>
          </a:prstGeom>
          <a:noFill/>
          <a:ln/>
        </p:spPr>
        <p:txBody>
          <a:bodyPr wrap="square" lIns="0" tIns="0" rIns="0" bIns="0" rtlCol="0" anchor="ctr"/>
          <a:lstStyle/>
          <a:p>
            <a:pPr indent="0" marL="0">
              <a:buNone/>
            </a:pPr>
            <a:r>
              <a:rPr lang="en-US" sz="1100" b="1" dirty="0">
                <a:solidFill>
                  <a:srgbClr val="9FB3C8"/>
                </a:solidFill>
                <a:latin typeface="Consolas" pitchFamily="34" charset="0"/>
                <a:ea typeface="Consolas" pitchFamily="34" charset="-122"/>
                <a:cs typeface="Consolas" pitchFamily="34" charset="-120"/>
              </a:rPr>
              <a:t>01:10 AM</a:t>
            </a:r>
            <a:endParaRPr lang="en-US" sz="1100" dirty="0"/>
          </a:p>
          <a:p>
            <a:pPr indent="0" marL="0">
              <a:buNone/>
            </a:pPr>
            <a:r>
              <a:rPr lang="en-US" sz="1100" b="1" dirty="0">
                <a:solidFill>
                  <a:srgbClr val="F87171"/>
                </a:solidFill>
                <a:latin typeface="Consolas" pitchFamily="34" charset="0"/>
                <a:ea typeface="Consolas" pitchFamily="34" charset="-122"/>
                <a:cs typeface="Consolas" pitchFamily="34" charset="-120"/>
              </a:rPr>
              <a:t>BREACHED</a:t>
            </a:r>
            <a:endParaRPr lang="en-US" sz="1100" dirty="0"/>
          </a:p>
        </p:txBody>
      </p:sp>
      <p:sp>
        <p:nvSpPr>
          <p:cNvPr id="25" name="door 5"/>
          <p:cNvSpPr/>
          <p:nvPr/>
        </p:nvSpPr>
        <p:spPr>
          <a:xfrm>
            <a:off x="9631375" y="1417320"/>
            <a:ext cx="2011680" cy="1417320"/>
          </a:xfrm>
          <a:prstGeom prst="roundRect">
            <a:avLst>
              <a:gd name="adj" fmla="val 5161"/>
            </a:avLst>
          </a:prstGeom>
          <a:solidFill>
            <a:srgbClr val="0E1E33">
              <a:alpha val="82000"/>
            </a:srgbClr>
          </a:solidFill>
          <a:ln w="12700">
            <a:solidFill>
              <a:srgbClr val="FBBF24"/>
            </a:solidFill>
            <a:prstDash val="solid"/>
          </a:ln>
        </p:spPr>
      </p:sp>
      <p:sp>
        <p:nvSpPr>
          <p:cNvPr id="26" name="Telegram circle"/>
          <p:cNvSpPr/>
          <p:nvPr/>
        </p:nvSpPr>
        <p:spPr>
          <a:xfrm>
            <a:off x="9814255" y="1618488"/>
            <a:ext cx="548640" cy="548640"/>
          </a:xfrm>
          <a:prstGeom prst="ellipse">
            <a:avLst/>
          </a:prstGeom>
          <a:solidFill>
            <a:srgbClr val="FBBF24"/>
          </a:solidFill>
          <a:ln/>
        </p:spPr>
      </p:sp>
      <p:pic>
        <p:nvPicPr>
          <p:cNvPr id="27" name="Telegram icon" descr="Telegram">    </p:cNvPr>
          <p:cNvPicPr>
            <a:picLocks noChangeAspect="1"/>
          </p:cNvPicPr>
          <p:nvPr/>
        </p:nvPicPr>
        <p:blipFill>
          <a:blip r:embed="rId6"/>
          <a:stretch>
            <a:fillRect/>
          </a:stretch>
        </p:blipFill>
        <p:spPr>
          <a:xfrm>
            <a:off x="9945929" y="1750162"/>
            <a:ext cx="285293" cy="285293"/>
          </a:xfrm>
          <a:prstGeom prst="rect">
            <a:avLst/>
          </a:prstGeom>
        </p:spPr>
      </p:pic>
      <p:sp>
        <p:nvSpPr>
          <p:cNvPr id="28" name="Text 20"/>
          <p:cNvSpPr txBox="1"/>
          <p:nvPr/>
        </p:nvSpPr>
        <p:spPr>
          <a:xfrm>
            <a:off x="10454335" y="1581912"/>
            <a:ext cx="1097280" cy="640080"/>
          </a:xfrm>
          <a:prstGeom prst="rect">
            <a:avLst/>
          </a:prstGeom>
          <a:noFill/>
          <a:ln/>
        </p:spPr>
        <p:txBody>
          <a:bodyPr wrap="square" lIns="0" tIns="0" rIns="0" bIns="0" rtlCol="0" anchor="ctr"/>
          <a:lstStyle/>
          <a:p>
            <a:pPr indent="0" marL="0">
              <a:buNone/>
            </a:pPr>
            <a:r>
              <a:rPr lang="en-US" sz="1000" dirty="0">
                <a:solidFill>
                  <a:srgbClr val="6B829C"/>
                </a:solidFill>
                <a:latin typeface="Consolas" pitchFamily="34" charset="0"/>
                <a:ea typeface="Consolas" pitchFamily="34" charset="-122"/>
                <a:cs typeface="Consolas" pitchFamily="34" charset="-120"/>
              </a:rPr>
              <a:t>DOOR 5</a:t>
            </a:r>
            <a:endParaRPr lang="en-US" sz="1000" dirty="0"/>
          </a:p>
          <a:p>
            <a:pPr indent="0" marL="0">
              <a:buNone/>
            </a:pPr>
            <a:r>
              <a:rPr lang="en-US" sz="1600" b="1" dirty="0">
                <a:solidFill>
                  <a:schemeClr val="bg1"/>
                </a:solidFill>
              </a:rPr>
              <a:t>Telegram</a:t>
            </a:r>
            <a:endParaRPr lang="en-US" sz="1000" dirty="0"/>
          </a:p>
        </p:txBody>
      </p:sp>
      <p:sp>
        <p:nvSpPr>
          <p:cNvPr id="29" name="Text 21"/>
          <p:cNvSpPr txBox="1"/>
          <p:nvPr/>
        </p:nvSpPr>
        <p:spPr>
          <a:xfrm>
            <a:off x="9814255" y="2286000"/>
            <a:ext cx="1645920" cy="457200"/>
          </a:xfrm>
          <a:prstGeom prst="rect">
            <a:avLst/>
          </a:prstGeom>
          <a:noFill/>
          <a:ln/>
        </p:spPr>
        <p:txBody>
          <a:bodyPr wrap="square" lIns="0" tIns="0" rIns="0" bIns="0" rtlCol="0" anchor="ctr"/>
          <a:lstStyle/>
          <a:p>
            <a:pPr indent="0" marL="0">
              <a:buNone/>
            </a:pPr>
            <a:r>
              <a:rPr lang="en-US" sz="1100" b="1" dirty="0">
                <a:solidFill>
                  <a:srgbClr val="9FB3C8"/>
                </a:solidFill>
                <a:latin typeface="Consolas" pitchFamily="34" charset="0"/>
                <a:ea typeface="Consolas" pitchFamily="34" charset="-122"/>
                <a:cs typeface="Consolas" pitchFamily="34" charset="-120"/>
              </a:rPr>
              <a:t>MEANWHILE</a:t>
            </a:r>
            <a:endParaRPr lang="en-US" sz="1100" dirty="0"/>
          </a:p>
          <a:p>
            <a:pPr indent="0" marL="0">
              <a:buNone/>
            </a:pPr>
            <a:r>
              <a:rPr lang="en-US" sz="1100" b="1" dirty="0">
                <a:solidFill>
                  <a:srgbClr val="FBBF24"/>
                </a:solidFill>
                <a:latin typeface="Consolas" pitchFamily="34" charset="0"/>
                <a:ea typeface="Consolas" pitchFamily="34" charset="-122"/>
                <a:cs typeface="Consolas" pitchFamily="34" charset="-120"/>
              </a:rPr>
              <a:t>AT RISK</a:t>
            </a:r>
            <a:endParaRPr lang="en-US" sz="1100" dirty="0"/>
          </a:p>
        </p:txBody>
      </p:sp>
      <p:sp>
        <p:nvSpPr>
          <p:cNvPr id="30" name="Text 22"/>
          <p:cNvSpPr txBox="1"/>
          <p:nvPr/>
        </p:nvSpPr>
        <p:spPr>
          <a:xfrm>
            <a:off x="548640" y="3063240"/>
            <a:ext cx="11094415" cy="274320"/>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onsolas" pitchFamily="34" charset="0"/>
                <a:ea typeface="Consolas" pitchFamily="34" charset="-122"/>
                <a:cs typeface="Consolas" pitchFamily="34" charset="-120"/>
              </a:rPr>
              <a:t>THE FIVE LOCK TESTS  //  EACH SCORED 1 (WEAK) TO 5 (STRONG), MAXIMUM 25</a:t>
            </a:r>
            <a:endParaRPr lang="en-US" sz="1200" dirty="0"/>
          </a:p>
        </p:txBody>
      </p:sp>
      <p:sp>
        <p:nvSpPr>
          <p:cNvPr id="31" name="test 1"/>
          <p:cNvSpPr/>
          <p:nvPr/>
        </p:nvSpPr>
        <p:spPr>
          <a:xfrm>
            <a:off x="548640" y="3474720"/>
            <a:ext cx="2011680" cy="2286000"/>
          </a:xfrm>
          <a:prstGeom prst="roundRect">
            <a:avLst>
              <a:gd name="adj" fmla="val 3636"/>
            </a:avLst>
          </a:prstGeom>
          <a:solidFill>
            <a:srgbClr val="0E1E33">
              <a:alpha val="82000"/>
            </a:srgbClr>
          </a:solidFill>
          <a:ln w="12700">
            <a:solidFill>
              <a:srgbClr val="1F3A5A"/>
            </a:solidFill>
            <a:prstDash val="solid"/>
          </a:ln>
        </p:spPr>
      </p:sp>
      <p:sp>
        <p:nvSpPr>
          <p:cNvPr id="32" name="Login protection circle"/>
          <p:cNvSpPr/>
          <p:nvPr/>
        </p:nvSpPr>
        <p:spPr>
          <a:xfrm>
            <a:off x="731520" y="3675888"/>
            <a:ext cx="548640" cy="548640"/>
          </a:xfrm>
          <a:prstGeom prst="ellipse">
            <a:avLst/>
          </a:prstGeom>
          <a:solidFill>
            <a:schemeClr val="accent1"/>
          </a:solidFill>
          <a:ln/>
        </p:spPr>
      </p:sp>
      <p:pic>
        <p:nvPicPr>
          <p:cNvPr id="33" name="Login protection icon" descr="Login protection">    </p:cNvPr>
          <p:cNvPicPr>
            <a:picLocks noChangeAspect="1"/>
          </p:cNvPicPr>
          <p:nvPr/>
        </p:nvPicPr>
        <p:blipFill>
          <a:blip r:embed="rId7"/>
          <a:stretch>
            <a:fillRect/>
          </a:stretch>
        </p:blipFill>
        <p:spPr>
          <a:xfrm>
            <a:off x="863194" y="3807562"/>
            <a:ext cx="285293" cy="285293"/>
          </a:xfrm>
          <a:prstGeom prst="rect">
            <a:avLst/>
          </a:prstGeom>
        </p:spPr>
      </p:pic>
      <p:sp>
        <p:nvSpPr>
          <p:cNvPr id="34" name="Text 25"/>
          <p:cNvSpPr txBox="1"/>
          <p:nvPr/>
        </p:nvSpPr>
        <p:spPr>
          <a:xfrm>
            <a:off x="731520" y="4343400"/>
            <a:ext cx="1645920" cy="594360"/>
          </a:xfrm>
          <a:prstGeom prst="rect">
            <a:avLst/>
          </a:prstGeom>
          <a:noFill/>
          <a:ln/>
        </p:spPr>
        <p:txBody>
          <a:bodyPr wrap="square" lIns="0" tIns="0" rIns="0" bIns="0" rtlCol="0" anchor="t"/>
          <a:lstStyle/>
          <a:p>
            <a:pPr indent="0" marL="0">
              <a:buNone/>
            </a:pPr>
            <a:r>
              <a:rPr lang="en-US" sz="1600" b="1" dirty="0">
                <a:solidFill>
                  <a:schemeClr val="bg1"/>
                </a:solidFill>
              </a:rPr>
              <a:t>Login protection</a:t>
            </a:r>
            <a:endParaRPr lang="en-US" sz="1600" dirty="0"/>
          </a:p>
        </p:txBody>
      </p:sp>
      <p:sp>
        <p:nvSpPr>
          <p:cNvPr id="35" name="Text 26"/>
          <p:cNvSpPr txBox="1"/>
          <p:nvPr/>
        </p:nvSpPr>
        <p:spPr>
          <a:xfrm>
            <a:off x="731520" y="4937760"/>
            <a:ext cx="1645920" cy="731520"/>
          </a:xfrm>
          <a:prstGeom prst="rect">
            <a:avLst/>
          </a:prstGeom>
          <a:noFill/>
          <a:ln/>
        </p:spPr>
        <p:txBody>
          <a:bodyPr wrap="square" lIns="0" tIns="0" rIns="0" bIns="0" rtlCol="0" anchor="t"/>
          <a:lstStyle/>
          <a:p>
            <a:pPr indent="0" marL="0">
              <a:buNone/>
            </a:pPr>
            <a:r>
              <a:rPr lang="en-US" sz="1400" dirty="0">
                <a:solidFill>
                  <a:srgbClr val="9FB3C8"/>
                </a:solidFill>
              </a:rPr>
              <a:t>Can a stolen password alone get in?</a:t>
            </a:r>
            <a:endParaRPr lang="en-US" sz="1400" dirty="0"/>
          </a:p>
        </p:txBody>
      </p:sp>
      <p:sp>
        <p:nvSpPr>
          <p:cNvPr id="36" name="test 2"/>
          <p:cNvSpPr/>
          <p:nvPr/>
        </p:nvSpPr>
        <p:spPr>
          <a:xfrm>
            <a:off x="2819324" y="3474720"/>
            <a:ext cx="2011680" cy="2286000"/>
          </a:xfrm>
          <a:prstGeom prst="roundRect">
            <a:avLst>
              <a:gd name="adj" fmla="val 3636"/>
            </a:avLst>
          </a:prstGeom>
          <a:solidFill>
            <a:srgbClr val="0E1E33">
              <a:alpha val="82000"/>
            </a:srgbClr>
          </a:solidFill>
          <a:ln w="12700">
            <a:solidFill>
              <a:srgbClr val="1F3A5A"/>
            </a:solidFill>
            <a:prstDash val="solid"/>
          </a:ln>
        </p:spPr>
      </p:sp>
      <p:sp>
        <p:nvSpPr>
          <p:cNvPr id="37" name="Encryption by default circle"/>
          <p:cNvSpPr/>
          <p:nvPr/>
        </p:nvSpPr>
        <p:spPr>
          <a:xfrm>
            <a:off x="3002204" y="3675888"/>
            <a:ext cx="548640" cy="548640"/>
          </a:xfrm>
          <a:prstGeom prst="ellipse">
            <a:avLst/>
          </a:prstGeom>
          <a:solidFill>
            <a:schemeClr val="accent1"/>
          </a:solidFill>
          <a:ln/>
        </p:spPr>
      </p:sp>
      <p:pic>
        <p:nvPicPr>
          <p:cNvPr id="38" name="Encryption by default icon" descr="Encryption by default">    </p:cNvPr>
          <p:cNvPicPr>
            <a:picLocks noChangeAspect="1"/>
          </p:cNvPicPr>
          <p:nvPr/>
        </p:nvPicPr>
        <p:blipFill>
          <a:blip r:embed="rId8"/>
          <a:stretch>
            <a:fillRect/>
          </a:stretch>
        </p:blipFill>
        <p:spPr>
          <a:xfrm>
            <a:off x="3133877" y="3807562"/>
            <a:ext cx="285293" cy="285293"/>
          </a:xfrm>
          <a:prstGeom prst="rect">
            <a:avLst/>
          </a:prstGeom>
        </p:spPr>
      </p:pic>
      <p:sp>
        <p:nvSpPr>
          <p:cNvPr id="39" name="Text 29"/>
          <p:cNvSpPr txBox="1"/>
          <p:nvPr/>
        </p:nvSpPr>
        <p:spPr>
          <a:xfrm>
            <a:off x="3002204" y="4343400"/>
            <a:ext cx="1645920" cy="594360"/>
          </a:xfrm>
          <a:prstGeom prst="rect">
            <a:avLst/>
          </a:prstGeom>
          <a:noFill/>
          <a:ln/>
        </p:spPr>
        <p:txBody>
          <a:bodyPr wrap="square" lIns="0" tIns="0" rIns="0" bIns="0" rtlCol="0" anchor="t"/>
          <a:lstStyle/>
          <a:p>
            <a:pPr indent="0" marL="0">
              <a:buNone/>
            </a:pPr>
            <a:r>
              <a:rPr lang="en-US" sz="1600" b="1" dirty="0">
                <a:solidFill>
                  <a:schemeClr val="bg1"/>
                </a:solidFill>
              </a:rPr>
              <a:t>Encryption by default</a:t>
            </a:r>
            <a:endParaRPr lang="en-US" sz="1600" dirty="0"/>
          </a:p>
        </p:txBody>
      </p:sp>
      <p:sp>
        <p:nvSpPr>
          <p:cNvPr id="40" name="Text 30"/>
          <p:cNvSpPr txBox="1"/>
          <p:nvPr/>
        </p:nvSpPr>
        <p:spPr>
          <a:xfrm>
            <a:off x="3002204" y="4937760"/>
            <a:ext cx="1645920" cy="731520"/>
          </a:xfrm>
          <a:prstGeom prst="rect">
            <a:avLst/>
          </a:prstGeom>
          <a:noFill/>
          <a:ln/>
        </p:spPr>
        <p:txBody>
          <a:bodyPr wrap="square" lIns="0" tIns="0" rIns="0" bIns="0" rtlCol="0" anchor="t"/>
          <a:lstStyle/>
          <a:p>
            <a:pPr indent="0" marL="0">
              <a:buNone/>
            </a:pPr>
            <a:r>
              <a:rPr lang="en-US" sz="1400" dirty="0">
                <a:solidFill>
                  <a:srgbClr val="9FB3C8"/>
                </a:solidFill>
              </a:rPr>
              <a:t>Can the company read my messages?</a:t>
            </a:r>
            <a:endParaRPr lang="en-US" sz="1400" dirty="0"/>
          </a:p>
        </p:txBody>
      </p:sp>
      <p:sp>
        <p:nvSpPr>
          <p:cNvPr id="41" name="test 3"/>
          <p:cNvSpPr/>
          <p:nvPr/>
        </p:nvSpPr>
        <p:spPr>
          <a:xfrm>
            <a:off x="5090008" y="3474720"/>
            <a:ext cx="2011680" cy="2286000"/>
          </a:xfrm>
          <a:prstGeom prst="roundRect">
            <a:avLst>
              <a:gd name="adj" fmla="val 3636"/>
            </a:avLst>
          </a:prstGeom>
          <a:solidFill>
            <a:srgbClr val="0E1E33">
              <a:alpha val="82000"/>
            </a:srgbClr>
          </a:solidFill>
          <a:ln w="12700">
            <a:solidFill>
              <a:srgbClr val="1F3A5A"/>
            </a:solidFill>
            <a:prstDash val="solid"/>
          </a:ln>
        </p:spPr>
      </p:sp>
      <p:sp>
        <p:nvSpPr>
          <p:cNvPr id="42" name="Threat alerts circle"/>
          <p:cNvSpPr/>
          <p:nvPr/>
        </p:nvSpPr>
        <p:spPr>
          <a:xfrm>
            <a:off x="5272888" y="3675888"/>
            <a:ext cx="548640" cy="548640"/>
          </a:xfrm>
          <a:prstGeom prst="ellipse">
            <a:avLst/>
          </a:prstGeom>
          <a:solidFill>
            <a:schemeClr val="accent1"/>
          </a:solidFill>
          <a:ln/>
        </p:spPr>
      </p:sp>
      <p:pic>
        <p:nvPicPr>
          <p:cNvPr id="43" name="Threat alerts icon" descr="Threat alerts">    </p:cNvPr>
          <p:cNvPicPr>
            <a:picLocks noChangeAspect="1"/>
          </p:cNvPicPr>
          <p:nvPr/>
        </p:nvPicPr>
        <p:blipFill>
          <a:blip r:embed="rId9"/>
          <a:stretch>
            <a:fillRect/>
          </a:stretch>
        </p:blipFill>
        <p:spPr>
          <a:xfrm>
            <a:off x="5404561" y="3807562"/>
            <a:ext cx="285293" cy="285293"/>
          </a:xfrm>
          <a:prstGeom prst="rect">
            <a:avLst/>
          </a:prstGeom>
        </p:spPr>
      </p:pic>
      <p:sp>
        <p:nvSpPr>
          <p:cNvPr id="44" name="Text 33"/>
          <p:cNvSpPr txBox="1"/>
          <p:nvPr/>
        </p:nvSpPr>
        <p:spPr>
          <a:xfrm>
            <a:off x="5272888" y="4343400"/>
            <a:ext cx="1645920" cy="594360"/>
          </a:xfrm>
          <a:prstGeom prst="rect">
            <a:avLst/>
          </a:prstGeom>
          <a:noFill/>
          <a:ln/>
        </p:spPr>
        <p:txBody>
          <a:bodyPr wrap="square" lIns="0" tIns="0" rIns="0" bIns="0" rtlCol="0" anchor="t"/>
          <a:lstStyle/>
          <a:p>
            <a:pPr indent="0" marL="0">
              <a:buNone/>
            </a:pPr>
            <a:r>
              <a:rPr lang="en-US" sz="1600" b="1" dirty="0">
                <a:solidFill>
                  <a:schemeClr val="bg1"/>
                </a:solidFill>
              </a:rPr>
              <a:t>Threat alerts</a:t>
            </a:r>
            <a:endParaRPr lang="en-US" sz="1600" dirty="0"/>
          </a:p>
        </p:txBody>
      </p:sp>
      <p:sp>
        <p:nvSpPr>
          <p:cNvPr id="45" name="Text 34"/>
          <p:cNvSpPr txBox="1"/>
          <p:nvPr/>
        </p:nvSpPr>
        <p:spPr>
          <a:xfrm>
            <a:off x="5272888" y="4937760"/>
            <a:ext cx="1645920" cy="731520"/>
          </a:xfrm>
          <a:prstGeom prst="rect">
            <a:avLst/>
          </a:prstGeom>
          <a:noFill/>
          <a:ln/>
        </p:spPr>
        <p:txBody>
          <a:bodyPr wrap="square" lIns="0" tIns="0" rIns="0" bIns="0" rtlCol="0" anchor="t"/>
          <a:lstStyle/>
          <a:p>
            <a:pPr indent="0" marL="0">
              <a:buNone/>
            </a:pPr>
            <a:r>
              <a:rPr lang="en-US" sz="1400" dirty="0">
                <a:solidFill>
                  <a:srgbClr val="9FB3C8"/>
                </a:solidFill>
              </a:rPr>
              <a:t>Will it warn me of an attack?</a:t>
            </a:r>
            <a:endParaRPr lang="en-US" sz="1400" dirty="0"/>
          </a:p>
        </p:txBody>
      </p:sp>
      <p:sp>
        <p:nvSpPr>
          <p:cNvPr id="46" name="test 4"/>
          <p:cNvSpPr/>
          <p:nvPr/>
        </p:nvSpPr>
        <p:spPr>
          <a:xfrm>
            <a:off x="7360691" y="3474720"/>
            <a:ext cx="2011680" cy="2286000"/>
          </a:xfrm>
          <a:prstGeom prst="roundRect">
            <a:avLst>
              <a:gd name="adj" fmla="val 3636"/>
            </a:avLst>
          </a:prstGeom>
          <a:solidFill>
            <a:srgbClr val="0E1E33">
              <a:alpha val="82000"/>
            </a:srgbClr>
          </a:solidFill>
          <a:ln w="12700">
            <a:solidFill>
              <a:srgbClr val="1F3A5A"/>
            </a:solidFill>
            <a:prstDash val="solid"/>
          </a:ln>
        </p:spPr>
      </p:sp>
      <p:sp>
        <p:nvSpPr>
          <p:cNvPr id="47" name="Recovery safety circle"/>
          <p:cNvSpPr/>
          <p:nvPr/>
        </p:nvSpPr>
        <p:spPr>
          <a:xfrm>
            <a:off x="7543571" y="3675888"/>
            <a:ext cx="548640" cy="548640"/>
          </a:xfrm>
          <a:prstGeom prst="ellipse">
            <a:avLst/>
          </a:prstGeom>
          <a:solidFill>
            <a:schemeClr val="accent1"/>
          </a:solidFill>
          <a:ln/>
        </p:spPr>
      </p:sp>
      <p:pic>
        <p:nvPicPr>
          <p:cNvPr id="48" name="Recovery safety icon" descr="Recovery safety">    </p:cNvPr>
          <p:cNvPicPr>
            <a:picLocks noChangeAspect="1"/>
          </p:cNvPicPr>
          <p:nvPr/>
        </p:nvPicPr>
        <p:blipFill>
          <a:blip r:embed="rId10"/>
          <a:stretch>
            <a:fillRect/>
          </a:stretch>
        </p:blipFill>
        <p:spPr>
          <a:xfrm>
            <a:off x="7675245" y="3807562"/>
            <a:ext cx="285293" cy="285293"/>
          </a:xfrm>
          <a:prstGeom prst="rect">
            <a:avLst/>
          </a:prstGeom>
        </p:spPr>
      </p:pic>
      <p:sp>
        <p:nvSpPr>
          <p:cNvPr id="49" name="Text 37"/>
          <p:cNvSpPr txBox="1"/>
          <p:nvPr/>
        </p:nvSpPr>
        <p:spPr>
          <a:xfrm>
            <a:off x="7543571" y="4343400"/>
            <a:ext cx="1645920" cy="594360"/>
          </a:xfrm>
          <a:prstGeom prst="rect">
            <a:avLst/>
          </a:prstGeom>
          <a:noFill/>
          <a:ln/>
        </p:spPr>
        <p:txBody>
          <a:bodyPr wrap="square" lIns="0" tIns="0" rIns="0" bIns="0" rtlCol="0" anchor="t"/>
          <a:lstStyle/>
          <a:p>
            <a:pPr indent="0" marL="0">
              <a:buNone/>
            </a:pPr>
            <a:r>
              <a:rPr lang="en-US" sz="1600" b="1" dirty="0">
                <a:solidFill>
                  <a:schemeClr val="bg1"/>
                </a:solidFill>
              </a:rPr>
              <a:t>Recovery safety</a:t>
            </a:r>
            <a:endParaRPr lang="en-US" sz="1600" dirty="0"/>
          </a:p>
        </p:txBody>
      </p:sp>
      <p:sp>
        <p:nvSpPr>
          <p:cNvPr id="50" name="Text 38"/>
          <p:cNvSpPr txBox="1"/>
          <p:nvPr/>
        </p:nvSpPr>
        <p:spPr>
          <a:xfrm>
            <a:off x="7543571" y="4937760"/>
            <a:ext cx="1645920" cy="731520"/>
          </a:xfrm>
          <a:prstGeom prst="rect">
            <a:avLst/>
          </a:prstGeom>
          <a:noFill/>
          <a:ln/>
        </p:spPr>
        <p:txBody>
          <a:bodyPr wrap="square" lIns="0" tIns="0" rIns="0" bIns="0" rtlCol="0" anchor="t"/>
          <a:lstStyle/>
          <a:p>
            <a:pPr indent="0" marL="0">
              <a:buNone/>
            </a:pPr>
            <a:r>
              <a:rPr lang="en-US" sz="1400" dirty="0">
                <a:solidFill>
                  <a:srgbClr val="9FB3C8"/>
                </a:solidFill>
              </a:rPr>
              <a:t>Can a hacker lock me out for good?</a:t>
            </a:r>
            <a:endParaRPr lang="en-US" sz="1400" dirty="0"/>
          </a:p>
        </p:txBody>
      </p:sp>
      <p:sp>
        <p:nvSpPr>
          <p:cNvPr id="51" name="test 5"/>
          <p:cNvSpPr/>
          <p:nvPr/>
        </p:nvSpPr>
        <p:spPr>
          <a:xfrm>
            <a:off x="9631375" y="3474720"/>
            <a:ext cx="2011680" cy="2286000"/>
          </a:xfrm>
          <a:prstGeom prst="roundRect">
            <a:avLst>
              <a:gd name="adj" fmla="val 3636"/>
            </a:avLst>
          </a:prstGeom>
          <a:solidFill>
            <a:srgbClr val="0E1E33">
              <a:alpha val="82000"/>
            </a:srgbClr>
          </a:solidFill>
          <a:ln w="12700">
            <a:solidFill>
              <a:srgbClr val="1F3A5A"/>
            </a:solidFill>
            <a:prstDash val="solid"/>
          </a:ln>
        </p:spPr>
      </p:sp>
      <p:sp>
        <p:nvSpPr>
          <p:cNvPr id="52" name="Privacy controls circle"/>
          <p:cNvSpPr/>
          <p:nvPr/>
        </p:nvSpPr>
        <p:spPr>
          <a:xfrm>
            <a:off x="9814255" y="3675888"/>
            <a:ext cx="548640" cy="548640"/>
          </a:xfrm>
          <a:prstGeom prst="ellipse">
            <a:avLst/>
          </a:prstGeom>
          <a:solidFill>
            <a:schemeClr val="accent1"/>
          </a:solidFill>
          <a:ln/>
        </p:spPr>
      </p:sp>
      <p:pic>
        <p:nvPicPr>
          <p:cNvPr id="53" name="Privacy controls icon" descr="Privacy controls">    </p:cNvPr>
          <p:cNvPicPr>
            <a:picLocks noChangeAspect="1"/>
          </p:cNvPicPr>
          <p:nvPr/>
        </p:nvPicPr>
        <p:blipFill>
          <a:blip r:embed="rId11"/>
          <a:stretch>
            <a:fillRect/>
          </a:stretch>
        </p:blipFill>
        <p:spPr>
          <a:xfrm>
            <a:off x="9945929" y="3807562"/>
            <a:ext cx="285293" cy="285293"/>
          </a:xfrm>
          <a:prstGeom prst="rect">
            <a:avLst/>
          </a:prstGeom>
        </p:spPr>
      </p:pic>
      <p:sp>
        <p:nvSpPr>
          <p:cNvPr id="54" name="Text 41"/>
          <p:cNvSpPr txBox="1"/>
          <p:nvPr/>
        </p:nvSpPr>
        <p:spPr>
          <a:xfrm>
            <a:off x="9814255" y="4343400"/>
            <a:ext cx="1645920" cy="594360"/>
          </a:xfrm>
          <a:prstGeom prst="rect">
            <a:avLst/>
          </a:prstGeom>
          <a:noFill/>
          <a:ln/>
        </p:spPr>
        <p:txBody>
          <a:bodyPr wrap="square" lIns="0" tIns="0" rIns="0" bIns="0" rtlCol="0" anchor="t"/>
          <a:lstStyle/>
          <a:p>
            <a:pPr indent="0" marL="0">
              <a:buNone/>
            </a:pPr>
            <a:r>
              <a:rPr lang="en-US" sz="1600" b="1" dirty="0">
                <a:solidFill>
                  <a:schemeClr val="bg1"/>
                </a:solidFill>
              </a:rPr>
              <a:t>Privacy controls</a:t>
            </a:r>
            <a:endParaRPr lang="en-US" sz="1600" dirty="0"/>
          </a:p>
        </p:txBody>
      </p:sp>
      <p:sp>
        <p:nvSpPr>
          <p:cNvPr id="55" name="Text 42"/>
          <p:cNvSpPr txBox="1"/>
          <p:nvPr/>
        </p:nvSpPr>
        <p:spPr>
          <a:xfrm>
            <a:off x="9814255" y="4937760"/>
            <a:ext cx="1645920" cy="731520"/>
          </a:xfrm>
          <a:prstGeom prst="rect">
            <a:avLst/>
          </a:prstGeom>
          <a:noFill/>
          <a:ln/>
        </p:spPr>
        <p:txBody>
          <a:bodyPr wrap="square" lIns="0" tIns="0" rIns="0" bIns="0" rtlCol="0" anchor="t"/>
          <a:lstStyle/>
          <a:p>
            <a:pPr indent="0" marL="0">
              <a:buNone/>
            </a:pPr>
            <a:r>
              <a:rPr lang="en-US" sz="1400" dirty="0">
                <a:solidFill>
                  <a:srgbClr val="9FB3C8"/>
                </a:solidFill>
              </a:rPr>
              <a:t>Can strangers find and reach me?</a:t>
            </a:r>
            <a:endParaRPr lang="en-US" sz="14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829C"/>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watermark" descr="preencoded.png">    </p:cNvPr>
          <p:cNvPicPr>
            <a:picLocks noChangeAspect="1"/>
          </p:cNvPicPr>
          <p:nvPr/>
        </p:nvPicPr>
        <p:blipFill>
          <a:blip r:embed="rId1"/>
          <a:stretch>
            <a:fillRect/>
          </a:stretch>
        </p:blipFill>
        <p:spPr>
          <a:xfrm>
            <a:off x="1737360" y="2377440"/>
            <a:ext cx="3840480" cy="3840480"/>
          </a:xfrm>
          <a:prstGeom prst="rect">
            <a:avLst/>
          </a:prstGeom>
        </p:spPr>
      </p:pic>
      <p:sp>
        <p:nvSpPr>
          <p:cNvPr id="3" name="section tag"/>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onsolas" pitchFamily="34" charset="0"/>
                <a:ea typeface="Consolas" pitchFamily="34" charset="-122"/>
                <a:cs typeface="Consolas" pitchFamily="34" charset="-120"/>
              </a:rPr>
              <a:t>// 03  DOOR 1/5 : WHATSAPP  ·  11:49 PM</a:t>
            </a:r>
            <a:endParaRPr lang="en-US" sz="1200" dirty="0"/>
          </a:p>
        </p:txBody>
      </p:sp>
      <p:sp>
        <p:nvSpPr>
          <p:cNvPr id="4" name="Text 0"/>
          <p:cNvSpPr/>
          <p:nvPr>
            <p:ph idx="100"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bg1"/>
                </a:solidFill>
              </a:rPr>
              <a:t>WhatsApp: the strongest lock, opened from the inside</a:t>
            </a:r>
            <a:endParaRPr lang="en-US" sz="2800" dirty="0"/>
          </a:p>
        </p:txBody>
      </p:sp>
      <p:sp>
        <p:nvSpPr>
          <p:cNvPr id="5" name="story banner"/>
          <p:cNvSpPr/>
          <p:nvPr/>
        </p:nvSpPr>
        <p:spPr>
          <a:xfrm>
            <a:off x="548640" y="1417320"/>
            <a:ext cx="11094415" cy="1005840"/>
          </a:xfrm>
          <a:prstGeom prst="roundRect">
            <a:avLst>
              <a:gd name="adj" fmla="val 7273"/>
            </a:avLst>
          </a:prstGeom>
          <a:solidFill>
            <a:srgbClr val="F87171">
              <a:alpha val="12000"/>
            </a:srgbClr>
          </a:solidFill>
          <a:ln w="12700">
            <a:solidFill>
              <a:srgbClr val="F87171"/>
            </a:solidFill>
            <a:prstDash val="solid"/>
          </a:ln>
        </p:spPr>
      </p:sp>
      <p:sp>
        <p:nvSpPr>
          <p:cNvPr id="6" name="Text 3"/>
          <p:cNvSpPr txBox="1"/>
          <p:nvPr/>
        </p:nvSpPr>
        <p:spPr>
          <a:xfrm>
            <a:off x="822960" y="1417320"/>
            <a:ext cx="1508760" cy="1005840"/>
          </a:xfrm>
          <a:prstGeom prst="rect">
            <a:avLst/>
          </a:prstGeom>
          <a:noFill/>
          <a:ln/>
        </p:spPr>
        <p:txBody>
          <a:bodyPr wrap="square" lIns="0" tIns="0" rIns="0" bIns="0" rtlCol="0" anchor="ctr"/>
          <a:lstStyle/>
          <a:p>
            <a:pPr indent="0" marL="0">
              <a:buNone/>
            </a:pPr>
            <a:r>
              <a:rPr lang="en-US" sz="2000" b="1" dirty="0">
                <a:solidFill>
                  <a:srgbClr val="F87171"/>
                </a:solidFill>
                <a:latin typeface="Consolas" pitchFamily="34" charset="0"/>
                <a:ea typeface="Consolas" pitchFamily="34" charset="-122"/>
                <a:cs typeface="Consolas" pitchFamily="34" charset="-120"/>
              </a:rPr>
              <a:t>11:49 PM</a:t>
            </a:r>
            <a:endParaRPr lang="en-US" sz="2000" dirty="0"/>
          </a:p>
        </p:txBody>
      </p:sp>
      <p:sp>
        <p:nvSpPr>
          <p:cNvPr id="7" name="Text 4"/>
          <p:cNvSpPr txBox="1"/>
          <p:nvPr/>
        </p:nvSpPr>
        <p:spPr>
          <a:xfrm>
            <a:off x="2377440" y="1417320"/>
            <a:ext cx="6796735" cy="1005840"/>
          </a:xfrm>
          <a:prstGeom prst="rect">
            <a:avLst/>
          </a:prstGeom>
          <a:noFill/>
          <a:ln/>
        </p:spPr>
        <p:txBody>
          <a:bodyPr wrap="square" lIns="0" tIns="0" rIns="0" bIns="0" rtlCol="0" anchor="ctr"/>
          <a:lstStyle/>
          <a:p>
            <a:pPr indent="0" marL="0">
              <a:buNone/>
            </a:pPr>
            <a:r>
              <a:rPr lang="en-US" sz="1600" i="1" dirty="0">
                <a:solidFill>
                  <a:schemeClr val="bg1"/>
                </a:solidFill>
              </a:rPr>
              <a:t>The encryption never broke. Nusrat opened the door herself by sharing a six-digit code, and no two-step PIN stood in the way.</a:t>
            </a:r>
            <a:endParaRPr lang="en-US" sz="1600" dirty="0"/>
          </a:p>
        </p:txBody>
      </p:sp>
      <p:sp>
        <p:nvSpPr>
          <p:cNvPr id="8" name="stamp"/>
          <p:cNvSpPr txBox="1"/>
          <p:nvPr/>
        </p:nvSpPr>
        <p:spPr>
          <a:xfrm rot="-480000">
            <a:off x="9402775" y="1691640"/>
            <a:ext cx="1920240" cy="457200"/>
          </a:xfrm>
          <a:prstGeom prst="rect">
            <a:avLst/>
          </a:prstGeom>
          <a:noFill/>
          <a:ln w="28575">
            <a:solidFill>
              <a:srgbClr val="F87171"/>
            </a:solidFill>
          </a:ln>
        </p:spPr>
        <p:txBody>
          <a:bodyPr wrap="square" lIns="0" tIns="0" rIns="0" bIns="0" rtlCol="0" anchor="ctr"/>
          <a:lstStyle/>
          <a:p>
            <a:pPr algn="ctr" indent="0" marL="0">
              <a:buNone/>
            </a:pPr>
            <a:r>
              <a:rPr lang="en-US" sz="1600" b="1" spc="300" kern="0" dirty="0">
                <a:solidFill>
                  <a:srgbClr val="F87171"/>
                </a:solidFill>
                <a:latin typeface="Consolas" pitchFamily="34" charset="0"/>
                <a:ea typeface="Consolas" pitchFamily="34" charset="-122"/>
                <a:cs typeface="Consolas" pitchFamily="34" charset="-120"/>
              </a:rPr>
              <a:t>BREACHED</a:t>
            </a:r>
            <a:endParaRPr lang="en-US" sz="1600" dirty="0"/>
          </a:p>
        </p:txBody>
      </p:sp>
      <p:sp>
        <p:nvSpPr>
          <p:cNvPr id="9" name="Text 6"/>
          <p:cNvSpPr txBox="1"/>
          <p:nvPr/>
        </p:nvSpPr>
        <p:spPr>
          <a:xfrm>
            <a:off x="548640" y="2697480"/>
            <a:ext cx="5486400" cy="274320"/>
          </a:xfrm>
          <a:prstGeom prst="rect">
            <a:avLst/>
          </a:prstGeom>
          <a:noFill/>
          <a:ln/>
        </p:spPr>
        <p:txBody>
          <a:bodyPr wrap="square" lIns="0" tIns="0" rIns="0" bIns="0" rtlCol="0" anchor="ctr"/>
          <a:lstStyle/>
          <a:p>
            <a:pPr indent="0" marL="0">
              <a:buNone/>
            </a:pPr>
            <a:r>
              <a:rPr lang="en-US" sz="1200" b="1" spc="200" kern="0" dirty="0">
                <a:solidFill>
                  <a:srgbClr val="9FB3C8"/>
                </a:solidFill>
                <a:latin typeface="Consolas" pitchFamily="34" charset="0"/>
                <a:ea typeface="Consolas" pitchFamily="34" charset="-122"/>
                <a:cs typeface="Consolas" pitchFamily="34" charset="-120"/>
              </a:rPr>
              <a:t>THE LOCKS THAT EXIST</a:t>
            </a:r>
            <a:endParaRPr lang="en-US" sz="1200" dirty="0"/>
          </a:p>
        </p:txBody>
      </p:sp>
      <p:pic>
        <p:nvPicPr>
          <p:cNvPr id="10" name="lock 1" descr="Available">    </p:cNvPr>
          <p:cNvPicPr>
            <a:picLocks noChangeAspect="1"/>
          </p:cNvPicPr>
          <p:nvPr/>
        </p:nvPicPr>
        <p:blipFill>
          <a:blip r:embed="rId2"/>
          <a:stretch>
            <a:fillRect/>
          </a:stretch>
        </p:blipFill>
        <p:spPr>
          <a:xfrm>
            <a:off x="548640" y="3154680"/>
            <a:ext cx="256032" cy="256032"/>
          </a:xfrm>
          <a:prstGeom prst="rect">
            <a:avLst/>
          </a:prstGeom>
        </p:spPr>
      </p:pic>
      <p:sp>
        <p:nvSpPr>
          <p:cNvPr id="11" name="Text 7"/>
          <p:cNvSpPr txBox="1"/>
          <p:nvPr/>
        </p:nvSpPr>
        <p:spPr>
          <a:xfrm>
            <a:off x="960120" y="3108960"/>
            <a:ext cx="5120640" cy="365760"/>
          </a:xfrm>
          <a:prstGeom prst="rect">
            <a:avLst/>
          </a:prstGeom>
          <a:noFill/>
          <a:ln/>
        </p:spPr>
        <p:txBody>
          <a:bodyPr wrap="square" lIns="0" tIns="0" rIns="0" bIns="0" rtlCol="0" anchor="ctr"/>
          <a:lstStyle/>
          <a:p>
            <a:pPr indent="0" marL="0">
              <a:buNone/>
            </a:pPr>
            <a:r>
              <a:rPr lang="en-US" sz="1500" dirty="0">
                <a:solidFill>
                  <a:schemeClr val="bg2"/>
                </a:solidFill>
              </a:rPr>
              <a:t>End-to-end encryption on every chat and call, by default</a:t>
            </a:r>
            <a:endParaRPr lang="en-US" sz="1500" dirty="0"/>
          </a:p>
        </p:txBody>
      </p:sp>
      <p:pic>
        <p:nvPicPr>
          <p:cNvPr id="12" name="lock 2" descr="Available">    </p:cNvPr>
          <p:cNvPicPr>
            <a:picLocks noChangeAspect="1"/>
          </p:cNvPicPr>
          <p:nvPr/>
        </p:nvPicPr>
        <p:blipFill>
          <a:blip r:embed="rId3"/>
          <a:stretch>
            <a:fillRect/>
          </a:stretch>
        </p:blipFill>
        <p:spPr>
          <a:xfrm>
            <a:off x="548640" y="3721608"/>
            <a:ext cx="256032" cy="256032"/>
          </a:xfrm>
          <a:prstGeom prst="rect">
            <a:avLst/>
          </a:prstGeom>
        </p:spPr>
      </p:pic>
      <p:sp>
        <p:nvSpPr>
          <p:cNvPr id="13" name="Text 8"/>
          <p:cNvSpPr txBox="1"/>
          <p:nvPr/>
        </p:nvSpPr>
        <p:spPr>
          <a:xfrm>
            <a:off x="960120" y="3675888"/>
            <a:ext cx="5120640" cy="365760"/>
          </a:xfrm>
          <a:prstGeom prst="rect">
            <a:avLst/>
          </a:prstGeom>
          <a:noFill/>
          <a:ln/>
        </p:spPr>
        <p:txBody>
          <a:bodyPr wrap="square" lIns="0" tIns="0" rIns="0" bIns="0" rtlCol="0" anchor="ctr"/>
          <a:lstStyle/>
          <a:p>
            <a:pPr indent="0" marL="0">
              <a:buNone/>
            </a:pPr>
            <a:r>
              <a:rPr lang="en-US" sz="1500" dirty="0">
                <a:solidFill>
                  <a:schemeClr val="bg2"/>
                </a:solidFill>
              </a:rPr>
              <a:t>Six-digit two-step verification PIN</a:t>
            </a:r>
            <a:endParaRPr lang="en-US" sz="1500" dirty="0"/>
          </a:p>
        </p:txBody>
      </p:sp>
      <p:pic>
        <p:nvPicPr>
          <p:cNvPr id="14" name="lock 3" descr="Available">    </p:cNvPr>
          <p:cNvPicPr>
            <a:picLocks noChangeAspect="1"/>
          </p:cNvPicPr>
          <p:nvPr/>
        </p:nvPicPr>
        <p:blipFill>
          <a:blip r:embed="rId4"/>
          <a:stretch>
            <a:fillRect/>
          </a:stretch>
        </p:blipFill>
        <p:spPr>
          <a:xfrm>
            <a:off x="548640" y="4288536"/>
            <a:ext cx="256032" cy="256032"/>
          </a:xfrm>
          <a:prstGeom prst="rect">
            <a:avLst/>
          </a:prstGeom>
        </p:spPr>
      </p:pic>
      <p:sp>
        <p:nvSpPr>
          <p:cNvPr id="15" name="Text 9"/>
          <p:cNvSpPr txBox="1"/>
          <p:nvPr/>
        </p:nvSpPr>
        <p:spPr>
          <a:xfrm>
            <a:off x="960120" y="4242816"/>
            <a:ext cx="5120640" cy="365760"/>
          </a:xfrm>
          <a:prstGeom prst="rect">
            <a:avLst/>
          </a:prstGeom>
          <a:noFill/>
          <a:ln/>
        </p:spPr>
        <p:txBody>
          <a:bodyPr wrap="square" lIns="0" tIns="0" rIns="0" bIns="0" rtlCol="0" anchor="ctr"/>
          <a:lstStyle/>
          <a:p>
            <a:pPr indent="0" marL="0">
              <a:buNone/>
            </a:pPr>
            <a:r>
              <a:rPr lang="en-US" sz="1500" dirty="0">
                <a:solidFill>
                  <a:schemeClr val="bg2"/>
                </a:solidFill>
              </a:rPr>
              <a:t>Passkey login and passkey-locked backups (Oct 2025)</a:t>
            </a:r>
            <a:endParaRPr lang="en-US" sz="1500" dirty="0"/>
          </a:p>
        </p:txBody>
      </p:sp>
      <p:pic>
        <p:nvPicPr>
          <p:cNvPr id="16" name="lock 4" descr="Available">    </p:cNvPr>
          <p:cNvPicPr>
            <a:picLocks noChangeAspect="1"/>
          </p:cNvPicPr>
          <p:nvPr/>
        </p:nvPicPr>
        <p:blipFill>
          <a:blip r:embed="rId5"/>
          <a:stretch>
            <a:fillRect/>
          </a:stretch>
        </p:blipFill>
        <p:spPr>
          <a:xfrm>
            <a:off x="548640" y="4855464"/>
            <a:ext cx="256032" cy="256032"/>
          </a:xfrm>
          <a:prstGeom prst="rect">
            <a:avLst/>
          </a:prstGeom>
        </p:spPr>
      </p:pic>
      <p:sp>
        <p:nvSpPr>
          <p:cNvPr id="17" name="Text 10"/>
          <p:cNvSpPr txBox="1"/>
          <p:nvPr/>
        </p:nvSpPr>
        <p:spPr>
          <a:xfrm>
            <a:off x="960120" y="4809744"/>
            <a:ext cx="5120640" cy="365760"/>
          </a:xfrm>
          <a:prstGeom prst="rect">
            <a:avLst/>
          </a:prstGeom>
          <a:noFill/>
          <a:ln/>
        </p:spPr>
        <p:txBody>
          <a:bodyPr wrap="square" lIns="0" tIns="0" rIns="0" bIns="0" rtlCol="0" anchor="ctr"/>
          <a:lstStyle/>
          <a:p>
            <a:pPr indent="0" marL="0">
              <a:buNone/>
            </a:pPr>
            <a:r>
              <a:rPr lang="en-US" sz="1500" dirty="0">
                <a:solidFill>
                  <a:schemeClr val="bg2"/>
                </a:solidFill>
              </a:rPr>
              <a:t>Chat lock, silence unknown callers, IP protection</a:t>
            </a:r>
            <a:endParaRPr lang="en-US" sz="1500" dirty="0"/>
          </a:p>
        </p:txBody>
      </p:sp>
      <p:pic>
        <p:nvPicPr>
          <p:cNvPr id="18" name="lock 5" descr="Available">    </p:cNvPr>
          <p:cNvPicPr>
            <a:picLocks noChangeAspect="1"/>
          </p:cNvPicPr>
          <p:nvPr/>
        </p:nvPicPr>
        <p:blipFill>
          <a:blip r:embed="rId6"/>
          <a:stretch>
            <a:fillRect/>
          </a:stretch>
        </p:blipFill>
        <p:spPr>
          <a:xfrm>
            <a:off x="548640" y="5422392"/>
            <a:ext cx="256032" cy="256032"/>
          </a:xfrm>
          <a:prstGeom prst="rect">
            <a:avLst/>
          </a:prstGeom>
        </p:spPr>
      </p:pic>
      <p:sp>
        <p:nvSpPr>
          <p:cNvPr id="19" name="Text 11"/>
          <p:cNvSpPr txBox="1"/>
          <p:nvPr/>
        </p:nvSpPr>
        <p:spPr>
          <a:xfrm>
            <a:off x="960120" y="5376672"/>
            <a:ext cx="5120640" cy="365760"/>
          </a:xfrm>
          <a:prstGeom prst="rect">
            <a:avLst/>
          </a:prstGeom>
          <a:noFill/>
          <a:ln/>
        </p:spPr>
        <p:txBody>
          <a:bodyPr wrap="square" lIns="0" tIns="0" rIns="0" bIns="0" rtlCol="0" anchor="ctr"/>
          <a:lstStyle/>
          <a:p>
            <a:pPr indent="0" marL="0">
              <a:buNone/>
            </a:pPr>
            <a:r>
              <a:rPr lang="en-US" sz="1500" dirty="0">
                <a:solidFill>
                  <a:schemeClr val="bg2"/>
                </a:solidFill>
              </a:rPr>
              <a:t>Strict Account Settings: one-tap lockdown (Jan 2026)</a:t>
            </a:r>
            <a:endParaRPr lang="en-US" sz="1500" dirty="0"/>
          </a:p>
        </p:txBody>
      </p:sp>
      <p:sp>
        <p:nvSpPr>
          <p:cNvPr id="20" name="score panel"/>
          <p:cNvSpPr/>
          <p:nvPr/>
        </p:nvSpPr>
        <p:spPr>
          <a:xfrm>
            <a:off x="6355080" y="2697480"/>
            <a:ext cx="5287975" cy="1691640"/>
          </a:xfrm>
          <a:prstGeom prst="roundRect">
            <a:avLst>
              <a:gd name="adj" fmla="val 4324"/>
            </a:avLst>
          </a:prstGeom>
          <a:solidFill>
            <a:srgbClr val="0E1E33">
              <a:alpha val="82000"/>
            </a:srgbClr>
          </a:solidFill>
          <a:ln w="12700">
            <a:solidFill>
              <a:srgbClr val="1F3A5A"/>
            </a:solidFill>
            <a:prstDash val="solid"/>
          </a:ln>
        </p:spPr>
      </p:sp>
      <p:sp>
        <p:nvSpPr>
          <p:cNvPr id="21" name="hud bracket"/>
          <p:cNvSpPr/>
          <p:nvPr/>
        </p:nvSpPr>
        <p:spPr>
          <a:xfrm>
            <a:off x="6355080" y="2697480"/>
            <a:ext cx="201168" cy="0"/>
          </a:xfrm>
          <a:prstGeom prst="line">
            <a:avLst/>
          </a:prstGeom>
          <a:noFill/>
          <a:ln w="25400">
            <a:solidFill>
              <a:srgbClr val="34D399"/>
            </a:solidFill>
            <a:prstDash val="solid"/>
          </a:ln>
        </p:spPr>
      </p:sp>
      <p:sp>
        <p:nvSpPr>
          <p:cNvPr id="22" name="hud bracket"/>
          <p:cNvSpPr/>
          <p:nvPr/>
        </p:nvSpPr>
        <p:spPr>
          <a:xfrm>
            <a:off x="6355080" y="2697480"/>
            <a:ext cx="0" cy="201168"/>
          </a:xfrm>
          <a:prstGeom prst="line">
            <a:avLst/>
          </a:prstGeom>
          <a:noFill/>
          <a:ln w="25400">
            <a:solidFill>
              <a:srgbClr val="34D399"/>
            </a:solidFill>
            <a:prstDash val="solid"/>
          </a:ln>
        </p:spPr>
      </p:sp>
      <p:sp>
        <p:nvSpPr>
          <p:cNvPr id="23" name="hud bracket"/>
          <p:cNvSpPr/>
          <p:nvPr/>
        </p:nvSpPr>
        <p:spPr>
          <a:xfrm>
            <a:off x="11441887" y="2697480"/>
            <a:ext cx="201168" cy="0"/>
          </a:xfrm>
          <a:prstGeom prst="line">
            <a:avLst/>
          </a:prstGeom>
          <a:noFill/>
          <a:ln w="25400">
            <a:solidFill>
              <a:srgbClr val="34D399"/>
            </a:solidFill>
            <a:prstDash val="solid"/>
          </a:ln>
        </p:spPr>
      </p:sp>
      <p:sp>
        <p:nvSpPr>
          <p:cNvPr id="24" name="hud bracket"/>
          <p:cNvSpPr/>
          <p:nvPr/>
        </p:nvSpPr>
        <p:spPr>
          <a:xfrm>
            <a:off x="11643055" y="2697480"/>
            <a:ext cx="0" cy="201168"/>
          </a:xfrm>
          <a:prstGeom prst="line">
            <a:avLst/>
          </a:prstGeom>
          <a:noFill/>
          <a:ln w="25400">
            <a:solidFill>
              <a:srgbClr val="34D399"/>
            </a:solidFill>
            <a:prstDash val="solid"/>
          </a:ln>
        </p:spPr>
      </p:sp>
      <p:sp>
        <p:nvSpPr>
          <p:cNvPr id="25" name="hud bracket"/>
          <p:cNvSpPr/>
          <p:nvPr/>
        </p:nvSpPr>
        <p:spPr>
          <a:xfrm>
            <a:off x="6355080" y="4389120"/>
            <a:ext cx="201168" cy="0"/>
          </a:xfrm>
          <a:prstGeom prst="line">
            <a:avLst/>
          </a:prstGeom>
          <a:noFill/>
          <a:ln w="25400">
            <a:solidFill>
              <a:srgbClr val="34D399"/>
            </a:solidFill>
            <a:prstDash val="solid"/>
          </a:ln>
        </p:spPr>
      </p:sp>
      <p:sp>
        <p:nvSpPr>
          <p:cNvPr id="26" name="hud bracket"/>
          <p:cNvSpPr/>
          <p:nvPr/>
        </p:nvSpPr>
        <p:spPr>
          <a:xfrm>
            <a:off x="6355080" y="4187952"/>
            <a:ext cx="0" cy="201168"/>
          </a:xfrm>
          <a:prstGeom prst="line">
            <a:avLst/>
          </a:prstGeom>
          <a:noFill/>
          <a:ln w="25400">
            <a:solidFill>
              <a:srgbClr val="34D399"/>
            </a:solidFill>
            <a:prstDash val="solid"/>
          </a:ln>
        </p:spPr>
      </p:sp>
      <p:sp>
        <p:nvSpPr>
          <p:cNvPr id="27" name="hud bracket"/>
          <p:cNvSpPr/>
          <p:nvPr/>
        </p:nvSpPr>
        <p:spPr>
          <a:xfrm>
            <a:off x="11441887" y="4389120"/>
            <a:ext cx="201168" cy="0"/>
          </a:xfrm>
          <a:prstGeom prst="line">
            <a:avLst/>
          </a:prstGeom>
          <a:noFill/>
          <a:ln w="25400">
            <a:solidFill>
              <a:srgbClr val="34D399"/>
            </a:solidFill>
            <a:prstDash val="solid"/>
          </a:ln>
        </p:spPr>
      </p:sp>
      <p:sp>
        <p:nvSpPr>
          <p:cNvPr id="28" name="hud bracket"/>
          <p:cNvSpPr/>
          <p:nvPr/>
        </p:nvSpPr>
        <p:spPr>
          <a:xfrm>
            <a:off x="11643055" y="4187952"/>
            <a:ext cx="0" cy="201168"/>
          </a:xfrm>
          <a:prstGeom prst="line">
            <a:avLst/>
          </a:prstGeom>
          <a:noFill/>
          <a:ln w="25400">
            <a:solidFill>
              <a:srgbClr val="34D399"/>
            </a:solidFill>
            <a:prstDash val="solid"/>
          </a:ln>
        </p:spPr>
      </p:sp>
      <p:sp>
        <p:nvSpPr>
          <p:cNvPr id="29" name="Text 21"/>
          <p:cNvSpPr txBox="1"/>
          <p:nvPr/>
        </p:nvSpPr>
        <p:spPr>
          <a:xfrm>
            <a:off x="6583680" y="2816352"/>
            <a:ext cx="1645920" cy="256032"/>
          </a:xfrm>
          <a:prstGeom prst="rect">
            <a:avLst/>
          </a:prstGeom>
          <a:noFill/>
          <a:ln/>
        </p:spPr>
        <p:txBody>
          <a:bodyPr wrap="square" lIns="0" tIns="0" rIns="0" bIns="0" rtlCol="0" anchor="ctr"/>
          <a:lstStyle/>
          <a:p>
            <a:pPr indent="0" marL="0">
              <a:buNone/>
            </a:pPr>
            <a:r>
              <a:rPr lang="en-US" sz="1100" b="1" spc="200" kern="0" dirty="0">
                <a:solidFill>
                  <a:srgbClr val="9FB3C8"/>
                </a:solidFill>
                <a:latin typeface="Consolas" pitchFamily="34" charset="0"/>
                <a:ea typeface="Consolas" pitchFamily="34" charset="-122"/>
                <a:cs typeface="Consolas" pitchFamily="34" charset="-120"/>
              </a:rPr>
              <a:t>LOCK SCORE</a:t>
            </a:r>
            <a:endParaRPr lang="en-US" sz="1100" dirty="0"/>
          </a:p>
        </p:txBody>
      </p:sp>
      <p:sp>
        <p:nvSpPr>
          <p:cNvPr id="30" name="Text 22"/>
          <p:cNvSpPr txBox="1"/>
          <p:nvPr/>
        </p:nvSpPr>
        <p:spPr>
          <a:xfrm>
            <a:off x="6583680" y="3108960"/>
            <a:ext cx="1645920" cy="777240"/>
          </a:xfrm>
          <a:prstGeom prst="rect">
            <a:avLst/>
          </a:prstGeom>
          <a:noFill/>
          <a:ln/>
        </p:spPr>
        <p:txBody>
          <a:bodyPr wrap="square" lIns="0" tIns="0" rIns="0" bIns="0" rtlCol="0" anchor="ctr"/>
          <a:lstStyle/>
          <a:p>
            <a:pPr indent="0" marL="0">
              <a:buNone/>
            </a:pPr>
            <a:r>
              <a:rPr lang="en-US" sz="4800" b="1" dirty="0">
                <a:solidFill>
                  <a:srgbClr val="34D399"/>
                </a:solidFill>
              </a:rPr>
              <a:t>20</a:t>
            </a:r>
            <a:pPr indent="0" marL="0">
              <a:buNone/>
            </a:pPr>
            <a:r>
              <a:rPr lang="en-US" sz="1800" dirty="0">
                <a:solidFill>
                  <a:srgbClr val="9FB3C8"/>
                </a:solidFill>
              </a:rPr>
              <a:t> /25</a:t>
            </a:r>
            <a:endParaRPr lang="en-US" sz="4800" dirty="0"/>
          </a:p>
        </p:txBody>
      </p:sp>
      <p:sp>
        <p:nvSpPr>
          <p:cNvPr id="31" name="Text 23"/>
          <p:cNvSpPr txBox="1"/>
          <p:nvPr/>
        </p:nvSpPr>
        <p:spPr>
          <a:xfrm>
            <a:off x="6583680" y="3931920"/>
            <a:ext cx="1371600" cy="310896"/>
          </a:xfrm>
          <a:prstGeom prst="roundRect">
            <a:avLst>
              <a:gd name="adj" fmla="val 50000"/>
            </a:avLst>
          </a:prstGeom>
          <a:solidFill>
            <a:srgbClr val="34D399"/>
          </a:solidFill>
          <a:ln/>
        </p:spPr>
        <p:txBody>
          <a:bodyPr wrap="square" lIns="0" tIns="0" rIns="0" bIns="0" rtlCol="0" anchor="ctr"/>
          <a:lstStyle/>
          <a:p>
            <a:pPr algn="ctr" indent="0" marL="0">
              <a:buNone/>
            </a:pPr>
            <a:r>
              <a:rPr lang="en-US" sz="1100" b="1" dirty="0">
                <a:solidFill>
                  <a:schemeClr val="tx2"/>
                </a:solidFill>
                <a:latin typeface="Consolas" pitchFamily="34" charset="0"/>
                <a:ea typeface="Consolas" pitchFamily="34" charset="-122"/>
                <a:cs typeface="Consolas" pitchFamily="34" charset="-120"/>
              </a:rPr>
              <a:t>JOINT 1ST</a:t>
            </a:r>
            <a:endParaRPr lang="en-US" sz="1100" dirty="0"/>
          </a:p>
        </p:txBody>
      </p:sp>
      <p:graphicFrame>
        <p:nvGraphicFramePr>
          <p:cNvPr id="32" name="WhatsApp score chart" descr=""/>
          <p:cNvGraphicFramePr/>
          <p:nvPr/>
        </p:nvGraphicFramePr>
        <p:xfrm>
          <a:off x="8183880" y="2743200"/>
          <a:ext cx="3367735" cy="1600200"/>
        </p:xfrm>
        <a:graphic xmlns:a="http://schemas.openxmlformats.org/drawingml/2006/main">
          <a:graphicData uri="http://schemas.openxmlformats.org/drawingml/2006/chart">
            <c:chart xmlns:c="http://schemas.openxmlformats.org/drawingml/2006/chart" r:id="rId7"/>
          </a:graphicData>
        </a:graphic>
      </p:graphicFrame>
      <p:sp>
        <p:nvSpPr>
          <p:cNvPr id="33" name="fix card"/>
          <p:cNvSpPr/>
          <p:nvPr/>
        </p:nvSpPr>
        <p:spPr>
          <a:xfrm>
            <a:off x="6355080" y="4572000"/>
            <a:ext cx="5287975" cy="1325880"/>
          </a:xfrm>
          <a:prstGeom prst="roundRect">
            <a:avLst>
              <a:gd name="adj" fmla="val 5517"/>
            </a:avLst>
          </a:prstGeom>
          <a:solidFill>
            <a:srgbClr val="22D3EE">
              <a:alpha val="12000"/>
            </a:srgbClr>
          </a:solidFill>
          <a:ln w="12700">
            <a:solidFill>
              <a:srgbClr val="22D3EE"/>
            </a:solidFill>
            <a:prstDash val="solid"/>
          </a:ln>
        </p:spPr>
      </p:sp>
      <p:sp>
        <p:nvSpPr>
          <p:cNvPr id="34" name="fix circle"/>
          <p:cNvSpPr/>
          <p:nvPr/>
        </p:nvSpPr>
        <p:spPr>
          <a:xfrm>
            <a:off x="6537960" y="4709160"/>
            <a:ext cx="384048" cy="384048"/>
          </a:xfrm>
          <a:prstGeom prst="ellipse">
            <a:avLst/>
          </a:prstGeom>
          <a:solidFill>
            <a:schemeClr val="accent1"/>
          </a:solidFill>
          <a:ln/>
        </p:spPr>
      </p:sp>
      <p:pic>
        <p:nvPicPr>
          <p:cNvPr id="35" name="fix icon" descr="fix">    </p:cNvPr>
          <p:cNvPicPr>
            <a:picLocks noChangeAspect="1"/>
          </p:cNvPicPr>
          <p:nvPr/>
        </p:nvPicPr>
        <p:blipFill>
          <a:blip r:embed="rId8"/>
          <a:stretch>
            <a:fillRect/>
          </a:stretch>
        </p:blipFill>
        <p:spPr>
          <a:xfrm>
            <a:off x="6630132" y="4801332"/>
            <a:ext cx="199705" cy="199705"/>
          </a:xfrm>
          <a:prstGeom prst="rect">
            <a:avLst/>
          </a:prstGeom>
        </p:spPr>
      </p:pic>
      <p:sp>
        <p:nvSpPr>
          <p:cNvPr id="36" name="Text 26"/>
          <p:cNvSpPr txBox="1"/>
          <p:nvPr/>
        </p:nvSpPr>
        <p:spPr>
          <a:xfrm>
            <a:off x="7013448" y="4709160"/>
            <a:ext cx="4465015" cy="384048"/>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onsolas" pitchFamily="34" charset="0"/>
                <a:ea typeface="Consolas" pitchFamily="34" charset="-122"/>
                <a:cs typeface="Consolas" pitchFamily="34" charset="-120"/>
              </a:rPr>
              <a:t>HOW TO FIX THIS DOOR</a:t>
            </a:r>
            <a:endParaRPr lang="en-US" sz="1200" dirty="0"/>
          </a:p>
        </p:txBody>
      </p:sp>
      <p:sp>
        <p:nvSpPr>
          <p:cNvPr id="37" name="Text 27"/>
          <p:cNvSpPr txBox="1"/>
          <p:nvPr/>
        </p:nvSpPr>
        <p:spPr>
          <a:xfrm>
            <a:off x="6537960" y="5166360"/>
            <a:ext cx="4922215" cy="685800"/>
          </a:xfrm>
          <a:prstGeom prst="rect">
            <a:avLst/>
          </a:prstGeom>
          <a:noFill/>
          <a:ln/>
        </p:spPr>
        <p:txBody>
          <a:bodyPr wrap="square" lIns="0" tIns="0" rIns="0" bIns="0" rtlCol="0" anchor="t"/>
          <a:lstStyle/>
          <a:p>
            <a:pPr indent="0" marL="0">
              <a:buNone/>
            </a:pPr>
            <a:r>
              <a:rPr lang="en-US" sz="1400" dirty="0">
                <a:solidFill>
                  <a:schemeClr val="bg2"/>
                </a:solidFill>
              </a:rPr>
              <a:t>A Bangla warning whenever a registration code is requested, and a mandatory two-step PIN.</a:t>
            </a:r>
            <a:endParaRPr lang="en-US" sz="1400" dirty="0"/>
          </a:p>
        </p:txBody>
      </p:sp>
      <p:sp>
        <p:nvSpPr>
          <p:cNvPr id="38" name="Text 28"/>
          <p:cNvSpPr txBox="1"/>
          <p:nvPr/>
        </p:nvSpPr>
        <p:spPr>
          <a:xfrm>
            <a:off x="548640" y="6035040"/>
            <a:ext cx="11094415" cy="228600"/>
          </a:xfrm>
          <a:prstGeom prst="rect">
            <a:avLst/>
          </a:prstGeom>
          <a:noFill/>
          <a:ln/>
        </p:spPr>
        <p:txBody>
          <a:bodyPr wrap="square" lIns="0" tIns="0" rIns="0" bIns="0" rtlCol="0" anchor="ctr"/>
          <a:lstStyle/>
          <a:p>
            <a:pPr indent="0" marL="0">
              <a:buNone/>
            </a:pPr>
            <a:r>
              <a:rPr lang="en-US" sz="1000" i="1" dirty="0">
                <a:solidFill>
                  <a:srgbClr val="6B829C"/>
                </a:solidFill>
              </a:rPr>
              <a:t>Sources: WhatsApp (2026); Help Net Security (2025).</a:t>
            </a:r>
            <a:endParaRPr lang="en-US" sz="10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829C"/>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watermark" descr="preencoded.png">    </p:cNvPr>
          <p:cNvPicPr>
            <a:picLocks noChangeAspect="1"/>
          </p:cNvPicPr>
          <p:nvPr/>
        </p:nvPicPr>
        <p:blipFill>
          <a:blip r:embed="rId1"/>
          <a:stretch>
            <a:fillRect/>
          </a:stretch>
        </p:blipFill>
        <p:spPr>
          <a:xfrm>
            <a:off x="1737360" y="2377440"/>
            <a:ext cx="3840480" cy="3840480"/>
          </a:xfrm>
          <a:prstGeom prst="rect">
            <a:avLst/>
          </a:prstGeom>
        </p:spPr>
      </p:pic>
      <p:sp>
        <p:nvSpPr>
          <p:cNvPr id="3" name="section tag"/>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onsolas" pitchFamily="34" charset="0"/>
                <a:ea typeface="Consolas" pitchFamily="34" charset="-122"/>
                <a:cs typeface="Consolas" pitchFamily="34" charset="-120"/>
              </a:rPr>
              <a:t>// 04  DOOR 2/5 : GMAIL  ·  12:20 AM</a:t>
            </a:r>
            <a:endParaRPr lang="en-US" sz="1200" dirty="0"/>
          </a:p>
        </p:txBody>
      </p:sp>
      <p:sp>
        <p:nvSpPr>
          <p:cNvPr id="4" name="Text 0"/>
          <p:cNvSpPr/>
          <p:nvPr>
            <p:ph idx="100"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bg1"/>
                </a:solidFill>
              </a:rPr>
              <a:t>Gmail: the master key that opens every other door</a:t>
            </a:r>
            <a:endParaRPr lang="en-US" sz="2800" dirty="0"/>
          </a:p>
        </p:txBody>
      </p:sp>
      <p:sp>
        <p:nvSpPr>
          <p:cNvPr id="5" name="story banner"/>
          <p:cNvSpPr/>
          <p:nvPr/>
        </p:nvSpPr>
        <p:spPr>
          <a:xfrm>
            <a:off x="548640" y="1417320"/>
            <a:ext cx="11094415" cy="1005840"/>
          </a:xfrm>
          <a:prstGeom prst="roundRect">
            <a:avLst>
              <a:gd name="adj" fmla="val 7273"/>
            </a:avLst>
          </a:prstGeom>
          <a:solidFill>
            <a:srgbClr val="F87171">
              <a:alpha val="12000"/>
            </a:srgbClr>
          </a:solidFill>
          <a:ln w="12700">
            <a:solidFill>
              <a:srgbClr val="F87171"/>
            </a:solidFill>
            <a:prstDash val="solid"/>
          </a:ln>
        </p:spPr>
      </p:sp>
      <p:sp>
        <p:nvSpPr>
          <p:cNvPr id="6" name="Text 3"/>
          <p:cNvSpPr txBox="1"/>
          <p:nvPr/>
        </p:nvSpPr>
        <p:spPr>
          <a:xfrm>
            <a:off x="822960" y="1417320"/>
            <a:ext cx="1508760" cy="1005840"/>
          </a:xfrm>
          <a:prstGeom prst="rect">
            <a:avLst/>
          </a:prstGeom>
          <a:noFill/>
          <a:ln/>
        </p:spPr>
        <p:txBody>
          <a:bodyPr wrap="square" lIns="0" tIns="0" rIns="0" bIns="0" rtlCol="0" anchor="ctr"/>
          <a:lstStyle/>
          <a:p>
            <a:pPr indent="0" marL="0">
              <a:buNone/>
            </a:pPr>
            <a:r>
              <a:rPr lang="en-US" sz="2000" b="1" dirty="0">
                <a:solidFill>
                  <a:srgbClr val="F87171"/>
                </a:solidFill>
                <a:latin typeface="Consolas" pitchFamily="34" charset="0"/>
                <a:ea typeface="Consolas" pitchFamily="34" charset="-122"/>
                <a:cs typeface="Consolas" pitchFamily="34" charset="-120"/>
              </a:rPr>
              <a:t>12:20 AM</a:t>
            </a:r>
            <a:endParaRPr lang="en-US" sz="2000" dirty="0"/>
          </a:p>
        </p:txBody>
      </p:sp>
      <p:sp>
        <p:nvSpPr>
          <p:cNvPr id="7" name="Text 4"/>
          <p:cNvSpPr txBox="1"/>
          <p:nvPr/>
        </p:nvSpPr>
        <p:spPr>
          <a:xfrm>
            <a:off x="2377440" y="1417320"/>
            <a:ext cx="6796735" cy="1005840"/>
          </a:xfrm>
          <a:prstGeom prst="rect">
            <a:avLst/>
          </a:prstGeom>
          <a:noFill/>
          <a:ln/>
        </p:spPr>
        <p:txBody>
          <a:bodyPr wrap="square" lIns="0" tIns="0" rIns="0" bIns="0" rtlCol="0" anchor="ctr"/>
          <a:lstStyle/>
          <a:p>
            <a:pPr indent="0" marL="0">
              <a:buNone/>
            </a:pPr>
            <a:r>
              <a:rPr lang="en-US" sz="1600" i="1" dirty="0">
                <a:solidFill>
                  <a:schemeClr val="bg1"/>
                </a:solidFill>
              </a:rPr>
              <a:t>She typed her password into a fake “copyright violation” page. Same password as Gmail, no 2-Step Verification: the master key was gone.</a:t>
            </a:r>
            <a:endParaRPr lang="en-US" sz="1600" dirty="0"/>
          </a:p>
        </p:txBody>
      </p:sp>
      <p:sp>
        <p:nvSpPr>
          <p:cNvPr id="8" name="stamp"/>
          <p:cNvSpPr txBox="1"/>
          <p:nvPr/>
        </p:nvSpPr>
        <p:spPr>
          <a:xfrm rot="-480000">
            <a:off x="9402775" y="1691640"/>
            <a:ext cx="1920240" cy="457200"/>
          </a:xfrm>
          <a:prstGeom prst="rect">
            <a:avLst/>
          </a:prstGeom>
          <a:noFill/>
          <a:ln w="28575">
            <a:solidFill>
              <a:srgbClr val="F87171"/>
            </a:solidFill>
          </a:ln>
        </p:spPr>
        <p:txBody>
          <a:bodyPr wrap="square" lIns="0" tIns="0" rIns="0" bIns="0" rtlCol="0" anchor="ctr"/>
          <a:lstStyle/>
          <a:p>
            <a:pPr algn="ctr" indent="0" marL="0">
              <a:buNone/>
            </a:pPr>
            <a:r>
              <a:rPr lang="en-US" sz="1600" b="1" spc="300" kern="0" dirty="0">
                <a:solidFill>
                  <a:srgbClr val="F87171"/>
                </a:solidFill>
                <a:latin typeface="Consolas" pitchFamily="34" charset="0"/>
                <a:ea typeface="Consolas" pitchFamily="34" charset="-122"/>
                <a:cs typeface="Consolas" pitchFamily="34" charset="-120"/>
              </a:rPr>
              <a:t>BREACHED</a:t>
            </a:r>
            <a:endParaRPr lang="en-US" sz="1600" dirty="0"/>
          </a:p>
        </p:txBody>
      </p:sp>
      <p:sp>
        <p:nvSpPr>
          <p:cNvPr id="9" name="Text 6"/>
          <p:cNvSpPr txBox="1"/>
          <p:nvPr/>
        </p:nvSpPr>
        <p:spPr>
          <a:xfrm>
            <a:off x="548640" y="2697480"/>
            <a:ext cx="5486400" cy="274320"/>
          </a:xfrm>
          <a:prstGeom prst="rect">
            <a:avLst/>
          </a:prstGeom>
          <a:noFill/>
          <a:ln/>
        </p:spPr>
        <p:txBody>
          <a:bodyPr wrap="square" lIns="0" tIns="0" rIns="0" bIns="0" rtlCol="0" anchor="ctr"/>
          <a:lstStyle/>
          <a:p>
            <a:pPr indent="0" marL="0">
              <a:buNone/>
            </a:pPr>
            <a:r>
              <a:rPr lang="en-US" sz="1200" b="1" spc="200" kern="0" dirty="0">
                <a:solidFill>
                  <a:srgbClr val="9FB3C8"/>
                </a:solidFill>
                <a:latin typeface="Consolas" pitchFamily="34" charset="0"/>
                <a:ea typeface="Consolas" pitchFamily="34" charset="-122"/>
                <a:cs typeface="Consolas" pitchFamily="34" charset="-120"/>
              </a:rPr>
              <a:t>THE LOCKS THAT EXIST</a:t>
            </a:r>
            <a:endParaRPr lang="en-US" sz="1200" dirty="0"/>
          </a:p>
        </p:txBody>
      </p:sp>
      <p:pic>
        <p:nvPicPr>
          <p:cNvPr id="10" name="lock 1" descr="Available">    </p:cNvPr>
          <p:cNvPicPr>
            <a:picLocks noChangeAspect="1"/>
          </p:cNvPicPr>
          <p:nvPr/>
        </p:nvPicPr>
        <p:blipFill>
          <a:blip r:embed="rId2"/>
          <a:stretch>
            <a:fillRect/>
          </a:stretch>
        </p:blipFill>
        <p:spPr>
          <a:xfrm>
            <a:off x="548640" y="3154680"/>
            <a:ext cx="256032" cy="256032"/>
          </a:xfrm>
          <a:prstGeom prst="rect">
            <a:avLst/>
          </a:prstGeom>
        </p:spPr>
      </p:pic>
      <p:sp>
        <p:nvSpPr>
          <p:cNvPr id="11" name="Text 7"/>
          <p:cNvSpPr txBox="1"/>
          <p:nvPr/>
        </p:nvSpPr>
        <p:spPr>
          <a:xfrm>
            <a:off x="960120" y="3108960"/>
            <a:ext cx="5120640" cy="365760"/>
          </a:xfrm>
          <a:prstGeom prst="rect">
            <a:avLst/>
          </a:prstGeom>
          <a:noFill/>
          <a:ln/>
        </p:spPr>
        <p:txBody>
          <a:bodyPr wrap="square" lIns="0" tIns="0" rIns="0" bIns="0" rtlCol="0" anchor="ctr"/>
          <a:lstStyle/>
          <a:p>
            <a:pPr indent="0" marL="0">
              <a:buNone/>
            </a:pPr>
            <a:r>
              <a:rPr lang="en-US" sz="1500" dirty="0">
                <a:solidFill>
                  <a:schemeClr val="bg2"/>
                </a:solidFill>
              </a:rPr>
              <a:t>Passkeys as the default sign-in since Oct 2023</a:t>
            </a:r>
            <a:endParaRPr lang="en-US" sz="1500" dirty="0"/>
          </a:p>
        </p:txBody>
      </p:sp>
      <p:pic>
        <p:nvPicPr>
          <p:cNvPr id="12" name="lock 2" descr="Available">    </p:cNvPr>
          <p:cNvPicPr>
            <a:picLocks noChangeAspect="1"/>
          </p:cNvPicPr>
          <p:nvPr/>
        </p:nvPicPr>
        <p:blipFill>
          <a:blip r:embed="rId3"/>
          <a:stretch>
            <a:fillRect/>
          </a:stretch>
        </p:blipFill>
        <p:spPr>
          <a:xfrm>
            <a:off x="548640" y="3721608"/>
            <a:ext cx="256032" cy="256032"/>
          </a:xfrm>
          <a:prstGeom prst="rect">
            <a:avLst/>
          </a:prstGeom>
        </p:spPr>
      </p:pic>
      <p:sp>
        <p:nvSpPr>
          <p:cNvPr id="13" name="Text 8"/>
          <p:cNvSpPr txBox="1"/>
          <p:nvPr/>
        </p:nvSpPr>
        <p:spPr>
          <a:xfrm>
            <a:off x="960120" y="3675888"/>
            <a:ext cx="5120640" cy="365760"/>
          </a:xfrm>
          <a:prstGeom prst="rect">
            <a:avLst/>
          </a:prstGeom>
          <a:noFill/>
          <a:ln/>
        </p:spPr>
        <p:txBody>
          <a:bodyPr wrap="square" lIns="0" tIns="0" rIns="0" bIns="0" rtlCol="0" anchor="ctr"/>
          <a:lstStyle/>
          <a:p>
            <a:pPr indent="0" marL="0">
              <a:buNone/>
            </a:pPr>
            <a:r>
              <a:rPr lang="en-US" sz="1500" dirty="0">
                <a:solidFill>
                  <a:schemeClr val="bg2"/>
                </a:solidFill>
              </a:rPr>
              <a:t>2-Step Verification and Security Checkup</a:t>
            </a:r>
            <a:endParaRPr lang="en-US" sz="1500" dirty="0"/>
          </a:p>
        </p:txBody>
      </p:sp>
      <p:pic>
        <p:nvPicPr>
          <p:cNvPr id="14" name="lock 3" descr="Available">    </p:cNvPr>
          <p:cNvPicPr>
            <a:picLocks noChangeAspect="1"/>
          </p:cNvPicPr>
          <p:nvPr/>
        </p:nvPicPr>
        <p:blipFill>
          <a:blip r:embed="rId4"/>
          <a:stretch>
            <a:fillRect/>
          </a:stretch>
        </p:blipFill>
        <p:spPr>
          <a:xfrm>
            <a:off x="548640" y="4288536"/>
            <a:ext cx="256032" cy="256032"/>
          </a:xfrm>
          <a:prstGeom prst="rect">
            <a:avLst/>
          </a:prstGeom>
        </p:spPr>
      </p:pic>
      <p:sp>
        <p:nvSpPr>
          <p:cNvPr id="15" name="Text 9"/>
          <p:cNvSpPr txBox="1"/>
          <p:nvPr/>
        </p:nvSpPr>
        <p:spPr>
          <a:xfrm>
            <a:off x="960120" y="4242816"/>
            <a:ext cx="5120640" cy="365760"/>
          </a:xfrm>
          <a:prstGeom prst="rect">
            <a:avLst/>
          </a:prstGeom>
          <a:noFill/>
          <a:ln/>
        </p:spPr>
        <p:txBody>
          <a:bodyPr wrap="square" lIns="0" tIns="0" rIns="0" bIns="0" rtlCol="0" anchor="ctr"/>
          <a:lstStyle/>
          <a:p>
            <a:pPr indent="0" marL="0">
              <a:buNone/>
            </a:pPr>
            <a:r>
              <a:rPr lang="en-US" sz="1500" dirty="0">
                <a:solidFill>
                  <a:schemeClr val="bg2"/>
                </a:solidFill>
              </a:rPr>
              <a:t>Critical alerts for suspicious sign-ins</a:t>
            </a:r>
            <a:endParaRPr lang="en-US" sz="1500" dirty="0"/>
          </a:p>
        </p:txBody>
      </p:sp>
      <p:pic>
        <p:nvPicPr>
          <p:cNvPr id="16" name="lock 4" descr="Available">    </p:cNvPr>
          <p:cNvPicPr>
            <a:picLocks noChangeAspect="1"/>
          </p:cNvPicPr>
          <p:nvPr/>
        </p:nvPicPr>
        <p:blipFill>
          <a:blip r:embed="rId5"/>
          <a:stretch>
            <a:fillRect/>
          </a:stretch>
        </p:blipFill>
        <p:spPr>
          <a:xfrm>
            <a:off x="548640" y="4855464"/>
            <a:ext cx="256032" cy="256032"/>
          </a:xfrm>
          <a:prstGeom prst="rect">
            <a:avLst/>
          </a:prstGeom>
        </p:spPr>
      </p:pic>
      <p:sp>
        <p:nvSpPr>
          <p:cNvPr id="17" name="Text 10"/>
          <p:cNvSpPr txBox="1"/>
          <p:nvPr/>
        </p:nvSpPr>
        <p:spPr>
          <a:xfrm>
            <a:off x="960120" y="4809744"/>
            <a:ext cx="5120640" cy="365760"/>
          </a:xfrm>
          <a:prstGeom prst="rect">
            <a:avLst/>
          </a:prstGeom>
          <a:noFill/>
          <a:ln/>
        </p:spPr>
        <p:txBody>
          <a:bodyPr wrap="square" lIns="0" tIns="0" rIns="0" bIns="0" rtlCol="0" anchor="ctr"/>
          <a:lstStyle/>
          <a:p>
            <a:pPr indent="0" marL="0">
              <a:buNone/>
            </a:pPr>
            <a:r>
              <a:rPr lang="en-US" sz="1500" dirty="0">
                <a:solidFill>
                  <a:schemeClr val="bg2"/>
                </a:solidFill>
              </a:rPr>
              <a:t>Filters block 99.9%+ of phishing and malware (Google)</a:t>
            </a:r>
            <a:endParaRPr lang="en-US" sz="1500" dirty="0"/>
          </a:p>
        </p:txBody>
      </p:sp>
      <p:pic>
        <p:nvPicPr>
          <p:cNvPr id="18" name="lock 5" descr="Available">    </p:cNvPr>
          <p:cNvPicPr>
            <a:picLocks noChangeAspect="1"/>
          </p:cNvPicPr>
          <p:nvPr/>
        </p:nvPicPr>
        <p:blipFill>
          <a:blip r:embed="rId6"/>
          <a:stretch>
            <a:fillRect/>
          </a:stretch>
        </p:blipFill>
        <p:spPr>
          <a:xfrm>
            <a:off x="548640" y="5422392"/>
            <a:ext cx="256032" cy="256032"/>
          </a:xfrm>
          <a:prstGeom prst="rect">
            <a:avLst/>
          </a:prstGeom>
        </p:spPr>
      </p:pic>
      <p:sp>
        <p:nvSpPr>
          <p:cNvPr id="19" name="Text 11"/>
          <p:cNvSpPr txBox="1"/>
          <p:nvPr/>
        </p:nvSpPr>
        <p:spPr>
          <a:xfrm>
            <a:off x="960120" y="5376672"/>
            <a:ext cx="5120640" cy="365760"/>
          </a:xfrm>
          <a:prstGeom prst="rect">
            <a:avLst/>
          </a:prstGeom>
          <a:noFill/>
          <a:ln/>
        </p:spPr>
        <p:txBody>
          <a:bodyPr wrap="square" lIns="0" tIns="0" rIns="0" bIns="0" rtlCol="0" anchor="ctr"/>
          <a:lstStyle/>
          <a:p>
            <a:pPr indent="0" marL="0">
              <a:buNone/>
            </a:pPr>
            <a:r>
              <a:rPr lang="en-US" sz="1500" dirty="0">
                <a:solidFill>
                  <a:schemeClr val="bg2"/>
                </a:solidFill>
              </a:rPr>
              <a:t>Advanced Protection Program for high-risk users</a:t>
            </a:r>
            <a:endParaRPr lang="en-US" sz="1500" dirty="0"/>
          </a:p>
        </p:txBody>
      </p:sp>
      <p:sp>
        <p:nvSpPr>
          <p:cNvPr id="20" name="score panel"/>
          <p:cNvSpPr/>
          <p:nvPr/>
        </p:nvSpPr>
        <p:spPr>
          <a:xfrm>
            <a:off x="6355080" y="2697480"/>
            <a:ext cx="5287975" cy="1691640"/>
          </a:xfrm>
          <a:prstGeom prst="roundRect">
            <a:avLst>
              <a:gd name="adj" fmla="val 4324"/>
            </a:avLst>
          </a:prstGeom>
          <a:solidFill>
            <a:srgbClr val="0E1E33">
              <a:alpha val="82000"/>
            </a:srgbClr>
          </a:solidFill>
          <a:ln w="12700">
            <a:solidFill>
              <a:srgbClr val="1F3A5A"/>
            </a:solidFill>
            <a:prstDash val="solid"/>
          </a:ln>
        </p:spPr>
      </p:sp>
      <p:sp>
        <p:nvSpPr>
          <p:cNvPr id="21" name="hud bracket"/>
          <p:cNvSpPr/>
          <p:nvPr/>
        </p:nvSpPr>
        <p:spPr>
          <a:xfrm>
            <a:off x="6355080" y="2697480"/>
            <a:ext cx="201168" cy="0"/>
          </a:xfrm>
          <a:prstGeom prst="line">
            <a:avLst/>
          </a:prstGeom>
          <a:noFill/>
          <a:ln w="25400">
            <a:solidFill>
              <a:srgbClr val="34D399"/>
            </a:solidFill>
            <a:prstDash val="solid"/>
          </a:ln>
        </p:spPr>
      </p:sp>
      <p:sp>
        <p:nvSpPr>
          <p:cNvPr id="22" name="hud bracket"/>
          <p:cNvSpPr/>
          <p:nvPr/>
        </p:nvSpPr>
        <p:spPr>
          <a:xfrm>
            <a:off x="6355080" y="2697480"/>
            <a:ext cx="0" cy="201168"/>
          </a:xfrm>
          <a:prstGeom prst="line">
            <a:avLst/>
          </a:prstGeom>
          <a:noFill/>
          <a:ln w="25400">
            <a:solidFill>
              <a:srgbClr val="34D399"/>
            </a:solidFill>
            <a:prstDash val="solid"/>
          </a:ln>
        </p:spPr>
      </p:sp>
      <p:sp>
        <p:nvSpPr>
          <p:cNvPr id="23" name="hud bracket"/>
          <p:cNvSpPr/>
          <p:nvPr/>
        </p:nvSpPr>
        <p:spPr>
          <a:xfrm>
            <a:off x="11441887" y="2697480"/>
            <a:ext cx="201168" cy="0"/>
          </a:xfrm>
          <a:prstGeom prst="line">
            <a:avLst/>
          </a:prstGeom>
          <a:noFill/>
          <a:ln w="25400">
            <a:solidFill>
              <a:srgbClr val="34D399"/>
            </a:solidFill>
            <a:prstDash val="solid"/>
          </a:ln>
        </p:spPr>
      </p:sp>
      <p:sp>
        <p:nvSpPr>
          <p:cNvPr id="24" name="hud bracket"/>
          <p:cNvSpPr/>
          <p:nvPr/>
        </p:nvSpPr>
        <p:spPr>
          <a:xfrm>
            <a:off x="11643055" y="2697480"/>
            <a:ext cx="0" cy="201168"/>
          </a:xfrm>
          <a:prstGeom prst="line">
            <a:avLst/>
          </a:prstGeom>
          <a:noFill/>
          <a:ln w="25400">
            <a:solidFill>
              <a:srgbClr val="34D399"/>
            </a:solidFill>
            <a:prstDash val="solid"/>
          </a:ln>
        </p:spPr>
      </p:sp>
      <p:sp>
        <p:nvSpPr>
          <p:cNvPr id="25" name="hud bracket"/>
          <p:cNvSpPr/>
          <p:nvPr/>
        </p:nvSpPr>
        <p:spPr>
          <a:xfrm>
            <a:off x="6355080" y="4389120"/>
            <a:ext cx="201168" cy="0"/>
          </a:xfrm>
          <a:prstGeom prst="line">
            <a:avLst/>
          </a:prstGeom>
          <a:noFill/>
          <a:ln w="25400">
            <a:solidFill>
              <a:srgbClr val="34D399"/>
            </a:solidFill>
            <a:prstDash val="solid"/>
          </a:ln>
        </p:spPr>
      </p:sp>
      <p:sp>
        <p:nvSpPr>
          <p:cNvPr id="26" name="hud bracket"/>
          <p:cNvSpPr/>
          <p:nvPr/>
        </p:nvSpPr>
        <p:spPr>
          <a:xfrm>
            <a:off x="6355080" y="4187952"/>
            <a:ext cx="0" cy="201168"/>
          </a:xfrm>
          <a:prstGeom prst="line">
            <a:avLst/>
          </a:prstGeom>
          <a:noFill/>
          <a:ln w="25400">
            <a:solidFill>
              <a:srgbClr val="34D399"/>
            </a:solidFill>
            <a:prstDash val="solid"/>
          </a:ln>
        </p:spPr>
      </p:sp>
      <p:sp>
        <p:nvSpPr>
          <p:cNvPr id="27" name="hud bracket"/>
          <p:cNvSpPr/>
          <p:nvPr/>
        </p:nvSpPr>
        <p:spPr>
          <a:xfrm>
            <a:off x="11441887" y="4389120"/>
            <a:ext cx="201168" cy="0"/>
          </a:xfrm>
          <a:prstGeom prst="line">
            <a:avLst/>
          </a:prstGeom>
          <a:noFill/>
          <a:ln w="25400">
            <a:solidFill>
              <a:srgbClr val="34D399"/>
            </a:solidFill>
            <a:prstDash val="solid"/>
          </a:ln>
        </p:spPr>
      </p:sp>
      <p:sp>
        <p:nvSpPr>
          <p:cNvPr id="28" name="hud bracket"/>
          <p:cNvSpPr/>
          <p:nvPr/>
        </p:nvSpPr>
        <p:spPr>
          <a:xfrm>
            <a:off x="11643055" y="4187952"/>
            <a:ext cx="0" cy="201168"/>
          </a:xfrm>
          <a:prstGeom prst="line">
            <a:avLst/>
          </a:prstGeom>
          <a:noFill/>
          <a:ln w="25400">
            <a:solidFill>
              <a:srgbClr val="34D399"/>
            </a:solidFill>
            <a:prstDash val="solid"/>
          </a:ln>
        </p:spPr>
      </p:sp>
      <p:sp>
        <p:nvSpPr>
          <p:cNvPr id="29" name="Text 21"/>
          <p:cNvSpPr txBox="1"/>
          <p:nvPr/>
        </p:nvSpPr>
        <p:spPr>
          <a:xfrm>
            <a:off x="6583680" y="2816352"/>
            <a:ext cx="1645920" cy="256032"/>
          </a:xfrm>
          <a:prstGeom prst="rect">
            <a:avLst/>
          </a:prstGeom>
          <a:noFill/>
          <a:ln/>
        </p:spPr>
        <p:txBody>
          <a:bodyPr wrap="square" lIns="0" tIns="0" rIns="0" bIns="0" rtlCol="0" anchor="ctr"/>
          <a:lstStyle/>
          <a:p>
            <a:pPr indent="0" marL="0">
              <a:buNone/>
            </a:pPr>
            <a:r>
              <a:rPr lang="en-US" sz="1100" b="1" spc="200" kern="0" dirty="0">
                <a:solidFill>
                  <a:srgbClr val="9FB3C8"/>
                </a:solidFill>
                <a:latin typeface="Consolas" pitchFamily="34" charset="0"/>
                <a:ea typeface="Consolas" pitchFamily="34" charset="-122"/>
                <a:cs typeface="Consolas" pitchFamily="34" charset="-120"/>
              </a:rPr>
              <a:t>LOCK SCORE</a:t>
            </a:r>
            <a:endParaRPr lang="en-US" sz="1100" dirty="0"/>
          </a:p>
        </p:txBody>
      </p:sp>
      <p:sp>
        <p:nvSpPr>
          <p:cNvPr id="30" name="Text 22"/>
          <p:cNvSpPr txBox="1"/>
          <p:nvPr/>
        </p:nvSpPr>
        <p:spPr>
          <a:xfrm>
            <a:off x="6583680" y="3108960"/>
            <a:ext cx="1645920" cy="777240"/>
          </a:xfrm>
          <a:prstGeom prst="rect">
            <a:avLst/>
          </a:prstGeom>
          <a:noFill/>
          <a:ln/>
        </p:spPr>
        <p:txBody>
          <a:bodyPr wrap="square" lIns="0" tIns="0" rIns="0" bIns="0" rtlCol="0" anchor="ctr"/>
          <a:lstStyle/>
          <a:p>
            <a:pPr indent="0" marL="0">
              <a:buNone/>
            </a:pPr>
            <a:r>
              <a:rPr lang="en-US" sz="4800" b="1" dirty="0">
                <a:solidFill>
                  <a:srgbClr val="34D399"/>
                </a:solidFill>
              </a:rPr>
              <a:t>20</a:t>
            </a:r>
            <a:pPr indent="0" marL="0">
              <a:buNone/>
            </a:pPr>
            <a:r>
              <a:rPr lang="en-US" sz="1800" dirty="0">
                <a:solidFill>
                  <a:srgbClr val="9FB3C8"/>
                </a:solidFill>
              </a:rPr>
              <a:t> /25</a:t>
            </a:r>
            <a:endParaRPr lang="en-US" sz="4800" dirty="0"/>
          </a:p>
        </p:txBody>
      </p:sp>
      <p:sp>
        <p:nvSpPr>
          <p:cNvPr id="31" name="Text 23"/>
          <p:cNvSpPr txBox="1"/>
          <p:nvPr/>
        </p:nvSpPr>
        <p:spPr>
          <a:xfrm>
            <a:off x="6583680" y="3931920"/>
            <a:ext cx="1371600" cy="310896"/>
          </a:xfrm>
          <a:prstGeom prst="roundRect">
            <a:avLst>
              <a:gd name="adj" fmla="val 50000"/>
            </a:avLst>
          </a:prstGeom>
          <a:solidFill>
            <a:srgbClr val="34D399"/>
          </a:solidFill>
          <a:ln/>
        </p:spPr>
        <p:txBody>
          <a:bodyPr wrap="square" lIns="0" tIns="0" rIns="0" bIns="0" rtlCol="0" anchor="ctr"/>
          <a:lstStyle/>
          <a:p>
            <a:pPr algn="ctr" indent="0" marL="0">
              <a:buNone/>
            </a:pPr>
            <a:r>
              <a:rPr lang="en-US" sz="1100" b="1" dirty="0">
                <a:solidFill>
                  <a:schemeClr val="tx2"/>
                </a:solidFill>
                <a:latin typeface="Consolas" pitchFamily="34" charset="0"/>
                <a:ea typeface="Consolas" pitchFamily="34" charset="-122"/>
                <a:cs typeface="Consolas" pitchFamily="34" charset="-120"/>
              </a:rPr>
              <a:t>JOINT 1ST</a:t>
            </a:r>
            <a:endParaRPr lang="en-US" sz="1100" dirty="0"/>
          </a:p>
        </p:txBody>
      </p:sp>
      <p:graphicFrame>
        <p:nvGraphicFramePr>
          <p:cNvPr id="32" name="Gmail score chart" descr=""/>
          <p:cNvGraphicFramePr/>
          <p:nvPr/>
        </p:nvGraphicFramePr>
        <p:xfrm>
          <a:off x="8183880" y="2743200"/>
          <a:ext cx="3367735" cy="1600200"/>
        </p:xfrm>
        <a:graphic xmlns:a="http://schemas.openxmlformats.org/drawingml/2006/main">
          <a:graphicData uri="http://schemas.openxmlformats.org/drawingml/2006/chart">
            <c:chart xmlns:c="http://schemas.openxmlformats.org/drawingml/2006/chart" r:id="rId7"/>
          </a:graphicData>
        </a:graphic>
      </p:graphicFrame>
      <p:sp>
        <p:nvSpPr>
          <p:cNvPr id="33" name="fix card"/>
          <p:cNvSpPr/>
          <p:nvPr/>
        </p:nvSpPr>
        <p:spPr>
          <a:xfrm>
            <a:off x="6355080" y="4572000"/>
            <a:ext cx="5287975" cy="1325880"/>
          </a:xfrm>
          <a:prstGeom prst="roundRect">
            <a:avLst>
              <a:gd name="adj" fmla="val 5517"/>
            </a:avLst>
          </a:prstGeom>
          <a:solidFill>
            <a:srgbClr val="22D3EE">
              <a:alpha val="12000"/>
            </a:srgbClr>
          </a:solidFill>
          <a:ln w="12700">
            <a:solidFill>
              <a:srgbClr val="22D3EE"/>
            </a:solidFill>
            <a:prstDash val="solid"/>
          </a:ln>
        </p:spPr>
      </p:sp>
      <p:sp>
        <p:nvSpPr>
          <p:cNvPr id="34" name="fix circle"/>
          <p:cNvSpPr/>
          <p:nvPr/>
        </p:nvSpPr>
        <p:spPr>
          <a:xfrm>
            <a:off x="6537960" y="4709160"/>
            <a:ext cx="384048" cy="384048"/>
          </a:xfrm>
          <a:prstGeom prst="ellipse">
            <a:avLst/>
          </a:prstGeom>
          <a:solidFill>
            <a:schemeClr val="accent1"/>
          </a:solidFill>
          <a:ln/>
        </p:spPr>
      </p:sp>
      <p:pic>
        <p:nvPicPr>
          <p:cNvPr id="35" name="fix icon" descr="fix">    </p:cNvPr>
          <p:cNvPicPr>
            <a:picLocks noChangeAspect="1"/>
          </p:cNvPicPr>
          <p:nvPr/>
        </p:nvPicPr>
        <p:blipFill>
          <a:blip r:embed="rId8"/>
          <a:stretch>
            <a:fillRect/>
          </a:stretch>
        </p:blipFill>
        <p:spPr>
          <a:xfrm>
            <a:off x="6630132" y="4801332"/>
            <a:ext cx="199705" cy="199705"/>
          </a:xfrm>
          <a:prstGeom prst="rect">
            <a:avLst/>
          </a:prstGeom>
        </p:spPr>
      </p:pic>
      <p:sp>
        <p:nvSpPr>
          <p:cNvPr id="36" name="Text 26"/>
          <p:cNvSpPr txBox="1"/>
          <p:nvPr/>
        </p:nvSpPr>
        <p:spPr>
          <a:xfrm>
            <a:off x="7013448" y="4709160"/>
            <a:ext cx="4465015" cy="384048"/>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onsolas" pitchFamily="34" charset="0"/>
                <a:ea typeface="Consolas" pitchFamily="34" charset="-122"/>
                <a:cs typeface="Consolas" pitchFamily="34" charset="-120"/>
              </a:rPr>
              <a:t>HOW TO FIX THIS DOOR</a:t>
            </a:r>
            <a:endParaRPr lang="en-US" sz="1200" dirty="0"/>
          </a:p>
        </p:txBody>
      </p:sp>
      <p:sp>
        <p:nvSpPr>
          <p:cNvPr id="37" name="Text 27"/>
          <p:cNvSpPr txBox="1"/>
          <p:nvPr/>
        </p:nvSpPr>
        <p:spPr>
          <a:xfrm>
            <a:off x="6537960" y="5166360"/>
            <a:ext cx="4922215" cy="685800"/>
          </a:xfrm>
          <a:prstGeom prst="rect">
            <a:avLst/>
          </a:prstGeom>
          <a:noFill/>
          <a:ln/>
        </p:spPr>
        <p:txBody>
          <a:bodyPr wrap="square" lIns="0" tIns="0" rIns="0" bIns="0" rtlCol="0" anchor="t"/>
          <a:lstStyle/>
          <a:p>
            <a:pPr indent="0" marL="0">
              <a:buNone/>
            </a:pPr>
            <a:r>
              <a:rPr lang="en-US" sz="1400" dirty="0">
                <a:solidFill>
                  <a:schemeClr val="bg2"/>
                </a:solidFill>
              </a:rPr>
              <a:t>Optional end-to-end encryption for personal mail, and lookalike warnings for bKash, Nagad and local banks.</a:t>
            </a:r>
            <a:endParaRPr lang="en-US" sz="1400" dirty="0"/>
          </a:p>
        </p:txBody>
      </p:sp>
      <p:sp>
        <p:nvSpPr>
          <p:cNvPr id="38" name="Text 28"/>
          <p:cNvSpPr txBox="1"/>
          <p:nvPr/>
        </p:nvSpPr>
        <p:spPr>
          <a:xfrm>
            <a:off x="548640" y="6035040"/>
            <a:ext cx="11094415" cy="228600"/>
          </a:xfrm>
          <a:prstGeom prst="rect">
            <a:avLst/>
          </a:prstGeom>
          <a:noFill/>
          <a:ln/>
        </p:spPr>
        <p:txBody>
          <a:bodyPr wrap="square" lIns="0" tIns="0" rIns="0" bIns="0" rtlCol="0" anchor="ctr"/>
          <a:lstStyle/>
          <a:p>
            <a:pPr indent="0" marL="0">
              <a:buNone/>
            </a:pPr>
            <a:r>
              <a:rPr lang="en-US" sz="1000" i="1" dirty="0">
                <a:solidFill>
                  <a:srgbClr val="6B829C"/>
                </a:solidFill>
              </a:rPr>
              <a:t>Sources: Google (2023); Engadget (2025).</a:t>
            </a:r>
            <a:endParaRPr lang="en-US" sz="10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829C"/>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watermark" descr="preencoded.png">    </p:cNvPr>
          <p:cNvPicPr>
            <a:picLocks noChangeAspect="1"/>
          </p:cNvPicPr>
          <p:nvPr/>
        </p:nvPicPr>
        <p:blipFill>
          <a:blip r:embed="rId1"/>
          <a:stretch>
            <a:fillRect/>
          </a:stretch>
        </p:blipFill>
        <p:spPr>
          <a:xfrm>
            <a:off x="1737360" y="2377440"/>
            <a:ext cx="3840480" cy="3840480"/>
          </a:xfrm>
          <a:prstGeom prst="rect">
            <a:avLst/>
          </a:prstGeom>
        </p:spPr>
      </p:pic>
      <p:sp>
        <p:nvSpPr>
          <p:cNvPr id="3" name="section tag"/>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onsolas" pitchFamily="34" charset="0"/>
                <a:ea typeface="Consolas" pitchFamily="34" charset="-122"/>
                <a:cs typeface="Consolas" pitchFamily="34" charset="-120"/>
              </a:rPr>
              <a:t>// 05  DOOR 3/5 : FACEBOOK  ·  12:35 AM</a:t>
            </a:r>
            <a:endParaRPr lang="en-US" sz="1200" dirty="0"/>
          </a:p>
        </p:txBody>
      </p:sp>
      <p:sp>
        <p:nvSpPr>
          <p:cNvPr id="4" name="Text 0"/>
          <p:cNvSpPr/>
          <p:nvPr>
            <p:ph idx="100"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bg1"/>
                </a:solidFill>
              </a:rPr>
              <a:t>Facebook: strong locks, but the attacker changed them</a:t>
            </a:r>
            <a:endParaRPr lang="en-US" sz="2800" dirty="0"/>
          </a:p>
        </p:txBody>
      </p:sp>
      <p:sp>
        <p:nvSpPr>
          <p:cNvPr id="5" name="story banner"/>
          <p:cNvSpPr/>
          <p:nvPr/>
        </p:nvSpPr>
        <p:spPr>
          <a:xfrm>
            <a:off x="548640" y="1417320"/>
            <a:ext cx="11094415" cy="1005840"/>
          </a:xfrm>
          <a:prstGeom prst="roundRect">
            <a:avLst>
              <a:gd name="adj" fmla="val 7273"/>
            </a:avLst>
          </a:prstGeom>
          <a:solidFill>
            <a:srgbClr val="F87171">
              <a:alpha val="12000"/>
            </a:srgbClr>
          </a:solidFill>
          <a:ln w="12700">
            <a:solidFill>
              <a:srgbClr val="F87171"/>
            </a:solidFill>
            <a:prstDash val="solid"/>
          </a:ln>
        </p:spPr>
      </p:sp>
      <p:sp>
        <p:nvSpPr>
          <p:cNvPr id="6" name="Text 3"/>
          <p:cNvSpPr txBox="1"/>
          <p:nvPr/>
        </p:nvSpPr>
        <p:spPr>
          <a:xfrm>
            <a:off x="822960" y="1417320"/>
            <a:ext cx="1508760" cy="1005840"/>
          </a:xfrm>
          <a:prstGeom prst="rect">
            <a:avLst/>
          </a:prstGeom>
          <a:noFill/>
          <a:ln/>
        </p:spPr>
        <p:txBody>
          <a:bodyPr wrap="square" lIns="0" tIns="0" rIns="0" bIns="0" rtlCol="0" anchor="ctr"/>
          <a:lstStyle/>
          <a:p>
            <a:pPr indent="0" marL="0">
              <a:buNone/>
            </a:pPr>
            <a:r>
              <a:rPr lang="en-US" sz="2000" b="1" dirty="0">
                <a:solidFill>
                  <a:srgbClr val="F87171"/>
                </a:solidFill>
                <a:latin typeface="Consolas" pitchFamily="34" charset="0"/>
                <a:ea typeface="Consolas" pitchFamily="34" charset="-122"/>
                <a:cs typeface="Consolas" pitchFamily="34" charset="-120"/>
              </a:rPr>
              <a:t>12:35 AM</a:t>
            </a:r>
            <a:endParaRPr lang="en-US" sz="2000" dirty="0"/>
          </a:p>
        </p:txBody>
      </p:sp>
      <p:sp>
        <p:nvSpPr>
          <p:cNvPr id="7" name="Text 4"/>
          <p:cNvSpPr txBox="1"/>
          <p:nvPr/>
        </p:nvSpPr>
        <p:spPr>
          <a:xfrm>
            <a:off x="2377440" y="1417320"/>
            <a:ext cx="6796735" cy="1005840"/>
          </a:xfrm>
          <a:prstGeom prst="rect">
            <a:avLst/>
          </a:prstGeom>
          <a:noFill/>
          <a:ln/>
        </p:spPr>
        <p:txBody>
          <a:bodyPr wrap="square" lIns="0" tIns="0" rIns="0" bIns="0" rtlCol="0" anchor="ctr"/>
          <a:lstStyle/>
          <a:p>
            <a:pPr indent="0" marL="0">
              <a:buNone/>
            </a:pPr>
            <a:r>
              <a:rPr lang="en-US" sz="1600" i="1" dirty="0">
                <a:solidFill>
                  <a:schemeClr val="bg1"/>
                </a:solidFill>
              </a:rPr>
              <a:t>Using her Gmail, the attacker reset her Facebook password and swapped the recovery email and phone. By morning, Facebook believed he was Nusrat.</a:t>
            </a:r>
            <a:endParaRPr lang="en-US" sz="1600" dirty="0"/>
          </a:p>
        </p:txBody>
      </p:sp>
      <p:sp>
        <p:nvSpPr>
          <p:cNvPr id="8" name="stamp"/>
          <p:cNvSpPr txBox="1"/>
          <p:nvPr/>
        </p:nvSpPr>
        <p:spPr>
          <a:xfrm rot="-480000">
            <a:off x="9402775" y="1691640"/>
            <a:ext cx="1920240" cy="457200"/>
          </a:xfrm>
          <a:prstGeom prst="rect">
            <a:avLst/>
          </a:prstGeom>
          <a:noFill/>
          <a:ln w="28575">
            <a:solidFill>
              <a:srgbClr val="F87171"/>
            </a:solidFill>
          </a:ln>
        </p:spPr>
        <p:txBody>
          <a:bodyPr wrap="square" lIns="0" tIns="0" rIns="0" bIns="0" rtlCol="0" anchor="ctr"/>
          <a:lstStyle/>
          <a:p>
            <a:pPr algn="ctr" indent="0" marL="0">
              <a:buNone/>
            </a:pPr>
            <a:r>
              <a:rPr lang="en-US" sz="1600" b="1" spc="300" kern="0" dirty="0">
                <a:solidFill>
                  <a:srgbClr val="F87171"/>
                </a:solidFill>
                <a:latin typeface="Consolas" pitchFamily="34" charset="0"/>
                <a:ea typeface="Consolas" pitchFamily="34" charset="-122"/>
                <a:cs typeface="Consolas" pitchFamily="34" charset="-120"/>
              </a:rPr>
              <a:t>BREACHED</a:t>
            </a:r>
            <a:endParaRPr lang="en-US" sz="1600" dirty="0"/>
          </a:p>
        </p:txBody>
      </p:sp>
      <p:sp>
        <p:nvSpPr>
          <p:cNvPr id="9" name="Text 6"/>
          <p:cNvSpPr txBox="1"/>
          <p:nvPr/>
        </p:nvSpPr>
        <p:spPr>
          <a:xfrm>
            <a:off x="548640" y="2697480"/>
            <a:ext cx="5486400" cy="274320"/>
          </a:xfrm>
          <a:prstGeom prst="rect">
            <a:avLst/>
          </a:prstGeom>
          <a:noFill/>
          <a:ln/>
        </p:spPr>
        <p:txBody>
          <a:bodyPr wrap="square" lIns="0" tIns="0" rIns="0" bIns="0" rtlCol="0" anchor="ctr"/>
          <a:lstStyle/>
          <a:p>
            <a:pPr indent="0" marL="0">
              <a:buNone/>
            </a:pPr>
            <a:r>
              <a:rPr lang="en-US" sz="1200" b="1" spc="200" kern="0" dirty="0">
                <a:solidFill>
                  <a:srgbClr val="9FB3C8"/>
                </a:solidFill>
                <a:latin typeface="Consolas" pitchFamily="34" charset="0"/>
                <a:ea typeface="Consolas" pitchFamily="34" charset="-122"/>
                <a:cs typeface="Consolas" pitchFamily="34" charset="-120"/>
              </a:rPr>
              <a:t>THE LOCKS THAT EXIST</a:t>
            </a:r>
            <a:endParaRPr lang="en-US" sz="1200" dirty="0"/>
          </a:p>
        </p:txBody>
      </p:sp>
      <p:pic>
        <p:nvPicPr>
          <p:cNvPr id="10" name="lock 1" descr="Available">    </p:cNvPr>
          <p:cNvPicPr>
            <a:picLocks noChangeAspect="1"/>
          </p:cNvPicPr>
          <p:nvPr/>
        </p:nvPicPr>
        <p:blipFill>
          <a:blip r:embed="rId2"/>
          <a:stretch>
            <a:fillRect/>
          </a:stretch>
        </p:blipFill>
        <p:spPr>
          <a:xfrm>
            <a:off x="548640" y="3154680"/>
            <a:ext cx="256032" cy="256032"/>
          </a:xfrm>
          <a:prstGeom prst="rect">
            <a:avLst/>
          </a:prstGeom>
        </p:spPr>
      </p:pic>
      <p:sp>
        <p:nvSpPr>
          <p:cNvPr id="11" name="Text 7"/>
          <p:cNvSpPr txBox="1"/>
          <p:nvPr/>
        </p:nvSpPr>
        <p:spPr>
          <a:xfrm>
            <a:off x="960120" y="3108960"/>
            <a:ext cx="5120640" cy="365760"/>
          </a:xfrm>
          <a:prstGeom prst="rect">
            <a:avLst/>
          </a:prstGeom>
          <a:noFill/>
          <a:ln/>
        </p:spPr>
        <p:txBody>
          <a:bodyPr wrap="square" lIns="0" tIns="0" rIns="0" bIns="0" rtlCol="0" anchor="ctr"/>
          <a:lstStyle/>
          <a:p>
            <a:pPr indent="0" marL="0">
              <a:buNone/>
            </a:pPr>
            <a:r>
              <a:rPr lang="en-US" sz="1500" dirty="0">
                <a:solidFill>
                  <a:schemeClr val="bg2"/>
                </a:solidFill>
              </a:rPr>
              <a:t>Two-factor authentication: app, SMS or security key</a:t>
            </a:r>
            <a:endParaRPr lang="en-US" sz="1500" dirty="0"/>
          </a:p>
        </p:txBody>
      </p:sp>
      <p:pic>
        <p:nvPicPr>
          <p:cNvPr id="12" name="lock 2" descr="Available">    </p:cNvPr>
          <p:cNvPicPr>
            <a:picLocks noChangeAspect="1"/>
          </p:cNvPicPr>
          <p:nvPr/>
        </p:nvPicPr>
        <p:blipFill>
          <a:blip r:embed="rId3"/>
          <a:stretch>
            <a:fillRect/>
          </a:stretch>
        </p:blipFill>
        <p:spPr>
          <a:xfrm>
            <a:off x="548640" y="3721608"/>
            <a:ext cx="256032" cy="256032"/>
          </a:xfrm>
          <a:prstGeom prst="rect">
            <a:avLst/>
          </a:prstGeom>
        </p:spPr>
      </p:pic>
      <p:sp>
        <p:nvSpPr>
          <p:cNvPr id="13" name="Text 8"/>
          <p:cNvSpPr txBox="1"/>
          <p:nvPr/>
        </p:nvSpPr>
        <p:spPr>
          <a:xfrm>
            <a:off x="960120" y="3675888"/>
            <a:ext cx="5120640" cy="365760"/>
          </a:xfrm>
          <a:prstGeom prst="rect">
            <a:avLst/>
          </a:prstGeom>
          <a:noFill/>
          <a:ln/>
        </p:spPr>
        <p:txBody>
          <a:bodyPr wrap="square" lIns="0" tIns="0" rIns="0" bIns="0" rtlCol="0" anchor="ctr"/>
          <a:lstStyle/>
          <a:p>
            <a:pPr indent="0" marL="0">
              <a:buNone/>
            </a:pPr>
            <a:r>
              <a:rPr lang="en-US" sz="1500" dirty="0">
                <a:solidFill>
                  <a:schemeClr val="bg2"/>
                </a:solidFill>
              </a:rPr>
              <a:t>Login alerts and remote log-out</a:t>
            </a:r>
            <a:endParaRPr lang="en-US" sz="1500" dirty="0"/>
          </a:p>
        </p:txBody>
      </p:sp>
      <p:pic>
        <p:nvPicPr>
          <p:cNvPr id="14" name="lock 3" descr="Available">    </p:cNvPr>
          <p:cNvPicPr>
            <a:picLocks noChangeAspect="1"/>
          </p:cNvPicPr>
          <p:nvPr/>
        </p:nvPicPr>
        <p:blipFill>
          <a:blip r:embed="rId4"/>
          <a:stretch>
            <a:fillRect/>
          </a:stretch>
        </p:blipFill>
        <p:spPr>
          <a:xfrm>
            <a:off x="548640" y="4288536"/>
            <a:ext cx="256032" cy="256032"/>
          </a:xfrm>
          <a:prstGeom prst="rect">
            <a:avLst/>
          </a:prstGeom>
        </p:spPr>
      </p:pic>
      <p:sp>
        <p:nvSpPr>
          <p:cNvPr id="15" name="Text 9"/>
          <p:cNvSpPr txBox="1"/>
          <p:nvPr/>
        </p:nvSpPr>
        <p:spPr>
          <a:xfrm>
            <a:off x="960120" y="4242816"/>
            <a:ext cx="5120640" cy="365760"/>
          </a:xfrm>
          <a:prstGeom prst="rect">
            <a:avLst/>
          </a:prstGeom>
          <a:noFill/>
          <a:ln/>
        </p:spPr>
        <p:txBody>
          <a:bodyPr wrap="square" lIns="0" tIns="0" rIns="0" bIns="0" rtlCol="0" anchor="ctr"/>
          <a:lstStyle/>
          <a:p>
            <a:pPr indent="0" marL="0">
              <a:buNone/>
            </a:pPr>
            <a:r>
              <a:rPr lang="en-US" sz="1500" dirty="0">
                <a:solidFill>
                  <a:schemeClr val="bg2"/>
                </a:solidFill>
              </a:rPr>
              <a:t>Passkeys on mobile since June 2025</a:t>
            </a:r>
            <a:endParaRPr lang="en-US" sz="1500" dirty="0"/>
          </a:p>
        </p:txBody>
      </p:sp>
      <p:pic>
        <p:nvPicPr>
          <p:cNvPr id="16" name="lock 4" descr="Available">    </p:cNvPr>
          <p:cNvPicPr>
            <a:picLocks noChangeAspect="1"/>
          </p:cNvPicPr>
          <p:nvPr/>
        </p:nvPicPr>
        <p:blipFill>
          <a:blip r:embed="rId5"/>
          <a:stretch>
            <a:fillRect/>
          </a:stretch>
        </p:blipFill>
        <p:spPr>
          <a:xfrm>
            <a:off x="548640" y="4855464"/>
            <a:ext cx="256032" cy="256032"/>
          </a:xfrm>
          <a:prstGeom prst="rect">
            <a:avLst/>
          </a:prstGeom>
        </p:spPr>
      </p:pic>
      <p:sp>
        <p:nvSpPr>
          <p:cNvPr id="17" name="Text 10"/>
          <p:cNvSpPr txBox="1"/>
          <p:nvPr/>
        </p:nvSpPr>
        <p:spPr>
          <a:xfrm>
            <a:off x="960120" y="4809744"/>
            <a:ext cx="5120640" cy="365760"/>
          </a:xfrm>
          <a:prstGeom prst="rect">
            <a:avLst/>
          </a:prstGeom>
          <a:noFill/>
          <a:ln/>
        </p:spPr>
        <p:txBody>
          <a:bodyPr wrap="square" lIns="0" tIns="0" rIns="0" bIns="0" rtlCol="0" anchor="ctr"/>
          <a:lstStyle/>
          <a:p>
            <a:pPr indent="0" marL="0">
              <a:buNone/>
            </a:pPr>
            <a:r>
              <a:rPr lang="en-US" sz="1500" dirty="0">
                <a:solidFill>
                  <a:schemeClr val="bg2"/>
                </a:solidFill>
              </a:rPr>
              <a:t>Profile lock hides photos from strangers</a:t>
            </a:r>
            <a:endParaRPr lang="en-US" sz="1500" dirty="0"/>
          </a:p>
        </p:txBody>
      </p:sp>
      <p:pic>
        <p:nvPicPr>
          <p:cNvPr id="18" name="lock 5" descr="Available">    </p:cNvPr>
          <p:cNvPicPr>
            <a:picLocks noChangeAspect="1"/>
          </p:cNvPicPr>
          <p:nvPr/>
        </p:nvPicPr>
        <p:blipFill>
          <a:blip r:embed="rId6"/>
          <a:stretch>
            <a:fillRect/>
          </a:stretch>
        </p:blipFill>
        <p:spPr>
          <a:xfrm>
            <a:off x="548640" y="5422392"/>
            <a:ext cx="256032" cy="256032"/>
          </a:xfrm>
          <a:prstGeom prst="rect">
            <a:avLst/>
          </a:prstGeom>
        </p:spPr>
      </p:pic>
      <p:sp>
        <p:nvSpPr>
          <p:cNvPr id="19" name="Text 11"/>
          <p:cNvSpPr txBox="1"/>
          <p:nvPr/>
        </p:nvSpPr>
        <p:spPr>
          <a:xfrm>
            <a:off x="960120" y="5376672"/>
            <a:ext cx="5120640" cy="365760"/>
          </a:xfrm>
          <a:prstGeom prst="rect">
            <a:avLst/>
          </a:prstGeom>
          <a:noFill/>
          <a:ln/>
        </p:spPr>
        <p:txBody>
          <a:bodyPr wrap="square" lIns="0" tIns="0" rIns="0" bIns="0" rtlCol="0" anchor="ctr"/>
          <a:lstStyle/>
          <a:p>
            <a:pPr indent="0" marL="0">
              <a:buNone/>
            </a:pPr>
            <a:r>
              <a:rPr lang="en-US" sz="1500" dirty="0">
                <a:solidFill>
                  <a:schemeClr val="bg2"/>
                </a:solidFill>
              </a:rPr>
              <a:t>Messenger chats end-to-end encrypted by default</a:t>
            </a:r>
            <a:endParaRPr lang="en-US" sz="1500" dirty="0"/>
          </a:p>
        </p:txBody>
      </p:sp>
      <p:sp>
        <p:nvSpPr>
          <p:cNvPr id="20" name="score panel"/>
          <p:cNvSpPr/>
          <p:nvPr/>
        </p:nvSpPr>
        <p:spPr>
          <a:xfrm>
            <a:off x="6355080" y="2697480"/>
            <a:ext cx="5287975" cy="1691640"/>
          </a:xfrm>
          <a:prstGeom prst="roundRect">
            <a:avLst>
              <a:gd name="adj" fmla="val 4324"/>
            </a:avLst>
          </a:prstGeom>
          <a:solidFill>
            <a:srgbClr val="0E1E33">
              <a:alpha val="82000"/>
            </a:srgbClr>
          </a:solidFill>
          <a:ln w="12700">
            <a:solidFill>
              <a:srgbClr val="1F3A5A"/>
            </a:solidFill>
            <a:prstDash val="solid"/>
          </a:ln>
        </p:spPr>
      </p:sp>
      <p:sp>
        <p:nvSpPr>
          <p:cNvPr id="21" name="hud bracket"/>
          <p:cNvSpPr/>
          <p:nvPr/>
        </p:nvSpPr>
        <p:spPr>
          <a:xfrm>
            <a:off x="6355080" y="2697480"/>
            <a:ext cx="201168" cy="0"/>
          </a:xfrm>
          <a:prstGeom prst="line">
            <a:avLst/>
          </a:prstGeom>
          <a:noFill/>
          <a:ln w="25400">
            <a:solidFill>
              <a:srgbClr val="60A5FA"/>
            </a:solidFill>
            <a:prstDash val="solid"/>
          </a:ln>
        </p:spPr>
      </p:sp>
      <p:sp>
        <p:nvSpPr>
          <p:cNvPr id="22" name="hud bracket"/>
          <p:cNvSpPr/>
          <p:nvPr/>
        </p:nvSpPr>
        <p:spPr>
          <a:xfrm>
            <a:off x="6355080" y="2697480"/>
            <a:ext cx="0" cy="201168"/>
          </a:xfrm>
          <a:prstGeom prst="line">
            <a:avLst/>
          </a:prstGeom>
          <a:noFill/>
          <a:ln w="25400">
            <a:solidFill>
              <a:srgbClr val="60A5FA"/>
            </a:solidFill>
            <a:prstDash val="solid"/>
          </a:ln>
        </p:spPr>
      </p:sp>
      <p:sp>
        <p:nvSpPr>
          <p:cNvPr id="23" name="hud bracket"/>
          <p:cNvSpPr/>
          <p:nvPr/>
        </p:nvSpPr>
        <p:spPr>
          <a:xfrm>
            <a:off x="11441887" y="2697480"/>
            <a:ext cx="201168" cy="0"/>
          </a:xfrm>
          <a:prstGeom prst="line">
            <a:avLst/>
          </a:prstGeom>
          <a:noFill/>
          <a:ln w="25400">
            <a:solidFill>
              <a:srgbClr val="60A5FA"/>
            </a:solidFill>
            <a:prstDash val="solid"/>
          </a:ln>
        </p:spPr>
      </p:sp>
      <p:sp>
        <p:nvSpPr>
          <p:cNvPr id="24" name="hud bracket"/>
          <p:cNvSpPr/>
          <p:nvPr/>
        </p:nvSpPr>
        <p:spPr>
          <a:xfrm>
            <a:off x="11643055" y="2697480"/>
            <a:ext cx="0" cy="201168"/>
          </a:xfrm>
          <a:prstGeom prst="line">
            <a:avLst/>
          </a:prstGeom>
          <a:noFill/>
          <a:ln w="25400">
            <a:solidFill>
              <a:srgbClr val="60A5FA"/>
            </a:solidFill>
            <a:prstDash val="solid"/>
          </a:ln>
        </p:spPr>
      </p:sp>
      <p:sp>
        <p:nvSpPr>
          <p:cNvPr id="25" name="hud bracket"/>
          <p:cNvSpPr/>
          <p:nvPr/>
        </p:nvSpPr>
        <p:spPr>
          <a:xfrm>
            <a:off x="6355080" y="4389120"/>
            <a:ext cx="201168" cy="0"/>
          </a:xfrm>
          <a:prstGeom prst="line">
            <a:avLst/>
          </a:prstGeom>
          <a:noFill/>
          <a:ln w="25400">
            <a:solidFill>
              <a:srgbClr val="60A5FA"/>
            </a:solidFill>
            <a:prstDash val="solid"/>
          </a:ln>
        </p:spPr>
      </p:sp>
      <p:sp>
        <p:nvSpPr>
          <p:cNvPr id="26" name="hud bracket"/>
          <p:cNvSpPr/>
          <p:nvPr/>
        </p:nvSpPr>
        <p:spPr>
          <a:xfrm>
            <a:off x="6355080" y="4187952"/>
            <a:ext cx="0" cy="201168"/>
          </a:xfrm>
          <a:prstGeom prst="line">
            <a:avLst/>
          </a:prstGeom>
          <a:noFill/>
          <a:ln w="25400">
            <a:solidFill>
              <a:srgbClr val="60A5FA"/>
            </a:solidFill>
            <a:prstDash val="solid"/>
          </a:ln>
        </p:spPr>
      </p:sp>
      <p:sp>
        <p:nvSpPr>
          <p:cNvPr id="27" name="hud bracket"/>
          <p:cNvSpPr/>
          <p:nvPr/>
        </p:nvSpPr>
        <p:spPr>
          <a:xfrm>
            <a:off x="11441887" y="4389120"/>
            <a:ext cx="201168" cy="0"/>
          </a:xfrm>
          <a:prstGeom prst="line">
            <a:avLst/>
          </a:prstGeom>
          <a:noFill/>
          <a:ln w="25400">
            <a:solidFill>
              <a:srgbClr val="60A5FA"/>
            </a:solidFill>
            <a:prstDash val="solid"/>
          </a:ln>
        </p:spPr>
      </p:sp>
      <p:sp>
        <p:nvSpPr>
          <p:cNvPr id="28" name="hud bracket"/>
          <p:cNvSpPr/>
          <p:nvPr/>
        </p:nvSpPr>
        <p:spPr>
          <a:xfrm>
            <a:off x="11643055" y="4187952"/>
            <a:ext cx="0" cy="201168"/>
          </a:xfrm>
          <a:prstGeom prst="line">
            <a:avLst/>
          </a:prstGeom>
          <a:noFill/>
          <a:ln w="25400">
            <a:solidFill>
              <a:srgbClr val="60A5FA"/>
            </a:solidFill>
            <a:prstDash val="solid"/>
          </a:ln>
        </p:spPr>
      </p:sp>
      <p:sp>
        <p:nvSpPr>
          <p:cNvPr id="29" name="Text 21"/>
          <p:cNvSpPr txBox="1"/>
          <p:nvPr/>
        </p:nvSpPr>
        <p:spPr>
          <a:xfrm>
            <a:off x="6583680" y="2816352"/>
            <a:ext cx="1645920" cy="256032"/>
          </a:xfrm>
          <a:prstGeom prst="rect">
            <a:avLst/>
          </a:prstGeom>
          <a:noFill/>
          <a:ln/>
        </p:spPr>
        <p:txBody>
          <a:bodyPr wrap="square" lIns="0" tIns="0" rIns="0" bIns="0" rtlCol="0" anchor="ctr"/>
          <a:lstStyle/>
          <a:p>
            <a:pPr indent="0" marL="0">
              <a:buNone/>
            </a:pPr>
            <a:r>
              <a:rPr lang="en-US" sz="1100" b="1" spc="200" kern="0" dirty="0">
                <a:solidFill>
                  <a:srgbClr val="9FB3C8"/>
                </a:solidFill>
                <a:latin typeface="Consolas" pitchFamily="34" charset="0"/>
                <a:ea typeface="Consolas" pitchFamily="34" charset="-122"/>
                <a:cs typeface="Consolas" pitchFamily="34" charset="-120"/>
              </a:rPr>
              <a:t>LOCK SCORE</a:t>
            </a:r>
            <a:endParaRPr lang="en-US" sz="1100" dirty="0"/>
          </a:p>
        </p:txBody>
      </p:sp>
      <p:sp>
        <p:nvSpPr>
          <p:cNvPr id="30" name="Text 22"/>
          <p:cNvSpPr txBox="1"/>
          <p:nvPr/>
        </p:nvSpPr>
        <p:spPr>
          <a:xfrm>
            <a:off x="6583680" y="3108960"/>
            <a:ext cx="1645920" cy="777240"/>
          </a:xfrm>
          <a:prstGeom prst="rect">
            <a:avLst/>
          </a:prstGeom>
          <a:noFill/>
          <a:ln/>
        </p:spPr>
        <p:txBody>
          <a:bodyPr wrap="square" lIns="0" tIns="0" rIns="0" bIns="0" rtlCol="0" anchor="ctr"/>
          <a:lstStyle/>
          <a:p>
            <a:pPr indent="0" marL="0">
              <a:buNone/>
            </a:pPr>
            <a:r>
              <a:rPr lang="en-US" sz="4800" b="1" dirty="0">
                <a:solidFill>
                  <a:srgbClr val="60A5FA"/>
                </a:solidFill>
              </a:rPr>
              <a:t>16</a:t>
            </a:r>
            <a:pPr indent="0" marL="0">
              <a:buNone/>
            </a:pPr>
            <a:r>
              <a:rPr lang="en-US" sz="1800" dirty="0">
                <a:solidFill>
                  <a:srgbClr val="9FB3C8"/>
                </a:solidFill>
              </a:rPr>
              <a:t> /25</a:t>
            </a:r>
            <a:endParaRPr lang="en-US" sz="4800" dirty="0"/>
          </a:p>
        </p:txBody>
      </p:sp>
      <p:sp>
        <p:nvSpPr>
          <p:cNvPr id="31" name="Text 23"/>
          <p:cNvSpPr txBox="1"/>
          <p:nvPr/>
        </p:nvSpPr>
        <p:spPr>
          <a:xfrm>
            <a:off x="6583680" y="3931920"/>
            <a:ext cx="1371600" cy="310896"/>
          </a:xfrm>
          <a:prstGeom prst="roundRect">
            <a:avLst>
              <a:gd name="adj" fmla="val 50000"/>
            </a:avLst>
          </a:prstGeom>
          <a:solidFill>
            <a:srgbClr val="60A5FA"/>
          </a:solidFill>
          <a:ln/>
        </p:spPr>
        <p:txBody>
          <a:bodyPr wrap="square" lIns="0" tIns="0" rIns="0" bIns="0" rtlCol="0" anchor="ctr"/>
          <a:lstStyle/>
          <a:p>
            <a:pPr algn="ctr" indent="0" marL="0">
              <a:buNone/>
            </a:pPr>
            <a:r>
              <a:rPr lang="en-US" sz="1100" b="1" dirty="0">
                <a:solidFill>
                  <a:schemeClr val="tx2"/>
                </a:solidFill>
                <a:latin typeface="Consolas" pitchFamily="34" charset="0"/>
                <a:ea typeface="Consolas" pitchFamily="34" charset="-122"/>
                <a:cs typeface="Consolas" pitchFamily="34" charset="-120"/>
              </a:rPr>
              <a:t>JOINT 3RD</a:t>
            </a:r>
            <a:endParaRPr lang="en-US" sz="1100" dirty="0"/>
          </a:p>
        </p:txBody>
      </p:sp>
      <p:graphicFrame>
        <p:nvGraphicFramePr>
          <p:cNvPr id="32" name="Facebook score chart" descr=""/>
          <p:cNvGraphicFramePr/>
          <p:nvPr/>
        </p:nvGraphicFramePr>
        <p:xfrm>
          <a:off x="8183880" y="2743200"/>
          <a:ext cx="3367735" cy="1600200"/>
        </p:xfrm>
        <a:graphic xmlns:a="http://schemas.openxmlformats.org/drawingml/2006/main">
          <a:graphicData uri="http://schemas.openxmlformats.org/drawingml/2006/chart">
            <c:chart xmlns:c="http://schemas.openxmlformats.org/drawingml/2006/chart" r:id="rId7"/>
          </a:graphicData>
        </a:graphic>
      </p:graphicFrame>
      <p:sp>
        <p:nvSpPr>
          <p:cNvPr id="33" name="fix card"/>
          <p:cNvSpPr/>
          <p:nvPr/>
        </p:nvSpPr>
        <p:spPr>
          <a:xfrm>
            <a:off x="6355080" y="4572000"/>
            <a:ext cx="5287975" cy="1325880"/>
          </a:xfrm>
          <a:prstGeom prst="roundRect">
            <a:avLst>
              <a:gd name="adj" fmla="val 5517"/>
            </a:avLst>
          </a:prstGeom>
          <a:solidFill>
            <a:srgbClr val="22D3EE">
              <a:alpha val="12000"/>
            </a:srgbClr>
          </a:solidFill>
          <a:ln w="12700">
            <a:solidFill>
              <a:srgbClr val="22D3EE"/>
            </a:solidFill>
            <a:prstDash val="solid"/>
          </a:ln>
        </p:spPr>
      </p:sp>
      <p:sp>
        <p:nvSpPr>
          <p:cNvPr id="34" name="fix circle"/>
          <p:cNvSpPr/>
          <p:nvPr/>
        </p:nvSpPr>
        <p:spPr>
          <a:xfrm>
            <a:off x="6537960" y="4709160"/>
            <a:ext cx="384048" cy="384048"/>
          </a:xfrm>
          <a:prstGeom prst="ellipse">
            <a:avLst/>
          </a:prstGeom>
          <a:solidFill>
            <a:schemeClr val="accent1"/>
          </a:solidFill>
          <a:ln/>
        </p:spPr>
      </p:sp>
      <p:pic>
        <p:nvPicPr>
          <p:cNvPr id="35" name="fix icon" descr="fix">    </p:cNvPr>
          <p:cNvPicPr>
            <a:picLocks noChangeAspect="1"/>
          </p:cNvPicPr>
          <p:nvPr/>
        </p:nvPicPr>
        <p:blipFill>
          <a:blip r:embed="rId8"/>
          <a:stretch>
            <a:fillRect/>
          </a:stretch>
        </p:blipFill>
        <p:spPr>
          <a:xfrm>
            <a:off x="6630132" y="4801332"/>
            <a:ext cx="199705" cy="199705"/>
          </a:xfrm>
          <a:prstGeom prst="rect">
            <a:avLst/>
          </a:prstGeom>
        </p:spPr>
      </p:pic>
      <p:sp>
        <p:nvSpPr>
          <p:cNvPr id="36" name="Text 26"/>
          <p:cNvSpPr txBox="1"/>
          <p:nvPr/>
        </p:nvSpPr>
        <p:spPr>
          <a:xfrm>
            <a:off x="7013448" y="4709160"/>
            <a:ext cx="4465015" cy="384048"/>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onsolas" pitchFamily="34" charset="0"/>
                <a:ea typeface="Consolas" pitchFamily="34" charset="-122"/>
                <a:cs typeface="Consolas" pitchFamily="34" charset="-120"/>
              </a:rPr>
              <a:t>HOW TO FIX THIS DOOR</a:t>
            </a:r>
            <a:endParaRPr lang="en-US" sz="1200" dirty="0"/>
          </a:p>
        </p:txBody>
      </p:sp>
      <p:sp>
        <p:nvSpPr>
          <p:cNvPr id="37" name="Text 27"/>
          <p:cNvSpPr txBox="1"/>
          <p:nvPr/>
        </p:nvSpPr>
        <p:spPr>
          <a:xfrm>
            <a:off x="6537960" y="5166360"/>
            <a:ext cx="4922215" cy="685800"/>
          </a:xfrm>
          <a:prstGeom prst="rect">
            <a:avLst/>
          </a:prstGeom>
          <a:noFill/>
          <a:ln/>
        </p:spPr>
        <p:txBody>
          <a:bodyPr wrap="square" lIns="0" tIns="0" rIns="0" bIns="0" rtlCol="0" anchor="t"/>
          <a:lstStyle/>
          <a:p>
            <a:pPr indent="0" marL="0">
              <a:buNone/>
            </a:pPr>
            <a:r>
              <a:rPr lang="en-US" sz="1400" dirty="0">
                <a:solidFill>
                  <a:schemeClr val="bg2"/>
                </a:solidFill>
              </a:rPr>
              <a:t>A 48-hour cool-down on recovery changes, with alerts to old contacts, plus Bangla-language human support.</a:t>
            </a:r>
            <a:endParaRPr lang="en-US" sz="1400" dirty="0"/>
          </a:p>
        </p:txBody>
      </p:sp>
      <p:sp>
        <p:nvSpPr>
          <p:cNvPr id="38" name="Text 28"/>
          <p:cNvSpPr txBox="1"/>
          <p:nvPr/>
        </p:nvSpPr>
        <p:spPr>
          <a:xfrm>
            <a:off x="548640" y="6035040"/>
            <a:ext cx="11094415" cy="228600"/>
          </a:xfrm>
          <a:prstGeom prst="rect">
            <a:avLst/>
          </a:prstGeom>
          <a:noFill/>
          <a:ln/>
        </p:spPr>
        <p:txBody>
          <a:bodyPr wrap="square" lIns="0" tIns="0" rIns="0" bIns="0" rtlCol="0" anchor="ctr"/>
          <a:lstStyle/>
          <a:p>
            <a:pPr indent="0" marL="0">
              <a:buNone/>
            </a:pPr>
            <a:r>
              <a:rPr lang="en-US" sz="1000" i="1" dirty="0">
                <a:solidFill>
                  <a:srgbClr val="6B829C"/>
                </a:solidFill>
              </a:rPr>
              <a:t>Sources: Meta (2025); Crisan (2023).</a:t>
            </a:r>
            <a:endParaRPr lang="en-US" sz="10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829C"/>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watermark" descr="preencoded.png">    </p:cNvPr>
          <p:cNvPicPr>
            <a:picLocks noChangeAspect="1"/>
          </p:cNvPicPr>
          <p:nvPr/>
        </p:nvPicPr>
        <p:blipFill>
          <a:blip r:embed="rId1"/>
          <a:stretch>
            <a:fillRect/>
          </a:stretch>
        </p:blipFill>
        <p:spPr>
          <a:xfrm>
            <a:off x="1737360" y="2377440"/>
            <a:ext cx="3840480" cy="3840480"/>
          </a:xfrm>
          <a:prstGeom prst="rect">
            <a:avLst/>
          </a:prstGeom>
        </p:spPr>
      </p:pic>
      <p:sp>
        <p:nvSpPr>
          <p:cNvPr id="3" name="section tag"/>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onsolas" pitchFamily="34" charset="0"/>
                <a:ea typeface="Consolas" pitchFamily="34" charset="-122"/>
                <a:cs typeface="Consolas" pitchFamily="34" charset="-120"/>
              </a:rPr>
              <a:t>// 06  DOOR 4/5 : INSTAGRAM  ·  01:10 AM</a:t>
            </a:r>
            <a:endParaRPr lang="en-US" sz="1200" dirty="0"/>
          </a:p>
        </p:txBody>
      </p:sp>
      <p:sp>
        <p:nvSpPr>
          <p:cNvPr id="4" name="Text 0"/>
          <p:cNvSpPr/>
          <p:nvPr>
            <p:ph idx="100"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bg1"/>
                </a:solidFill>
              </a:rPr>
              <a:t>Instagram: her private messages were never truly private</a:t>
            </a:r>
            <a:endParaRPr lang="en-US" sz="2800" dirty="0"/>
          </a:p>
        </p:txBody>
      </p:sp>
      <p:sp>
        <p:nvSpPr>
          <p:cNvPr id="5" name="story banner"/>
          <p:cNvSpPr/>
          <p:nvPr/>
        </p:nvSpPr>
        <p:spPr>
          <a:xfrm>
            <a:off x="548640" y="1417320"/>
            <a:ext cx="11094415" cy="1005840"/>
          </a:xfrm>
          <a:prstGeom prst="roundRect">
            <a:avLst>
              <a:gd name="adj" fmla="val 7273"/>
            </a:avLst>
          </a:prstGeom>
          <a:solidFill>
            <a:srgbClr val="F87171">
              <a:alpha val="12000"/>
            </a:srgbClr>
          </a:solidFill>
          <a:ln w="12700">
            <a:solidFill>
              <a:srgbClr val="F87171"/>
            </a:solidFill>
            <a:prstDash val="solid"/>
          </a:ln>
        </p:spPr>
      </p:sp>
      <p:sp>
        <p:nvSpPr>
          <p:cNvPr id="6" name="Text 3"/>
          <p:cNvSpPr txBox="1"/>
          <p:nvPr/>
        </p:nvSpPr>
        <p:spPr>
          <a:xfrm>
            <a:off x="822960" y="1417320"/>
            <a:ext cx="1508760" cy="1005840"/>
          </a:xfrm>
          <a:prstGeom prst="rect">
            <a:avLst/>
          </a:prstGeom>
          <a:noFill/>
          <a:ln/>
        </p:spPr>
        <p:txBody>
          <a:bodyPr wrap="square" lIns="0" tIns="0" rIns="0" bIns="0" rtlCol="0" anchor="ctr"/>
          <a:lstStyle/>
          <a:p>
            <a:pPr indent="0" marL="0">
              <a:buNone/>
            </a:pPr>
            <a:r>
              <a:rPr lang="en-US" sz="2000" b="1" dirty="0">
                <a:solidFill>
                  <a:srgbClr val="F87171"/>
                </a:solidFill>
                <a:latin typeface="Consolas" pitchFamily="34" charset="0"/>
                <a:ea typeface="Consolas" pitchFamily="34" charset="-122"/>
                <a:cs typeface="Consolas" pitchFamily="34" charset="-120"/>
              </a:rPr>
              <a:t>01:10 AM</a:t>
            </a:r>
            <a:endParaRPr lang="en-US" sz="2000" dirty="0"/>
          </a:p>
        </p:txBody>
      </p:sp>
      <p:sp>
        <p:nvSpPr>
          <p:cNvPr id="7" name="Text 4"/>
          <p:cNvSpPr txBox="1"/>
          <p:nvPr/>
        </p:nvSpPr>
        <p:spPr>
          <a:xfrm>
            <a:off x="2377440" y="1417320"/>
            <a:ext cx="6796735" cy="1005840"/>
          </a:xfrm>
          <a:prstGeom prst="rect">
            <a:avLst/>
          </a:prstGeom>
          <a:noFill/>
          <a:ln/>
        </p:spPr>
        <p:txBody>
          <a:bodyPr wrap="square" lIns="0" tIns="0" rIns="0" bIns="0" rtlCol="0" anchor="ctr"/>
          <a:lstStyle/>
          <a:p>
            <a:pPr indent="0" marL="0">
              <a:buNone/>
            </a:pPr>
            <a:r>
              <a:rPr lang="en-US" sz="1600" i="1" dirty="0">
                <a:solidFill>
                  <a:schemeClr val="bg1"/>
                </a:solidFill>
              </a:rPr>
              <a:t>Linked through Meta’s Accounts Center, Instagram fell next. Her DMs, never end-to-end encrypted, became blackmail material.</a:t>
            </a:r>
            <a:endParaRPr lang="en-US" sz="1600" dirty="0"/>
          </a:p>
        </p:txBody>
      </p:sp>
      <p:sp>
        <p:nvSpPr>
          <p:cNvPr id="8" name="stamp"/>
          <p:cNvSpPr txBox="1"/>
          <p:nvPr/>
        </p:nvSpPr>
        <p:spPr>
          <a:xfrm rot="-480000">
            <a:off x="9402775" y="1691640"/>
            <a:ext cx="1920240" cy="457200"/>
          </a:xfrm>
          <a:prstGeom prst="rect">
            <a:avLst/>
          </a:prstGeom>
          <a:noFill/>
          <a:ln w="28575">
            <a:solidFill>
              <a:srgbClr val="F87171"/>
            </a:solidFill>
          </a:ln>
        </p:spPr>
        <p:txBody>
          <a:bodyPr wrap="square" lIns="0" tIns="0" rIns="0" bIns="0" rtlCol="0" anchor="ctr"/>
          <a:lstStyle/>
          <a:p>
            <a:pPr algn="ctr" indent="0" marL="0">
              <a:buNone/>
            </a:pPr>
            <a:r>
              <a:rPr lang="en-US" sz="1600" b="1" spc="300" kern="0" dirty="0">
                <a:solidFill>
                  <a:srgbClr val="F87171"/>
                </a:solidFill>
                <a:latin typeface="Consolas" pitchFamily="34" charset="0"/>
                <a:ea typeface="Consolas" pitchFamily="34" charset="-122"/>
                <a:cs typeface="Consolas" pitchFamily="34" charset="-120"/>
              </a:rPr>
              <a:t>BREACHED</a:t>
            </a:r>
            <a:endParaRPr lang="en-US" sz="1600" dirty="0"/>
          </a:p>
        </p:txBody>
      </p:sp>
      <p:sp>
        <p:nvSpPr>
          <p:cNvPr id="9" name="Text 6"/>
          <p:cNvSpPr txBox="1"/>
          <p:nvPr/>
        </p:nvSpPr>
        <p:spPr>
          <a:xfrm>
            <a:off x="548640" y="2697480"/>
            <a:ext cx="5486400" cy="274320"/>
          </a:xfrm>
          <a:prstGeom prst="rect">
            <a:avLst/>
          </a:prstGeom>
          <a:noFill/>
          <a:ln/>
        </p:spPr>
        <p:txBody>
          <a:bodyPr wrap="square" lIns="0" tIns="0" rIns="0" bIns="0" rtlCol="0" anchor="ctr"/>
          <a:lstStyle/>
          <a:p>
            <a:pPr indent="0" marL="0">
              <a:buNone/>
            </a:pPr>
            <a:r>
              <a:rPr lang="en-US" sz="1200" b="1" spc="200" kern="0" dirty="0">
                <a:solidFill>
                  <a:srgbClr val="9FB3C8"/>
                </a:solidFill>
                <a:latin typeface="Consolas" pitchFamily="34" charset="0"/>
                <a:ea typeface="Consolas" pitchFamily="34" charset="-122"/>
                <a:cs typeface="Consolas" pitchFamily="34" charset="-120"/>
              </a:rPr>
              <a:t>THE LOCKS THAT EXIST</a:t>
            </a:r>
            <a:endParaRPr lang="en-US" sz="1200" dirty="0"/>
          </a:p>
        </p:txBody>
      </p:sp>
      <p:pic>
        <p:nvPicPr>
          <p:cNvPr id="10" name="lock 1" descr="Available">    </p:cNvPr>
          <p:cNvPicPr>
            <a:picLocks noChangeAspect="1"/>
          </p:cNvPicPr>
          <p:nvPr/>
        </p:nvPicPr>
        <p:blipFill>
          <a:blip r:embed="rId2"/>
          <a:stretch>
            <a:fillRect/>
          </a:stretch>
        </p:blipFill>
        <p:spPr>
          <a:xfrm>
            <a:off x="548640" y="3154680"/>
            <a:ext cx="256032" cy="256032"/>
          </a:xfrm>
          <a:prstGeom prst="rect">
            <a:avLst/>
          </a:prstGeom>
        </p:spPr>
      </p:pic>
      <p:sp>
        <p:nvSpPr>
          <p:cNvPr id="11" name="Text 7"/>
          <p:cNvSpPr txBox="1"/>
          <p:nvPr/>
        </p:nvSpPr>
        <p:spPr>
          <a:xfrm>
            <a:off x="960120" y="3108960"/>
            <a:ext cx="5120640" cy="365760"/>
          </a:xfrm>
          <a:prstGeom prst="rect">
            <a:avLst/>
          </a:prstGeom>
          <a:noFill/>
          <a:ln/>
        </p:spPr>
        <p:txBody>
          <a:bodyPr wrap="square" lIns="0" tIns="0" rIns="0" bIns="0" rtlCol="0" anchor="ctr"/>
          <a:lstStyle/>
          <a:p>
            <a:pPr indent="0" marL="0">
              <a:buNone/>
            </a:pPr>
            <a:r>
              <a:rPr lang="en-US" sz="1500" dirty="0">
                <a:solidFill>
                  <a:schemeClr val="bg2"/>
                </a:solidFill>
              </a:rPr>
              <a:t>Same Meta 2FA, login alerts and login activity</a:t>
            </a:r>
            <a:endParaRPr lang="en-US" sz="1500" dirty="0"/>
          </a:p>
        </p:txBody>
      </p:sp>
      <p:pic>
        <p:nvPicPr>
          <p:cNvPr id="12" name="lock 2" descr="Available">    </p:cNvPr>
          <p:cNvPicPr>
            <a:picLocks noChangeAspect="1"/>
          </p:cNvPicPr>
          <p:nvPr/>
        </p:nvPicPr>
        <p:blipFill>
          <a:blip r:embed="rId3"/>
          <a:stretch>
            <a:fillRect/>
          </a:stretch>
        </p:blipFill>
        <p:spPr>
          <a:xfrm>
            <a:off x="548640" y="3721608"/>
            <a:ext cx="256032" cy="256032"/>
          </a:xfrm>
          <a:prstGeom prst="rect">
            <a:avLst/>
          </a:prstGeom>
        </p:spPr>
      </p:pic>
      <p:sp>
        <p:nvSpPr>
          <p:cNvPr id="13" name="Text 8"/>
          <p:cNvSpPr txBox="1"/>
          <p:nvPr/>
        </p:nvSpPr>
        <p:spPr>
          <a:xfrm>
            <a:off x="960120" y="3675888"/>
            <a:ext cx="5120640" cy="365760"/>
          </a:xfrm>
          <a:prstGeom prst="rect">
            <a:avLst/>
          </a:prstGeom>
          <a:noFill/>
          <a:ln/>
        </p:spPr>
        <p:txBody>
          <a:bodyPr wrap="square" lIns="0" tIns="0" rIns="0" bIns="0" rtlCol="0" anchor="ctr"/>
          <a:lstStyle/>
          <a:p>
            <a:pPr indent="0" marL="0">
              <a:buNone/>
            </a:pPr>
            <a:r>
              <a:rPr lang="en-US" sz="1500" dirty="0">
                <a:solidFill>
                  <a:schemeClr val="bg2"/>
                </a:solidFill>
              </a:rPr>
              <a:t>“Emails from Instagram” exposes fake security emails</a:t>
            </a:r>
            <a:endParaRPr lang="en-US" sz="1500" dirty="0"/>
          </a:p>
        </p:txBody>
      </p:sp>
      <p:pic>
        <p:nvPicPr>
          <p:cNvPr id="14" name="lock 3" descr="Available">    </p:cNvPr>
          <p:cNvPicPr>
            <a:picLocks noChangeAspect="1"/>
          </p:cNvPicPr>
          <p:nvPr/>
        </p:nvPicPr>
        <p:blipFill>
          <a:blip r:embed="rId4"/>
          <a:stretch>
            <a:fillRect/>
          </a:stretch>
        </p:blipFill>
        <p:spPr>
          <a:xfrm>
            <a:off x="548640" y="4288536"/>
            <a:ext cx="256032" cy="256032"/>
          </a:xfrm>
          <a:prstGeom prst="rect">
            <a:avLst/>
          </a:prstGeom>
        </p:spPr>
      </p:pic>
      <p:sp>
        <p:nvSpPr>
          <p:cNvPr id="15" name="Text 9"/>
          <p:cNvSpPr txBox="1"/>
          <p:nvPr/>
        </p:nvSpPr>
        <p:spPr>
          <a:xfrm>
            <a:off x="960120" y="4242816"/>
            <a:ext cx="5120640" cy="365760"/>
          </a:xfrm>
          <a:prstGeom prst="rect">
            <a:avLst/>
          </a:prstGeom>
          <a:noFill/>
          <a:ln/>
        </p:spPr>
        <p:txBody>
          <a:bodyPr wrap="square" lIns="0" tIns="0" rIns="0" bIns="0" rtlCol="0" anchor="ctr"/>
          <a:lstStyle/>
          <a:p>
            <a:pPr indent="0" marL="0">
              <a:buNone/>
            </a:pPr>
            <a:r>
              <a:rPr lang="en-US" sz="1500" dirty="0">
                <a:solidFill>
                  <a:schemeClr val="bg2"/>
                </a:solidFill>
              </a:rPr>
              <a:t>Restrict and Hidden Words against harassment</a:t>
            </a:r>
            <a:endParaRPr lang="en-US" sz="1500" dirty="0"/>
          </a:p>
        </p:txBody>
      </p:sp>
      <p:pic>
        <p:nvPicPr>
          <p:cNvPr id="16" name="lock 4" descr="Available">    </p:cNvPr>
          <p:cNvPicPr>
            <a:picLocks noChangeAspect="1"/>
          </p:cNvPicPr>
          <p:nvPr/>
        </p:nvPicPr>
        <p:blipFill>
          <a:blip r:embed="rId5"/>
          <a:stretch>
            <a:fillRect/>
          </a:stretch>
        </p:blipFill>
        <p:spPr>
          <a:xfrm>
            <a:off x="548640" y="4855464"/>
            <a:ext cx="256032" cy="256032"/>
          </a:xfrm>
          <a:prstGeom prst="rect">
            <a:avLst/>
          </a:prstGeom>
        </p:spPr>
      </p:pic>
      <p:sp>
        <p:nvSpPr>
          <p:cNvPr id="17" name="Text 10"/>
          <p:cNvSpPr txBox="1"/>
          <p:nvPr/>
        </p:nvSpPr>
        <p:spPr>
          <a:xfrm>
            <a:off x="960120" y="4809744"/>
            <a:ext cx="5120640" cy="365760"/>
          </a:xfrm>
          <a:prstGeom prst="rect">
            <a:avLst/>
          </a:prstGeom>
          <a:noFill/>
          <a:ln/>
        </p:spPr>
        <p:txBody>
          <a:bodyPr wrap="square" lIns="0" tIns="0" rIns="0" bIns="0" rtlCol="0" anchor="ctr"/>
          <a:lstStyle/>
          <a:p>
            <a:pPr indent="0" marL="0">
              <a:buNone/>
            </a:pPr>
            <a:r>
              <a:rPr lang="en-US" sz="1500" dirty="0">
                <a:solidFill>
                  <a:schemeClr val="bg2"/>
                </a:solidFill>
              </a:rPr>
              <a:t>Teen Accounts private by default</a:t>
            </a:r>
            <a:endParaRPr lang="en-US" sz="1500" dirty="0"/>
          </a:p>
        </p:txBody>
      </p:sp>
      <p:sp>
        <p:nvSpPr>
          <p:cNvPr id="18" name="score panel"/>
          <p:cNvSpPr/>
          <p:nvPr/>
        </p:nvSpPr>
        <p:spPr>
          <a:xfrm>
            <a:off x="6355080" y="2697480"/>
            <a:ext cx="5287975" cy="1691640"/>
          </a:xfrm>
          <a:prstGeom prst="roundRect">
            <a:avLst>
              <a:gd name="adj" fmla="val 4324"/>
            </a:avLst>
          </a:prstGeom>
          <a:solidFill>
            <a:srgbClr val="0E1E33">
              <a:alpha val="82000"/>
            </a:srgbClr>
          </a:solidFill>
          <a:ln w="12700">
            <a:solidFill>
              <a:srgbClr val="1F3A5A"/>
            </a:solidFill>
            <a:prstDash val="solid"/>
          </a:ln>
        </p:spPr>
      </p:sp>
      <p:sp>
        <p:nvSpPr>
          <p:cNvPr id="19" name="hud bracket"/>
          <p:cNvSpPr/>
          <p:nvPr/>
        </p:nvSpPr>
        <p:spPr>
          <a:xfrm>
            <a:off x="6355080" y="2697480"/>
            <a:ext cx="201168" cy="0"/>
          </a:xfrm>
          <a:prstGeom prst="line">
            <a:avLst/>
          </a:prstGeom>
          <a:noFill/>
          <a:ln w="25400">
            <a:solidFill>
              <a:srgbClr val="60A5FA"/>
            </a:solidFill>
            <a:prstDash val="solid"/>
          </a:ln>
        </p:spPr>
      </p:sp>
      <p:sp>
        <p:nvSpPr>
          <p:cNvPr id="20" name="hud bracket"/>
          <p:cNvSpPr/>
          <p:nvPr/>
        </p:nvSpPr>
        <p:spPr>
          <a:xfrm>
            <a:off x="6355080" y="2697480"/>
            <a:ext cx="0" cy="201168"/>
          </a:xfrm>
          <a:prstGeom prst="line">
            <a:avLst/>
          </a:prstGeom>
          <a:noFill/>
          <a:ln w="25400">
            <a:solidFill>
              <a:srgbClr val="60A5FA"/>
            </a:solidFill>
            <a:prstDash val="solid"/>
          </a:ln>
        </p:spPr>
      </p:sp>
      <p:sp>
        <p:nvSpPr>
          <p:cNvPr id="21" name="hud bracket"/>
          <p:cNvSpPr/>
          <p:nvPr/>
        </p:nvSpPr>
        <p:spPr>
          <a:xfrm>
            <a:off x="11441887" y="2697480"/>
            <a:ext cx="201168" cy="0"/>
          </a:xfrm>
          <a:prstGeom prst="line">
            <a:avLst/>
          </a:prstGeom>
          <a:noFill/>
          <a:ln w="25400">
            <a:solidFill>
              <a:srgbClr val="60A5FA"/>
            </a:solidFill>
            <a:prstDash val="solid"/>
          </a:ln>
        </p:spPr>
      </p:sp>
      <p:sp>
        <p:nvSpPr>
          <p:cNvPr id="22" name="hud bracket"/>
          <p:cNvSpPr/>
          <p:nvPr/>
        </p:nvSpPr>
        <p:spPr>
          <a:xfrm>
            <a:off x="11643055" y="2697480"/>
            <a:ext cx="0" cy="201168"/>
          </a:xfrm>
          <a:prstGeom prst="line">
            <a:avLst/>
          </a:prstGeom>
          <a:noFill/>
          <a:ln w="25400">
            <a:solidFill>
              <a:srgbClr val="60A5FA"/>
            </a:solidFill>
            <a:prstDash val="solid"/>
          </a:ln>
        </p:spPr>
      </p:sp>
      <p:sp>
        <p:nvSpPr>
          <p:cNvPr id="23" name="hud bracket"/>
          <p:cNvSpPr/>
          <p:nvPr/>
        </p:nvSpPr>
        <p:spPr>
          <a:xfrm>
            <a:off x="6355080" y="4389120"/>
            <a:ext cx="201168" cy="0"/>
          </a:xfrm>
          <a:prstGeom prst="line">
            <a:avLst/>
          </a:prstGeom>
          <a:noFill/>
          <a:ln w="25400">
            <a:solidFill>
              <a:srgbClr val="60A5FA"/>
            </a:solidFill>
            <a:prstDash val="solid"/>
          </a:ln>
        </p:spPr>
      </p:sp>
      <p:sp>
        <p:nvSpPr>
          <p:cNvPr id="24" name="hud bracket"/>
          <p:cNvSpPr/>
          <p:nvPr/>
        </p:nvSpPr>
        <p:spPr>
          <a:xfrm>
            <a:off x="6355080" y="4187952"/>
            <a:ext cx="0" cy="201168"/>
          </a:xfrm>
          <a:prstGeom prst="line">
            <a:avLst/>
          </a:prstGeom>
          <a:noFill/>
          <a:ln w="25400">
            <a:solidFill>
              <a:srgbClr val="60A5FA"/>
            </a:solidFill>
            <a:prstDash val="solid"/>
          </a:ln>
        </p:spPr>
      </p:sp>
      <p:sp>
        <p:nvSpPr>
          <p:cNvPr id="25" name="hud bracket"/>
          <p:cNvSpPr/>
          <p:nvPr/>
        </p:nvSpPr>
        <p:spPr>
          <a:xfrm>
            <a:off x="11441887" y="4389120"/>
            <a:ext cx="201168" cy="0"/>
          </a:xfrm>
          <a:prstGeom prst="line">
            <a:avLst/>
          </a:prstGeom>
          <a:noFill/>
          <a:ln w="25400">
            <a:solidFill>
              <a:srgbClr val="60A5FA"/>
            </a:solidFill>
            <a:prstDash val="solid"/>
          </a:ln>
        </p:spPr>
      </p:sp>
      <p:sp>
        <p:nvSpPr>
          <p:cNvPr id="26" name="hud bracket"/>
          <p:cNvSpPr/>
          <p:nvPr/>
        </p:nvSpPr>
        <p:spPr>
          <a:xfrm>
            <a:off x="11643055" y="4187952"/>
            <a:ext cx="0" cy="201168"/>
          </a:xfrm>
          <a:prstGeom prst="line">
            <a:avLst/>
          </a:prstGeom>
          <a:noFill/>
          <a:ln w="25400">
            <a:solidFill>
              <a:srgbClr val="60A5FA"/>
            </a:solidFill>
            <a:prstDash val="solid"/>
          </a:ln>
        </p:spPr>
      </p:sp>
      <p:sp>
        <p:nvSpPr>
          <p:cNvPr id="27" name="Text 20"/>
          <p:cNvSpPr txBox="1"/>
          <p:nvPr/>
        </p:nvSpPr>
        <p:spPr>
          <a:xfrm>
            <a:off x="6583680" y="2816352"/>
            <a:ext cx="1645920" cy="256032"/>
          </a:xfrm>
          <a:prstGeom prst="rect">
            <a:avLst/>
          </a:prstGeom>
          <a:noFill/>
          <a:ln/>
        </p:spPr>
        <p:txBody>
          <a:bodyPr wrap="square" lIns="0" tIns="0" rIns="0" bIns="0" rtlCol="0" anchor="ctr"/>
          <a:lstStyle/>
          <a:p>
            <a:pPr indent="0" marL="0">
              <a:buNone/>
            </a:pPr>
            <a:r>
              <a:rPr lang="en-US" sz="1100" b="1" spc="200" kern="0" dirty="0">
                <a:solidFill>
                  <a:srgbClr val="9FB3C8"/>
                </a:solidFill>
                <a:latin typeface="Consolas" pitchFamily="34" charset="0"/>
                <a:ea typeface="Consolas" pitchFamily="34" charset="-122"/>
                <a:cs typeface="Consolas" pitchFamily="34" charset="-120"/>
              </a:rPr>
              <a:t>LOCK SCORE</a:t>
            </a:r>
            <a:endParaRPr lang="en-US" sz="1100" dirty="0"/>
          </a:p>
        </p:txBody>
      </p:sp>
      <p:sp>
        <p:nvSpPr>
          <p:cNvPr id="28" name="Text 21"/>
          <p:cNvSpPr txBox="1"/>
          <p:nvPr/>
        </p:nvSpPr>
        <p:spPr>
          <a:xfrm>
            <a:off x="6583680" y="3108960"/>
            <a:ext cx="1645920" cy="777240"/>
          </a:xfrm>
          <a:prstGeom prst="rect">
            <a:avLst/>
          </a:prstGeom>
          <a:noFill/>
          <a:ln/>
        </p:spPr>
        <p:txBody>
          <a:bodyPr wrap="square" lIns="0" tIns="0" rIns="0" bIns="0" rtlCol="0" anchor="ctr"/>
          <a:lstStyle/>
          <a:p>
            <a:pPr indent="0" marL="0">
              <a:buNone/>
            </a:pPr>
            <a:r>
              <a:rPr lang="en-US" sz="4800" b="1" dirty="0">
                <a:solidFill>
                  <a:srgbClr val="60A5FA"/>
                </a:solidFill>
              </a:rPr>
              <a:t>16</a:t>
            </a:r>
            <a:pPr indent="0" marL="0">
              <a:buNone/>
            </a:pPr>
            <a:r>
              <a:rPr lang="en-US" sz="1800" dirty="0">
                <a:solidFill>
                  <a:srgbClr val="9FB3C8"/>
                </a:solidFill>
              </a:rPr>
              <a:t> /25</a:t>
            </a:r>
            <a:endParaRPr lang="en-US" sz="4800" dirty="0"/>
          </a:p>
        </p:txBody>
      </p:sp>
      <p:sp>
        <p:nvSpPr>
          <p:cNvPr id="29" name="Text 22"/>
          <p:cNvSpPr txBox="1"/>
          <p:nvPr/>
        </p:nvSpPr>
        <p:spPr>
          <a:xfrm>
            <a:off x="6583680" y="3931920"/>
            <a:ext cx="1371600" cy="310896"/>
          </a:xfrm>
          <a:prstGeom prst="roundRect">
            <a:avLst>
              <a:gd name="adj" fmla="val 50000"/>
            </a:avLst>
          </a:prstGeom>
          <a:solidFill>
            <a:srgbClr val="60A5FA"/>
          </a:solidFill>
          <a:ln/>
        </p:spPr>
        <p:txBody>
          <a:bodyPr wrap="square" lIns="0" tIns="0" rIns="0" bIns="0" rtlCol="0" anchor="ctr"/>
          <a:lstStyle/>
          <a:p>
            <a:pPr algn="ctr" indent="0" marL="0">
              <a:buNone/>
            </a:pPr>
            <a:r>
              <a:rPr lang="en-US" sz="1100" b="1" dirty="0">
                <a:solidFill>
                  <a:schemeClr val="tx2"/>
                </a:solidFill>
                <a:latin typeface="Consolas" pitchFamily="34" charset="0"/>
                <a:ea typeface="Consolas" pitchFamily="34" charset="-122"/>
                <a:cs typeface="Consolas" pitchFamily="34" charset="-120"/>
              </a:rPr>
              <a:t>JOINT 3RD</a:t>
            </a:r>
            <a:endParaRPr lang="en-US" sz="1100" dirty="0"/>
          </a:p>
        </p:txBody>
      </p:sp>
      <p:graphicFrame>
        <p:nvGraphicFramePr>
          <p:cNvPr id="30" name="Instagram score chart" descr=""/>
          <p:cNvGraphicFramePr/>
          <p:nvPr/>
        </p:nvGraphicFramePr>
        <p:xfrm>
          <a:off x="8183880" y="2743200"/>
          <a:ext cx="3367735" cy="1600200"/>
        </p:xfrm>
        <a:graphic xmlns:a="http://schemas.openxmlformats.org/drawingml/2006/main">
          <a:graphicData uri="http://schemas.openxmlformats.org/drawingml/2006/chart">
            <c:chart xmlns:c="http://schemas.openxmlformats.org/drawingml/2006/chart" r:id="rId6"/>
          </a:graphicData>
        </a:graphic>
      </p:graphicFrame>
      <p:sp>
        <p:nvSpPr>
          <p:cNvPr id="31" name="fix card"/>
          <p:cNvSpPr/>
          <p:nvPr/>
        </p:nvSpPr>
        <p:spPr>
          <a:xfrm>
            <a:off x="6355080" y="4572000"/>
            <a:ext cx="5287975" cy="1325880"/>
          </a:xfrm>
          <a:prstGeom prst="roundRect">
            <a:avLst>
              <a:gd name="adj" fmla="val 5517"/>
            </a:avLst>
          </a:prstGeom>
          <a:solidFill>
            <a:srgbClr val="22D3EE">
              <a:alpha val="12000"/>
            </a:srgbClr>
          </a:solidFill>
          <a:ln w="12700">
            <a:solidFill>
              <a:srgbClr val="22D3EE"/>
            </a:solidFill>
            <a:prstDash val="solid"/>
          </a:ln>
        </p:spPr>
      </p:sp>
      <p:sp>
        <p:nvSpPr>
          <p:cNvPr id="32" name="fix circle"/>
          <p:cNvSpPr/>
          <p:nvPr/>
        </p:nvSpPr>
        <p:spPr>
          <a:xfrm>
            <a:off x="6537960" y="4709160"/>
            <a:ext cx="384048" cy="384048"/>
          </a:xfrm>
          <a:prstGeom prst="ellipse">
            <a:avLst/>
          </a:prstGeom>
          <a:solidFill>
            <a:schemeClr val="accent1"/>
          </a:solidFill>
          <a:ln/>
        </p:spPr>
      </p:sp>
      <p:pic>
        <p:nvPicPr>
          <p:cNvPr id="33" name="fix icon" descr="fix">    </p:cNvPr>
          <p:cNvPicPr>
            <a:picLocks noChangeAspect="1"/>
          </p:cNvPicPr>
          <p:nvPr/>
        </p:nvPicPr>
        <p:blipFill>
          <a:blip r:embed="rId7"/>
          <a:stretch>
            <a:fillRect/>
          </a:stretch>
        </p:blipFill>
        <p:spPr>
          <a:xfrm>
            <a:off x="6630132" y="4801332"/>
            <a:ext cx="199705" cy="199705"/>
          </a:xfrm>
          <a:prstGeom prst="rect">
            <a:avLst/>
          </a:prstGeom>
        </p:spPr>
      </p:pic>
      <p:sp>
        <p:nvSpPr>
          <p:cNvPr id="34" name="Text 25"/>
          <p:cNvSpPr txBox="1"/>
          <p:nvPr/>
        </p:nvSpPr>
        <p:spPr>
          <a:xfrm>
            <a:off x="7013448" y="4709160"/>
            <a:ext cx="4465015" cy="384048"/>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onsolas" pitchFamily="34" charset="0"/>
                <a:ea typeface="Consolas" pitchFamily="34" charset="-122"/>
                <a:cs typeface="Consolas" pitchFamily="34" charset="-120"/>
              </a:rPr>
              <a:t>HOW TO FIX THIS DOOR</a:t>
            </a:r>
            <a:endParaRPr lang="en-US" sz="1200" dirty="0"/>
          </a:p>
        </p:txBody>
      </p:sp>
      <p:sp>
        <p:nvSpPr>
          <p:cNvPr id="35" name="Text 26"/>
          <p:cNvSpPr txBox="1"/>
          <p:nvPr/>
        </p:nvSpPr>
        <p:spPr>
          <a:xfrm>
            <a:off x="6537960" y="5166360"/>
            <a:ext cx="4922215" cy="685800"/>
          </a:xfrm>
          <a:prstGeom prst="rect">
            <a:avLst/>
          </a:prstGeom>
          <a:noFill/>
          <a:ln/>
        </p:spPr>
        <p:txBody>
          <a:bodyPr wrap="square" lIns="0" tIns="0" rIns="0" bIns="0" rtlCol="0" anchor="t"/>
          <a:lstStyle/>
          <a:p>
            <a:pPr indent="0" marL="0">
              <a:buNone/>
            </a:pPr>
            <a:r>
              <a:rPr lang="en-US" sz="1400" dirty="0">
                <a:solidFill>
                  <a:schemeClr val="bg2"/>
                </a:solidFill>
              </a:rPr>
              <a:t>Restore end-to-end encrypted DMs as the default, and blur unsolicited explicit images for all users.</a:t>
            </a:r>
            <a:endParaRPr lang="en-US" sz="1400" dirty="0"/>
          </a:p>
        </p:txBody>
      </p:sp>
      <p:sp>
        <p:nvSpPr>
          <p:cNvPr id="36" name="Text 27"/>
          <p:cNvSpPr txBox="1"/>
          <p:nvPr/>
        </p:nvSpPr>
        <p:spPr>
          <a:xfrm>
            <a:off x="548640" y="6035040"/>
            <a:ext cx="11094415" cy="228600"/>
          </a:xfrm>
          <a:prstGeom prst="rect">
            <a:avLst/>
          </a:prstGeom>
          <a:noFill/>
          <a:ln/>
        </p:spPr>
        <p:txBody>
          <a:bodyPr wrap="square" lIns="0" tIns="0" rIns="0" bIns="0" rtlCol="0" anchor="ctr"/>
          <a:lstStyle/>
          <a:p>
            <a:pPr indent="0" marL="0">
              <a:buNone/>
            </a:pPr>
            <a:r>
              <a:rPr lang="en-US" sz="1000" i="1" dirty="0">
                <a:solidFill>
                  <a:srgbClr val="6B829C"/>
                </a:solidFill>
              </a:rPr>
              <a:t>Source: Euronews (2026).</a:t>
            </a:r>
            <a:endParaRPr lang="en-US" sz="10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829C"/>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watermark" descr="preencoded.png">    </p:cNvPr>
          <p:cNvPicPr>
            <a:picLocks noChangeAspect="1"/>
          </p:cNvPicPr>
          <p:nvPr/>
        </p:nvPicPr>
        <p:blipFill>
          <a:blip r:embed="rId1"/>
          <a:stretch>
            <a:fillRect/>
          </a:stretch>
        </p:blipFill>
        <p:spPr>
          <a:xfrm>
            <a:off x="1737360" y="2377440"/>
            <a:ext cx="3840480" cy="3840480"/>
          </a:xfrm>
          <a:prstGeom prst="rect">
            <a:avLst/>
          </a:prstGeom>
        </p:spPr>
      </p:pic>
      <p:sp>
        <p:nvSpPr>
          <p:cNvPr id="3" name="section tag"/>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onsolas" pitchFamily="34" charset="0"/>
                <a:ea typeface="Consolas" pitchFamily="34" charset="-122"/>
                <a:cs typeface="Consolas" pitchFamily="34" charset="-120"/>
              </a:rPr>
              <a:t>// 07  DOOR 5/5 : TELEGRAM  ·  MEANWHILE</a:t>
            </a:r>
            <a:endParaRPr lang="en-US" sz="1200" dirty="0"/>
          </a:p>
        </p:txBody>
      </p:sp>
      <p:sp>
        <p:nvSpPr>
          <p:cNvPr id="4" name="Text 0"/>
          <p:cNvSpPr/>
          <p:nvPr>
            <p:ph idx="100"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bg1"/>
                </a:solidFill>
              </a:rPr>
              <a:t>Telegram: the door that only looks locked</a:t>
            </a:r>
            <a:endParaRPr lang="en-US" sz="2800" dirty="0"/>
          </a:p>
        </p:txBody>
      </p:sp>
      <p:sp>
        <p:nvSpPr>
          <p:cNvPr id="5" name="story banner"/>
          <p:cNvSpPr/>
          <p:nvPr/>
        </p:nvSpPr>
        <p:spPr>
          <a:xfrm>
            <a:off x="548640" y="1417320"/>
            <a:ext cx="11094415" cy="1005840"/>
          </a:xfrm>
          <a:prstGeom prst="roundRect">
            <a:avLst>
              <a:gd name="adj" fmla="val 7273"/>
            </a:avLst>
          </a:prstGeom>
          <a:solidFill>
            <a:srgbClr val="FBBF24">
              <a:alpha val="12000"/>
            </a:srgbClr>
          </a:solidFill>
          <a:ln w="12700">
            <a:solidFill>
              <a:srgbClr val="FBBF24"/>
            </a:solidFill>
            <a:prstDash val="solid"/>
          </a:ln>
        </p:spPr>
      </p:sp>
      <p:sp>
        <p:nvSpPr>
          <p:cNvPr id="6" name="Text 3"/>
          <p:cNvSpPr txBox="1"/>
          <p:nvPr/>
        </p:nvSpPr>
        <p:spPr>
          <a:xfrm>
            <a:off x="822960" y="1417320"/>
            <a:ext cx="1508760" cy="1005840"/>
          </a:xfrm>
          <a:prstGeom prst="rect">
            <a:avLst/>
          </a:prstGeom>
          <a:noFill/>
          <a:ln/>
        </p:spPr>
        <p:txBody>
          <a:bodyPr wrap="square" lIns="0" tIns="0" rIns="0" bIns="0" rtlCol="0" anchor="ctr"/>
          <a:lstStyle/>
          <a:p>
            <a:pPr indent="0" marL="0">
              <a:buNone/>
            </a:pPr>
            <a:r>
              <a:rPr lang="en-US" sz="2000" b="1" dirty="0">
                <a:solidFill>
                  <a:srgbClr val="FBBF24"/>
                </a:solidFill>
                <a:latin typeface="Consolas" pitchFamily="34" charset="0"/>
                <a:ea typeface="Consolas" pitchFamily="34" charset="-122"/>
                <a:cs typeface="Consolas" pitchFamily="34" charset="-120"/>
              </a:rPr>
              <a:t>MEANWHILE</a:t>
            </a:r>
            <a:endParaRPr lang="en-US" sz="2000" dirty="0"/>
          </a:p>
        </p:txBody>
      </p:sp>
      <p:sp>
        <p:nvSpPr>
          <p:cNvPr id="7" name="Text 4"/>
          <p:cNvSpPr txBox="1"/>
          <p:nvPr/>
        </p:nvSpPr>
        <p:spPr>
          <a:xfrm>
            <a:off x="2377440" y="1417320"/>
            <a:ext cx="6796735" cy="1005840"/>
          </a:xfrm>
          <a:prstGeom prst="rect">
            <a:avLst/>
          </a:prstGeom>
          <a:noFill/>
          <a:ln/>
        </p:spPr>
        <p:txBody>
          <a:bodyPr wrap="square" lIns="0" tIns="0" rIns="0" bIns="0" rtlCol="0" anchor="ctr"/>
          <a:lstStyle/>
          <a:p>
            <a:pPr indent="0" marL="0">
              <a:buNone/>
            </a:pPr>
            <a:r>
              <a:rPr lang="en-US" sz="1600" i="1" dirty="0">
                <a:solidFill>
                  <a:schemeClr val="bg1"/>
                </a:solidFill>
              </a:rPr>
              <a:t>Nusrat thought her class group on Telegram was private. It isn’t: groups are not end-to-end encrypted, and since 2024 IPs and phone numbers can be shared on legal request.</a:t>
            </a:r>
            <a:endParaRPr lang="en-US" sz="1600" dirty="0"/>
          </a:p>
        </p:txBody>
      </p:sp>
      <p:sp>
        <p:nvSpPr>
          <p:cNvPr id="8" name="stamp"/>
          <p:cNvSpPr txBox="1"/>
          <p:nvPr/>
        </p:nvSpPr>
        <p:spPr>
          <a:xfrm rot="-480000">
            <a:off x="9402775" y="1691640"/>
            <a:ext cx="1920240" cy="457200"/>
          </a:xfrm>
          <a:prstGeom prst="rect">
            <a:avLst/>
          </a:prstGeom>
          <a:noFill/>
          <a:ln w="28575">
            <a:solidFill>
              <a:srgbClr val="FBBF24"/>
            </a:solidFill>
          </a:ln>
        </p:spPr>
        <p:txBody>
          <a:bodyPr wrap="square" lIns="0" tIns="0" rIns="0" bIns="0" rtlCol="0" anchor="ctr"/>
          <a:lstStyle/>
          <a:p>
            <a:pPr algn="ctr" indent="0" marL="0">
              <a:buNone/>
            </a:pPr>
            <a:r>
              <a:rPr lang="en-US" sz="1600" b="1" spc="300" kern="0" dirty="0">
                <a:solidFill>
                  <a:srgbClr val="FBBF24"/>
                </a:solidFill>
                <a:latin typeface="Consolas" pitchFamily="34" charset="0"/>
                <a:ea typeface="Consolas" pitchFamily="34" charset="-122"/>
                <a:cs typeface="Consolas" pitchFamily="34" charset="-120"/>
              </a:rPr>
              <a:t>AT RISK</a:t>
            </a:r>
            <a:endParaRPr lang="en-US" sz="1600" dirty="0"/>
          </a:p>
        </p:txBody>
      </p:sp>
      <p:sp>
        <p:nvSpPr>
          <p:cNvPr id="9" name="Text 6"/>
          <p:cNvSpPr txBox="1"/>
          <p:nvPr/>
        </p:nvSpPr>
        <p:spPr>
          <a:xfrm>
            <a:off x="548640" y="2697480"/>
            <a:ext cx="5486400" cy="274320"/>
          </a:xfrm>
          <a:prstGeom prst="rect">
            <a:avLst/>
          </a:prstGeom>
          <a:noFill/>
          <a:ln/>
        </p:spPr>
        <p:txBody>
          <a:bodyPr wrap="square" lIns="0" tIns="0" rIns="0" bIns="0" rtlCol="0" anchor="ctr"/>
          <a:lstStyle/>
          <a:p>
            <a:pPr indent="0" marL="0">
              <a:buNone/>
            </a:pPr>
            <a:r>
              <a:rPr lang="en-US" sz="1200" b="1" spc="200" kern="0" dirty="0">
                <a:solidFill>
                  <a:srgbClr val="9FB3C8"/>
                </a:solidFill>
                <a:latin typeface="Consolas" pitchFamily="34" charset="0"/>
                <a:ea typeface="Consolas" pitchFamily="34" charset="-122"/>
                <a:cs typeface="Consolas" pitchFamily="34" charset="-120"/>
              </a:rPr>
              <a:t>THE LOCKS THAT EXIST</a:t>
            </a:r>
            <a:endParaRPr lang="en-US" sz="1200" dirty="0"/>
          </a:p>
        </p:txBody>
      </p:sp>
      <p:pic>
        <p:nvPicPr>
          <p:cNvPr id="10" name="lock 1" descr="Available">    </p:cNvPr>
          <p:cNvPicPr>
            <a:picLocks noChangeAspect="1"/>
          </p:cNvPicPr>
          <p:nvPr/>
        </p:nvPicPr>
        <p:blipFill>
          <a:blip r:embed="rId2"/>
          <a:stretch>
            <a:fillRect/>
          </a:stretch>
        </p:blipFill>
        <p:spPr>
          <a:xfrm>
            <a:off x="548640" y="3154680"/>
            <a:ext cx="256032" cy="256032"/>
          </a:xfrm>
          <a:prstGeom prst="rect">
            <a:avLst/>
          </a:prstGeom>
        </p:spPr>
      </p:pic>
      <p:sp>
        <p:nvSpPr>
          <p:cNvPr id="11" name="Text 7"/>
          <p:cNvSpPr txBox="1"/>
          <p:nvPr/>
        </p:nvSpPr>
        <p:spPr>
          <a:xfrm>
            <a:off x="960120" y="3108960"/>
            <a:ext cx="5120640" cy="365760"/>
          </a:xfrm>
          <a:prstGeom prst="rect">
            <a:avLst/>
          </a:prstGeom>
          <a:noFill/>
          <a:ln/>
        </p:spPr>
        <p:txBody>
          <a:bodyPr wrap="square" lIns="0" tIns="0" rIns="0" bIns="0" rtlCol="0" anchor="ctr"/>
          <a:lstStyle/>
          <a:p>
            <a:pPr indent="0" marL="0">
              <a:buNone/>
            </a:pPr>
            <a:r>
              <a:rPr lang="en-US" sz="1500" dirty="0">
                <a:solidFill>
                  <a:schemeClr val="bg2"/>
                </a:solidFill>
              </a:rPr>
              <a:t>Two-step verification cloud password</a:t>
            </a:r>
            <a:endParaRPr lang="en-US" sz="1500" dirty="0"/>
          </a:p>
        </p:txBody>
      </p:sp>
      <p:pic>
        <p:nvPicPr>
          <p:cNvPr id="12" name="lock 2" descr="Available">    </p:cNvPr>
          <p:cNvPicPr>
            <a:picLocks noChangeAspect="1"/>
          </p:cNvPicPr>
          <p:nvPr/>
        </p:nvPicPr>
        <p:blipFill>
          <a:blip r:embed="rId3"/>
          <a:stretch>
            <a:fillRect/>
          </a:stretch>
        </p:blipFill>
        <p:spPr>
          <a:xfrm>
            <a:off x="548640" y="3721608"/>
            <a:ext cx="256032" cy="256032"/>
          </a:xfrm>
          <a:prstGeom prst="rect">
            <a:avLst/>
          </a:prstGeom>
        </p:spPr>
      </p:pic>
      <p:sp>
        <p:nvSpPr>
          <p:cNvPr id="13" name="Text 8"/>
          <p:cNvSpPr txBox="1"/>
          <p:nvPr/>
        </p:nvSpPr>
        <p:spPr>
          <a:xfrm>
            <a:off x="960120" y="3675888"/>
            <a:ext cx="5120640" cy="365760"/>
          </a:xfrm>
          <a:prstGeom prst="rect">
            <a:avLst/>
          </a:prstGeom>
          <a:noFill/>
          <a:ln/>
        </p:spPr>
        <p:txBody>
          <a:bodyPr wrap="square" lIns="0" tIns="0" rIns="0" bIns="0" rtlCol="0" anchor="ctr"/>
          <a:lstStyle/>
          <a:p>
            <a:pPr indent="0" marL="0">
              <a:buNone/>
            </a:pPr>
            <a:r>
              <a:rPr lang="en-US" sz="1500" dirty="0">
                <a:solidFill>
                  <a:schemeClr val="bg2"/>
                </a:solidFill>
              </a:rPr>
              <a:t>Passcode lock and active-session control</a:t>
            </a:r>
            <a:endParaRPr lang="en-US" sz="1500" dirty="0"/>
          </a:p>
        </p:txBody>
      </p:sp>
      <p:pic>
        <p:nvPicPr>
          <p:cNvPr id="14" name="lock 3" descr="Available">    </p:cNvPr>
          <p:cNvPicPr>
            <a:picLocks noChangeAspect="1"/>
          </p:cNvPicPr>
          <p:nvPr/>
        </p:nvPicPr>
        <p:blipFill>
          <a:blip r:embed="rId4"/>
          <a:stretch>
            <a:fillRect/>
          </a:stretch>
        </p:blipFill>
        <p:spPr>
          <a:xfrm>
            <a:off x="548640" y="4288536"/>
            <a:ext cx="256032" cy="256032"/>
          </a:xfrm>
          <a:prstGeom prst="rect">
            <a:avLst/>
          </a:prstGeom>
        </p:spPr>
      </p:pic>
      <p:sp>
        <p:nvSpPr>
          <p:cNvPr id="15" name="Text 9"/>
          <p:cNvSpPr txBox="1"/>
          <p:nvPr/>
        </p:nvSpPr>
        <p:spPr>
          <a:xfrm>
            <a:off x="960120" y="4242816"/>
            <a:ext cx="5120640" cy="365760"/>
          </a:xfrm>
          <a:prstGeom prst="rect">
            <a:avLst/>
          </a:prstGeom>
          <a:noFill/>
          <a:ln/>
        </p:spPr>
        <p:txBody>
          <a:bodyPr wrap="square" lIns="0" tIns="0" rIns="0" bIns="0" rtlCol="0" anchor="ctr"/>
          <a:lstStyle/>
          <a:p>
            <a:pPr indent="0" marL="0">
              <a:buNone/>
            </a:pPr>
            <a:r>
              <a:rPr lang="en-US" sz="1500" dirty="0">
                <a:solidFill>
                  <a:schemeClr val="bg2"/>
                </a:solidFill>
              </a:rPr>
              <a:t>Hide phone number; connect by username</a:t>
            </a:r>
            <a:endParaRPr lang="en-US" sz="1500" dirty="0"/>
          </a:p>
        </p:txBody>
      </p:sp>
      <p:pic>
        <p:nvPicPr>
          <p:cNvPr id="16" name="lock 4" descr="Available">    </p:cNvPr>
          <p:cNvPicPr>
            <a:picLocks noChangeAspect="1"/>
          </p:cNvPicPr>
          <p:nvPr/>
        </p:nvPicPr>
        <p:blipFill>
          <a:blip r:embed="rId5"/>
          <a:stretch>
            <a:fillRect/>
          </a:stretch>
        </p:blipFill>
        <p:spPr>
          <a:xfrm>
            <a:off x="548640" y="4855464"/>
            <a:ext cx="256032" cy="256032"/>
          </a:xfrm>
          <a:prstGeom prst="rect">
            <a:avLst/>
          </a:prstGeom>
        </p:spPr>
      </p:pic>
      <p:sp>
        <p:nvSpPr>
          <p:cNvPr id="17" name="Text 10"/>
          <p:cNvSpPr txBox="1"/>
          <p:nvPr/>
        </p:nvSpPr>
        <p:spPr>
          <a:xfrm>
            <a:off x="960120" y="4809744"/>
            <a:ext cx="5120640" cy="365760"/>
          </a:xfrm>
          <a:prstGeom prst="rect">
            <a:avLst/>
          </a:prstGeom>
          <a:noFill/>
          <a:ln/>
        </p:spPr>
        <p:txBody>
          <a:bodyPr wrap="square" lIns="0" tIns="0" rIns="0" bIns="0" rtlCol="0" anchor="ctr"/>
          <a:lstStyle/>
          <a:p>
            <a:pPr indent="0" marL="0">
              <a:buNone/>
            </a:pPr>
            <a:r>
              <a:rPr lang="en-US" sz="1500" dirty="0">
                <a:solidFill>
                  <a:schemeClr val="bg2"/>
                </a:solidFill>
              </a:rPr>
              <a:t>Secret Chats: end-to-end encrypted, self-destructing</a:t>
            </a:r>
            <a:endParaRPr lang="en-US" sz="1500" dirty="0"/>
          </a:p>
        </p:txBody>
      </p:sp>
      <p:sp>
        <p:nvSpPr>
          <p:cNvPr id="18" name="score panel"/>
          <p:cNvSpPr/>
          <p:nvPr/>
        </p:nvSpPr>
        <p:spPr>
          <a:xfrm>
            <a:off x="6355080" y="2697480"/>
            <a:ext cx="5287975" cy="1691640"/>
          </a:xfrm>
          <a:prstGeom prst="roundRect">
            <a:avLst>
              <a:gd name="adj" fmla="val 4324"/>
            </a:avLst>
          </a:prstGeom>
          <a:solidFill>
            <a:srgbClr val="0E1E33">
              <a:alpha val="82000"/>
            </a:srgbClr>
          </a:solidFill>
          <a:ln w="12700">
            <a:solidFill>
              <a:srgbClr val="1F3A5A"/>
            </a:solidFill>
            <a:prstDash val="solid"/>
          </a:ln>
        </p:spPr>
      </p:sp>
      <p:sp>
        <p:nvSpPr>
          <p:cNvPr id="19" name="hud bracket"/>
          <p:cNvSpPr/>
          <p:nvPr/>
        </p:nvSpPr>
        <p:spPr>
          <a:xfrm>
            <a:off x="6355080" y="2697480"/>
            <a:ext cx="201168" cy="0"/>
          </a:xfrm>
          <a:prstGeom prst="line">
            <a:avLst/>
          </a:prstGeom>
          <a:noFill/>
          <a:ln w="25400">
            <a:solidFill>
              <a:srgbClr val="F87171"/>
            </a:solidFill>
            <a:prstDash val="solid"/>
          </a:ln>
        </p:spPr>
      </p:sp>
      <p:sp>
        <p:nvSpPr>
          <p:cNvPr id="20" name="hud bracket"/>
          <p:cNvSpPr/>
          <p:nvPr/>
        </p:nvSpPr>
        <p:spPr>
          <a:xfrm>
            <a:off x="6355080" y="2697480"/>
            <a:ext cx="0" cy="201168"/>
          </a:xfrm>
          <a:prstGeom prst="line">
            <a:avLst/>
          </a:prstGeom>
          <a:noFill/>
          <a:ln w="25400">
            <a:solidFill>
              <a:srgbClr val="F87171"/>
            </a:solidFill>
            <a:prstDash val="solid"/>
          </a:ln>
        </p:spPr>
      </p:sp>
      <p:sp>
        <p:nvSpPr>
          <p:cNvPr id="21" name="hud bracket"/>
          <p:cNvSpPr/>
          <p:nvPr/>
        </p:nvSpPr>
        <p:spPr>
          <a:xfrm>
            <a:off x="11441887" y="2697480"/>
            <a:ext cx="201168" cy="0"/>
          </a:xfrm>
          <a:prstGeom prst="line">
            <a:avLst/>
          </a:prstGeom>
          <a:noFill/>
          <a:ln w="25400">
            <a:solidFill>
              <a:srgbClr val="F87171"/>
            </a:solidFill>
            <a:prstDash val="solid"/>
          </a:ln>
        </p:spPr>
      </p:sp>
      <p:sp>
        <p:nvSpPr>
          <p:cNvPr id="22" name="hud bracket"/>
          <p:cNvSpPr/>
          <p:nvPr/>
        </p:nvSpPr>
        <p:spPr>
          <a:xfrm>
            <a:off x="11643055" y="2697480"/>
            <a:ext cx="0" cy="201168"/>
          </a:xfrm>
          <a:prstGeom prst="line">
            <a:avLst/>
          </a:prstGeom>
          <a:noFill/>
          <a:ln w="25400">
            <a:solidFill>
              <a:srgbClr val="F87171"/>
            </a:solidFill>
            <a:prstDash val="solid"/>
          </a:ln>
        </p:spPr>
      </p:sp>
      <p:sp>
        <p:nvSpPr>
          <p:cNvPr id="23" name="hud bracket"/>
          <p:cNvSpPr/>
          <p:nvPr/>
        </p:nvSpPr>
        <p:spPr>
          <a:xfrm>
            <a:off x="6355080" y="4389120"/>
            <a:ext cx="201168" cy="0"/>
          </a:xfrm>
          <a:prstGeom prst="line">
            <a:avLst/>
          </a:prstGeom>
          <a:noFill/>
          <a:ln w="25400">
            <a:solidFill>
              <a:srgbClr val="F87171"/>
            </a:solidFill>
            <a:prstDash val="solid"/>
          </a:ln>
        </p:spPr>
      </p:sp>
      <p:sp>
        <p:nvSpPr>
          <p:cNvPr id="24" name="hud bracket"/>
          <p:cNvSpPr/>
          <p:nvPr/>
        </p:nvSpPr>
        <p:spPr>
          <a:xfrm>
            <a:off x="6355080" y="4187952"/>
            <a:ext cx="0" cy="201168"/>
          </a:xfrm>
          <a:prstGeom prst="line">
            <a:avLst/>
          </a:prstGeom>
          <a:noFill/>
          <a:ln w="25400">
            <a:solidFill>
              <a:srgbClr val="F87171"/>
            </a:solidFill>
            <a:prstDash val="solid"/>
          </a:ln>
        </p:spPr>
      </p:sp>
      <p:sp>
        <p:nvSpPr>
          <p:cNvPr id="25" name="hud bracket"/>
          <p:cNvSpPr/>
          <p:nvPr/>
        </p:nvSpPr>
        <p:spPr>
          <a:xfrm>
            <a:off x="11441887" y="4389120"/>
            <a:ext cx="201168" cy="0"/>
          </a:xfrm>
          <a:prstGeom prst="line">
            <a:avLst/>
          </a:prstGeom>
          <a:noFill/>
          <a:ln w="25400">
            <a:solidFill>
              <a:srgbClr val="F87171"/>
            </a:solidFill>
            <a:prstDash val="solid"/>
          </a:ln>
        </p:spPr>
      </p:sp>
      <p:sp>
        <p:nvSpPr>
          <p:cNvPr id="26" name="hud bracket"/>
          <p:cNvSpPr/>
          <p:nvPr/>
        </p:nvSpPr>
        <p:spPr>
          <a:xfrm>
            <a:off x="11643055" y="4187952"/>
            <a:ext cx="0" cy="201168"/>
          </a:xfrm>
          <a:prstGeom prst="line">
            <a:avLst/>
          </a:prstGeom>
          <a:noFill/>
          <a:ln w="25400">
            <a:solidFill>
              <a:srgbClr val="F87171"/>
            </a:solidFill>
            <a:prstDash val="solid"/>
          </a:ln>
        </p:spPr>
      </p:sp>
      <p:sp>
        <p:nvSpPr>
          <p:cNvPr id="27" name="Text 20"/>
          <p:cNvSpPr txBox="1"/>
          <p:nvPr/>
        </p:nvSpPr>
        <p:spPr>
          <a:xfrm>
            <a:off x="6583680" y="2816352"/>
            <a:ext cx="1645920" cy="256032"/>
          </a:xfrm>
          <a:prstGeom prst="rect">
            <a:avLst/>
          </a:prstGeom>
          <a:noFill/>
          <a:ln/>
        </p:spPr>
        <p:txBody>
          <a:bodyPr wrap="square" lIns="0" tIns="0" rIns="0" bIns="0" rtlCol="0" anchor="ctr"/>
          <a:lstStyle/>
          <a:p>
            <a:pPr indent="0" marL="0">
              <a:buNone/>
            </a:pPr>
            <a:r>
              <a:rPr lang="en-US" sz="1100" b="1" spc="200" kern="0" dirty="0">
                <a:solidFill>
                  <a:srgbClr val="9FB3C8"/>
                </a:solidFill>
                <a:latin typeface="Consolas" pitchFamily="34" charset="0"/>
                <a:ea typeface="Consolas" pitchFamily="34" charset="-122"/>
                <a:cs typeface="Consolas" pitchFamily="34" charset="-120"/>
              </a:rPr>
              <a:t>LOCK SCORE</a:t>
            </a:r>
            <a:endParaRPr lang="en-US" sz="1100" dirty="0"/>
          </a:p>
        </p:txBody>
      </p:sp>
      <p:sp>
        <p:nvSpPr>
          <p:cNvPr id="28" name="Text 21"/>
          <p:cNvSpPr txBox="1"/>
          <p:nvPr/>
        </p:nvSpPr>
        <p:spPr>
          <a:xfrm>
            <a:off x="6583680" y="3108960"/>
            <a:ext cx="1645920" cy="777240"/>
          </a:xfrm>
          <a:prstGeom prst="rect">
            <a:avLst/>
          </a:prstGeom>
          <a:noFill/>
          <a:ln/>
        </p:spPr>
        <p:txBody>
          <a:bodyPr wrap="square" lIns="0" tIns="0" rIns="0" bIns="0" rtlCol="0" anchor="ctr"/>
          <a:lstStyle/>
          <a:p>
            <a:pPr indent="0" marL="0">
              <a:buNone/>
            </a:pPr>
            <a:r>
              <a:rPr lang="en-US" sz="4800" b="1" dirty="0">
                <a:solidFill>
                  <a:srgbClr val="F87171"/>
                </a:solidFill>
              </a:rPr>
              <a:t>14</a:t>
            </a:r>
            <a:pPr indent="0" marL="0">
              <a:buNone/>
            </a:pPr>
            <a:r>
              <a:rPr lang="en-US" sz="1800" dirty="0">
                <a:solidFill>
                  <a:srgbClr val="9FB3C8"/>
                </a:solidFill>
              </a:rPr>
              <a:t> /25</a:t>
            </a:r>
            <a:endParaRPr lang="en-US" sz="4800" dirty="0"/>
          </a:p>
        </p:txBody>
      </p:sp>
      <p:sp>
        <p:nvSpPr>
          <p:cNvPr id="29" name="Text 22"/>
          <p:cNvSpPr txBox="1"/>
          <p:nvPr/>
        </p:nvSpPr>
        <p:spPr>
          <a:xfrm>
            <a:off x="6583680" y="3931920"/>
            <a:ext cx="1371600" cy="310896"/>
          </a:xfrm>
          <a:prstGeom prst="roundRect">
            <a:avLst>
              <a:gd name="adj" fmla="val 50000"/>
            </a:avLst>
          </a:prstGeom>
          <a:solidFill>
            <a:srgbClr val="F87171"/>
          </a:solidFill>
          <a:ln/>
        </p:spPr>
        <p:txBody>
          <a:bodyPr wrap="square" lIns="0" tIns="0" rIns="0" bIns="0" rtlCol="0" anchor="ctr"/>
          <a:lstStyle/>
          <a:p>
            <a:pPr algn="ctr" indent="0" marL="0">
              <a:buNone/>
            </a:pPr>
            <a:r>
              <a:rPr lang="en-US" sz="1100" b="1" dirty="0">
                <a:solidFill>
                  <a:schemeClr val="tx2"/>
                </a:solidFill>
                <a:latin typeface="Consolas" pitchFamily="34" charset="0"/>
                <a:ea typeface="Consolas" pitchFamily="34" charset="-122"/>
                <a:cs typeface="Consolas" pitchFamily="34" charset="-120"/>
              </a:rPr>
              <a:t>5TH</a:t>
            </a:r>
            <a:endParaRPr lang="en-US" sz="1100" dirty="0"/>
          </a:p>
        </p:txBody>
      </p:sp>
      <p:graphicFrame>
        <p:nvGraphicFramePr>
          <p:cNvPr id="30" name="Telegram score chart" descr=""/>
          <p:cNvGraphicFramePr/>
          <p:nvPr/>
        </p:nvGraphicFramePr>
        <p:xfrm>
          <a:off x="8183880" y="2743200"/>
          <a:ext cx="3367735" cy="1600200"/>
        </p:xfrm>
        <a:graphic xmlns:a="http://schemas.openxmlformats.org/drawingml/2006/main">
          <a:graphicData uri="http://schemas.openxmlformats.org/drawingml/2006/chart">
            <c:chart xmlns:c="http://schemas.openxmlformats.org/drawingml/2006/chart" r:id="rId6"/>
          </a:graphicData>
        </a:graphic>
      </p:graphicFrame>
      <p:sp>
        <p:nvSpPr>
          <p:cNvPr id="31" name="fix card"/>
          <p:cNvSpPr/>
          <p:nvPr/>
        </p:nvSpPr>
        <p:spPr>
          <a:xfrm>
            <a:off x="6355080" y="4572000"/>
            <a:ext cx="5287975" cy="1325880"/>
          </a:xfrm>
          <a:prstGeom prst="roundRect">
            <a:avLst>
              <a:gd name="adj" fmla="val 5517"/>
            </a:avLst>
          </a:prstGeom>
          <a:solidFill>
            <a:srgbClr val="22D3EE">
              <a:alpha val="12000"/>
            </a:srgbClr>
          </a:solidFill>
          <a:ln w="12700">
            <a:solidFill>
              <a:srgbClr val="22D3EE"/>
            </a:solidFill>
            <a:prstDash val="solid"/>
          </a:ln>
        </p:spPr>
      </p:sp>
      <p:sp>
        <p:nvSpPr>
          <p:cNvPr id="32" name="fix circle"/>
          <p:cNvSpPr/>
          <p:nvPr/>
        </p:nvSpPr>
        <p:spPr>
          <a:xfrm>
            <a:off x="6537960" y="4709160"/>
            <a:ext cx="384048" cy="384048"/>
          </a:xfrm>
          <a:prstGeom prst="ellipse">
            <a:avLst/>
          </a:prstGeom>
          <a:solidFill>
            <a:schemeClr val="accent1"/>
          </a:solidFill>
          <a:ln/>
        </p:spPr>
      </p:sp>
      <p:pic>
        <p:nvPicPr>
          <p:cNvPr id="33" name="fix icon" descr="fix">    </p:cNvPr>
          <p:cNvPicPr>
            <a:picLocks noChangeAspect="1"/>
          </p:cNvPicPr>
          <p:nvPr/>
        </p:nvPicPr>
        <p:blipFill>
          <a:blip r:embed="rId7"/>
          <a:stretch>
            <a:fillRect/>
          </a:stretch>
        </p:blipFill>
        <p:spPr>
          <a:xfrm>
            <a:off x="6630132" y="4801332"/>
            <a:ext cx="199705" cy="199705"/>
          </a:xfrm>
          <a:prstGeom prst="rect">
            <a:avLst/>
          </a:prstGeom>
        </p:spPr>
      </p:pic>
      <p:sp>
        <p:nvSpPr>
          <p:cNvPr id="34" name="Text 25"/>
          <p:cNvSpPr txBox="1"/>
          <p:nvPr/>
        </p:nvSpPr>
        <p:spPr>
          <a:xfrm>
            <a:off x="7013448" y="4709160"/>
            <a:ext cx="4465015" cy="384048"/>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onsolas" pitchFamily="34" charset="0"/>
                <a:ea typeface="Consolas" pitchFamily="34" charset="-122"/>
                <a:cs typeface="Consolas" pitchFamily="34" charset="-120"/>
              </a:rPr>
              <a:t>HOW TO FIX THIS DOOR</a:t>
            </a:r>
            <a:endParaRPr lang="en-US" sz="1200" dirty="0"/>
          </a:p>
        </p:txBody>
      </p:sp>
      <p:sp>
        <p:nvSpPr>
          <p:cNvPr id="35" name="Text 26"/>
          <p:cNvSpPr txBox="1"/>
          <p:nvPr/>
        </p:nvSpPr>
        <p:spPr>
          <a:xfrm>
            <a:off x="6537960" y="5166360"/>
            <a:ext cx="4922215" cy="685800"/>
          </a:xfrm>
          <a:prstGeom prst="rect">
            <a:avLst/>
          </a:prstGeom>
          <a:noFill/>
          <a:ln/>
        </p:spPr>
        <p:txBody>
          <a:bodyPr wrap="square" lIns="0" tIns="0" rIns="0" bIns="0" rtlCol="0" anchor="t"/>
          <a:lstStyle/>
          <a:p>
            <a:pPr indent="0" marL="0">
              <a:buNone/>
            </a:pPr>
            <a:r>
              <a:rPr lang="en-US" sz="1400" dirty="0">
                <a:solidFill>
                  <a:schemeClr val="bg2"/>
                </a:solidFill>
              </a:rPr>
              <a:t>End-to-end encryption by default for one-to-one chats, and a two-step verification prompt at sign-up.</a:t>
            </a:r>
            <a:endParaRPr lang="en-US" sz="1400" dirty="0"/>
          </a:p>
        </p:txBody>
      </p:sp>
      <p:sp>
        <p:nvSpPr>
          <p:cNvPr id="36" name="Text 27"/>
          <p:cNvSpPr txBox="1"/>
          <p:nvPr/>
        </p:nvSpPr>
        <p:spPr>
          <a:xfrm>
            <a:off x="548640" y="6035040"/>
            <a:ext cx="11094415" cy="228600"/>
          </a:xfrm>
          <a:prstGeom prst="rect">
            <a:avLst/>
          </a:prstGeom>
          <a:noFill/>
          <a:ln/>
        </p:spPr>
        <p:txBody>
          <a:bodyPr wrap="square" lIns="0" tIns="0" rIns="0" bIns="0" rtlCol="0" anchor="ctr"/>
          <a:lstStyle/>
          <a:p>
            <a:pPr indent="0" marL="0">
              <a:buNone/>
            </a:pPr>
            <a:r>
              <a:rPr lang="en-US" sz="1000" i="1" dirty="0">
                <a:solidFill>
                  <a:srgbClr val="6B829C"/>
                </a:solidFill>
              </a:rPr>
              <a:t>Source: Engadget (2024).</a:t>
            </a:r>
            <a:endParaRPr lang="en-US" sz="10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829C"/>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watermark" descr="preencoded.png">    </p:cNvPr>
          <p:cNvPicPr>
            <a:picLocks noChangeAspect="1"/>
          </p:cNvPicPr>
          <p:nvPr/>
        </p:nvPicPr>
        <p:blipFill>
          <a:blip r:embed="rId1"/>
          <a:stretch>
            <a:fillRect/>
          </a:stretch>
        </p:blipFill>
        <p:spPr>
          <a:xfrm>
            <a:off x="3657600" y="1645920"/>
            <a:ext cx="4389120" cy="4389120"/>
          </a:xfrm>
          <a:prstGeom prst="rect">
            <a:avLst/>
          </a:prstGeom>
        </p:spPr>
      </p:pic>
      <p:sp>
        <p:nvSpPr>
          <p:cNvPr id="3" name="section tag"/>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onsolas" pitchFamily="34" charset="0"/>
                <a:ea typeface="Consolas" pitchFamily="34" charset="-122"/>
                <a:cs typeface="Consolas" pitchFamily="34" charset="-120"/>
              </a:rPr>
              <a:t>// 08  REWIND: THE VERDICT</a:t>
            </a:r>
            <a:endParaRPr lang="en-US" sz="1200" dirty="0"/>
          </a:p>
        </p:txBody>
      </p:sp>
      <p:sp>
        <p:nvSpPr>
          <p:cNvPr id="4" name="Text 0"/>
          <p:cNvSpPr/>
          <p:nvPr>
            <p:ph idx="100"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bg1"/>
                </a:solidFill>
              </a:rPr>
              <a:t>Which locks held? WhatsApp is the most secure by default</a:t>
            </a:r>
            <a:endParaRPr lang="en-US" sz="2800" dirty="0"/>
          </a:p>
        </p:txBody>
      </p:sp>
      <p:sp>
        <p:nvSpPr>
          <p:cNvPr id="5" name="chart panel"/>
          <p:cNvSpPr/>
          <p:nvPr/>
        </p:nvSpPr>
        <p:spPr>
          <a:xfrm>
            <a:off x="548640" y="1417320"/>
            <a:ext cx="7086600" cy="4526280"/>
          </a:xfrm>
          <a:prstGeom prst="roundRect">
            <a:avLst>
              <a:gd name="adj" fmla="val 1616"/>
            </a:avLst>
          </a:prstGeom>
          <a:solidFill>
            <a:srgbClr val="0E1E33">
              <a:alpha val="82000"/>
            </a:srgbClr>
          </a:solidFill>
          <a:ln w="12700">
            <a:solidFill>
              <a:srgbClr val="1F3A5A"/>
            </a:solidFill>
            <a:prstDash val="solid"/>
          </a:ln>
        </p:spPr>
      </p:sp>
      <p:graphicFrame>
        <p:nvGraphicFramePr>
          <p:cNvPr id="6" name="stacked score chart" descr=""/>
          <p:cNvGraphicFramePr/>
          <p:nvPr/>
        </p:nvGraphicFramePr>
        <p:xfrm>
          <a:off x="640080" y="1463040"/>
          <a:ext cx="6903720" cy="4434840"/>
        </p:xfrm>
        <a:graphic xmlns:a="http://schemas.openxmlformats.org/drawingml/2006/main">
          <a:graphicData uri="http://schemas.openxmlformats.org/drawingml/2006/chart">
            <c:chart xmlns:c="http://schemas.openxmlformats.org/drawingml/2006/chart" r:id="rId2"/>
          </a:graphicData>
        </a:graphic>
      </p:graphicFrame>
      <p:sp>
        <p:nvSpPr>
          <p:cNvPr id="7" name="verdict 1"/>
          <p:cNvSpPr/>
          <p:nvPr/>
        </p:nvSpPr>
        <p:spPr>
          <a:xfrm>
            <a:off x="7909560" y="1417320"/>
            <a:ext cx="3733495" cy="1417320"/>
          </a:xfrm>
          <a:prstGeom prst="roundRect">
            <a:avLst>
              <a:gd name="adj" fmla="val 5161"/>
            </a:avLst>
          </a:prstGeom>
          <a:solidFill>
            <a:srgbClr val="0E1E33">
              <a:alpha val="82000"/>
            </a:srgbClr>
          </a:solidFill>
          <a:ln w="12700">
            <a:solidFill>
              <a:srgbClr val="34D399"/>
            </a:solidFill>
            <a:prstDash val="solid"/>
          </a:ln>
        </p:spPr>
      </p:sp>
      <p:sp>
        <p:nvSpPr>
          <p:cNvPr id="8" name="verdict 1 circle"/>
          <p:cNvSpPr/>
          <p:nvPr/>
        </p:nvSpPr>
        <p:spPr>
          <a:xfrm>
            <a:off x="8092440" y="1645920"/>
            <a:ext cx="530352" cy="530352"/>
          </a:xfrm>
          <a:prstGeom prst="ellipse">
            <a:avLst/>
          </a:prstGeom>
          <a:solidFill>
            <a:srgbClr val="34D399"/>
          </a:solidFill>
          <a:ln/>
        </p:spPr>
      </p:sp>
      <p:pic>
        <p:nvPicPr>
          <p:cNvPr id="9" name="verdict 1 icon" descr="verdict 1">    </p:cNvPr>
          <p:cNvPicPr>
            <a:picLocks noChangeAspect="1"/>
          </p:cNvPicPr>
          <p:nvPr/>
        </p:nvPicPr>
        <p:blipFill>
          <a:blip r:embed="rId3"/>
          <a:stretch>
            <a:fillRect/>
          </a:stretch>
        </p:blipFill>
        <p:spPr>
          <a:xfrm>
            <a:off x="8219724" y="1773204"/>
            <a:ext cx="275783" cy="275783"/>
          </a:xfrm>
          <a:prstGeom prst="rect">
            <a:avLst/>
          </a:prstGeom>
        </p:spPr>
      </p:pic>
      <p:sp>
        <p:nvSpPr>
          <p:cNvPr id="10" name="Text 5"/>
          <p:cNvSpPr txBox="1"/>
          <p:nvPr/>
        </p:nvSpPr>
        <p:spPr>
          <a:xfrm>
            <a:off x="8778240" y="1527048"/>
            <a:ext cx="2727655" cy="548640"/>
          </a:xfrm>
          <a:prstGeom prst="rect">
            <a:avLst/>
          </a:prstGeom>
          <a:noFill/>
          <a:ln/>
        </p:spPr>
        <p:txBody>
          <a:bodyPr wrap="square" lIns="0" tIns="0" rIns="0" bIns="0" rtlCol="0" anchor="ctr"/>
          <a:lstStyle/>
          <a:p>
            <a:pPr indent="0" marL="0">
              <a:buNone/>
            </a:pPr>
            <a:r>
              <a:rPr lang="en-US" sz="1500" b="1" dirty="0">
                <a:solidFill>
                  <a:srgbClr val="34D399"/>
                </a:solidFill>
              </a:rPr>
              <a:t>Most secure for individuals: WhatsApp</a:t>
            </a:r>
            <a:endParaRPr lang="en-US" sz="1500" dirty="0"/>
          </a:p>
        </p:txBody>
      </p:sp>
      <p:sp>
        <p:nvSpPr>
          <p:cNvPr id="11" name="Text 6"/>
          <p:cNvSpPr txBox="1"/>
          <p:nvPr/>
        </p:nvSpPr>
        <p:spPr>
          <a:xfrm>
            <a:off x="8778240" y="2075688"/>
            <a:ext cx="2727655" cy="685800"/>
          </a:xfrm>
          <a:prstGeom prst="rect">
            <a:avLst/>
          </a:prstGeom>
          <a:noFill/>
          <a:ln/>
        </p:spPr>
        <p:txBody>
          <a:bodyPr wrap="square" lIns="0" tIns="0" rIns="0" bIns="0" rtlCol="0" anchor="t"/>
          <a:lstStyle/>
          <a:p>
            <a:pPr indent="0" marL="0">
              <a:buNone/>
            </a:pPr>
            <a:r>
              <a:rPr lang="en-US" sz="1400" dirty="0">
                <a:solidFill>
                  <a:schemeClr val="bg2"/>
                </a:solidFill>
              </a:rPr>
              <a:t>Strongest lock on by default. It fell only because the owner opened it.</a:t>
            </a:r>
            <a:endParaRPr lang="en-US" sz="1400" dirty="0"/>
          </a:p>
        </p:txBody>
      </p:sp>
      <p:sp>
        <p:nvSpPr>
          <p:cNvPr id="12" name="verdict 2"/>
          <p:cNvSpPr/>
          <p:nvPr/>
        </p:nvSpPr>
        <p:spPr>
          <a:xfrm>
            <a:off x="7909560" y="2971800"/>
            <a:ext cx="3733495" cy="1417320"/>
          </a:xfrm>
          <a:prstGeom prst="roundRect">
            <a:avLst>
              <a:gd name="adj" fmla="val 5161"/>
            </a:avLst>
          </a:prstGeom>
          <a:solidFill>
            <a:srgbClr val="0E1E33">
              <a:alpha val="82000"/>
            </a:srgbClr>
          </a:solidFill>
          <a:ln w="12700">
            <a:solidFill>
              <a:srgbClr val="22D3EE"/>
            </a:solidFill>
            <a:prstDash val="solid"/>
          </a:ln>
        </p:spPr>
      </p:sp>
      <p:sp>
        <p:nvSpPr>
          <p:cNvPr id="13" name="verdict 2 circle"/>
          <p:cNvSpPr/>
          <p:nvPr/>
        </p:nvSpPr>
        <p:spPr>
          <a:xfrm>
            <a:off x="8092440" y="3200400"/>
            <a:ext cx="530352" cy="530352"/>
          </a:xfrm>
          <a:prstGeom prst="ellipse">
            <a:avLst/>
          </a:prstGeom>
          <a:solidFill>
            <a:srgbClr val="22D3EE"/>
          </a:solidFill>
          <a:ln/>
        </p:spPr>
      </p:sp>
      <p:pic>
        <p:nvPicPr>
          <p:cNvPr id="14" name="verdict 2 icon" descr="verdict 2">    </p:cNvPr>
          <p:cNvPicPr>
            <a:picLocks noChangeAspect="1"/>
          </p:cNvPicPr>
          <p:nvPr/>
        </p:nvPicPr>
        <p:blipFill>
          <a:blip r:embed="rId4"/>
          <a:stretch>
            <a:fillRect/>
          </a:stretch>
        </p:blipFill>
        <p:spPr>
          <a:xfrm>
            <a:off x="8219724" y="3327684"/>
            <a:ext cx="275783" cy="275783"/>
          </a:xfrm>
          <a:prstGeom prst="rect">
            <a:avLst/>
          </a:prstGeom>
        </p:spPr>
      </p:pic>
      <p:sp>
        <p:nvSpPr>
          <p:cNvPr id="15" name="Text 9"/>
          <p:cNvSpPr txBox="1"/>
          <p:nvPr/>
        </p:nvSpPr>
        <p:spPr>
          <a:xfrm>
            <a:off x="8778240" y="3081528"/>
            <a:ext cx="2727655" cy="548640"/>
          </a:xfrm>
          <a:prstGeom prst="rect">
            <a:avLst/>
          </a:prstGeom>
          <a:noFill/>
          <a:ln/>
        </p:spPr>
        <p:txBody>
          <a:bodyPr wrap="square" lIns="0" tIns="0" rIns="0" bIns="0" rtlCol="0" anchor="ctr"/>
          <a:lstStyle/>
          <a:p>
            <a:pPr indent="0" marL="0">
              <a:buNone/>
            </a:pPr>
            <a:r>
              <a:rPr lang="en-US" sz="1500" b="1" dirty="0">
                <a:solidFill>
                  <a:srgbClr val="22D3EE"/>
                </a:solidFill>
              </a:rPr>
              <a:t>Guard it hardest: Gmail</a:t>
            </a:r>
            <a:endParaRPr lang="en-US" sz="1500" dirty="0"/>
          </a:p>
        </p:txBody>
      </p:sp>
      <p:sp>
        <p:nvSpPr>
          <p:cNvPr id="16" name="Text 10"/>
          <p:cNvSpPr txBox="1"/>
          <p:nvPr/>
        </p:nvSpPr>
        <p:spPr>
          <a:xfrm>
            <a:off x="8778240" y="3630168"/>
            <a:ext cx="2727655" cy="685800"/>
          </a:xfrm>
          <a:prstGeom prst="rect">
            <a:avLst/>
          </a:prstGeom>
          <a:noFill/>
          <a:ln/>
        </p:spPr>
        <p:txBody>
          <a:bodyPr wrap="square" lIns="0" tIns="0" rIns="0" bIns="0" rtlCol="0" anchor="t"/>
          <a:lstStyle/>
          <a:p>
            <a:pPr indent="0" marL="0">
              <a:buNone/>
            </a:pPr>
            <a:r>
              <a:rPr lang="en-US" sz="1400" dirty="0">
                <a:solidFill>
                  <a:schemeClr val="bg2"/>
                </a:solidFill>
              </a:rPr>
              <a:t>Once the master key fell, every other door followed.</a:t>
            </a:r>
            <a:endParaRPr lang="en-US" sz="1400" dirty="0"/>
          </a:p>
        </p:txBody>
      </p:sp>
      <p:sp>
        <p:nvSpPr>
          <p:cNvPr id="17" name="verdict 3"/>
          <p:cNvSpPr/>
          <p:nvPr/>
        </p:nvSpPr>
        <p:spPr>
          <a:xfrm>
            <a:off x="7909560" y="4526280"/>
            <a:ext cx="3733495" cy="1417320"/>
          </a:xfrm>
          <a:prstGeom prst="roundRect">
            <a:avLst>
              <a:gd name="adj" fmla="val 5161"/>
            </a:avLst>
          </a:prstGeom>
          <a:solidFill>
            <a:srgbClr val="0E1E33">
              <a:alpha val="82000"/>
            </a:srgbClr>
          </a:solidFill>
          <a:ln w="12700">
            <a:solidFill>
              <a:srgbClr val="F87171"/>
            </a:solidFill>
            <a:prstDash val="solid"/>
          </a:ln>
        </p:spPr>
      </p:sp>
      <p:sp>
        <p:nvSpPr>
          <p:cNvPr id="18" name="verdict 3 circle"/>
          <p:cNvSpPr/>
          <p:nvPr/>
        </p:nvSpPr>
        <p:spPr>
          <a:xfrm>
            <a:off x="8092440" y="4754880"/>
            <a:ext cx="530352" cy="530352"/>
          </a:xfrm>
          <a:prstGeom prst="ellipse">
            <a:avLst/>
          </a:prstGeom>
          <a:solidFill>
            <a:srgbClr val="F87171"/>
          </a:solidFill>
          <a:ln/>
        </p:spPr>
      </p:sp>
      <p:pic>
        <p:nvPicPr>
          <p:cNvPr id="19" name="verdict 3 icon" descr="verdict 3">    </p:cNvPr>
          <p:cNvPicPr>
            <a:picLocks noChangeAspect="1"/>
          </p:cNvPicPr>
          <p:nvPr/>
        </p:nvPicPr>
        <p:blipFill>
          <a:blip r:embed="rId5"/>
          <a:stretch>
            <a:fillRect/>
          </a:stretch>
        </p:blipFill>
        <p:spPr>
          <a:xfrm>
            <a:off x="8219724" y="4882164"/>
            <a:ext cx="275783" cy="275783"/>
          </a:xfrm>
          <a:prstGeom prst="rect">
            <a:avLst/>
          </a:prstGeom>
        </p:spPr>
      </p:pic>
      <p:sp>
        <p:nvSpPr>
          <p:cNvPr id="20" name="Text 13"/>
          <p:cNvSpPr txBox="1"/>
          <p:nvPr/>
        </p:nvSpPr>
        <p:spPr>
          <a:xfrm>
            <a:off x="8778240" y="4636008"/>
            <a:ext cx="2727655" cy="548640"/>
          </a:xfrm>
          <a:prstGeom prst="rect">
            <a:avLst/>
          </a:prstGeom>
          <a:noFill/>
          <a:ln/>
        </p:spPr>
        <p:txBody>
          <a:bodyPr wrap="square" lIns="0" tIns="0" rIns="0" bIns="0" rtlCol="0" anchor="ctr"/>
          <a:lstStyle/>
          <a:p>
            <a:pPr indent="0" marL="0">
              <a:buNone/>
            </a:pPr>
            <a:r>
              <a:rPr lang="en-US" sz="1500" b="1" dirty="0">
                <a:solidFill>
                  <a:srgbClr val="F87171"/>
                </a:solidFill>
              </a:rPr>
              <a:t>Least secure: Telegram</a:t>
            </a:r>
            <a:endParaRPr lang="en-US" sz="1500" dirty="0"/>
          </a:p>
        </p:txBody>
      </p:sp>
      <p:sp>
        <p:nvSpPr>
          <p:cNvPr id="21" name="Text 14"/>
          <p:cNvSpPr txBox="1"/>
          <p:nvPr/>
        </p:nvSpPr>
        <p:spPr>
          <a:xfrm>
            <a:off x="8778240" y="5184648"/>
            <a:ext cx="2727655" cy="685800"/>
          </a:xfrm>
          <a:prstGeom prst="rect">
            <a:avLst/>
          </a:prstGeom>
          <a:noFill/>
          <a:ln/>
        </p:spPr>
        <p:txBody>
          <a:bodyPr wrap="square" lIns="0" tIns="0" rIns="0" bIns="0" rtlCol="0" anchor="t"/>
          <a:lstStyle/>
          <a:p>
            <a:pPr indent="0" marL="0">
              <a:buNone/>
            </a:pPr>
            <a:r>
              <a:rPr lang="en-US" sz="1400" dirty="0">
                <a:solidFill>
                  <a:schemeClr val="bg2"/>
                </a:solidFill>
              </a:rPr>
              <a:t>Its privacy reputation is stronger than its defaults.</a:t>
            </a:r>
            <a:endParaRPr lang="en-US" sz="1400" dirty="0"/>
          </a:p>
        </p:txBody>
      </p:sp>
      <p:sp>
        <p:nvSpPr>
          <p:cNvPr id="22" name="Text 15"/>
          <p:cNvSpPr txBox="1"/>
          <p:nvPr/>
        </p:nvSpPr>
        <p:spPr>
          <a:xfrm>
            <a:off x="548640" y="6035040"/>
            <a:ext cx="11094415" cy="228600"/>
          </a:xfrm>
          <a:prstGeom prst="rect">
            <a:avLst/>
          </a:prstGeom>
          <a:noFill/>
          <a:ln/>
        </p:spPr>
        <p:txBody>
          <a:bodyPr wrap="square" lIns="0" tIns="0" rIns="0" bIns="0" rtlCol="0" anchor="ctr"/>
          <a:lstStyle/>
          <a:p>
            <a:pPr indent="0" marL="0">
              <a:buNone/>
            </a:pPr>
            <a:r>
              <a:rPr lang="en-US" sz="1000" i="1" dirty="0">
                <a:solidFill>
                  <a:srgbClr val="6B829C"/>
                </a:solidFill>
              </a:rPr>
              <a:t>Scores reflect the group’s assessment of default and available settings, October 2026.</a:t>
            </a:r>
            <a:endParaRPr lang="en-US" sz="10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829C"/>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300" b="1" spc="200" kern="0" dirty="0">
                <a:solidFill>
                  <a:schemeClr val="accent1"/>
                </a:solidFill>
                <a:latin typeface="Consolas" pitchFamily="34" charset="0"/>
                <a:ea typeface="Consolas" pitchFamily="34" charset="-122"/>
                <a:cs typeface="Consolas" pitchFamily="34" charset="-120"/>
              </a:rPr>
              <a:t>// 09  REPLAY THE NIGHT</a:t>
            </a:r>
            <a:endParaRPr lang="en-US" sz="1300" dirty="0"/>
          </a:p>
        </p:txBody>
      </p:sp>
      <p:sp>
        <p:nvSpPr>
          <p:cNvPr id="3" name="Text 0"/>
          <p:cNvSpPr/>
          <p:nvPr>
            <p:ph idx="100" type="title" hasCustomPrompt="1"/>
          </p:nvPr>
        </p:nvSpPr>
        <p:spPr>
          <a:xfrm>
            <a:off x="548640" y="822960"/>
            <a:ext cx="11094415" cy="1097280"/>
          </a:xfrm>
          <a:prstGeom prst="rect">
            <a:avLst/>
          </a:prstGeom>
          <a:noFill/>
          <a:ln/>
        </p:spPr>
        <p:txBody>
          <a:bodyPr wrap="square" lIns="0" tIns="0" rIns="0" bIns="0" rtlCol="0" anchor="ctr"/>
          <a:lstStyle/>
          <a:p>
            <a:pPr algn="l" indent="0" marL="0">
              <a:buNone/>
            </a:pPr>
            <a:r>
              <a:rPr lang="en-US" sz="4000" b="1" dirty="0">
                <a:solidFill>
                  <a:schemeClr val="bg1"/>
                </a:solidFill>
              </a:rPr>
              <a:t>Same night. Different ending.</a:t>
            </a:r>
            <a:endParaRPr lang="en-US" sz="4000" dirty="0"/>
          </a:p>
        </p:txBody>
      </p:sp>
      <p:sp>
        <p:nvSpPr>
          <p:cNvPr id="4" name="fix 1"/>
          <p:cNvSpPr/>
          <p:nvPr/>
        </p:nvSpPr>
        <p:spPr>
          <a:xfrm>
            <a:off x="548640" y="2103120"/>
            <a:ext cx="2057400" cy="2606040"/>
          </a:xfrm>
          <a:prstGeom prst="roundRect">
            <a:avLst>
              <a:gd name="adj" fmla="val 3556"/>
            </a:avLst>
          </a:prstGeom>
          <a:solidFill>
            <a:srgbClr val="0E1E33">
              <a:alpha val="90000"/>
            </a:srgbClr>
          </a:solidFill>
          <a:ln w="12700">
            <a:solidFill>
              <a:srgbClr val="1F3A5A"/>
            </a:solidFill>
            <a:prstDash val="solid"/>
          </a:ln>
        </p:spPr>
      </p:sp>
      <p:sp>
        <p:nvSpPr>
          <p:cNvPr id="5" name="hud bracket"/>
          <p:cNvSpPr/>
          <p:nvPr/>
        </p:nvSpPr>
        <p:spPr>
          <a:xfrm>
            <a:off x="548640" y="2103120"/>
            <a:ext cx="164592" cy="0"/>
          </a:xfrm>
          <a:prstGeom prst="line">
            <a:avLst/>
          </a:prstGeom>
          <a:noFill/>
          <a:ln w="25400">
            <a:solidFill>
              <a:srgbClr val="34D399"/>
            </a:solidFill>
            <a:prstDash val="solid"/>
          </a:ln>
        </p:spPr>
      </p:sp>
      <p:sp>
        <p:nvSpPr>
          <p:cNvPr id="6" name="hud bracket"/>
          <p:cNvSpPr/>
          <p:nvPr/>
        </p:nvSpPr>
        <p:spPr>
          <a:xfrm>
            <a:off x="548640" y="2103120"/>
            <a:ext cx="0" cy="164592"/>
          </a:xfrm>
          <a:prstGeom prst="line">
            <a:avLst/>
          </a:prstGeom>
          <a:noFill/>
          <a:ln w="25400">
            <a:solidFill>
              <a:srgbClr val="34D399"/>
            </a:solidFill>
            <a:prstDash val="solid"/>
          </a:ln>
        </p:spPr>
      </p:sp>
      <p:sp>
        <p:nvSpPr>
          <p:cNvPr id="7" name="hud bracket"/>
          <p:cNvSpPr/>
          <p:nvPr/>
        </p:nvSpPr>
        <p:spPr>
          <a:xfrm>
            <a:off x="2441448" y="2103120"/>
            <a:ext cx="164592" cy="0"/>
          </a:xfrm>
          <a:prstGeom prst="line">
            <a:avLst/>
          </a:prstGeom>
          <a:noFill/>
          <a:ln w="25400">
            <a:solidFill>
              <a:srgbClr val="34D399"/>
            </a:solidFill>
            <a:prstDash val="solid"/>
          </a:ln>
        </p:spPr>
      </p:sp>
      <p:sp>
        <p:nvSpPr>
          <p:cNvPr id="8" name="hud bracket"/>
          <p:cNvSpPr/>
          <p:nvPr/>
        </p:nvSpPr>
        <p:spPr>
          <a:xfrm>
            <a:off x="2606040" y="2103120"/>
            <a:ext cx="0" cy="164592"/>
          </a:xfrm>
          <a:prstGeom prst="line">
            <a:avLst/>
          </a:prstGeom>
          <a:noFill/>
          <a:ln w="25400">
            <a:solidFill>
              <a:srgbClr val="34D399"/>
            </a:solidFill>
            <a:prstDash val="solid"/>
          </a:ln>
        </p:spPr>
      </p:sp>
      <p:sp>
        <p:nvSpPr>
          <p:cNvPr id="9" name="hud bracket"/>
          <p:cNvSpPr/>
          <p:nvPr/>
        </p:nvSpPr>
        <p:spPr>
          <a:xfrm>
            <a:off x="548640" y="4709160"/>
            <a:ext cx="164592" cy="0"/>
          </a:xfrm>
          <a:prstGeom prst="line">
            <a:avLst/>
          </a:prstGeom>
          <a:noFill/>
          <a:ln w="25400">
            <a:solidFill>
              <a:srgbClr val="34D399"/>
            </a:solidFill>
            <a:prstDash val="solid"/>
          </a:ln>
        </p:spPr>
      </p:sp>
      <p:sp>
        <p:nvSpPr>
          <p:cNvPr id="10" name="hud bracket"/>
          <p:cNvSpPr/>
          <p:nvPr/>
        </p:nvSpPr>
        <p:spPr>
          <a:xfrm>
            <a:off x="548640" y="4544568"/>
            <a:ext cx="0" cy="164592"/>
          </a:xfrm>
          <a:prstGeom prst="line">
            <a:avLst/>
          </a:prstGeom>
          <a:noFill/>
          <a:ln w="25400">
            <a:solidFill>
              <a:srgbClr val="34D399"/>
            </a:solidFill>
            <a:prstDash val="solid"/>
          </a:ln>
        </p:spPr>
      </p:sp>
      <p:sp>
        <p:nvSpPr>
          <p:cNvPr id="11" name="hud bracket"/>
          <p:cNvSpPr/>
          <p:nvPr/>
        </p:nvSpPr>
        <p:spPr>
          <a:xfrm>
            <a:off x="2441448" y="4709160"/>
            <a:ext cx="164592" cy="0"/>
          </a:xfrm>
          <a:prstGeom prst="line">
            <a:avLst/>
          </a:prstGeom>
          <a:noFill/>
          <a:ln w="25400">
            <a:solidFill>
              <a:srgbClr val="34D399"/>
            </a:solidFill>
            <a:prstDash val="solid"/>
          </a:ln>
        </p:spPr>
      </p:sp>
      <p:sp>
        <p:nvSpPr>
          <p:cNvPr id="12" name="hud bracket"/>
          <p:cNvSpPr/>
          <p:nvPr/>
        </p:nvSpPr>
        <p:spPr>
          <a:xfrm>
            <a:off x="2606040" y="4544568"/>
            <a:ext cx="0" cy="164592"/>
          </a:xfrm>
          <a:prstGeom prst="line">
            <a:avLst/>
          </a:prstGeom>
          <a:noFill/>
          <a:ln w="25400">
            <a:solidFill>
              <a:srgbClr val="34D399"/>
            </a:solidFill>
            <a:prstDash val="solid"/>
          </a:ln>
        </p:spPr>
      </p:sp>
      <p:sp>
        <p:nvSpPr>
          <p:cNvPr id="13" name="Text 11"/>
          <p:cNvSpPr txBox="1"/>
          <p:nvPr/>
        </p:nvSpPr>
        <p:spPr>
          <a:xfrm>
            <a:off x="749808" y="2304288"/>
            <a:ext cx="1655064" cy="320040"/>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11:49 PM</a:t>
            </a:r>
            <a:endParaRPr lang="en-US" sz="1400" dirty="0"/>
          </a:p>
        </p:txBody>
      </p:sp>
      <p:sp>
        <p:nvSpPr>
          <p:cNvPr id="14" name="Text 12"/>
          <p:cNvSpPr txBox="1"/>
          <p:nvPr/>
        </p:nvSpPr>
        <p:spPr>
          <a:xfrm>
            <a:off x="749808" y="2743200"/>
            <a:ext cx="1655064" cy="1188720"/>
          </a:xfrm>
          <a:prstGeom prst="rect">
            <a:avLst/>
          </a:prstGeom>
          <a:noFill/>
          <a:ln/>
        </p:spPr>
        <p:txBody>
          <a:bodyPr wrap="square" lIns="0" tIns="0" rIns="0" bIns="0" rtlCol="0" anchor="t"/>
          <a:lstStyle/>
          <a:p>
            <a:pPr indent="0" marL="0">
              <a:buNone/>
            </a:pPr>
            <a:r>
              <a:rPr lang="en-US" sz="1500" b="1" dirty="0">
                <a:solidFill>
                  <a:schemeClr val="bg1"/>
                </a:solidFill>
              </a:rPr>
              <a:t>Set a WhatsApp two-step PIN</a:t>
            </a:r>
            <a:endParaRPr lang="en-US" sz="1500" dirty="0"/>
          </a:p>
        </p:txBody>
      </p:sp>
      <p:sp>
        <p:nvSpPr>
          <p:cNvPr id="15" name="Text 13"/>
          <p:cNvSpPr txBox="1"/>
          <p:nvPr/>
        </p:nvSpPr>
        <p:spPr>
          <a:xfrm>
            <a:off x="749808" y="4114800"/>
            <a:ext cx="1655064" cy="411480"/>
          </a:xfrm>
          <a:prstGeom prst="rect">
            <a:avLst/>
          </a:prstGeom>
          <a:noFill/>
          <a:ln/>
        </p:spPr>
        <p:txBody>
          <a:bodyPr wrap="square" lIns="0" tIns="0" rIns="0" bIns="0" rtlCol="0" anchor="ctr"/>
          <a:lstStyle/>
          <a:p>
            <a:pPr indent="0" marL="0">
              <a:buNone/>
            </a:pPr>
            <a:r>
              <a:rPr lang="en-US" sz="1100" b="1" dirty="0">
                <a:solidFill>
                  <a:schemeClr val="accent6"/>
                </a:solidFill>
                <a:latin typeface="Consolas" pitchFamily="34" charset="0"/>
                <a:ea typeface="Consolas" pitchFamily="34" charset="-122"/>
                <a:cs typeface="Consolas" pitchFamily="34" charset="-120"/>
              </a:rPr>
              <a:t>&gt; HIJACK BLOCKED</a:t>
            </a:r>
            <a:endParaRPr lang="en-US" sz="1100" dirty="0"/>
          </a:p>
        </p:txBody>
      </p:sp>
      <p:sp>
        <p:nvSpPr>
          <p:cNvPr id="16" name="fix 2"/>
          <p:cNvSpPr/>
          <p:nvPr/>
        </p:nvSpPr>
        <p:spPr>
          <a:xfrm>
            <a:off x="2807894" y="2103120"/>
            <a:ext cx="2057400" cy="2606040"/>
          </a:xfrm>
          <a:prstGeom prst="roundRect">
            <a:avLst>
              <a:gd name="adj" fmla="val 3556"/>
            </a:avLst>
          </a:prstGeom>
          <a:solidFill>
            <a:srgbClr val="0E1E33">
              <a:alpha val="90000"/>
            </a:srgbClr>
          </a:solidFill>
          <a:ln w="12700">
            <a:solidFill>
              <a:srgbClr val="1F3A5A"/>
            </a:solidFill>
            <a:prstDash val="solid"/>
          </a:ln>
        </p:spPr>
      </p:sp>
      <p:sp>
        <p:nvSpPr>
          <p:cNvPr id="17" name="hud bracket"/>
          <p:cNvSpPr/>
          <p:nvPr/>
        </p:nvSpPr>
        <p:spPr>
          <a:xfrm>
            <a:off x="2807894" y="2103120"/>
            <a:ext cx="164592" cy="0"/>
          </a:xfrm>
          <a:prstGeom prst="line">
            <a:avLst/>
          </a:prstGeom>
          <a:noFill/>
          <a:ln w="25400">
            <a:solidFill>
              <a:srgbClr val="34D399"/>
            </a:solidFill>
            <a:prstDash val="solid"/>
          </a:ln>
        </p:spPr>
      </p:sp>
      <p:sp>
        <p:nvSpPr>
          <p:cNvPr id="18" name="hud bracket"/>
          <p:cNvSpPr/>
          <p:nvPr/>
        </p:nvSpPr>
        <p:spPr>
          <a:xfrm>
            <a:off x="2807894" y="2103120"/>
            <a:ext cx="0" cy="164592"/>
          </a:xfrm>
          <a:prstGeom prst="line">
            <a:avLst/>
          </a:prstGeom>
          <a:noFill/>
          <a:ln w="25400">
            <a:solidFill>
              <a:srgbClr val="34D399"/>
            </a:solidFill>
            <a:prstDash val="solid"/>
          </a:ln>
        </p:spPr>
      </p:sp>
      <p:sp>
        <p:nvSpPr>
          <p:cNvPr id="19" name="hud bracket"/>
          <p:cNvSpPr/>
          <p:nvPr/>
        </p:nvSpPr>
        <p:spPr>
          <a:xfrm>
            <a:off x="4700702" y="2103120"/>
            <a:ext cx="164592" cy="0"/>
          </a:xfrm>
          <a:prstGeom prst="line">
            <a:avLst/>
          </a:prstGeom>
          <a:noFill/>
          <a:ln w="25400">
            <a:solidFill>
              <a:srgbClr val="34D399"/>
            </a:solidFill>
            <a:prstDash val="solid"/>
          </a:ln>
        </p:spPr>
      </p:sp>
      <p:sp>
        <p:nvSpPr>
          <p:cNvPr id="20" name="hud bracket"/>
          <p:cNvSpPr/>
          <p:nvPr/>
        </p:nvSpPr>
        <p:spPr>
          <a:xfrm>
            <a:off x="4865294" y="2103120"/>
            <a:ext cx="0" cy="164592"/>
          </a:xfrm>
          <a:prstGeom prst="line">
            <a:avLst/>
          </a:prstGeom>
          <a:noFill/>
          <a:ln w="25400">
            <a:solidFill>
              <a:srgbClr val="34D399"/>
            </a:solidFill>
            <a:prstDash val="solid"/>
          </a:ln>
        </p:spPr>
      </p:sp>
      <p:sp>
        <p:nvSpPr>
          <p:cNvPr id="21" name="hud bracket"/>
          <p:cNvSpPr/>
          <p:nvPr/>
        </p:nvSpPr>
        <p:spPr>
          <a:xfrm>
            <a:off x="2807894" y="4709160"/>
            <a:ext cx="164592" cy="0"/>
          </a:xfrm>
          <a:prstGeom prst="line">
            <a:avLst/>
          </a:prstGeom>
          <a:noFill/>
          <a:ln w="25400">
            <a:solidFill>
              <a:srgbClr val="34D399"/>
            </a:solidFill>
            <a:prstDash val="solid"/>
          </a:ln>
        </p:spPr>
      </p:sp>
      <p:sp>
        <p:nvSpPr>
          <p:cNvPr id="22" name="hud bracket"/>
          <p:cNvSpPr/>
          <p:nvPr/>
        </p:nvSpPr>
        <p:spPr>
          <a:xfrm>
            <a:off x="2807894" y="4544568"/>
            <a:ext cx="0" cy="164592"/>
          </a:xfrm>
          <a:prstGeom prst="line">
            <a:avLst/>
          </a:prstGeom>
          <a:noFill/>
          <a:ln w="25400">
            <a:solidFill>
              <a:srgbClr val="34D399"/>
            </a:solidFill>
            <a:prstDash val="solid"/>
          </a:ln>
        </p:spPr>
      </p:sp>
      <p:sp>
        <p:nvSpPr>
          <p:cNvPr id="23" name="hud bracket"/>
          <p:cNvSpPr/>
          <p:nvPr/>
        </p:nvSpPr>
        <p:spPr>
          <a:xfrm>
            <a:off x="4700702" y="4709160"/>
            <a:ext cx="164592" cy="0"/>
          </a:xfrm>
          <a:prstGeom prst="line">
            <a:avLst/>
          </a:prstGeom>
          <a:noFill/>
          <a:ln w="25400">
            <a:solidFill>
              <a:srgbClr val="34D399"/>
            </a:solidFill>
            <a:prstDash val="solid"/>
          </a:ln>
        </p:spPr>
      </p:sp>
      <p:sp>
        <p:nvSpPr>
          <p:cNvPr id="24" name="hud bracket"/>
          <p:cNvSpPr/>
          <p:nvPr/>
        </p:nvSpPr>
        <p:spPr>
          <a:xfrm>
            <a:off x="4865294" y="4544568"/>
            <a:ext cx="0" cy="164592"/>
          </a:xfrm>
          <a:prstGeom prst="line">
            <a:avLst/>
          </a:prstGeom>
          <a:noFill/>
          <a:ln w="25400">
            <a:solidFill>
              <a:srgbClr val="34D399"/>
            </a:solidFill>
            <a:prstDash val="solid"/>
          </a:ln>
        </p:spPr>
      </p:sp>
      <p:sp>
        <p:nvSpPr>
          <p:cNvPr id="25" name="Text 23"/>
          <p:cNvSpPr txBox="1"/>
          <p:nvPr/>
        </p:nvSpPr>
        <p:spPr>
          <a:xfrm>
            <a:off x="3009062" y="2304288"/>
            <a:ext cx="1655064" cy="320040"/>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11:49 PM</a:t>
            </a:r>
            <a:endParaRPr lang="en-US" sz="1400" dirty="0"/>
          </a:p>
        </p:txBody>
      </p:sp>
      <p:sp>
        <p:nvSpPr>
          <p:cNvPr id="26" name="Text 24"/>
          <p:cNvSpPr txBox="1"/>
          <p:nvPr/>
        </p:nvSpPr>
        <p:spPr>
          <a:xfrm>
            <a:off x="3009062" y="2743200"/>
            <a:ext cx="1655064" cy="1188720"/>
          </a:xfrm>
          <a:prstGeom prst="rect">
            <a:avLst/>
          </a:prstGeom>
          <a:noFill/>
          <a:ln/>
        </p:spPr>
        <p:txBody>
          <a:bodyPr wrap="square" lIns="0" tIns="0" rIns="0" bIns="0" rtlCol="0" anchor="t"/>
          <a:lstStyle/>
          <a:p>
            <a:pPr indent="0" marL="0">
              <a:buNone/>
            </a:pPr>
            <a:r>
              <a:rPr lang="en-US" sz="1500" b="1" dirty="0">
                <a:solidFill>
                  <a:schemeClr val="bg1"/>
                </a:solidFill>
              </a:rPr>
              <a:t>Never share a code, even with friends</a:t>
            </a:r>
            <a:endParaRPr lang="en-US" sz="1500" dirty="0"/>
          </a:p>
        </p:txBody>
      </p:sp>
      <p:sp>
        <p:nvSpPr>
          <p:cNvPr id="27" name="Text 25"/>
          <p:cNvSpPr txBox="1"/>
          <p:nvPr/>
        </p:nvSpPr>
        <p:spPr>
          <a:xfrm>
            <a:off x="3009062" y="4114800"/>
            <a:ext cx="1655064" cy="411480"/>
          </a:xfrm>
          <a:prstGeom prst="rect">
            <a:avLst/>
          </a:prstGeom>
          <a:noFill/>
          <a:ln/>
        </p:spPr>
        <p:txBody>
          <a:bodyPr wrap="square" lIns="0" tIns="0" rIns="0" bIns="0" rtlCol="0" anchor="ctr"/>
          <a:lstStyle/>
          <a:p>
            <a:pPr indent="0" marL="0">
              <a:buNone/>
            </a:pPr>
            <a:r>
              <a:rPr lang="en-US" sz="1100" b="1" dirty="0">
                <a:solidFill>
                  <a:schemeClr val="accent6"/>
                </a:solidFill>
                <a:latin typeface="Consolas" pitchFamily="34" charset="0"/>
                <a:ea typeface="Consolas" pitchFamily="34" charset="-122"/>
                <a:cs typeface="Consolas" pitchFamily="34" charset="-120"/>
              </a:rPr>
              <a:t>&gt; DOOR STAYS SHUT</a:t>
            </a:r>
            <a:endParaRPr lang="en-US" sz="1100" dirty="0"/>
          </a:p>
        </p:txBody>
      </p:sp>
      <p:sp>
        <p:nvSpPr>
          <p:cNvPr id="28" name="fix 3"/>
          <p:cNvSpPr/>
          <p:nvPr/>
        </p:nvSpPr>
        <p:spPr>
          <a:xfrm>
            <a:off x="5067148" y="2103120"/>
            <a:ext cx="2057400" cy="2606040"/>
          </a:xfrm>
          <a:prstGeom prst="roundRect">
            <a:avLst>
              <a:gd name="adj" fmla="val 3556"/>
            </a:avLst>
          </a:prstGeom>
          <a:solidFill>
            <a:srgbClr val="0E1E33">
              <a:alpha val="90000"/>
            </a:srgbClr>
          </a:solidFill>
          <a:ln w="12700">
            <a:solidFill>
              <a:srgbClr val="1F3A5A"/>
            </a:solidFill>
            <a:prstDash val="solid"/>
          </a:ln>
        </p:spPr>
      </p:sp>
      <p:sp>
        <p:nvSpPr>
          <p:cNvPr id="29" name="hud bracket"/>
          <p:cNvSpPr/>
          <p:nvPr/>
        </p:nvSpPr>
        <p:spPr>
          <a:xfrm>
            <a:off x="5067148" y="2103120"/>
            <a:ext cx="164592" cy="0"/>
          </a:xfrm>
          <a:prstGeom prst="line">
            <a:avLst/>
          </a:prstGeom>
          <a:noFill/>
          <a:ln w="25400">
            <a:solidFill>
              <a:srgbClr val="34D399"/>
            </a:solidFill>
            <a:prstDash val="solid"/>
          </a:ln>
        </p:spPr>
      </p:sp>
      <p:sp>
        <p:nvSpPr>
          <p:cNvPr id="30" name="hud bracket"/>
          <p:cNvSpPr/>
          <p:nvPr/>
        </p:nvSpPr>
        <p:spPr>
          <a:xfrm>
            <a:off x="5067148" y="2103120"/>
            <a:ext cx="0" cy="164592"/>
          </a:xfrm>
          <a:prstGeom prst="line">
            <a:avLst/>
          </a:prstGeom>
          <a:noFill/>
          <a:ln w="25400">
            <a:solidFill>
              <a:srgbClr val="34D399"/>
            </a:solidFill>
            <a:prstDash val="solid"/>
          </a:ln>
        </p:spPr>
      </p:sp>
      <p:sp>
        <p:nvSpPr>
          <p:cNvPr id="31" name="hud bracket"/>
          <p:cNvSpPr/>
          <p:nvPr/>
        </p:nvSpPr>
        <p:spPr>
          <a:xfrm>
            <a:off x="6959956" y="2103120"/>
            <a:ext cx="164592" cy="0"/>
          </a:xfrm>
          <a:prstGeom prst="line">
            <a:avLst/>
          </a:prstGeom>
          <a:noFill/>
          <a:ln w="25400">
            <a:solidFill>
              <a:srgbClr val="34D399"/>
            </a:solidFill>
            <a:prstDash val="solid"/>
          </a:ln>
        </p:spPr>
      </p:sp>
      <p:sp>
        <p:nvSpPr>
          <p:cNvPr id="32" name="hud bracket"/>
          <p:cNvSpPr/>
          <p:nvPr/>
        </p:nvSpPr>
        <p:spPr>
          <a:xfrm>
            <a:off x="7124548" y="2103120"/>
            <a:ext cx="0" cy="164592"/>
          </a:xfrm>
          <a:prstGeom prst="line">
            <a:avLst/>
          </a:prstGeom>
          <a:noFill/>
          <a:ln w="25400">
            <a:solidFill>
              <a:srgbClr val="34D399"/>
            </a:solidFill>
            <a:prstDash val="solid"/>
          </a:ln>
        </p:spPr>
      </p:sp>
      <p:sp>
        <p:nvSpPr>
          <p:cNvPr id="33" name="hud bracket"/>
          <p:cNvSpPr/>
          <p:nvPr/>
        </p:nvSpPr>
        <p:spPr>
          <a:xfrm>
            <a:off x="5067148" y="4709160"/>
            <a:ext cx="164592" cy="0"/>
          </a:xfrm>
          <a:prstGeom prst="line">
            <a:avLst/>
          </a:prstGeom>
          <a:noFill/>
          <a:ln w="25400">
            <a:solidFill>
              <a:srgbClr val="34D399"/>
            </a:solidFill>
            <a:prstDash val="solid"/>
          </a:ln>
        </p:spPr>
      </p:sp>
      <p:sp>
        <p:nvSpPr>
          <p:cNvPr id="34" name="hud bracket"/>
          <p:cNvSpPr/>
          <p:nvPr/>
        </p:nvSpPr>
        <p:spPr>
          <a:xfrm>
            <a:off x="5067148" y="4544568"/>
            <a:ext cx="0" cy="164592"/>
          </a:xfrm>
          <a:prstGeom prst="line">
            <a:avLst/>
          </a:prstGeom>
          <a:noFill/>
          <a:ln w="25400">
            <a:solidFill>
              <a:srgbClr val="34D399"/>
            </a:solidFill>
            <a:prstDash val="solid"/>
          </a:ln>
        </p:spPr>
      </p:sp>
      <p:sp>
        <p:nvSpPr>
          <p:cNvPr id="35" name="hud bracket"/>
          <p:cNvSpPr/>
          <p:nvPr/>
        </p:nvSpPr>
        <p:spPr>
          <a:xfrm>
            <a:off x="6959956" y="4709160"/>
            <a:ext cx="164592" cy="0"/>
          </a:xfrm>
          <a:prstGeom prst="line">
            <a:avLst/>
          </a:prstGeom>
          <a:noFill/>
          <a:ln w="25400">
            <a:solidFill>
              <a:srgbClr val="34D399"/>
            </a:solidFill>
            <a:prstDash val="solid"/>
          </a:ln>
        </p:spPr>
      </p:sp>
      <p:sp>
        <p:nvSpPr>
          <p:cNvPr id="36" name="hud bracket"/>
          <p:cNvSpPr/>
          <p:nvPr/>
        </p:nvSpPr>
        <p:spPr>
          <a:xfrm>
            <a:off x="7124548" y="4544568"/>
            <a:ext cx="0" cy="164592"/>
          </a:xfrm>
          <a:prstGeom prst="line">
            <a:avLst/>
          </a:prstGeom>
          <a:noFill/>
          <a:ln w="25400">
            <a:solidFill>
              <a:srgbClr val="34D399"/>
            </a:solidFill>
            <a:prstDash val="solid"/>
          </a:ln>
        </p:spPr>
      </p:sp>
      <p:sp>
        <p:nvSpPr>
          <p:cNvPr id="37" name="Text 35"/>
          <p:cNvSpPr txBox="1"/>
          <p:nvPr/>
        </p:nvSpPr>
        <p:spPr>
          <a:xfrm>
            <a:off x="5268316" y="2304288"/>
            <a:ext cx="1655064" cy="320040"/>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12:20 AM</a:t>
            </a:r>
            <a:endParaRPr lang="en-US" sz="1400" dirty="0"/>
          </a:p>
        </p:txBody>
      </p:sp>
      <p:sp>
        <p:nvSpPr>
          <p:cNvPr id="38" name="Text 36"/>
          <p:cNvSpPr txBox="1"/>
          <p:nvPr/>
        </p:nvSpPr>
        <p:spPr>
          <a:xfrm>
            <a:off x="5268316" y="2743200"/>
            <a:ext cx="1655064" cy="1188720"/>
          </a:xfrm>
          <a:prstGeom prst="rect">
            <a:avLst/>
          </a:prstGeom>
          <a:noFill/>
          <a:ln/>
        </p:spPr>
        <p:txBody>
          <a:bodyPr wrap="square" lIns="0" tIns="0" rIns="0" bIns="0" rtlCol="0" anchor="t"/>
          <a:lstStyle/>
          <a:p>
            <a:pPr indent="0" marL="0">
              <a:buNone/>
            </a:pPr>
            <a:r>
              <a:rPr lang="en-US" sz="1500" b="1" dirty="0">
                <a:solidFill>
                  <a:schemeClr val="bg1"/>
                </a:solidFill>
              </a:rPr>
              <a:t>Unique password and a passkey on Gmail</a:t>
            </a:r>
            <a:endParaRPr lang="en-US" sz="1500" dirty="0"/>
          </a:p>
        </p:txBody>
      </p:sp>
      <p:sp>
        <p:nvSpPr>
          <p:cNvPr id="39" name="Text 37"/>
          <p:cNvSpPr txBox="1"/>
          <p:nvPr/>
        </p:nvSpPr>
        <p:spPr>
          <a:xfrm>
            <a:off x="5268316" y="4114800"/>
            <a:ext cx="1655064" cy="411480"/>
          </a:xfrm>
          <a:prstGeom prst="rect">
            <a:avLst/>
          </a:prstGeom>
          <a:noFill/>
          <a:ln/>
        </p:spPr>
        <p:txBody>
          <a:bodyPr wrap="square" lIns="0" tIns="0" rIns="0" bIns="0" rtlCol="0" anchor="ctr"/>
          <a:lstStyle/>
          <a:p>
            <a:pPr indent="0" marL="0">
              <a:buNone/>
            </a:pPr>
            <a:r>
              <a:rPr lang="en-US" sz="1100" b="1" dirty="0">
                <a:solidFill>
                  <a:schemeClr val="accent6"/>
                </a:solidFill>
                <a:latin typeface="Consolas" pitchFamily="34" charset="0"/>
                <a:ea typeface="Consolas" pitchFamily="34" charset="-122"/>
                <a:cs typeface="Consolas" pitchFamily="34" charset="-120"/>
              </a:rPr>
              <a:t>&gt; MASTER KEY SAFE</a:t>
            </a:r>
            <a:endParaRPr lang="en-US" sz="1100" dirty="0"/>
          </a:p>
        </p:txBody>
      </p:sp>
      <p:sp>
        <p:nvSpPr>
          <p:cNvPr id="40" name="fix 4"/>
          <p:cNvSpPr/>
          <p:nvPr/>
        </p:nvSpPr>
        <p:spPr>
          <a:xfrm>
            <a:off x="7326401" y="2103120"/>
            <a:ext cx="2057400" cy="2606040"/>
          </a:xfrm>
          <a:prstGeom prst="roundRect">
            <a:avLst>
              <a:gd name="adj" fmla="val 3556"/>
            </a:avLst>
          </a:prstGeom>
          <a:solidFill>
            <a:srgbClr val="0E1E33">
              <a:alpha val="90000"/>
            </a:srgbClr>
          </a:solidFill>
          <a:ln w="12700">
            <a:solidFill>
              <a:srgbClr val="1F3A5A"/>
            </a:solidFill>
            <a:prstDash val="solid"/>
          </a:ln>
        </p:spPr>
      </p:sp>
      <p:sp>
        <p:nvSpPr>
          <p:cNvPr id="41" name="hud bracket"/>
          <p:cNvSpPr/>
          <p:nvPr/>
        </p:nvSpPr>
        <p:spPr>
          <a:xfrm>
            <a:off x="7326401" y="2103120"/>
            <a:ext cx="164592" cy="0"/>
          </a:xfrm>
          <a:prstGeom prst="line">
            <a:avLst/>
          </a:prstGeom>
          <a:noFill/>
          <a:ln w="25400">
            <a:solidFill>
              <a:srgbClr val="34D399"/>
            </a:solidFill>
            <a:prstDash val="solid"/>
          </a:ln>
        </p:spPr>
      </p:sp>
      <p:sp>
        <p:nvSpPr>
          <p:cNvPr id="42" name="hud bracket"/>
          <p:cNvSpPr/>
          <p:nvPr/>
        </p:nvSpPr>
        <p:spPr>
          <a:xfrm>
            <a:off x="7326401" y="2103120"/>
            <a:ext cx="0" cy="164592"/>
          </a:xfrm>
          <a:prstGeom prst="line">
            <a:avLst/>
          </a:prstGeom>
          <a:noFill/>
          <a:ln w="25400">
            <a:solidFill>
              <a:srgbClr val="34D399"/>
            </a:solidFill>
            <a:prstDash val="solid"/>
          </a:ln>
        </p:spPr>
      </p:sp>
      <p:sp>
        <p:nvSpPr>
          <p:cNvPr id="43" name="hud bracket"/>
          <p:cNvSpPr/>
          <p:nvPr/>
        </p:nvSpPr>
        <p:spPr>
          <a:xfrm>
            <a:off x="9219209" y="2103120"/>
            <a:ext cx="164592" cy="0"/>
          </a:xfrm>
          <a:prstGeom prst="line">
            <a:avLst/>
          </a:prstGeom>
          <a:noFill/>
          <a:ln w="25400">
            <a:solidFill>
              <a:srgbClr val="34D399"/>
            </a:solidFill>
            <a:prstDash val="solid"/>
          </a:ln>
        </p:spPr>
      </p:sp>
      <p:sp>
        <p:nvSpPr>
          <p:cNvPr id="44" name="hud bracket"/>
          <p:cNvSpPr/>
          <p:nvPr/>
        </p:nvSpPr>
        <p:spPr>
          <a:xfrm>
            <a:off x="9383801" y="2103120"/>
            <a:ext cx="0" cy="164592"/>
          </a:xfrm>
          <a:prstGeom prst="line">
            <a:avLst/>
          </a:prstGeom>
          <a:noFill/>
          <a:ln w="25400">
            <a:solidFill>
              <a:srgbClr val="34D399"/>
            </a:solidFill>
            <a:prstDash val="solid"/>
          </a:ln>
        </p:spPr>
      </p:sp>
      <p:sp>
        <p:nvSpPr>
          <p:cNvPr id="45" name="hud bracket"/>
          <p:cNvSpPr/>
          <p:nvPr/>
        </p:nvSpPr>
        <p:spPr>
          <a:xfrm>
            <a:off x="7326401" y="4709160"/>
            <a:ext cx="164592" cy="0"/>
          </a:xfrm>
          <a:prstGeom prst="line">
            <a:avLst/>
          </a:prstGeom>
          <a:noFill/>
          <a:ln w="25400">
            <a:solidFill>
              <a:srgbClr val="34D399"/>
            </a:solidFill>
            <a:prstDash val="solid"/>
          </a:ln>
        </p:spPr>
      </p:sp>
      <p:sp>
        <p:nvSpPr>
          <p:cNvPr id="46" name="hud bracket"/>
          <p:cNvSpPr/>
          <p:nvPr/>
        </p:nvSpPr>
        <p:spPr>
          <a:xfrm>
            <a:off x="7326401" y="4544568"/>
            <a:ext cx="0" cy="164592"/>
          </a:xfrm>
          <a:prstGeom prst="line">
            <a:avLst/>
          </a:prstGeom>
          <a:noFill/>
          <a:ln w="25400">
            <a:solidFill>
              <a:srgbClr val="34D399"/>
            </a:solidFill>
            <a:prstDash val="solid"/>
          </a:ln>
        </p:spPr>
      </p:sp>
      <p:sp>
        <p:nvSpPr>
          <p:cNvPr id="47" name="hud bracket"/>
          <p:cNvSpPr/>
          <p:nvPr/>
        </p:nvSpPr>
        <p:spPr>
          <a:xfrm>
            <a:off x="9219209" y="4709160"/>
            <a:ext cx="164592" cy="0"/>
          </a:xfrm>
          <a:prstGeom prst="line">
            <a:avLst/>
          </a:prstGeom>
          <a:noFill/>
          <a:ln w="25400">
            <a:solidFill>
              <a:srgbClr val="34D399"/>
            </a:solidFill>
            <a:prstDash val="solid"/>
          </a:ln>
        </p:spPr>
      </p:sp>
      <p:sp>
        <p:nvSpPr>
          <p:cNvPr id="48" name="hud bracket"/>
          <p:cNvSpPr/>
          <p:nvPr/>
        </p:nvSpPr>
        <p:spPr>
          <a:xfrm>
            <a:off x="9383801" y="4544568"/>
            <a:ext cx="0" cy="164592"/>
          </a:xfrm>
          <a:prstGeom prst="line">
            <a:avLst/>
          </a:prstGeom>
          <a:noFill/>
          <a:ln w="25400">
            <a:solidFill>
              <a:srgbClr val="34D399"/>
            </a:solidFill>
            <a:prstDash val="solid"/>
          </a:ln>
        </p:spPr>
      </p:sp>
      <p:sp>
        <p:nvSpPr>
          <p:cNvPr id="49" name="Text 47"/>
          <p:cNvSpPr txBox="1"/>
          <p:nvPr/>
        </p:nvSpPr>
        <p:spPr>
          <a:xfrm>
            <a:off x="7527569" y="2304288"/>
            <a:ext cx="1655064" cy="320040"/>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12:35 AM</a:t>
            </a:r>
            <a:endParaRPr lang="en-US" sz="1400" dirty="0"/>
          </a:p>
        </p:txBody>
      </p:sp>
      <p:sp>
        <p:nvSpPr>
          <p:cNvPr id="50" name="Text 48"/>
          <p:cNvSpPr txBox="1"/>
          <p:nvPr/>
        </p:nvSpPr>
        <p:spPr>
          <a:xfrm>
            <a:off x="7527569" y="2743200"/>
            <a:ext cx="1655064" cy="1188720"/>
          </a:xfrm>
          <a:prstGeom prst="rect">
            <a:avLst/>
          </a:prstGeom>
          <a:noFill/>
          <a:ln/>
        </p:spPr>
        <p:txBody>
          <a:bodyPr wrap="square" lIns="0" tIns="0" rIns="0" bIns="0" rtlCol="0" anchor="t"/>
          <a:lstStyle/>
          <a:p>
            <a:pPr indent="0" marL="0">
              <a:buNone/>
            </a:pPr>
            <a:r>
              <a:rPr lang="en-US" sz="1500" b="1" dirty="0">
                <a:solidFill>
                  <a:schemeClr val="bg1"/>
                </a:solidFill>
              </a:rPr>
              <a:t>Check recovery email and phone; keep alerts on</a:t>
            </a:r>
            <a:endParaRPr lang="en-US" sz="1500" dirty="0"/>
          </a:p>
        </p:txBody>
      </p:sp>
      <p:sp>
        <p:nvSpPr>
          <p:cNvPr id="51" name="Text 49"/>
          <p:cNvSpPr txBox="1"/>
          <p:nvPr/>
        </p:nvSpPr>
        <p:spPr>
          <a:xfrm>
            <a:off x="7527569" y="4114800"/>
            <a:ext cx="1655064" cy="411480"/>
          </a:xfrm>
          <a:prstGeom prst="rect">
            <a:avLst/>
          </a:prstGeom>
          <a:noFill/>
          <a:ln/>
        </p:spPr>
        <p:txBody>
          <a:bodyPr wrap="square" lIns="0" tIns="0" rIns="0" bIns="0" rtlCol="0" anchor="ctr"/>
          <a:lstStyle/>
          <a:p>
            <a:pPr indent="0" marL="0">
              <a:buNone/>
            </a:pPr>
            <a:r>
              <a:rPr lang="en-US" sz="1100" b="1" dirty="0">
                <a:solidFill>
                  <a:schemeClr val="accent6"/>
                </a:solidFill>
                <a:latin typeface="Consolas" pitchFamily="34" charset="0"/>
                <a:ea typeface="Consolas" pitchFamily="34" charset="-122"/>
                <a:cs typeface="Consolas" pitchFamily="34" charset="-120"/>
              </a:rPr>
              <a:t>&gt; TAKEOVER SPOTTED</a:t>
            </a:r>
            <a:endParaRPr lang="en-US" sz="1100" dirty="0"/>
          </a:p>
        </p:txBody>
      </p:sp>
      <p:sp>
        <p:nvSpPr>
          <p:cNvPr id="52" name="fix 5"/>
          <p:cNvSpPr/>
          <p:nvPr/>
        </p:nvSpPr>
        <p:spPr>
          <a:xfrm>
            <a:off x="9585655" y="2103120"/>
            <a:ext cx="2057400" cy="2606040"/>
          </a:xfrm>
          <a:prstGeom prst="roundRect">
            <a:avLst>
              <a:gd name="adj" fmla="val 3556"/>
            </a:avLst>
          </a:prstGeom>
          <a:solidFill>
            <a:srgbClr val="0E1E33">
              <a:alpha val="90000"/>
            </a:srgbClr>
          </a:solidFill>
          <a:ln w="12700">
            <a:solidFill>
              <a:srgbClr val="1F3A5A"/>
            </a:solidFill>
            <a:prstDash val="solid"/>
          </a:ln>
        </p:spPr>
      </p:sp>
      <p:sp>
        <p:nvSpPr>
          <p:cNvPr id="53" name="hud bracket"/>
          <p:cNvSpPr/>
          <p:nvPr/>
        </p:nvSpPr>
        <p:spPr>
          <a:xfrm>
            <a:off x="9585655" y="2103120"/>
            <a:ext cx="164592" cy="0"/>
          </a:xfrm>
          <a:prstGeom prst="line">
            <a:avLst/>
          </a:prstGeom>
          <a:noFill/>
          <a:ln w="25400">
            <a:solidFill>
              <a:srgbClr val="34D399"/>
            </a:solidFill>
            <a:prstDash val="solid"/>
          </a:ln>
        </p:spPr>
      </p:sp>
      <p:sp>
        <p:nvSpPr>
          <p:cNvPr id="54" name="hud bracket"/>
          <p:cNvSpPr/>
          <p:nvPr/>
        </p:nvSpPr>
        <p:spPr>
          <a:xfrm>
            <a:off x="9585655" y="2103120"/>
            <a:ext cx="0" cy="164592"/>
          </a:xfrm>
          <a:prstGeom prst="line">
            <a:avLst/>
          </a:prstGeom>
          <a:noFill/>
          <a:ln w="25400">
            <a:solidFill>
              <a:srgbClr val="34D399"/>
            </a:solidFill>
            <a:prstDash val="solid"/>
          </a:ln>
        </p:spPr>
      </p:sp>
      <p:sp>
        <p:nvSpPr>
          <p:cNvPr id="55" name="hud bracket"/>
          <p:cNvSpPr/>
          <p:nvPr/>
        </p:nvSpPr>
        <p:spPr>
          <a:xfrm>
            <a:off x="11478463" y="2103120"/>
            <a:ext cx="164592" cy="0"/>
          </a:xfrm>
          <a:prstGeom prst="line">
            <a:avLst/>
          </a:prstGeom>
          <a:noFill/>
          <a:ln w="25400">
            <a:solidFill>
              <a:srgbClr val="34D399"/>
            </a:solidFill>
            <a:prstDash val="solid"/>
          </a:ln>
        </p:spPr>
      </p:sp>
      <p:sp>
        <p:nvSpPr>
          <p:cNvPr id="56" name="hud bracket"/>
          <p:cNvSpPr/>
          <p:nvPr/>
        </p:nvSpPr>
        <p:spPr>
          <a:xfrm>
            <a:off x="11643055" y="2103120"/>
            <a:ext cx="0" cy="164592"/>
          </a:xfrm>
          <a:prstGeom prst="line">
            <a:avLst/>
          </a:prstGeom>
          <a:noFill/>
          <a:ln w="25400">
            <a:solidFill>
              <a:srgbClr val="34D399"/>
            </a:solidFill>
            <a:prstDash val="solid"/>
          </a:ln>
        </p:spPr>
      </p:sp>
      <p:sp>
        <p:nvSpPr>
          <p:cNvPr id="57" name="hud bracket"/>
          <p:cNvSpPr/>
          <p:nvPr/>
        </p:nvSpPr>
        <p:spPr>
          <a:xfrm>
            <a:off x="9585655" y="4709160"/>
            <a:ext cx="164592" cy="0"/>
          </a:xfrm>
          <a:prstGeom prst="line">
            <a:avLst/>
          </a:prstGeom>
          <a:noFill/>
          <a:ln w="25400">
            <a:solidFill>
              <a:srgbClr val="34D399"/>
            </a:solidFill>
            <a:prstDash val="solid"/>
          </a:ln>
        </p:spPr>
      </p:sp>
      <p:sp>
        <p:nvSpPr>
          <p:cNvPr id="58" name="hud bracket"/>
          <p:cNvSpPr/>
          <p:nvPr/>
        </p:nvSpPr>
        <p:spPr>
          <a:xfrm>
            <a:off x="9585655" y="4544568"/>
            <a:ext cx="0" cy="164592"/>
          </a:xfrm>
          <a:prstGeom prst="line">
            <a:avLst/>
          </a:prstGeom>
          <a:noFill/>
          <a:ln w="25400">
            <a:solidFill>
              <a:srgbClr val="34D399"/>
            </a:solidFill>
            <a:prstDash val="solid"/>
          </a:ln>
        </p:spPr>
      </p:sp>
      <p:sp>
        <p:nvSpPr>
          <p:cNvPr id="59" name="hud bracket"/>
          <p:cNvSpPr/>
          <p:nvPr/>
        </p:nvSpPr>
        <p:spPr>
          <a:xfrm>
            <a:off x="11478463" y="4709160"/>
            <a:ext cx="164592" cy="0"/>
          </a:xfrm>
          <a:prstGeom prst="line">
            <a:avLst/>
          </a:prstGeom>
          <a:noFill/>
          <a:ln w="25400">
            <a:solidFill>
              <a:srgbClr val="34D399"/>
            </a:solidFill>
            <a:prstDash val="solid"/>
          </a:ln>
        </p:spPr>
      </p:sp>
      <p:sp>
        <p:nvSpPr>
          <p:cNvPr id="60" name="hud bracket"/>
          <p:cNvSpPr/>
          <p:nvPr/>
        </p:nvSpPr>
        <p:spPr>
          <a:xfrm>
            <a:off x="11643055" y="4544568"/>
            <a:ext cx="0" cy="164592"/>
          </a:xfrm>
          <a:prstGeom prst="line">
            <a:avLst/>
          </a:prstGeom>
          <a:noFill/>
          <a:ln w="25400">
            <a:solidFill>
              <a:srgbClr val="34D399"/>
            </a:solidFill>
            <a:prstDash val="solid"/>
          </a:ln>
        </p:spPr>
      </p:sp>
      <p:sp>
        <p:nvSpPr>
          <p:cNvPr id="61" name="Text 59"/>
          <p:cNvSpPr txBox="1"/>
          <p:nvPr/>
        </p:nvSpPr>
        <p:spPr>
          <a:xfrm>
            <a:off x="9786823" y="2304288"/>
            <a:ext cx="1655064" cy="320040"/>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01:10 AM</a:t>
            </a:r>
            <a:endParaRPr lang="en-US" sz="1400" dirty="0"/>
          </a:p>
        </p:txBody>
      </p:sp>
      <p:sp>
        <p:nvSpPr>
          <p:cNvPr id="62" name="Text 60"/>
          <p:cNvSpPr txBox="1"/>
          <p:nvPr/>
        </p:nvSpPr>
        <p:spPr>
          <a:xfrm>
            <a:off x="9786823" y="2743200"/>
            <a:ext cx="1655064" cy="1188720"/>
          </a:xfrm>
          <a:prstGeom prst="rect">
            <a:avLst/>
          </a:prstGeom>
          <a:noFill/>
          <a:ln/>
        </p:spPr>
        <p:txBody>
          <a:bodyPr wrap="square" lIns="0" tIns="0" rIns="0" bIns="0" rtlCol="0" anchor="t"/>
          <a:lstStyle/>
          <a:p>
            <a:pPr indent="0" marL="0">
              <a:buNone/>
            </a:pPr>
            <a:r>
              <a:rPr lang="en-US" sz="1500" b="1" dirty="0">
                <a:solidFill>
                  <a:schemeClr val="bg1"/>
                </a:solidFill>
              </a:rPr>
              <a:t>Log out devices you do not recognise</a:t>
            </a:r>
            <a:endParaRPr lang="en-US" sz="1500" dirty="0"/>
          </a:p>
        </p:txBody>
      </p:sp>
      <p:sp>
        <p:nvSpPr>
          <p:cNvPr id="63" name="Text 61"/>
          <p:cNvSpPr txBox="1"/>
          <p:nvPr/>
        </p:nvSpPr>
        <p:spPr>
          <a:xfrm>
            <a:off x="9786823" y="4114800"/>
            <a:ext cx="1655064" cy="411480"/>
          </a:xfrm>
          <a:prstGeom prst="rect">
            <a:avLst/>
          </a:prstGeom>
          <a:noFill/>
          <a:ln/>
        </p:spPr>
        <p:txBody>
          <a:bodyPr wrap="square" lIns="0" tIns="0" rIns="0" bIns="0" rtlCol="0" anchor="ctr"/>
          <a:lstStyle/>
          <a:p>
            <a:pPr indent="0" marL="0">
              <a:buNone/>
            </a:pPr>
            <a:r>
              <a:rPr lang="en-US" sz="1100" b="1" dirty="0">
                <a:solidFill>
                  <a:schemeClr val="accent6"/>
                </a:solidFill>
                <a:latin typeface="Consolas" pitchFamily="34" charset="0"/>
                <a:ea typeface="Consolas" pitchFamily="34" charset="-122"/>
                <a:cs typeface="Consolas" pitchFamily="34" charset="-120"/>
              </a:rPr>
              <a:t>&gt; ATTACKER REMOVED</a:t>
            </a:r>
            <a:endParaRPr lang="en-US" sz="1100" dirty="0"/>
          </a:p>
        </p:txBody>
      </p:sp>
      <p:sp>
        <p:nvSpPr>
          <p:cNvPr id="64" name="Text 62"/>
          <p:cNvSpPr txBox="1"/>
          <p:nvPr/>
        </p:nvSpPr>
        <p:spPr>
          <a:xfrm>
            <a:off x="548640" y="4983480"/>
            <a:ext cx="11094415" cy="548640"/>
          </a:xfrm>
          <a:prstGeom prst="rect">
            <a:avLst/>
          </a:prstGeom>
          <a:noFill/>
          <a:ln/>
        </p:spPr>
        <p:txBody>
          <a:bodyPr wrap="square" lIns="0" tIns="0" rIns="0" bIns="0" rtlCol="0" anchor="ctr"/>
          <a:lstStyle/>
          <a:p>
            <a:pPr indent="0" marL="0">
              <a:buNone/>
            </a:pPr>
            <a:r>
              <a:rPr lang="en-US" sz="2400" i="1" dirty="0">
                <a:solidFill>
                  <a:srgbClr val="9FB3C8"/>
                </a:solidFill>
              </a:rPr>
              <a:t>11:47 PM. The message arrives. </a:t>
            </a:r>
            <a:pPr indent="0" marL="0">
              <a:buNone/>
            </a:pPr>
            <a:r>
              <a:rPr lang="en-US" sz="2400" b="1" i="1" dirty="0">
                <a:solidFill>
                  <a:schemeClr val="bg1"/>
                </a:solidFill>
              </a:rPr>
              <a:t>This time, Nusrat says no.</a:t>
            </a:r>
            <a:endParaRPr lang="en-US" sz="2400" dirty="0"/>
          </a:p>
        </p:txBody>
      </p:sp>
      <p:sp>
        <p:nvSpPr>
          <p:cNvPr id="65" name="Text 63"/>
          <p:cNvSpPr txBox="1"/>
          <p:nvPr/>
        </p:nvSpPr>
        <p:spPr>
          <a:xfrm>
            <a:off x="548640" y="5715000"/>
            <a:ext cx="7315200" cy="457200"/>
          </a:xfrm>
          <a:prstGeom prst="rect">
            <a:avLst/>
          </a:prstGeom>
          <a:noFill/>
          <a:ln/>
        </p:spPr>
        <p:txBody>
          <a:bodyPr wrap="square" lIns="0" tIns="0" rIns="0" bIns="0" rtlCol="0" anchor="ctr"/>
          <a:lstStyle/>
          <a:p>
            <a:pPr indent="0" marL="0">
              <a:buNone/>
            </a:pPr>
            <a:r>
              <a:rPr lang="en-US" sz="2000" b="1" dirty="0">
                <a:solidFill>
                  <a:schemeClr val="accent1"/>
                </a:solidFill>
              </a:rPr>
              <a:t>Thank you</a:t>
            </a:r>
            <a:pPr indent="0" marL="0">
              <a:buNone/>
            </a:pPr>
            <a:r>
              <a:rPr lang="en-US" sz="2000" dirty="0">
                <a:solidFill>
                  <a:srgbClr val="9FB3C8"/>
                </a:solidFill>
              </a:rPr>
              <a:t>   |   Questions and discussion</a:t>
            </a:r>
            <a:endParaRPr lang="en-US" sz="2000" dirty="0"/>
          </a:p>
        </p:txBody>
      </p:sp>
    </p:spTree>
  </p:cSld>
  <p:clrMapOvr>
    <a:masterClrMapping/>
  </p:clrMapOvr>
</p:sld>
</file>

<file path=ppt/theme/theme1.xml><?xml version="1.0" encoding="utf-8"?>
<a:theme xmlns:a="http://schemas.openxmlformats.org/drawingml/2006/main" name="Locked or Leaked Cyber">
  <a:themeElements>
    <a:clrScheme name="Locked or Leaked Cyber">
      <a:dk1>
        <a:srgbClr val="0B1220"/>
      </a:dk1>
      <a:lt1>
        <a:srgbClr val="FFFFFF"/>
      </a:lt1>
      <a:dk2>
        <a:srgbClr val="07111F"/>
      </a:dk2>
      <a:lt2>
        <a:srgbClr val="EAF2FB"/>
      </a:lt2>
      <a:accent1>
        <a:srgbClr val="22D3EE"/>
      </a:accent1>
      <a:accent2>
        <a:srgbClr val="FBBF24"/>
      </a:accent2>
      <a:accent3>
        <a:srgbClr val="60A5FA"/>
      </a:accent3>
      <a:accent4>
        <a:srgbClr val="F87171"/>
      </a:accent4>
      <a:accent5>
        <a:srgbClr val="A78BFA"/>
      </a:accent5>
      <a:accent6>
        <a:srgbClr val="34D399"/>
      </a:accent6>
      <a:hlink>
        <a:srgbClr val="22D3EE"/>
      </a:hlink>
      <a:folHlink>
        <a:srgbClr val="A78BFA"/>
      </a:folHlink>
    </a:clrScheme>
    <a:fontScheme name="Locked or Leaked Cyb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Locked or Leaked? Assessing the Security Features of Five Online Platforms</dc:title>
  <dc:subject>MCCJ 525 Cybercrimes and Security</dc:subject>
  <dc:creator>PptxGenJS</dc:creator>
  <cp:lastModifiedBy>PptxGenJS</cp:lastModifiedBy>
  <cp:revision>1</cp:revision>
  <dcterms:created xsi:type="dcterms:W3CDTF">2026-10-17T16:35:13Z</dcterms:created>
  <dcterms:modified xsi:type="dcterms:W3CDTF">2026-10-17T16:35:13Z</dcterms:modified>
</cp:coreProperties>
</file>