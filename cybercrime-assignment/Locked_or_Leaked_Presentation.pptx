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cf1993a-552a-ad9e-e37d-b7e68fcd3f94}">
          <p14:sldIdLst>
            <p14:sldId id="256"/>
            <p14:sldId id="257"/>
          </p14:sldIdLst>
        </p14:section>
        <p14:section name="Methodology" id="{6b6346df-c30e-7ba6-6405-5a89d13821fe}">
          <p14:sldIdLst>
            <p14:sldId id="258"/>
          </p14:sldIdLst>
        </p14:section>
        <p14:section name="Platform Assessments" id="{cfec204b-56c0-92e0-7e64-37d4627cebf8}">
          <p14:sldIdLst>
            <p14:sldId id="259"/>
            <p14:sldId id="260"/>
            <p14:sldId id="261"/>
            <p14:sldId id="262"/>
            <p14:sldId id="263"/>
          </p14:sldIdLst>
        </p14:section>
        <p14:section name="Verdict" id="{44438578-b276-1d2c-5b43-8695fbc8b0e9}">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0E7C86"/>
            </a:solidFill>
            <a:effectLst/>
          </c:spPr>
          <c:invertIfNegative val="0"/>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4</c:v>
                </c:pt>
                <c:pt idx="1">
                  <c:v>3</c:v>
                </c:pt>
                <c:pt idx="2">
                  <c:v>4</c:v>
                </c:pt>
                <c:pt idx="3">
                  <c:v>2</c:v>
                </c:pt>
                <c:pt idx="4">
                  <c:v>3</c:v>
                </c:pt>
              </c:numCache>
            </c:numRef>
          </c:val>
        </c:ser>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0E7C86"/>
            </a:solidFill>
            <a:effectLst/>
          </c:spPr>
          <c:invertIfNegative val="0"/>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4</c:v>
                </c:pt>
                <c:pt idx="1">
                  <c:v>1</c:v>
                </c:pt>
                <c:pt idx="2">
                  <c:v>4</c:v>
                </c:pt>
                <c:pt idx="3">
                  <c:v>3</c:v>
                </c:pt>
                <c:pt idx="4">
                  <c:v>4</c:v>
                </c:pt>
              </c:numCache>
            </c:numRef>
          </c:val>
        </c:ser>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0E7C86"/>
            </a:solidFill>
            <a:effectLst/>
          </c:spPr>
          <c:invertIfNegative val="0"/>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4</c:v>
                </c:pt>
                <c:pt idx="1">
                  <c:v>5</c:v>
                </c:pt>
                <c:pt idx="2">
                  <c:v>3</c:v>
                </c:pt>
                <c:pt idx="3">
                  <c:v>3</c:v>
                </c:pt>
                <c:pt idx="4">
                  <c:v>5</c:v>
                </c:pt>
              </c:numCache>
            </c:numRef>
          </c:val>
        </c:ser>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0E7C86"/>
            </a:solidFill>
            <a:effectLst/>
          </c:spPr>
          <c:invertIfNegative val="0"/>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5</c:v>
                </c:pt>
                <c:pt idx="1">
                  <c:v>3</c:v>
                </c:pt>
                <c:pt idx="2">
                  <c:v>5</c:v>
                </c:pt>
                <c:pt idx="3">
                  <c:v>4</c:v>
                </c:pt>
                <c:pt idx="4">
                  <c:v>3</c:v>
                </c:pt>
              </c:numCache>
            </c:numRef>
          </c:val>
        </c:ser>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Score</c:v>
                </c:pt>
              </c:strCache>
            </c:strRef>
          </c:tx>
          <c:spPr>
            <a:solidFill>
              <a:srgbClr val="0E7C86"/>
            </a:solidFill>
            <a:effectLst/>
          </c:spPr>
          <c:invertIfNegative val="0"/>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cat>
            <c:multiLvlStrRef>
              <c:f>Sheet1!$A$2:$A$6</c:f>
              <c:multiLvlStrCache>
                <c:ptCount val="5"/>
                <c:lvl>
                  <c:pt idx="0">
                    <c:v>Login protection</c:v>
                  </c:pt>
                  <c:pt idx="1">
                    <c:v>Encryption by default</c:v>
                  </c:pt>
                  <c:pt idx="2">
                    <c:v>Threat alerts</c:v>
                  </c:pt>
                  <c:pt idx="3">
                    <c:v>Recovery safety</c:v>
                  </c:pt>
                  <c:pt idx="4">
                    <c:v>Privacy controls</c:v>
                  </c:pt>
                </c:lvl>
              </c:multiLvlStrCache>
            </c:multiLvlStrRef>
          </c:cat>
          <c:val>
            <c:numRef>
              <c:f>Sheet1!$B$2:$B$6</c:f>
              <c:numCache>
                <c:formatCode>General</c:formatCode>
                <c:ptCount val="5"/>
                <c:pt idx="0">
                  <c:v>3</c:v>
                </c:pt>
                <c:pt idx="1">
                  <c:v>2</c:v>
                </c:pt>
                <c:pt idx="2">
                  <c:v>3</c:v>
                </c:pt>
                <c:pt idx="3">
                  <c:v>2</c:v>
                </c:pt>
                <c:pt idx="4">
                  <c:v>4</c:v>
                </c:pt>
              </c:numCache>
            </c:numRef>
          </c:val>
        </c:ser>
        <c:dLbls>
          <c:numFmt formatCode="#,##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Security score by criterion (out of 25)</a:t>
            </a:r>
          </a:p>
        </c:rich>
      </c:tx>
      <c:layout/>
      <c:overlay val="0"/>
    </c:title>
    <c:autoTitleDeleted val="0"/>
    <c:plotArea>
      <c:layout/>
      <c:barChart>
        <c:barDir val="bar"/>
        <c:grouping val="stacked"/>
        <c:varyColors val="0"/>
        <c:ser>
          <c:idx val="0"/>
          <c:order val="0"/>
          <c:tx>
            <c:strRef>
              <c:f>Sheet1!$B$1</c:f>
              <c:strCache>
                <c:ptCount val="1"/>
                <c:pt idx="0">
                  <c:v>Login protection</c:v>
                </c:pt>
              </c:strCache>
            </c:strRef>
          </c:tx>
          <c:spPr>
            <a:solidFill>
              <a:srgbClr val="0B1F3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Sheet1!$B$2:$B$6</c:f>
              <c:numCache>
                <c:formatCode>General</c:formatCode>
                <c:ptCount val="5"/>
                <c:pt idx="0">
                  <c:v>4</c:v>
                </c:pt>
                <c:pt idx="1">
                  <c:v>5</c:v>
                </c:pt>
                <c:pt idx="2">
                  <c:v>4</c:v>
                </c:pt>
                <c:pt idx="3">
                  <c:v>4</c:v>
                </c:pt>
                <c:pt idx="4">
                  <c:v>3</c:v>
                </c:pt>
              </c:numCache>
            </c:numRef>
          </c:val>
        </c:ser>
        <c:ser>
          <c:idx val="1"/>
          <c:order val="1"/>
          <c:tx>
            <c:strRef>
              <c:f>Sheet1!$C$1</c:f>
              <c:strCache>
                <c:ptCount val="1"/>
                <c:pt idx="0">
                  <c:v>Encryption by default</c:v>
                </c:pt>
              </c:strCache>
            </c:strRef>
          </c:tx>
          <c:spPr>
            <a:solidFill>
              <a:srgbClr val="2563A8"/>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Sheet1!$C$2:$C$6</c:f>
              <c:numCache>
                <c:formatCode>General</c:formatCode>
                <c:ptCount val="5"/>
                <c:pt idx="0">
                  <c:v>5</c:v>
                </c:pt>
                <c:pt idx="1">
                  <c:v>3</c:v>
                </c:pt>
                <c:pt idx="2">
                  <c:v>3</c:v>
                </c:pt>
                <c:pt idx="3">
                  <c:v>1</c:v>
                </c:pt>
                <c:pt idx="4">
                  <c:v>2</c:v>
                </c:pt>
              </c:numCache>
            </c:numRef>
          </c:val>
        </c:ser>
        <c:ser>
          <c:idx val="2"/>
          <c:order val="2"/>
          <c:tx>
            <c:strRef>
              <c:f>Sheet1!$D$1</c:f>
              <c:strCache>
                <c:ptCount val="1"/>
                <c:pt idx="0">
                  <c:v>Threat alerts</c:v>
                </c:pt>
              </c:strCache>
            </c:strRef>
          </c:tx>
          <c:spPr>
            <a:solidFill>
              <a:srgbClr val="0E7C86"/>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Sheet1!$D$2:$D$6</c:f>
              <c:numCache>
                <c:formatCode>General</c:formatCode>
                <c:ptCount val="5"/>
                <c:pt idx="0">
                  <c:v>3</c:v>
                </c:pt>
                <c:pt idx="1">
                  <c:v>5</c:v>
                </c:pt>
                <c:pt idx="2">
                  <c:v>4</c:v>
                </c:pt>
                <c:pt idx="3">
                  <c:v>4</c:v>
                </c:pt>
                <c:pt idx="4">
                  <c:v>3</c:v>
                </c:pt>
              </c:numCache>
            </c:numRef>
          </c:val>
        </c:ser>
        <c:ser>
          <c:idx val="3"/>
          <c:order val="3"/>
          <c:tx>
            <c:strRef>
              <c:f>Sheet1!$E$1</c:f>
              <c:strCache>
                <c:ptCount val="1"/>
                <c:pt idx="0">
                  <c:v>Recovery safety</c:v>
                </c:pt>
              </c:strCache>
            </c:strRef>
          </c:tx>
          <c:spPr>
            <a:solidFill>
              <a:srgbClr val="B45309"/>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Sheet1!$E$2:$E$6</c:f>
              <c:numCache>
                <c:formatCode>General</c:formatCode>
                <c:ptCount val="5"/>
                <c:pt idx="0">
                  <c:v>3</c:v>
                </c:pt>
                <c:pt idx="1">
                  <c:v>4</c:v>
                </c:pt>
                <c:pt idx="2">
                  <c:v>2</c:v>
                </c:pt>
                <c:pt idx="3">
                  <c:v>3</c:v>
                </c:pt>
                <c:pt idx="4">
                  <c:v>2</c:v>
                </c:pt>
              </c:numCache>
            </c:numRef>
          </c:val>
        </c:ser>
        <c:ser>
          <c:idx val="4"/>
          <c:order val="4"/>
          <c:tx>
            <c:strRef>
              <c:f>Sheet1!$F$1</c:f>
              <c:strCache>
                <c:ptCount val="1"/>
                <c:pt idx="0">
                  <c:v>Privacy controls</c:v>
                </c:pt>
              </c:strCache>
            </c:strRef>
          </c:tx>
          <c:spPr>
            <a:solidFill>
              <a:srgbClr val="6B4C9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WhatsApp (20)</c:v>
                  </c:pt>
                  <c:pt idx="1">
                    <c:v>Gmail (20)</c:v>
                  </c:pt>
                  <c:pt idx="2">
                    <c:v>Facebook (16)</c:v>
                  </c:pt>
                  <c:pt idx="3">
                    <c:v>Instagram (16)</c:v>
                  </c:pt>
                  <c:pt idx="4">
                    <c:v>Telegram (14)</c:v>
                  </c:pt>
                </c:lvl>
              </c:multiLvlStrCache>
            </c:multiLvlStrRef>
          </c:cat>
          <c:val>
            <c:numRef>
              <c:f>Sheet1!$F$2:$F$6</c:f>
              <c:numCache>
                <c:formatCode>General</c:formatCode>
                <c:ptCount val="5"/>
                <c:pt idx="0">
                  <c:v>5</c:v>
                </c:pt>
                <c:pt idx="1">
                  <c:v>3</c:v>
                </c:pt>
                <c:pt idx="2">
                  <c:v>3</c:v>
                </c:pt>
                <c:pt idx="3">
                  <c:v>4</c:v>
                </c:pt>
                <c:pt idx="4">
                  <c:v>4</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1F293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[Name] (about 1 minute)
[Start with a question and wait for hands.] Quick show of hands: who here has ever received a message saying "Your Facebook account will be disabled, click here to verify"? Keep your hand up if you know someone whose account was actually hacked.
[Look around.] That is almost everyone, and that is why we chose this topic.
Good morning. We are Group [__], and our presentation is titled "Locked or Leaked?"
Every day we trust five platforms with our private lives: Facebook, Instagram, WhatsApp, Gmail and Telegram. Our photos, our conversations, even the OTPs for our mobile banking.
We asked one question: are these accounts actually locked, or are they quietly leaking? We examined the security settings of each platform, scored them on five criteria, and by the end of these ten minutes you will know which one is the most secure, and what you can do tonight to protect your own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[Name] (about 1 minute)
Why does this matter? These figures come from the Cyber Crime Awareness Foundation's 2024 study of cybercrime victims in Bangladesh.
[First card.] Social media and online account hacking was the most common offence, affecting 21.65 percent of victims.
[Second card.] About 59 percent of victims were women. For many of them, a hacked account leads to leaked photos, blackmail and harassment.
[Third card.] 78.78 percent of victims were between 18 and 30, which is exactly our age group.
[Fourth card.] Yet only 12 percent reported it to the police.
[Bottom band.] Around 64 million Bangladeshis use Facebook alone. Criminals no longer need to hack a computer; they simply take over an account.
So how strong are the locks these platforms give us? [Member 2] will explain how we tested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[Name] (about 1 minute)
Thank you, [Member 1]. To judge security fairly, we did not rely on opinions; we used a simple, repeatable method.
[Top row.] First, we explored every security setting on our own accounts. Second, we verified what we found against official help pages and recent news. Third, we scored each platform.
[Bottom cards.] Every platform was asked the same five questions:
One, login protection: if my password is stolen, is there a second lock such as two-factor authentication or a passkey?
Two, encryption by default: can the company itself read my messages?
Three, threat alerts: will it warn me when something suspicious happens?
Four, recovery safety: can a hacker lock me out permanently?
Five, privacy controls: can strangers find and contact me?
Each criterion is scored from 1 to 5, giving a maximum of 25. Let us begin with the platform almost everyone in Bangladesh uses: Facebook.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[Name] (about 1 minute)
Facebook scored 16 out of 25.
[Left column.] It offers strong login tools. In Accounts Center, under Password and security, you can enable two-factor authentication using an authenticator app, SMS or a physical security key. It sends login alerts and lets you log out unknown devices remotely. Since June 2025 it supports passkeys, so your fingerprint or face replaces your password. Profile lock hides your photos from strangers, and Messenger chats have been end-to-end encrypted by default since December 2023.
[Score chart.] Notice its lowest score: recovery safety, only 2.
[Key gap.] Once hackers get in, they change the recovery email and phone within minutes, and getting the account back is slow and automated.
[Recommendation.] We propose a 48-hour cool-down before recovery details can change, with alerts to the old contacts, and human support in Bangla.
[Member 3] will now present Instagram.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[Name] (about 1 minute)
Thank you, [Member 2]. Instagram also scored 16 out of 25.
[Left column.] Because it shares Meta's Accounts Center, it offers the same two-factor authentication and login alerts. One feature we found especially useful is "Emails from Instagram". It lists every genuine security email Instagram sent you in the last 14 days, so if you receive a threatening email that is not on this list, you know it is phishing. Restrict and Hidden Words help against harassment, and Teen Accounts are private by default.
[Score chart.] But look at encryption: a score of 1.
[Key gap.] Instagram DMs were never end-to-end encrypted by default, and on 8 May 2026 Meta removed even the optional encrypted chats. This matters because sextortion usually begins in private messages.
[Recommendation.] Restore encrypted DMs as the default, and blur unsolicited explicit images for every user, not only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[Name] (about 1 minute)
WhatsApp scored 20 out of 25, joint highest.
[Left column.] Its greatest strength is that every personal chat and call is end-to-end encrypted by default. Users do not need to switch anything on, and not even WhatsApp can read the messages. It also offers a six-digit two-step verification PIN, passkey login, and since October 2025, chat backups that can be locked with a passkey. In January 2026 it added Strict Account Settings, a one-tap lockdown that blocks media from unknown senders and silences unknown callers.
[Key gap.] So how are WhatsApp accounts still hijacked in Bangladesh? Usually through deception, not by breaking encryption. A message arrives: "I sent my code to your number by mistake, please forward it." Once you share it, the account is gone.
[Recommendation.] A clear warning in Bangla whenever a code is requested, and a mandatory two-step PIN.
[Member 4] will now cover Gmail.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[Name] (about 1 minute)
Thank you, [Member 3]. Gmail also scored 20 out of 25, tied with WhatsApp.
[Left column.] Gmail has the strongest login protection of the five. Since October 2023, passkeys have been the default sign-in method for personal Google accounts. It also provides 2-Step Verification, a Security Checkup and critical security alerts. Google reports that its filters block more than 99.9 percent of phishing and malware. For journalists and activists, the Advanced Protection Program requires a hardware key.
[Key gap.] Its weakness: personal Gmail is encrypted only in transit, not end-to-end, so Google can scan message content. More importantly, consider where every "forgot password" link goes, for Facebook, bKash or your bank: to your email. Whoever controls your Gmail controls everything else.
[Recommendation.] Optional end-to-end encryption for personal accounts, and specific warnings for emails imitating bKash, Nagad or local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[Name] (about 1 minute)
Finally, Telegram, which surprised us. Many people consider Telegram the most private messaging app, yet it scored the lowest: 14 out of 25.
[Left column.] It does provide useful tools: a two-step verification cloud password, a passcode lock, a list of active sessions to remove unknown devices, and the option to hide your phone number completely. It also offers Secret Chats, which are end-to-end encrypted and can self-destruct.
[Key gap.] However, regular chats, groups and channels are not end-to-end encrypted; they are stored on Telegram's servers. Secret Chats must be started manually, so most users never use them. And since September 2024, Telegram states it will share the IP addresses and phone numbers of rule-breaking users with authorities in response to valid legal requests.
[Recommendation.] End-to-end encryption by default for one-to-one chats, and a prompt to enable two-step verification at sign-up.
[Member 5] will now compare all five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[Name] (about 1 minute)
Thank you, [Member 4]. Here are all five platforms side by side; each colour in a bar is one of our five criteria.
[Chart.] WhatsApp and Gmail tie at the top with 20. Facebook and Instagram follow with 16, and Telegram is last with 14.
[First card.] So which is the most secure? We chose WhatsApp, for one reason: defaults. Its strongest protection, end-to-end encryption, works from the moment you install it. Most people never open their settings, so the protection that is switched on by default is the protection that actually protects them.
[Second card.] Gmail deserves special attention. It has the best login protection and phishing filters, and it is the master key: every password reset goes to your email.
[Third card.] Telegram's reputation for privacy is stronger than its actual default settings.
The lesson: no platform can protect a user who hands over their code. That brings us to our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[Name] (about 1 minute)
[Pause and let the title sink in.] After assessing all five platforms, our conclusion is simple: the most secure app is the one you actually set up.
So we would like to leave you with a five-minute checklist for tonight.
One: enable two-factor authentication or a passkey on every account, starting with your email.
Two: set a two-step verification PIN on WhatsApp; it takes thirty seconds.
Three: never share an OTP or six-digit code with anyone, whether a friend, "Facebook support" or "bKash". Genuine companies never ask for it.
Four: confirm that your recovery email and phone number still belong to you.
Five: open your active sessions and log out of any device you do not recognise.
[Optional engagement.] You can try step five right now: open Facebook, go to Accounts Center, then "Where you're logged in". Does anyone see a device they do not recognise?
Locks only work if you close them.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949440" cy="173736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3703320"/>
            <a:ext cx="694944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rgbClr val="6B7280"/>
                </a:solidFill>
              </a:rPr>
              <a:t>MCCJ 525  |  Locked or Leaked? Assessing Platform Security</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6"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6" Type="http://schemas.openxmlformats.org/officeDocument/2006/relationships/chart" Target="/ppt/charts/chart3.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chart" Target="/ppt/charts/chart4.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chart" Target="/ppt/charts/chart5.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8-7.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6949440" cy="365760"/>
          </a:xfrm>
          <a:prstGeom prst="rect">
            <a:avLst/>
          </a:prstGeom>
          <a:noFill/>
          <a:ln/>
        </p:spPr>
        <p:txBody>
          <a:bodyPr wrap="square" lIns="0" tIns="0" rIns="0" bIns="0" rtlCol="0" anchor="ctr"/>
          <a:lstStyle/>
          <a:p>
            <a:pPr indent="0" marL="0">
              <a:buNone/>
            </a:pPr>
            <a:r>
              <a:rPr lang="en-US" sz="1400" b="1" spc="300" kern="0" dirty="0">
                <a:solidFill>
                  <a:schemeClr val="accent6"/>
                </a:solidFill>
              </a:rPr>
              <a:t>MCCJ 525  |  CYBERCRIMES AND SECURITY</a:t>
            </a:r>
            <a:endParaRPr lang="en-US" sz="1400" dirty="0"/>
          </a:p>
        </p:txBody>
      </p:sp>
      <p:sp>
        <p:nvSpPr>
          <p:cNvPr id="3" name="Text 0"/>
          <p:cNvSpPr/>
          <p:nvPr>
            <p:ph idx="100" type="title" hasCustomPrompt="1"/>
          </p:nvPr>
        </p:nvSpPr>
        <p:spPr>
          <a:xfrm>
            <a:off x="548640" y="1828800"/>
            <a:ext cx="6949440" cy="173736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Locked or Leaked?</a:t>
            </a:r>
            <a:endParaRPr lang="en-US" sz="5400" dirty="0"/>
          </a:p>
        </p:txBody>
      </p:sp>
      <p:sp>
        <p:nvSpPr>
          <p:cNvPr id="4" name="Text 0"/>
          <p:cNvSpPr/>
          <p:nvPr>
            <p:ph idx="101" type="body" hasCustomPrompt="1"/>
          </p:nvPr>
        </p:nvSpPr>
        <p:spPr>
          <a:xfrm>
            <a:off x="548640" y="3703320"/>
            <a:ext cx="6949440" cy="914400"/>
          </a:xfrm>
          <a:prstGeom prst="rect">
            <a:avLst/>
          </a:prstGeom>
          <a:noFill/>
          <a:ln/>
        </p:spPr>
        <p:txBody>
          <a:bodyPr wrap="square" lIns="0" tIns="0" rIns="0" bIns="0" rtlCol="0" anchor="t"/>
          <a:lstStyle/>
          <a:p>
            <a:pPr indent="0" marL="0">
              <a:buNone/>
            </a:pPr>
            <a:r>
              <a:rPr lang="en-US" sz="2000" dirty="0">
                <a:solidFill>
                  <a:schemeClr val="bg2"/>
                </a:solidFill>
              </a:rPr>
              <a:t>Assessing the Security Features of Facebook, Instagram, WhatsApp, Gmail and Telegram</a:t>
            </a:r>
            <a:endParaRPr lang="en-US" sz="2000" dirty="0"/>
          </a:p>
        </p:txBody>
      </p:sp>
      <p:sp>
        <p:nvSpPr>
          <p:cNvPr id="5" name="Text 3"/>
          <p:cNvSpPr txBox="1"/>
          <p:nvPr/>
        </p:nvSpPr>
        <p:spPr>
          <a:xfrm>
            <a:off x="548640" y="4983480"/>
            <a:ext cx="7772400" cy="1097280"/>
          </a:xfrm>
          <a:prstGeom prst="rect">
            <a:avLst/>
          </a:prstGeom>
          <a:noFill/>
          <a:ln/>
        </p:spPr>
        <p:txBody>
          <a:bodyPr wrap="square" lIns="0" tIns="0" rIns="0" bIns="0" rtlCol="0" anchor="t"/>
          <a:lstStyle/>
          <a:p>
            <a:pPr indent="0" marL="0">
              <a:spcAft>
                <a:spcPts val="400"/>
              </a:spcAft>
              <a:buNone/>
            </a:pPr>
            <a:r>
              <a:rPr lang="en-US" sz="1400" b="1" dirty="0">
                <a:solidFill>
                  <a:schemeClr val="accent6"/>
                </a:solidFill>
              </a:rPr>
              <a:t>Presented by</a:t>
            </a:r>
            <a:endParaRPr lang="en-US" sz="1400" dirty="0"/>
          </a:p>
          <a:p>
            <a:pPr indent="0" marL="0">
              <a:spcAft>
                <a:spcPts val="400"/>
              </a:spcAft>
              <a:buNone/>
            </a:pPr>
            <a:r>
              <a:rPr lang="en-US" sz="1400" dirty="0">
                <a:solidFill>
                  <a:schemeClr val="bg1"/>
                </a:solidFill>
              </a:rPr>
              <a:t>[Member 1]  ·  [Member 2]  ·  [Member 3]  ·  [Member 4]  ·  [Member 5]</a:t>
            </a:r>
            <a:endParaRPr lang="en-US" sz="1400" dirty="0"/>
          </a:p>
          <a:p>
            <a:pPr indent="0" marL="0">
              <a:spcAft>
                <a:spcPts val="400"/>
              </a:spcAft>
              <a:buNone/>
            </a:pPr>
            <a:r>
              <a:rPr lang="en-US" sz="1400" dirty="0">
                <a:solidFill>
                  <a:srgbClr val="B8C4D3"/>
                </a:solidFill>
              </a:rPr>
              <a:t>Group [__]  |  [Department], [University]  |  [Date]</a:t>
            </a:r>
            <a:endParaRPr lang="en-US" sz="1400" dirty="0"/>
          </a:p>
        </p:txBody>
      </p:sp>
      <p:sp>
        <p:nvSpPr>
          <p:cNvPr id="6" name="outer ring"/>
          <p:cNvSpPr/>
          <p:nvPr/>
        </p:nvSpPr>
        <p:spPr>
          <a:xfrm>
            <a:off x="8001000" y="1325880"/>
            <a:ext cx="3840480" cy="3840480"/>
          </a:xfrm>
          <a:prstGeom prst="ellipse">
            <a:avLst/>
          </a:prstGeom>
          <a:solidFill>
            <a:schemeClr val="accent1">
              <a:alpha val="20000"/>
            </a:schemeClr>
          </a:solidFill>
          <a:ln/>
        </p:spPr>
      </p:sp>
      <p:sp>
        <p:nvSpPr>
          <p:cNvPr id="7" name="middle ring"/>
          <p:cNvSpPr/>
          <p:nvPr/>
        </p:nvSpPr>
        <p:spPr>
          <a:xfrm>
            <a:off x="8641080" y="1965960"/>
            <a:ext cx="2560320" cy="2560320"/>
          </a:xfrm>
          <a:prstGeom prst="ellipse">
            <a:avLst/>
          </a:prstGeom>
          <a:solidFill>
            <a:schemeClr val="accent1">
              <a:alpha val="50000"/>
            </a:schemeClr>
          </a:solidFill>
          <a:ln/>
        </p:spPr>
      </p:sp>
      <p:sp>
        <p:nvSpPr>
          <p:cNvPr id="8" name="Lock circle"/>
          <p:cNvSpPr/>
          <p:nvPr/>
        </p:nvSpPr>
        <p:spPr>
          <a:xfrm>
            <a:off x="9144000" y="2468880"/>
            <a:ext cx="1554480" cy="1554480"/>
          </a:xfrm>
          <a:prstGeom prst="ellipse">
            <a:avLst/>
          </a:prstGeom>
          <a:solidFill>
            <a:schemeClr val="accent1"/>
          </a:solidFill>
          <a:ln/>
        </p:spPr>
      </p:sp>
      <p:pic>
        <p:nvPicPr>
          <p:cNvPr id="9" name="Lock icon" descr="Lock">    </p:cNvPr>
          <p:cNvPicPr>
            <a:picLocks noChangeAspect="1"/>
          </p:cNvPicPr>
          <p:nvPr/>
        </p:nvPicPr>
        <p:blipFill>
          <a:blip r:embed="rId1"/>
          <a:stretch>
            <a:fillRect/>
          </a:stretch>
        </p:blipFill>
        <p:spPr>
          <a:xfrm>
            <a:off x="9532620" y="2857500"/>
            <a:ext cx="777240" cy="7772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Account hacking is the most common cybercrime in Bangladesh</a:t>
            </a:r>
            <a:endParaRPr lang="en-US" sz="2800" dirty="0"/>
          </a:p>
        </p:txBody>
      </p:sp>
      <p:sp>
        <p:nvSpPr>
          <p:cNvPr id="3" name="stat card 1"/>
          <p:cNvSpPr/>
          <p:nvPr/>
        </p:nvSpPr>
        <p:spPr>
          <a:xfrm>
            <a:off x="548640" y="1417320"/>
            <a:ext cx="2606040" cy="3429000"/>
          </a:xfrm>
          <a:prstGeom prst="roundRect">
            <a:avLst>
              <a:gd name="adj" fmla="val 4211"/>
            </a:avLst>
          </a:prstGeom>
          <a:solidFill>
            <a:schemeClr val="bg2"/>
          </a:solidFill>
          <a:ln/>
        </p:spPr>
      </p:sp>
      <p:sp>
        <p:nvSpPr>
          <p:cNvPr id="4" name="stat 1 circle"/>
          <p:cNvSpPr/>
          <p:nvPr/>
        </p:nvSpPr>
        <p:spPr>
          <a:xfrm>
            <a:off x="822960" y="1737360"/>
            <a:ext cx="731520" cy="731520"/>
          </a:xfrm>
          <a:prstGeom prst="ellipse">
            <a:avLst/>
          </a:prstGeom>
          <a:solidFill>
            <a:schemeClr val="accent4"/>
          </a:solidFill>
          <a:ln/>
        </p:spPr>
      </p:sp>
      <p:pic>
        <p:nvPicPr>
          <p:cNvPr id="5" name="stat 1 icon" descr="stat 1">    </p:cNvPr>
          <p:cNvPicPr>
            <a:picLocks noChangeAspect="1"/>
          </p:cNvPicPr>
          <p:nvPr/>
        </p:nvPicPr>
        <p:blipFill>
          <a:blip r:embed="rId1"/>
          <a:stretch>
            <a:fillRect/>
          </a:stretch>
        </p:blipFill>
        <p:spPr>
          <a:xfrm>
            <a:off x="1005840" y="1920240"/>
            <a:ext cx="365760" cy="365760"/>
          </a:xfrm>
          <a:prstGeom prst="rect">
            <a:avLst/>
          </a:prstGeom>
        </p:spPr>
      </p:pic>
      <p:sp>
        <p:nvSpPr>
          <p:cNvPr id="6" name="stat 1 number"/>
          <p:cNvSpPr txBox="1"/>
          <p:nvPr/>
        </p:nvSpPr>
        <p:spPr>
          <a:xfrm>
            <a:off x="822960" y="2651760"/>
            <a:ext cx="2057400" cy="86868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21.65%</a:t>
            </a:r>
            <a:endParaRPr lang="en-US" sz="4400" dirty="0"/>
          </a:p>
        </p:txBody>
      </p:sp>
      <p:sp>
        <p:nvSpPr>
          <p:cNvPr id="7" name="stat 1 label"/>
          <p:cNvSpPr txBox="1"/>
          <p:nvPr/>
        </p:nvSpPr>
        <p:spPr>
          <a:xfrm>
            <a:off x="822960" y="3566160"/>
            <a:ext cx="2057400" cy="1097280"/>
          </a:xfrm>
          <a:prstGeom prst="rect">
            <a:avLst/>
          </a:prstGeom>
          <a:noFill/>
          <a:ln/>
        </p:spPr>
        <p:txBody>
          <a:bodyPr wrap="square" lIns="0" tIns="0" rIns="0" bIns="0" rtlCol="0" anchor="t"/>
          <a:lstStyle/>
          <a:p>
            <a:pPr indent="0" marL="0">
              <a:buNone/>
            </a:pPr>
            <a:r>
              <a:rPr lang="en-US" sz="1500" dirty="0">
                <a:solidFill>
                  <a:schemeClr val="tx1"/>
                </a:solidFill>
              </a:rPr>
              <a:t>of victims had a social media or online account hacked, the most common offence</a:t>
            </a:r>
            <a:endParaRPr lang="en-US" sz="1500" dirty="0"/>
          </a:p>
        </p:txBody>
      </p:sp>
      <p:sp>
        <p:nvSpPr>
          <p:cNvPr id="8" name="stat card 2"/>
          <p:cNvSpPr/>
          <p:nvPr/>
        </p:nvSpPr>
        <p:spPr>
          <a:xfrm>
            <a:off x="3378098" y="1417320"/>
            <a:ext cx="2606040" cy="3429000"/>
          </a:xfrm>
          <a:prstGeom prst="roundRect">
            <a:avLst>
              <a:gd name="adj" fmla="val 4211"/>
            </a:avLst>
          </a:prstGeom>
          <a:solidFill>
            <a:schemeClr val="bg2"/>
          </a:solidFill>
          <a:ln/>
        </p:spPr>
      </p:sp>
      <p:sp>
        <p:nvSpPr>
          <p:cNvPr id="9" name="stat 2 circle"/>
          <p:cNvSpPr/>
          <p:nvPr/>
        </p:nvSpPr>
        <p:spPr>
          <a:xfrm>
            <a:off x="3652418" y="1737360"/>
            <a:ext cx="731520" cy="731520"/>
          </a:xfrm>
          <a:prstGeom prst="ellipse">
            <a:avLst/>
          </a:prstGeom>
          <a:solidFill>
            <a:schemeClr val="accent5"/>
          </a:solidFill>
          <a:ln/>
        </p:spPr>
      </p:sp>
      <p:pic>
        <p:nvPicPr>
          <p:cNvPr id="10" name="stat 2 icon" descr="stat 2">    </p:cNvPr>
          <p:cNvPicPr>
            <a:picLocks noChangeAspect="1"/>
          </p:cNvPicPr>
          <p:nvPr/>
        </p:nvPicPr>
        <p:blipFill>
          <a:blip r:embed="rId2"/>
          <a:stretch>
            <a:fillRect/>
          </a:stretch>
        </p:blipFill>
        <p:spPr>
          <a:xfrm>
            <a:off x="3835298" y="1920240"/>
            <a:ext cx="365760" cy="365760"/>
          </a:xfrm>
          <a:prstGeom prst="rect">
            <a:avLst/>
          </a:prstGeom>
        </p:spPr>
      </p:pic>
      <p:sp>
        <p:nvSpPr>
          <p:cNvPr id="11" name="stat 2 number"/>
          <p:cNvSpPr txBox="1"/>
          <p:nvPr/>
        </p:nvSpPr>
        <p:spPr>
          <a:xfrm>
            <a:off x="3652418" y="2651760"/>
            <a:ext cx="2057400" cy="86868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≈59%</a:t>
            </a:r>
            <a:endParaRPr lang="en-US" sz="4400" dirty="0"/>
          </a:p>
        </p:txBody>
      </p:sp>
      <p:sp>
        <p:nvSpPr>
          <p:cNvPr id="12" name="stat 2 label"/>
          <p:cNvSpPr txBox="1"/>
          <p:nvPr/>
        </p:nvSpPr>
        <p:spPr>
          <a:xfrm>
            <a:off x="3652418" y="3566160"/>
            <a:ext cx="2057400" cy="1097280"/>
          </a:xfrm>
          <a:prstGeom prst="rect">
            <a:avLst/>
          </a:prstGeom>
          <a:noFill/>
          <a:ln/>
        </p:spPr>
        <p:txBody>
          <a:bodyPr wrap="square" lIns="0" tIns="0" rIns="0" bIns="0" rtlCol="0" anchor="t"/>
          <a:lstStyle/>
          <a:p>
            <a:pPr indent="0" marL="0">
              <a:buNone/>
            </a:pPr>
            <a:r>
              <a:rPr lang="en-US" sz="1500" dirty="0">
                <a:solidFill>
                  <a:schemeClr val="tx1"/>
                </a:solidFill>
              </a:rPr>
              <a:t>of cybercrime victims are women</a:t>
            </a:r>
            <a:endParaRPr lang="en-US" sz="1500" dirty="0"/>
          </a:p>
        </p:txBody>
      </p:sp>
      <p:sp>
        <p:nvSpPr>
          <p:cNvPr id="13" name="stat card 3"/>
          <p:cNvSpPr/>
          <p:nvPr/>
        </p:nvSpPr>
        <p:spPr>
          <a:xfrm>
            <a:off x="6207557" y="1417320"/>
            <a:ext cx="2606040" cy="3429000"/>
          </a:xfrm>
          <a:prstGeom prst="roundRect">
            <a:avLst>
              <a:gd name="adj" fmla="val 4211"/>
            </a:avLst>
          </a:prstGeom>
          <a:solidFill>
            <a:schemeClr val="bg2"/>
          </a:solidFill>
          <a:ln/>
        </p:spPr>
      </p:sp>
      <p:sp>
        <p:nvSpPr>
          <p:cNvPr id="14" name="stat 3 circle"/>
          <p:cNvSpPr/>
          <p:nvPr/>
        </p:nvSpPr>
        <p:spPr>
          <a:xfrm>
            <a:off x="6481877" y="1737360"/>
            <a:ext cx="731520" cy="731520"/>
          </a:xfrm>
          <a:prstGeom prst="ellipse">
            <a:avLst/>
          </a:prstGeom>
          <a:solidFill>
            <a:schemeClr val="accent3"/>
          </a:solidFill>
          <a:ln/>
        </p:spPr>
      </p:sp>
      <p:pic>
        <p:nvPicPr>
          <p:cNvPr id="15" name="stat 3 icon" descr="stat 3">    </p:cNvPr>
          <p:cNvPicPr>
            <a:picLocks noChangeAspect="1"/>
          </p:cNvPicPr>
          <p:nvPr/>
        </p:nvPicPr>
        <p:blipFill>
          <a:blip r:embed="rId3"/>
          <a:stretch>
            <a:fillRect/>
          </a:stretch>
        </p:blipFill>
        <p:spPr>
          <a:xfrm>
            <a:off x="6664757" y="1920240"/>
            <a:ext cx="365760" cy="365760"/>
          </a:xfrm>
          <a:prstGeom prst="rect">
            <a:avLst/>
          </a:prstGeom>
        </p:spPr>
      </p:pic>
      <p:sp>
        <p:nvSpPr>
          <p:cNvPr id="16" name="stat 3 number"/>
          <p:cNvSpPr txBox="1"/>
          <p:nvPr/>
        </p:nvSpPr>
        <p:spPr>
          <a:xfrm>
            <a:off x="6481877" y="2651760"/>
            <a:ext cx="2057400" cy="86868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78.78%</a:t>
            </a:r>
            <a:endParaRPr lang="en-US" sz="4400" dirty="0"/>
          </a:p>
        </p:txBody>
      </p:sp>
      <p:sp>
        <p:nvSpPr>
          <p:cNvPr id="17" name="stat 3 label"/>
          <p:cNvSpPr txBox="1"/>
          <p:nvPr/>
        </p:nvSpPr>
        <p:spPr>
          <a:xfrm>
            <a:off x="6481877" y="3566160"/>
            <a:ext cx="2057400" cy="1097280"/>
          </a:xfrm>
          <a:prstGeom prst="rect">
            <a:avLst/>
          </a:prstGeom>
          <a:noFill/>
          <a:ln/>
        </p:spPr>
        <p:txBody>
          <a:bodyPr wrap="square" lIns="0" tIns="0" rIns="0" bIns="0" rtlCol="0" anchor="t"/>
          <a:lstStyle/>
          <a:p>
            <a:pPr indent="0" marL="0">
              <a:buNone/>
            </a:pPr>
            <a:r>
              <a:rPr lang="en-US" sz="1500" dirty="0">
                <a:solidFill>
                  <a:schemeClr val="tx1"/>
                </a:solidFill>
              </a:rPr>
              <a:t>of victims are aged 18–30, the age group in this room</a:t>
            </a:r>
            <a:endParaRPr lang="en-US" sz="1500" dirty="0"/>
          </a:p>
        </p:txBody>
      </p:sp>
      <p:sp>
        <p:nvSpPr>
          <p:cNvPr id="18" name="stat card 4"/>
          <p:cNvSpPr/>
          <p:nvPr/>
        </p:nvSpPr>
        <p:spPr>
          <a:xfrm>
            <a:off x="9037015" y="1417320"/>
            <a:ext cx="2606040" cy="3429000"/>
          </a:xfrm>
          <a:prstGeom prst="roundRect">
            <a:avLst>
              <a:gd name="adj" fmla="val 4211"/>
            </a:avLst>
          </a:prstGeom>
          <a:solidFill>
            <a:schemeClr val="bg2"/>
          </a:solidFill>
          <a:ln/>
        </p:spPr>
      </p:sp>
      <p:sp>
        <p:nvSpPr>
          <p:cNvPr id="19" name="stat 4 circle"/>
          <p:cNvSpPr/>
          <p:nvPr/>
        </p:nvSpPr>
        <p:spPr>
          <a:xfrm>
            <a:off x="9311335" y="1737360"/>
            <a:ext cx="731520" cy="731520"/>
          </a:xfrm>
          <a:prstGeom prst="ellipse">
            <a:avLst/>
          </a:prstGeom>
          <a:solidFill>
            <a:schemeClr val="accent2"/>
          </a:solidFill>
          <a:ln/>
        </p:spPr>
      </p:sp>
      <p:pic>
        <p:nvPicPr>
          <p:cNvPr id="20" name="stat 4 icon" descr="stat 4">    </p:cNvPr>
          <p:cNvPicPr>
            <a:picLocks noChangeAspect="1"/>
          </p:cNvPicPr>
          <p:nvPr/>
        </p:nvPicPr>
        <p:blipFill>
          <a:blip r:embed="rId4"/>
          <a:stretch>
            <a:fillRect/>
          </a:stretch>
        </p:blipFill>
        <p:spPr>
          <a:xfrm>
            <a:off x="9494215" y="1920240"/>
            <a:ext cx="365760" cy="365760"/>
          </a:xfrm>
          <a:prstGeom prst="rect">
            <a:avLst/>
          </a:prstGeom>
        </p:spPr>
      </p:pic>
      <p:sp>
        <p:nvSpPr>
          <p:cNvPr id="21" name="stat 4 number"/>
          <p:cNvSpPr txBox="1"/>
          <p:nvPr/>
        </p:nvSpPr>
        <p:spPr>
          <a:xfrm>
            <a:off x="9311335" y="2651760"/>
            <a:ext cx="2057400" cy="86868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12%</a:t>
            </a:r>
            <a:endParaRPr lang="en-US" sz="4400" dirty="0"/>
          </a:p>
        </p:txBody>
      </p:sp>
      <p:sp>
        <p:nvSpPr>
          <p:cNvPr id="22" name="stat 4 label"/>
          <p:cNvSpPr txBox="1"/>
          <p:nvPr/>
        </p:nvSpPr>
        <p:spPr>
          <a:xfrm>
            <a:off x="9311335" y="3566160"/>
            <a:ext cx="2057400" cy="1097280"/>
          </a:xfrm>
          <a:prstGeom prst="rect">
            <a:avLst/>
          </a:prstGeom>
          <a:noFill/>
          <a:ln/>
        </p:spPr>
        <p:txBody>
          <a:bodyPr wrap="square" lIns="0" tIns="0" rIns="0" bIns="0" rtlCol="0" anchor="t"/>
          <a:lstStyle/>
          <a:p>
            <a:pPr indent="0" marL="0">
              <a:buNone/>
            </a:pPr>
            <a:r>
              <a:rPr lang="en-US" sz="1500" dirty="0">
                <a:solidFill>
                  <a:schemeClr val="tx1"/>
                </a:solidFill>
              </a:rPr>
              <a:t>of victims reported the incident to law enforcement</a:t>
            </a:r>
            <a:endParaRPr lang="en-US" sz="1500" dirty="0"/>
          </a:p>
        </p:txBody>
      </p:sp>
      <p:sp>
        <p:nvSpPr>
          <p:cNvPr id="23" name="takeaway band"/>
          <p:cNvSpPr/>
          <p:nvPr/>
        </p:nvSpPr>
        <p:spPr>
          <a:xfrm>
            <a:off x="548640" y="5074920"/>
            <a:ext cx="11094415" cy="731520"/>
          </a:xfrm>
          <a:prstGeom prst="roundRect">
            <a:avLst>
              <a:gd name="adj" fmla="val 10000"/>
            </a:avLst>
          </a:prstGeom>
          <a:solidFill>
            <a:schemeClr val="tx2"/>
          </a:solidFill>
          <a:ln/>
        </p:spPr>
      </p:sp>
      <p:sp>
        <p:nvSpPr>
          <p:cNvPr id="24" name="Text 18"/>
          <p:cNvSpPr txBox="1"/>
          <p:nvPr/>
        </p:nvSpPr>
        <p:spPr>
          <a:xfrm>
            <a:off x="822960" y="5074920"/>
            <a:ext cx="10545775" cy="731520"/>
          </a:xfrm>
          <a:prstGeom prst="rect">
            <a:avLst/>
          </a:prstGeom>
          <a:noFill/>
          <a:ln/>
        </p:spPr>
        <p:txBody>
          <a:bodyPr wrap="square" lIns="0" tIns="0" rIns="0" bIns="0" rtlCol="0" anchor="ctr"/>
          <a:lstStyle/>
          <a:p>
            <a:pPr indent="0" marL="0">
              <a:buNone/>
            </a:pPr>
            <a:r>
              <a:rPr lang="en-US" sz="1700" b="1" dirty="0">
                <a:solidFill>
                  <a:schemeClr val="accent6"/>
                </a:solidFill>
              </a:rPr>
              <a:t>≈ 64 million </a:t>
            </a:r>
            <a:pPr indent="0" marL="0">
              <a:buNone/>
            </a:pPr>
            <a:r>
              <a:rPr lang="en-US" sz="1700" dirty="0">
                <a:solidFill>
                  <a:schemeClr val="bg1"/>
                </a:solidFill>
              </a:rPr>
              <a:t>Bangladeshis use Facebook. Attackers no longer break into computers; they walk into accounts.</a:t>
            </a:r>
            <a:endParaRPr lang="en-US" sz="1700" dirty="0"/>
          </a:p>
        </p:txBody>
      </p:sp>
      <p:sp>
        <p:nvSpPr>
          <p:cNvPr id="25" name="Text 19"/>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B7280"/>
                </a:solidFill>
              </a:rPr>
              <a:t>Sources: Cyber Crime Awareness Foundation (2024), Cybercrime Trends in Bangladesh, reported by Dhaka Tribune; Statista (2025).</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We assessed five platforms against five security criteria</a:t>
            </a:r>
            <a:endParaRPr lang="en-US" sz="2800" dirty="0"/>
          </a:p>
        </p:txBody>
      </p:sp>
      <p:sp>
        <p:nvSpPr>
          <p:cNvPr id="3" name="step 1 circle"/>
          <p:cNvSpPr/>
          <p:nvPr/>
        </p:nvSpPr>
        <p:spPr>
          <a:xfrm>
            <a:off x="548640" y="1371600"/>
            <a:ext cx="685800" cy="685800"/>
          </a:xfrm>
          <a:prstGeom prst="ellipse">
            <a:avLst/>
          </a:prstGeom>
          <a:solidFill>
            <a:schemeClr val="accent1"/>
          </a:solidFill>
          <a:ln/>
        </p:spPr>
      </p:sp>
      <p:pic>
        <p:nvPicPr>
          <p:cNvPr id="4" name="step 1 icon" descr="step 1">    </p:cNvPr>
          <p:cNvPicPr>
            <a:picLocks noChangeAspect="1"/>
          </p:cNvPicPr>
          <p:nvPr/>
        </p:nvPicPr>
        <p:blipFill>
          <a:blip r:embed="rId1"/>
          <a:stretch>
            <a:fillRect/>
          </a:stretch>
        </p:blipFill>
        <p:spPr>
          <a:xfrm>
            <a:off x="720090" y="1543050"/>
            <a:ext cx="342900" cy="342900"/>
          </a:xfrm>
          <a:prstGeom prst="rect">
            <a:avLst/>
          </a:prstGeom>
        </p:spPr>
      </p:pic>
      <p:sp>
        <p:nvSpPr>
          <p:cNvPr id="5" name="Text 2"/>
          <p:cNvSpPr txBox="1"/>
          <p:nvPr/>
        </p:nvSpPr>
        <p:spPr>
          <a:xfrm>
            <a:off x="1417320" y="1371600"/>
            <a:ext cx="2514600" cy="320040"/>
          </a:xfrm>
          <a:prstGeom prst="rect">
            <a:avLst/>
          </a:prstGeom>
          <a:noFill/>
          <a:ln/>
        </p:spPr>
        <p:txBody>
          <a:bodyPr wrap="square" lIns="0" tIns="0" rIns="0" bIns="0" rtlCol="0" anchor="ctr"/>
          <a:lstStyle/>
          <a:p>
            <a:pPr indent="0" marL="0">
              <a:buNone/>
            </a:pPr>
            <a:r>
              <a:rPr lang="en-US" sz="1800" b="1" dirty="0">
                <a:solidFill>
                  <a:schemeClr val="tx2"/>
                </a:solidFill>
              </a:rPr>
              <a:t>1. Explore</a:t>
            </a:r>
            <a:endParaRPr lang="en-US" sz="1800" dirty="0"/>
          </a:p>
        </p:txBody>
      </p:sp>
      <p:sp>
        <p:nvSpPr>
          <p:cNvPr id="6" name="Text 3"/>
          <p:cNvSpPr txBox="1"/>
          <p:nvPr/>
        </p:nvSpPr>
        <p:spPr>
          <a:xfrm>
            <a:off x="1417320" y="1719072"/>
            <a:ext cx="2514600" cy="548640"/>
          </a:xfrm>
          <a:prstGeom prst="rect">
            <a:avLst/>
          </a:prstGeom>
          <a:noFill/>
          <a:ln/>
        </p:spPr>
        <p:txBody>
          <a:bodyPr wrap="square" lIns="0" tIns="0" rIns="0" bIns="0" rtlCol="0" anchor="t"/>
          <a:lstStyle/>
          <a:p>
            <a:pPr indent="0" marL="0">
              <a:buNone/>
            </a:pPr>
            <a:r>
              <a:rPr lang="en-US" sz="1400" dirty="0">
                <a:solidFill>
                  <a:schemeClr val="tx1"/>
                </a:solidFill>
              </a:rPr>
              <a:t>Reviewed every security setting on our own accounts</a:t>
            </a:r>
            <a:endParaRPr lang="en-US" sz="1400" dirty="0"/>
          </a:p>
        </p:txBody>
      </p:sp>
      <p:pic>
        <p:nvPicPr>
          <p:cNvPr id="7" name="arrow 1" descr="next">    </p:cNvPr>
          <p:cNvPicPr>
            <a:picLocks noChangeAspect="1"/>
          </p:cNvPicPr>
          <p:nvPr/>
        </p:nvPicPr>
        <p:blipFill>
          <a:blip r:embed="rId2"/>
          <a:stretch>
            <a:fillRect/>
          </a:stretch>
        </p:blipFill>
        <p:spPr>
          <a:xfrm>
            <a:off x="4058336" y="1600200"/>
            <a:ext cx="219456" cy="219456"/>
          </a:xfrm>
          <a:prstGeom prst="rect">
            <a:avLst/>
          </a:prstGeom>
        </p:spPr>
      </p:pic>
      <p:sp>
        <p:nvSpPr>
          <p:cNvPr id="8" name="step 2 circle"/>
          <p:cNvSpPr/>
          <p:nvPr/>
        </p:nvSpPr>
        <p:spPr>
          <a:xfrm>
            <a:off x="4404208" y="1371600"/>
            <a:ext cx="685800" cy="685800"/>
          </a:xfrm>
          <a:prstGeom prst="ellipse">
            <a:avLst/>
          </a:prstGeom>
          <a:solidFill>
            <a:schemeClr val="accent1"/>
          </a:solidFill>
          <a:ln/>
        </p:spPr>
      </p:sp>
      <p:pic>
        <p:nvPicPr>
          <p:cNvPr id="9" name="step 2 icon" descr="step 2">    </p:cNvPr>
          <p:cNvPicPr>
            <a:picLocks noChangeAspect="1"/>
          </p:cNvPicPr>
          <p:nvPr/>
        </p:nvPicPr>
        <p:blipFill>
          <a:blip r:embed="rId3"/>
          <a:stretch>
            <a:fillRect/>
          </a:stretch>
        </p:blipFill>
        <p:spPr>
          <a:xfrm>
            <a:off x="4575658" y="1543050"/>
            <a:ext cx="342900" cy="342900"/>
          </a:xfrm>
          <a:prstGeom prst="rect">
            <a:avLst/>
          </a:prstGeom>
        </p:spPr>
      </p:pic>
      <p:sp>
        <p:nvSpPr>
          <p:cNvPr id="10" name="Text 5"/>
          <p:cNvSpPr txBox="1"/>
          <p:nvPr/>
        </p:nvSpPr>
        <p:spPr>
          <a:xfrm>
            <a:off x="5272888" y="1371600"/>
            <a:ext cx="2514600" cy="320040"/>
          </a:xfrm>
          <a:prstGeom prst="rect">
            <a:avLst/>
          </a:prstGeom>
          <a:noFill/>
          <a:ln/>
        </p:spPr>
        <p:txBody>
          <a:bodyPr wrap="square" lIns="0" tIns="0" rIns="0" bIns="0" rtlCol="0" anchor="ctr"/>
          <a:lstStyle/>
          <a:p>
            <a:pPr indent="0" marL="0">
              <a:buNone/>
            </a:pPr>
            <a:r>
              <a:rPr lang="en-US" sz="1800" b="1" dirty="0">
                <a:solidFill>
                  <a:schemeClr val="tx2"/>
                </a:solidFill>
              </a:rPr>
              <a:t>2. Verify</a:t>
            </a:r>
            <a:endParaRPr lang="en-US" sz="1800" dirty="0"/>
          </a:p>
        </p:txBody>
      </p:sp>
      <p:sp>
        <p:nvSpPr>
          <p:cNvPr id="11" name="Text 6"/>
          <p:cNvSpPr txBox="1"/>
          <p:nvPr/>
        </p:nvSpPr>
        <p:spPr>
          <a:xfrm>
            <a:off x="5272888" y="1719072"/>
            <a:ext cx="2514600" cy="548640"/>
          </a:xfrm>
          <a:prstGeom prst="rect">
            <a:avLst/>
          </a:prstGeom>
          <a:noFill/>
          <a:ln/>
        </p:spPr>
        <p:txBody>
          <a:bodyPr wrap="square" lIns="0" tIns="0" rIns="0" bIns="0" rtlCol="0" anchor="t"/>
          <a:lstStyle/>
          <a:p>
            <a:pPr indent="0" marL="0">
              <a:buNone/>
            </a:pPr>
            <a:r>
              <a:rPr lang="en-US" sz="1400" dirty="0">
                <a:solidFill>
                  <a:schemeClr val="tx1"/>
                </a:solidFill>
              </a:rPr>
              <a:t>Cross-checked with official help pages and recent news</a:t>
            </a:r>
            <a:endParaRPr lang="en-US" sz="1400" dirty="0"/>
          </a:p>
        </p:txBody>
      </p:sp>
      <p:pic>
        <p:nvPicPr>
          <p:cNvPr id="12" name="arrow 2" descr="next">    </p:cNvPr>
          <p:cNvPicPr>
            <a:picLocks noChangeAspect="1"/>
          </p:cNvPicPr>
          <p:nvPr/>
        </p:nvPicPr>
        <p:blipFill>
          <a:blip r:embed="rId4"/>
          <a:stretch>
            <a:fillRect/>
          </a:stretch>
        </p:blipFill>
        <p:spPr>
          <a:xfrm>
            <a:off x="7913903" y="1600200"/>
            <a:ext cx="219456" cy="219456"/>
          </a:xfrm>
          <a:prstGeom prst="rect">
            <a:avLst/>
          </a:prstGeom>
        </p:spPr>
      </p:pic>
      <p:sp>
        <p:nvSpPr>
          <p:cNvPr id="13" name="step 3 circle"/>
          <p:cNvSpPr/>
          <p:nvPr/>
        </p:nvSpPr>
        <p:spPr>
          <a:xfrm>
            <a:off x="8259775" y="1371600"/>
            <a:ext cx="685800" cy="685800"/>
          </a:xfrm>
          <a:prstGeom prst="ellipse">
            <a:avLst/>
          </a:prstGeom>
          <a:solidFill>
            <a:schemeClr val="accent1"/>
          </a:solidFill>
          <a:ln/>
        </p:spPr>
      </p:sp>
      <p:pic>
        <p:nvPicPr>
          <p:cNvPr id="14" name="step 3 icon" descr="step 3">    </p:cNvPr>
          <p:cNvPicPr>
            <a:picLocks noChangeAspect="1"/>
          </p:cNvPicPr>
          <p:nvPr/>
        </p:nvPicPr>
        <p:blipFill>
          <a:blip r:embed="rId5"/>
          <a:stretch>
            <a:fillRect/>
          </a:stretch>
        </p:blipFill>
        <p:spPr>
          <a:xfrm>
            <a:off x="8431225" y="1543050"/>
            <a:ext cx="342900" cy="342900"/>
          </a:xfrm>
          <a:prstGeom prst="rect">
            <a:avLst/>
          </a:prstGeom>
        </p:spPr>
      </p:pic>
      <p:sp>
        <p:nvSpPr>
          <p:cNvPr id="15" name="Text 8"/>
          <p:cNvSpPr txBox="1"/>
          <p:nvPr/>
        </p:nvSpPr>
        <p:spPr>
          <a:xfrm>
            <a:off x="9128455" y="1371600"/>
            <a:ext cx="2514600" cy="320040"/>
          </a:xfrm>
          <a:prstGeom prst="rect">
            <a:avLst/>
          </a:prstGeom>
          <a:noFill/>
          <a:ln/>
        </p:spPr>
        <p:txBody>
          <a:bodyPr wrap="square" lIns="0" tIns="0" rIns="0" bIns="0" rtlCol="0" anchor="ctr"/>
          <a:lstStyle/>
          <a:p>
            <a:pPr indent="0" marL="0">
              <a:buNone/>
            </a:pPr>
            <a:r>
              <a:rPr lang="en-US" sz="1800" b="1" dirty="0">
                <a:solidFill>
                  <a:schemeClr val="tx2"/>
                </a:solidFill>
              </a:rPr>
              <a:t>3. Score</a:t>
            </a:r>
            <a:endParaRPr lang="en-US" sz="1800" dirty="0"/>
          </a:p>
        </p:txBody>
      </p:sp>
      <p:sp>
        <p:nvSpPr>
          <p:cNvPr id="16" name="Text 9"/>
          <p:cNvSpPr txBox="1"/>
          <p:nvPr/>
        </p:nvSpPr>
        <p:spPr>
          <a:xfrm>
            <a:off x="9128455" y="1719072"/>
            <a:ext cx="2514600" cy="548640"/>
          </a:xfrm>
          <a:prstGeom prst="rect">
            <a:avLst/>
          </a:prstGeom>
          <a:noFill/>
          <a:ln/>
        </p:spPr>
        <p:txBody>
          <a:bodyPr wrap="square" lIns="0" tIns="0" rIns="0" bIns="0" rtlCol="0" anchor="t"/>
          <a:lstStyle/>
          <a:p>
            <a:pPr indent="0" marL="0">
              <a:buNone/>
            </a:pPr>
            <a:r>
              <a:rPr lang="en-US" sz="1400" dirty="0">
                <a:solidFill>
                  <a:schemeClr val="tx1"/>
                </a:solidFill>
              </a:rPr>
              <a:t>Rated each criterion 1 (weak) to 5 (strong); maximum 25</a:t>
            </a:r>
            <a:endParaRPr lang="en-US" sz="1400" dirty="0"/>
          </a:p>
        </p:txBody>
      </p:sp>
      <p:sp>
        <p:nvSpPr>
          <p:cNvPr id="17" name="criterion card 1"/>
          <p:cNvSpPr/>
          <p:nvPr/>
        </p:nvSpPr>
        <p:spPr>
          <a:xfrm>
            <a:off x="548640" y="2697480"/>
            <a:ext cx="2011680" cy="2697480"/>
          </a:xfrm>
          <a:prstGeom prst="roundRect">
            <a:avLst>
              <a:gd name="adj" fmla="val 5455"/>
            </a:avLst>
          </a:prstGeom>
          <a:solidFill>
            <a:schemeClr val="bg2"/>
          </a:solidFill>
          <a:ln/>
        </p:spPr>
      </p:sp>
      <p:sp>
        <p:nvSpPr>
          <p:cNvPr id="18" name="criterion 1 circle"/>
          <p:cNvSpPr/>
          <p:nvPr/>
        </p:nvSpPr>
        <p:spPr>
          <a:xfrm>
            <a:off x="777240" y="2971800"/>
            <a:ext cx="685800" cy="685800"/>
          </a:xfrm>
          <a:prstGeom prst="ellipse">
            <a:avLst/>
          </a:prstGeom>
          <a:solidFill>
            <a:schemeClr val="tx2"/>
          </a:solidFill>
          <a:ln/>
        </p:spPr>
      </p:sp>
      <p:pic>
        <p:nvPicPr>
          <p:cNvPr id="19" name="criterion 1 icon" descr="criterion 1">    </p:cNvPr>
          <p:cNvPicPr>
            <a:picLocks noChangeAspect="1"/>
          </p:cNvPicPr>
          <p:nvPr/>
        </p:nvPicPr>
        <p:blipFill>
          <a:blip r:embed="rId6"/>
          <a:stretch>
            <a:fillRect/>
          </a:stretch>
        </p:blipFill>
        <p:spPr>
          <a:xfrm>
            <a:off x="948690" y="3143250"/>
            <a:ext cx="342900" cy="342900"/>
          </a:xfrm>
          <a:prstGeom prst="rect">
            <a:avLst/>
          </a:prstGeom>
        </p:spPr>
      </p:pic>
      <p:sp>
        <p:nvSpPr>
          <p:cNvPr id="20" name="Text 12"/>
          <p:cNvSpPr txBox="1"/>
          <p:nvPr/>
        </p:nvSpPr>
        <p:spPr>
          <a:xfrm>
            <a:off x="777240" y="3840480"/>
            <a:ext cx="1554480" cy="685800"/>
          </a:xfrm>
          <a:prstGeom prst="rect">
            <a:avLst/>
          </a:prstGeom>
          <a:noFill/>
          <a:ln/>
        </p:spPr>
        <p:txBody>
          <a:bodyPr wrap="square" lIns="0" tIns="0" rIns="0" bIns="0" rtlCol="0" anchor="t"/>
          <a:lstStyle/>
          <a:p>
            <a:pPr indent="0" marL="0">
              <a:buNone/>
            </a:pPr>
            <a:r>
              <a:rPr lang="en-US" sz="1700" b="1" dirty="0">
                <a:solidFill>
                  <a:schemeClr val="tx2"/>
                </a:solidFill>
              </a:rPr>
              <a:t>Login protection</a:t>
            </a:r>
            <a:endParaRPr lang="en-US" sz="1700" dirty="0"/>
          </a:p>
        </p:txBody>
      </p:sp>
      <p:sp>
        <p:nvSpPr>
          <p:cNvPr id="21" name="Text 13"/>
          <p:cNvSpPr txBox="1"/>
          <p:nvPr/>
        </p:nvSpPr>
        <p:spPr>
          <a:xfrm>
            <a:off x="777240" y="4526280"/>
            <a:ext cx="1554480" cy="1188720"/>
          </a:xfrm>
          <a:prstGeom prst="rect">
            <a:avLst/>
          </a:prstGeom>
          <a:noFill/>
          <a:ln/>
        </p:spPr>
        <p:txBody>
          <a:bodyPr wrap="square" lIns="0" tIns="0" rIns="0" bIns="0" rtlCol="0" anchor="t"/>
          <a:lstStyle/>
          <a:p>
            <a:pPr indent="0" marL="0">
              <a:buNone/>
            </a:pPr>
            <a:r>
              <a:rPr lang="en-US" sz="1400" dirty="0">
                <a:solidFill>
                  <a:schemeClr val="tx1"/>
                </a:solidFill>
              </a:rPr>
              <a:t>Can a stolen password alone get someone in?</a:t>
            </a:r>
            <a:endParaRPr lang="en-US" sz="1400" dirty="0"/>
          </a:p>
        </p:txBody>
      </p:sp>
      <p:sp>
        <p:nvSpPr>
          <p:cNvPr id="22" name="criterion card 2"/>
          <p:cNvSpPr/>
          <p:nvPr/>
        </p:nvSpPr>
        <p:spPr>
          <a:xfrm>
            <a:off x="2819324" y="2697480"/>
            <a:ext cx="2011680" cy="2697480"/>
          </a:xfrm>
          <a:prstGeom prst="roundRect">
            <a:avLst>
              <a:gd name="adj" fmla="val 5455"/>
            </a:avLst>
          </a:prstGeom>
          <a:solidFill>
            <a:schemeClr val="bg2"/>
          </a:solidFill>
          <a:ln/>
        </p:spPr>
      </p:sp>
      <p:sp>
        <p:nvSpPr>
          <p:cNvPr id="23" name="criterion 2 circle"/>
          <p:cNvSpPr/>
          <p:nvPr/>
        </p:nvSpPr>
        <p:spPr>
          <a:xfrm>
            <a:off x="3047924" y="2971800"/>
            <a:ext cx="685800" cy="685800"/>
          </a:xfrm>
          <a:prstGeom prst="ellipse">
            <a:avLst/>
          </a:prstGeom>
          <a:solidFill>
            <a:schemeClr val="tx2"/>
          </a:solidFill>
          <a:ln/>
        </p:spPr>
      </p:sp>
      <p:pic>
        <p:nvPicPr>
          <p:cNvPr id="24" name="criterion 2 icon" descr="criterion 2">    </p:cNvPr>
          <p:cNvPicPr>
            <a:picLocks noChangeAspect="1"/>
          </p:cNvPicPr>
          <p:nvPr/>
        </p:nvPicPr>
        <p:blipFill>
          <a:blip r:embed="rId7"/>
          <a:stretch>
            <a:fillRect/>
          </a:stretch>
        </p:blipFill>
        <p:spPr>
          <a:xfrm>
            <a:off x="3219374" y="3143250"/>
            <a:ext cx="342900" cy="342900"/>
          </a:xfrm>
          <a:prstGeom prst="rect">
            <a:avLst/>
          </a:prstGeom>
        </p:spPr>
      </p:pic>
      <p:sp>
        <p:nvSpPr>
          <p:cNvPr id="25" name="Text 16"/>
          <p:cNvSpPr txBox="1"/>
          <p:nvPr/>
        </p:nvSpPr>
        <p:spPr>
          <a:xfrm>
            <a:off x="3047924" y="3840480"/>
            <a:ext cx="1554480" cy="685800"/>
          </a:xfrm>
          <a:prstGeom prst="rect">
            <a:avLst/>
          </a:prstGeom>
          <a:noFill/>
          <a:ln/>
        </p:spPr>
        <p:txBody>
          <a:bodyPr wrap="square" lIns="0" tIns="0" rIns="0" bIns="0" rtlCol="0" anchor="t"/>
          <a:lstStyle/>
          <a:p>
            <a:pPr indent="0" marL="0">
              <a:buNone/>
            </a:pPr>
            <a:r>
              <a:rPr lang="en-US" sz="1700" b="1" dirty="0">
                <a:solidFill>
                  <a:schemeClr val="tx2"/>
                </a:solidFill>
              </a:rPr>
              <a:t>Encryption by default</a:t>
            </a:r>
            <a:endParaRPr lang="en-US" sz="1700" dirty="0"/>
          </a:p>
        </p:txBody>
      </p:sp>
      <p:sp>
        <p:nvSpPr>
          <p:cNvPr id="26" name="Text 17"/>
          <p:cNvSpPr txBox="1"/>
          <p:nvPr/>
        </p:nvSpPr>
        <p:spPr>
          <a:xfrm>
            <a:off x="3047924" y="4526280"/>
            <a:ext cx="1554480" cy="1188720"/>
          </a:xfrm>
          <a:prstGeom prst="rect">
            <a:avLst/>
          </a:prstGeom>
          <a:noFill/>
          <a:ln/>
        </p:spPr>
        <p:txBody>
          <a:bodyPr wrap="square" lIns="0" tIns="0" rIns="0" bIns="0" rtlCol="0" anchor="t"/>
          <a:lstStyle/>
          <a:p>
            <a:pPr indent="0" marL="0">
              <a:buNone/>
            </a:pPr>
            <a:r>
              <a:rPr lang="en-US" sz="1400" dirty="0">
                <a:solidFill>
                  <a:schemeClr val="tx1"/>
                </a:solidFill>
              </a:rPr>
              <a:t>Can the company itself read my messages?</a:t>
            </a:r>
            <a:endParaRPr lang="en-US" sz="1400" dirty="0"/>
          </a:p>
        </p:txBody>
      </p:sp>
      <p:sp>
        <p:nvSpPr>
          <p:cNvPr id="27" name="criterion card 3"/>
          <p:cNvSpPr/>
          <p:nvPr/>
        </p:nvSpPr>
        <p:spPr>
          <a:xfrm>
            <a:off x="5090008" y="2697480"/>
            <a:ext cx="2011680" cy="2697480"/>
          </a:xfrm>
          <a:prstGeom prst="roundRect">
            <a:avLst>
              <a:gd name="adj" fmla="val 5455"/>
            </a:avLst>
          </a:prstGeom>
          <a:solidFill>
            <a:schemeClr val="bg2"/>
          </a:solidFill>
          <a:ln/>
        </p:spPr>
      </p:sp>
      <p:sp>
        <p:nvSpPr>
          <p:cNvPr id="28" name="criterion 3 circle"/>
          <p:cNvSpPr/>
          <p:nvPr/>
        </p:nvSpPr>
        <p:spPr>
          <a:xfrm>
            <a:off x="5318608" y="2971800"/>
            <a:ext cx="685800" cy="685800"/>
          </a:xfrm>
          <a:prstGeom prst="ellipse">
            <a:avLst/>
          </a:prstGeom>
          <a:solidFill>
            <a:schemeClr val="tx2"/>
          </a:solidFill>
          <a:ln/>
        </p:spPr>
      </p:sp>
      <p:pic>
        <p:nvPicPr>
          <p:cNvPr id="29" name="criterion 3 icon" descr="criterion 3">    </p:cNvPr>
          <p:cNvPicPr>
            <a:picLocks noChangeAspect="1"/>
          </p:cNvPicPr>
          <p:nvPr/>
        </p:nvPicPr>
        <p:blipFill>
          <a:blip r:embed="rId8"/>
          <a:stretch>
            <a:fillRect/>
          </a:stretch>
        </p:blipFill>
        <p:spPr>
          <a:xfrm>
            <a:off x="5490058" y="3143250"/>
            <a:ext cx="342900" cy="342900"/>
          </a:xfrm>
          <a:prstGeom prst="rect">
            <a:avLst/>
          </a:prstGeom>
        </p:spPr>
      </p:pic>
      <p:sp>
        <p:nvSpPr>
          <p:cNvPr id="30" name="Text 20"/>
          <p:cNvSpPr txBox="1"/>
          <p:nvPr/>
        </p:nvSpPr>
        <p:spPr>
          <a:xfrm>
            <a:off x="5318608" y="3840480"/>
            <a:ext cx="1554480" cy="685800"/>
          </a:xfrm>
          <a:prstGeom prst="rect">
            <a:avLst/>
          </a:prstGeom>
          <a:noFill/>
          <a:ln/>
        </p:spPr>
        <p:txBody>
          <a:bodyPr wrap="square" lIns="0" tIns="0" rIns="0" bIns="0" rtlCol="0" anchor="t"/>
          <a:lstStyle/>
          <a:p>
            <a:pPr indent="0" marL="0">
              <a:buNone/>
            </a:pPr>
            <a:r>
              <a:rPr lang="en-US" sz="1700" b="1" dirty="0">
                <a:solidFill>
                  <a:schemeClr val="tx2"/>
                </a:solidFill>
              </a:rPr>
              <a:t>Threat alerts</a:t>
            </a:r>
            <a:endParaRPr lang="en-US" sz="1700" dirty="0"/>
          </a:p>
        </p:txBody>
      </p:sp>
      <p:sp>
        <p:nvSpPr>
          <p:cNvPr id="31" name="Text 21"/>
          <p:cNvSpPr txBox="1"/>
          <p:nvPr/>
        </p:nvSpPr>
        <p:spPr>
          <a:xfrm>
            <a:off x="5318608" y="4526280"/>
            <a:ext cx="1554480" cy="1188720"/>
          </a:xfrm>
          <a:prstGeom prst="rect">
            <a:avLst/>
          </a:prstGeom>
          <a:noFill/>
          <a:ln/>
        </p:spPr>
        <p:txBody>
          <a:bodyPr wrap="square" lIns="0" tIns="0" rIns="0" bIns="0" rtlCol="0" anchor="t"/>
          <a:lstStyle/>
          <a:p>
            <a:pPr indent="0" marL="0">
              <a:buNone/>
            </a:pPr>
            <a:r>
              <a:rPr lang="en-US" sz="1400" dirty="0">
                <a:solidFill>
                  <a:schemeClr val="tx1"/>
                </a:solidFill>
              </a:rPr>
              <a:t>Will the platform warn me of suspicious activity?</a:t>
            </a:r>
            <a:endParaRPr lang="en-US" sz="1400" dirty="0"/>
          </a:p>
        </p:txBody>
      </p:sp>
      <p:sp>
        <p:nvSpPr>
          <p:cNvPr id="32" name="criterion card 4"/>
          <p:cNvSpPr/>
          <p:nvPr/>
        </p:nvSpPr>
        <p:spPr>
          <a:xfrm>
            <a:off x="7360691" y="2697480"/>
            <a:ext cx="2011680" cy="2697480"/>
          </a:xfrm>
          <a:prstGeom prst="roundRect">
            <a:avLst>
              <a:gd name="adj" fmla="val 5455"/>
            </a:avLst>
          </a:prstGeom>
          <a:solidFill>
            <a:schemeClr val="bg2"/>
          </a:solidFill>
          <a:ln/>
        </p:spPr>
      </p:sp>
      <p:sp>
        <p:nvSpPr>
          <p:cNvPr id="33" name="criterion 4 circle"/>
          <p:cNvSpPr/>
          <p:nvPr/>
        </p:nvSpPr>
        <p:spPr>
          <a:xfrm>
            <a:off x="7589291" y="2971800"/>
            <a:ext cx="685800" cy="685800"/>
          </a:xfrm>
          <a:prstGeom prst="ellipse">
            <a:avLst/>
          </a:prstGeom>
          <a:solidFill>
            <a:schemeClr val="tx2"/>
          </a:solidFill>
          <a:ln/>
        </p:spPr>
      </p:sp>
      <p:pic>
        <p:nvPicPr>
          <p:cNvPr id="34" name="criterion 4 icon" descr="criterion 4">    </p:cNvPr>
          <p:cNvPicPr>
            <a:picLocks noChangeAspect="1"/>
          </p:cNvPicPr>
          <p:nvPr/>
        </p:nvPicPr>
        <p:blipFill>
          <a:blip r:embed="rId9"/>
          <a:stretch>
            <a:fillRect/>
          </a:stretch>
        </p:blipFill>
        <p:spPr>
          <a:xfrm>
            <a:off x="7760741" y="3143250"/>
            <a:ext cx="342900" cy="342900"/>
          </a:xfrm>
          <a:prstGeom prst="rect">
            <a:avLst/>
          </a:prstGeom>
        </p:spPr>
      </p:pic>
      <p:sp>
        <p:nvSpPr>
          <p:cNvPr id="35" name="Text 24"/>
          <p:cNvSpPr txBox="1"/>
          <p:nvPr/>
        </p:nvSpPr>
        <p:spPr>
          <a:xfrm>
            <a:off x="7589291" y="3840480"/>
            <a:ext cx="1554480" cy="685800"/>
          </a:xfrm>
          <a:prstGeom prst="rect">
            <a:avLst/>
          </a:prstGeom>
          <a:noFill/>
          <a:ln/>
        </p:spPr>
        <p:txBody>
          <a:bodyPr wrap="square" lIns="0" tIns="0" rIns="0" bIns="0" rtlCol="0" anchor="t"/>
          <a:lstStyle/>
          <a:p>
            <a:pPr indent="0" marL="0">
              <a:buNone/>
            </a:pPr>
            <a:r>
              <a:rPr lang="en-US" sz="1700" b="1" dirty="0">
                <a:solidFill>
                  <a:schemeClr val="tx2"/>
                </a:solidFill>
              </a:rPr>
              <a:t>Recovery safety</a:t>
            </a:r>
            <a:endParaRPr lang="en-US" sz="1700" dirty="0"/>
          </a:p>
        </p:txBody>
      </p:sp>
      <p:sp>
        <p:nvSpPr>
          <p:cNvPr id="36" name="Text 25"/>
          <p:cNvSpPr txBox="1"/>
          <p:nvPr/>
        </p:nvSpPr>
        <p:spPr>
          <a:xfrm>
            <a:off x="7589291" y="4526280"/>
            <a:ext cx="1554480" cy="1188720"/>
          </a:xfrm>
          <a:prstGeom prst="rect">
            <a:avLst/>
          </a:prstGeom>
          <a:noFill/>
          <a:ln/>
        </p:spPr>
        <p:txBody>
          <a:bodyPr wrap="square" lIns="0" tIns="0" rIns="0" bIns="0" rtlCol="0" anchor="t"/>
          <a:lstStyle/>
          <a:p>
            <a:pPr indent="0" marL="0">
              <a:buNone/>
            </a:pPr>
            <a:r>
              <a:rPr lang="en-US" sz="1400" dirty="0">
                <a:solidFill>
                  <a:schemeClr val="tx1"/>
                </a:solidFill>
              </a:rPr>
              <a:t>Can a hacker lock me out permanently?</a:t>
            </a:r>
            <a:endParaRPr lang="en-US" sz="1400" dirty="0"/>
          </a:p>
        </p:txBody>
      </p:sp>
      <p:sp>
        <p:nvSpPr>
          <p:cNvPr id="37" name="criterion card 5"/>
          <p:cNvSpPr/>
          <p:nvPr/>
        </p:nvSpPr>
        <p:spPr>
          <a:xfrm>
            <a:off x="9631375" y="2697480"/>
            <a:ext cx="2011680" cy="2697480"/>
          </a:xfrm>
          <a:prstGeom prst="roundRect">
            <a:avLst>
              <a:gd name="adj" fmla="val 5455"/>
            </a:avLst>
          </a:prstGeom>
          <a:solidFill>
            <a:schemeClr val="bg2"/>
          </a:solidFill>
          <a:ln/>
        </p:spPr>
      </p:sp>
      <p:sp>
        <p:nvSpPr>
          <p:cNvPr id="38" name="criterion 5 circle"/>
          <p:cNvSpPr/>
          <p:nvPr/>
        </p:nvSpPr>
        <p:spPr>
          <a:xfrm>
            <a:off x="9859975" y="2971800"/>
            <a:ext cx="685800" cy="685800"/>
          </a:xfrm>
          <a:prstGeom prst="ellipse">
            <a:avLst/>
          </a:prstGeom>
          <a:solidFill>
            <a:schemeClr val="tx2"/>
          </a:solidFill>
          <a:ln/>
        </p:spPr>
      </p:sp>
      <p:pic>
        <p:nvPicPr>
          <p:cNvPr id="39" name="criterion 5 icon" descr="criterion 5">    </p:cNvPr>
          <p:cNvPicPr>
            <a:picLocks noChangeAspect="1"/>
          </p:cNvPicPr>
          <p:nvPr/>
        </p:nvPicPr>
        <p:blipFill>
          <a:blip r:embed="rId10"/>
          <a:stretch>
            <a:fillRect/>
          </a:stretch>
        </p:blipFill>
        <p:spPr>
          <a:xfrm>
            <a:off x="10031425" y="3143250"/>
            <a:ext cx="342900" cy="342900"/>
          </a:xfrm>
          <a:prstGeom prst="rect">
            <a:avLst/>
          </a:prstGeom>
        </p:spPr>
      </p:pic>
      <p:sp>
        <p:nvSpPr>
          <p:cNvPr id="40" name="Text 28"/>
          <p:cNvSpPr txBox="1"/>
          <p:nvPr/>
        </p:nvSpPr>
        <p:spPr>
          <a:xfrm>
            <a:off x="9859975" y="3840480"/>
            <a:ext cx="1554480" cy="685800"/>
          </a:xfrm>
          <a:prstGeom prst="rect">
            <a:avLst/>
          </a:prstGeom>
          <a:noFill/>
          <a:ln/>
        </p:spPr>
        <p:txBody>
          <a:bodyPr wrap="square" lIns="0" tIns="0" rIns="0" bIns="0" rtlCol="0" anchor="t"/>
          <a:lstStyle/>
          <a:p>
            <a:pPr indent="0" marL="0">
              <a:buNone/>
            </a:pPr>
            <a:r>
              <a:rPr lang="en-US" sz="1700" b="1" dirty="0">
                <a:solidFill>
                  <a:schemeClr val="tx2"/>
                </a:solidFill>
              </a:rPr>
              <a:t>Privacy controls</a:t>
            </a:r>
            <a:endParaRPr lang="en-US" sz="1700" dirty="0"/>
          </a:p>
        </p:txBody>
      </p:sp>
      <p:sp>
        <p:nvSpPr>
          <p:cNvPr id="41" name="Text 29"/>
          <p:cNvSpPr txBox="1"/>
          <p:nvPr/>
        </p:nvSpPr>
        <p:spPr>
          <a:xfrm>
            <a:off x="9859975" y="4526280"/>
            <a:ext cx="1554480" cy="1188720"/>
          </a:xfrm>
          <a:prstGeom prst="rect">
            <a:avLst/>
          </a:prstGeom>
          <a:noFill/>
          <a:ln/>
        </p:spPr>
        <p:txBody>
          <a:bodyPr wrap="square" lIns="0" tIns="0" rIns="0" bIns="0" rtlCol="0" anchor="t"/>
          <a:lstStyle/>
          <a:p>
            <a:pPr indent="0" marL="0">
              <a:buNone/>
            </a:pPr>
            <a:r>
              <a:rPr lang="en-US" sz="1400" dirty="0">
                <a:solidFill>
                  <a:schemeClr val="tx1"/>
                </a:solidFill>
              </a:rPr>
              <a:t>Can strangers find, view or contact me?</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Facebook: strong login tools, but weak account recovery</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1 OF 5  |  EXISTING SECURITY FEATURES</a:t>
            </a:r>
            <a:endParaRPr lang="en-US" sz="1200" dirty="0"/>
          </a:p>
        </p:txBody>
      </p:sp>
      <p:pic>
        <p:nvPicPr>
          <p:cNvPr id="4" name="feature 1 check" descr="Available">    </p:cNvPr>
          <p:cNvPicPr>
            <a:picLocks noChangeAspect="1"/>
          </p:cNvPicPr>
          <p:nvPr/>
        </p:nvPicPr>
        <p:blipFill>
          <a:blip r:embed="rId1"/>
          <a:stretch>
            <a:fillRect/>
          </a:stretch>
        </p:blipFill>
        <p:spPr>
          <a:xfrm>
            <a:off x="548640" y="1819656"/>
            <a:ext cx="292608" cy="292608"/>
          </a:xfrm>
          <a:prstGeom prst="rect">
            <a:avLst/>
          </a:prstGeom>
        </p:spPr>
      </p:pic>
      <p:sp>
        <p:nvSpPr>
          <p:cNvPr id="5" name="feature 1"/>
          <p:cNvSpPr txBox="1"/>
          <p:nvPr/>
        </p:nvSpPr>
        <p:spPr>
          <a:xfrm>
            <a:off x="1005840" y="1783080"/>
            <a:ext cx="5029200" cy="749808"/>
          </a:xfrm>
          <a:prstGeom prst="rect">
            <a:avLst/>
          </a:prstGeom>
          <a:noFill/>
          <a:ln/>
        </p:spPr>
        <p:txBody>
          <a:bodyPr wrap="square" lIns="0" tIns="0" rIns="0" bIns="0" rtlCol="0" anchor="t"/>
          <a:lstStyle/>
          <a:p>
            <a:pPr indent="0" marL="0">
              <a:buNone/>
            </a:pPr>
            <a:r>
              <a:rPr lang="en-US" sz="1600" b="1" dirty="0">
                <a:solidFill>
                  <a:schemeClr val="tx2"/>
                </a:solidFill>
              </a:rPr>
              <a:t>Two-factor authentication</a:t>
            </a:r>
            <a:endParaRPr lang="en-US" sz="1600" dirty="0"/>
          </a:p>
          <a:p>
            <a:pPr indent="0" marL="0">
              <a:buNone/>
            </a:pPr>
            <a:r>
              <a:rPr lang="en-US" sz="1400" dirty="0">
                <a:solidFill>
                  <a:schemeClr val="tx1"/>
                </a:solidFill>
              </a:rPr>
              <a:t>Authenticator app, SMS code or physical security key</a:t>
            </a:r>
            <a:endParaRPr lang="en-US" sz="1600" dirty="0"/>
          </a:p>
        </p:txBody>
      </p:sp>
      <p:pic>
        <p:nvPicPr>
          <p:cNvPr id="6" name="feature 2 check" descr="Available">    </p:cNvPr>
          <p:cNvPicPr>
            <a:picLocks noChangeAspect="1"/>
          </p:cNvPicPr>
          <p:nvPr/>
        </p:nvPicPr>
        <p:blipFill>
          <a:blip r:embed="rId2"/>
          <a:stretch>
            <a:fillRect/>
          </a:stretch>
        </p:blipFill>
        <p:spPr>
          <a:xfrm>
            <a:off x="548640" y="2660904"/>
            <a:ext cx="292608" cy="292608"/>
          </a:xfrm>
          <a:prstGeom prst="rect">
            <a:avLst/>
          </a:prstGeom>
        </p:spPr>
      </p:pic>
      <p:sp>
        <p:nvSpPr>
          <p:cNvPr id="7" name="feature 2"/>
          <p:cNvSpPr txBox="1"/>
          <p:nvPr/>
        </p:nvSpPr>
        <p:spPr>
          <a:xfrm>
            <a:off x="1005840" y="2624328"/>
            <a:ext cx="5029200" cy="749808"/>
          </a:xfrm>
          <a:prstGeom prst="rect">
            <a:avLst/>
          </a:prstGeom>
          <a:noFill/>
          <a:ln/>
        </p:spPr>
        <p:txBody>
          <a:bodyPr wrap="square" lIns="0" tIns="0" rIns="0" bIns="0" rtlCol="0" anchor="t"/>
          <a:lstStyle/>
          <a:p>
            <a:pPr indent="0" marL="0">
              <a:buNone/>
            </a:pPr>
            <a:r>
              <a:rPr lang="en-US" sz="1600" b="1" dirty="0">
                <a:solidFill>
                  <a:schemeClr val="tx2"/>
                </a:solidFill>
              </a:rPr>
              <a:t>Login alerts and remote log-out</a:t>
            </a:r>
            <a:endParaRPr lang="en-US" sz="1600" dirty="0"/>
          </a:p>
          <a:p>
            <a:pPr indent="0" marL="0">
              <a:buNone/>
            </a:pPr>
            <a:r>
              <a:rPr lang="en-US" sz="1400" dirty="0">
                <a:solidFill>
                  <a:schemeClr val="tx1"/>
                </a:solidFill>
              </a:rPr>
              <a:t>“Where you’re logged in” in Accounts Center</a:t>
            </a:r>
            <a:endParaRPr lang="en-US" sz="1600" dirty="0"/>
          </a:p>
        </p:txBody>
      </p:sp>
      <p:pic>
        <p:nvPicPr>
          <p:cNvPr id="8" name="feature 3 check" descr="Available">    </p:cNvPr>
          <p:cNvPicPr>
            <a:picLocks noChangeAspect="1"/>
          </p:cNvPicPr>
          <p:nvPr/>
        </p:nvPicPr>
        <p:blipFill>
          <a:blip r:embed="rId3"/>
          <a:stretch>
            <a:fillRect/>
          </a:stretch>
        </p:blipFill>
        <p:spPr>
          <a:xfrm>
            <a:off x="548640" y="3502152"/>
            <a:ext cx="292608" cy="292608"/>
          </a:xfrm>
          <a:prstGeom prst="rect">
            <a:avLst/>
          </a:prstGeom>
        </p:spPr>
      </p:pic>
      <p:sp>
        <p:nvSpPr>
          <p:cNvPr id="9" name="feature 3"/>
          <p:cNvSpPr txBox="1"/>
          <p:nvPr/>
        </p:nvSpPr>
        <p:spPr>
          <a:xfrm>
            <a:off x="1005840" y="3465576"/>
            <a:ext cx="5029200" cy="749808"/>
          </a:xfrm>
          <a:prstGeom prst="rect">
            <a:avLst/>
          </a:prstGeom>
          <a:noFill/>
          <a:ln/>
        </p:spPr>
        <p:txBody>
          <a:bodyPr wrap="square" lIns="0" tIns="0" rIns="0" bIns="0" rtlCol="0" anchor="t"/>
          <a:lstStyle/>
          <a:p>
            <a:pPr indent="0" marL="0">
              <a:buNone/>
            </a:pPr>
            <a:r>
              <a:rPr lang="en-US" sz="1600" b="1" dirty="0">
                <a:solidFill>
                  <a:schemeClr val="tx2"/>
                </a:solidFill>
              </a:rPr>
              <a:t>Passkeys (June 2025)</a:t>
            </a:r>
            <a:endParaRPr lang="en-US" sz="1600" dirty="0"/>
          </a:p>
          <a:p>
            <a:pPr indent="0" marL="0">
              <a:buNone/>
            </a:pPr>
            <a:r>
              <a:rPr lang="en-US" sz="1400" dirty="0">
                <a:solidFill>
                  <a:schemeClr val="tx1"/>
                </a:solidFill>
              </a:rPr>
              <a:t>Fingerprint or face scan replaces the password</a:t>
            </a:r>
            <a:endParaRPr lang="en-US" sz="1600" dirty="0"/>
          </a:p>
        </p:txBody>
      </p:sp>
      <p:pic>
        <p:nvPicPr>
          <p:cNvPr id="10" name="feature 4 check" descr="Available">    </p:cNvPr>
          <p:cNvPicPr>
            <a:picLocks noChangeAspect="1"/>
          </p:cNvPicPr>
          <p:nvPr/>
        </p:nvPicPr>
        <p:blipFill>
          <a:blip r:embed="rId4"/>
          <a:stretch>
            <a:fillRect/>
          </a:stretch>
        </p:blipFill>
        <p:spPr>
          <a:xfrm>
            <a:off x="548640" y="4343400"/>
            <a:ext cx="292608" cy="292608"/>
          </a:xfrm>
          <a:prstGeom prst="rect">
            <a:avLst/>
          </a:prstGeom>
        </p:spPr>
      </p:pic>
      <p:sp>
        <p:nvSpPr>
          <p:cNvPr id="11" name="feature 4"/>
          <p:cNvSpPr txBox="1"/>
          <p:nvPr/>
        </p:nvSpPr>
        <p:spPr>
          <a:xfrm>
            <a:off x="1005840" y="4306824"/>
            <a:ext cx="5029200" cy="749808"/>
          </a:xfrm>
          <a:prstGeom prst="rect">
            <a:avLst/>
          </a:prstGeom>
          <a:noFill/>
          <a:ln/>
        </p:spPr>
        <p:txBody>
          <a:bodyPr wrap="square" lIns="0" tIns="0" rIns="0" bIns="0" rtlCol="0" anchor="t"/>
          <a:lstStyle/>
          <a:p>
            <a:pPr indent="0" marL="0">
              <a:buNone/>
            </a:pPr>
            <a:r>
              <a:rPr lang="en-US" sz="1600" b="1" dirty="0">
                <a:solidFill>
                  <a:schemeClr val="tx2"/>
                </a:solidFill>
              </a:rPr>
              <a:t>Profile lock</a:t>
            </a:r>
            <a:endParaRPr lang="en-US" sz="1600" dirty="0"/>
          </a:p>
          <a:p>
            <a:pPr indent="0" marL="0">
              <a:buNone/>
            </a:pPr>
            <a:r>
              <a:rPr lang="en-US" sz="1400" dirty="0">
                <a:solidFill>
                  <a:schemeClr val="tx1"/>
                </a:solidFill>
              </a:rPr>
              <a:t>Hides photos and posts from non-friends</a:t>
            </a:r>
            <a:endParaRPr lang="en-US" sz="1600" dirty="0"/>
          </a:p>
        </p:txBody>
      </p:sp>
      <p:pic>
        <p:nvPicPr>
          <p:cNvPr id="12" name="feature 5 check" descr="Available">    </p:cNvPr>
          <p:cNvPicPr>
            <a:picLocks noChangeAspect="1"/>
          </p:cNvPicPr>
          <p:nvPr/>
        </p:nvPicPr>
        <p:blipFill>
          <a:blip r:embed="rId5"/>
          <a:stretch>
            <a:fillRect/>
          </a:stretch>
        </p:blipFill>
        <p:spPr>
          <a:xfrm>
            <a:off x="548640" y="5184648"/>
            <a:ext cx="292608" cy="292608"/>
          </a:xfrm>
          <a:prstGeom prst="rect">
            <a:avLst/>
          </a:prstGeom>
        </p:spPr>
      </p:pic>
      <p:sp>
        <p:nvSpPr>
          <p:cNvPr id="13" name="feature 5"/>
          <p:cNvSpPr txBox="1"/>
          <p:nvPr/>
        </p:nvSpPr>
        <p:spPr>
          <a:xfrm>
            <a:off x="1005840" y="5148072"/>
            <a:ext cx="5029200" cy="749808"/>
          </a:xfrm>
          <a:prstGeom prst="rect">
            <a:avLst/>
          </a:prstGeom>
          <a:noFill/>
          <a:ln/>
        </p:spPr>
        <p:txBody>
          <a:bodyPr wrap="square" lIns="0" tIns="0" rIns="0" bIns="0" rtlCol="0" anchor="t"/>
          <a:lstStyle/>
          <a:p>
            <a:pPr indent="0" marL="0">
              <a:buNone/>
            </a:pPr>
            <a:r>
              <a:rPr lang="en-US" sz="1600" b="1" dirty="0">
                <a:solidFill>
                  <a:schemeClr val="tx2"/>
                </a:solidFill>
              </a:rPr>
              <a:t>Encrypted Messenger</a:t>
            </a:r>
            <a:endParaRPr lang="en-US" sz="1600" dirty="0"/>
          </a:p>
          <a:p>
            <a:pPr indent="0" marL="0">
              <a:buNone/>
            </a:pPr>
            <a:r>
              <a:rPr lang="en-US" sz="1400" dirty="0">
                <a:solidFill>
                  <a:schemeClr val="tx1"/>
                </a:solidFill>
              </a:rPr>
              <a:t>Personal chats end-to-end encrypted by default since Dec 2023</a:t>
            </a:r>
            <a:endParaRPr lang="en-US" sz="1600" dirty="0"/>
          </a:p>
        </p:txBody>
      </p:sp>
      <p:sp>
        <p:nvSpPr>
          <p:cNvPr id="14" name="score panel"/>
          <p:cNvSpPr/>
          <p:nvPr/>
        </p:nvSpPr>
        <p:spPr>
          <a:xfrm>
            <a:off x="6355080" y="1325880"/>
            <a:ext cx="5287975" cy="2331720"/>
          </a:xfrm>
          <a:prstGeom prst="roundRect">
            <a:avLst>
              <a:gd name="adj" fmla="val 3922"/>
            </a:avLst>
          </a:prstGeom>
          <a:solidFill>
            <a:schemeClr val="bg2"/>
          </a:solidFill>
          <a:ln/>
        </p:spPr>
      </p:sp>
      <p:sp>
        <p:nvSpPr>
          <p:cNvPr id="15" name="Text 8"/>
          <p:cNvSpPr txBox="1"/>
          <p:nvPr/>
        </p:nvSpPr>
        <p:spPr>
          <a:xfrm>
            <a:off x="6629400" y="1508760"/>
            <a:ext cx="1554480" cy="274320"/>
          </a:xfrm>
          <a:prstGeom prst="rect">
            <a:avLst/>
          </a:prstGeom>
          <a:noFill/>
          <a:ln/>
        </p:spPr>
        <p:txBody>
          <a:bodyPr wrap="square" lIns="0" tIns="0" rIns="0" bIns="0" rtlCol="0" anchor="ctr"/>
          <a:lstStyle/>
          <a:p>
            <a:pPr indent="0" marL="0">
              <a:buNone/>
            </a:pPr>
            <a:r>
              <a:rPr lang="en-US" sz="1100" b="1" spc="200" kern="0" dirty="0">
                <a:solidFill>
                  <a:srgbClr val="4B5563"/>
                </a:solidFill>
              </a:rPr>
              <a:t>SECURITY SCORE</a:t>
            </a:r>
            <a:endParaRPr lang="en-US" sz="1100" dirty="0"/>
          </a:p>
        </p:txBody>
      </p:sp>
      <p:sp>
        <p:nvSpPr>
          <p:cNvPr id="16" name="score total"/>
          <p:cNvSpPr txBox="1"/>
          <p:nvPr/>
        </p:nvSpPr>
        <p:spPr>
          <a:xfrm>
            <a:off x="6629400" y="1828800"/>
            <a:ext cx="164592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16</a:t>
            </a:r>
            <a:pPr indent="0" marL="0">
              <a:buNone/>
            </a:pPr>
            <a:r>
              <a:rPr lang="en-US" sz="2000" dirty="0">
                <a:solidFill>
                  <a:srgbClr val="4B5563"/>
                </a:solidFill>
                <a:latin typeface="Cambria" pitchFamily="34" charset="0"/>
                <a:ea typeface="Cambria" pitchFamily="34" charset="-122"/>
                <a:cs typeface="Cambria" pitchFamily="34" charset="-120"/>
              </a:rPr>
              <a:t> /25</a:t>
            </a:r>
            <a:endParaRPr lang="en-US" sz="5400" dirty="0"/>
          </a:p>
        </p:txBody>
      </p:sp>
      <p:sp>
        <p:nvSpPr>
          <p:cNvPr id="17" name="Text 10"/>
          <p:cNvSpPr txBox="1"/>
          <p:nvPr/>
        </p:nvSpPr>
        <p:spPr>
          <a:xfrm>
            <a:off x="6629400" y="2834640"/>
            <a:ext cx="146304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300" b="1" dirty="0">
                <a:solidFill>
                  <a:schemeClr val="bg1"/>
                </a:solidFill>
              </a:rPr>
              <a:t>Joint 3rd</a:t>
            </a:r>
            <a:endParaRPr lang="en-US" sz="1300" dirty="0"/>
          </a:p>
        </p:txBody>
      </p:sp>
      <p:graphicFrame>
        <p:nvGraphicFramePr>
          <p:cNvPr id="18" name="Facebook score chart" descr=""/>
          <p:cNvGraphicFramePr/>
          <p:nvPr/>
        </p:nvGraphicFramePr>
        <p:xfrm>
          <a:off x="8275320" y="1417320"/>
          <a:ext cx="3230575" cy="2148840"/>
        </p:xfrm>
        <a:graphic xmlns:a="http://schemas.openxmlformats.org/drawingml/2006/main">
          <a:graphicData uri="http://schemas.openxmlformats.org/drawingml/2006/chart">
            <c:chart xmlns:c="http://schemas.openxmlformats.org/drawingml/2006/chart" r:id="rId6"/>
          </a:graphicData>
        </a:graphic>
      </p:graphicFrame>
      <p:sp>
        <p:nvSpPr>
          <p:cNvPr id="19" name="Key gap card"/>
          <p:cNvSpPr/>
          <p:nvPr/>
        </p:nvSpPr>
        <p:spPr>
          <a:xfrm>
            <a:off x="6355080" y="3886200"/>
            <a:ext cx="2506828" cy="2148840"/>
          </a:xfrm>
          <a:prstGeom prst="roundRect">
            <a:avLst>
              <a:gd name="adj" fmla="val 4255"/>
            </a:avLst>
          </a:prstGeom>
          <a:solidFill>
            <a:schemeClr val="accent4">
              <a:alpha val="10000"/>
            </a:schemeClr>
          </a:solidFill>
          <a:ln w="12700">
            <a:solidFill>
              <a:schemeClr val="accent4"/>
            </a:solidFill>
            <a:prstDash val="solid"/>
          </a:ln>
        </p:spPr>
      </p:sp>
      <p:sp>
        <p:nvSpPr>
          <p:cNvPr id="20" name="Key gap circle"/>
          <p:cNvSpPr/>
          <p:nvPr/>
        </p:nvSpPr>
        <p:spPr>
          <a:xfrm>
            <a:off x="6537960" y="4069080"/>
            <a:ext cx="411480" cy="411480"/>
          </a:xfrm>
          <a:prstGeom prst="ellipse">
            <a:avLst/>
          </a:prstGeom>
          <a:solidFill>
            <a:schemeClr val="accent4"/>
          </a:solidFill>
          <a:ln/>
        </p:spPr>
      </p:sp>
      <p:pic>
        <p:nvPicPr>
          <p:cNvPr id="21" name="Key gap icon" descr="Key gap">    </p:cNvPr>
          <p:cNvPicPr>
            <a:picLocks noChangeAspect="1"/>
          </p:cNvPicPr>
          <p:nvPr/>
        </p:nvPicPr>
        <p:blipFill>
          <a:blip r:embed="rId7"/>
          <a:stretch>
            <a:fillRect/>
          </a:stretch>
        </p:blipFill>
        <p:spPr>
          <a:xfrm>
            <a:off x="6640830" y="4171950"/>
            <a:ext cx="205740" cy="205740"/>
          </a:xfrm>
          <a:prstGeom prst="rect">
            <a:avLst/>
          </a:prstGeom>
        </p:spPr>
      </p:pic>
      <p:sp>
        <p:nvSpPr>
          <p:cNvPr id="22" name="Text 13"/>
          <p:cNvSpPr txBox="1"/>
          <p:nvPr/>
        </p:nvSpPr>
        <p:spPr>
          <a:xfrm>
            <a:off x="7040880" y="4069080"/>
            <a:ext cx="1683868" cy="411480"/>
          </a:xfrm>
          <a:prstGeom prst="rect">
            <a:avLst/>
          </a:prstGeom>
          <a:noFill/>
          <a:ln/>
        </p:spPr>
        <p:txBody>
          <a:bodyPr wrap="square" lIns="0" tIns="0" rIns="0" bIns="0" rtlCol="0" anchor="ctr"/>
          <a:lstStyle/>
          <a:p>
            <a:pPr indent="0" marL="0">
              <a:buNone/>
            </a:pPr>
            <a:r>
              <a:rPr lang="en-US" sz="1500" b="1" dirty="0">
                <a:solidFill>
                  <a:schemeClr val="accent4"/>
                </a:solidFill>
              </a:rPr>
              <a:t>Key gap</a:t>
            </a:r>
            <a:endParaRPr lang="en-US" sz="1500" dirty="0"/>
          </a:p>
        </p:txBody>
      </p:sp>
      <p:sp>
        <p:nvSpPr>
          <p:cNvPr id="23" name="Text 14"/>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Hackers can change the recovery email and phone number within minutes, and recovery is slow and largely automated.</a:t>
            </a:r>
            <a:endParaRPr lang="en-US" sz="1400" dirty="0"/>
          </a:p>
        </p:txBody>
      </p:sp>
      <p:sp>
        <p:nvSpPr>
          <p:cNvPr id="24" name="Recommended addition card"/>
          <p:cNvSpPr/>
          <p:nvPr/>
        </p:nvSpPr>
        <p:spPr>
          <a:xfrm>
            <a:off x="9136228" y="3886200"/>
            <a:ext cx="2506828" cy="2148840"/>
          </a:xfrm>
          <a:prstGeom prst="roundRect">
            <a:avLst>
              <a:gd name="adj" fmla="val 4255"/>
            </a:avLst>
          </a:prstGeom>
          <a:solidFill>
            <a:schemeClr val="accent1">
              <a:alpha val="10000"/>
            </a:schemeClr>
          </a:solidFill>
          <a:ln w="12700">
            <a:solidFill>
              <a:schemeClr val="accent1"/>
            </a:solidFill>
            <a:prstDash val="solid"/>
          </a:ln>
        </p:spPr>
      </p:sp>
      <p:sp>
        <p:nvSpPr>
          <p:cNvPr id="25" name="Recommended addition circle"/>
          <p:cNvSpPr/>
          <p:nvPr/>
        </p:nvSpPr>
        <p:spPr>
          <a:xfrm>
            <a:off x="9319108" y="4069080"/>
            <a:ext cx="411480" cy="411480"/>
          </a:xfrm>
          <a:prstGeom prst="ellipse">
            <a:avLst/>
          </a:prstGeom>
          <a:solidFill>
            <a:schemeClr val="accent1"/>
          </a:solidFill>
          <a:ln/>
        </p:spPr>
      </p:sp>
      <p:pic>
        <p:nvPicPr>
          <p:cNvPr id="26" name="Recommended addition icon" descr="Recommended addition">    </p:cNvPr>
          <p:cNvPicPr>
            <a:picLocks noChangeAspect="1"/>
          </p:cNvPicPr>
          <p:nvPr/>
        </p:nvPicPr>
        <p:blipFill>
          <a:blip r:embed="rId8"/>
          <a:stretch>
            <a:fillRect/>
          </a:stretch>
        </p:blipFill>
        <p:spPr>
          <a:xfrm>
            <a:off x="9421978" y="4171950"/>
            <a:ext cx="205740" cy="205740"/>
          </a:xfrm>
          <a:prstGeom prst="rect">
            <a:avLst/>
          </a:prstGeom>
        </p:spPr>
      </p:pic>
      <p:sp>
        <p:nvSpPr>
          <p:cNvPr id="27" name="Text 17"/>
          <p:cNvSpPr txBox="1"/>
          <p:nvPr/>
        </p:nvSpPr>
        <p:spPr>
          <a:xfrm>
            <a:off x="9822028" y="4069080"/>
            <a:ext cx="1683868" cy="411480"/>
          </a:xfrm>
          <a:prstGeom prst="rect">
            <a:avLst/>
          </a:prstGeom>
          <a:noFill/>
          <a:ln/>
        </p:spPr>
        <p:txBody>
          <a:bodyPr wrap="square" lIns="0" tIns="0" rIns="0" bIns="0" rtlCol="0" anchor="ctr"/>
          <a:lstStyle/>
          <a:p>
            <a:pPr indent="0" marL="0">
              <a:buNone/>
            </a:pPr>
            <a:r>
              <a:rPr lang="en-US" sz="1500" b="1" dirty="0">
                <a:solidFill>
                  <a:schemeClr val="accent1"/>
                </a:solidFill>
              </a:rPr>
              <a:t>Recommended addition</a:t>
            </a:r>
            <a:endParaRPr lang="en-US" sz="1500" dirty="0"/>
          </a:p>
        </p:txBody>
      </p:sp>
      <p:sp>
        <p:nvSpPr>
          <p:cNvPr id="28" name="Text 18"/>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A 48-hour cool-down on recovery changes, with alerts to old contacts, plus Bangla-language human support.</a:t>
            </a:r>
            <a:endParaRPr lang="en-US" sz="1400" dirty="0"/>
          </a:p>
        </p:txBody>
      </p:sp>
      <p:sp>
        <p:nvSpPr>
          <p:cNvPr id="29" name="Text 19"/>
          <p:cNvSpPr txBox="1"/>
          <p:nvPr/>
        </p:nvSpPr>
        <p:spPr>
          <a:xfrm>
            <a:off x="548640" y="6080760"/>
            <a:ext cx="5486400" cy="228600"/>
          </a:xfrm>
          <a:prstGeom prst="rect">
            <a:avLst/>
          </a:prstGeom>
          <a:noFill/>
          <a:ln/>
        </p:spPr>
        <p:txBody>
          <a:bodyPr wrap="square" lIns="0" tIns="0" rIns="0" bIns="0" rtlCol="0" anchor="ctr"/>
          <a:lstStyle/>
          <a:p>
            <a:pPr indent="0" marL="0">
              <a:buNone/>
            </a:pPr>
            <a:r>
              <a:rPr lang="en-US" sz="1000" i="1" dirty="0">
                <a:solidFill>
                  <a:srgbClr val="6B7280"/>
                </a:solidFill>
              </a:rPr>
              <a:t>Sources: Meta (2025); Crisan (2023).</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Instagram: useful anti-phishing tools, but DMs are not encrypted</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2 OF 5  |  EXISTING SECURITY FEATURES</a:t>
            </a:r>
            <a:endParaRPr lang="en-US" sz="1200" dirty="0"/>
          </a:p>
        </p:txBody>
      </p:sp>
      <p:pic>
        <p:nvPicPr>
          <p:cNvPr id="4" name="feature 1 check" descr="Available">    </p:cNvPr>
          <p:cNvPicPr>
            <a:picLocks noChangeAspect="1"/>
          </p:cNvPicPr>
          <p:nvPr/>
        </p:nvPicPr>
        <p:blipFill>
          <a:blip r:embed="rId1"/>
          <a:stretch>
            <a:fillRect/>
          </a:stretch>
        </p:blipFill>
        <p:spPr>
          <a:xfrm>
            <a:off x="548640" y="1819656"/>
            <a:ext cx="292608" cy="292608"/>
          </a:xfrm>
          <a:prstGeom prst="rect">
            <a:avLst/>
          </a:prstGeom>
        </p:spPr>
      </p:pic>
      <p:sp>
        <p:nvSpPr>
          <p:cNvPr id="5" name="feature 1"/>
          <p:cNvSpPr txBox="1"/>
          <p:nvPr/>
        </p:nvSpPr>
        <p:spPr>
          <a:xfrm>
            <a:off x="1005840" y="1783080"/>
            <a:ext cx="5029200" cy="932688"/>
          </a:xfrm>
          <a:prstGeom prst="rect">
            <a:avLst/>
          </a:prstGeom>
          <a:noFill/>
          <a:ln/>
        </p:spPr>
        <p:txBody>
          <a:bodyPr wrap="square" lIns="0" tIns="0" rIns="0" bIns="0" rtlCol="0" anchor="t"/>
          <a:lstStyle/>
          <a:p>
            <a:pPr indent="0" marL="0">
              <a:buNone/>
            </a:pPr>
            <a:r>
              <a:rPr lang="en-US" sz="1600" b="1" dirty="0">
                <a:solidFill>
                  <a:schemeClr val="tx2"/>
                </a:solidFill>
              </a:rPr>
              <a:t>Meta Accounts Center security</a:t>
            </a:r>
            <a:endParaRPr lang="en-US" sz="1600" dirty="0"/>
          </a:p>
          <a:p>
            <a:pPr indent="0" marL="0">
              <a:buNone/>
            </a:pPr>
            <a:r>
              <a:rPr lang="en-US" sz="1400" dirty="0">
                <a:solidFill>
                  <a:schemeClr val="tx1"/>
                </a:solidFill>
              </a:rPr>
              <a:t>Same 2FA, login alerts and login activity as Facebook</a:t>
            </a:r>
            <a:endParaRPr lang="en-US" sz="1600" dirty="0"/>
          </a:p>
        </p:txBody>
      </p:sp>
      <p:pic>
        <p:nvPicPr>
          <p:cNvPr id="6" name="feature 2 check" descr="Available">    </p:cNvPr>
          <p:cNvPicPr>
            <a:picLocks noChangeAspect="1"/>
          </p:cNvPicPr>
          <p:nvPr/>
        </p:nvPicPr>
        <p:blipFill>
          <a:blip r:embed="rId2"/>
          <a:stretch>
            <a:fillRect/>
          </a:stretch>
        </p:blipFill>
        <p:spPr>
          <a:xfrm>
            <a:off x="548640" y="2843784"/>
            <a:ext cx="292608" cy="292608"/>
          </a:xfrm>
          <a:prstGeom prst="rect">
            <a:avLst/>
          </a:prstGeom>
        </p:spPr>
      </p:pic>
      <p:sp>
        <p:nvSpPr>
          <p:cNvPr id="7" name="feature 2"/>
          <p:cNvSpPr txBox="1"/>
          <p:nvPr/>
        </p:nvSpPr>
        <p:spPr>
          <a:xfrm>
            <a:off x="1005840" y="2807208"/>
            <a:ext cx="5029200" cy="932688"/>
          </a:xfrm>
          <a:prstGeom prst="rect">
            <a:avLst/>
          </a:prstGeom>
          <a:noFill/>
          <a:ln/>
        </p:spPr>
        <p:txBody>
          <a:bodyPr wrap="square" lIns="0" tIns="0" rIns="0" bIns="0" rtlCol="0" anchor="t"/>
          <a:lstStyle/>
          <a:p>
            <a:pPr indent="0" marL="0">
              <a:buNone/>
            </a:pPr>
            <a:r>
              <a:rPr lang="en-US" sz="1600" b="1" dirty="0">
                <a:solidFill>
                  <a:schemeClr val="tx2"/>
                </a:solidFill>
              </a:rPr>
              <a:t>“Emails from Instagram”</a:t>
            </a:r>
            <a:endParaRPr lang="en-US" sz="1600" dirty="0"/>
          </a:p>
          <a:p>
            <a:pPr indent="0" marL="0">
              <a:buNone/>
            </a:pPr>
            <a:r>
              <a:rPr lang="en-US" sz="1400" dirty="0">
                <a:solidFill>
                  <a:schemeClr val="tx1"/>
                </a:solidFill>
              </a:rPr>
              <a:t>Lists genuine security emails from the last 14 days</a:t>
            </a:r>
            <a:endParaRPr lang="en-US" sz="1600" dirty="0"/>
          </a:p>
        </p:txBody>
      </p:sp>
      <p:pic>
        <p:nvPicPr>
          <p:cNvPr id="8" name="feature 3 check" descr="Available">    </p:cNvPr>
          <p:cNvPicPr>
            <a:picLocks noChangeAspect="1"/>
          </p:cNvPicPr>
          <p:nvPr/>
        </p:nvPicPr>
        <p:blipFill>
          <a:blip r:embed="rId3"/>
          <a:stretch>
            <a:fillRect/>
          </a:stretch>
        </p:blipFill>
        <p:spPr>
          <a:xfrm>
            <a:off x="548640" y="3867912"/>
            <a:ext cx="292608" cy="292608"/>
          </a:xfrm>
          <a:prstGeom prst="rect">
            <a:avLst/>
          </a:prstGeom>
        </p:spPr>
      </p:pic>
      <p:sp>
        <p:nvSpPr>
          <p:cNvPr id="9" name="feature 3"/>
          <p:cNvSpPr txBox="1"/>
          <p:nvPr/>
        </p:nvSpPr>
        <p:spPr>
          <a:xfrm>
            <a:off x="1005840" y="3831336"/>
            <a:ext cx="5029200" cy="932688"/>
          </a:xfrm>
          <a:prstGeom prst="rect">
            <a:avLst/>
          </a:prstGeom>
          <a:noFill/>
          <a:ln/>
        </p:spPr>
        <p:txBody>
          <a:bodyPr wrap="square" lIns="0" tIns="0" rIns="0" bIns="0" rtlCol="0" anchor="t"/>
          <a:lstStyle/>
          <a:p>
            <a:pPr indent="0" marL="0">
              <a:buNone/>
            </a:pPr>
            <a:r>
              <a:rPr lang="en-US" sz="1600" b="1" dirty="0">
                <a:solidFill>
                  <a:schemeClr val="tx2"/>
                </a:solidFill>
              </a:rPr>
              <a:t>Restrict and Hidden Words</a:t>
            </a:r>
            <a:endParaRPr lang="en-US" sz="1600" dirty="0"/>
          </a:p>
          <a:p>
            <a:pPr indent="0" marL="0">
              <a:buNone/>
            </a:pPr>
            <a:r>
              <a:rPr lang="en-US" sz="1400" dirty="0">
                <a:solidFill>
                  <a:schemeClr val="tx1"/>
                </a:solidFill>
              </a:rPr>
              <a:t>Filters abusive comments and message requests</a:t>
            </a:r>
            <a:endParaRPr lang="en-US" sz="1600" dirty="0"/>
          </a:p>
        </p:txBody>
      </p:sp>
      <p:pic>
        <p:nvPicPr>
          <p:cNvPr id="10" name="feature 4 check" descr="Available">    </p:cNvPr>
          <p:cNvPicPr>
            <a:picLocks noChangeAspect="1"/>
          </p:cNvPicPr>
          <p:nvPr/>
        </p:nvPicPr>
        <p:blipFill>
          <a:blip r:embed="rId4"/>
          <a:stretch>
            <a:fillRect/>
          </a:stretch>
        </p:blipFill>
        <p:spPr>
          <a:xfrm>
            <a:off x="548640" y="4892040"/>
            <a:ext cx="292608" cy="292608"/>
          </a:xfrm>
          <a:prstGeom prst="rect">
            <a:avLst/>
          </a:prstGeom>
        </p:spPr>
      </p:pic>
      <p:sp>
        <p:nvSpPr>
          <p:cNvPr id="11" name="feature 4"/>
          <p:cNvSpPr txBox="1"/>
          <p:nvPr/>
        </p:nvSpPr>
        <p:spPr>
          <a:xfrm>
            <a:off x="1005840" y="4855464"/>
            <a:ext cx="5029200" cy="932688"/>
          </a:xfrm>
          <a:prstGeom prst="rect">
            <a:avLst/>
          </a:prstGeom>
          <a:noFill/>
          <a:ln/>
        </p:spPr>
        <p:txBody>
          <a:bodyPr wrap="square" lIns="0" tIns="0" rIns="0" bIns="0" rtlCol="0" anchor="t"/>
          <a:lstStyle/>
          <a:p>
            <a:pPr indent="0" marL="0">
              <a:buNone/>
            </a:pPr>
            <a:r>
              <a:rPr lang="en-US" sz="1600" b="1" dirty="0">
                <a:solidFill>
                  <a:schemeClr val="tx2"/>
                </a:solidFill>
              </a:rPr>
              <a:t>Teen Accounts</a:t>
            </a:r>
            <a:endParaRPr lang="en-US" sz="1600" dirty="0"/>
          </a:p>
          <a:p>
            <a:pPr indent="0" marL="0">
              <a:buNone/>
            </a:pPr>
            <a:r>
              <a:rPr lang="en-US" sz="1400" dirty="0">
                <a:solidFill>
                  <a:schemeClr val="tx1"/>
                </a:solidFill>
              </a:rPr>
              <a:t>Private by default for users under 18</a:t>
            </a:r>
            <a:endParaRPr lang="en-US" sz="1600" dirty="0"/>
          </a:p>
        </p:txBody>
      </p:sp>
      <p:sp>
        <p:nvSpPr>
          <p:cNvPr id="12" name="score panel"/>
          <p:cNvSpPr/>
          <p:nvPr/>
        </p:nvSpPr>
        <p:spPr>
          <a:xfrm>
            <a:off x="6355080" y="1325880"/>
            <a:ext cx="5287975" cy="2331720"/>
          </a:xfrm>
          <a:prstGeom prst="roundRect">
            <a:avLst>
              <a:gd name="adj" fmla="val 3922"/>
            </a:avLst>
          </a:prstGeom>
          <a:solidFill>
            <a:schemeClr val="bg2"/>
          </a:solidFill>
          <a:ln/>
        </p:spPr>
      </p:sp>
      <p:sp>
        <p:nvSpPr>
          <p:cNvPr id="13" name="Text 7"/>
          <p:cNvSpPr txBox="1"/>
          <p:nvPr/>
        </p:nvSpPr>
        <p:spPr>
          <a:xfrm>
            <a:off x="6629400" y="1508760"/>
            <a:ext cx="1554480" cy="274320"/>
          </a:xfrm>
          <a:prstGeom prst="rect">
            <a:avLst/>
          </a:prstGeom>
          <a:noFill/>
          <a:ln/>
        </p:spPr>
        <p:txBody>
          <a:bodyPr wrap="square" lIns="0" tIns="0" rIns="0" bIns="0" rtlCol="0" anchor="ctr"/>
          <a:lstStyle/>
          <a:p>
            <a:pPr indent="0" marL="0">
              <a:buNone/>
            </a:pPr>
            <a:r>
              <a:rPr lang="en-US" sz="1100" b="1" spc="200" kern="0" dirty="0">
                <a:solidFill>
                  <a:srgbClr val="4B5563"/>
                </a:solidFill>
              </a:rPr>
              <a:t>SECURITY SCORE</a:t>
            </a:r>
            <a:endParaRPr lang="en-US" sz="1100" dirty="0"/>
          </a:p>
        </p:txBody>
      </p:sp>
      <p:sp>
        <p:nvSpPr>
          <p:cNvPr id="14" name="score total"/>
          <p:cNvSpPr txBox="1"/>
          <p:nvPr/>
        </p:nvSpPr>
        <p:spPr>
          <a:xfrm>
            <a:off x="6629400" y="1828800"/>
            <a:ext cx="164592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16</a:t>
            </a:r>
            <a:pPr indent="0" marL="0">
              <a:buNone/>
            </a:pPr>
            <a:r>
              <a:rPr lang="en-US" sz="2000" dirty="0">
                <a:solidFill>
                  <a:srgbClr val="4B5563"/>
                </a:solidFill>
                <a:latin typeface="Cambria" pitchFamily="34" charset="0"/>
                <a:ea typeface="Cambria" pitchFamily="34" charset="-122"/>
                <a:cs typeface="Cambria" pitchFamily="34" charset="-120"/>
              </a:rPr>
              <a:t> /25</a:t>
            </a:r>
            <a:endParaRPr lang="en-US" sz="5400" dirty="0"/>
          </a:p>
        </p:txBody>
      </p:sp>
      <p:sp>
        <p:nvSpPr>
          <p:cNvPr id="15" name="Text 9"/>
          <p:cNvSpPr txBox="1"/>
          <p:nvPr/>
        </p:nvSpPr>
        <p:spPr>
          <a:xfrm>
            <a:off x="6629400" y="2834640"/>
            <a:ext cx="146304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300" b="1" dirty="0">
                <a:solidFill>
                  <a:schemeClr val="bg1"/>
                </a:solidFill>
              </a:rPr>
              <a:t>Joint 3rd</a:t>
            </a:r>
            <a:endParaRPr lang="en-US" sz="1300" dirty="0"/>
          </a:p>
        </p:txBody>
      </p:sp>
      <p:graphicFrame>
        <p:nvGraphicFramePr>
          <p:cNvPr id="16" name="Instagram score chart" descr=""/>
          <p:cNvGraphicFramePr/>
          <p:nvPr/>
        </p:nvGraphicFramePr>
        <p:xfrm>
          <a:off x="8275320" y="1417320"/>
          <a:ext cx="3230575" cy="2148840"/>
        </p:xfrm>
        <a:graphic xmlns:a="http://schemas.openxmlformats.org/drawingml/2006/main">
          <a:graphicData uri="http://schemas.openxmlformats.org/drawingml/2006/chart">
            <c:chart xmlns:c="http://schemas.openxmlformats.org/drawingml/2006/chart" r:id="rId5"/>
          </a:graphicData>
        </a:graphic>
      </p:graphicFrame>
      <p:sp>
        <p:nvSpPr>
          <p:cNvPr id="17" name="Key gap card"/>
          <p:cNvSpPr/>
          <p:nvPr/>
        </p:nvSpPr>
        <p:spPr>
          <a:xfrm>
            <a:off x="6355080" y="3886200"/>
            <a:ext cx="2506828" cy="2148840"/>
          </a:xfrm>
          <a:prstGeom prst="roundRect">
            <a:avLst>
              <a:gd name="adj" fmla="val 4255"/>
            </a:avLst>
          </a:prstGeom>
          <a:solidFill>
            <a:schemeClr val="accent4">
              <a:alpha val="10000"/>
            </a:schemeClr>
          </a:solidFill>
          <a:ln w="12700">
            <a:solidFill>
              <a:schemeClr val="accent4"/>
            </a:solidFill>
            <a:prstDash val="solid"/>
          </a:ln>
        </p:spPr>
      </p:sp>
      <p:sp>
        <p:nvSpPr>
          <p:cNvPr id="18" name="Key gap circle"/>
          <p:cNvSpPr/>
          <p:nvPr/>
        </p:nvSpPr>
        <p:spPr>
          <a:xfrm>
            <a:off x="6537960" y="4069080"/>
            <a:ext cx="411480" cy="411480"/>
          </a:xfrm>
          <a:prstGeom prst="ellipse">
            <a:avLst/>
          </a:prstGeom>
          <a:solidFill>
            <a:schemeClr val="accent4"/>
          </a:solidFill>
          <a:ln/>
        </p:spPr>
      </p:sp>
      <p:pic>
        <p:nvPicPr>
          <p:cNvPr id="19" name="Key gap icon" descr="Key gap">    </p:cNvPr>
          <p:cNvPicPr>
            <a:picLocks noChangeAspect="1"/>
          </p:cNvPicPr>
          <p:nvPr/>
        </p:nvPicPr>
        <p:blipFill>
          <a:blip r:embed="rId6"/>
          <a:stretch>
            <a:fillRect/>
          </a:stretch>
        </p:blipFill>
        <p:spPr>
          <a:xfrm>
            <a:off x="6640830" y="4171950"/>
            <a:ext cx="205740" cy="205740"/>
          </a:xfrm>
          <a:prstGeom prst="rect">
            <a:avLst/>
          </a:prstGeom>
        </p:spPr>
      </p:pic>
      <p:sp>
        <p:nvSpPr>
          <p:cNvPr id="20" name="Text 12"/>
          <p:cNvSpPr txBox="1"/>
          <p:nvPr/>
        </p:nvSpPr>
        <p:spPr>
          <a:xfrm>
            <a:off x="7040880" y="4069080"/>
            <a:ext cx="1683868" cy="411480"/>
          </a:xfrm>
          <a:prstGeom prst="rect">
            <a:avLst/>
          </a:prstGeom>
          <a:noFill/>
          <a:ln/>
        </p:spPr>
        <p:txBody>
          <a:bodyPr wrap="square" lIns="0" tIns="0" rIns="0" bIns="0" rtlCol="0" anchor="ctr"/>
          <a:lstStyle/>
          <a:p>
            <a:pPr indent="0" marL="0">
              <a:buNone/>
            </a:pPr>
            <a:r>
              <a:rPr lang="en-US" sz="1500" b="1" dirty="0">
                <a:solidFill>
                  <a:schemeClr val="accent4"/>
                </a:solidFill>
              </a:rPr>
              <a:t>Key gap</a:t>
            </a:r>
            <a:endParaRPr lang="en-US" sz="1500" dirty="0"/>
          </a:p>
        </p:txBody>
      </p:sp>
      <p:sp>
        <p:nvSpPr>
          <p:cNvPr id="21" name="Text 13"/>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DMs were never encrypted by default, and Meta removed the optional encrypted chats on 8 May 2026.</a:t>
            </a:r>
            <a:endParaRPr lang="en-US" sz="1400" dirty="0"/>
          </a:p>
        </p:txBody>
      </p:sp>
      <p:sp>
        <p:nvSpPr>
          <p:cNvPr id="22" name="Recommended addition card"/>
          <p:cNvSpPr/>
          <p:nvPr/>
        </p:nvSpPr>
        <p:spPr>
          <a:xfrm>
            <a:off x="9136228" y="3886200"/>
            <a:ext cx="2506828" cy="2148840"/>
          </a:xfrm>
          <a:prstGeom prst="roundRect">
            <a:avLst>
              <a:gd name="adj" fmla="val 4255"/>
            </a:avLst>
          </a:prstGeom>
          <a:solidFill>
            <a:schemeClr val="accent1">
              <a:alpha val="10000"/>
            </a:schemeClr>
          </a:solidFill>
          <a:ln w="12700">
            <a:solidFill>
              <a:schemeClr val="accent1"/>
            </a:solidFill>
            <a:prstDash val="solid"/>
          </a:ln>
        </p:spPr>
      </p:sp>
      <p:sp>
        <p:nvSpPr>
          <p:cNvPr id="23" name="Recommended addition circle"/>
          <p:cNvSpPr/>
          <p:nvPr/>
        </p:nvSpPr>
        <p:spPr>
          <a:xfrm>
            <a:off x="9319108" y="4069080"/>
            <a:ext cx="411480" cy="411480"/>
          </a:xfrm>
          <a:prstGeom prst="ellipse">
            <a:avLst/>
          </a:prstGeom>
          <a:solidFill>
            <a:schemeClr val="accent1"/>
          </a:solidFill>
          <a:ln/>
        </p:spPr>
      </p:sp>
      <p:pic>
        <p:nvPicPr>
          <p:cNvPr id="24" name="Recommended addition icon" descr="Recommended addition">    </p:cNvPr>
          <p:cNvPicPr>
            <a:picLocks noChangeAspect="1"/>
          </p:cNvPicPr>
          <p:nvPr/>
        </p:nvPicPr>
        <p:blipFill>
          <a:blip r:embed="rId7"/>
          <a:stretch>
            <a:fillRect/>
          </a:stretch>
        </p:blipFill>
        <p:spPr>
          <a:xfrm>
            <a:off x="9421978" y="4171950"/>
            <a:ext cx="205740" cy="205740"/>
          </a:xfrm>
          <a:prstGeom prst="rect">
            <a:avLst/>
          </a:prstGeom>
        </p:spPr>
      </p:pic>
      <p:sp>
        <p:nvSpPr>
          <p:cNvPr id="25" name="Text 16"/>
          <p:cNvSpPr txBox="1"/>
          <p:nvPr/>
        </p:nvSpPr>
        <p:spPr>
          <a:xfrm>
            <a:off x="9822028" y="4069080"/>
            <a:ext cx="1683868" cy="411480"/>
          </a:xfrm>
          <a:prstGeom prst="rect">
            <a:avLst/>
          </a:prstGeom>
          <a:noFill/>
          <a:ln/>
        </p:spPr>
        <p:txBody>
          <a:bodyPr wrap="square" lIns="0" tIns="0" rIns="0" bIns="0" rtlCol="0" anchor="ctr"/>
          <a:lstStyle/>
          <a:p>
            <a:pPr indent="0" marL="0">
              <a:buNone/>
            </a:pPr>
            <a:r>
              <a:rPr lang="en-US" sz="1500" b="1" dirty="0">
                <a:solidFill>
                  <a:schemeClr val="accent1"/>
                </a:solidFill>
              </a:rPr>
              <a:t>Recommended addition</a:t>
            </a:r>
            <a:endParaRPr lang="en-US" sz="1500" dirty="0"/>
          </a:p>
        </p:txBody>
      </p:sp>
      <p:sp>
        <p:nvSpPr>
          <p:cNvPr id="26" name="Text 17"/>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Restore end-to-end encrypted DMs as the default, and blur unsolicited explicit images for all users.</a:t>
            </a:r>
            <a:endParaRPr lang="en-US" sz="1400" dirty="0"/>
          </a:p>
        </p:txBody>
      </p:sp>
      <p:sp>
        <p:nvSpPr>
          <p:cNvPr id="27" name="Text 18"/>
          <p:cNvSpPr txBox="1"/>
          <p:nvPr/>
        </p:nvSpPr>
        <p:spPr>
          <a:xfrm>
            <a:off x="548640" y="6080760"/>
            <a:ext cx="5486400" cy="228600"/>
          </a:xfrm>
          <a:prstGeom prst="rect">
            <a:avLst/>
          </a:prstGeom>
          <a:noFill/>
          <a:ln/>
        </p:spPr>
        <p:txBody>
          <a:bodyPr wrap="square" lIns="0" tIns="0" rIns="0" bIns="0" rtlCol="0" anchor="ctr"/>
          <a:lstStyle/>
          <a:p>
            <a:pPr indent="0" marL="0">
              <a:buNone/>
            </a:pPr>
            <a:r>
              <a:rPr lang="en-US" sz="1000" i="1" dirty="0">
                <a:solidFill>
                  <a:srgbClr val="6B7280"/>
                </a:solidFill>
              </a:rPr>
              <a:t>Source: Euronews (2026).</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WhatsApp: encrypted by default, but exposed to code-sharing scams</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3 OF 5  |  EXISTING SECURITY FEATURES</a:t>
            </a:r>
            <a:endParaRPr lang="en-US" sz="1200" dirty="0"/>
          </a:p>
        </p:txBody>
      </p:sp>
      <p:pic>
        <p:nvPicPr>
          <p:cNvPr id="4" name="feature 1 check" descr="Available">    </p:cNvPr>
          <p:cNvPicPr>
            <a:picLocks noChangeAspect="1"/>
          </p:cNvPicPr>
          <p:nvPr/>
        </p:nvPicPr>
        <p:blipFill>
          <a:blip r:embed="rId1"/>
          <a:stretch>
            <a:fillRect/>
          </a:stretch>
        </p:blipFill>
        <p:spPr>
          <a:xfrm>
            <a:off x="548640" y="1819656"/>
            <a:ext cx="292608" cy="292608"/>
          </a:xfrm>
          <a:prstGeom prst="rect">
            <a:avLst/>
          </a:prstGeom>
        </p:spPr>
      </p:pic>
      <p:sp>
        <p:nvSpPr>
          <p:cNvPr id="5" name="feature 1"/>
          <p:cNvSpPr txBox="1"/>
          <p:nvPr/>
        </p:nvSpPr>
        <p:spPr>
          <a:xfrm>
            <a:off x="1005840" y="1783080"/>
            <a:ext cx="5029200" cy="749808"/>
          </a:xfrm>
          <a:prstGeom prst="rect">
            <a:avLst/>
          </a:prstGeom>
          <a:noFill/>
          <a:ln/>
        </p:spPr>
        <p:txBody>
          <a:bodyPr wrap="square" lIns="0" tIns="0" rIns="0" bIns="0" rtlCol="0" anchor="t"/>
          <a:lstStyle/>
          <a:p>
            <a:pPr indent="0" marL="0">
              <a:buNone/>
            </a:pPr>
            <a:r>
              <a:rPr lang="en-US" sz="1600" b="1" dirty="0">
                <a:solidFill>
                  <a:schemeClr val="tx2"/>
                </a:solidFill>
              </a:rPr>
              <a:t>End-to-end encryption by default</a:t>
            </a:r>
            <a:endParaRPr lang="en-US" sz="1600" dirty="0"/>
          </a:p>
          <a:p>
            <a:pPr indent="0" marL="0">
              <a:buNone/>
            </a:pPr>
            <a:r>
              <a:rPr lang="en-US" sz="1400" dirty="0">
                <a:solidFill>
                  <a:schemeClr val="tx1"/>
                </a:solidFill>
              </a:rPr>
              <a:t>All personal chats, calls and status updates</a:t>
            </a:r>
            <a:endParaRPr lang="en-US" sz="1600" dirty="0"/>
          </a:p>
        </p:txBody>
      </p:sp>
      <p:pic>
        <p:nvPicPr>
          <p:cNvPr id="6" name="feature 2 check" descr="Available">    </p:cNvPr>
          <p:cNvPicPr>
            <a:picLocks noChangeAspect="1"/>
          </p:cNvPicPr>
          <p:nvPr/>
        </p:nvPicPr>
        <p:blipFill>
          <a:blip r:embed="rId2"/>
          <a:stretch>
            <a:fillRect/>
          </a:stretch>
        </p:blipFill>
        <p:spPr>
          <a:xfrm>
            <a:off x="548640" y="2660904"/>
            <a:ext cx="292608" cy="292608"/>
          </a:xfrm>
          <a:prstGeom prst="rect">
            <a:avLst/>
          </a:prstGeom>
        </p:spPr>
      </p:pic>
      <p:sp>
        <p:nvSpPr>
          <p:cNvPr id="7" name="feature 2"/>
          <p:cNvSpPr txBox="1"/>
          <p:nvPr/>
        </p:nvSpPr>
        <p:spPr>
          <a:xfrm>
            <a:off x="1005840" y="2624328"/>
            <a:ext cx="5029200" cy="749808"/>
          </a:xfrm>
          <a:prstGeom prst="rect">
            <a:avLst/>
          </a:prstGeom>
          <a:noFill/>
          <a:ln/>
        </p:spPr>
        <p:txBody>
          <a:bodyPr wrap="square" lIns="0" tIns="0" rIns="0" bIns="0" rtlCol="0" anchor="t"/>
          <a:lstStyle/>
          <a:p>
            <a:pPr indent="0" marL="0">
              <a:buNone/>
            </a:pPr>
            <a:r>
              <a:rPr lang="en-US" sz="1600" b="1" dirty="0">
                <a:solidFill>
                  <a:schemeClr val="tx2"/>
                </a:solidFill>
              </a:rPr>
              <a:t>Two-step verification PIN</a:t>
            </a:r>
            <a:endParaRPr lang="en-US" sz="1600" dirty="0"/>
          </a:p>
          <a:p>
            <a:pPr indent="0" marL="0">
              <a:buNone/>
            </a:pPr>
            <a:r>
              <a:rPr lang="en-US" sz="1400" dirty="0">
                <a:solidFill>
                  <a:schemeClr val="tx1"/>
                </a:solidFill>
              </a:rPr>
              <a:t>Six-digit PIN required to re-register the number</a:t>
            </a:r>
            <a:endParaRPr lang="en-US" sz="1600" dirty="0"/>
          </a:p>
        </p:txBody>
      </p:sp>
      <p:pic>
        <p:nvPicPr>
          <p:cNvPr id="8" name="feature 3 check" descr="Available">    </p:cNvPr>
          <p:cNvPicPr>
            <a:picLocks noChangeAspect="1"/>
          </p:cNvPicPr>
          <p:nvPr/>
        </p:nvPicPr>
        <p:blipFill>
          <a:blip r:embed="rId3"/>
          <a:stretch>
            <a:fillRect/>
          </a:stretch>
        </p:blipFill>
        <p:spPr>
          <a:xfrm>
            <a:off x="548640" y="3502152"/>
            <a:ext cx="292608" cy="292608"/>
          </a:xfrm>
          <a:prstGeom prst="rect">
            <a:avLst/>
          </a:prstGeom>
        </p:spPr>
      </p:pic>
      <p:sp>
        <p:nvSpPr>
          <p:cNvPr id="9" name="feature 3"/>
          <p:cNvSpPr txBox="1"/>
          <p:nvPr/>
        </p:nvSpPr>
        <p:spPr>
          <a:xfrm>
            <a:off x="1005840" y="3465576"/>
            <a:ext cx="5029200" cy="749808"/>
          </a:xfrm>
          <a:prstGeom prst="rect">
            <a:avLst/>
          </a:prstGeom>
          <a:noFill/>
          <a:ln/>
        </p:spPr>
        <p:txBody>
          <a:bodyPr wrap="square" lIns="0" tIns="0" rIns="0" bIns="0" rtlCol="0" anchor="t"/>
          <a:lstStyle/>
          <a:p>
            <a:pPr indent="0" marL="0">
              <a:buNone/>
            </a:pPr>
            <a:r>
              <a:rPr lang="en-US" sz="1600" b="1" dirty="0">
                <a:solidFill>
                  <a:schemeClr val="tx2"/>
                </a:solidFill>
              </a:rPr>
              <a:t>Passkeys and encrypted backups</a:t>
            </a:r>
            <a:endParaRPr lang="en-US" sz="1600" dirty="0"/>
          </a:p>
          <a:p>
            <a:pPr indent="0" marL="0">
              <a:buNone/>
            </a:pPr>
            <a:r>
              <a:rPr lang="en-US" sz="1400" dirty="0">
                <a:solidFill>
                  <a:schemeClr val="tx1"/>
                </a:solidFill>
              </a:rPr>
              <a:t>Backups can be locked with a passkey (Oct 2025)</a:t>
            </a:r>
            <a:endParaRPr lang="en-US" sz="1600" dirty="0"/>
          </a:p>
        </p:txBody>
      </p:sp>
      <p:pic>
        <p:nvPicPr>
          <p:cNvPr id="10" name="feature 4 check" descr="Available">    </p:cNvPr>
          <p:cNvPicPr>
            <a:picLocks noChangeAspect="1"/>
          </p:cNvPicPr>
          <p:nvPr/>
        </p:nvPicPr>
        <p:blipFill>
          <a:blip r:embed="rId4"/>
          <a:stretch>
            <a:fillRect/>
          </a:stretch>
        </p:blipFill>
        <p:spPr>
          <a:xfrm>
            <a:off x="548640" y="4343400"/>
            <a:ext cx="292608" cy="292608"/>
          </a:xfrm>
          <a:prstGeom prst="rect">
            <a:avLst/>
          </a:prstGeom>
        </p:spPr>
      </p:pic>
      <p:sp>
        <p:nvSpPr>
          <p:cNvPr id="11" name="feature 4"/>
          <p:cNvSpPr txBox="1"/>
          <p:nvPr/>
        </p:nvSpPr>
        <p:spPr>
          <a:xfrm>
            <a:off x="1005840" y="4306824"/>
            <a:ext cx="5029200" cy="749808"/>
          </a:xfrm>
          <a:prstGeom prst="rect">
            <a:avLst/>
          </a:prstGeom>
          <a:noFill/>
          <a:ln/>
        </p:spPr>
        <p:txBody>
          <a:bodyPr wrap="square" lIns="0" tIns="0" rIns="0" bIns="0" rtlCol="0" anchor="t"/>
          <a:lstStyle/>
          <a:p>
            <a:pPr indent="0" marL="0">
              <a:buNone/>
            </a:pPr>
            <a:r>
              <a:rPr lang="en-US" sz="1600" b="1" dirty="0">
                <a:solidFill>
                  <a:schemeClr val="tx2"/>
                </a:solidFill>
              </a:rPr>
              <a:t>Privacy controls</a:t>
            </a:r>
            <a:endParaRPr lang="en-US" sz="1600" dirty="0"/>
          </a:p>
          <a:p>
            <a:pPr indent="0" marL="0">
              <a:buNone/>
            </a:pPr>
            <a:r>
              <a:rPr lang="en-US" sz="1400" dirty="0">
                <a:solidFill>
                  <a:schemeClr val="tx1"/>
                </a:solidFill>
              </a:rPr>
              <a:t>Chat lock, silence unknown callers, IP protection in calls</a:t>
            </a:r>
            <a:endParaRPr lang="en-US" sz="1600" dirty="0"/>
          </a:p>
        </p:txBody>
      </p:sp>
      <p:pic>
        <p:nvPicPr>
          <p:cNvPr id="12" name="feature 5 check" descr="Available">    </p:cNvPr>
          <p:cNvPicPr>
            <a:picLocks noChangeAspect="1"/>
          </p:cNvPicPr>
          <p:nvPr/>
        </p:nvPicPr>
        <p:blipFill>
          <a:blip r:embed="rId5"/>
          <a:stretch>
            <a:fillRect/>
          </a:stretch>
        </p:blipFill>
        <p:spPr>
          <a:xfrm>
            <a:off x="548640" y="5184648"/>
            <a:ext cx="292608" cy="292608"/>
          </a:xfrm>
          <a:prstGeom prst="rect">
            <a:avLst/>
          </a:prstGeom>
        </p:spPr>
      </p:pic>
      <p:sp>
        <p:nvSpPr>
          <p:cNvPr id="13" name="feature 5"/>
          <p:cNvSpPr txBox="1"/>
          <p:nvPr/>
        </p:nvSpPr>
        <p:spPr>
          <a:xfrm>
            <a:off x="1005840" y="5148072"/>
            <a:ext cx="5029200" cy="749808"/>
          </a:xfrm>
          <a:prstGeom prst="rect">
            <a:avLst/>
          </a:prstGeom>
          <a:noFill/>
          <a:ln/>
        </p:spPr>
        <p:txBody>
          <a:bodyPr wrap="square" lIns="0" tIns="0" rIns="0" bIns="0" rtlCol="0" anchor="t"/>
          <a:lstStyle/>
          <a:p>
            <a:pPr indent="0" marL="0">
              <a:buNone/>
            </a:pPr>
            <a:r>
              <a:rPr lang="en-US" sz="1600" b="1" dirty="0">
                <a:solidFill>
                  <a:schemeClr val="tx2"/>
                </a:solidFill>
              </a:rPr>
              <a:t>Strict Account Settings (Jan 2026)</a:t>
            </a:r>
            <a:endParaRPr lang="en-US" sz="1600" dirty="0"/>
          </a:p>
          <a:p>
            <a:pPr indent="0" marL="0">
              <a:buNone/>
            </a:pPr>
            <a:r>
              <a:rPr lang="en-US" sz="1400" dirty="0">
                <a:solidFill>
                  <a:schemeClr val="tx1"/>
                </a:solidFill>
              </a:rPr>
              <a:t>One-tap lockdown against unknown senders</a:t>
            </a:r>
            <a:endParaRPr lang="en-US" sz="1600" dirty="0"/>
          </a:p>
        </p:txBody>
      </p:sp>
      <p:sp>
        <p:nvSpPr>
          <p:cNvPr id="14" name="score panel"/>
          <p:cNvSpPr/>
          <p:nvPr/>
        </p:nvSpPr>
        <p:spPr>
          <a:xfrm>
            <a:off x="6355080" y="1325880"/>
            <a:ext cx="5287975" cy="2331720"/>
          </a:xfrm>
          <a:prstGeom prst="roundRect">
            <a:avLst>
              <a:gd name="adj" fmla="val 3922"/>
            </a:avLst>
          </a:prstGeom>
          <a:solidFill>
            <a:schemeClr val="bg2"/>
          </a:solidFill>
          <a:ln/>
        </p:spPr>
      </p:sp>
      <p:sp>
        <p:nvSpPr>
          <p:cNvPr id="15" name="Text 8"/>
          <p:cNvSpPr txBox="1"/>
          <p:nvPr/>
        </p:nvSpPr>
        <p:spPr>
          <a:xfrm>
            <a:off x="6629400" y="1508760"/>
            <a:ext cx="1554480" cy="274320"/>
          </a:xfrm>
          <a:prstGeom prst="rect">
            <a:avLst/>
          </a:prstGeom>
          <a:noFill/>
          <a:ln/>
        </p:spPr>
        <p:txBody>
          <a:bodyPr wrap="square" lIns="0" tIns="0" rIns="0" bIns="0" rtlCol="0" anchor="ctr"/>
          <a:lstStyle/>
          <a:p>
            <a:pPr indent="0" marL="0">
              <a:buNone/>
            </a:pPr>
            <a:r>
              <a:rPr lang="en-US" sz="1100" b="1" spc="200" kern="0" dirty="0">
                <a:solidFill>
                  <a:srgbClr val="4B5563"/>
                </a:solidFill>
              </a:rPr>
              <a:t>SECURITY SCORE</a:t>
            </a:r>
            <a:endParaRPr lang="en-US" sz="1100" dirty="0"/>
          </a:p>
        </p:txBody>
      </p:sp>
      <p:sp>
        <p:nvSpPr>
          <p:cNvPr id="16" name="score total"/>
          <p:cNvSpPr txBox="1"/>
          <p:nvPr/>
        </p:nvSpPr>
        <p:spPr>
          <a:xfrm>
            <a:off x="6629400" y="1828800"/>
            <a:ext cx="164592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20</a:t>
            </a:r>
            <a:pPr indent="0" marL="0">
              <a:buNone/>
            </a:pPr>
            <a:r>
              <a:rPr lang="en-US" sz="2000" dirty="0">
                <a:solidFill>
                  <a:srgbClr val="4B5563"/>
                </a:solidFill>
                <a:latin typeface="Cambria" pitchFamily="34" charset="0"/>
                <a:ea typeface="Cambria" pitchFamily="34" charset="-122"/>
                <a:cs typeface="Cambria" pitchFamily="34" charset="-120"/>
              </a:rPr>
              <a:t> /25</a:t>
            </a:r>
            <a:endParaRPr lang="en-US" sz="5400" dirty="0"/>
          </a:p>
        </p:txBody>
      </p:sp>
      <p:sp>
        <p:nvSpPr>
          <p:cNvPr id="17" name="Text 10"/>
          <p:cNvSpPr txBox="1"/>
          <p:nvPr/>
        </p:nvSpPr>
        <p:spPr>
          <a:xfrm>
            <a:off x="6629400" y="2834640"/>
            <a:ext cx="1463040" cy="365760"/>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Joint 1st</a:t>
            </a:r>
            <a:endParaRPr lang="en-US" sz="1300" dirty="0"/>
          </a:p>
        </p:txBody>
      </p:sp>
      <p:graphicFrame>
        <p:nvGraphicFramePr>
          <p:cNvPr id="18" name="WhatsApp score chart" descr=""/>
          <p:cNvGraphicFramePr/>
          <p:nvPr/>
        </p:nvGraphicFramePr>
        <p:xfrm>
          <a:off x="8275320" y="1417320"/>
          <a:ext cx="3230575" cy="2148840"/>
        </p:xfrm>
        <a:graphic xmlns:a="http://schemas.openxmlformats.org/drawingml/2006/main">
          <a:graphicData uri="http://schemas.openxmlformats.org/drawingml/2006/chart">
            <c:chart xmlns:c="http://schemas.openxmlformats.org/drawingml/2006/chart" r:id="rId6"/>
          </a:graphicData>
        </a:graphic>
      </p:graphicFrame>
      <p:sp>
        <p:nvSpPr>
          <p:cNvPr id="19" name="Key gap card"/>
          <p:cNvSpPr/>
          <p:nvPr/>
        </p:nvSpPr>
        <p:spPr>
          <a:xfrm>
            <a:off x="6355080" y="3886200"/>
            <a:ext cx="2506828" cy="2148840"/>
          </a:xfrm>
          <a:prstGeom prst="roundRect">
            <a:avLst>
              <a:gd name="adj" fmla="val 4255"/>
            </a:avLst>
          </a:prstGeom>
          <a:solidFill>
            <a:schemeClr val="accent4">
              <a:alpha val="10000"/>
            </a:schemeClr>
          </a:solidFill>
          <a:ln w="12700">
            <a:solidFill>
              <a:schemeClr val="accent4"/>
            </a:solidFill>
            <a:prstDash val="solid"/>
          </a:ln>
        </p:spPr>
      </p:sp>
      <p:sp>
        <p:nvSpPr>
          <p:cNvPr id="20" name="Key gap circle"/>
          <p:cNvSpPr/>
          <p:nvPr/>
        </p:nvSpPr>
        <p:spPr>
          <a:xfrm>
            <a:off x="6537960" y="4069080"/>
            <a:ext cx="411480" cy="411480"/>
          </a:xfrm>
          <a:prstGeom prst="ellipse">
            <a:avLst/>
          </a:prstGeom>
          <a:solidFill>
            <a:schemeClr val="accent4"/>
          </a:solidFill>
          <a:ln/>
        </p:spPr>
      </p:sp>
      <p:pic>
        <p:nvPicPr>
          <p:cNvPr id="21" name="Key gap icon" descr="Key gap">    </p:cNvPr>
          <p:cNvPicPr>
            <a:picLocks noChangeAspect="1"/>
          </p:cNvPicPr>
          <p:nvPr/>
        </p:nvPicPr>
        <p:blipFill>
          <a:blip r:embed="rId7"/>
          <a:stretch>
            <a:fillRect/>
          </a:stretch>
        </p:blipFill>
        <p:spPr>
          <a:xfrm>
            <a:off x="6640830" y="4171950"/>
            <a:ext cx="205740" cy="205740"/>
          </a:xfrm>
          <a:prstGeom prst="rect">
            <a:avLst/>
          </a:prstGeom>
        </p:spPr>
      </p:pic>
      <p:sp>
        <p:nvSpPr>
          <p:cNvPr id="22" name="Text 13"/>
          <p:cNvSpPr txBox="1"/>
          <p:nvPr/>
        </p:nvSpPr>
        <p:spPr>
          <a:xfrm>
            <a:off x="7040880" y="4069080"/>
            <a:ext cx="1683868" cy="411480"/>
          </a:xfrm>
          <a:prstGeom prst="rect">
            <a:avLst/>
          </a:prstGeom>
          <a:noFill/>
          <a:ln/>
        </p:spPr>
        <p:txBody>
          <a:bodyPr wrap="square" lIns="0" tIns="0" rIns="0" bIns="0" rtlCol="0" anchor="ctr"/>
          <a:lstStyle/>
          <a:p>
            <a:pPr indent="0" marL="0">
              <a:buNone/>
            </a:pPr>
            <a:r>
              <a:rPr lang="en-US" sz="1500" b="1" dirty="0">
                <a:solidFill>
                  <a:schemeClr val="accent4"/>
                </a:solidFill>
              </a:rPr>
              <a:t>Key gap</a:t>
            </a:r>
            <a:endParaRPr lang="en-US" sz="1500" dirty="0"/>
          </a:p>
        </p:txBody>
      </p:sp>
      <p:sp>
        <p:nvSpPr>
          <p:cNvPr id="23" name="Text 14"/>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The phone number is the identity; users tricked into sharing the six-digit registration code lose the account.</a:t>
            </a:r>
            <a:endParaRPr lang="en-US" sz="1400" dirty="0"/>
          </a:p>
        </p:txBody>
      </p:sp>
      <p:sp>
        <p:nvSpPr>
          <p:cNvPr id="24" name="Recommended addition card"/>
          <p:cNvSpPr/>
          <p:nvPr/>
        </p:nvSpPr>
        <p:spPr>
          <a:xfrm>
            <a:off x="9136228" y="3886200"/>
            <a:ext cx="2506828" cy="2148840"/>
          </a:xfrm>
          <a:prstGeom prst="roundRect">
            <a:avLst>
              <a:gd name="adj" fmla="val 4255"/>
            </a:avLst>
          </a:prstGeom>
          <a:solidFill>
            <a:schemeClr val="accent1">
              <a:alpha val="10000"/>
            </a:schemeClr>
          </a:solidFill>
          <a:ln w="12700">
            <a:solidFill>
              <a:schemeClr val="accent1"/>
            </a:solidFill>
            <a:prstDash val="solid"/>
          </a:ln>
        </p:spPr>
      </p:sp>
      <p:sp>
        <p:nvSpPr>
          <p:cNvPr id="25" name="Recommended addition circle"/>
          <p:cNvSpPr/>
          <p:nvPr/>
        </p:nvSpPr>
        <p:spPr>
          <a:xfrm>
            <a:off x="9319108" y="4069080"/>
            <a:ext cx="411480" cy="411480"/>
          </a:xfrm>
          <a:prstGeom prst="ellipse">
            <a:avLst/>
          </a:prstGeom>
          <a:solidFill>
            <a:schemeClr val="accent1"/>
          </a:solidFill>
          <a:ln/>
        </p:spPr>
      </p:sp>
      <p:pic>
        <p:nvPicPr>
          <p:cNvPr id="26" name="Recommended addition icon" descr="Recommended addition">    </p:cNvPr>
          <p:cNvPicPr>
            <a:picLocks noChangeAspect="1"/>
          </p:cNvPicPr>
          <p:nvPr/>
        </p:nvPicPr>
        <p:blipFill>
          <a:blip r:embed="rId8"/>
          <a:stretch>
            <a:fillRect/>
          </a:stretch>
        </p:blipFill>
        <p:spPr>
          <a:xfrm>
            <a:off x="9421978" y="4171950"/>
            <a:ext cx="205740" cy="205740"/>
          </a:xfrm>
          <a:prstGeom prst="rect">
            <a:avLst/>
          </a:prstGeom>
        </p:spPr>
      </p:pic>
      <p:sp>
        <p:nvSpPr>
          <p:cNvPr id="27" name="Text 17"/>
          <p:cNvSpPr txBox="1"/>
          <p:nvPr/>
        </p:nvSpPr>
        <p:spPr>
          <a:xfrm>
            <a:off x="9822028" y="4069080"/>
            <a:ext cx="1683868" cy="411480"/>
          </a:xfrm>
          <a:prstGeom prst="rect">
            <a:avLst/>
          </a:prstGeom>
          <a:noFill/>
          <a:ln/>
        </p:spPr>
        <p:txBody>
          <a:bodyPr wrap="square" lIns="0" tIns="0" rIns="0" bIns="0" rtlCol="0" anchor="ctr"/>
          <a:lstStyle/>
          <a:p>
            <a:pPr indent="0" marL="0">
              <a:buNone/>
            </a:pPr>
            <a:r>
              <a:rPr lang="en-US" sz="1500" b="1" dirty="0">
                <a:solidFill>
                  <a:schemeClr val="accent1"/>
                </a:solidFill>
              </a:rPr>
              <a:t>Recommended addition</a:t>
            </a:r>
            <a:endParaRPr lang="en-US" sz="1500" dirty="0"/>
          </a:p>
        </p:txBody>
      </p:sp>
      <p:sp>
        <p:nvSpPr>
          <p:cNvPr id="28" name="Text 18"/>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A Bangla warning whenever a registration code is requested, and a mandatory two-step PIN.</a:t>
            </a:r>
            <a:endParaRPr lang="en-US" sz="1400" dirty="0"/>
          </a:p>
        </p:txBody>
      </p:sp>
      <p:sp>
        <p:nvSpPr>
          <p:cNvPr id="29" name="Text 19"/>
          <p:cNvSpPr txBox="1"/>
          <p:nvPr/>
        </p:nvSpPr>
        <p:spPr>
          <a:xfrm>
            <a:off x="548640" y="6080760"/>
            <a:ext cx="5486400" cy="228600"/>
          </a:xfrm>
          <a:prstGeom prst="rect">
            <a:avLst/>
          </a:prstGeom>
          <a:noFill/>
          <a:ln/>
        </p:spPr>
        <p:txBody>
          <a:bodyPr wrap="square" lIns="0" tIns="0" rIns="0" bIns="0" rtlCol="0" anchor="ctr"/>
          <a:lstStyle/>
          <a:p>
            <a:pPr indent="0" marL="0">
              <a:buNone/>
            </a:pPr>
            <a:r>
              <a:rPr lang="en-US" sz="1000" i="1" dirty="0">
                <a:solidFill>
                  <a:srgbClr val="6B7280"/>
                </a:solidFill>
              </a:rPr>
              <a:t>Sources: WhatsApp (2026); Help Net Security (2025).</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Gmail: the best account protection, guarding the master key</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4 OF 5  |  EXISTING SECURITY FEATURES</a:t>
            </a:r>
            <a:endParaRPr lang="en-US" sz="1200" dirty="0"/>
          </a:p>
        </p:txBody>
      </p:sp>
      <p:pic>
        <p:nvPicPr>
          <p:cNvPr id="4" name="feature 1 check" descr="Available">    </p:cNvPr>
          <p:cNvPicPr>
            <a:picLocks noChangeAspect="1"/>
          </p:cNvPicPr>
          <p:nvPr/>
        </p:nvPicPr>
        <p:blipFill>
          <a:blip r:embed="rId1"/>
          <a:stretch>
            <a:fillRect/>
          </a:stretch>
        </p:blipFill>
        <p:spPr>
          <a:xfrm>
            <a:off x="548640" y="1819656"/>
            <a:ext cx="292608" cy="292608"/>
          </a:xfrm>
          <a:prstGeom prst="rect">
            <a:avLst/>
          </a:prstGeom>
        </p:spPr>
      </p:pic>
      <p:sp>
        <p:nvSpPr>
          <p:cNvPr id="5" name="feature 1"/>
          <p:cNvSpPr txBox="1"/>
          <p:nvPr/>
        </p:nvSpPr>
        <p:spPr>
          <a:xfrm>
            <a:off x="1005840" y="1783080"/>
            <a:ext cx="5029200" cy="749808"/>
          </a:xfrm>
          <a:prstGeom prst="rect">
            <a:avLst/>
          </a:prstGeom>
          <a:noFill/>
          <a:ln/>
        </p:spPr>
        <p:txBody>
          <a:bodyPr wrap="square" lIns="0" tIns="0" rIns="0" bIns="0" rtlCol="0" anchor="t"/>
          <a:lstStyle/>
          <a:p>
            <a:pPr indent="0" marL="0">
              <a:buNone/>
            </a:pPr>
            <a:r>
              <a:rPr lang="en-US" sz="1600" b="1" dirty="0">
                <a:solidFill>
                  <a:schemeClr val="tx2"/>
                </a:solidFill>
              </a:rPr>
              <a:t>Passkeys by default (Oct 2023)</a:t>
            </a:r>
            <a:endParaRPr lang="en-US" sz="1600" dirty="0"/>
          </a:p>
          <a:p>
            <a:pPr indent="0" marL="0">
              <a:buNone/>
            </a:pPr>
            <a:r>
              <a:rPr lang="en-US" sz="1400" dirty="0">
                <a:solidFill>
                  <a:schemeClr val="tx1"/>
                </a:solidFill>
              </a:rPr>
              <a:t>Password-free sign-in for personal Google accounts</a:t>
            </a:r>
            <a:endParaRPr lang="en-US" sz="1600" dirty="0"/>
          </a:p>
        </p:txBody>
      </p:sp>
      <p:pic>
        <p:nvPicPr>
          <p:cNvPr id="6" name="feature 2 check" descr="Available">    </p:cNvPr>
          <p:cNvPicPr>
            <a:picLocks noChangeAspect="1"/>
          </p:cNvPicPr>
          <p:nvPr/>
        </p:nvPicPr>
        <p:blipFill>
          <a:blip r:embed="rId2"/>
          <a:stretch>
            <a:fillRect/>
          </a:stretch>
        </p:blipFill>
        <p:spPr>
          <a:xfrm>
            <a:off x="548640" y="2660904"/>
            <a:ext cx="292608" cy="292608"/>
          </a:xfrm>
          <a:prstGeom prst="rect">
            <a:avLst/>
          </a:prstGeom>
        </p:spPr>
      </p:pic>
      <p:sp>
        <p:nvSpPr>
          <p:cNvPr id="7" name="feature 2"/>
          <p:cNvSpPr txBox="1"/>
          <p:nvPr/>
        </p:nvSpPr>
        <p:spPr>
          <a:xfrm>
            <a:off x="1005840" y="2624328"/>
            <a:ext cx="5029200" cy="749808"/>
          </a:xfrm>
          <a:prstGeom prst="rect">
            <a:avLst/>
          </a:prstGeom>
          <a:noFill/>
          <a:ln/>
        </p:spPr>
        <p:txBody>
          <a:bodyPr wrap="square" lIns="0" tIns="0" rIns="0" bIns="0" rtlCol="0" anchor="t"/>
          <a:lstStyle/>
          <a:p>
            <a:pPr indent="0" marL="0">
              <a:buNone/>
            </a:pPr>
            <a:r>
              <a:rPr lang="en-US" sz="1600" b="1" dirty="0">
                <a:solidFill>
                  <a:schemeClr val="tx2"/>
                </a:solidFill>
              </a:rPr>
              <a:t>2-Step Verification and Security Checkup</a:t>
            </a:r>
            <a:endParaRPr lang="en-US" sz="1600" dirty="0"/>
          </a:p>
          <a:p>
            <a:pPr indent="0" marL="0">
              <a:buNone/>
            </a:pPr>
            <a:r>
              <a:rPr lang="en-US" sz="1400" dirty="0">
                <a:solidFill>
                  <a:schemeClr val="tx1"/>
                </a:solidFill>
              </a:rPr>
              <a:t>Guided review of sign-in methods and devices</a:t>
            </a:r>
            <a:endParaRPr lang="en-US" sz="1600" dirty="0"/>
          </a:p>
        </p:txBody>
      </p:sp>
      <p:pic>
        <p:nvPicPr>
          <p:cNvPr id="8" name="feature 3 check" descr="Available">    </p:cNvPr>
          <p:cNvPicPr>
            <a:picLocks noChangeAspect="1"/>
          </p:cNvPicPr>
          <p:nvPr/>
        </p:nvPicPr>
        <p:blipFill>
          <a:blip r:embed="rId3"/>
          <a:stretch>
            <a:fillRect/>
          </a:stretch>
        </p:blipFill>
        <p:spPr>
          <a:xfrm>
            <a:off x="548640" y="3502152"/>
            <a:ext cx="292608" cy="292608"/>
          </a:xfrm>
          <a:prstGeom prst="rect">
            <a:avLst/>
          </a:prstGeom>
        </p:spPr>
      </p:pic>
      <p:sp>
        <p:nvSpPr>
          <p:cNvPr id="9" name="feature 3"/>
          <p:cNvSpPr txBox="1"/>
          <p:nvPr/>
        </p:nvSpPr>
        <p:spPr>
          <a:xfrm>
            <a:off x="1005840" y="3465576"/>
            <a:ext cx="5029200" cy="749808"/>
          </a:xfrm>
          <a:prstGeom prst="rect">
            <a:avLst/>
          </a:prstGeom>
          <a:noFill/>
          <a:ln/>
        </p:spPr>
        <p:txBody>
          <a:bodyPr wrap="square" lIns="0" tIns="0" rIns="0" bIns="0" rtlCol="0" anchor="t"/>
          <a:lstStyle/>
          <a:p>
            <a:pPr indent="0" marL="0">
              <a:buNone/>
            </a:pPr>
            <a:r>
              <a:rPr lang="en-US" sz="1600" b="1" dirty="0">
                <a:solidFill>
                  <a:schemeClr val="tx2"/>
                </a:solidFill>
              </a:rPr>
              <a:t>Critical security alerts</a:t>
            </a:r>
            <a:endParaRPr lang="en-US" sz="1600" dirty="0"/>
          </a:p>
          <a:p>
            <a:pPr indent="0" marL="0">
              <a:buNone/>
            </a:pPr>
            <a:r>
              <a:rPr lang="en-US" sz="1400" dirty="0">
                <a:solidFill>
                  <a:schemeClr val="tx1"/>
                </a:solidFill>
              </a:rPr>
              <a:t>Warnings of suspicious sign-ins and recent activity</a:t>
            </a:r>
            <a:endParaRPr lang="en-US" sz="1600" dirty="0"/>
          </a:p>
        </p:txBody>
      </p:sp>
      <p:pic>
        <p:nvPicPr>
          <p:cNvPr id="10" name="feature 4 check" descr="Available">    </p:cNvPr>
          <p:cNvPicPr>
            <a:picLocks noChangeAspect="1"/>
          </p:cNvPicPr>
          <p:nvPr/>
        </p:nvPicPr>
        <p:blipFill>
          <a:blip r:embed="rId4"/>
          <a:stretch>
            <a:fillRect/>
          </a:stretch>
        </p:blipFill>
        <p:spPr>
          <a:xfrm>
            <a:off x="548640" y="4343400"/>
            <a:ext cx="292608" cy="292608"/>
          </a:xfrm>
          <a:prstGeom prst="rect">
            <a:avLst/>
          </a:prstGeom>
        </p:spPr>
      </p:pic>
      <p:sp>
        <p:nvSpPr>
          <p:cNvPr id="11" name="feature 4"/>
          <p:cNvSpPr txBox="1"/>
          <p:nvPr/>
        </p:nvSpPr>
        <p:spPr>
          <a:xfrm>
            <a:off x="1005840" y="4306824"/>
            <a:ext cx="5029200" cy="749808"/>
          </a:xfrm>
          <a:prstGeom prst="rect">
            <a:avLst/>
          </a:prstGeom>
          <a:noFill/>
          <a:ln/>
        </p:spPr>
        <p:txBody>
          <a:bodyPr wrap="square" lIns="0" tIns="0" rIns="0" bIns="0" rtlCol="0" anchor="t"/>
          <a:lstStyle/>
          <a:p>
            <a:pPr indent="0" marL="0">
              <a:buNone/>
            </a:pPr>
            <a:r>
              <a:rPr lang="en-US" sz="1600" b="1" dirty="0">
                <a:solidFill>
                  <a:schemeClr val="tx2"/>
                </a:solidFill>
              </a:rPr>
              <a:t>Spam and phishing filters</a:t>
            </a:r>
            <a:endParaRPr lang="en-US" sz="1600" dirty="0"/>
          </a:p>
          <a:p>
            <a:pPr indent="0" marL="0">
              <a:buNone/>
            </a:pPr>
            <a:r>
              <a:rPr lang="en-US" sz="1400" dirty="0">
                <a:solidFill>
                  <a:schemeClr val="tx1"/>
                </a:solidFill>
              </a:rPr>
              <a:t>Google reports over 99.9% of phishing and malware blocked</a:t>
            </a:r>
            <a:endParaRPr lang="en-US" sz="1600" dirty="0"/>
          </a:p>
        </p:txBody>
      </p:sp>
      <p:pic>
        <p:nvPicPr>
          <p:cNvPr id="12" name="feature 5 check" descr="Available">    </p:cNvPr>
          <p:cNvPicPr>
            <a:picLocks noChangeAspect="1"/>
          </p:cNvPicPr>
          <p:nvPr/>
        </p:nvPicPr>
        <p:blipFill>
          <a:blip r:embed="rId5"/>
          <a:stretch>
            <a:fillRect/>
          </a:stretch>
        </p:blipFill>
        <p:spPr>
          <a:xfrm>
            <a:off x="548640" y="5184648"/>
            <a:ext cx="292608" cy="292608"/>
          </a:xfrm>
          <a:prstGeom prst="rect">
            <a:avLst/>
          </a:prstGeom>
        </p:spPr>
      </p:pic>
      <p:sp>
        <p:nvSpPr>
          <p:cNvPr id="13" name="feature 5"/>
          <p:cNvSpPr txBox="1"/>
          <p:nvPr/>
        </p:nvSpPr>
        <p:spPr>
          <a:xfrm>
            <a:off x="1005840" y="5148072"/>
            <a:ext cx="5029200" cy="749808"/>
          </a:xfrm>
          <a:prstGeom prst="rect">
            <a:avLst/>
          </a:prstGeom>
          <a:noFill/>
          <a:ln/>
        </p:spPr>
        <p:txBody>
          <a:bodyPr wrap="square" lIns="0" tIns="0" rIns="0" bIns="0" rtlCol="0" anchor="t"/>
          <a:lstStyle/>
          <a:p>
            <a:pPr indent="0" marL="0">
              <a:buNone/>
            </a:pPr>
            <a:r>
              <a:rPr lang="en-US" sz="1600" b="1" dirty="0">
                <a:solidFill>
                  <a:schemeClr val="tx2"/>
                </a:solidFill>
              </a:rPr>
              <a:t>Advanced Protection Program</a:t>
            </a:r>
            <a:endParaRPr lang="en-US" sz="1600" dirty="0"/>
          </a:p>
          <a:p>
            <a:pPr indent="0" marL="0">
              <a:buNone/>
            </a:pPr>
            <a:r>
              <a:rPr lang="en-US" sz="1400" dirty="0">
                <a:solidFill>
                  <a:schemeClr val="tx1"/>
                </a:solidFill>
              </a:rPr>
              <a:t>Hardware-key protection for high-risk users</a:t>
            </a:r>
            <a:endParaRPr lang="en-US" sz="1600" dirty="0"/>
          </a:p>
        </p:txBody>
      </p:sp>
      <p:sp>
        <p:nvSpPr>
          <p:cNvPr id="14" name="score panel"/>
          <p:cNvSpPr/>
          <p:nvPr/>
        </p:nvSpPr>
        <p:spPr>
          <a:xfrm>
            <a:off x="6355080" y="1325880"/>
            <a:ext cx="5287975" cy="2331720"/>
          </a:xfrm>
          <a:prstGeom prst="roundRect">
            <a:avLst>
              <a:gd name="adj" fmla="val 3922"/>
            </a:avLst>
          </a:prstGeom>
          <a:solidFill>
            <a:schemeClr val="bg2"/>
          </a:solidFill>
          <a:ln/>
        </p:spPr>
      </p:sp>
      <p:sp>
        <p:nvSpPr>
          <p:cNvPr id="15" name="Text 8"/>
          <p:cNvSpPr txBox="1"/>
          <p:nvPr/>
        </p:nvSpPr>
        <p:spPr>
          <a:xfrm>
            <a:off x="6629400" y="1508760"/>
            <a:ext cx="1554480" cy="274320"/>
          </a:xfrm>
          <a:prstGeom prst="rect">
            <a:avLst/>
          </a:prstGeom>
          <a:noFill/>
          <a:ln/>
        </p:spPr>
        <p:txBody>
          <a:bodyPr wrap="square" lIns="0" tIns="0" rIns="0" bIns="0" rtlCol="0" anchor="ctr"/>
          <a:lstStyle/>
          <a:p>
            <a:pPr indent="0" marL="0">
              <a:buNone/>
            </a:pPr>
            <a:r>
              <a:rPr lang="en-US" sz="1100" b="1" spc="200" kern="0" dirty="0">
                <a:solidFill>
                  <a:srgbClr val="4B5563"/>
                </a:solidFill>
              </a:rPr>
              <a:t>SECURITY SCORE</a:t>
            </a:r>
            <a:endParaRPr lang="en-US" sz="1100" dirty="0"/>
          </a:p>
        </p:txBody>
      </p:sp>
      <p:sp>
        <p:nvSpPr>
          <p:cNvPr id="16" name="score total"/>
          <p:cNvSpPr txBox="1"/>
          <p:nvPr/>
        </p:nvSpPr>
        <p:spPr>
          <a:xfrm>
            <a:off x="6629400" y="1828800"/>
            <a:ext cx="164592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20</a:t>
            </a:r>
            <a:pPr indent="0" marL="0">
              <a:buNone/>
            </a:pPr>
            <a:r>
              <a:rPr lang="en-US" sz="2000" dirty="0">
                <a:solidFill>
                  <a:srgbClr val="4B5563"/>
                </a:solidFill>
                <a:latin typeface="Cambria" pitchFamily="34" charset="0"/>
                <a:ea typeface="Cambria" pitchFamily="34" charset="-122"/>
                <a:cs typeface="Cambria" pitchFamily="34" charset="-120"/>
              </a:rPr>
              <a:t> /25</a:t>
            </a:r>
            <a:endParaRPr lang="en-US" sz="5400" dirty="0"/>
          </a:p>
        </p:txBody>
      </p:sp>
      <p:sp>
        <p:nvSpPr>
          <p:cNvPr id="17" name="Text 10"/>
          <p:cNvSpPr txBox="1"/>
          <p:nvPr/>
        </p:nvSpPr>
        <p:spPr>
          <a:xfrm>
            <a:off x="6629400" y="2834640"/>
            <a:ext cx="1463040" cy="365760"/>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Joint 1st</a:t>
            </a:r>
            <a:endParaRPr lang="en-US" sz="1300" dirty="0"/>
          </a:p>
        </p:txBody>
      </p:sp>
      <p:graphicFrame>
        <p:nvGraphicFramePr>
          <p:cNvPr id="18" name="Gmail score chart" descr=""/>
          <p:cNvGraphicFramePr/>
          <p:nvPr/>
        </p:nvGraphicFramePr>
        <p:xfrm>
          <a:off x="8275320" y="1417320"/>
          <a:ext cx="3230575" cy="2148840"/>
        </p:xfrm>
        <a:graphic xmlns:a="http://schemas.openxmlformats.org/drawingml/2006/main">
          <a:graphicData uri="http://schemas.openxmlformats.org/drawingml/2006/chart">
            <c:chart xmlns:c="http://schemas.openxmlformats.org/drawingml/2006/chart" r:id="rId6"/>
          </a:graphicData>
        </a:graphic>
      </p:graphicFrame>
      <p:sp>
        <p:nvSpPr>
          <p:cNvPr id="19" name="Key gap card"/>
          <p:cNvSpPr/>
          <p:nvPr/>
        </p:nvSpPr>
        <p:spPr>
          <a:xfrm>
            <a:off x="6355080" y="3886200"/>
            <a:ext cx="2506828" cy="2148840"/>
          </a:xfrm>
          <a:prstGeom prst="roundRect">
            <a:avLst>
              <a:gd name="adj" fmla="val 4255"/>
            </a:avLst>
          </a:prstGeom>
          <a:solidFill>
            <a:schemeClr val="accent4">
              <a:alpha val="10000"/>
            </a:schemeClr>
          </a:solidFill>
          <a:ln w="12700">
            <a:solidFill>
              <a:schemeClr val="accent4"/>
            </a:solidFill>
            <a:prstDash val="solid"/>
          </a:ln>
        </p:spPr>
      </p:sp>
      <p:sp>
        <p:nvSpPr>
          <p:cNvPr id="20" name="Key gap circle"/>
          <p:cNvSpPr/>
          <p:nvPr/>
        </p:nvSpPr>
        <p:spPr>
          <a:xfrm>
            <a:off x="6537960" y="4069080"/>
            <a:ext cx="411480" cy="411480"/>
          </a:xfrm>
          <a:prstGeom prst="ellipse">
            <a:avLst/>
          </a:prstGeom>
          <a:solidFill>
            <a:schemeClr val="accent4"/>
          </a:solidFill>
          <a:ln/>
        </p:spPr>
      </p:sp>
      <p:pic>
        <p:nvPicPr>
          <p:cNvPr id="21" name="Key gap icon" descr="Key gap">    </p:cNvPr>
          <p:cNvPicPr>
            <a:picLocks noChangeAspect="1"/>
          </p:cNvPicPr>
          <p:nvPr/>
        </p:nvPicPr>
        <p:blipFill>
          <a:blip r:embed="rId7"/>
          <a:stretch>
            <a:fillRect/>
          </a:stretch>
        </p:blipFill>
        <p:spPr>
          <a:xfrm>
            <a:off x="6640830" y="4171950"/>
            <a:ext cx="205740" cy="205740"/>
          </a:xfrm>
          <a:prstGeom prst="rect">
            <a:avLst/>
          </a:prstGeom>
        </p:spPr>
      </p:pic>
      <p:sp>
        <p:nvSpPr>
          <p:cNvPr id="22" name="Text 13"/>
          <p:cNvSpPr txBox="1"/>
          <p:nvPr/>
        </p:nvSpPr>
        <p:spPr>
          <a:xfrm>
            <a:off x="7040880" y="4069080"/>
            <a:ext cx="1683868" cy="411480"/>
          </a:xfrm>
          <a:prstGeom prst="rect">
            <a:avLst/>
          </a:prstGeom>
          <a:noFill/>
          <a:ln/>
        </p:spPr>
        <p:txBody>
          <a:bodyPr wrap="square" lIns="0" tIns="0" rIns="0" bIns="0" rtlCol="0" anchor="ctr"/>
          <a:lstStyle/>
          <a:p>
            <a:pPr indent="0" marL="0">
              <a:buNone/>
            </a:pPr>
            <a:r>
              <a:rPr lang="en-US" sz="1500" b="1" dirty="0">
                <a:solidFill>
                  <a:schemeClr val="accent4"/>
                </a:solidFill>
              </a:rPr>
              <a:t>Key gap</a:t>
            </a:r>
            <a:endParaRPr lang="en-US" sz="1500" dirty="0"/>
          </a:p>
        </p:txBody>
      </p:sp>
      <p:sp>
        <p:nvSpPr>
          <p:cNvPr id="23" name="Text 14"/>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Personal Gmail is not end-to-end encrypted, and it controls password resets for every other account.</a:t>
            </a:r>
            <a:endParaRPr lang="en-US" sz="1400" dirty="0"/>
          </a:p>
        </p:txBody>
      </p:sp>
      <p:sp>
        <p:nvSpPr>
          <p:cNvPr id="24" name="Recommended addition card"/>
          <p:cNvSpPr/>
          <p:nvPr/>
        </p:nvSpPr>
        <p:spPr>
          <a:xfrm>
            <a:off x="9136228" y="3886200"/>
            <a:ext cx="2506828" cy="2148840"/>
          </a:xfrm>
          <a:prstGeom prst="roundRect">
            <a:avLst>
              <a:gd name="adj" fmla="val 4255"/>
            </a:avLst>
          </a:prstGeom>
          <a:solidFill>
            <a:schemeClr val="accent1">
              <a:alpha val="10000"/>
            </a:schemeClr>
          </a:solidFill>
          <a:ln w="12700">
            <a:solidFill>
              <a:schemeClr val="accent1"/>
            </a:solidFill>
            <a:prstDash val="solid"/>
          </a:ln>
        </p:spPr>
      </p:sp>
      <p:sp>
        <p:nvSpPr>
          <p:cNvPr id="25" name="Recommended addition circle"/>
          <p:cNvSpPr/>
          <p:nvPr/>
        </p:nvSpPr>
        <p:spPr>
          <a:xfrm>
            <a:off x="9319108" y="4069080"/>
            <a:ext cx="411480" cy="411480"/>
          </a:xfrm>
          <a:prstGeom prst="ellipse">
            <a:avLst/>
          </a:prstGeom>
          <a:solidFill>
            <a:schemeClr val="accent1"/>
          </a:solidFill>
          <a:ln/>
        </p:spPr>
      </p:sp>
      <p:pic>
        <p:nvPicPr>
          <p:cNvPr id="26" name="Recommended addition icon" descr="Recommended addition">    </p:cNvPr>
          <p:cNvPicPr>
            <a:picLocks noChangeAspect="1"/>
          </p:cNvPicPr>
          <p:nvPr/>
        </p:nvPicPr>
        <p:blipFill>
          <a:blip r:embed="rId8"/>
          <a:stretch>
            <a:fillRect/>
          </a:stretch>
        </p:blipFill>
        <p:spPr>
          <a:xfrm>
            <a:off x="9421978" y="4171950"/>
            <a:ext cx="205740" cy="205740"/>
          </a:xfrm>
          <a:prstGeom prst="rect">
            <a:avLst/>
          </a:prstGeom>
        </p:spPr>
      </p:pic>
      <p:sp>
        <p:nvSpPr>
          <p:cNvPr id="27" name="Text 17"/>
          <p:cNvSpPr txBox="1"/>
          <p:nvPr/>
        </p:nvSpPr>
        <p:spPr>
          <a:xfrm>
            <a:off x="9822028" y="4069080"/>
            <a:ext cx="1683868" cy="411480"/>
          </a:xfrm>
          <a:prstGeom prst="rect">
            <a:avLst/>
          </a:prstGeom>
          <a:noFill/>
          <a:ln/>
        </p:spPr>
        <p:txBody>
          <a:bodyPr wrap="square" lIns="0" tIns="0" rIns="0" bIns="0" rtlCol="0" anchor="ctr"/>
          <a:lstStyle/>
          <a:p>
            <a:pPr indent="0" marL="0">
              <a:buNone/>
            </a:pPr>
            <a:r>
              <a:rPr lang="en-US" sz="1500" b="1" dirty="0">
                <a:solidFill>
                  <a:schemeClr val="accent1"/>
                </a:solidFill>
              </a:rPr>
              <a:t>Recommended addition</a:t>
            </a:r>
            <a:endParaRPr lang="en-US" sz="1500" dirty="0"/>
          </a:p>
        </p:txBody>
      </p:sp>
      <p:sp>
        <p:nvSpPr>
          <p:cNvPr id="28" name="Text 18"/>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Optional end-to-end encryption for personal mail, and lookalike warnings for bKash, Nagad and local banks.</a:t>
            </a:r>
            <a:endParaRPr lang="en-US" sz="1400" dirty="0"/>
          </a:p>
        </p:txBody>
      </p:sp>
      <p:sp>
        <p:nvSpPr>
          <p:cNvPr id="29" name="Text 19"/>
          <p:cNvSpPr txBox="1"/>
          <p:nvPr/>
        </p:nvSpPr>
        <p:spPr>
          <a:xfrm>
            <a:off x="548640" y="6080760"/>
            <a:ext cx="5486400" cy="228600"/>
          </a:xfrm>
          <a:prstGeom prst="rect">
            <a:avLst/>
          </a:prstGeom>
          <a:noFill/>
          <a:ln/>
        </p:spPr>
        <p:txBody>
          <a:bodyPr wrap="square" lIns="0" tIns="0" rIns="0" bIns="0" rtlCol="0" anchor="ctr"/>
          <a:lstStyle/>
          <a:p>
            <a:pPr indent="0" marL="0">
              <a:buNone/>
            </a:pPr>
            <a:r>
              <a:rPr lang="en-US" sz="1000" i="1" dirty="0">
                <a:solidFill>
                  <a:srgbClr val="6B7280"/>
                </a:solidFill>
              </a:rPr>
              <a:t>Sources: Google (2023); Engadget (2025).</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Telegram: its privacy reputation exceeds its default settings</a:t>
            </a:r>
            <a:endParaRPr lang="en-US" sz="2800" dirty="0"/>
          </a:p>
        </p:txBody>
      </p:sp>
      <p:sp>
        <p:nvSpPr>
          <p:cNvPr id="3" name="Text 1"/>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PLATFORM 5 OF 5  |  EXISTING SECURITY FEATURES</a:t>
            </a:r>
            <a:endParaRPr lang="en-US" sz="1200" dirty="0"/>
          </a:p>
        </p:txBody>
      </p:sp>
      <p:pic>
        <p:nvPicPr>
          <p:cNvPr id="4" name="feature 1 check" descr="Available">    </p:cNvPr>
          <p:cNvPicPr>
            <a:picLocks noChangeAspect="1"/>
          </p:cNvPicPr>
          <p:nvPr/>
        </p:nvPicPr>
        <p:blipFill>
          <a:blip r:embed="rId1"/>
          <a:stretch>
            <a:fillRect/>
          </a:stretch>
        </p:blipFill>
        <p:spPr>
          <a:xfrm>
            <a:off x="548640" y="1819656"/>
            <a:ext cx="292608" cy="292608"/>
          </a:xfrm>
          <a:prstGeom prst="rect">
            <a:avLst/>
          </a:prstGeom>
        </p:spPr>
      </p:pic>
      <p:sp>
        <p:nvSpPr>
          <p:cNvPr id="5" name="feature 1"/>
          <p:cNvSpPr txBox="1"/>
          <p:nvPr/>
        </p:nvSpPr>
        <p:spPr>
          <a:xfrm>
            <a:off x="1005840" y="1783080"/>
            <a:ext cx="5029200" cy="749808"/>
          </a:xfrm>
          <a:prstGeom prst="rect">
            <a:avLst/>
          </a:prstGeom>
          <a:noFill/>
          <a:ln/>
        </p:spPr>
        <p:txBody>
          <a:bodyPr wrap="square" lIns="0" tIns="0" rIns="0" bIns="0" rtlCol="0" anchor="t"/>
          <a:lstStyle/>
          <a:p>
            <a:pPr indent="0" marL="0">
              <a:buNone/>
            </a:pPr>
            <a:r>
              <a:rPr lang="en-US" sz="1600" b="1" dirty="0">
                <a:solidFill>
                  <a:schemeClr val="tx2"/>
                </a:solidFill>
              </a:rPr>
              <a:t>Two-step verification</a:t>
            </a:r>
            <a:endParaRPr lang="en-US" sz="1600" dirty="0"/>
          </a:p>
          <a:p>
            <a:pPr indent="0" marL="0">
              <a:buNone/>
            </a:pPr>
            <a:r>
              <a:rPr lang="en-US" sz="1400" dirty="0">
                <a:solidFill>
                  <a:schemeClr val="tx1"/>
                </a:solidFill>
              </a:rPr>
              <a:t>Additional cloud password for new logins</a:t>
            </a:r>
            <a:endParaRPr lang="en-US" sz="1600" dirty="0"/>
          </a:p>
        </p:txBody>
      </p:sp>
      <p:pic>
        <p:nvPicPr>
          <p:cNvPr id="6" name="feature 2 check" descr="Available">    </p:cNvPr>
          <p:cNvPicPr>
            <a:picLocks noChangeAspect="1"/>
          </p:cNvPicPr>
          <p:nvPr/>
        </p:nvPicPr>
        <p:blipFill>
          <a:blip r:embed="rId2"/>
          <a:stretch>
            <a:fillRect/>
          </a:stretch>
        </p:blipFill>
        <p:spPr>
          <a:xfrm>
            <a:off x="548640" y="2660904"/>
            <a:ext cx="292608" cy="292608"/>
          </a:xfrm>
          <a:prstGeom prst="rect">
            <a:avLst/>
          </a:prstGeom>
        </p:spPr>
      </p:pic>
      <p:sp>
        <p:nvSpPr>
          <p:cNvPr id="7" name="feature 2"/>
          <p:cNvSpPr txBox="1"/>
          <p:nvPr/>
        </p:nvSpPr>
        <p:spPr>
          <a:xfrm>
            <a:off x="1005840" y="2624328"/>
            <a:ext cx="5029200" cy="749808"/>
          </a:xfrm>
          <a:prstGeom prst="rect">
            <a:avLst/>
          </a:prstGeom>
          <a:noFill/>
          <a:ln/>
        </p:spPr>
        <p:txBody>
          <a:bodyPr wrap="square" lIns="0" tIns="0" rIns="0" bIns="0" rtlCol="0" anchor="t"/>
          <a:lstStyle/>
          <a:p>
            <a:pPr indent="0" marL="0">
              <a:buNone/>
            </a:pPr>
            <a:r>
              <a:rPr lang="en-US" sz="1600" b="1" dirty="0">
                <a:solidFill>
                  <a:schemeClr val="tx2"/>
                </a:solidFill>
              </a:rPr>
              <a:t>Passcode lock</a:t>
            </a:r>
            <a:endParaRPr lang="en-US" sz="1600" dirty="0"/>
          </a:p>
          <a:p>
            <a:pPr indent="0" marL="0">
              <a:buNone/>
            </a:pPr>
            <a:r>
              <a:rPr lang="en-US" sz="1400" dirty="0">
                <a:solidFill>
                  <a:schemeClr val="tx1"/>
                </a:solidFill>
              </a:rPr>
              <a:t>Local lock on the app itself</a:t>
            </a:r>
            <a:endParaRPr lang="en-US" sz="1600" dirty="0"/>
          </a:p>
        </p:txBody>
      </p:sp>
      <p:pic>
        <p:nvPicPr>
          <p:cNvPr id="8" name="feature 3 check" descr="Available">    </p:cNvPr>
          <p:cNvPicPr>
            <a:picLocks noChangeAspect="1"/>
          </p:cNvPicPr>
          <p:nvPr/>
        </p:nvPicPr>
        <p:blipFill>
          <a:blip r:embed="rId3"/>
          <a:stretch>
            <a:fillRect/>
          </a:stretch>
        </p:blipFill>
        <p:spPr>
          <a:xfrm>
            <a:off x="548640" y="3502152"/>
            <a:ext cx="292608" cy="292608"/>
          </a:xfrm>
          <a:prstGeom prst="rect">
            <a:avLst/>
          </a:prstGeom>
        </p:spPr>
      </p:pic>
      <p:sp>
        <p:nvSpPr>
          <p:cNvPr id="9" name="feature 3"/>
          <p:cNvSpPr txBox="1"/>
          <p:nvPr/>
        </p:nvSpPr>
        <p:spPr>
          <a:xfrm>
            <a:off x="1005840" y="3465576"/>
            <a:ext cx="5029200" cy="749808"/>
          </a:xfrm>
          <a:prstGeom prst="rect">
            <a:avLst/>
          </a:prstGeom>
          <a:noFill/>
          <a:ln/>
        </p:spPr>
        <p:txBody>
          <a:bodyPr wrap="square" lIns="0" tIns="0" rIns="0" bIns="0" rtlCol="0" anchor="t"/>
          <a:lstStyle/>
          <a:p>
            <a:pPr indent="0" marL="0">
              <a:buNone/>
            </a:pPr>
            <a:r>
              <a:rPr lang="en-US" sz="1600" b="1" dirty="0">
                <a:solidFill>
                  <a:schemeClr val="tx2"/>
                </a:solidFill>
              </a:rPr>
              <a:t>Active sessions</a:t>
            </a:r>
            <a:endParaRPr lang="en-US" sz="1600" dirty="0"/>
          </a:p>
          <a:p>
            <a:pPr indent="0" marL="0">
              <a:buNone/>
            </a:pPr>
            <a:r>
              <a:rPr lang="en-US" sz="1400" dirty="0">
                <a:solidFill>
                  <a:schemeClr val="tx1"/>
                </a:solidFill>
              </a:rPr>
              <a:t>View and terminate other logged-in devices</a:t>
            </a:r>
            <a:endParaRPr lang="en-US" sz="1600" dirty="0"/>
          </a:p>
        </p:txBody>
      </p:sp>
      <p:pic>
        <p:nvPicPr>
          <p:cNvPr id="10" name="feature 4 check" descr="Available">    </p:cNvPr>
          <p:cNvPicPr>
            <a:picLocks noChangeAspect="1"/>
          </p:cNvPicPr>
          <p:nvPr/>
        </p:nvPicPr>
        <p:blipFill>
          <a:blip r:embed="rId4"/>
          <a:stretch>
            <a:fillRect/>
          </a:stretch>
        </p:blipFill>
        <p:spPr>
          <a:xfrm>
            <a:off x="548640" y="4343400"/>
            <a:ext cx="292608" cy="292608"/>
          </a:xfrm>
          <a:prstGeom prst="rect">
            <a:avLst/>
          </a:prstGeom>
        </p:spPr>
      </p:pic>
      <p:sp>
        <p:nvSpPr>
          <p:cNvPr id="11" name="feature 4"/>
          <p:cNvSpPr txBox="1"/>
          <p:nvPr/>
        </p:nvSpPr>
        <p:spPr>
          <a:xfrm>
            <a:off x="1005840" y="4306824"/>
            <a:ext cx="5029200" cy="749808"/>
          </a:xfrm>
          <a:prstGeom prst="rect">
            <a:avLst/>
          </a:prstGeom>
          <a:noFill/>
          <a:ln/>
        </p:spPr>
        <p:txBody>
          <a:bodyPr wrap="square" lIns="0" tIns="0" rIns="0" bIns="0" rtlCol="0" anchor="t"/>
          <a:lstStyle/>
          <a:p>
            <a:pPr indent="0" marL="0">
              <a:buNone/>
            </a:pPr>
            <a:r>
              <a:rPr lang="en-US" sz="1600" b="1" dirty="0">
                <a:solidFill>
                  <a:schemeClr val="tx2"/>
                </a:solidFill>
              </a:rPr>
              <a:t>Phone number privacy</a:t>
            </a:r>
            <a:endParaRPr lang="en-US" sz="1600" dirty="0"/>
          </a:p>
          <a:p>
            <a:pPr indent="0" marL="0">
              <a:buNone/>
            </a:pPr>
            <a:r>
              <a:rPr lang="en-US" sz="1400" dirty="0">
                <a:solidFill>
                  <a:schemeClr val="tx1"/>
                </a:solidFill>
              </a:rPr>
              <a:t>Hide the number entirely; connect by username</a:t>
            </a:r>
            <a:endParaRPr lang="en-US" sz="1600" dirty="0"/>
          </a:p>
        </p:txBody>
      </p:sp>
      <p:pic>
        <p:nvPicPr>
          <p:cNvPr id="12" name="feature 5 check" descr="Available">    </p:cNvPr>
          <p:cNvPicPr>
            <a:picLocks noChangeAspect="1"/>
          </p:cNvPicPr>
          <p:nvPr/>
        </p:nvPicPr>
        <p:blipFill>
          <a:blip r:embed="rId5"/>
          <a:stretch>
            <a:fillRect/>
          </a:stretch>
        </p:blipFill>
        <p:spPr>
          <a:xfrm>
            <a:off x="548640" y="5184648"/>
            <a:ext cx="292608" cy="292608"/>
          </a:xfrm>
          <a:prstGeom prst="rect">
            <a:avLst/>
          </a:prstGeom>
        </p:spPr>
      </p:pic>
      <p:sp>
        <p:nvSpPr>
          <p:cNvPr id="13" name="feature 5"/>
          <p:cNvSpPr txBox="1"/>
          <p:nvPr/>
        </p:nvSpPr>
        <p:spPr>
          <a:xfrm>
            <a:off x="1005840" y="5148072"/>
            <a:ext cx="5029200" cy="749808"/>
          </a:xfrm>
          <a:prstGeom prst="rect">
            <a:avLst/>
          </a:prstGeom>
          <a:noFill/>
          <a:ln/>
        </p:spPr>
        <p:txBody>
          <a:bodyPr wrap="square" lIns="0" tIns="0" rIns="0" bIns="0" rtlCol="0" anchor="t"/>
          <a:lstStyle/>
          <a:p>
            <a:pPr indent="0" marL="0">
              <a:buNone/>
            </a:pPr>
            <a:r>
              <a:rPr lang="en-US" sz="1600" b="1" dirty="0">
                <a:solidFill>
                  <a:schemeClr val="tx2"/>
                </a:solidFill>
              </a:rPr>
              <a:t>Secret Chats</a:t>
            </a:r>
            <a:endParaRPr lang="en-US" sz="1600" dirty="0"/>
          </a:p>
          <a:p>
            <a:pPr indent="0" marL="0">
              <a:buNone/>
            </a:pPr>
            <a:r>
              <a:rPr lang="en-US" sz="1400" dirty="0">
                <a:solidFill>
                  <a:schemeClr val="tx1"/>
                </a:solidFill>
              </a:rPr>
              <a:t>End-to-end encrypted, device-specific, self-destruct timers</a:t>
            </a:r>
            <a:endParaRPr lang="en-US" sz="1600" dirty="0"/>
          </a:p>
        </p:txBody>
      </p:sp>
      <p:sp>
        <p:nvSpPr>
          <p:cNvPr id="14" name="score panel"/>
          <p:cNvSpPr/>
          <p:nvPr/>
        </p:nvSpPr>
        <p:spPr>
          <a:xfrm>
            <a:off x="6355080" y="1325880"/>
            <a:ext cx="5287975" cy="2331720"/>
          </a:xfrm>
          <a:prstGeom prst="roundRect">
            <a:avLst>
              <a:gd name="adj" fmla="val 3922"/>
            </a:avLst>
          </a:prstGeom>
          <a:solidFill>
            <a:schemeClr val="bg2"/>
          </a:solidFill>
          <a:ln/>
        </p:spPr>
      </p:sp>
      <p:sp>
        <p:nvSpPr>
          <p:cNvPr id="15" name="Text 8"/>
          <p:cNvSpPr txBox="1"/>
          <p:nvPr/>
        </p:nvSpPr>
        <p:spPr>
          <a:xfrm>
            <a:off x="6629400" y="1508760"/>
            <a:ext cx="1554480" cy="274320"/>
          </a:xfrm>
          <a:prstGeom prst="rect">
            <a:avLst/>
          </a:prstGeom>
          <a:noFill/>
          <a:ln/>
        </p:spPr>
        <p:txBody>
          <a:bodyPr wrap="square" lIns="0" tIns="0" rIns="0" bIns="0" rtlCol="0" anchor="ctr"/>
          <a:lstStyle/>
          <a:p>
            <a:pPr indent="0" marL="0">
              <a:buNone/>
            </a:pPr>
            <a:r>
              <a:rPr lang="en-US" sz="1100" b="1" spc="200" kern="0" dirty="0">
                <a:solidFill>
                  <a:srgbClr val="4B5563"/>
                </a:solidFill>
              </a:rPr>
              <a:t>SECURITY SCORE</a:t>
            </a:r>
            <a:endParaRPr lang="en-US" sz="1100" dirty="0"/>
          </a:p>
        </p:txBody>
      </p:sp>
      <p:sp>
        <p:nvSpPr>
          <p:cNvPr id="16" name="score total"/>
          <p:cNvSpPr txBox="1"/>
          <p:nvPr/>
        </p:nvSpPr>
        <p:spPr>
          <a:xfrm>
            <a:off x="6629400" y="1828800"/>
            <a:ext cx="164592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14</a:t>
            </a:r>
            <a:pPr indent="0" marL="0">
              <a:buNone/>
            </a:pPr>
            <a:r>
              <a:rPr lang="en-US" sz="2000" dirty="0">
                <a:solidFill>
                  <a:srgbClr val="4B5563"/>
                </a:solidFill>
                <a:latin typeface="Cambria" pitchFamily="34" charset="0"/>
                <a:ea typeface="Cambria" pitchFamily="34" charset="-122"/>
                <a:cs typeface="Cambria" pitchFamily="34" charset="-120"/>
              </a:rPr>
              <a:t> /25</a:t>
            </a:r>
            <a:endParaRPr lang="en-US" sz="5400" dirty="0"/>
          </a:p>
        </p:txBody>
      </p:sp>
      <p:sp>
        <p:nvSpPr>
          <p:cNvPr id="17" name="Text 10"/>
          <p:cNvSpPr txBox="1"/>
          <p:nvPr/>
        </p:nvSpPr>
        <p:spPr>
          <a:xfrm>
            <a:off x="6629400" y="2834640"/>
            <a:ext cx="1463040" cy="365760"/>
          </a:xfrm>
          <a:prstGeom prst="roundRect">
            <a:avLst>
              <a:gd name="adj" fmla="val 50000"/>
            </a:avLst>
          </a:prstGeom>
          <a:solidFill>
            <a:schemeClr val="accent4"/>
          </a:solidFill>
          <a:ln/>
        </p:spPr>
        <p:txBody>
          <a:bodyPr wrap="square" lIns="0" tIns="0" rIns="0" bIns="0" rtlCol="0" anchor="ctr"/>
          <a:lstStyle/>
          <a:p>
            <a:pPr algn="ctr" indent="0" marL="0">
              <a:buNone/>
            </a:pPr>
            <a:r>
              <a:rPr lang="en-US" sz="1300" b="1" dirty="0">
                <a:solidFill>
                  <a:schemeClr val="bg1"/>
                </a:solidFill>
              </a:rPr>
              <a:t>5th</a:t>
            </a:r>
            <a:endParaRPr lang="en-US" sz="1300" dirty="0"/>
          </a:p>
        </p:txBody>
      </p:sp>
      <p:graphicFrame>
        <p:nvGraphicFramePr>
          <p:cNvPr id="18" name="Telegram score chart" descr=""/>
          <p:cNvGraphicFramePr/>
          <p:nvPr/>
        </p:nvGraphicFramePr>
        <p:xfrm>
          <a:off x="8275320" y="1417320"/>
          <a:ext cx="3230575" cy="2148840"/>
        </p:xfrm>
        <a:graphic xmlns:a="http://schemas.openxmlformats.org/drawingml/2006/main">
          <a:graphicData uri="http://schemas.openxmlformats.org/drawingml/2006/chart">
            <c:chart xmlns:c="http://schemas.openxmlformats.org/drawingml/2006/chart" r:id="rId6"/>
          </a:graphicData>
        </a:graphic>
      </p:graphicFrame>
      <p:sp>
        <p:nvSpPr>
          <p:cNvPr id="19" name="Key gap card"/>
          <p:cNvSpPr/>
          <p:nvPr/>
        </p:nvSpPr>
        <p:spPr>
          <a:xfrm>
            <a:off x="6355080" y="3886200"/>
            <a:ext cx="2506828" cy="2148840"/>
          </a:xfrm>
          <a:prstGeom prst="roundRect">
            <a:avLst>
              <a:gd name="adj" fmla="val 4255"/>
            </a:avLst>
          </a:prstGeom>
          <a:solidFill>
            <a:schemeClr val="accent4">
              <a:alpha val="10000"/>
            </a:schemeClr>
          </a:solidFill>
          <a:ln w="12700">
            <a:solidFill>
              <a:schemeClr val="accent4"/>
            </a:solidFill>
            <a:prstDash val="solid"/>
          </a:ln>
        </p:spPr>
      </p:sp>
      <p:sp>
        <p:nvSpPr>
          <p:cNvPr id="20" name="Key gap circle"/>
          <p:cNvSpPr/>
          <p:nvPr/>
        </p:nvSpPr>
        <p:spPr>
          <a:xfrm>
            <a:off x="6537960" y="4069080"/>
            <a:ext cx="411480" cy="411480"/>
          </a:xfrm>
          <a:prstGeom prst="ellipse">
            <a:avLst/>
          </a:prstGeom>
          <a:solidFill>
            <a:schemeClr val="accent4"/>
          </a:solidFill>
          <a:ln/>
        </p:spPr>
      </p:sp>
      <p:pic>
        <p:nvPicPr>
          <p:cNvPr id="21" name="Key gap icon" descr="Key gap">    </p:cNvPr>
          <p:cNvPicPr>
            <a:picLocks noChangeAspect="1"/>
          </p:cNvPicPr>
          <p:nvPr/>
        </p:nvPicPr>
        <p:blipFill>
          <a:blip r:embed="rId7"/>
          <a:stretch>
            <a:fillRect/>
          </a:stretch>
        </p:blipFill>
        <p:spPr>
          <a:xfrm>
            <a:off x="6640830" y="4171950"/>
            <a:ext cx="205740" cy="205740"/>
          </a:xfrm>
          <a:prstGeom prst="rect">
            <a:avLst/>
          </a:prstGeom>
        </p:spPr>
      </p:pic>
      <p:sp>
        <p:nvSpPr>
          <p:cNvPr id="22" name="Text 13"/>
          <p:cNvSpPr txBox="1"/>
          <p:nvPr/>
        </p:nvSpPr>
        <p:spPr>
          <a:xfrm>
            <a:off x="7040880" y="4069080"/>
            <a:ext cx="1683868" cy="411480"/>
          </a:xfrm>
          <a:prstGeom prst="rect">
            <a:avLst/>
          </a:prstGeom>
          <a:noFill/>
          <a:ln/>
        </p:spPr>
        <p:txBody>
          <a:bodyPr wrap="square" lIns="0" tIns="0" rIns="0" bIns="0" rtlCol="0" anchor="ctr"/>
          <a:lstStyle/>
          <a:p>
            <a:pPr indent="0" marL="0">
              <a:buNone/>
            </a:pPr>
            <a:r>
              <a:rPr lang="en-US" sz="1500" b="1" dirty="0">
                <a:solidFill>
                  <a:schemeClr val="accent4"/>
                </a:solidFill>
              </a:rPr>
              <a:t>Key gap</a:t>
            </a:r>
            <a:endParaRPr lang="en-US" sz="1500" dirty="0"/>
          </a:p>
        </p:txBody>
      </p:sp>
      <p:sp>
        <p:nvSpPr>
          <p:cNvPr id="23" name="Text 14"/>
          <p:cNvSpPr txBox="1"/>
          <p:nvPr/>
        </p:nvSpPr>
        <p:spPr>
          <a:xfrm>
            <a:off x="6537960"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Regular chats, groups and channels are not end-to-end encrypted, and since Sept 2024 IPs and phone numbers may be shared on valid legal request.</a:t>
            </a:r>
            <a:endParaRPr lang="en-US" sz="1400" dirty="0"/>
          </a:p>
        </p:txBody>
      </p:sp>
      <p:sp>
        <p:nvSpPr>
          <p:cNvPr id="24" name="Recommended addition card"/>
          <p:cNvSpPr/>
          <p:nvPr/>
        </p:nvSpPr>
        <p:spPr>
          <a:xfrm>
            <a:off x="9136228" y="3886200"/>
            <a:ext cx="2506828" cy="2148840"/>
          </a:xfrm>
          <a:prstGeom prst="roundRect">
            <a:avLst>
              <a:gd name="adj" fmla="val 4255"/>
            </a:avLst>
          </a:prstGeom>
          <a:solidFill>
            <a:schemeClr val="accent1">
              <a:alpha val="10000"/>
            </a:schemeClr>
          </a:solidFill>
          <a:ln w="12700">
            <a:solidFill>
              <a:schemeClr val="accent1"/>
            </a:solidFill>
            <a:prstDash val="solid"/>
          </a:ln>
        </p:spPr>
      </p:sp>
      <p:sp>
        <p:nvSpPr>
          <p:cNvPr id="25" name="Recommended addition circle"/>
          <p:cNvSpPr/>
          <p:nvPr/>
        </p:nvSpPr>
        <p:spPr>
          <a:xfrm>
            <a:off x="9319108" y="4069080"/>
            <a:ext cx="411480" cy="411480"/>
          </a:xfrm>
          <a:prstGeom prst="ellipse">
            <a:avLst/>
          </a:prstGeom>
          <a:solidFill>
            <a:schemeClr val="accent1"/>
          </a:solidFill>
          <a:ln/>
        </p:spPr>
      </p:sp>
      <p:pic>
        <p:nvPicPr>
          <p:cNvPr id="26" name="Recommended addition icon" descr="Recommended addition">    </p:cNvPr>
          <p:cNvPicPr>
            <a:picLocks noChangeAspect="1"/>
          </p:cNvPicPr>
          <p:nvPr/>
        </p:nvPicPr>
        <p:blipFill>
          <a:blip r:embed="rId8"/>
          <a:stretch>
            <a:fillRect/>
          </a:stretch>
        </p:blipFill>
        <p:spPr>
          <a:xfrm>
            <a:off x="9421978" y="4171950"/>
            <a:ext cx="205740" cy="205740"/>
          </a:xfrm>
          <a:prstGeom prst="rect">
            <a:avLst/>
          </a:prstGeom>
        </p:spPr>
      </p:pic>
      <p:sp>
        <p:nvSpPr>
          <p:cNvPr id="27" name="Text 17"/>
          <p:cNvSpPr txBox="1"/>
          <p:nvPr/>
        </p:nvSpPr>
        <p:spPr>
          <a:xfrm>
            <a:off x="9822028" y="4069080"/>
            <a:ext cx="1683868" cy="411480"/>
          </a:xfrm>
          <a:prstGeom prst="rect">
            <a:avLst/>
          </a:prstGeom>
          <a:noFill/>
          <a:ln/>
        </p:spPr>
        <p:txBody>
          <a:bodyPr wrap="square" lIns="0" tIns="0" rIns="0" bIns="0" rtlCol="0" anchor="ctr"/>
          <a:lstStyle/>
          <a:p>
            <a:pPr indent="0" marL="0">
              <a:buNone/>
            </a:pPr>
            <a:r>
              <a:rPr lang="en-US" sz="1500" b="1" dirty="0">
                <a:solidFill>
                  <a:schemeClr val="accent1"/>
                </a:solidFill>
              </a:rPr>
              <a:t>Recommended addition</a:t>
            </a:r>
            <a:endParaRPr lang="en-US" sz="1500" dirty="0"/>
          </a:p>
        </p:txBody>
      </p:sp>
      <p:sp>
        <p:nvSpPr>
          <p:cNvPr id="28" name="Text 18"/>
          <p:cNvSpPr txBox="1"/>
          <p:nvPr/>
        </p:nvSpPr>
        <p:spPr>
          <a:xfrm>
            <a:off x="9319108" y="4617720"/>
            <a:ext cx="2141068" cy="1280160"/>
          </a:xfrm>
          <a:prstGeom prst="rect">
            <a:avLst/>
          </a:prstGeom>
          <a:noFill/>
          <a:ln/>
        </p:spPr>
        <p:txBody>
          <a:bodyPr wrap="square" lIns="0" tIns="0" rIns="0" bIns="0" rtlCol="0" anchor="t"/>
          <a:lstStyle/>
          <a:p>
            <a:pPr indent="0" marL="0">
              <a:buNone/>
            </a:pPr>
            <a:r>
              <a:rPr lang="en-US" sz="1400" dirty="0">
                <a:solidFill>
                  <a:schemeClr val="tx1"/>
                </a:solidFill>
              </a:rPr>
              <a:t>End-to-end encryption by default for one-to-one chats, and a two-step verification prompt at sign-up.</a:t>
            </a:r>
            <a:endParaRPr lang="en-US" sz="1400" dirty="0"/>
          </a:p>
        </p:txBody>
      </p:sp>
      <p:sp>
        <p:nvSpPr>
          <p:cNvPr id="29" name="Text 19"/>
          <p:cNvSpPr txBox="1"/>
          <p:nvPr/>
        </p:nvSpPr>
        <p:spPr>
          <a:xfrm>
            <a:off x="548640" y="6080760"/>
            <a:ext cx="5486400" cy="228600"/>
          </a:xfrm>
          <a:prstGeom prst="rect">
            <a:avLst/>
          </a:prstGeom>
          <a:noFill/>
          <a:ln/>
        </p:spPr>
        <p:txBody>
          <a:bodyPr wrap="square" lIns="0" tIns="0" rIns="0" bIns="0" rtlCol="0" anchor="ctr"/>
          <a:lstStyle/>
          <a:p>
            <a:pPr indent="0" marL="0">
              <a:buNone/>
            </a:pPr>
            <a:r>
              <a:rPr lang="en-US" sz="1000" i="1" dirty="0">
                <a:solidFill>
                  <a:srgbClr val="6B7280"/>
                </a:solidFill>
              </a:rPr>
              <a:t>Source: Engadget (2024).</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WhatsApp and Gmail lead; WhatsApp is the most secure by default</a:t>
            </a:r>
            <a:endParaRPr lang="en-US" sz="2800" dirty="0"/>
          </a:p>
        </p:txBody>
      </p:sp>
      <p:graphicFrame>
        <p:nvGraphicFramePr>
          <p:cNvPr id="3" name="stacked score chart"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verdict 1"/>
          <p:cNvSpPr/>
          <p:nvPr/>
        </p:nvSpPr>
        <p:spPr>
          <a:xfrm>
            <a:off x="7863840" y="1325880"/>
            <a:ext cx="3779215" cy="1463040"/>
          </a:xfrm>
          <a:prstGeom prst="roundRect">
            <a:avLst>
              <a:gd name="adj" fmla="val 6250"/>
            </a:avLst>
          </a:prstGeom>
          <a:solidFill>
            <a:schemeClr val="bg2"/>
          </a:solidFill>
          <a:ln/>
        </p:spPr>
      </p:sp>
      <p:sp>
        <p:nvSpPr>
          <p:cNvPr id="5" name="verdict 1 circle"/>
          <p:cNvSpPr/>
          <p:nvPr/>
        </p:nvSpPr>
        <p:spPr>
          <a:xfrm>
            <a:off x="8046720" y="1554480"/>
            <a:ext cx="548640" cy="548640"/>
          </a:xfrm>
          <a:prstGeom prst="ellipse">
            <a:avLst/>
          </a:prstGeom>
          <a:solidFill>
            <a:schemeClr val="accent1"/>
          </a:solidFill>
          <a:ln/>
        </p:spPr>
      </p:sp>
      <p:pic>
        <p:nvPicPr>
          <p:cNvPr id="6" name="verdict 1 icon" descr="verdict 1">    </p:cNvPr>
          <p:cNvPicPr>
            <a:picLocks noChangeAspect="1"/>
          </p:cNvPicPr>
          <p:nvPr/>
        </p:nvPicPr>
        <p:blipFill>
          <a:blip r:embed="rId2"/>
          <a:stretch>
            <a:fillRect/>
          </a:stretch>
        </p:blipFill>
        <p:spPr>
          <a:xfrm>
            <a:off x="8183880" y="1691640"/>
            <a:ext cx="274320" cy="274320"/>
          </a:xfrm>
          <a:prstGeom prst="rect">
            <a:avLst/>
          </a:prstGeom>
        </p:spPr>
      </p:pic>
      <p:sp>
        <p:nvSpPr>
          <p:cNvPr id="7" name="Text 3"/>
          <p:cNvSpPr txBox="1"/>
          <p:nvPr/>
        </p:nvSpPr>
        <p:spPr>
          <a:xfrm>
            <a:off x="8732520" y="1463040"/>
            <a:ext cx="2773375" cy="548640"/>
          </a:xfrm>
          <a:prstGeom prst="rect">
            <a:avLst/>
          </a:prstGeom>
          <a:noFill/>
          <a:ln/>
        </p:spPr>
        <p:txBody>
          <a:bodyPr wrap="square" lIns="0" tIns="0" rIns="0" bIns="0" rtlCol="0" anchor="ctr"/>
          <a:lstStyle/>
          <a:p>
            <a:pPr indent="0" marL="0">
              <a:buNone/>
            </a:pPr>
            <a:r>
              <a:rPr lang="en-US" sz="1500" b="1" dirty="0">
                <a:solidFill>
                  <a:schemeClr val="tx2"/>
                </a:solidFill>
              </a:rPr>
              <a:t>Most secure for individuals: WhatsApp</a:t>
            </a:r>
            <a:endParaRPr lang="en-US" sz="1500" dirty="0"/>
          </a:p>
        </p:txBody>
      </p:sp>
      <p:sp>
        <p:nvSpPr>
          <p:cNvPr id="8" name="Text 4"/>
          <p:cNvSpPr txBox="1"/>
          <p:nvPr/>
        </p:nvSpPr>
        <p:spPr>
          <a:xfrm>
            <a:off x="8732520" y="2011680"/>
            <a:ext cx="2773375" cy="685800"/>
          </a:xfrm>
          <a:prstGeom prst="rect">
            <a:avLst/>
          </a:prstGeom>
          <a:noFill/>
          <a:ln/>
        </p:spPr>
        <p:txBody>
          <a:bodyPr wrap="square" lIns="0" tIns="0" rIns="0" bIns="0" rtlCol="0" anchor="t"/>
          <a:lstStyle/>
          <a:p>
            <a:pPr indent="0" marL="0">
              <a:buNone/>
            </a:pPr>
            <a:r>
              <a:rPr lang="en-US" sz="1400" dirty="0">
                <a:solidFill>
                  <a:schemeClr val="tx1"/>
                </a:solidFill>
              </a:rPr>
              <a:t>Its strongest protection, end-to-end encryption, works from installation with no setup.</a:t>
            </a:r>
            <a:endParaRPr lang="en-US" sz="1400" dirty="0"/>
          </a:p>
        </p:txBody>
      </p:sp>
      <p:sp>
        <p:nvSpPr>
          <p:cNvPr id="9" name="verdict 2"/>
          <p:cNvSpPr/>
          <p:nvPr/>
        </p:nvSpPr>
        <p:spPr>
          <a:xfrm>
            <a:off x="7863840" y="2971800"/>
            <a:ext cx="3779215" cy="1463040"/>
          </a:xfrm>
          <a:prstGeom prst="roundRect">
            <a:avLst>
              <a:gd name="adj" fmla="val 6250"/>
            </a:avLst>
          </a:prstGeom>
          <a:solidFill>
            <a:schemeClr val="bg2"/>
          </a:solidFill>
          <a:ln/>
        </p:spPr>
      </p:sp>
      <p:sp>
        <p:nvSpPr>
          <p:cNvPr id="10" name="verdict 2 circle"/>
          <p:cNvSpPr/>
          <p:nvPr/>
        </p:nvSpPr>
        <p:spPr>
          <a:xfrm>
            <a:off x="8046720" y="3200400"/>
            <a:ext cx="548640" cy="548640"/>
          </a:xfrm>
          <a:prstGeom prst="ellipse">
            <a:avLst/>
          </a:prstGeom>
          <a:solidFill>
            <a:schemeClr val="accent3"/>
          </a:solidFill>
          <a:ln/>
        </p:spPr>
      </p:sp>
      <p:pic>
        <p:nvPicPr>
          <p:cNvPr id="11" name="verdict 2 icon" descr="verdict 2">    </p:cNvPr>
          <p:cNvPicPr>
            <a:picLocks noChangeAspect="1"/>
          </p:cNvPicPr>
          <p:nvPr/>
        </p:nvPicPr>
        <p:blipFill>
          <a:blip r:embed="rId3"/>
          <a:stretch>
            <a:fillRect/>
          </a:stretch>
        </p:blipFill>
        <p:spPr>
          <a:xfrm>
            <a:off x="8183880" y="3337560"/>
            <a:ext cx="274320" cy="274320"/>
          </a:xfrm>
          <a:prstGeom prst="rect">
            <a:avLst/>
          </a:prstGeom>
        </p:spPr>
      </p:pic>
      <p:sp>
        <p:nvSpPr>
          <p:cNvPr id="12" name="Text 7"/>
          <p:cNvSpPr txBox="1"/>
          <p:nvPr/>
        </p:nvSpPr>
        <p:spPr>
          <a:xfrm>
            <a:off x="8732520" y="3108960"/>
            <a:ext cx="2773375" cy="548640"/>
          </a:xfrm>
          <a:prstGeom prst="rect">
            <a:avLst/>
          </a:prstGeom>
          <a:noFill/>
          <a:ln/>
        </p:spPr>
        <p:txBody>
          <a:bodyPr wrap="square" lIns="0" tIns="0" rIns="0" bIns="0" rtlCol="0" anchor="ctr"/>
          <a:lstStyle/>
          <a:p>
            <a:pPr indent="0" marL="0">
              <a:buNone/>
            </a:pPr>
            <a:r>
              <a:rPr lang="en-US" sz="1500" b="1" dirty="0">
                <a:solidFill>
                  <a:schemeClr val="tx2"/>
                </a:solidFill>
              </a:rPr>
              <a:t>Highest-value account: Gmail</a:t>
            </a:r>
            <a:endParaRPr lang="en-US" sz="1500" dirty="0"/>
          </a:p>
        </p:txBody>
      </p:sp>
      <p:sp>
        <p:nvSpPr>
          <p:cNvPr id="13" name="Text 8"/>
          <p:cNvSpPr txBox="1"/>
          <p:nvPr/>
        </p:nvSpPr>
        <p:spPr>
          <a:xfrm>
            <a:off x="8732520" y="3657600"/>
            <a:ext cx="2773375" cy="685800"/>
          </a:xfrm>
          <a:prstGeom prst="rect">
            <a:avLst/>
          </a:prstGeom>
          <a:noFill/>
          <a:ln/>
        </p:spPr>
        <p:txBody>
          <a:bodyPr wrap="square" lIns="0" tIns="0" rIns="0" bIns="0" rtlCol="0" anchor="t"/>
          <a:lstStyle/>
          <a:p>
            <a:pPr indent="0" marL="0">
              <a:buNone/>
            </a:pPr>
            <a:r>
              <a:rPr lang="en-US" sz="1400" dirty="0">
                <a:solidFill>
                  <a:schemeClr val="tx1"/>
                </a:solidFill>
              </a:rPr>
              <a:t>Best login protection and filtering; it resets every other password.</a:t>
            </a:r>
            <a:endParaRPr lang="en-US" sz="1400" dirty="0"/>
          </a:p>
        </p:txBody>
      </p:sp>
      <p:sp>
        <p:nvSpPr>
          <p:cNvPr id="14" name="verdict 3"/>
          <p:cNvSpPr/>
          <p:nvPr/>
        </p:nvSpPr>
        <p:spPr>
          <a:xfrm>
            <a:off x="7863840" y="4617720"/>
            <a:ext cx="3779215" cy="1463040"/>
          </a:xfrm>
          <a:prstGeom prst="roundRect">
            <a:avLst>
              <a:gd name="adj" fmla="val 6250"/>
            </a:avLst>
          </a:prstGeom>
          <a:solidFill>
            <a:schemeClr val="bg2"/>
          </a:solidFill>
          <a:ln/>
        </p:spPr>
      </p:sp>
      <p:sp>
        <p:nvSpPr>
          <p:cNvPr id="15" name="verdict 3 circle"/>
          <p:cNvSpPr/>
          <p:nvPr/>
        </p:nvSpPr>
        <p:spPr>
          <a:xfrm>
            <a:off x="8046720" y="4846320"/>
            <a:ext cx="548640" cy="548640"/>
          </a:xfrm>
          <a:prstGeom prst="ellipse">
            <a:avLst/>
          </a:prstGeom>
          <a:solidFill>
            <a:schemeClr val="accent4"/>
          </a:solidFill>
          <a:ln/>
        </p:spPr>
      </p:sp>
      <p:pic>
        <p:nvPicPr>
          <p:cNvPr id="16" name="verdict 3 icon" descr="verdict 3">    </p:cNvPr>
          <p:cNvPicPr>
            <a:picLocks noChangeAspect="1"/>
          </p:cNvPicPr>
          <p:nvPr/>
        </p:nvPicPr>
        <p:blipFill>
          <a:blip r:embed="rId4"/>
          <a:stretch>
            <a:fillRect/>
          </a:stretch>
        </p:blipFill>
        <p:spPr>
          <a:xfrm>
            <a:off x="8183880" y="4983480"/>
            <a:ext cx="274320" cy="274320"/>
          </a:xfrm>
          <a:prstGeom prst="rect">
            <a:avLst/>
          </a:prstGeom>
        </p:spPr>
      </p:pic>
      <p:sp>
        <p:nvSpPr>
          <p:cNvPr id="17" name="Text 11"/>
          <p:cNvSpPr txBox="1"/>
          <p:nvPr/>
        </p:nvSpPr>
        <p:spPr>
          <a:xfrm>
            <a:off x="8732520" y="4754880"/>
            <a:ext cx="2773375" cy="548640"/>
          </a:xfrm>
          <a:prstGeom prst="rect">
            <a:avLst/>
          </a:prstGeom>
          <a:noFill/>
          <a:ln/>
        </p:spPr>
        <p:txBody>
          <a:bodyPr wrap="square" lIns="0" tIns="0" rIns="0" bIns="0" rtlCol="0" anchor="ctr"/>
          <a:lstStyle/>
          <a:p>
            <a:pPr indent="0" marL="0">
              <a:buNone/>
            </a:pPr>
            <a:r>
              <a:rPr lang="en-US" sz="1500" b="1" dirty="0">
                <a:solidFill>
                  <a:schemeClr val="tx2"/>
                </a:solidFill>
              </a:rPr>
              <a:t>Lowest score: Telegram</a:t>
            </a:r>
            <a:endParaRPr lang="en-US" sz="1500" dirty="0"/>
          </a:p>
        </p:txBody>
      </p:sp>
      <p:sp>
        <p:nvSpPr>
          <p:cNvPr id="18" name="Text 12"/>
          <p:cNvSpPr txBox="1"/>
          <p:nvPr/>
        </p:nvSpPr>
        <p:spPr>
          <a:xfrm>
            <a:off x="8732520" y="5303520"/>
            <a:ext cx="2773375" cy="685800"/>
          </a:xfrm>
          <a:prstGeom prst="rect">
            <a:avLst/>
          </a:prstGeom>
          <a:noFill/>
          <a:ln/>
        </p:spPr>
        <p:txBody>
          <a:bodyPr wrap="square" lIns="0" tIns="0" rIns="0" bIns="0" rtlCol="0" anchor="t"/>
          <a:lstStyle/>
          <a:p>
            <a:pPr indent="0" marL="0">
              <a:buNone/>
            </a:pPr>
            <a:r>
              <a:rPr lang="en-US" sz="1400" dirty="0">
                <a:solidFill>
                  <a:schemeClr val="tx1"/>
                </a:solidFill>
              </a:rPr>
              <a:t>Ordinary chats are not end-to-end encrypted by default.</a:t>
            </a:r>
            <a:endParaRPr lang="en-US" sz="1400" dirty="0"/>
          </a:p>
        </p:txBody>
      </p:sp>
      <p:sp>
        <p:nvSpPr>
          <p:cNvPr id="19" name="Text 13"/>
          <p:cNvSpPr txBox="1"/>
          <p:nvPr/>
        </p:nvSpPr>
        <p:spPr>
          <a:xfrm>
            <a:off x="548640" y="6080760"/>
            <a:ext cx="7315200" cy="228600"/>
          </a:xfrm>
          <a:prstGeom prst="rect">
            <a:avLst/>
          </a:prstGeom>
          <a:noFill/>
          <a:ln/>
        </p:spPr>
        <p:txBody>
          <a:bodyPr wrap="square" lIns="0" tIns="0" rIns="0" bIns="0" rtlCol="0" anchor="ctr"/>
          <a:lstStyle/>
          <a:p>
            <a:pPr indent="0" marL="0">
              <a:buNone/>
            </a:pPr>
            <a:r>
              <a:rPr lang="en-US" sz="1000" i="1" dirty="0">
                <a:solidFill>
                  <a:srgbClr val="6B7280"/>
                </a:solidFill>
              </a:rPr>
              <a:t>Scores reflect the group’s assessment of default and available settings, October 2026.</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The most secure app is the one you set up</a:t>
            </a:r>
            <a:endParaRPr lang="en-US" sz="4000" dirty="0"/>
          </a:p>
        </p:txBody>
      </p:sp>
      <p:sp>
        <p:nvSpPr>
          <p:cNvPr id="3" name="Text 1"/>
          <p:cNvSpPr txBox="1"/>
          <p:nvPr/>
        </p:nvSpPr>
        <p:spPr>
          <a:xfrm>
            <a:off x="548640" y="2057400"/>
            <a:ext cx="11094415" cy="320040"/>
          </a:xfrm>
          <a:prstGeom prst="rect">
            <a:avLst/>
          </a:prstGeom>
          <a:noFill/>
          <a:ln/>
        </p:spPr>
        <p:txBody>
          <a:bodyPr wrap="square" lIns="0" tIns="0" rIns="0" bIns="0" rtlCol="0" anchor="ctr"/>
          <a:lstStyle/>
          <a:p>
            <a:pPr indent="0" marL="0">
              <a:buNone/>
            </a:pPr>
            <a:r>
              <a:rPr lang="en-US" sz="1300" b="1" spc="300" kern="0" dirty="0">
                <a:solidFill>
                  <a:schemeClr val="accent6"/>
                </a:solidFill>
              </a:rPr>
              <a:t>YOUR FIVE-MINUTE SECURITY CHECKLIST</a:t>
            </a:r>
            <a:endParaRPr lang="en-US" sz="1300" dirty="0"/>
          </a:p>
        </p:txBody>
      </p:sp>
      <p:sp>
        <p:nvSpPr>
          <p:cNvPr id="4" name="step 1 card"/>
          <p:cNvSpPr/>
          <p:nvPr/>
        </p:nvSpPr>
        <p:spPr>
          <a:xfrm>
            <a:off x="548640" y="2606040"/>
            <a:ext cx="2057400" cy="2331720"/>
          </a:xfrm>
          <a:prstGeom prst="roundRect">
            <a:avLst>
              <a:gd name="adj" fmla="val 4444"/>
            </a:avLst>
          </a:prstGeom>
          <a:solidFill>
            <a:srgbClr val="16294A"/>
          </a:solidFill>
          <a:ln/>
        </p:spPr>
      </p:sp>
      <p:sp>
        <p:nvSpPr>
          <p:cNvPr id="5" name="Text 3"/>
          <p:cNvSpPr txBox="1"/>
          <p:nvPr/>
        </p:nvSpPr>
        <p:spPr>
          <a:xfrm>
            <a:off x="777240" y="2834640"/>
            <a:ext cx="731520" cy="548640"/>
          </a:xfrm>
          <a:prstGeom prst="rect">
            <a:avLst/>
          </a:prstGeom>
          <a:noFill/>
          <a:ln/>
        </p:spPr>
        <p:txBody>
          <a:bodyPr wrap="square" lIns="0" tIns="0" rIns="0" bIns="0" rtlCol="0" anchor="ctr"/>
          <a:lstStyle/>
          <a:p>
            <a:pPr indent="0" marL="0">
              <a:buNone/>
            </a:pPr>
            <a:r>
              <a:rPr lang="en-US" sz="3000" b="1" dirty="0">
                <a:solidFill>
                  <a:schemeClr val="accent6"/>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777240" y="3474720"/>
            <a:ext cx="1600200" cy="1325880"/>
          </a:xfrm>
          <a:prstGeom prst="rect">
            <a:avLst/>
          </a:prstGeom>
          <a:noFill/>
          <a:ln/>
        </p:spPr>
        <p:txBody>
          <a:bodyPr wrap="square" lIns="0" tIns="0" rIns="0" bIns="0" rtlCol="0" anchor="t"/>
          <a:lstStyle/>
          <a:p>
            <a:pPr indent="0" marL="0">
              <a:buNone/>
            </a:pPr>
            <a:r>
              <a:rPr lang="en-US" sz="1500" dirty="0">
                <a:solidFill>
                  <a:schemeClr val="bg1"/>
                </a:solidFill>
              </a:rPr>
              <a:t>Enable two-factor authentication or a passkey on every account</a:t>
            </a:r>
            <a:endParaRPr lang="en-US" sz="1500" dirty="0"/>
          </a:p>
        </p:txBody>
      </p:sp>
      <p:sp>
        <p:nvSpPr>
          <p:cNvPr id="7" name="step 2 card"/>
          <p:cNvSpPr/>
          <p:nvPr/>
        </p:nvSpPr>
        <p:spPr>
          <a:xfrm>
            <a:off x="2807894" y="2606040"/>
            <a:ext cx="2057400" cy="2331720"/>
          </a:xfrm>
          <a:prstGeom prst="roundRect">
            <a:avLst>
              <a:gd name="adj" fmla="val 4444"/>
            </a:avLst>
          </a:prstGeom>
          <a:solidFill>
            <a:srgbClr val="16294A"/>
          </a:solidFill>
          <a:ln/>
        </p:spPr>
      </p:sp>
      <p:sp>
        <p:nvSpPr>
          <p:cNvPr id="8" name="Text 6"/>
          <p:cNvSpPr txBox="1"/>
          <p:nvPr/>
        </p:nvSpPr>
        <p:spPr>
          <a:xfrm>
            <a:off x="3036494" y="2834640"/>
            <a:ext cx="731520" cy="548640"/>
          </a:xfrm>
          <a:prstGeom prst="rect">
            <a:avLst/>
          </a:prstGeom>
          <a:noFill/>
          <a:ln/>
        </p:spPr>
        <p:txBody>
          <a:bodyPr wrap="square" lIns="0" tIns="0" rIns="0" bIns="0" rtlCol="0" anchor="ctr"/>
          <a:lstStyle/>
          <a:p>
            <a:pPr indent="0" marL="0">
              <a:buNone/>
            </a:pPr>
            <a:r>
              <a:rPr lang="en-US" sz="3000" b="1" dirty="0">
                <a:solidFill>
                  <a:schemeClr val="accent6"/>
                </a:solidFill>
                <a:latin typeface="Cambria" pitchFamily="34" charset="0"/>
                <a:ea typeface="Cambria" pitchFamily="34" charset="-122"/>
                <a:cs typeface="Cambria" pitchFamily="34" charset="-120"/>
              </a:rPr>
              <a:t>02</a:t>
            </a:r>
            <a:endParaRPr lang="en-US" sz="3000" dirty="0"/>
          </a:p>
        </p:txBody>
      </p:sp>
      <p:sp>
        <p:nvSpPr>
          <p:cNvPr id="9" name="Text 7"/>
          <p:cNvSpPr txBox="1"/>
          <p:nvPr/>
        </p:nvSpPr>
        <p:spPr>
          <a:xfrm>
            <a:off x="3036494" y="3474720"/>
            <a:ext cx="1600200" cy="1325880"/>
          </a:xfrm>
          <a:prstGeom prst="rect">
            <a:avLst/>
          </a:prstGeom>
          <a:noFill/>
          <a:ln/>
        </p:spPr>
        <p:txBody>
          <a:bodyPr wrap="square" lIns="0" tIns="0" rIns="0" bIns="0" rtlCol="0" anchor="t"/>
          <a:lstStyle/>
          <a:p>
            <a:pPr indent="0" marL="0">
              <a:buNone/>
            </a:pPr>
            <a:r>
              <a:rPr lang="en-US" sz="1500" dirty="0">
                <a:solidFill>
                  <a:schemeClr val="bg1"/>
                </a:solidFill>
              </a:rPr>
              <a:t>Set a two-step verification PIN on WhatsApp</a:t>
            </a:r>
            <a:endParaRPr lang="en-US" sz="1500" dirty="0"/>
          </a:p>
        </p:txBody>
      </p:sp>
      <p:sp>
        <p:nvSpPr>
          <p:cNvPr id="10" name="step 3 card"/>
          <p:cNvSpPr/>
          <p:nvPr/>
        </p:nvSpPr>
        <p:spPr>
          <a:xfrm>
            <a:off x="5067148" y="2606040"/>
            <a:ext cx="2057400" cy="2331720"/>
          </a:xfrm>
          <a:prstGeom prst="roundRect">
            <a:avLst>
              <a:gd name="adj" fmla="val 4444"/>
            </a:avLst>
          </a:prstGeom>
          <a:solidFill>
            <a:srgbClr val="16294A"/>
          </a:solidFill>
          <a:ln/>
        </p:spPr>
      </p:sp>
      <p:sp>
        <p:nvSpPr>
          <p:cNvPr id="11" name="Text 9"/>
          <p:cNvSpPr txBox="1"/>
          <p:nvPr/>
        </p:nvSpPr>
        <p:spPr>
          <a:xfrm>
            <a:off x="5295748" y="2834640"/>
            <a:ext cx="731520" cy="548640"/>
          </a:xfrm>
          <a:prstGeom prst="rect">
            <a:avLst/>
          </a:prstGeom>
          <a:noFill/>
          <a:ln/>
        </p:spPr>
        <p:txBody>
          <a:bodyPr wrap="square" lIns="0" tIns="0" rIns="0" bIns="0" rtlCol="0" anchor="ctr"/>
          <a:lstStyle/>
          <a:p>
            <a:pPr indent="0" marL="0">
              <a:buNone/>
            </a:pPr>
            <a:r>
              <a:rPr lang="en-US" sz="3000" b="1" dirty="0">
                <a:solidFill>
                  <a:schemeClr val="accent6"/>
                </a:solidFill>
                <a:latin typeface="Cambria" pitchFamily="34" charset="0"/>
                <a:ea typeface="Cambria" pitchFamily="34" charset="-122"/>
                <a:cs typeface="Cambria" pitchFamily="34" charset="-120"/>
              </a:rPr>
              <a:t>03</a:t>
            </a:r>
            <a:endParaRPr lang="en-US" sz="3000" dirty="0"/>
          </a:p>
        </p:txBody>
      </p:sp>
      <p:sp>
        <p:nvSpPr>
          <p:cNvPr id="12" name="Text 10"/>
          <p:cNvSpPr txBox="1"/>
          <p:nvPr/>
        </p:nvSpPr>
        <p:spPr>
          <a:xfrm>
            <a:off x="5295748" y="3474720"/>
            <a:ext cx="1600200" cy="1325880"/>
          </a:xfrm>
          <a:prstGeom prst="rect">
            <a:avLst/>
          </a:prstGeom>
          <a:noFill/>
          <a:ln/>
        </p:spPr>
        <p:txBody>
          <a:bodyPr wrap="square" lIns="0" tIns="0" rIns="0" bIns="0" rtlCol="0" anchor="t"/>
          <a:lstStyle/>
          <a:p>
            <a:pPr indent="0" marL="0">
              <a:buNone/>
            </a:pPr>
            <a:r>
              <a:rPr lang="en-US" sz="1500" dirty="0">
                <a:solidFill>
                  <a:schemeClr val="bg1"/>
                </a:solidFill>
              </a:rPr>
              <a:t>Never share an OTP or six-digit code with anyone</a:t>
            </a:r>
            <a:endParaRPr lang="en-US" sz="1500" dirty="0"/>
          </a:p>
        </p:txBody>
      </p:sp>
      <p:sp>
        <p:nvSpPr>
          <p:cNvPr id="13" name="step 4 card"/>
          <p:cNvSpPr/>
          <p:nvPr/>
        </p:nvSpPr>
        <p:spPr>
          <a:xfrm>
            <a:off x="7326401" y="2606040"/>
            <a:ext cx="2057400" cy="2331720"/>
          </a:xfrm>
          <a:prstGeom prst="roundRect">
            <a:avLst>
              <a:gd name="adj" fmla="val 4444"/>
            </a:avLst>
          </a:prstGeom>
          <a:solidFill>
            <a:srgbClr val="16294A"/>
          </a:solidFill>
          <a:ln/>
        </p:spPr>
      </p:sp>
      <p:sp>
        <p:nvSpPr>
          <p:cNvPr id="14" name="Text 12"/>
          <p:cNvSpPr txBox="1"/>
          <p:nvPr/>
        </p:nvSpPr>
        <p:spPr>
          <a:xfrm>
            <a:off x="7555001" y="2834640"/>
            <a:ext cx="731520" cy="548640"/>
          </a:xfrm>
          <a:prstGeom prst="rect">
            <a:avLst/>
          </a:prstGeom>
          <a:noFill/>
          <a:ln/>
        </p:spPr>
        <p:txBody>
          <a:bodyPr wrap="square" lIns="0" tIns="0" rIns="0" bIns="0" rtlCol="0" anchor="ctr"/>
          <a:lstStyle/>
          <a:p>
            <a:pPr indent="0" marL="0">
              <a:buNone/>
            </a:pPr>
            <a:r>
              <a:rPr lang="en-US" sz="3000" b="1" dirty="0">
                <a:solidFill>
                  <a:schemeClr val="accent6"/>
                </a:solidFill>
                <a:latin typeface="Cambria" pitchFamily="34" charset="0"/>
                <a:ea typeface="Cambria" pitchFamily="34" charset="-122"/>
                <a:cs typeface="Cambria" pitchFamily="34" charset="-120"/>
              </a:rPr>
              <a:t>04</a:t>
            </a:r>
            <a:endParaRPr lang="en-US" sz="3000" dirty="0"/>
          </a:p>
        </p:txBody>
      </p:sp>
      <p:sp>
        <p:nvSpPr>
          <p:cNvPr id="15" name="Text 13"/>
          <p:cNvSpPr txBox="1"/>
          <p:nvPr/>
        </p:nvSpPr>
        <p:spPr>
          <a:xfrm>
            <a:off x="7555001" y="3474720"/>
            <a:ext cx="1600200" cy="1325880"/>
          </a:xfrm>
          <a:prstGeom prst="rect">
            <a:avLst/>
          </a:prstGeom>
          <a:noFill/>
          <a:ln/>
        </p:spPr>
        <p:txBody>
          <a:bodyPr wrap="square" lIns="0" tIns="0" rIns="0" bIns="0" rtlCol="0" anchor="t"/>
          <a:lstStyle/>
          <a:p>
            <a:pPr indent="0" marL="0">
              <a:buNone/>
            </a:pPr>
            <a:r>
              <a:rPr lang="en-US" sz="1500" dirty="0">
                <a:solidFill>
                  <a:schemeClr val="bg1"/>
                </a:solidFill>
              </a:rPr>
              <a:t>Confirm your recovery email and phone number</a:t>
            </a:r>
            <a:endParaRPr lang="en-US" sz="1500" dirty="0"/>
          </a:p>
        </p:txBody>
      </p:sp>
      <p:sp>
        <p:nvSpPr>
          <p:cNvPr id="16" name="step 5 card"/>
          <p:cNvSpPr/>
          <p:nvPr/>
        </p:nvSpPr>
        <p:spPr>
          <a:xfrm>
            <a:off x="9585655" y="2606040"/>
            <a:ext cx="2057400" cy="2331720"/>
          </a:xfrm>
          <a:prstGeom prst="roundRect">
            <a:avLst>
              <a:gd name="adj" fmla="val 4444"/>
            </a:avLst>
          </a:prstGeom>
          <a:solidFill>
            <a:srgbClr val="16294A"/>
          </a:solidFill>
          <a:ln/>
        </p:spPr>
      </p:sp>
      <p:sp>
        <p:nvSpPr>
          <p:cNvPr id="17" name="Text 15"/>
          <p:cNvSpPr txBox="1"/>
          <p:nvPr/>
        </p:nvSpPr>
        <p:spPr>
          <a:xfrm>
            <a:off x="9814255" y="2834640"/>
            <a:ext cx="731520" cy="548640"/>
          </a:xfrm>
          <a:prstGeom prst="rect">
            <a:avLst/>
          </a:prstGeom>
          <a:noFill/>
          <a:ln/>
        </p:spPr>
        <p:txBody>
          <a:bodyPr wrap="square" lIns="0" tIns="0" rIns="0" bIns="0" rtlCol="0" anchor="ctr"/>
          <a:lstStyle/>
          <a:p>
            <a:pPr indent="0" marL="0">
              <a:buNone/>
            </a:pPr>
            <a:r>
              <a:rPr lang="en-US" sz="3000" b="1" dirty="0">
                <a:solidFill>
                  <a:schemeClr val="accent6"/>
                </a:solidFill>
                <a:latin typeface="Cambria" pitchFamily="34" charset="0"/>
                <a:ea typeface="Cambria" pitchFamily="34" charset="-122"/>
                <a:cs typeface="Cambria" pitchFamily="34" charset="-120"/>
              </a:rPr>
              <a:t>05</a:t>
            </a:r>
            <a:endParaRPr lang="en-US" sz="3000" dirty="0"/>
          </a:p>
        </p:txBody>
      </p:sp>
      <p:sp>
        <p:nvSpPr>
          <p:cNvPr id="18" name="Text 16"/>
          <p:cNvSpPr txBox="1"/>
          <p:nvPr/>
        </p:nvSpPr>
        <p:spPr>
          <a:xfrm>
            <a:off x="9814255" y="3474720"/>
            <a:ext cx="1600200" cy="1325880"/>
          </a:xfrm>
          <a:prstGeom prst="rect">
            <a:avLst/>
          </a:prstGeom>
          <a:noFill/>
          <a:ln/>
        </p:spPr>
        <p:txBody>
          <a:bodyPr wrap="square" lIns="0" tIns="0" rIns="0" bIns="0" rtlCol="0" anchor="t"/>
          <a:lstStyle/>
          <a:p>
            <a:pPr indent="0" marL="0">
              <a:buNone/>
            </a:pPr>
            <a:r>
              <a:rPr lang="en-US" sz="1500" dirty="0">
                <a:solidFill>
                  <a:schemeClr val="bg1"/>
                </a:solidFill>
              </a:rPr>
              <a:t>Log out of any device you do not recognise</a:t>
            </a:r>
            <a:endParaRPr lang="en-US" sz="1500" dirty="0"/>
          </a:p>
        </p:txBody>
      </p:sp>
      <p:sp>
        <p:nvSpPr>
          <p:cNvPr id="19" name="Text 17"/>
          <p:cNvSpPr txBox="1"/>
          <p:nvPr/>
        </p:nvSpPr>
        <p:spPr>
          <a:xfrm>
            <a:off x="548640" y="5349240"/>
            <a:ext cx="11094415" cy="54864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Thank you</a:t>
            </a:r>
            <a:pPr indent="0" marL="0">
              <a:buNone/>
            </a:pPr>
            <a:r>
              <a:rPr lang="en-US" sz="2400" dirty="0">
                <a:solidFill>
                  <a:srgbClr val="B8C4D3"/>
                </a:solidFill>
                <a:latin typeface="Cambria" pitchFamily="34" charset="0"/>
                <a:ea typeface="Cambria" pitchFamily="34" charset="-122"/>
                <a:cs typeface="Cambria" pitchFamily="34" charset="-120"/>
              </a:rPr>
              <a:t>   |   Questions and discussion</a:t>
            </a:r>
            <a:endParaRPr lang="en-US" sz="2400" dirty="0"/>
          </a:p>
        </p:txBody>
      </p:sp>
    </p:spTree>
  </p:cSld>
  <p:clrMapOvr>
    <a:masterClrMapping/>
  </p:clrMapOvr>
</p:sld>
</file>

<file path=ppt/theme/theme1.xml><?xml version="1.0" encoding="utf-8"?>
<a:theme xmlns:a="http://schemas.openxmlformats.org/drawingml/2006/main" name="Locked or Leaked">
  <a:themeElements>
    <a:clrScheme name="Locked or Leaked">
      <a:dk1>
        <a:srgbClr val="1F2937"/>
      </a:dk1>
      <a:lt1>
        <a:srgbClr val="FFFFFF"/>
      </a:lt1>
      <a:dk2>
        <a:srgbClr val="0B1F3A"/>
      </a:dk2>
      <a:lt2>
        <a:srgbClr val="EEF2F6"/>
      </a:lt2>
      <a:accent1>
        <a:srgbClr val="0E7C86"/>
      </a:accent1>
      <a:accent2>
        <a:srgbClr val="B45309"/>
      </a:accent2>
      <a:accent3>
        <a:srgbClr val="2563A8"/>
      </a:accent3>
      <a:accent4>
        <a:srgbClr val="B91C1C"/>
      </a:accent4>
      <a:accent5>
        <a:srgbClr val="6B4C9A"/>
      </a:accent5>
      <a:accent6>
        <a:srgbClr val="5FB3B3"/>
      </a:accent6>
      <a:hlink>
        <a:srgbClr val="2563A8"/>
      </a:hlink>
      <a:folHlink>
        <a:srgbClr val="6B4C9A"/>
      </a:folHlink>
    </a:clrScheme>
    <a:fontScheme name="Locked or Leak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Locked or Leaked? Assessing the Security Features of Five Online Platforms</dc:title>
  <dc:subject>MCCJ 525 Cybercrimes and Security</dc:subject>
  <dc:creator>PptxGenJS</dc:creator>
  <cp:lastModifiedBy>PptxGenJS</cp:lastModifiedBy>
  <cp:revision>1</cp:revision>
  <dcterms:created xsi:type="dcterms:W3CDTF">2026-10-17T15:56:20Z</dcterms:created>
  <dcterms:modified xsi:type="dcterms:W3CDTF">2026-10-17T15:56:20Z</dcterms:modified>
</cp:coreProperties>
</file>