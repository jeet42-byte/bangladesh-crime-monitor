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rt in Session" id="{29ffb13d-badc-64c6-f0f3-051fdb95084f}">
          <p14:sldIdLst>
            <p14:sldId id="256"/>
            <p14:sldId id="257"/>
          </p14:sldIdLst>
        </p14:section>
        <p14:section name="The Charge" id="{009fd595-682a-f903-684a-0b828ff40ebc}">
          <p14:sldIdLst>
            <p14:sldId id="258"/>
          </p14:sldIdLst>
        </p14:section>
        <p14:section name="The Trials" id="{3c02d1b1-9637-3672-cc7d-b58296546321}">
          <p14:sldIdLst>
            <p14:sldId id="259"/>
            <p14:sldId id="260"/>
            <p14:sldId id="261"/>
            <p14:sldId id="262"/>
            <p14:sldId id="263"/>
          </p14:sldIdLst>
        </p14:section>
        <p14:section name="Judgment" id="{afe891a5-89d3-c911-838a-34b7e59a680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8B1E1E"/>
            </a:solidFill>
            <a:effectLst/>
          </c:spPr>
          <c:invertIfNegative val="0"/>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c:v>
                  </c:pt>
                  <c:pt idx="1">
                    <c:v>Encryption</c:v>
                  </c:pt>
                  <c:pt idx="2">
                    <c:v>Alerts</c:v>
                  </c:pt>
                  <c:pt idx="3">
                    <c:v>Recovery</c:v>
                  </c:pt>
                  <c:pt idx="4">
                    <c:v>Privacy</c:v>
                  </c:pt>
                </c:lvl>
              </c:multiLvlStrCache>
            </c:multiLvlStrRef>
          </c:cat>
          <c:val>
            <c:numRef>
              <c:f>Sheet1!$B$2:$B$6</c:f>
              <c:numCache>
                <c:formatCode>General</c:formatCode>
                <c:ptCount val="5"/>
                <c:pt idx="0">
                  <c:v>4</c:v>
                </c:pt>
                <c:pt idx="1">
                  <c:v>3</c:v>
                </c:pt>
                <c:pt idx="2">
                  <c:v>4</c:v>
                </c:pt>
                <c:pt idx="3">
                  <c:v>2</c:v>
                </c:pt>
                <c:pt idx="4">
                  <c:v>3</c:v>
                </c:pt>
              </c:numCache>
            </c:numRef>
          </c:val>
        </c:ser>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8B1E1E"/>
            </a:solidFill>
            <a:effectLst/>
          </c:spPr>
          <c:invertIfNegative val="0"/>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c:v>
                  </c:pt>
                  <c:pt idx="1">
                    <c:v>Encryption</c:v>
                  </c:pt>
                  <c:pt idx="2">
                    <c:v>Alerts</c:v>
                  </c:pt>
                  <c:pt idx="3">
                    <c:v>Recovery</c:v>
                  </c:pt>
                  <c:pt idx="4">
                    <c:v>Privacy</c:v>
                  </c:pt>
                </c:lvl>
              </c:multiLvlStrCache>
            </c:multiLvlStrRef>
          </c:cat>
          <c:val>
            <c:numRef>
              <c:f>Sheet1!$B$2:$B$6</c:f>
              <c:numCache>
                <c:formatCode>General</c:formatCode>
                <c:ptCount val="5"/>
                <c:pt idx="0">
                  <c:v>4</c:v>
                </c:pt>
                <c:pt idx="1">
                  <c:v>1</c:v>
                </c:pt>
                <c:pt idx="2">
                  <c:v>4</c:v>
                </c:pt>
                <c:pt idx="3">
                  <c:v>3</c:v>
                </c:pt>
                <c:pt idx="4">
                  <c:v>4</c:v>
                </c:pt>
              </c:numCache>
            </c:numRef>
          </c:val>
        </c:ser>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66534"/>
            </a:solidFill>
            <a:effectLst/>
          </c:spPr>
          <c:invertIfNegative val="0"/>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c:v>
                  </c:pt>
                  <c:pt idx="1">
                    <c:v>Encryption</c:v>
                  </c:pt>
                  <c:pt idx="2">
                    <c:v>Alerts</c:v>
                  </c:pt>
                  <c:pt idx="3">
                    <c:v>Recovery</c:v>
                  </c:pt>
                  <c:pt idx="4">
                    <c:v>Privacy</c:v>
                  </c:pt>
                </c:lvl>
              </c:multiLvlStrCache>
            </c:multiLvlStrRef>
          </c:cat>
          <c:val>
            <c:numRef>
              <c:f>Sheet1!$B$2:$B$6</c:f>
              <c:numCache>
                <c:formatCode>General</c:formatCode>
                <c:ptCount val="5"/>
                <c:pt idx="0">
                  <c:v>4</c:v>
                </c:pt>
                <c:pt idx="1">
                  <c:v>5</c:v>
                </c:pt>
                <c:pt idx="2">
                  <c:v>3</c:v>
                </c:pt>
                <c:pt idx="3">
                  <c:v>3</c:v>
                </c:pt>
                <c:pt idx="4">
                  <c:v>5</c:v>
                </c:pt>
              </c:numCache>
            </c:numRef>
          </c:val>
        </c:ser>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66534"/>
            </a:solidFill>
            <a:effectLst/>
          </c:spPr>
          <c:invertIfNegative val="0"/>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c:v>
                  </c:pt>
                  <c:pt idx="1">
                    <c:v>Encryption</c:v>
                  </c:pt>
                  <c:pt idx="2">
                    <c:v>Alerts</c:v>
                  </c:pt>
                  <c:pt idx="3">
                    <c:v>Recovery</c:v>
                  </c:pt>
                  <c:pt idx="4">
                    <c:v>Privacy</c:v>
                  </c:pt>
                </c:lvl>
              </c:multiLvlStrCache>
            </c:multiLvlStrRef>
          </c:cat>
          <c:val>
            <c:numRef>
              <c:f>Sheet1!$B$2:$B$6</c:f>
              <c:numCache>
                <c:formatCode>General</c:formatCode>
                <c:ptCount val="5"/>
                <c:pt idx="0">
                  <c:v>5</c:v>
                </c:pt>
                <c:pt idx="1">
                  <c:v>3</c:v>
                </c:pt>
                <c:pt idx="2">
                  <c:v>5</c:v>
                </c:pt>
                <c:pt idx="3">
                  <c:v>4</c:v>
                </c:pt>
                <c:pt idx="4">
                  <c:v>3</c:v>
                </c:pt>
              </c:numCache>
            </c:numRef>
          </c:val>
        </c:ser>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8B1E1E"/>
            </a:solidFill>
            <a:effectLst/>
          </c:spPr>
          <c:invertIfNegative val="0"/>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Login</c:v>
                  </c:pt>
                  <c:pt idx="1">
                    <c:v>Encryption</c:v>
                  </c:pt>
                  <c:pt idx="2">
                    <c:v>Alerts</c:v>
                  </c:pt>
                  <c:pt idx="3">
                    <c:v>Recovery</c:v>
                  </c:pt>
                  <c:pt idx="4">
                    <c:v>Privacy</c:v>
                  </c:pt>
                </c:lvl>
              </c:multiLvlStrCache>
            </c:multiLvlStrRef>
          </c:cat>
          <c:val>
            <c:numRef>
              <c:f>Sheet1!$B$2:$B$6</c:f>
              <c:numCache>
                <c:formatCode>General</c:formatCode>
                <c:ptCount val="5"/>
                <c:pt idx="0">
                  <c:v>3</c:v>
                </c:pt>
                <c:pt idx="1">
                  <c:v>2</c:v>
                </c:pt>
                <c:pt idx="2">
                  <c:v>3</c:v>
                </c:pt>
                <c:pt idx="3">
                  <c:v>2</c:v>
                </c:pt>
                <c:pt idx="4">
                  <c:v>4</c:v>
                </c:pt>
              </c:numCache>
            </c:numRef>
          </c:val>
        </c:ser>
        <c:dLbls>
          <c:numFmt formatCode="#,##0" sourceLinked="0"/>
          <c:txPr>
            <a:bodyPr/>
            <a:lstStyle/>
            <a:p>
              <a:pPr>
                <a:defRPr b="1" i="0" strike="noStrike" sz="1000" u="none">
                  <a:solidFill>
                    <a:srgbClr val="1C191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1917"/>
                </a:solidFill>
                <a:latin typeface="+mn-lt"/>
              </a:defRPr>
            </a:pPr>
            <a:endParaRPr lang="en-US"/>
          </a:p>
        </c:txPr>
        <c:crossAx val="2094734552"/>
        <c:crosses val="autoZero"/>
        <c:auto val="1"/>
        <c:lblAlgn val="ctr"/>
        <c:noMultiLvlLbl val="1"/>
      </c:catAx>
      <c:valAx>
        <c:axId val="2094734552"/>
        <c:scaling>
          <c:orientation val="minMax"/>
          <c:max val="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COURT CLERK – [Name] (about 1 minute)
[Stand up straight, speak with authority. Optional: tap the desk like a gavel.]
All rise! The Cyber Security Tribunal is now in session. Case number MCCJ-525: The People versus Your Apps.
[Normal voice.] Good morning. We are Group [__]. Today, five apps that live on almost every phone in this room stand trial: Facebook, Instagram, WhatsApp, Gmail and Telegram.
Every day we hand them our photos, our conversations, and even the OTPs for our mobile banking. They promise to keep us safe. Today we ask: did they keep that promise?
[Point to the roles.] I am the court clerk. Three prosecutors will present the case against each app: the evidence for the defence, meaning the security features each app already has, and the evidence for the prosecution, meaning where it fails. Finally, our judge will deliver the verdict and decide which app is the most secure.
But first, the court must hear why this case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COURT CLERK – [Name] (about 1 minute)
The court enters Exhibit 1: the statement of harm. These figures come from the Cyber Crime Awareness Foundation's 2024 study of cybercrime victims in Bangladesh.
[First card.] Social media and online account hacking was the most common cybercrime, affecting 21.65 percent of victims.
[Second card.] About 59 percent of victims were women, often facing leaked photos, blackmail and harassment.
[Third card.] 78.78 percent of victims were aged 18 to 30, the same age as everyone in this room.
[Fourth card.] And only 12 percent ever reported the crime to the police.
[Bottom quote.] Around 64 million Bangladeshis use Facebook. Criminals no longer need to hack a computer; they simply take over an account.
So the question before this court is serious: are these platforms doing enough to protect us? I now call the first prosecutor to read the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PROSECUTOR – [Name] (about 1 minute)
Thank you. Your Honour, the charge against all five defendants is the same. [Read the charge slowly.] "That each defendant failed to adequately protect the accounts of its users in Bangladesh against cyber attacks."
How did we gather the evidence? We reviewed every security setting on our own accounts, and cross-checked what we found with official help pages and recent news.
[Right side.] Each defendant is judged against our Security Code, five sections:
Section 1, login protection: can a stolen password alone get someone in?
Section 2, encryption by default: can the company read my messages?
Section 3, threat alerts: will it warn me of an attack?
Section 4, recovery safety: can a hacker lock me out for good?
Section 5, privacy controls: can strangers find and contact me?
Each section is scored from 1 to 5, a maximum of 25. Our standard: 20 or more is adequate; below 20, the defendant is guilty on its weakest count.
The prosecution calls its first defendant: Facebook.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PROSECUTOR – [Name] (about 1 minute)
Case 1: The People versus Facebook. Score: 16 out of 25.
[Left column.] In fairness, the defence has strong evidence. Exhibit A: two-factor authentication through an app, SMS or a physical security key. Exhibit B: login alerts and remote log-out. Exhibit C: passkeys since June 2025. Exhibit D: profile lock. Exhibit E: Messenger chats encrypted by default since December 2023.
[Prosecution card.] But the prosecution's case is this: once a hacker gets in, they can change the recovery email and phone number within minutes. Recovery for the real owner is slow and automated. Facebook scored just 2 out of 5 on recovery safety.
[Verdict.] The court finds Facebook guilty of leaving account recovery unguarded.
[Sentence.] The sentence we request: a 48-hour cool-down before recovery details can change, alerts to the old email and phone, and real human support in Bangla.
I hand over to my colleague for the next defendant.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PROSECUTOR – [Name] (about 1 minute)
Thank you. Case 2: The People versus Instagram. Score: 16 out of 25.
[Left column.] The defence presents Meta's two-factor authentication and login alerts, plus a feature we found impressive: "Emails from Instagram", which lists every genuine security email sent in the last 14 days, so users can expose fake ones. It also offers Restrict, Hidden Words, and private-by-default Teen Accounts.
[Prosecution card.] But here is the prosecution's key evidence. Instagram's direct messages were never end-to-end encrypted by default, and on 8 May 2026 Meta removed even the optional encrypted chats. That means Meta can technically access users' private messages. On encryption, Instagram scored just 1 out of 5. And sextortion usually begins in DMs.
[Verdict.] The court finds Instagram guilty of leaving private messages unencrypted.
[Sentence.] We request that encrypted DMs be restored as the default, and that unsolicited explicit images be blurred for all users, not only teenagers.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PROSECUTOR – [Name] (about 1 minute)
Case 3: The People versus WhatsApp. Score: 20 out of 25.
[Prosecution card.] The prosecution charged WhatsApp with allowing account hijacking. In Bangladesh, a common scam goes like this: "I sent my code to your number by mistake, please forward it." The victim sends it, and the account is gone.
[Left column.] But the defence evidence is overwhelming. Every personal chat and call is end-to-end encrypted by default; not even WhatsApp can read them. There is a six-digit two-step PIN, which defeats the code scam entirely; passkey login and passkey-protected backups since October 2025; and since January 2026, Strict Account Settings, a one-tap lockdown.
[Verdict.] The court finds WhatsApp not guilty. The locks exist; users are being tricked into opening them.
[Advice.] However, the court advises a clear warning in Bangla whenever a registration code is requested, and making the two-step PIN mandatory.
My colleague will present the next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PROSECUTOR – [Name] (about 1 minute)
Thank you. Case 4: The People versus Gmail. Score: 20 out of 25, tied for the highest.
[Prosecution card.] The prosecution's concern: personal Gmail is not end-to-end encrypted, so Google can scan message content. And Gmail is the master key. Every "forgot password" link, for Facebook, Instagram, even bKash, goes to your email. If Gmail falls, everything falls.
[Left column.] But the defence has the strongest login protection of any defendant. Passkeys have been the default sign-in since October 2023. There is 2-Step Verification, a Security Checkup and critical sign-in alerts. Google reports that its filters block over 99.9 percent of phishing and malware. And the Advanced Protection Program protects high-risk users with hardware keys.
[Verdict.] The court finds Gmail not guilty.
[Advice.] Still, the court advises optional end-to-end encryption for personal accounts, and special warnings for emails imitating bKash, Nagad or local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PROSECUTOR – [Name] (about 1 minute)
Case 5: The People versus Telegram. Score: 14 out of 25, the lowest.
Many students believe Telegram is the most private app. The prosecution will show otherwise.
[Left column.] The defence offers a two-step cloud password, a passcode lock, control over active sessions, the option to hide your phone number, and Secret Chats, which are end-to-end encrypted and can self-destruct.
[Prosecution card.] But ordinary Telegram chats, groups and channels are not end-to-end encrypted; they are stored on Telegram's servers. Secret Chats must be started manually, so most users never use them. And since September 2024, Telegram has said it will share the IP addresses and phone numbers of rule-breaking users with authorities on valid legal requests.
[Verdict.] The court finds Telegram guilty of promising more privacy than it delivers by default.
[Sentence.] We request end-to-end encryption by default for one-to-one chats, and a prompt to set up two-step verification at sign-up.
The prosecution rests. Your Honour.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JUDGE – [Name] (about 1 minute)
[Speak slowly and formally.] Thank you to the prosecution. The court has heard all five cases and is ready to deliver its final judgment.
[Point to the ranking.] WhatsApp and Gmail each score 20 out of 25 and are found not guilty. Facebook and Instagram score 16 and are found guilty on their weakest counts: recovery and encryption. Telegram scores 14, the lowest, and is found guilty.
[Right side.] On the question of which platform is the most secure for an individual user, the court finds in favour of WhatsApp. Its strongest protection, end-to-end encryption, works the moment you install it. You do not need to change a single setting.
The court also rules that Gmail must be guarded hardest, because it is the master key to every other account.
And Telegram reminds us that a reputation for privacy is not the same as privacy by default.
But this court has one final order, and it is addressed not to the apps, but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JUDGE – [Name] (about 1 minute)
Our biggest finding is this: almost every attack we studied succeeded not because a lock was broken, but because a lock was never switched on, or a code was handed over.
So this court issues five orders to everyone in this room, effective tonight. [Go through the cards.]
Order 1: enable two-factor authentication or a passkey on every account, starting with your email.
Order 2: set a two-step verification PIN on WhatsApp. It takes thirty seconds.
Order 3: never share an OTP or six-digit code with anyone. Not a friend, not "Facebook support", not "bKash". Genuine companies never ask.
Order 4: confirm your recovery email and phone number still belong to you.
Order 5: log out of any device you do not recognise.
[Pause.] The most secure app is the one you set up.
[Optional: tap the desk like a gavel.] Court is adjourned. Thank you, and we welcome questions from the gallery.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AS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1828800"/>
            <a:ext cx="7498080" cy="173736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S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621792"/>
            <a:ext cx="11002975" cy="6400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94360" y="6382512"/>
            <a:ext cx="5486400" cy="201168"/>
          </a:xfrm>
          <a:prstGeom prst="rect">
            <a:avLst/>
          </a:prstGeom>
          <a:noFill/>
          <a:ln/>
        </p:spPr>
        <p:txBody>
          <a:bodyPr wrap="square" lIns="0" tIns="0" rIns="0" bIns="0" rtlCol="0" anchor="ctr"/>
          <a:lstStyle/>
          <a:p>
            <a:pPr indent="0" marL="0">
              <a:buNone/>
            </a:pPr>
            <a:r>
              <a:rPr lang="en-US" sz="900" spc="100" kern="0" dirty="0">
                <a:solidFill>
                  <a:srgbClr val="8A817C"/>
                </a:solidFill>
                <a:latin typeface="Courier New" pitchFamily="34" charset="0"/>
                <a:ea typeface="Courier New" pitchFamily="34" charset="-122"/>
                <a:cs typeface="Courier New" pitchFamily="34" charset="-120"/>
              </a:rPr>
              <a:t>MCCJ 525  ·  THE PEOPLE v. YOUR APPS</a:t>
            </a:r>
            <a:endParaRPr lang="en-US" sz="9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chart" Target="/ppt/charts/chart3.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4" Type="http://schemas.openxmlformats.org/officeDocument/2006/relationships/chart" Target="/ppt/charts/chart5.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7680960" y="1097280"/>
            <a:ext cx="4480560" cy="4480560"/>
          </a:xfrm>
          <a:prstGeom prst="rect">
            <a:avLst/>
          </a:prstGeom>
        </p:spPr>
      </p:pic>
      <p:sp>
        <p:nvSpPr>
          <p:cNvPr id="3" name="Text 0"/>
          <p:cNvSpPr txBox="1"/>
          <p:nvPr/>
        </p:nvSpPr>
        <p:spPr>
          <a:xfrm>
            <a:off x="594360" y="1234440"/>
            <a:ext cx="8229600" cy="320040"/>
          </a:xfrm>
          <a:prstGeom prst="rect">
            <a:avLst/>
          </a:prstGeom>
          <a:noFill/>
          <a:ln/>
        </p:spPr>
        <p:txBody>
          <a:bodyPr wrap="square" lIns="0" tIns="0" rIns="0" bIns="0" rtlCol="0" anchor="ctr"/>
          <a:lstStyle/>
          <a:p>
            <a:pPr indent="0" marL="0">
              <a:buNone/>
            </a:pPr>
            <a:r>
              <a:rPr lang="en-US" sz="1400" b="1" spc="200" kern="0" dirty="0">
                <a:solidFill>
                  <a:schemeClr val="accent6"/>
                </a:solidFill>
                <a:latin typeface="Courier New" pitchFamily="34" charset="0"/>
                <a:ea typeface="Courier New" pitchFamily="34" charset="-122"/>
                <a:cs typeface="Courier New" pitchFamily="34" charset="-120"/>
              </a:rPr>
              <a:t>CASE NO. MCCJ-525/2026  ·  CYBER SECURITY TRIBUNAL</a:t>
            </a:r>
            <a:endParaRPr lang="en-US" sz="1400" dirty="0"/>
          </a:p>
        </p:txBody>
      </p:sp>
      <p:sp>
        <p:nvSpPr>
          <p:cNvPr id="4" name="Text 0"/>
          <p:cNvSpPr/>
          <p:nvPr>
            <p:ph idx="100" type="title" hasCustomPrompt="1"/>
          </p:nvPr>
        </p:nvSpPr>
        <p:spPr>
          <a:xfrm>
            <a:off x="594360" y="1828800"/>
            <a:ext cx="7498080" cy="1737360"/>
          </a:xfrm>
          <a:prstGeom prst="rect">
            <a:avLst/>
          </a:prstGeom>
          <a:noFill/>
          <a:ln/>
        </p:spPr>
        <p:txBody>
          <a:bodyPr wrap="square" lIns="0" tIns="0" rIns="0" bIns="0" rtlCol="0" anchor="b"/>
          <a:lstStyle/>
          <a:p>
            <a:pPr algn="l" indent="0" marL="0">
              <a:buNone/>
            </a:pPr>
            <a:r>
              <a:rPr lang="en-US" sz="5200" b="1" dirty="0">
                <a:solidFill>
                  <a:schemeClr val="bg1"/>
                </a:solidFill>
              </a:rPr>
              <a:t>The People v. Your Apps</a:t>
            </a:r>
            <a:endParaRPr lang="en-US" sz="5200" dirty="0"/>
          </a:p>
        </p:txBody>
      </p:sp>
      <p:sp>
        <p:nvSpPr>
          <p:cNvPr id="5" name="Text 2"/>
          <p:cNvSpPr txBox="1"/>
          <p:nvPr/>
        </p:nvSpPr>
        <p:spPr>
          <a:xfrm>
            <a:off x="594360" y="3703320"/>
            <a:ext cx="7132320" cy="457200"/>
          </a:xfrm>
          <a:prstGeom prst="rect">
            <a:avLst/>
          </a:prstGeom>
          <a:noFill/>
          <a:ln/>
        </p:spPr>
        <p:txBody>
          <a:bodyPr wrap="square" lIns="0" tIns="0" rIns="0" bIns="0" rtlCol="0" anchor="ctr"/>
          <a:lstStyle/>
          <a:p>
            <a:pPr indent="0" marL="0">
              <a:buNone/>
            </a:pPr>
            <a:r>
              <a:rPr lang="en-US" sz="2200" i="1" dirty="0">
                <a:solidFill>
                  <a:srgbClr val="E7E0D6"/>
                </a:solidFill>
                <a:latin typeface="Cambria" pitchFamily="34" charset="0"/>
                <a:ea typeface="Cambria" pitchFamily="34" charset="-122"/>
                <a:cs typeface="Cambria" pitchFamily="34" charset="-120"/>
              </a:rPr>
              <a:t>A security trial of Facebook, Instagram, WhatsApp, Gmail and Telegram</a:t>
            </a:r>
            <a:endParaRPr lang="en-US" sz="2200" dirty="0"/>
          </a:p>
        </p:txBody>
      </p:sp>
      <p:sp>
        <p:nvSpPr>
          <p:cNvPr id="6" name="Text 3"/>
          <p:cNvSpPr txBox="1"/>
          <p:nvPr/>
        </p:nvSpPr>
        <p:spPr>
          <a:xfrm>
            <a:off x="594360" y="4709160"/>
            <a:ext cx="1508760" cy="594360"/>
          </a:xfrm>
          <a:prstGeom prst="rect">
            <a:avLst/>
          </a:prstGeom>
          <a:noFill/>
          <a:ln/>
        </p:spPr>
        <p:txBody>
          <a:bodyPr wrap="square" lIns="0" tIns="0" rIns="0" bIns="0" rtlCol="0" anchor="t"/>
          <a:lstStyle/>
          <a:p>
            <a:pPr indent="0" marL="0">
              <a:buNone/>
            </a:pPr>
            <a:r>
              <a:rPr lang="en-US" sz="1000" b="1" spc="100" kern="0" dirty="0">
                <a:solidFill>
                  <a:schemeClr val="accent6"/>
                </a:solidFill>
                <a:latin typeface="Courier New" pitchFamily="34" charset="0"/>
                <a:ea typeface="Courier New" pitchFamily="34" charset="-122"/>
                <a:cs typeface="Courier New" pitchFamily="34" charset="-120"/>
              </a:rPr>
              <a:t>COURT CLERK</a:t>
            </a:r>
            <a:endParaRPr lang="en-US" sz="1000" dirty="0"/>
          </a:p>
          <a:p>
            <a:pPr indent="0" marL="0">
              <a:buNone/>
            </a:pPr>
            <a:r>
              <a:rPr lang="en-US" sz="1400" dirty="0">
                <a:solidFill>
                  <a:schemeClr val="bg1"/>
                </a:solidFill>
              </a:rPr>
              <a:t>[Member 1]</a:t>
            </a:r>
            <a:endParaRPr lang="en-US" sz="1000" dirty="0"/>
          </a:p>
        </p:txBody>
      </p:sp>
      <p:sp>
        <p:nvSpPr>
          <p:cNvPr id="7" name="Text 4"/>
          <p:cNvSpPr txBox="1"/>
          <p:nvPr/>
        </p:nvSpPr>
        <p:spPr>
          <a:xfrm>
            <a:off x="2167128" y="4709160"/>
            <a:ext cx="1508760" cy="594360"/>
          </a:xfrm>
          <a:prstGeom prst="rect">
            <a:avLst/>
          </a:prstGeom>
          <a:noFill/>
          <a:ln/>
        </p:spPr>
        <p:txBody>
          <a:bodyPr wrap="square" lIns="0" tIns="0" rIns="0" bIns="0" rtlCol="0" anchor="t"/>
          <a:lstStyle/>
          <a:p>
            <a:pPr indent="0" marL="0">
              <a:buNone/>
            </a:pPr>
            <a:r>
              <a:rPr lang="en-US" sz="1000" b="1" spc="100" kern="0" dirty="0">
                <a:solidFill>
                  <a:schemeClr val="accent6"/>
                </a:solidFill>
                <a:latin typeface="Courier New" pitchFamily="34" charset="0"/>
                <a:ea typeface="Courier New" pitchFamily="34" charset="-122"/>
                <a:cs typeface="Courier New" pitchFamily="34" charset="-120"/>
              </a:rPr>
              <a:t>PROSECUTOR</a:t>
            </a:r>
            <a:endParaRPr lang="en-US" sz="1000" dirty="0"/>
          </a:p>
          <a:p>
            <a:pPr indent="0" marL="0">
              <a:buNone/>
            </a:pPr>
            <a:r>
              <a:rPr lang="en-US" sz="1400" dirty="0">
                <a:solidFill>
                  <a:schemeClr val="bg1"/>
                </a:solidFill>
              </a:rPr>
              <a:t>[Member 2]</a:t>
            </a:r>
            <a:endParaRPr lang="en-US" sz="1000" dirty="0"/>
          </a:p>
        </p:txBody>
      </p:sp>
      <p:sp>
        <p:nvSpPr>
          <p:cNvPr id="8" name="Text 5"/>
          <p:cNvSpPr txBox="1"/>
          <p:nvPr/>
        </p:nvSpPr>
        <p:spPr>
          <a:xfrm>
            <a:off x="3739896" y="4709160"/>
            <a:ext cx="1508760" cy="594360"/>
          </a:xfrm>
          <a:prstGeom prst="rect">
            <a:avLst/>
          </a:prstGeom>
          <a:noFill/>
          <a:ln/>
        </p:spPr>
        <p:txBody>
          <a:bodyPr wrap="square" lIns="0" tIns="0" rIns="0" bIns="0" rtlCol="0" anchor="t"/>
          <a:lstStyle/>
          <a:p>
            <a:pPr indent="0" marL="0">
              <a:buNone/>
            </a:pPr>
            <a:r>
              <a:rPr lang="en-US" sz="1000" b="1" spc="100" kern="0" dirty="0">
                <a:solidFill>
                  <a:schemeClr val="accent6"/>
                </a:solidFill>
                <a:latin typeface="Courier New" pitchFamily="34" charset="0"/>
                <a:ea typeface="Courier New" pitchFamily="34" charset="-122"/>
                <a:cs typeface="Courier New" pitchFamily="34" charset="-120"/>
              </a:rPr>
              <a:t>PROSECUTOR</a:t>
            </a:r>
            <a:endParaRPr lang="en-US" sz="1000" dirty="0"/>
          </a:p>
          <a:p>
            <a:pPr indent="0" marL="0">
              <a:buNone/>
            </a:pPr>
            <a:r>
              <a:rPr lang="en-US" sz="1400" dirty="0">
                <a:solidFill>
                  <a:schemeClr val="bg1"/>
                </a:solidFill>
              </a:rPr>
              <a:t>[Member 3]</a:t>
            </a:r>
            <a:endParaRPr lang="en-US" sz="1000" dirty="0"/>
          </a:p>
        </p:txBody>
      </p:sp>
      <p:sp>
        <p:nvSpPr>
          <p:cNvPr id="9" name="Text 6"/>
          <p:cNvSpPr txBox="1"/>
          <p:nvPr/>
        </p:nvSpPr>
        <p:spPr>
          <a:xfrm>
            <a:off x="5312664" y="4709160"/>
            <a:ext cx="1508760" cy="594360"/>
          </a:xfrm>
          <a:prstGeom prst="rect">
            <a:avLst/>
          </a:prstGeom>
          <a:noFill/>
          <a:ln/>
        </p:spPr>
        <p:txBody>
          <a:bodyPr wrap="square" lIns="0" tIns="0" rIns="0" bIns="0" rtlCol="0" anchor="t"/>
          <a:lstStyle/>
          <a:p>
            <a:pPr indent="0" marL="0">
              <a:buNone/>
            </a:pPr>
            <a:r>
              <a:rPr lang="en-US" sz="1000" b="1" spc="100" kern="0" dirty="0">
                <a:solidFill>
                  <a:schemeClr val="accent6"/>
                </a:solidFill>
                <a:latin typeface="Courier New" pitchFamily="34" charset="0"/>
                <a:ea typeface="Courier New" pitchFamily="34" charset="-122"/>
                <a:cs typeface="Courier New" pitchFamily="34" charset="-120"/>
              </a:rPr>
              <a:t>PROSECUTOR</a:t>
            </a:r>
            <a:endParaRPr lang="en-US" sz="1000" dirty="0"/>
          </a:p>
          <a:p>
            <a:pPr indent="0" marL="0">
              <a:buNone/>
            </a:pPr>
            <a:r>
              <a:rPr lang="en-US" sz="1400" dirty="0">
                <a:solidFill>
                  <a:schemeClr val="bg1"/>
                </a:solidFill>
              </a:rPr>
              <a:t>[Member 4]</a:t>
            </a:r>
            <a:endParaRPr lang="en-US" sz="1000" dirty="0"/>
          </a:p>
        </p:txBody>
      </p:sp>
      <p:sp>
        <p:nvSpPr>
          <p:cNvPr id="10" name="Text 7"/>
          <p:cNvSpPr txBox="1"/>
          <p:nvPr/>
        </p:nvSpPr>
        <p:spPr>
          <a:xfrm>
            <a:off x="6885432" y="4709160"/>
            <a:ext cx="1508760" cy="594360"/>
          </a:xfrm>
          <a:prstGeom prst="rect">
            <a:avLst/>
          </a:prstGeom>
          <a:noFill/>
          <a:ln/>
        </p:spPr>
        <p:txBody>
          <a:bodyPr wrap="square" lIns="0" tIns="0" rIns="0" bIns="0" rtlCol="0" anchor="t"/>
          <a:lstStyle/>
          <a:p>
            <a:pPr indent="0" marL="0">
              <a:buNone/>
            </a:pPr>
            <a:r>
              <a:rPr lang="en-US" sz="1000" b="1" spc="100" kern="0" dirty="0">
                <a:solidFill>
                  <a:schemeClr val="accent6"/>
                </a:solidFill>
                <a:latin typeface="Courier New" pitchFamily="34" charset="0"/>
                <a:ea typeface="Courier New" pitchFamily="34" charset="-122"/>
                <a:cs typeface="Courier New" pitchFamily="34" charset="-120"/>
              </a:rPr>
              <a:t>JUDGE</a:t>
            </a:r>
            <a:endParaRPr lang="en-US" sz="1000" dirty="0"/>
          </a:p>
          <a:p>
            <a:pPr indent="0" marL="0">
              <a:buNone/>
            </a:pPr>
            <a:r>
              <a:rPr lang="en-US" sz="1400" dirty="0">
                <a:solidFill>
                  <a:schemeClr val="bg1"/>
                </a:solidFill>
              </a:rPr>
              <a:t>[Member 5]</a:t>
            </a:r>
            <a:endParaRPr lang="en-US" sz="1000" dirty="0"/>
          </a:p>
        </p:txBody>
      </p:sp>
      <p:sp>
        <p:nvSpPr>
          <p:cNvPr id="11" name="Text 8"/>
          <p:cNvSpPr txBox="1"/>
          <p:nvPr/>
        </p:nvSpPr>
        <p:spPr>
          <a:xfrm>
            <a:off x="594360" y="5532120"/>
            <a:ext cx="7315200" cy="274320"/>
          </a:xfrm>
          <a:prstGeom prst="rect">
            <a:avLst/>
          </a:prstGeom>
          <a:noFill/>
          <a:ln/>
        </p:spPr>
        <p:txBody>
          <a:bodyPr wrap="square" lIns="0" tIns="0" rIns="0" bIns="0" rtlCol="0" anchor="ctr"/>
          <a:lstStyle/>
          <a:p>
            <a:pPr indent="0" marL="0">
              <a:buNone/>
            </a:pPr>
            <a:r>
              <a:rPr lang="en-US" sz="1300" dirty="0">
                <a:solidFill>
                  <a:srgbClr val="B8AFA6"/>
                </a:solidFill>
              </a:rPr>
              <a:t>Group [__]  |  [Department], [University]  |  [Date]</a:t>
            </a:r>
            <a:endParaRPr lang="en-US" sz="1300" dirty="0"/>
          </a:p>
        </p:txBody>
      </p:sp>
      <p:sp>
        <p:nvSpPr>
          <p:cNvPr id="12" name="seal"/>
          <p:cNvSpPr/>
          <p:nvPr/>
        </p:nvSpPr>
        <p:spPr>
          <a:xfrm>
            <a:off x="8732520" y="1828800"/>
            <a:ext cx="2377440" cy="2377440"/>
          </a:xfrm>
          <a:prstGeom prst="ellipse">
            <a:avLst/>
          </a:prstGeom>
          <a:solidFill>
            <a:srgbClr val="8B1E1E"/>
          </a:solidFill>
          <a:ln w="25400">
            <a:solidFill>
              <a:srgbClr val="E2B85A"/>
            </a:solidFill>
            <a:prstDash val="solid"/>
          </a:ln>
        </p:spPr>
      </p:sp>
      <p:sp>
        <p:nvSpPr>
          <p:cNvPr id="13" name="seal inner"/>
          <p:cNvSpPr/>
          <p:nvPr/>
        </p:nvSpPr>
        <p:spPr>
          <a:xfrm>
            <a:off x="8869680" y="1965960"/>
            <a:ext cx="2103120" cy="2103120"/>
          </a:xfrm>
          <a:prstGeom prst="ellipse">
            <a:avLst/>
          </a:prstGeom>
          <a:solidFill>
            <a:srgbClr val="8B1E1E"/>
          </a:solidFill>
          <a:ln w="9525">
            <a:solidFill>
              <a:srgbClr val="E2B85A"/>
            </a:solidFill>
            <a:prstDash val="dash"/>
          </a:ln>
        </p:spPr>
      </p:sp>
      <p:pic>
        <p:nvPicPr>
          <p:cNvPr id="14" name="seal icon" descr="Scales of justice">    </p:cNvPr>
          <p:cNvPicPr>
            <a:picLocks noChangeAspect="1"/>
          </p:cNvPicPr>
          <p:nvPr/>
        </p:nvPicPr>
        <p:blipFill>
          <a:blip r:embed="rId2"/>
          <a:stretch>
            <a:fillRect/>
          </a:stretch>
        </p:blipFill>
        <p:spPr>
          <a:xfrm>
            <a:off x="9372600" y="2423160"/>
            <a:ext cx="1097280" cy="1097280"/>
          </a:xfrm>
          <a:prstGeom prst="rect">
            <a:avLst/>
          </a:prstGeom>
        </p:spPr>
      </p:pic>
      <p:sp>
        <p:nvSpPr>
          <p:cNvPr id="15" name="Text 11"/>
          <p:cNvSpPr txBox="1"/>
          <p:nvPr/>
        </p:nvSpPr>
        <p:spPr>
          <a:xfrm>
            <a:off x="8732520" y="4434840"/>
            <a:ext cx="2377440" cy="365760"/>
          </a:xfrm>
          <a:prstGeom prst="rect">
            <a:avLst/>
          </a:prstGeom>
          <a:noFill/>
          <a:ln/>
        </p:spPr>
        <p:txBody>
          <a:bodyPr wrap="square" lIns="0" tIns="0" rIns="0" bIns="0" rtlCol="0" anchor="ctr"/>
          <a:lstStyle/>
          <a:p>
            <a:pPr algn="ctr" indent="0" marL="0">
              <a:buNone/>
            </a:pPr>
            <a:r>
              <a:rPr lang="en-US" sz="1600" b="1" spc="600" kern="0" dirty="0">
                <a:solidFill>
                  <a:schemeClr val="accent6"/>
                </a:solidFill>
                <a:latin typeface="Courier New" pitchFamily="34" charset="0"/>
                <a:ea typeface="Courier New" pitchFamily="34" charset="-122"/>
                <a:cs typeface="Courier New" pitchFamily="34" charset="-120"/>
              </a:rPr>
              <a:t>ALL RISE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8595360" y="2194560"/>
            <a:ext cx="3840480" cy="384048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EXHIBIT 1  ·  STATEMENT OF HARM</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Account hacking is Bangladesh’s most common cybercrime</a:t>
            </a:r>
            <a:endParaRPr lang="en-US" sz="2800" dirty="0"/>
          </a:p>
        </p:txBody>
      </p:sp>
      <p:sp>
        <p:nvSpPr>
          <p:cNvPr id="5" name="stat 1"/>
          <p:cNvSpPr/>
          <p:nvPr/>
        </p:nvSpPr>
        <p:spPr>
          <a:xfrm>
            <a:off x="594360" y="1508760"/>
            <a:ext cx="2606040" cy="320040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6" name="stat 1 circle"/>
          <p:cNvSpPr/>
          <p:nvPr/>
        </p:nvSpPr>
        <p:spPr>
          <a:xfrm>
            <a:off x="868680" y="1783080"/>
            <a:ext cx="640080" cy="640080"/>
          </a:xfrm>
          <a:prstGeom prst="ellipse">
            <a:avLst/>
          </a:prstGeom>
          <a:solidFill>
            <a:srgbClr val="8B1E1E"/>
          </a:solidFill>
          <a:ln/>
        </p:spPr>
      </p:sp>
      <p:pic>
        <p:nvPicPr>
          <p:cNvPr id="7" name="stat 1 icon" descr="stat 1">    </p:cNvPr>
          <p:cNvPicPr>
            <a:picLocks noChangeAspect="1"/>
          </p:cNvPicPr>
          <p:nvPr/>
        </p:nvPicPr>
        <p:blipFill>
          <a:blip r:embed="rId2"/>
          <a:stretch>
            <a:fillRect/>
          </a:stretch>
        </p:blipFill>
        <p:spPr>
          <a:xfrm>
            <a:off x="1028700" y="1943100"/>
            <a:ext cx="320040" cy="320040"/>
          </a:xfrm>
          <a:prstGeom prst="rect">
            <a:avLst/>
          </a:prstGeom>
        </p:spPr>
      </p:pic>
      <p:sp>
        <p:nvSpPr>
          <p:cNvPr id="8" name="Text 4"/>
          <p:cNvSpPr txBox="1"/>
          <p:nvPr/>
        </p:nvSpPr>
        <p:spPr>
          <a:xfrm>
            <a:off x="868680" y="2560320"/>
            <a:ext cx="2057400" cy="868680"/>
          </a:xfrm>
          <a:prstGeom prst="rect">
            <a:avLst/>
          </a:prstGeom>
          <a:noFill/>
          <a:ln/>
        </p:spPr>
        <p:txBody>
          <a:bodyPr wrap="square" lIns="0" tIns="0" rIns="0" bIns="0" rtlCol="0" anchor="ctr"/>
          <a:lstStyle/>
          <a:p>
            <a:pPr indent="0" marL="0">
              <a:buNone/>
            </a:pPr>
            <a:r>
              <a:rPr lang="en-US" sz="4400" b="1" dirty="0">
                <a:solidFill>
                  <a:srgbClr val="8B1E1E"/>
                </a:solidFill>
                <a:latin typeface="Cambria" pitchFamily="34" charset="0"/>
                <a:ea typeface="Cambria" pitchFamily="34" charset="-122"/>
                <a:cs typeface="Cambria" pitchFamily="34" charset="-120"/>
              </a:rPr>
              <a:t>21.65%</a:t>
            </a:r>
            <a:endParaRPr lang="en-US" sz="4400" dirty="0"/>
          </a:p>
        </p:txBody>
      </p:sp>
      <p:sp>
        <p:nvSpPr>
          <p:cNvPr id="9" name="Text 5"/>
          <p:cNvSpPr txBox="1"/>
          <p:nvPr/>
        </p:nvSpPr>
        <p:spPr>
          <a:xfrm>
            <a:off x="868680" y="3474720"/>
            <a:ext cx="2057400" cy="1097280"/>
          </a:xfrm>
          <a:prstGeom prst="rect">
            <a:avLst/>
          </a:prstGeom>
          <a:noFill/>
          <a:ln/>
        </p:spPr>
        <p:txBody>
          <a:bodyPr wrap="square" lIns="0" tIns="0" rIns="0" bIns="0" rtlCol="0" anchor="t"/>
          <a:lstStyle/>
          <a:p>
            <a:pPr indent="0" marL="0">
              <a:buNone/>
            </a:pPr>
            <a:r>
              <a:rPr lang="en-US" sz="1500" dirty="0">
                <a:solidFill>
                  <a:schemeClr val="tx1"/>
                </a:solidFill>
              </a:rPr>
              <a:t>of victims had a social media or online account hacked, the #1 offence</a:t>
            </a:r>
            <a:endParaRPr lang="en-US" sz="1500" dirty="0"/>
          </a:p>
        </p:txBody>
      </p:sp>
      <p:sp>
        <p:nvSpPr>
          <p:cNvPr id="10" name="stat 2"/>
          <p:cNvSpPr/>
          <p:nvPr/>
        </p:nvSpPr>
        <p:spPr>
          <a:xfrm>
            <a:off x="3393338" y="1508760"/>
            <a:ext cx="2606040" cy="320040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11" name="stat 2 circle"/>
          <p:cNvSpPr/>
          <p:nvPr/>
        </p:nvSpPr>
        <p:spPr>
          <a:xfrm>
            <a:off x="3667658" y="1783080"/>
            <a:ext cx="640080" cy="640080"/>
          </a:xfrm>
          <a:prstGeom prst="ellipse">
            <a:avLst/>
          </a:prstGeom>
          <a:solidFill>
            <a:srgbClr val="1E3A5F"/>
          </a:solidFill>
          <a:ln/>
        </p:spPr>
      </p:sp>
      <p:pic>
        <p:nvPicPr>
          <p:cNvPr id="12" name="stat 2 icon" descr="stat 2">    </p:cNvPr>
          <p:cNvPicPr>
            <a:picLocks noChangeAspect="1"/>
          </p:cNvPicPr>
          <p:nvPr/>
        </p:nvPicPr>
        <p:blipFill>
          <a:blip r:embed="rId3"/>
          <a:stretch>
            <a:fillRect/>
          </a:stretch>
        </p:blipFill>
        <p:spPr>
          <a:xfrm>
            <a:off x="3827678" y="1943100"/>
            <a:ext cx="320040" cy="320040"/>
          </a:xfrm>
          <a:prstGeom prst="rect">
            <a:avLst/>
          </a:prstGeom>
        </p:spPr>
      </p:pic>
      <p:sp>
        <p:nvSpPr>
          <p:cNvPr id="13" name="Text 8"/>
          <p:cNvSpPr txBox="1"/>
          <p:nvPr/>
        </p:nvSpPr>
        <p:spPr>
          <a:xfrm>
            <a:off x="3667658" y="2560320"/>
            <a:ext cx="2057400" cy="868680"/>
          </a:xfrm>
          <a:prstGeom prst="rect">
            <a:avLst/>
          </a:prstGeom>
          <a:noFill/>
          <a:ln/>
        </p:spPr>
        <p:txBody>
          <a:bodyPr wrap="square" lIns="0" tIns="0" rIns="0" bIns="0" rtlCol="0" anchor="ctr"/>
          <a:lstStyle/>
          <a:p>
            <a:pPr indent="0" marL="0">
              <a:buNone/>
            </a:pPr>
            <a:r>
              <a:rPr lang="en-US" sz="4400" b="1" dirty="0">
                <a:solidFill>
                  <a:srgbClr val="1E3A5F"/>
                </a:solidFill>
                <a:latin typeface="Cambria" pitchFamily="34" charset="0"/>
                <a:ea typeface="Cambria" pitchFamily="34" charset="-122"/>
                <a:cs typeface="Cambria" pitchFamily="34" charset="-120"/>
              </a:rPr>
              <a:t>≈59%</a:t>
            </a:r>
            <a:endParaRPr lang="en-US" sz="4400" dirty="0"/>
          </a:p>
        </p:txBody>
      </p:sp>
      <p:sp>
        <p:nvSpPr>
          <p:cNvPr id="14" name="Text 9"/>
          <p:cNvSpPr txBox="1"/>
          <p:nvPr/>
        </p:nvSpPr>
        <p:spPr>
          <a:xfrm>
            <a:off x="3667658" y="3474720"/>
            <a:ext cx="2057400" cy="1097280"/>
          </a:xfrm>
          <a:prstGeom prst="rect">
            <a:avLst/>
          </a:prstGeom>
          <a:noFill/>
          <a:ln/>
        </p:spPr>
        <p:txBody>
          <a:bodyPr wrap="square" lIns="0" tIns="0" rIns="0" bIns="0" rtlCol="0" anchor="t"/>
          <a:lstStyle/>
          <a:p>
            <a:pPr indent="0" marL="0">
              <a:buNone/>
            </a:pPr>
            <a:r>
              <a:rPr lang="en-US" sz="1500" dirty="0">
                <a:solidFill>
                  <a:schemeClr val="tx1"/>
                </a:solidFill>
              </a:rPr>
              <a:t>of cybercrime victims are women</a:t>
            </a:r>
            <a:endParaRPr lang="en-US" sz="1500" dirty="0"/>
          </a:p>
        </p:txBody>
      </p:sp>
      <p:sp>
        <p:nvSpPr>
          <p:cNvPr id="15" name="stat 3"/>
          <p:cNvSpPr/>
          <p:nvPr/>
        </p:nvSpPr>
        <p:spPr>
          <a:xfrm>
            <a:off x="6192317" y="1508760"/>
            <a:ext cx="2606040" cy="320040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16" name="stat 3 circle"/>
          <p:cNvSpPr/>
          <p:nvPr/>
        </p:nvSpPr>
        <p:spPr>
          <a:xfrm>
            <a:off x="6466637" y="1783080"/>
            <a:ext cx="640080" cy="640080"/>
          </a:xfrm>
          <a:prstGeom prst="ellipse">
            <a:avLst/>
          </a:prstGeom>
          <a:solidFill>
            <a:srgbClr val="8B1E1E"/>
          </a:solidFill>
          <a:ln/>
        </p:spPr>
      </p:sp>
      <p:pic>
        <p:nvPicPr>
          <p:cNvPr id="17" name="stat 3 icon" descr="stat 3">    </p:cNvPr>
          <p:cNvPicPr>
            <a:picLocks noChangeAspect="1"/>
          </p:cNvPicPr>
          <p:nvPr/>
        </p:nvPicPr>
        <p:blipFill>
          <a:blip r:embed="rId4"/>
          <a:stretch>
            <a:fillRect/>
          </a:stretch>
        </p:blipFill>
        <p:spPr>
          <a:xfrm>
            <a:off x="6626657" y="1943100"/>
            <a:ext cx="320040" cy="320040"/>
          </a:xfrm>
          <a:prstGeom prst="rect">
            <a:avLst/>
          </a:prstGeom>
        </p:spPr>
      </p:pic>
      <p:sp>
        <p:nvSpPr>
          <p:cNvPr id="18" name="Text 12"/>
          <p:cNvSpPr txBox="1"/>
          <p:nvPr/>
        </p:nvSpPr>
        <p:spPr>
          <a:xfrm>
            <a:off x="6466637" y="2560320"/>
            <a:ext cx="2057400" cy="868680"/>
          </a:xfrm>
          <a:prstGeom prst="rect">
            <a:avLst/>
          </a:prstGeom>
          <a:noFill/>
          <a:ln/>
        </p:spPr>
        <p:txBody>
          <a:bodyPr wrap="square" lIns="0" tIns="0" rIns="0" bIns="0" rtlCol="0" anchor="ctr"/>
          <a:lstStyle/>
          <a:p>
            <a:pPr indent="0" marL="0">
              <a:buNone/>
            </a:pPr>
            <a:r>
              <a:rPr lang="en-US" sz="4400" b="1" dirty="0">
                <a:solidFill>
                  <a:srgbClr val="8B1E1E"/>
                </a:solidFill>
                <a:latin typeface="Cambria" pitchFamily="34" charset="0"/>
                <a:ea typeface="Cambria" pitchFamily="34" charset="-122"/>
                <a:cs typeface="Cambria" pitchFamily="34" charset="-120"/>
              </a:rPr>
              <a:t>78.78%</a:t>
            </a:r>
            <a:endParaRPr lang="en-US" sz="4400" dirty="0"/>
          </a:p>
        </p:txBody>
      </p:sp>
      <p:sp>
        <p:nvSpPr>
          <p:cNvPr id="19" name="Text 13"/>
          <p:cNvSpPr txBox="1"/>
          <p:nvPr/>
        </p:nvSpPr>
        <p:spPr>
          <a:xfrm>
            <a:off x="6466637" y="3474720"/>
            <a:ext cx="2057400" cy="1097280"/>
          </a:xfrm>
          <a:prstGeom prst="rect">
            <a:avLst/>
          </a:prstGeom>
          <a:noFill/>
          <a:ln/>
        </p:spPr>
        <p:txBody>
          <a:bodyPr wrap="square" lIns="0" tIns="0" rIns="0" bIns="0" rtlCol="0" anchor="t"/>
          <a:lstStyle/>
          <a:p>
            <a:pPr indent="0" marL="0">
              <a:buNone/>
            </a:pPr>
            <a:r>
              <a:rPr lang="en-US" sz="1500" dirty="0">
                <a:solidFill>
                  <a:schemeClr val="tx1"/>
                </a:solidFill>
              </a:rPr>
              <a:t>of victims are aged 18–30, the age group in this room</a:t>
            </a:r>
            <a:endParaRPr lang="en-US" sz="1500" dirty="0"/>
          </a:p>
        </p:txBody>
      </p:sp>
      <p:sp>
        <p:nvSpPr>
          <p:cNvPr id="20" name="stat 4"/>
          <p:cNvSpPr/>
          <p:nvPr/>
        </p:nvSpPr>
        <p:spPr>
          <a:xfrm>
            <a:off x="8991295" y="1508760"/>
            <a:ext cx="2606040" cy="320040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1" name="stat 4 circle"/>
          <p:cNvSpPr/>
          <p:nvPr/>
        </p:nvSpPr>
        <p:spPr>
          <a:xfrm>
            <a:off x="9265615" y="1783080"/>
            <a:ext cx="640080" cy="640080"/>
          </a:xfrm>
          <a:prstGeom prst="ellipse">
            <a:avLst/>
          </a:prstGeom>
          <a:solidFill>
            <a:srgbClr val="1E3A5F"/>
          </a:solidFill>
          <a:ln/>
        </p:spPr>
      </p:sp>
      <p:pic>
        <p:nvPicPr>
          <p:cNvPr id="22" name="stat 4 icon" descr="stat 4">    </p:cNvPr>
          <p:cNvPicPr>
            <a:picLocks noChangeAspect="1"/>
          </p:cNvPicPr>
          <p:nvPr/>
        </p:nvPicPr>
        <p:blipFill>
          <a:blip r:embed="rId5"/>
          <a:stretch>
            <a:fillRect/>
          </a:stretch>
        </p:blipFill>
        <p:spPr>
          <a:xfrm>
            <a:off x="9425635" y="1943100"/>
            <a:ext cx="320040" cy="320040"/>
          </a:xfrm>
          <a:prstGeom prst="rect">
            <a:avLst/>
          </a:prstGeom>
        </p:spPr>
      </p:pic>
      <p:sp>
        <p:nvSpPr>
          <p:cNvPr id="23" name="Text 16"/>
          <p:cNvSpPr txBox="1"/>
          <p:nvPr/>
        </p:nvSpPr>
        <p:spPr>
          <a:xfrm>
            <a:off x="9265615" y="2560320"/>
            <a:ext cx="2057400" cy="868680"/>
          </a:xfrm>
          <a:prstGeom prst="rect">
            <a:avLst/>
          </a:prstGeom>
          <a:noFill/>
          <a:ln/>
        </p:spPr>
        <p:txBody>
          <a:bodyPr wrap="square" lIns="0" tIns="0" rIns="0" bIns="0" rtlCol="0" anchor="ctr"/>
          <a:lstStyle/>
          <a:p>
            <a:pPr indent="0" marL="0">
              <a:buNone/>
            </a:pPr>
            <a:r>
              <a:rPr lang="en-US" sz="4400" b="1" dirty="0">
                <a:solidFill>
                  <a:srgbClr val="1E3A5F"/>
                </a:solidFill>
                <a:latin typeface="Cambria" pitchFamily="34" charset="0"/>
                <a:ea typeface="Cambria" pitchFamily="34" charset="-122"/>
                <a:cs typeface="Cambria" pitchFamily="34" charset="-120"/>
              </a:rPr>
              <a:t>12%</a:t>
            </a:r>
            <a:endParaRPr lang="en-US" sz="4400" dirty="0"/>
          </a:p>
        </p:txBody>
      </p:sp>
      <p:sp>
        <p:nvSpPr>
          <p:cNvPr id="24" name="Text 17"/>
          <p:cNvSpPr txBox="1"/>
          <p:nvPr/>
        </p:nvSpPr>
        <p:spPr>
          <a:xfrm>
            <a:off x="9265615" y="3474720"/>
            <a:ext cx="2057400" cy="1097280"/>
          </a:xfrm>
          <a:prstGeom prst="rect">
            <a:avLst/>
          </a:prstGeom>
          <a:noFill/>
          <a:ln/>
        </p:spPr>
        <p:txBody>
          <a:bodyPr wrap="square" lIns="0" tIns="0" rIns="0" bIns="0" rtlCol="0" anchor="t"/>
          <a:lstStyle/>
          <a:p>
            <a:pPr indent="0" marL="0">
              <a:buNone/>
            </a:pPr>
            <a:r>
              <a:rPr lang="en-US" sz="1500" dirty="0">
                <a:solidFill>
                  <a:schemeClr val="tx1"/>
                </a:solidFill>
              </a:rPr>
              <a:t>of victims ever reported the crime to the police</a:t>
            </a:r>
            <a:endParaRPr lang="en-US" sz="1500" dirty="0"/>
          </a:p>
        </p:txBody>
      </p:sp>
      <p:sp>
        <p:nvSpPr>
          <p:cNvPr id="25" name="testimony"/>
          <p:cNvSpPr/>
          <p:nvPr/>
        </p:nvSpPr>
        <p:spPr>
          <a:xfrm>
            <a:off x="594360" y="4983480"/>
            <a:ext cx="11002975" cy="868680"/>
          </a:xfrm>
          <a:prstGeom prst="rect">
            <a:avLst/>
          </a:prstGeom>
          <a:solidFill>
            <a:srgbClr val="1F1A17"/>
          </a:solidFill>
          <a:ln w="12700">
            <a:solidFill>
              <a:srgbClr val="1F1A17"/>
            </a:solidFill>
            <a:prstDash val="solid"/>
          </a:ln>
          <a:effectLst>
            <a:outerShdw sx="100000" sy="100000" kx="0" ky="0" algn="bl" rotWithShape="0" blurRad="76200" dist="25400" dir="5400000">
              <a:srgbClr val="000000">
                <a:alpha val="8000"/>
              </a:srgbClr>
            </a:outerShdw>
          </a:effectLst>
        </p:spPr>
      </p:sp>
      <p:sp>
        <p:nvSpPr>
          <p:cNvPr id="26" name="Text 19"/>
          <p:cNvSpPr txBox="1"/>
          <p:nvPr/>
        </p:nvSpPr>
        <p:spPr>
          <a:xfrm>
            <a:off x="868680" y="4983480"/>
            <a:ext cx="10454335" cy="868680"/>
          </a:xfrm>
          <a:prstGeom prst="rect">
            <a:avLst/>
          </a:prstGeom>
          <a:noFill/>
          <a:ln/>
        </p:spPr>
        <p:txBody>
          <a:bodyPr wrap="square" lIns="0" tIns="0" rIns="0" bIns="0" rtlCol="0" anchor="ctr"/>
          <a:lstStyle/>
          <a:p>
            <a:pPr indent="0" marL="0">
              <a:buNone/>
            </a:pPr>
            <a:r>
              <a:rPr lang="en-US" sz="3600" b="1" dirty="0">
                <a:solidFill>
                  <a:schemeClr val="accent6"/>
                </a:solidFill>
                <a:latin typeface="Cambria" pitchFamily="34" charset="0"/>
                <a:ea typeface="Cambria" pitchFamily="34" charset="-122"/>
                <a:cs typeface="Cambria" pitchFamily="34" charset="-120"/>
              </a:rPr>
              <a:t>“</a:t>
            </a:r>
            <a:pPr indent="0" marL="0">
              <a:buNone/>
            </a:pPr>
            <a:r>
              <a:rPr lang="en-US" sz="1700" i="1" dirty="0">
                <a:solidFill>
                  <a:schemeClr val="bg1"/>
                </a:solidFill>
                <a:latin typeface="Cambria" pitchFamily="34" charset="0"/>
                <a:ea typeface="Cambria" pitchFamily="34" charset="-122"/>
                <a:cs typeface="Cambria" pitchFamily="34" charset="-120"/>
              </a:rPr>
              <a:t>With ≈64 million Bangladeshis on Facebook, attackers no longer break into computers. They walk into accounts.</a:t>
            </a:r>
            <a:endParaRPr lang="en-US" sz="3600" dirty="0"/>
          </a:p>
        </p:txBody>
      </p:sp>
      <p:sp>
        <p:nvSpPr>
          <p:cNvPr id="27" name="Text 20"/>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Sources: Cyber Crime Awareness Foundation (2024), Cybercrime Trends in Bangladesh, reported by Dhaka Tribune; Statista (2025).</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CHARGE SHEET  ·  THE SECURITY CODE</a:t>
            </a:r>
            <a:endParaRPr lang="en-US" sz="1200" dirty="0"/>
          </a:p>
        </p:txBody>
      </p:sp>
      <p:sp>
        <p:nvSpPr>
          <p:cNvPr id="3"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The charge: failing to protect the accounts of their users</a:t>
            </a:r>
            <a:endParaRPr lang="en-US" sz="2800" dirty="0"/>
          </a:p>
        </p:txBody>
      </p:sp>
      <p:sp>
        <p:nvSpPr>
          <p:cNvPr id="4" name="charge sheet"/>
          <p:cNvSpPr/>
          <p:nvPr/>
        </p:nvSpPr>
        <p:spPr>
          <a:xfrm>
            <a:off x="594360" y="1508760"/>
            <a:ext cx="4754880" cy="4343400"/>
          </a:xfrm>
          <a:prstGeom prst="rect">
            <a:avLst/>
          </a:prstGeom>
          <a:solidFill>
            <a:srgbClr val="F5F1EA"/>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914400" y="1691640"/>
            <a:ext cx="4114800" cy="27432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ourier New" pitchFamily="34" charset="0"/>
                <a:ea typeface="Courier New" pitchFamily="34" charset="-122"/>
                <a:cs typeface="Courier New" pitchFamily="34" charset="-120"/>
              </a:rPr>
              <a:t>THE CHARGE</a:t>
            </a:r>
            <a:endParaRPr lang="en-US" sz="1300" dirty="0"/>
          </a:p>
        </p:txBody>
      </p:sp>
      <p:sp>
        <p:nvSpPr>
          <p:cNvPr id="6" name="Text 4"/>
          <p:cNvSpPr txBox="1"/>
          <p:nvPr/>
        </p:nvSpPr>
        <p:spPr>
          <a:xfrm>
            <a:off x="914400" y="2011680"/>
            <a:ext cx="4114800" cy="1188720"/>
          </a:xfrm>
          <a:prstGeom prst="rect">
            <a:avLst/>
          </a:prstGeom>
          <a:noFill/>
          <a:ln/>
        </p:spPr>
        <p:txBody>
          <a:bodyPr wrap="square" lIns="0" tIns="0" rIns="0" bIns="0" rtlCol="0" anchor="t"/>
          <a:lstStyle/>
          <a:p>
            <a:pPr indent="0" marL="0">
              <a:buNone/>
            </a:pPr>
            <a:r>
              <a:rPr lang="en-US" sz="1800" i="1" dirty="0">
                <a:solidFill>
                  <a:schemeClr val="tx2"/>
                </a:solidFill>
                <a:latin typeface="Cambria" pitchFamily="34" charset="0"/>
                <a:ea typeface="Cambria" pitchFamily="34" charset="-122"/>
                <a:cs typeface="Cambria" pitchFamily="34" charset="-120"/>
              </a:rPr>
              <a:t>That each defendant failed to adequately protect the accounts of its users in Bangladesh against cyber attacks.</a:t>
            </a:r>
            <a:endParaRPr lang="en-US" sz="1800" dirty="0"/>
          </a:p>
        </p:txBody>
      </p:sp>
      <p:sp>
        <p:nvSpPr>
          <p:cNvPr id="7" name="Text 5"/>
          <p:cNvSpPr txBox="1"/>
          <p:nvPr/>
        </p:nvSpPr>
        <p:spPr>
          <a:xfrm>
            <a:off x="914400" y="3337560"/>
            <a:ext cx="4114800" cy="27432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Courier New" pitchFamily="34" charset="0"/>
                <a:ea typeface="Courier New" pitchFamily="34" charset="-122"/>
                <a:cs typeface="Courier New" pitchFamily="34" charset="-120"/>
              </a:rPr>
              <a:t>HOW EVIDENCE WAS GATHERED</a:t>
            </a:r>
            <a:endParaRPr lang="en-US" sz="1300" dirty="0"/>
          </a:p>
        </p:txBody>
      </p:sp>
      <p:sp>
        <p:nvSpPr>
          <p:cNvPr id="8" name="Text 6"/>
          <p:cNvSpPr txBox="1"/>
          <p:nvPr/>
        </p:nvSpPr>
        <p:spPr>
          <a:xfrm>
            <a:off x="914400" y="3657600"/>
            <a:ext cx="4114800" cy="20116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Every security setting reviewed on our own accounts</a:t>
            </a:r>
            <a:endParaRPr lang="en-US" sz="1500" dirty="0"/>
          </a:p>
          <a:p>
            <a:pPr marL="342900" indent="-342900">
              <a:spcAft>
                <a:spcPts val="600"/>
              </a:spcAft>
              <a:buSzPct val="100000"/>
              <a:buChar char="•"/>
            </a:pPr>
            <a:r>
              <a:rPr lang="en-US" sz="1500" dirty="0">
                <a:solidFill>
                  <a:schemeClr val="tx1"/>
                </a:solidFill>
              </a:rPr>
              <a:t>Cross-checked with official help pages and news</a:t>
            </a:r>
            <a:endParaRPr lang="en-US" sz="1500" dirty="0"/>
          </a:p>
          <a:p>
            <a:pPr marL="342900" indent="-342900">
              <a:spcAft>
                <a:spcPts val="600"/>
              </a:spcAft>
              <a:buSzPct val="100000"/>
              <a:buChar char="•"/>
            </a:pPr>
            <a:r>
              <a:rPr lang="en-US" sz="1500" dirty="0">
                <a:solidFill>
                  <a:schemeClr val="tx1"/>
                </a:solidFill>
              </a:rPr>
              <a:t>20/25 or more: adequate. Below 20: guilty on the weakest count</a:t>
            </a:r>
            <a:endParaRPr lang="en-US" sz="1500" dirty="0"/>
          </a:p>
        </p:txBody>
      </p:sp>
      <p:sp>
        <p:nvSpPr>
          <p:cNvPr id="9" name="Text 7"/>
          <p:cNvSpPr txBox="1"/>
          <p:nvPr/>
        </p:nvSpPr>
        <p:spPr>
          <a:xfrm>
            <a:off x="5715000" y="1508760"/>
            <a:ext cx="5882335" cy="274320"/>
          </a:xfrm>
          <a:prstGeom prst="rect">
            <a:avLst/>
          </a:prstGeom>
          <a:noFill/>
          <a:ln/>
        </p:spPr>
        <p:txBody>
          <a:bodyPr wrap="square" lIns="0" tIns="0" rIns="0" bIns="0" rtlCol="0" anchor="ctr"/>
          <a:lstStyle/>
          <a:p>
            <a:pPr indent="0" marL="0">
              <a:buNone/>
            </a:pPr>
            <a:r>
              <a:rPr lang="en-US" sz="1200" b="1" spc="100" kern="0" dirty="0">
                <a:solidFill>
                  <a:srgbClr val="57534E"/>
                </a:solidFill>
                <a:latin typeface="Courier New" pitchFamily="34" charset="0"/>
                <a:ea typeface="Courier New" pitchFamily="34" charset="-122"/>
                <a:cs typeface="Courier New" pitchFamily="34" charset="-120"/>
              </a:rPr>
              <a:t>THE SECURITY CODE  ·  1–5 PER SECTION, MAX 25</a:t>
            </a:r>
            <a:endParaRPr lang="en-US" sz="1200" dirty="0"/>
          </a:p>
        </p:txBody>
      </p:sp>
      <p:sp>
        <p:nvSpPr>
          <p:cNvPr id="10" name="section 1"/>
          <p:cNvSpPr/>
          <p:nvPr/>
        </p:nvSpPr>
        <p:spPr>
          <a:xfrm>
            <a:off x="5715000" y="1920240"/>
            <a:ext cx="5882335" cy="676656"/>
          </a:xfrm>
          <a:prstGeom prst="rect">
            <a:avLst/>
          </a:prstGeom>
          <a:solidFill>
            <a:srgbClr val="FFFFFF"/>
          </a:solidFill>
          <a:ln w="12700">
            <a:solidFill>
              <a:srgbClr val="D6CFC4"/>
            </a:solidFill>
            <a:prstDash val="solid"/>
          </a:ln>
        </p:spPr>
      </p:sp>
      <p:sp>
        <p:nvSpPr>
          <p:cNvPr id="11" name="Section 1 · Login protection circle"/>
          <p:cNvSpPr/>
          <p:nvPr/>
        </p:nvSpPr>
        <p:spPr>
          <a:xfrm>
            <a:off x="5852160" y="2029968"/>
            <a:ext cx="457200" cy="457200"/>
          </a:xfrm>
          <a:prstGeom prst="ellipse">
            <a:avLst/>
          </a:prstGeom>
          <a:solidFill>
            <a:srgbClr val="8B1E1E"/>
          </a:solidFill>
          <a:ln/>
        </p:spPr>
      </p:sp>
      <p:pic>
        <p:nvPicPr>
          <p:cNvPr id="12" name="Section 1 · Login protection icon" descr="Section 1 · Login protection">    </p:cNvPr>
          <p:cNvPicPr>
            <a:picLocks noChangeAspect="1"/>
          </p:cNvPicPr>
          <p:nvPr/>
        </p:nvPicPr>
        <p:blipFill>
          <a:blip r:embed="rId1"/>
          <a:stretch>
            <a:fillRect/>
          </a:stretch>
        </p:blipFill>
        <p:spPr>
          <a:xfrm>
            <a:off x="5966460" y="2144268"/>
            <a:ext cx="228600" cy="228600"/>
          </a:xfrm>
          <a:prstGeom prst="rect">
            <a:avLst/>
          </a:prstGeom>
        </p:spPr>
      </p:pic>
      <p:sp>
        <p:nvSpPr>
          <p:cNvPr id="13" name="Text 10"/>
          <p:cNvSpPr txBox="1"/>
          <p:nvPr/>
        </p:nvSpPr>
        <p:spPr>
          <a:xfrm>
            <a:off x="6446520" y="1965960"/>
            <a:ext cx="2926080" cy="585216"/>
          </a:xfrm>
          <a:prstGeom prst="rect">
            <a:avLst/>
          </a:prstGeom>
          <a:noFill/>
          <a:ln/>
        </p:spPr>
        <p:txBody>
          <a:bodyPr wrap="square" lIns="0" tIns="0" rIns="0" bIns="0" rtlCol="0" anchor="ctr"/>
          <a:lstStyle/>
          <a:p>
            <a:pPr indent="0" marL="0">
              <a:buNone/>
            </a:pPr>
            <a:r>
              <a:rPr lang="en-US" sz="1600" b="1" dirty="0">
                <a:solidFill>
                  <a:schemeClr val="tx2"/>
                </a:solidFill>
              </a:rPr>
              <a:t>Section 1 · Login protection</a:t>
            </a:r>
            <a:endParaRPr lang="en-US" sz="1600" dirty="0"/>
          </a:p>
        </p:txBody>
      </p:sp>
      <p:sp>
        <p:nvSpPr>
          <p:cNvPr id="14" name="Text 11"/>
          <p:cNvSpPr txBox="1"/>
          <p:nvPr/>
        </p:nvSpPr>
        <p:spPr>
          <a:xfrm>
            <a:off x="9372600" y="1965960"/>
            <a:ext cx="2087575" cy="585216"/>
          </a:xfrm>
          <a:prstGeom prst="rect">
            <a:avLst/>
          </a:prstGeom>
          <a:noFill/>
          <a:ln/>
        </p:spPr>
        <p:txBody>
          <a:bodyPr wrap="square" lIns="0" tIns="0" rIns="0" bIns="0" rtlCol="0" anchor="ctr"/>
          <a:lstStyle/>
          <a:p>
            <a:pPr indent="0" marL="0">
              <a:buNone/>
            </a:pPr>
            <a:r>
              <a:rPr lang="en-US" sz="1400" i="1" dirty="0">
                <a:solidFill>
                  <a:srgbClr val="57534E"/>
                </a:solidFill>
              </a:rPr>
              <a:t>Can a stolen password alone get in?</a:t>
            </a:r>
            <a:endParaRPr lang="en-US" sz="1400" dirty="0"/>
          </a:p>
        </p:txBody>
      </p:sp>
      <p:sp>
        <p:nvSpPr>
          <p:cNvPr id="15" name="section 2"/>
          <p:cNvSpPr/>
          <p:nvPr/>
        </p:nvSpPr>
        <p:spPr>
          <a:xfrm>
            <a:off x="5715000" y="2706624"/>
            <a:ext cx="5882335" cy="676656"/>
          </a:xfrm>
          <a:prstGeom prst="rect">
            <a:avLst/>
          </a:prstGeom>
          <a:solidFill>
            <a:srgbClr val="FFFFFF"/>
          </a:solidFill>
          <a:ln w="12700">
            <a:solidFill>
              <a:srgbClr val="D6CFC4"/>
            </a:solidFill>
            <a:prstDash val="solid"/>
          </a:ln>
        </p:spPr>
      </p:sp>
      <p:sp>
        <p:nvSpPr>
          <p:cNvPr id="16" name="Section 2 · Encryption by default circle"/>
          <p:cNvSpPr/>
          <p:nvPr/>
        </p:nvSpPr>
        <p:spPr>
          <a:xfrm>
            <a:off x="5852160" y="2816352"/>
            <a:ext cx="457200" cy="457200"/>
          </a:xfrm>
          <a:prstGeom prst="ellipse">
            <a:avLst/>
          </a:prstGeom>
          <a:solidFill>
            <a:srgbClr val="8B1E1E"/>
          </a:solidFill>
          <a:ln/>
        </p:spPr>
      </p:sp>
      <p:pic>
        <p:nvPicPr>
          <p:cNvPr id="17" name="Section 2 · Encryption by default icon" descr="Section 2 · Encryption by default">    </p:cNvPr>
          <p:cNvPicPr>
            <a:picLocks noChangeAspect="1"/>
          </p:cNvPicPr>
          <p:nvPr/>
        </p:nvPicPr>
        <p:blipFill>
          <a:blip r:embed="rId2"/>
          <a:stretch>
            <a:fillRect/>
          </a:stretch>
        </p:blipFill>
        <p:spPr>
          <a:xfrm>
            <a:off x="5966460" y="2930652"/>
            <a:ext cx="228600" cy="228600"/>
          </a:xfrm>
          <a:prstGeom prst="rect">
            <a:avLst/>
          </a:prstGeom>
        </p:spPr>
      </p:pic>
      <p:sp>
        <p:nvSpPr>
          <p:cNvPr id="18" name="Text 14"/>
          <p:cNvSpPr txBox="1"/>
          <p:nvPr/>
        </p:nvSpPr>
        <p:spPr>
          <a:xfrm>
            <a:off x="6446520" y="2752344"/>
            <a:ext cx="2926080" cy="585216"/>
          </a:xfrm>
          <a:prstGeom prst="rect">
            <a:avLst/>
          </a:prstGeom>
          <a:noFill/>
          <a:ln/>
        </p:spPr>
        <p:txBody>
          <a:bodyPr wrap="square" lIns="0" tIns="0" rIns="0" bIns="0" rtlCol="0" anchor="ctr"/>
          <a:lstStyle/>
          <a:p>
            <a:pPr indent="0" marL="0">
              <a:buNone/>
            </a:pPr>
            <a:r>
              <a:rPr lang="en-US" sz="1600" b="1" dirty="0">
                <a:solidFill>
                  <a:schemeClr val="tx2"/>
                </a:solidFill>
              </a:rPr>
              <a:t>Section 2 · Encryption by default</a:t>
            </a:r>
            <a:endParaRPr lang="en-US" sz="1600" dirty="0"/>
          </a:p>
        </p:txBody>
      </p:sp>
      <p:sp>
        <p:nvSpPr>
          <p:cNvPr id="19" name="Text 15"/>
          <p:cNvSpPr txBox="1"/>
          <p:nvPr/>
        </p:nvSpPr>
        <p:spPr>
          <a:xfrm>
            <a:off x="9372600" y="2752344"/>
            <a:ext cx="2087575" cy="585216"/>
          </a:xfrm>
          <a:prstGeom prst="rect">
            <a:avLst/>
          </a:prstGeom>
          <a:noFill/>
          <a:ln/>
        </p:spPr>
        <p:txBody>
          <a:bodyPr wrap="square" lIns="0" tIns="0" rIns="0" bIns="0" rtlCol="0" anchor="ctr"/>
          <a:lstStyle/>
          <a:p>
            <a:pPr indent="0" marL="0">
              <a:buNone/>
            </a:pPr>
            <a:r>
              <a:rPr lang="en-US" sz="1400" i="1" dirty="0">
                <a:solidFill>
                  <a:srgbClr val="57534E"/>
                </a:solidFill>
              </a:rPr>
              <a:t>Can the company read my messages?</a:t>
            </a:r>
            <a:endParaRPr lang="en-US" sz="1400" dirty="0"/>
          </a:p>
        </p:txBody>
      </p:sp>
      <p:sp>
        <p:nvSpPr>
          <p:cNvPr id="20" name="section 3"/>
          <p:cNvSpPr/>
          <p:nvPr/>
        </p:nvSpPr>
        <p:spPr>
          <a:xfrm>
            <a:off x="5715000" y="3493008"/>
            <a:ext cx="5882335" cy="676656"/>
          </a:xfrm>
          <a:prstGeom prst="rect">
            <a:avLst/>
          </a:prstGeom>
          <a:solidFill>
            <a:srgbClr val="FFFFFF"/>
          </a:solidFill>
          <a:ln w="12700">
            <a:solidFill>
              <a:srgbClr val="D6CFC4"/>
            </a:solidFill>
            <a:prstDash val="solid"/>
          </a:ln>
        </p:spPr>
      </p:sp>
      <p:sp>
        <p:nvSpPr>
          <p:cNvPr id="21" name="Section 3 · Threat alerts circle"/>
          <p:cNvSpPr/>
          <p:nvPr/>
        </p:nvSpPr>
        <p:spPr>
          <a:xfrm>
            <a:off x="5852160" y="3602736"/>
            <a:ext cx="457200" cy="457200"/>
          </a:xfrm>
          <a:prstGeom prst="ellipse">
            <a:avLst/>
          </a:prstGeom>
          <a:solidFill>
            <a:srgbClr val="8B1E1E"/>
          </a:solidFill>
          <a:ln/>
        </p:spPr>
      </p:sp>
      <p:pic>
        <p:nvPicPr>
          <p:cNvPr id="22" name="Section 3 · Threat alerts icon" descr="Section 3 · Threat alerts">    </p:cNvPr>
          <p:cNvPicPr>
            <a:picLocks noChangeAspect="1"/>
          </p:cNvPicPr>
          <p:nvPr/>
        </p:nvPicPr>
        <p:blipFill>
          <a:blip r:embed="rId3"/>
          <a:stretch>
            <a:fillRect/>
          </a:stretch>
        </p:blipFill>
        <p:spPr>
          <a:xfrm>
            <a:off x="5966460" y="3717036"/>
            <a:ext cx="228600" cy="228600"/>
          </a:xfrm>
          <a:prstGeom prst="rect">
            <a:avLst/>
          </a:prstGeom>
        </p:spPr>
      </p:pic>
      <p:sp>
        <p:nvSpPr>
          <p:cNvPr id="23" name="Text 18"/>
          <p:cNvSpPr txBox="1"/>
          <p:nvPr/>
        </p:nvSpPr>
        <p:spPr>
          <a:xfrm>
            <a:off x="6446520" y="3538728"/>
            <a:ext cx="2926080" cy="585216"/>
          </a:xfrm>
          <a:prstGeom prst="rect">
            <a:avLst/>
          </a:prstGeom>
          <a:noFill/>
          <a:ln/>
        </p:spPr>
        <p:txBody>
          <a:bodyPr wrap="square" lIns="0" tIns="0" rIns="0" bIns="0" rtlCol="0" anchor="ctr"/>
          <a:lstStyle/>
          <a:p>
            <a:pPr indent="0" marL="0">
              <a:buNone/>
            </a:pPr>
            <a:r>
              <a:rPr lang="en-US" sz="1600" b="1" dirty="0">
                <a:solidFill>
                  <a:schemeClr val="tx2"/>
                </a:solidFill>
              </a:rPr>
              <a:t>Section 3 · Threat alerts</a:t>
            </a:r>
            <a:endParaRPr lang="en-US" sz="1600" dirty="0"/>
          </a:p>
        </p:txBody>
      </p:sp>
      <p:sp>
        <p:nvSpPr>
          <p:cNvPr id="24" name="Text 19"/>
          <p:cNvSpPr txBox="1"/>
          <p:nvPr/>
        </p:nvSpPr>
        <p:spPr>
          <a:xfrm>
            <a:off x="9372600" y="3538728"/>
            <a:ext cx="2087575" cy="585216"/>
          </a:xfrm>
          <a:prstGeom prst="rect">
            <a:avLst/>
          </a:prstGeom>
          <a:noFill/>
          <a:ln/>
        </p:spPr>
        <p:txBody>
          <a:bodyPr wrap="square" lIns="0" tIns="0" rIns="0" bIns="0" rtlCol="0" anchor="ctr"/>
          <a:lstStyle/>
          <a:p>
            <a:pPr indent="0" marL="0">
              <a:buNone/>
            </a:pPr>
            <a:r>
              <a:rPr lang="en-US" sz="1400" i="1" dirty="0">
                <a:solidFill>
                  <a:srgbClr val="57534E"/>
                </a:solidFill>
              </a:rPr>
              <a:t>Will it warn me of an attack?</a:t>
            </a:r>
            <a:endParaRPr lang="en-US" sz="1400" dirty="0"/>
          </a:p>
        </p:txBody>
      </p:sp>
      <p:sp>
        <p:nvSpPr>
          <p:cNvPr id="25" name="section 4"/>
          <p:cNvSpPr/>
          <p:nvPr/>
        </p:nvSpPr>
        <p:spPr>
          <a:xfrm>
            <a:off x="5715000" y="4279392"/>
            <a:ext cx="5882335" cy="676656"/>
          </a:xfrm>
          <a:prstGeom prst="rect">
            <a:avLst/>
          </a:prstGeom>
          <a:solidFill>
            <a:srgbClr val="FFFFFF"/>
          </a:solidFill>
          <a:ln w="12700">
            <a:solidFill>
              <a:srgbClr val="D6CFC4"/>
            </a:solidFill>
            <a:prstDash val="solid"/>
          </a:ln>
        </p:spPr>
      </p:sp>
      <p:sp>
        <p:nvSpPr>
          <p:cNvPr id="26" name="Section 4 · Recovery safety circle"/>
          <p:cNvSpPr/>
          <p:nvPr/>
        </p:nvSpPr>
        <p:spPr>
          <a:xfrm>
            <a:off x="5852160" y="4389120"/>
            <a:ext cx="457200" cy="457200"/>
          </a:xfrm>
          <a:prstGeom prst="ellipse">
            <a:avLst/>
          </a:prstGeom>
          <a:solidFill>
            <a:srgbClr val="8B1E1E"/>
          </a:solidFill>
          <a:ln/>
        </p:spPr>
      </p:sp>
      <p:pic>
        <p:nvPicPr>
          <p:cNvPr id="27" name="Section 4 · Recovery safety icon" descr="Section 4 · Recovery safety">    </p:cNvPr>
          <p:cNvPicPr>
            <a:picLocks noChangeAspect="1"/>
          </p:cNvPicPr>
          <p:nvPr/>
        </p:nvPicPr>
        <p:blipFill>
          <a:blip r:embed="rId4"/>
          <a:stretch>
            <a:fillRect/>
          </a:stretch>
        </p:blipFill>
        <p:spPr>
          <a:xfrm>
            <a:off x="5966460" y="4503420"/>
            <a:ext cx="228600" cy="228600"/>
          </a:xfrm>
          <a:prstGeom prst="rect">
            <a:avLst/>
          </a:prstGeom>
        </p:spPr>
      </p:pic>
      <p:sp>
        <p:nvSpPr>
          <p:cNvPr id="28" name="Text 22"/>
          <p:cNvSpPr txBox="1"/>
          <p:nvPr/>
        </p:nvSpPr>
        <p:spPr>
          <a:xfrm>
            <a:off x="6446520" y="4325112"/>
            <a:ext cx="2926080" cy="585216"/>
          </a:xfrm>
          <a:prstGeom prst="rect">
            <a:avLst/>
          </a:prstGeom>
          <a:noFill/>
          <a:ln/>
        </p:spPr>
        <p:txBody>
          <a:bodyPr wrap="square" lIns="0" tIns="0" rIns="0" bIns="0" rtlCol="0" anchor="ctr"/>
          <a:lstStyle/>
          <a:p>
            <a:pPr indent="0" marL="0">
              <a:buNone/>
            </a:pPr>
            <a:r>
              <a:rPr lang="en-US" sz="1600" b="1" dirty="0">
                <a:solidFill>
                  <a:schemeClr val="tx2"/>
                </a:solidFill>
              </a:rPr>
              <a:t>Section 4 · Recovery safety</a:t>
            </a:r>
            <a:endParaRPr lang="en-US" sz="1600" dirty="0"/>
          </a:p>
        </p:txBody>
      </p:sp>
      <p:sp>
        <p:nvSpPr>
          <p:cNvPr id="29" name="Text 23"/>
          <p:cNvSpPr txBox="1"/>
          <p:nvPr/>
        </p:nvSpPr>
        <p:spPr>
          <a:xfrm>
            <a:off x="9372600" y="4325112"/>
            <a:ext cx="2087575" cy="585216"/>
          </a:xfrm>
          <a:prstGeom prst="rect">
            <a:avLst/>
          </a:prstGeom>
          <a:noFill/>
          <a:ln/>
        </p:spPr>
        <p:txBody>
          <a:bodyPr wrap="square" lIns="0" tIns="0" rIns="0" bIns="0" rtlCol="0" anchor="ctr"/>
          <a:lstStyle/>
          <a:p>
            <a:pPr indent="0" marL="0">
              <a:buNone/>
            </a:pPr>
            <a:r>
              <a:rPr lang="en-US" sz="1400" i="1" dirty="0">
                <a:solidFill>
                  <a:srgbClr val="57534E"/>
                </a:solidFill>
              </a:rPr>
              <a:t>Can a hacker lock me out for good?</a:t>
            </a:r>
            <a:endParaRPr lang="en-US" sz="1400" dirty="0"/>
          </a:p>
        </p:txBody>
      </p:sp>
      <p:sp>
        <p:nvSpPr>
          <p:cNvPr id="30" name="section 5"/>
          <p:cNvSpPr/>
          <p:nvPr/>
        </p:nvSpPr>
        <p:spPr>
          <a:xfrm>
            <a:off x="5715000" y="5065776"/>
            <a:ext cx="5882335" cy="676656"/>
          </a:xfrm>
          <a:prstGeom prst="rect">
            <a:avLst/>
          </a:prstGeom>
          <a:solidFill>
            <a:srgbClr val="FFFFFF"/>
          </a:solidFill>
          <a:ln w="12700">
            <a:solidFill>
              <a:srgbClr val="D6CFC4"/>
            </a:solidFill>
            <a:prstDash val="solid"/>
          </a:ln>
        </p:spPr>
      </p:sp>
      <p:sp>
        <p:nvSpPr>
          <p:cNvPr id="31" name="Section 5 · Privacy controls circle"/>
          <p:cNvSpPr/>
          <p:nvPr/>
        </p:nvSpPr>
        <p:spPr>
          <a:xfrm>
            <a:off x="5852160" y="5175504"/>
            <a:ext cx="457200" cy="457200"/>
          </a:xfrm>
          <a:prstGeom prst="ellipse">
            <a:avLst/>
          </a:prstGeom>
          <a:solidFill>
            <a:srgbClr val="8B1E1E"/>
          </a:solidFill>
          <a:ln/>
        </p:spPr>
      </p:sp>
      <p:pic>
        <p:nvPicPr>
          <p:cNvPr id="32" name="Section 5 · Privacy controls icon" descr="Section 5 · Privacy controls">    </p:cNvPr>
          <p:cNvPicPr>
            <a:picLocks noChangeAspect="1"/>
          </p:cNvPicPr>
          <p:nvPr/>
        </p:nvPicPr>
        <p:blipFill>
          <a:blip r:embed="rId5"/>
          <a:stretch>
            <a:fillRect/>
          </a:stretch>
        </p:blipFill>
        <p:spPr>
          <a:xfrm>
            <a:off x="5966460" y="5289804"/>
            <a:ext cx="228600" cy="228600"/>
          </a:xfrm>
          <a:prstGeom prst="rect">
            <a:avLst/>
          </a:prstGeom>
        </p:spPr>
      </p:pic>
      <p:sp>
        <p:nvSpPr>
          <p:cNvPr id="33" name="Text 26"/>
          <p:cNvSpPr txBox="1"/>
          <p:nvPr/>
        </p:nvSpPr>
        <p:spPr>
          <a:xfrm>
            <a:off x="6446520" y="5111496"/>
            <a:ext cx="2926080" cy="585216"/>
          </a:xfrm>
          <a:prstGeom prst="rect">
            <a:avLst/>
          </a:prstGeom>
          <a:noFill/>
          <a:ln/>
        </p:spPr>
        <p:txBody>
          <a:bodyPr wrap="square" lIns="0" tIns="0" rIns="0" bIns="0" rtlCol="0" anchor="ctr"/>
          <a:lstStyle/>
          <a:p>
            <a:pPr indent="0" marL="0">
              <a:buNone/>
            </a:pPr>
            <a:r>
              <a:rPr lang="en-US" sz="1600" b="1" dirty="0">
                <a:solidFill>
                  <a:schemeClr val="tx2"/>
                </a:solidFill>
              </a:rPr>
              <a:t>Section 5 · Privacy controls</a:t>
            </a:r>
            <a:endParaRPr lang="en-US" sz="1600" dirty="0"/>
          </a:p>
        </p:txBody>
      </p:sp>
      <p:sp>
        <p:nvSpPr>
          <p:cNvPr id="34" name="Text 27"/>
          <p:cNvSpPr txBox="1"/>
          <p:nvPr/>
        </p:nvSpPr>
        <p:spPr>
          <a:xfrm>
            <a:off x="9372600" y="5111496"/>
            <a:ext cx="2087575" cy="585216"/>
          </a:xfrm>
          <a:prstGeom prst="rect">
            <a:avLst/>
          </a:prstGeom>
          <a:noFill/>
          <a:ln/>
        </p:spPr>
        <p:txBody>
          <a:bodyPr wrap="square" lIns="0" tIns="0" rIns="0" bIns="0" rtlCol="0" anchor="ctr"/>
          <a:lstStyle/>
          <a:p>
            <a:pPr indent="0" marL="0">
              <a:buNone/>
            </a:pPr>
            <a:r>
              <a:rPr lang="en-US" sz="1400" i="1" dirty="0">
                <a:solidFill>
                  <a:srgbClr val="57534E"/>
                </a:solidFill>
              </a:rPr>
              <a:t>Can strangers find and reach me?</a:t>
            </a:r>
            <a:endParaRPr lang="en-US" sz="14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103120"/>
            <a:ext cx="3566160" cy="356616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CASE 1 OF 5  ·  THE PEOPLE v. FACEBOOK</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Facebook: guilty of leaving account recovery unguarded</a:t>
            </a:r>
            <a:endParaRPr lang="en-US" sz="2800" dirty="0"/>
          </a:p>
        </p:txBody>
      </p:sp>
      <p:sp>
        <p:nvSpPr>
          <p:cNvPr id="5" name="defence circle"/>
          <p:cNvSpPr/>
          <p:nvPr/>
        </p:nvSpPr>
        <p:spPr>
          <a:xfrm>
            <a:off x="594360" y="1463040"/>
            <a:ext cx="384048" cy="384048"/>
          </a:xfrm>
          <a:prstGeom prst="ellipse">
            <a:avLst/>
          </a:prstGeom>
          <a:solidFill>
            <a:srgbClr val="166534"/>
          </a:solidFill>
          <a:ln/>
        </p:spPr>
      </p:sp>
      <p:pic>
        <p:nvPicPr>
          <p:cNvPr id="6" name="defence icon" descr="defence">    </p:cNvPr>
          <p:cNvPicPr>
            <a:picLocks noChangeAspect="1"/>
          </p:cNvPicPr>
          <p:nvPr/>
        </p:nvPicPr>
        <p:blipFill>
          <a:blip r:embed="rId2"/>
          <a:stretch>
            <a:fillRect/>
          </a:stretch>
        </p:blipFill>
        <p:spPr>
          <a:xfrm>
            <a:off x="690372" y="1559052"/>
            <a:ext cx="192024" cy="192024"/>
          </a:xfrm>
          <a:prstGeom prst="rect">
            <a:avLst/>
          </a:prstGeom>
        </p:spPr>
      </p:pic>
      <p:sp>
        <p:nvSpPr>
          <p:cNvPr id="7" name="Text 3"/>
          <p:cNvSpPr txBox="1"/>
          <p:nvPr/>
        </p:nvSpPr>
        <p:spPr>
          <a:xfrm>
            <a:off x="1097280" y="1463040"/>
            <a:ext cx="4572000" cy="384048"/>
          </a:xfrm>
          <a:prstGeom prst="rect">
            <a:avLst/>
          </a:prstGeom>
          <a:noFill/>
          <a:ln/>
        </p:spPr>
        <p:txBody>
          <a:bodyPr wrap="square" lIns="0" tIns="0" rIns="0" bIns="0" rtlCol="0" anchor="ctr"/>
          <a:lstStyle/>
          <a:p>
            <a:pPr indent="0" marL="0">
              <a:buNone/>
            </a:pPr>
            <a:r>
              <a:rPr lang="en-US" sz="1300" b="1" spc="100" kern="0" dirty="0">
                <a:solidFill>
                  <a:srgbClr val="166534"/>
                </a:solidFill>
                <a:latin typeface="Courier New" pitchFamily="34" charset="0"/>
                <a:ea typeface="Courier New" pitchFamily="34" charset="-122"/>
                <a:cs typeface="Courier New" pitchFamily="34" charset="-120"/>
              </a:rPr>
              <a:t>EVIDENCE FOR THE DEFENCE</a:t>
            </a:r>
            <a:endParaRPr lang="en-US" sz="1300" dirty="0"/>
          </a:p>
        </p:txBody>
      </p:sp>
      <p:sp>
        <p:nvSpPr>
          <p:cNvPr id="8" name="exhibit 1"/>
          <p:cNvSpPr/>
          <p:nvPr/>
        </p:nvSpPr>
        <p:spPr>
          <a:xfrm>
            <a:off x="594360" y="2011680"/>
            <a:ext cx="5349240" cy="585216"/>
          </a:xfrm>
          <a:prstGeom prst="rect">
            <a:avLst/>
          </a:prstGeom>
          <a:solidFill>
            <a:srgbClr val="FFFFFF"/>
          </a:solidFill>
          <a:ln w="12700">
            <a:solidFill>
              <a:srgbClr val="D6CFC4"/>
            </a:solidFill>
            <a:prstDash val="solid"/>
          </a:ln>
        </p:spPr>
      </p:sp>
      <p:sp>
        <p:nvSpPr>
          <p:cNvPr id="9" name="Text 5"/>
          <p:cNvSpPr txBox="1"/>
          <p:nvPr/>
        </p:nvSpPr>
        <p:spPr>
          <a:xfrm>
            <a:off x="704088" y="2121408"/>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a:t>
            </a:r>
            <a:endParaRPr lang="en-US" sz="1500" dirty="0"/>
          </a:p>
        </p:txBody>
      </p:sp>
      <p:sp>
        <p:nvSpPr>
          <p:cNvPr id="10" name="Text 6"/>
          <p:cNvSpPr txBox="1"/>
          <p:nvPr/>
        </p:nvSpPr>
        <p:spPr>
          <a:xfrm>
            <a:off x="1188720" y="2011680"/>
            <a:ext cx="4663440" cy="585216"/>
          </a:xfrm>
          <a:prstGeom prst="rect">
            <a:avLst/>
          </a:prstGeom>
          <a:noFill/>
          <a:ln/>
        </p:spPr>
        <p:txBody>
          <a:bodyPr wrap="square" lIns="0" tIns="0" rIns="0" bIns="0" rtlCol="0" anchor="ctr"/>
          <a:lstStyle/>
          <a:p>
            <a:pPr indent="0" marL="0">
              <a:buNone/>
            </a:pPr>
            <a:r>
              <a:rPr lang="en-US" sz="1500" dirty="0">
                <a:solidFill>
                  <a:schemeClr val="tx1"/>
                </a:solidFill>
              </a:rPr>
              <a:t>Two-factor authentication: app, SMS or security key</a:t>
            </a:r>
            <a:endParaRPr lang="en-US" sz="1500" dirty="0"/>
          </a:p>
        </p:txBody>
      </p:sp>
      <p:sp>
        <p:nvSpPr>
          <p:cNvPr id="11" name="exhibit 2"/>
          <p:cNvSpPr/>
          <p:nvPr/>
        </p:nvSpPr>
        <p:spPr>
          <a:xfrm>
            <a:off x="594360" y="2724912"/>
            <a:ext cx="5349240" cy="585216"/>
          </a:xfrm>
          <a:prstGeom prst="rect">
            <a:avLst/>
          </a:prstGeom>
          <a:solidFill>
            <a:srgbClr val="FFFFFF"/>
          </a:solidFill>
          <a:ln w="12700">
            <a:solidFill>
              <a:srgbClr val="D6CFC4"/>
            </a:solidFill>
            <a:prstDash val="solid"/>
          </a:ln>
        </p:spPr>
      </p:sp>
      <p:sp>
        <p:nvSpPr>
          <p:cNvPr id="12" name="Text 8"/>
          <p:cNvSpPr txBox="1"/>
          <p:nvPr/>
        </p:nvSpPr>
        <p:spPr>
          <a:xfrm>
            <a:off x="704088" y="2834640"/>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a:t>
            </a:r>
            <a:endParaRPr lang="en-US" sz="1500" dirty="0"/>
          </a:p>
        </p:txBody>
      </p:sp>
      <p:sp>
        <p:nvSpPr>
          <p:cNvPr id="13" name="Text 9"/>
          <p:cNvSpPr txBox="1"/>
          <p:nvPr/>
        </p:nvSpPr>
        <p:spPr>
          <a:xfrm>
            <a:off x="1188720" y="2724912"/>
            <a:ext cx="4663440" cy="585216"/>
          </a:xfrm>
          <a:prstGeom prst="rect">
            <a:avLst/>
          </a:prstGeom>
          <a:noFill/>
          <a:ln/>
        </p:spPr>
        <p:txBody>
          <a:bodyPr wrap="square" lIns="0" tIns="0" rIns="0" bIns="0" rtlCol="0" anchor="ctr"/>
          <a:lstStyle/>
          <a:p>
            <a:pPr indent="0" marL="0">
              <a:buNone/>
            </a:pPr>
            <a:r>
              <a:rPr lang="en-US" sz="1500" dirty="0">
                <a:solidFill>
                  <a:schemeClr val="tx1"/>
                </a:solidFill>
              </a:rPr>
              <a:t>Login alerts and remote log-out</a:t>
            </a:r>
            <a:endParaRPr lang="en-US" sz="1500" dirty="0"/>
          </a:p>
        </p:txBody>
      </p:sp>
      <p:sp>
        <p:nvSpPr>
          <p:cNvPr id="14" name="exhibit 3"/>
          <p:cNvSpPr/>
          <p:nvPr/>
        </p:nvSpPr>
        <p:spPr>
          <a:xfrm>
            <a:off x="594360" y="3438144"/>
            <a:ext cx="5349240" cy="585216"/>
          </a:xfrm>
          <a:prstGeom prst="rect">
            <a:avLst/>
          </a:prstGeom>
          <a:solidFill>
            <a:srgbClr val="FFFFFF"/>
          </a:solidFill>
          <a:ln w="12700">
            <a:solidFill>
              <a:srgbClr val="D6CFC4"/>
            </a:solidFill>
            <a:prstDash val="solid"/>
          </a:ln>
        </p:spPr>
      </p:sp>
      <p:sp>
        <p:nvSpPr>
          <p:cNvPr id="15" name="Text 11"/>
          <p:cNvSpPr txBox="1"/>
          <p:nvPr/>
        </p:nvSpPr>
        <p:spPr>
          <a:xfrm>
            <a:off x="704088" y="3547872"/>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16" name="Text 12"/>
          <p:cNvSpPr txBox="1"/>
          <p:nvPr/>
        </p:nvSpPr>
        <p:spPr>
          <a:xfrm>
            <a:off x="1188720" y="3438144"/>
            <a:ext cx="4663440" cy="585216"/>
          </a:xfrm>
          <a:prstGeom prst="rect">
            <a:avLst/>
          </a:prstGeom>
          <a:noFill/>
          <a:ln/>
        </p:spPr>
        <p:txBody>
          <a:bodyPr wrap="square" lIns="0" tIns="0" rIns="0" bIns="0" rtlCol="0" anchor="ctr"/>
          <a:lstStyle/>
          <a:p>
            <a:pPr indent="0" marL="0">
              <a:buNone/>
            </a:pPr>
            <a:r>
              <a:rPr lang="en-US" sz="1500" dirty="0">
                <a:solidFill>
                  <a:schemeClr val="tx1"/>
                </a:solidFill>
              </a:rPr>
              <a:t>Passkeys on mobile since June 2025</a:t>
            </a:r>
            <a:endParaRPr lang="en-US" sz="1500" dirty="0"/>
          </a:p>
        </p:txBody>
      </p:sp>
      <p:sp>
        <p:nvSpPr>
          <p:cNvPr id="17" name="exhibit 4"/>
          <p:cNvSpPr/>
          <p:nvPr/>
        </p:nvSpPr>
        <p:spPr>
          <a:xfrm>
            <a:off x="594360" y="4151376"/>
            <a:ext cx="5349240" cy="585216"/>
          </a:xfrm>
          <a:prstGeom prst="rect">
            <a:avLst/>
          </a:prstGeom>
          <a:solidFill>
            <a:srgbClr val="FFFFFF"/>
          </a:solidFill>
          <a:ln w="12700">
            <a:solidFill>
              <a:srgbClr val="D6CFC4"/>
            </a:solidFill>
            <a:prstDash val="solid"/>
          </a:ln>
        </p:spPr>
      </p:sp>
      <p:sp>
        <p:nvSpPr>
          <p:cNvPr id="18" name="Text 14"/>
          <p:cNvSpPr txBox="1"/>
          <p:nvPr/>
        </p:nvSpPr>
        <p:spPr>
          <a:xfrm>
            <a:off x="704088" y="4261104"/>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D</a:t>
            </a:r>
            <a:endParaRPr lang="en-US" sz="1500" dirty="0"/>
          </a:p>
        </p:txBody>
      </p:sp>
      <p:sp>
        <p:nvSpPr>
          <p:cNvPr id="19" name="Text 15"/>
          <p:cNvSpPr txBox="1"/>
          <p:nvPr/>
        </p:nvSpPr>
        <p:spPr>
          <a:xfrm>
            <a:off x="1188720" y="4151376"/>
            <a:ext cx="4663440" cy="585216"/>
          </a:xfrm>
          <a:prstGeom prst="rect">
            <a:avLst/>
          </a:prstGeom>
          <a:noFill/>
          <a:ln/>
        </p:spPr>
        <p:txBody>
          <a:bodyPr wrap="square" lIns="0" tIns="0" rIns="0" bIns="0" rtlCol="0" anchor="ctr"/>
          <a:lstStyle/>
          <a:p>
            <a:pPr indent="0" marL="0">
              <a:buNone/>
            </a:pPr>
            <a:r>
              <a:rPr lang="en-US" sz="1500" dirty="0">
                <a:solidFill>
                  <a:schemeClr val="tx1"/>
                </a:solidFill>
              </a:rPr>
              <a:t>Profile lock hides photos from strangers</a:t>
            </a:r>
            <a:endParaRPr lang="en-US" sz="1500" dirty="0"/>
          </a:p>
        </p:txBody>
      </p:sp>
      <p:sp>
        <p:nvSpPr>
          <p:cNvPr id="20" name="exhibit 5"/>
          <p:cNvSpPr/>
          <p:nvPr/>
        </p:nvSpPr>
        <p:spPr>
          <a:xfrm>
            <a:off x="594360" y="4864608"/>
            <a:ext cx="5349240" cy="585216"/>
          </a:xfrm>
          <a:prstGeom prst="rect">
            <a:avLst/>
          </a:prstGeom>
          <a:solidFill>
            <a:srgbClr val="FFFFFF"/>
          </a:solidFill>
          <a:ln w="12700">
            <a:solidFill>
              <a:srgbClr val="D6CFC4"/>
            </a:solidFill>
            <a:prstDash val="solid"/>
          </a:ln>
        </p:spPr>
      </p:sp>
      <p:sp>
        <p:nvSpPr>
          <p:cNvPr id="21" name="Text 17"/>
          <p:cNvSpPr txBox="1"/>
          <p:nvPr/>
        </p:nvSpPr>
        <p:spPr>
          <a:xfrm>
            <a:off x="704088" y="4974336"/>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E</a:t>
            </a:r>
            <a:endParaRPr lang="en-US" sz="1500" dirty="0"/>
          </a:p>
        </p:txBody>
      </p:sp>
      <p:sp>
        <p:nvSpPr>
          <p:cNvPr id="22" name="Text 18"/>
          <p:cNvSpPr txBox="1"/>
          <p:nvPr/>
        </p:nvSpPr>
        <p:spPr>
          <a:xfrm>
            <a:off x="1188720" y="4864608"/>
            <a:ext cx="4663440" cy="585216"/>
          </a:xfrm>
          <a:prstGeom prst="rect">
            <a:avLst/>
          </a:prstGeom>
          <a:noFill/>
          <a:ln/>
        </p:spPr>
        <p:txBody>
          <a:bodyPr wrap="square" lIns="0" tIns="0" rIns="0" bIns="0" rtlCol="0" anchor="ctr"/>
          <a:lstStyle/>
          <a:p>
            <a:pPr indent="0" marL="0">
              <a:buNone/>
            </a:pPr>
            <a:r>
              <a:rPr lang="en-US" sz="1500" dirty="0">
                <a:solidFill>
                  <a:schemeClr val="tx1"/>
                </a:solidFill>
              </a:rPr>
              <a:t>Messenger chats end-to-end encrypted by default</a:t>
            </a:r>
            <a:endParaRPr lang="en-US" sz="1500" dirty="0"/>
          </a:p>
        </p:txBody>
      </p:sp>
      <p:sp>
        <p:nvSpPr>
          <p:cNvPr id="23" name="prosecution"/>
          <p:cNvSpPr/>
          <p:nvPr/>
        </p:nvSpPr>
        <p:spPr>
          <a:xfrm>
            <a:off x="6263640" y="1463040"/>
            <a:ext cx="5333695" cy="1463040"/>
          </a:xfrm>
          <a:prstGeom prst="rect">
            <a:avLst/>
          </a:prstGeom>
          <a:solidFill>
            <a:srgbClr val="FBEDED"/>
          </a:solidFill>
          <a:ln w="12700">
            <a:solidFill>
              <a:srgbClr val="8B1E1E"/>
            </a:solidFill>
            <a:prstDash val="solid"/>
          </a:ln>
          <a:effectLst>
            <a:outerShdw sx="100000" sy="100000" kx="0" ky="0" algn="bl" rotWithShape="0" blurRad="76200" dist="25400" dir="5400000">
              <a:srgbClr val="000000">
                <a:alpha val="8000"/>
              </a:srgbClr>
            </a:outerShdw>
          </a:effectLst>
        </p:spPr>
      </p:sp>
      <p:sp>
        <p:nvSpPr>
          <p:cNvPr id="24" name="prosecution circle"/>
          <p:cNvSpPr/>
          <p:nvPr/>
        </p:nvSpPr>
        <p:spPr>
          <a:xfrm>
            <a:off x="6446520" y="1600200"/>
            <a:ext cx="384048" cy="384048"/>
          </a:xfrm>
          <a:prstGeom prst="ellipse">
            <a:avLst/>
          </a:prstGeom>
          <a:solidFill>
            <a:srgbClr val="8B1E1E"/>
          </a:solidFill>
          <a:ln/>
        </p:spPr>
      </p:sp>
      <p:pic>
        <p:nvPicPr>
          <p:cNvPr id="25" name="prosecution icon" descr="prosecution">    </p:cNvPr>
          <p:cNvPicPr>
            <a:picLocks noChangeAspect="1"/>
          </p:cNvPicPr>
          <p:nvPr/>
        </p:nvPicPr>
        <p:blipFill>
          <a:blip r:embed="rId3"/>
          <a:stretch>
            <a:fillRect/>
          </a:stretch>
        </p:blipFill>
        <p:spPr>
          <a:xfrm>
            <a:off x="6542532" y="1696212"/>
            <a:ext cx="192024" cy="192024"/>
          </a:xfrm>
          <a:prstGeom prst="rect">
            <a:avLst/>
          </a:prstGeom>
        </p:spPr>
      </p:pic>
      <p:sp>
        <p:nvSpPr>
          <p:cNvPr id="26" name="Text 21"/>
          <p:cNvSpPr txBox="1"/>
          <p:nvPr/>
        </p:nvSpPr>
        <p:spPr>
          <a:xfrm>
            <a:off x="6949440" y="1600200"/>
            <a:ext cx="4510735" cy="384048"/>
          </a:xfrm>
          <a:prstGeom prst="rect">
            <a:avLst/>
          </a:prstGeom>
          <a:noFill/>
          <a:ln/>
        </p:spPr>
        <p:txBody>
          <a:bodyPr wrap="square" lIns="0" tIns="0" rIns="0" bIns="0" rtlCol="0" anchor="ctr"/>
          <a:lstStyle/>
          <a:p>
            <a:pPr indent="0" marL="0">
              <a:buNone/>
            </a:pPr>
            <a:r>
              <a:rPr lang="en-US" sz="1300" b="1" spc="100" kern="0" dirty="0">
                <a:solidFill>
                  <a:srgbClr val="8B1E1E"/>
                </a:solidFill>
                <a:latin typeface="Courier New" pitchFamily="34" charset="0"/>
                <a:ea typeface="Courier New" pitchFamily="34" charset="-122"/>
                <a:cs typeface="Courier New" pitchFamily="34" charset="-120"/>
              </a:rPr>
              <a:t>EVIDENCE FOR THE PROSECUTION</a:t>
            </a:r>
            <a:endParaRPr lang="en-US" sz="1300" dirty="0"/>
          </a:p>
        </p:txBody>
      </p:sp>
      <p:sp>
        <p:nvSpPr>
          <p:cNvPr id="27" name="Text 22"/>
          <p:cNvSpPr txBox="1"/>
          <p:nvPr/>
        </p:nvSpPr>
        <p:spPr>
          <a:xfrm>
            <a:off x="6446520" y="2057400"/>
            <a:ext cx="4967935" cy="804672"/>
          </a:xfrm>
          <a:prstGeom prst="rect">
            <a:avLst/>
          </a:prstGeom>
          <a:noFill/>
          <a:ln/>
        </p:spPr>
        <p:txBody>
          <a:bodyPr wrap="square" lIns="0" tIns="0" rIns="0" bIns="0" rtlCol="0" anchor="t"/>
          <a:lstStyle/>
          <a:p>
            <a:pPr indent="0" marL="0">
              <a:buNone/>
            </a:pPr>
            <a:r>
              <a:rPr lang="en-US" sz="1500" dirty="0">
                <a:solidFill>
                  <a:schemeClr val="tx1"/>
                </a:solidFill>
              </a:rPr>
              <a:t>Hackers can change the recovery email and phone within minutes, and getting the account back is slow and largely automated.</a:t>
            </a:r>
            <a:endParaRPr lang="en-US" sz="1500" dirty="0"/>
          </a:p>
        </p:txBody>
      </p:sp>
      <p:sp>
        <p:nvSpPr>
          <p:cNvPr id="28" name="verdict"/>
          <p:cNvSpPr/>
          <p:nvPr/>
        </p:nvSpPr>
        <p:spPr>
          <a:xfrm>
            <a:off x="6263640" y="3108960"/>
            <a:ext cx="5333695" cy="146304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9" name="Text 24"/>
          <p:cNvSpPr txBox="1"/>
          <p:nvPr/>
        </p:nvSpPr>
        <p:spPr>
          <a:xfrm>
            <a:off x="6446520" y="3200400"/>
            <a:ext cx="1371600" cy="256032"/>
          </a:xfrm>
          <a:prstGeom prst="rect">
            <a:avLst/>
          </a:prstGeom>
          <a:noFill/>
          <a:ln/>
        </p:spPr>
        <p:txBody>
          <a:bodyPr wrap="square" lIns="0" tIns="0" rIns="0" bIns="0" rtlCol="0" anchor="ctr"/>
          <a:lstStyle/>
          <a:p>
            <a:pPr indent="0" marL="0">
              <a:buNone/>
            </a:pPr>
            <a:r>
              <a:rPr lang="en-US" sz="1100" b="1" spc="200" kern="0" dirty="0">
                <a:solidFill>
                  <a:srgbClr val="57534E"/>
                </a:solidFill>
                <a:latin typeface="Courier New" pitchFamily="34" charset="0"/>
                <a:ea typeface="Courier New" pitchFamily="34" charset="-122"/>
                <a:cs typeface="Courier New" pitchFamily="34" charset="-120"/>
              </a:rPr>
              <a:t>VERDICT</a:t>
            </a:r>
            <a:endParaRPr lang="en-US" sz="1100" dirty="0"/>
          </a:p>
        </p:txBody>
      </p:sp>
      <p:sp>
        <p:nvSpPr>
          <p:cNvPr id="30" name="verdict stamp"/>
          <p:cNvSpPr txBox="1"/>
          <p:nvPr/>
        </p:nvSpPr>
        <p:spPr>
          <a:xfrm rot="-420000">
            <a:off x="6446520" y="3611880"/>
            <a:ext cx="2103120" cy="566928"/>
          </a:xfrm>
          <a:prstGeom prst="rect">
            <a:avLst/>
          </a:prstGeom>
          <a:noFill/>
          <a:ln w="38100">
            <a:solidFill>
              <a:srgbClr val="8B1E1E"/>
            </a:solidFill>
          </a:ln>
        </p:spPr>
        <p:txBody>
          <a:bodyPr wrap="square" lIns="0" tIns="0" rIns="0" bIns="0" rtlCol="0" anchor="ctr"/>
          <a:lstStyle/>
          <a:p>
            <a:pPr algn="ctr" indent="0" marL="0">
              <a:buNone/>
            </a:pPr>
            <a:r>
              <a:rPr lang="en-US" sz="2400" b="1" spc="300" kern="0" dirty="0">
                <a:solidFill>
                  <a:srgbClr val="8B1E1E"/>
                </a:solidFill>
                <a:latin typeface="Courier New" pitchFamily="34" charset="0"/>
                <a:ea typeface="Courier New" pitchFamily="34" charset="-122"/>
                <a:cs typeface="Courier New" pitchFamily="34" charset="-120"/>
              </a:rPr>
              <a:t>GUILTY</a:t>
            </a:r>
            <a:endParaRPr lang="en-US" sz="2400" dirty="0"/>
          </a:p>
        </p:txBody>
      </p:sp>
      <p:sp>
        <p:nvSpPr>
          <p:cNvPr id="31" name="Text 26"/>
          <p:cNvSpPr txBox="1"/>
          <p:nvPr/>
        </p:nvSpPr>
        <p:spPr>
          <a:xfrm>
            <a:off x="8686800" y="3200400"/>
            <a:ext cx="1188720" cy="1280160"/>
          </a:xfrm>
          <a:prstGeom prst="rect">
            <a:avLst/>
          </a:prstGeom>
          <a:noFill/>
          <a:ln/>
        </p:spPr>
        <p:txBody>
          <a:bodyPr wrap="square" lIns="0" tIns="0" rIns="0" bIns="0" rtlCol="0" anchor="ctr"/>
          <a:lstStyle/>
          <a:p>
            <a:pPr indent="0" marL="0">
              <a:buNone/>
            </a:pPr>
            <a:r>
              <a:rPr lang="en-US" sz="4000" b="1" dirty="0">
                <a:solidFill>
                  <a:srgbClr val="8B1E1E"/>
                </a:solidFill>
                <a:latin typeface="Cambria" pitchFamily="34" charset="0"/>
                <a:ea typeface="Cambria" pitchFamily="34" charset="-122"/>
                <a:cs typeface="Cambria" pitchFamily="34" charset="-120"/>
              </a:rPr>
              <a:t>16</a:t>
            </a:r>
            <a:pPr indent="0" marL="0">
              <a:buNone/>
            </a:pPr>
            <a:r>
              <a:rPr lang="en-US" sz="1600" dirty="0">
                <a:solidFill>
                  <a:srgbClr val="57534E"/>
                </a:solidFill>
                <a:latin typeface="Cambria" pitchFamily="34" charset="0"/>
                <a:ea typeface="Cambria" pitchFamily="34" charset="-122"/>
                <a:cs typeface="Cambria" pitchFamily="34" charset="-120"/>
              </a:rPr>
              <a:t> /25</a:t>
            </a:r>
            <a:endParaRPr lang="en-US" sz="4000" dirty="0"/>
          </a:p>
        </p:txBody>
      </p:sp>
      <p:graphicFrame>
        <p:nvGraphicFramePr>
          <p:cNvPr id="32" name="Facebook score chart" descr=""/>
          <p:cNvGraphicFramePr/>
          <p:nvPr/>
        </p:nvGraphicFramePr>
        <p:xfrm>
          <a:off x="9784080" y="3154680"/>
          <a:ext cx="1721815" cy="1371600"/>
        </p:xfrm>
        <a:graphic xmlns:a="http://schemas.openxmlformats.org/drawingml/2006/main">
          <a:graphicData uri="http://schemas.openxmlformats.org/drawingml/2006/chart">
            <c:chart xmlns:c="http://schemas.openxmlformats.org/drawingml/2006/chart" r:id="rId4"/>
          </a:graphicData>
        </a:graphic>
      </p:graphicFrame>
      <p:sp>
        <p:nvSpPr>
          <p:cNvPr id="33" name="sentence"/>
          <p:cNvSpPr/>
          <p:nvPr/>
        </p:nvSpPr>
        <p:spPr>
          <a:xfrm>
            <a:off x="6263640" y="4754880"/>
            <a:ext cx="5333695" cy="1188720"/>
          </a:xfrm>
          <a:prstGeom prst="rect">
            <a:avLst/>
          </a:prstGeom>
          <a:solidFill>
            <a:srgbClr val="FBF4E4"/>
          </a:solidFill>
          <a:ln w="12700">
            <a:solidFill>
              <a:srgbClr val="B7791F"/>
            </a:solidFill>
            <a:prstDash val="solid"/>
          </a:ln>
          <a:effectLst>
            <a:outerShdw sx="100000" sy="100000" kx="0" ky="0" algn="bl" rotWithShape="0" blurRad="76200" dist="25400" dir="5400000">
              <a:srgbClr val="000000">
                <a:alpha val="8000"/>
              </a:srgbClr>
            </a:outerShdw>
          </a:effectLst>
        </p:spPr>
      </p:sp>
      <p:sp>
        <p:nvSpPr>
          <p:cNvPr id="34" name="sentence circle"/>
          <p:cNvSpPr/>
          <p:nvPr/>
        </p:nvSpPr>
        <p:spPr>
          <a:xfrm>
            <a:off x="6446520" y="4864608"/>
            <a:ext cx="384048" cy="384048"/>
          </a:xfrm>
          <a:prstGeom prst="ellipse">
            <a:avLst/>
          </a:prstGeom>
          <a:solidFill>
            <a:srgbClr val="B7791F"/>
          </a:solidFill>
          <a:ln/>
        </p:spPr>
      </p:sp>
      <p:pic>
        <p:nvPicPr>
          <p:cNvPr id="35" name="sentence icon" descr="sentence">    </p:cNvPr>
          <p:cNvPicPr>
            <a:picLocks noChangeAspect="1"/>
          </p:cNvPicPr>
          <p:nvPr/>
        </p:nvPicPr>
        <p:blipFill>
          <a:blip r:embed="rId5"/>
          <a:stretch>
            <a:fillRect/>
          </a:stretch>
        </p:blipFill>
        <p:spPr>
          <a:xfrm>
            <a:off x="6542532" y="4960620"/>
            <a:ext cx="192024" cy="192024"/>
          </a:xfrm>
          <a:prstGeom prst="rect">
            <a:avLst/>
          </a:prstGeom>
        </p:spPr>
      </p:pic>
      <p:sp>
        <p:nvSpPr>
          <p:cNvPr id="36" name="Text 29"/>
          <p:cNvSpPr txBox="1"/>
          <p:nvPr/>
        </p:nvSpPr>
        <p:spPr>
          <a:xfrm>
            <a:off x="6949440" y="4864608"/>
            <a:ext cx="4510735" cy="384048"/>
          </a:xfrm>
          <a:prstGeom prst="rect">
            <a:avLst/>
          </a:prstGeom>
          <a:noFill/>
          <a:ln/>
        </p:spPr>
        <p:txBody>
          <a:bodyPr wrap="square" lIns="0" tIns="0" rIns="0" bIns="0" rtlCol="0" anchor="ctr"/>
          <a:lstStyle/>
          <a:p>
            <a:pPr indent="0" marL="0">
              <a:buNone/>
            </a:pPr>
            <a:r>
              <a:rPr lang="en-US" sz="1300" b="1" spc="100" kern="0" dirty="0">
                <a:solidFill>
                  <a:srgbClr val="8A5A12"/>
                </a:solidFill>
                <a:latin typeface="Courier New" pitchFamily="34" charset="0"/>
                <a:ea typeface="Courier New" pitchFamily="34" charset="-122"/>
                <a:cs typeface="Courier New" pitchFamily="34" charset="-120"/>
              </a:rPr>
              <a:t>SENTENCE: COURT-ORDERED FIX</a:t>
            </a:r>
            <a:endParaRPr lang="en-US" sz="1300" dirty="0"/>
          </a:p>
        </p:txBody>
      </p:sp>
      <p:sp>
        <p:nvSpPr>
          <p:cNvPr id="37" name="Text 30"/>
          <p:cNvSpPr txBox="1"/>
          <p:nvPr/>
        </p:nvSpPr>
        <p:spPr>
          <a:xfrm>
            <a:off x="6446520" y="5303520"/>
            <a:ext cx="4967935" cy="594360"/>
          </a:xfrm>
          <a:prstGeom prst="rect">
            <a:avLst/>
          </a:prstGeom>
          <a:noFill/>
          <a:ln/>
        </p:spPr>
        <p:txBody>
          <a:bodyPr wrap="square" lIns="0" tIns="0" rIns="0" bIns="0" rtlCol="0" anchor="t"/>
          <a:lstStyle/>
          <a:p>
            <a:pPr indent="0" marL="0">
              <a:buNone/>
            </a:pPr>
            <a:r>
              <a:rPr lang="en-US" sz="1400" dirty="0">
                <a:solidFill>
                  <a:schemeClr val="tx1"/>
                </a:solidFill>
              </a:rPr>
              <a:t>A 48-hour cool-down on recovery changes, alerts to old contacts, and Bangla-language human support.</a:t>
            </a:r>
            <a:endParaRPr lang="en-US" sz="1400" dirty="0"/>
          </a:p>
        </p:txBody>
      </p:sp>
      <p:sp>
        <p:nvSpPr>
          <p:cNvPr id="38" name="Text 31"/>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Sources: Meta (2025); Crisan (2023).</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103120"/>
            <a:ext cx="3566160" cy="356616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CASE 2 OF 5  ·  THE PEOPLE v. INSTAGRAM</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Instagram: guilty of leaving private messages unencrypted</a:t>
            </a:r>
            <a:endParaRPr lang="en-US" sz="2800" dirty="0"/>
          </a:p>
        </p:txBody>
      </p:sp>
      <p:sp>
        <p:nvSpPr>
          <p:cNvPr id="5" name="defence circle"/>
          <p:cNvSpPr/>
          <p:nvPr/>
        </p:nvSpPr>
        <p:spPr>
          <a:xfrm>
            <a:off x="594360" y="1463040"/>
            <a:ext cx="384048" cy="384048"/>
          </a:xfrm>
          <a:prstGeom prst="ellipse">
            <a:avLst/>
          </a:prstGeom>
          <a:solidFill>
            <a:srgbClr val="166534"/>
          </a:solidFill>
          <a:ln/>
        </p:spPr>
      </p:sp>
      <p:pic>
        <p:nvPicPr>
          <p:cNvPr id="6" name="defence icon" descr="defence">    </p:cNvPr>
          <p:cNvPicPr>
            <a:picLocks noChangeAspect="1"/>
          </p:cNvPicPr>
          <p:nvPr/>
        </p:nvPicPr>
        <p:blipFill>
          <a:blip r:embed="rId2"/>
          <a:stretch>
            <a:fillRect/>
          </a:stretch>
        </p:blipFill>
        <p:spPr>
          <a:xfrm>
            <a:off x="690372" y="1559052"/>
            <a:ext cx="192024" cy="192024"/>
          </a:xfrm>
          <a:prstGeom prst="rect">
            <a:avLst/>
          </a:prstGeom>
        </p:spPr>
      </p:pic>
      <p:sp>
        <p:nvSpPr>
          <p:cNvPr id="7" name="Text 3"/>
          <p:cNvSpPr txBox="1"/>
          <p:nvPr/>
        </p:nvSpPr>
        <p:spPr>
          <a:xfrm>
            <a:off x="1097280" y="1463040"/>
            <a:ext cx="4572000" cy="384048"/>
          </a:xfrm>
          <a:prstGeom prst="rect">
            <a:avLst/>
          </a:prstGeom>
          <a:noFill/>
          <a:ln/>
        </p:spPr>
        <p:txBody>
          <a:bodyPr wrap="square" lIns="0" tIns="0" rIns="0" bIns="0" rtlCol="0" anchor="ctr"/>
          <a:lstStyle/>
          <a:p>
            <a:pPr indent="0" marL="0">
              <a:buNone/>
            </a:pPr>
            <a:r>
              <a:rPr lang="en-US" sz="1300" b="1" spc="100" kern="0" dirty="0">
                <a:solidFill>
                  <a:srgbClr val="166534"/>
                </a:solidFill>
                <a:latin typeface="Courier New" pitchFamily="34" charset="0"/>
                <a:ea typeface="Courier New" pitchFamily="34" charset="-122"/>
                <a:cs typeface="Courier New" pitchFamily="34" charset="-120"/>
              </a:rPr>
              <a:t>EVIDENCE FOR THE DEFENCE</a:t>
            </a:r>
            <a:endParaRPr lang="en-US" sz="1300" dirty="0"/>
          </a:p>
        </p:txBody>
      </p:sp>
      <p:sp>
        <p:nvSpPr>
          <p:cNvPr id="8" name="exhibit 1"/>
          <p:cNvSpPr/>
          <p:nvPr/>
        </p:nvSpPr>
        <p:spPr>
          <a:xfrm>
            <a:off x="594360" y="2011680"/>
            <a:ext cx="5349240" cy="585216"/>
          </a:xfrm>
          <a:prstGeom prst="rect">
            <a:avLst/>
          </a:prstGeom>
          <a:solidFill>
            <a:srgbClr val="FFFFFF"/>
          </a:solidFill>
          <a:ln w="12700">
            <a:solidFill>
              <a:srgbClr val="D6CFC4"/>
            </a:solidFill>
            <a:prstDash val="solid"/>
          </a:ln>
        </p:spPr>
      </p:sp>
      <p:sp>
        <p:nvSpPr>
          <p:cNvPr id="9" name="Text 5"/>
          <p:cNvSpPr txBox="1"/>
          <p:nvPr/>
        </p:nvSpPr>
        <p:spPr>
          <a:xfrm>
            <a:off x="704088" y="2121408"/>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a:t>
            </a:r>
            <a:endParaRPr lang="en-US" sz="1500" dirty="0"/>
          </a:p>
        </p:txBody>
      </p:sp>
      <p:sp>
        <p:nvSpPr>
          <p:cNvPr id="10" name="Text 6"/>
          <p:cNvSpPr txBox="1"/>
          <p:nvPr/>
        </p:nvSpPr>
        <p:spPr>
          <a:xfrm>
            <a:off x="1188720" y="2011680"/>
            <a:ext cx="4663440" cy="585216"/>
          </a:xfrm>
          <a:prstGeom prst="rect">
            <a:avLst/>
          </a:prstGeom>
          <a:noFill/>
          <a:ln/>
        </p:spPr>
        <p:txBody>
          <a:bodyPr wrap="square" lIns="0" tIns="0" rIns="0" bIns="0" rtlCol="0" anchor="ctr"/>
          <a:lstStyle/>
          <a:p>
            <a:pPr indent="0" marL="0">
              <a:buNone/>
            </a:pPr>
            <a:r>
              <a:rPr lang="en-US" sz="1500" dirty="0">
                <a:solidFill>
                  <a:schemeClr val="tx1"/>
                </a:solidFill>
              </a:rPr>
              <a:t>Same Meta 2FA, login alerts and login activity</a:t>
            </a:r>
            <a:endParaRPr lang="en-US" sz="1500" dirty="0"/>
          </a:p>
        </p:txBody>
      </p:sp>
      <p:sp>
        <p:nvSpPr>
          <p:cNvPr id="11" name="exhibit 2"/>
          <p:cNvSpPr/>
          <p:nvPr/>
        </p:nvSpPr>
        <p:spPr>
          <a:xfrm>
            <a:off x="594360" y="2724912"/>
            <a:ext cx="5349240" cy="585216"/>
          </a:xfrm>
          <a:prstGeom prst="rect">
            <a:avLst/>
          </a:prstGeom>
          <a:solidFill>
            <a:srgbClr val="FFFFFF"/>
          </a:solidFill>
          <a:ln w="12700">
            <a:solidFill>
              <a:srgbClr val="D6CFC4"/>
            </a:solidFill>
            <a:prstDash val="solid"/>
          </a:ln>
        </p:spPr>
      </p:sp>
      <p:sp>
        <p:nvSpPr>
          <p:cNvPr id="12" name="Text 8"/>
          <p:cNvSpPr txBox="1"/>
          <p:nvPr/>
        </p:nvSpPr>
        <p:spPr>
          <a:xfrm>
            <a:off x="704088" y="2834640"/>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a:t>
            </a:r>
            <a:endParaRPr lang="en-US" sz="1500" dirty="0"/>
          </a:p>
        </p:txBody>
      </p:sp>
      <p:sp>
        <p:nvSpPr>
          <p:cNvPr id="13" name="Text 9"/>
          <p:cNvSpPr txBox="1"/>
          <p:nvPr/>
        </p:nvSpPr>
        <p:spPr>
          <a:xfrm>
            <a:off x="1188720" y="2724912"/>
            <a:ext cx="4663440" cy="585216"/>
          </a:xfrm>
          <a:prstGeom prst="rect">
            <a:avLst/>
          </a:prstGeom>
          <a:noFill/>
          <a:ln/>
        </p:spPr>
        <p:txBody>
          <a:bodyPr wrap="square" lIns="0" tIns="0" rIns="0" bIns="0" rtlCol="0" anchor="ctr"/>
          <a:lstStyle/>
          <a:p>
            <a:pPr indent="0" marL="0">
              <a:buNone/>
            </a:pPr>
            <a:r>
              <a:rPr lang="en-US" sz="1500" dirty="0">
                <a:solidFill>
                  <a:schemeClr val="tx1"/>
                </a:solidFill>
              </a:rPr>
              <a:t>“Emails from Instagram” exposes fake security emails</a:t>
            </a:r>
            <a:endParaRPr lang="en-US" sz="1500" dirty="0"/>
          </a:p>
        </p:txBody>
      </p:sp>
      <p:sp>
        <p:nvSpPr>
          <p:cNvPr id="14" name="exhibit 3"/>
          <p:cNvSpPr/>
          <p:nvPr/>
        </p:nvSpPr>
        <p:spPr>
          <a:xfrm>
            <a:off x="594360" y="3438144"/>
            <a:ext cx="5349240" cy="585216"/>
          </a:xfrm>
          <a:prstGeom prst="rect">
            <a:avLst/>
          </a:prstGeom>
          <a:solidFill>
            <a:srgbClr val="FFFFFF"/>
          </a:solidFill>
          <a:ln w="12700">
            <a:solidFill>
              <a:srgbClr val="D6CFC4"/>
            </a:solidFill>
            <a:prstDash val="solid"/>
          </a:ln>
        </p:spPr>
      </p:sp>
      <p:sp>
        <p:nvSpPr>
          <p:cNvPr id="15" name="Text 11"/>
          <p:cNvSpPr txBox="1"/>
          <p:nvPr/>
        </p:nvSpPr>
        <p:spPr>
          <a:xfrm>
            <a:off x="704088" y="3547872"/>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16" name="Text 12"/>
          <p:cNvSpPr txBox="1"/>
          <p:nvPr/>
        </p:nvSpPr>
        <p:spPr>
          <a:xfrm>
            <a:off x="1188720" y="3438144"/>
            <a:ext cx="4663440" cy="585216"/>
          </a:xfrm>
          <a:prstGeom prst="rect">
            <a:avLst/>
          </a:prstGeom>
          <a:noFill/>
          <a:ln/>
        </p:spPr>
        <p:txBody>
          <a:bodyPr wrap="square" lIns="0" tIns="0" rIns="0" bIns="0" rtlCol="0" anchor="ctr"/>
          <a:lstStyle/>
          <a:p>
            <a:pPr indent="0" marL="0">
              <a:buNone/>
            </a:pPr>
            <a:r>
              <a:rPr lang="en-US" sz="1500" dirty="0">
                <a:solidFill>
                  <a:schemeClr val="tx1"/>
                </a:solidFill>
              </a:rPr>
              <a:t>Restrict and Hidden Words against harassment</a:t>
            </a:r>
            <a:endParaRPr lang="en-US" sz="1500" dirty="0"/>
          </a:p>
        </p:txBody>
      </p:sp>
      <p:sp>
        <p:nvSpPr>
          <p:cNvPr id="17" name="exhibit 4"/>
          <p:cNvSpPr/>
          <p:nvPr/>
        </p:nvSpPr>
        <p:spPr>
          <a:xfrm>
            <a:off x="594360" y="4151376"/>
            <a:ext cx="5349240" cy="585216"/>
          </a:xfrm>
          <a:prstGeom prst="rect">
            <a:avLst/>
          </a:prstGeom>
          <a:solidFill>
            <a:srgbClr val="FFFFFF"/>
          </a:solidFill>
          <a:ln w="12700">
            <a:solidFill>
              <a:srgbClr val="D6CFC4"/>
            </a:solidFill>
            <a:prstDash val="solid"/>
          </a:ln>
        </p:spPr>
      </p:sp>
      <p:sp>
        <p:nvSpPr>
          <p:cNvPr id="18" name="Text 14"/>
          <p:cNvSpPr txBox="1"/>
          <p:nvPr/>
        </p:nvSpPr>
        <p:spPr>
          <a:xfrm>
            <a:off x="704088" y="4261104"/>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D</a:t>
            </a:r>
            <a:endParaRPr lang="en-US" sz="1500" dirty="0"/>
          </a:p>
        </p:txBody>
      </p:sp>
      <p:sp>
        <p:nvSpPr>
          <p:cNvPr id="19" name="Text 15"/>
          <p:cNvSpPr txBox="1"/>
          <p:nvPr/>
        </p:nvSpPr>
        <p:spPr>
          <a:xfrm>
            <a:off x="1188720" y="4151376"/>
            <a:ext cx="4663440" cy="585216"/>
          </a:xfrm>
          <a:prstGeom prst="rect">
            <a:avLst/>
          </a:prstGeom>
          <a:noFill/>
          <a:ln/>
        </p:spPr>
        <p:txBody>
          <a:bodyPr wrap="square" lIns="0" tIns="0" rIns="0" bIns="0" rtlCol="0" anchor="ctr"/>
          <a:lstStyle/>
          <a:p>
            <a:pPr indent="0" marL="0">
              <a:buNone/>
            </a:pPr>
            <a:r>
              <a:rPr lang="en-US" sz="1500" dirty="0">
                <a:solidFill>
                  <a:schemeClr val="tx1"/>
                </a:solidFill>
              </a:rPr>
              <a:t>Teen Accounts private by default</a:t>
            </a:r>
            <a:endParaRPr lang="en-US" sz="1500" dirty="0"/>
          </a:p>
        </p:txBody>
      </p:sp>
      <p:sp>
        <p:nvSpPr>
          <p:cNvPr id="20" name="prosecution"/>
          <p:cNvSpPr/>
          <p:nvPr/>
        </p:nvSpPr>
        <p:spPr>
          <a:xfrm>
            <a:off x="6263640" y="1463040"/>
            <a:ext cx="5333695" cy="1463040"/>
          </a:xfrm>
          <a:prstGeom prst="rect">
            <a:avLst/>
          </a:prstGeom>
          <a:solidFill>
            <a:srgbClr val="FBEDED"/>
          </a:solidFill>
          <a:ln w="12700">
            <a:solidFill>
              <a:srgbClr val="8B1E1E"/>
            </a:solidFill>
            <a:prstDash val="solid"/>
          </a:ln>
          <a:effectLst>
            <a:outerShdw sx="100000" sy="100000" kx="0" ky="0" algn="bl" rotWithShape="0" blurRad="76200" dist="25400" dir="5400000">
              <a:srgbClr val="000000">
                <a:alpha val="8000"/>
              </a:srgbClr>
            </a:outerShdw>
          </a:effectLst>
        </p:spPr>
      </p:sp>
      <p:sp>
        <p:nvSpPr>
          <p:cNvPr id="21" name="prosecution circle"/>
          <p:cNvSpPr/>
          <p:nvPr/>
        </p:nvSpPr>
        <p:spPr>
          <a:xfrm>
            <a:off x="6446520" y="1600200"/>
            <a:ext cx="384048" cy="384048"/>
          </a:xfrm>
          <a:prstGeom prst="ellipse">
            <a:avLst/>
          </a:prstGeom>
          <a:solidFill>
            <a:srgbClr val="8B1E1E"/>
          </a:solidFill>
          <a:ln/>
        </p:spPr>
      </p:sp>
      <p:pic>
        <p:nvPicPr>
          <p:cNvPr id="22" name="prosecution icon" descr="prosecution">    </p:cNvPr>
          <p:cNvPicPr>
            <a:picLocks noChangeAspect="1"/>
          </p:cNvPicPr>
          <p:nvPr/>
        </p:nvPicPr>
        <p:blipFill>
          <a:blip r:embed="rId3"/>
          <a:stretch>
            <a:fillRect/>
          </a:stretch>
        </p:blipFill>
        <p:spPr>
          <a:xfrm>
            <a:off x="6542532" y="1696212"/>
            <a:ext cx="192024" cy="192024"/>
          </a:xfrm>
          <a:prstGeom prst="rect">
            <a:avLst/>
          </a:prstGeom>
        </p:spPr>
      </p:pic>
      <p:sp>
        <p:nvSpPr>
          <p:cNvPr id="23" name="Text 18"/>
          <p:cNvSpPr txBox="1"/>
          <p:nvPr/>
        </p:nvSpPr>
        <p:spPr>
          <a:xfrm>
            <a:off x="6949440" y="1600200"/>
            <a:ext cx="4510735" cy="384048"/>
          </a:xfrm>
          <a:prstGeom prst="rect">
            <a:avLst/>
          </a:prstGeom>
          <a:noFill/>
          <a:ln/>
        </p:spPr>
        <p:txBody>
          <a:bodyPr wrap="square" lIns="0" tIns="0" rIns="0" bIns="0" rtlCol="0" anchor="ctr"/>
          <a:lstStyle/>
          <a:p>
            <a:pPr indent="0" marL="0">
              <a:buNone/>
            </a:pPr>
            <a:r>
              <a:rPr lang="en-US" sz="1300" b="1" spc="100" kern="0" dirty="0">
                <a:solidFill>
                  <a:srgbClr val="8B1E1E"/>
                </a:solidFill>
                <a:latin typeface="Courier New" pitchFamily="34" charset="0"/>
                <a:ea typeface="Courier New" pitchFamily="34" charset="-122"/>
                <a:cs typeface="Courier New" pitchFamily="34" charset="-120"/>
              </a:rPr>
              <a:t>EVIDENCE FOR THE PROSECUTION</a:t>
            </a:r>
            <a:endParaRPr lang="en-US" sz="1300" dirty="0"/>
          </a:p>
        </p:txBody>
      </p:sp>
      <p:sp>
        <p:nvSpPr>
          <p:cNvPr id="24" name="Text 19"/>
          <p:cNvSpPr txBox="1"/>
          <p:nvPr/>
        </p:nvSpPr>
        <p:spPr>
          <a:xfrm>
            <a:off x="6446520" y="2057400"/>
            <a:ext cx="4967935" cy="804672"/>
          </a:xfrm>
          <a:prstGeom prst="rect">
            <a:avLst/>
          </a:prstGeom>
          <a:noFill/>
          <a:ln/>
        </p:spPr>
        <p:txBody>
          <a:bodyPr wrap="square" lIns="0" tIns="0" rIns="0" bIns="0" rtlCol="0" anchor="t"/>
          <a:lstStyle/>
          <a:p>
            <a:pPr indent="0" marL="0">
              <a:buNone/>
            </a:pPr>
            <a:r>
              <a:rPr lang="en-US" sz="1500" dirty="0">
                <a:solidFill>
                  <a:schemeClr val="tx1"/>
                </a:solidFill>
              </a:rPr>
              <a:t>DMs were never end-to-end encrypted by default, and Meta removed the optional encrypted chats on 8 May 2026.</a:t>
            </a:r>
            <a:endParaRPr lang="en-US" sz="1500" dirty="0"/>
          </a:p>
        </p:txBody>
      </p:sp>
      <p:sp>
        <p:nvSpPr>
          <p:cNvPr id="25" name="verdict"/>
          <p:cNvSpPr/>
          <p:nvPr/>
        </p:nvSpPr>
        <p:spPr>
          <a:xfrm>
            <a:off x="6263640" y="3108960"/>
            <a:ext cx="5333695" cy="146304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6" name="Text 21"/>
          <p:cNvSpPr txBox="1"/>
          <p:nvPr/>
        </p:nvSpPr>
        <p:spPr>
          <a:xfrm>
            <a:off x="6446520" y="3200400"/>
            <a:ext cx="1371600" cy="256032"/>
          </a:xfrm>
          <a:prstGeom prst="rect">
            <a:avLst/>
          </a:prstGeom>
          <a:noFill/>
          <a:ln/>
        </p:spPr>
        <p:txBody>
          <a:bodyPr wrap="square" lIns="0" tIns="0" rIns="0" bIns="0" rtlCol="0" anchor="ctr"/>
          <a:lstStyle/>
          <a:p>
            <a:pPr indent="0" marL="0">
              <a:buNone/>
            </a:pPr>
            <a:r>
              <a:rPr lang="en-US" sz="1100" b="1" spc="200" kern="0" dirty="0">
                <a:solidFill>
                  <a:srgbClr val="57534E"/>
                </a:solidFill>
                <a:latin typeface="Courier New" pitchFamily="34" charset="0"/>
                <a:ea typeface="Courier New" pitchFamily="34" charset="-122"/>
                <a:cs typeface="Courier New" pitchFamily="34" charset="-120"/>
              </a:rPr>
              <a:t>VERDICT</a:t>
            </a:r>
            <a:endParaRPr lang="en-US" sz="1100" dirty="0"/>
          </a:p>
        </p:txBody>
      </p:sp>
      <p:sp>
        <p:nvSpPr>
          <p:cNvPr id="27" name="verdict stamp"/>
          <p:cNvSpPr txBox="1"/>
          <p:nvPr/>
        </p:nvSpPr>
        <p:spPr>
          <a:xfrm rot="-420000">
            <a:off x="6446520" y="3611880"/>
            <a:ext cx="2103120" cy="566928"/>
          </a:xfrm>
          <a:prstGeom prst="rect">
            <a:avLst/>
          </a:prstGeom>
          <a:noFill/>
          <a:ln w="38100">
            <a:solidFill>
              <a:srgbClr val="8B1E1E"/>
            </a:solidFill>
          </a:ln>
        </p:spPr>
        <p:txBody>
          <a:bodyPr wrap="square" lIns="0" tIns="0" rIns="0" bIns="0" rtlCol="0" anchor="ctr"/>
          <a:lstStyle/>
          <a:p>
            <a:pPr algn="ctr" indent="0" marL="0">
              <a:buNone/>
            </a:pPr>
            <a:r>
              <a:rPr lang="en-US" sz="2400" b="1" spc="300" kern="0" dirty="0">
                <a:solidFill>
                  <a:srgbClr val="8B1E1E"/>
                </a:solidFill>
                <a:latin typeface="Courier New" pitchFamily="34" charset="0"/>
                <a:ea typeface="Courier New" pitchFamily="34" charset="-122"/>
                <a:cs typeface="Courier New" pitchFamily="34" charset="-120"/>
              </a:rPr>
              <a:t>GUILTY</a:t>
            </a:r>
            <a:endParaRPr lang="en-US" sz="2400" dirty="0"/>
          </a:p>
        </p:txBody>
      </p:sp>
      <p:sp>
        <p:nvSpPr>
          <p:cNvPr id="28" name="Text 23"/>
          <p:cNvSpPr txBox="1"/>
          <p:nvPr/>
        </p:nvSpPr>
        <p:spPr>
          <a:xfrm>
            <a:off x="8686800" y="3200400"/>
            <a:ext cx="1188720" cy="1280160"/>
          </a:xfrm>
          <a:prstGeom prst="rect">
            <a:avLst/>
          </a:prstGeom>
          <a:noFill/>
          <a:ln/>
        </p:spPr>
        <p:txBody>
          <a:bodyPr wrap="square" lIns="0" tIns="0" rIns="0" bIns="0" rtlCol="0" anchor="ctr"/>
          <a:lstStyle/>
          <a:p>
            <a:pPr indent="0" marL="0">
              <a:buNone/>
            </a:pPr>
            <a:r>
              <a:rPr lang="en-US" sz="4000" b="1" dirty="0">
                <a:solidFill>
                  <a:srgbClr val="8B1E1E"/>
                </a:solidFill>
                <a:latin typeface="Cambria" pitchFamily="34" charset="0"/>
                <a:ea typeface="Cambria" pitchFamily="34" charset="-122"/>
                <a:cs typeface="Cambria" pitchFamily="34" charset="-120"/>
              </a:rPr>
              <a:t>16</a:t>
            </a:r>
            <a:pPr indent="0" marL="0">
              <a:buNone/>
            </a:pPr>
            <a:r>
              <a:rPr lang="en-US" sz="1600" dirty="0">
                <a:solidFill>
                  <a:srgbClr val="57534E"/>
                </a:solidFill>
                <a:latin typeface="Cambria" pitchFamily="34" charset="0"/>
                <a:ea typeface="Cambria" pitchFamily="34" charset="-122"/>
                <a:cs typeface="Cambria" pitchFamily="34" charset="-120"/>
              </a:rPr>
              <a:t> /25</a:t>
            </a:r>
            <a:endParaRPr lang="en-US" sz="4000" dirty="0"/>
          </a:p>
        </p:txBody>
      </p:sp>
      <p:graphicFrame>
        <p:nvGraphicFramePr>
          <p:cNvPr id="29" name="Instagram score chart" descr=""/>
          <p:cNvGraphicFramePr/>
          <p:nvPr/>
        </p:nvGraphicFramePr>
        <p:xfrm>
          <a:off x="9784080" y="3154680"/>
          <a:ext cx="1721815" cy="1371600"/>
        </p:xfrm>
        <a:graphic xmlns:a="http://schemas.openxmlformats.org/drawingml/2006/main">
          <a:graphicData uri="http://schemas.openxmlformats.org/drawingml/2006/chart">
            <c:chart xmlns:c="http://schemas.openxmlformats.org/drawingml/2006/chart" r:id="rId4"/>
          </a:graphicData>
        </a:graphic>
      </p:graphicFrame>
      <p:sp>
        <p:nvSpPr>
          <p:cNvPr id="30" name="sentence"/>
          <p:cNvSpPr/>
          <p:nvPr/>
        </p:nvSpPr>
        <p:spPr>
          <a:xfrm>
            <a:off x="6263640" y="4754880"/>
            <a:ext cx="5333695" cy="1188720"/>
          </a:xfrm>
          <a:prstGeom prst="rect">
            <a:avLst/>
          </a:prstGeom>
          <a:solidFill>
            <a:srgbClr val="FBF4E4"/>
          </a:solidFill>
          <a:ln w="12700">
            <a:solidFill>
              <a:srgbClr val="B7791F"/>
            </a:solidFill>
            <a:prstDash val="solid"/>
          </a:ln>
          <a:effectLst>
            <a:outerShdw sx="100000" sy="100000" kx="0" ky="0" algn="bl" rotWithShape="0" blurRad="76200" dist="25400" dir="5400000">
              <a:srgbClr val="000000">
                <a:alpha val="8000"/>
              </a:srgbClr>
            </a:outerShdw>
          </a:effectLst>
        </p:spPr>
      </p:sp>
      <p:sp>
        <p:nvSpPr>
          <p:cNvPr id="31" name="sentence circle"/>
          <p:cNvSpPr/>
          <p:nvPr/>
        </p:nvSpPr>
        <p:spPr>
          <a:xfrm>
            <a:off x="6446520" y="4864608"/>
            <a:ext cx="384048" cy="384048"/>
          </a:xfrm>
          <a:prstGeom prst="ellipse">
            <a:avLst/>
          </a:prstGeom>
          <a:solidFill>
            <a:srgbClr val="B7791F"/>
          </a:solidFill>
          <a:ln/>
        </p:spPr>
      </p:sp>
      <p:pic>
        <p:nvPicPr>
          <p:cNvPr id="32" name="sentence icon" descr="sentence">    </p:cNvPr>
          <p:cNvPicPr>
            <a:picLocks noChangeAspect="1"/>
          </p:cNvPicPr>
          <p:nvPr/>
        </p:nvPicPr>
        <p:blipFill>
          <a:blip r:embed="rId5"/>
          <a:stretch>
            <a:fillRect/>
          </a:stretch>
        </p:blipFill>
        <p:spPr>
          <a:xfrm>
            <a:off x="6542532" y="4960620"/>
            <a:ext cx="192024" cy="192024"/>
          </a:xfrm>
          <a:prstGeom prst="rect">
            <a:avLst/>
          </a:prstGeom>
        </p:spPr>
      </p:pic>
      <p:sp>
        <p:nvSpPr>
          <p:cNvPr id="33" name="Text 26"/>
          <p:cNvSpPr txBox="1"/>
          <p:nvPr/>
        </p:nvSpPr>
        <p:spPr>
          <a:xfrm>
            <a:off x="6949440" y="4864608"/>
            <a:ext cx="4510735" cy="384048"/>
          </a:xfrm>
          <a:prstGeom prst="rect">
            <a:avLst/>
          </a:prstGeom>
          <a:noFill/>
          <a:ln/>
        </p:spPr>
        <p:txBody>
          <a:bodyPr wrap="square" lIns="0" tIns="0" rIns="0" bIns="0" rtlCol="0" anchor="ctr"/>
          <a:lstStyle/>
          <a:p>
            <a:pPr indent="0" marL="0">
              <a:buNone/>
            </a:pPr>
            <a:r>
              <a:rPr lang="en-US" sz="1300" b="1" spc="100" kern="0" dirty="0">
                <a:solidFill>
                  <a:srgbClr val="8A5A12"/>
                </a:solidFill>
                <a:latin typeface="Courier New" pitchFamily="34" charset="0"/>
                <a:ea typeface="Courier New" pitchFamily="34" charset="-122"/>
                <a:cs typeface="Courier New" pitchFamily="34" charset="-120"/>
              </a:rPr>
              <a:t>SENTENCE: COURT-ORDERED FIX</a:t>
            </a:r>
            <a:endParaRPr lang="en-US" sz="1300" dirty="0"/>
          </a:p>
        </p:txBody>
      </p:sp>
      <p:sp>
        <p:nvSpPr>
          <p:cNvPr id="34" name="Text 27"/>
          <p:cNvSpPr txBox="1"/>
          <p:nvPr/>
        </p:nvSpPr>
        <p:spPr>
          <a:xfrm>
            <a:off x="6446520" y="5303520"/>
            <a:ext cx="4967935" cy="594360"/>
          </a:xfrm>
          <a:prstGeom prst="rect">
            <a:avLst/>
          </a:prstGeom>
          <a:noFill/>
          <a:ln/>
        </p:spPr>
        <p:txBody>
          <a:bodyPr wrap="square" lIns="0" tIns="0" rIns="0" bIns="0" rtlCol="0" anchor="t"/>
          <a:lstStyle/>
          <a:p>
            <a:pPr indent="0" marL="0">
              <a:buNone/>
            </a:pPr>
            <a:r>
              <a:rPr lang="en-US" sz="1400" dirty="0">
                <a:solidFill>
                  <a:schemeClr val="tx1"/>
                </a:solidFill>
              </a:rPr>
              <a:t>Restore end-to-end encrypted DMs as the default, and blur unsolicited explicit images for all users.</a:t>
            </a:r>
            <a:endParaRPr lang="en-US" sz="1400" dirty="0"/>
          </a:p>
        </p:txBody>
      </p:sp>
      <p:sp>
        <p:nvSpPr>
          <p:cNvPr id="35" name="Text 28"/>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 Euronews (2026).</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103120"/>
            <a:ext cx="3566160" cy="356616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CASE 3 OF 5  ·  THE PEOPLE v. WHATSAPP</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WhatsApp: not guilty, but its users are being tricked</a:t>
            </a:r>
            <a:endParaRPr lang="en-US" sz="2800" dirty="0"/>
          </a:p>
        </p:txBody>
      </p:sp>
      <p:sp>
        <p:nvSpPr>
          <p:cNvPr id="5" name="defence circle"/>
          <p:cNvSpPr/>
          <p:nvPr/>
        </p:nvSpPr>
        <p:spPr>
          <a:xfrm>
            <a:off x="594360" y="1463040"/>
            <a:ext cx="384048" cy="384048"/>
          </a:xfrm>
          <a:prstGeom prst="ellipse">
            <a:avLst/>
          </a:prstGeom>
          <a:solidFill>
            <a:srgbClr val="166534"/>
          </a:solidFill>
          <a:ln/>
        </p:spPr>
      </p:sp>
      <p:pic>
        <p:nvPicPr>
          <p:cNvPr id="6" name="defence icon" descr="defence">    </p:cNvPr>
          <p:cNvPicPr>
            <a:picLocks noChangeAspect="1"/>
          </p:cNvPicPr>
          <p:nvPr/>
        </p:nvPicPr>
        <p:blipFill>
          <a:blip r:embed="rId2"/>
          <a:stretch>
            <a:fillRect/>
          </a:stretch>
        </p:blipFill>
        <p:spPr>
          <a:xfrm>
            <a:off x="690372" y="1559052"/>
            <a:ext cx="192024" cy="192024"/>
          </a:xfrm>
          <a:prstGeom prst="rect">
            <a:avLst/>
          </a:prstGeom>
        </p:spPr>
      </p:pic>
      <p:sp>
        <p:nvSpPr>
          <p:cNvPr id="7" name="Text 3"/>
          <p:cNvSpPr txBox="1"/>
          <p:nvPr/>
        </p:nvSpPr>
        <p:spPr>
          <a:xfrm>
            <a:off x="1097280" y="1463040"/>
            <a:ext cx="4572000" cy="384048"/>
          </a:xfrm>
          <a:prstGeom prst="rect">
            <a:avLst/>
          </a:prstGeom>
          <a:noFill/>
          <a:ln/>
        </p:spPr>
        <p:txBody>
          <a:bodyPr wrap="square" lIns="0" tIns="0" rIns="0" bIns="0" rtlCol="0" anchor="ctr"/>
          <a:lstStyle/>
          <a:p>
            <a:pPr indent="0" marL="0">
              <a:buNone/>
            </a:pPr>
            <a:r>
              <a:rPr lang="en-US" sz="1300" b="1" spc="100" kern="0" dirty="0">
                <a:solidFill>
                  <a:srgbClr val="166534"/>
                </a:solidFill>
                <a:latin typeface="Courier New" pitchFamily="34" charset="0"/>
                <a:ea typeface="Courier New" pitchFamily="34" charset="-122"/>
                <a:cs typeface="Courier New" pitchFamily="34" charset="-120"/>
              </a:rPr>
              <a:t>EVIDENCE FOR THE DEFENCE</a:t>
            </a:r>
            <a:endParaRPr lang="en-US" sz="1300" dirty="0"/>
          </a:p>
        </p:txBody>
      </p:sp>
      <p:sp>
        <p:nvSpPr>
          <p:cNvPr id="8" name="exhibit 1"/>
          <p:cNvSpPr/>
          <p:nvPr/>
        </p:nvSpPr>
        <p:spPr>
          <a:xfrm>
            <a:off x="594360" y="2011680"/>
            <a:ext cx="5349240" cy="585216"/>
          </a:xfrm>
          <a:prstGeom prst="rect">
            <a:avLst/>
          </a:prstGeom>
          <a:solidFill>
            <a:srgbClr val="FFFFFF"/>
          </a:solidFill>
          <a:ln w="12700">
            <a:solidFill>
              <a:srgbClr val="D6CFC4"/>
            </a:solidFill>
            <a:prstDash val="solid"/>
          </a:ln>
        </p:spPr>
      </p:sp>
      <p:sp>
        <p:nvSpPr>
          <p:cNvPr id="9" name="Text 5"/>
          <p:cNvSpPr txBox="1"/>
          <p:nvPr/>
        </p:nvSpPr>
        <p:spPr>
          <a:xfrm>
            <a:off x="704088" y="2121408"/>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a:t>
            </a:r>
            <a:endParaRPr lang="en-US" sz="1500" dirty="0"/>
          </a:p>
        </p:txBody>
      </p:sp>
      <p:sp>
        <p:nvSpPr>
          <p:cNvPr id="10" name="Text 6"/>
          <p:cNvSpPr txBox="1"/>
          <p:nvPr/>
        </p:nvSpPr>
        <p:spPr>
          <a:xfrm>
            <a:off x="1188720" y="2011680"/>
            <a:ext cx="4663440" cy="585216"/>
          </a:xfrm>
          <a:prstGeom prst="rect">
            <a:avLst/>
          </a:prstGeom>
          <a:noFill/>
          <a:ln/>
        </p:spPr>
        <p:txBody>
          <a:bodyPr wrap="square" lIns="0" tIns="0" rIns="0" bIns="0" rtlCol="0" anchor="ctr"/>
          <a:lstStyle/>
          <a:p>
            <a:pPr indent="0" marL="0">
              <a:buNone/>
            </a:pPr>
            <a:r>
              <a:rPr lang="en-US" sz="1500" dirty="0">
                <a:solidFill>
                  <a:schemeClr val="tx1"/>
                </a:solidFill>
              </a:rPr>
              <a:t>End-to-end encryption on every chat and call, by default</a:t>
            </a:r>
            <a:endParaRPr lang="en-US" sz="1500" dirty="0"/>
          </a:p>
        </p:txBody>
      </p:sp>
      <p:sp>
        <p:nvSpPr>
          <p:cNvPr id="11" name="exhibit 2"/>
          <p:cNvSpPr/>
          <p:nvPr/>
        </p:nvSpPr>
        <p:spPr>
          <a:xfrm>
            <a:off x="594360" y="2724912"/>
            <a:ext cx="5349240" cy="585216"/>
          </a:xfrm>
          <a:prstGeom prst="rect">
            <a:avLst/>
          </a:prstGeom>
          <a:solidFill>
            <a:srgbClr val="FFFFFF"/>
          </a:solidFill>
          <a:ln w="12700">
            <a:solidFill>
              <a:srgbClr val="D6CFC4"/>
            </a:solidFill>
            <a:prstDash val="solid"/>
          </a:ln>
        </p:spPr>
      </p:sp>
      <p:sp>
        <p:nvSpPr>
          <p:cNvPr id="12" name="Text 8"/>
          <p:cNvSpPr txBox="1"/>
          <p:nvPr/>
        </p:nvSpPr>
        <p:spPr>
          <a:xfrm>
            <a:off x="704088" y="2834640"/>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a:t>
            </a:r>
            <a:endParaRPr lang="en-US" sz="1500" dirty="0"/>
          </a:p>
        </p:txBody>
      </p:sp>
      <p:sp>
        <p:nvSpPr>
          <p:cNvPr id="13" name="Text 9"/>
          <p:cNvSpPr txBox="1"/>
          <p:nvPr/>
        </p:nvSpPr>
        <p:spPr>
          <a:xfrm>
            <a:off x="1188720" y="2724912"/>
            <a:ext cx="4663440" cy="585216"/>
          </a:xfrm>
          <a:prstGeom prst="rect">
            <a:avLst/>
          </a:prstGeom>
          <a:noFill/>
          <a:ln/>
        </p:spPr>
        <p:txBody>
          <a:bodyPr wrap="square" lIns="0" tIns="0" rIns="0" bIns="0" rtlCol="0" anchor="ctr"/>
          <a:lstStyle/>
          <a:p>
            <a:pPr indent="0" marL="0">
              <a:buNone/>
            </a:pPr>
            <a:r>
              <a:rPr lang="en-US" sz="1500" dirty="0">
                <a:solidFill>
                  <a:schemeClr val="tx1"/>
                </a:solidFill>
              </a:rPr>
              <a:t>Six-digit two-step verification PIN</a:t>
            </a:r>
            <a:endParaRPr lang="en-US" sz="1500" dirty="0"/>
          </a:p>
        </p:txBody>
      </p:sp>
      <p:sp>
        <p:nvSpPr>
          <p:cNvPr id="14" name="exhibit 3"/>
          <p:cNvSpPr/>
          <p:nvPr/>
        </p:nvSpPr>
        <p:spPr>
          <a:xfrm>
            <a:off x="594360" y="3438144"/>
            <a:ext cx="5349240" cy="585216"/>
          </a:xfrm>
          <a:prstGeom prst="rect">
            <a:avLst/>
          </a:prstGeom>
          <a:solidFill>
            <a:srgbClr val="FFFFFF"/>
          </a:solidFill>
          <a:ln w="12700">
            <a:solidFill>
              <a:srgbClr val="D6CFC4"/>
            </a:solidFill>
            <a:prstDash val="solid"/>
          </a:ln>
        </p:spPr>
      </p:sp>
      <p:sp>
        <p:nvSpPr>
          <p:cNvPr id="15" name="Text 11"/>
          <p:cNvSpPr txBox="1"/>
          <p:nvPr/>
        </p:nvSpPr>
        <p:spPr>
          <a:xfrm>
            <a:off x="704088" y="3547872"/>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16" name="Text 12"/>
          <p:cNvSpPr txBox="1"/>
          <p:nvPr/>
        </p:nvSpPr>
        <p:spPr>
          <a:xfrm>
            <a:off x="1188720" y="3438144"/>
            <a:ext cx="4663440" cy="585216"/>
          </a:xfrm>
          <a:prstGeom prst="rect">
            <a:avLst/>
          </a:prstGeom>
          <a:noFill/>
          <a:ln/>
        </p:spPr>
        <p:txBody>
          <a:bodyPr wrap="square" lIns="0" tIns="0" rIns="0" bIns="0" rtlCol="0" anchor="ctr"/>
          <a:lstStyle/>
          <a:p>
            <a:pPr indent="0" marL="0">
              <a:buNone/>
            </a:pPr>
            <a:r>
              <a:rPr lang="en-US" sz="1500" dirty="0">
                <a:solidFill>
                  <a:schemeClr val="tx1"/>
                </a:solidFill>
              </a:rPr>
              <a:t>Passkey login and passkey-locked backups (Oct 2025)</a:t>
            </a:r>
            <a:endParaRPr lang="en-US" sz="1500" dirty="0"/>
          </a:p>
        </p:txBody>
      </p:sp>
      <p:sp>
        <p:nvSpPr>
          <p:cNvPr id="17" name="exhibit 4"/>
          <p:cNvSpPr/>
          <p:nvPr/>
        </p:nvSpPr>
        <p:spPr>
          <a:xfrm>
            <a:off x="594360" y="4151376"/>
            <a:ext cx="5349240" cy="585216"/>
          </a:xfrm>
          <a:prstGeom prst="rect">
            <a:avLst/>
          </a:prstGeom>
          <a:solidFill>
            <a:srgbClr val="FFFFFF"/>
          </a:solidFill>
          <a:ln w="12700">
            <a:solidFill>
              <a:srgbClr val="D6CFC4"/>
            </a:solidFill>
            <a:prstDash val="solid"/>
          </a:ln>
        </p:spPr>
      </p:sp>
      <p:sp>
        <p:nvSpPr>
          <p:cNvPr id="18" name="Text 14"/>
          <p:cNvSpPr txBox="1"/>
          <p:nvPr/>
        </p:nvSpPr>
        <p:spPr>
          <a:xfrm>
            <a:off x="704088" y="4261104"/>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D</a:t>
            </a:r>
            <a:endParaRPr lang="en-US" sz="1500" dirty="0"/>
          </a:p>
        </p:txBody>
      </p:sp>
      <p:sp>
        <p:nvSpPr>
          <p:cNvPr id="19" name="Text 15"/>
          <p:cNvSpPr txBox="1"/>
          <p:nvPr/>
        </p:nvSpPr>
        <p:spPr>
          <a:xfrm>
            <a:off x="1188720" y="4151376"/>
            <a:ext cx="4663440" cy="585216"/>
          </a:xfrm>
          <a:prstGeom prst="rect">
            <a:avLst/>
          </a:prstGeom>
          <a:noFill/>
          <a:ln/>
        </p:spPr>
        <p:txBody>
          <a:bodyPr wrap="square" lIns="0" tIns="0" rIns="0" bIns="0" rtlCol="0" anchor="ctr"/>
          <a:lstStyle/>
          <a:p>
            <a:pPr indent="0" marL="0">
              <a:buNone/>
            </a:pPr>
            <a:r>
              <a:rPr lang="en-US" sz="1500" dirty="0">
                <a:solidFill>
                  <a:schemeClr val="tx1"/>
                </a:solidFill>
              </a:rPr>
              <a:t>Chat lock, silence unknown callers, IP protection</a:t>
            </a:r>
            <a:endParaRPr lang="en-US" sz="1500" dirty="0"/>
          </a:p>
        </p:txBody>
      </p:sp>
      <p:sp>
        <p:nvSpPr>
          <p:cNvPr id="20" name="exhibit 5"/>
          <p:cNvSpPr/>
          <p:nvPr/>
        </p:nvSpPr>
        <p:spPr>
          <a:xfrm>
            <a:off x="594360" y="4864608"/>
            <a:ext cx="5349240" cy="585216"/>
          </a:xfrm>
          <a:prstGeom prst="rect">
            <a:avLst/>
          </a:prstGeom>
          <a:solidFill>
            <a:srgbClr val="FFFFFF"/>
          </a:solidFill>
          <a:ln w="12700">
            <a:solidFill>
              <a:srgbClr val="D6CFC4"/>
            </a:solidFill>
            <a:prstDash val="solid"/>
          </a:ln>
        </p:spPr>
      </p:sp>
      <p:sp>
        <p:nvSpPr>
          <p:cNvPr id="21" name="Text 17"/>
          <p:cNvSpPr txBox="1"/>
          <p:nvPr/>
        </p:nvSpPr>
        <p:spPr>
          <a:xfrm>
            <a:off x="704088" y="4974336"/>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E</a:t>
            </a:r>
            <a:endParaRPr lang="en-US" sz="1500" dirty="0"/>
          </a:p>
        </p:txBody>
      </p:sp>
      <p:sp>
        <p:nvSpPr>
          <p:cNvPr id="22" name="Text 18"/>
          <p:cNvSpPr txBox="1"/>
          <p:nvPr/>
        </p:nvSpPr>
        <p:spPr>
          <a:xfrm>
            <a:off x="1188720" y="4864608"/>
            <a:ext cx="4663440" cy="585216"/>
          </a:xfrm>
          <a:prstGeom prst="rect">
            <a:avLst/>
          </a:prstGeom>
          <a:noFill/>
          <a:ln/>
        </p:spPr>
        <p:txBody>
          <a:bodyPr wrap="square" lIns="0" tIns="0" rIns="0" bIns="0" rtlCol="0" anchor="ctr"/>
          <a:lstStyle/>
          <a:p>
            <a:pPr indent="0" marL="0">
              <a:buNone/>
            </a:pPr>
            <a:r>
              <a:rPr lang="en-US" sz="1500" dirty="0">
                <a:solidFill>
                  <a:schemeClr val="tx1"/>
                </a:solidFill>
              </a:rPr>
              <a:t>Strict Account Settings: one-tap lockdown (Jan 2026)</a:t>
            </a:r>
            <a:endParaRPr lang="en-US" sz="1500" dirty="0"/>
          </a:p>
        </p:txBody>
      </p:sp>
      <p:sp>
        <p:nvSpPr>
          <p:cNvPr id="23" name="prosecution"/>
          <p:cNvSpPr/>
          <p:nvPr/>
        </p:nvSpPr>
        <p:spPr>
          <a:xfrm>
            <a:off x="6263640" y="1463040"/>
            <a:ext cx="5333695" cy="1463040"/>
          </a:xfrm>
          <a:prstGeom prst="rect">
            <a:avLst/>
          </a:prstGeom>
          <a:solidFill>
            <a:srgbClr val="FBEDED"/>
          </a:solidFill>
          <a:ln w="12700">
            <a:solidFill>
              <a:srgbClr val="8B1E1E"/>
            </a:solidFill>
            <a:prstDash val="solid"/>
          </a:ln>
          <a:effectLst>
            <a:outerShdw sx="100000" sy="100000" kx="0" ky="0" algn="bl" rotWithShape="0" blurRad="76200" dist="25400" dir="5400000">
              <a:srgbClr val="000000">
                <a:alpha val="8000"/>
              </a:srgbClr>
            </a:outerShdw>
          </a:effectLst>
        </p:spPr>
      </p:sp>
      <p:sp>
        <p:nvSpPr>
          <p:cNvPr id="24" name="prosecution circle"/>
          <p:cNvSpPr/>
          <p:nvPr/>
        </p:nvSpPr>
        <p:spPr>
          <a:xfrm>
            <a:off x="6446520" y="1600200"/>
            <a:ext cx="384048" cy="384048"/>
          </a:xfrm>
          <a:prstGeom prst="ellipse">
            <a:avLst/>
          </a:prstGeom>
          <a:solidFill>
            <a:srgbClr val="8B1E1E"/>
          </a:solidFill>
          <a:ln/>
        </p:spPr>
      </p:sp>
      <p:pic>
        <p:nvPicPr>
          <p:cNvPr id="25" name="prosecution icon" descr="prosecution">    </p:cNvPr>
          <p:cNvPicPr>
            <a:picLocks noChangeAspect="1"/>
          </p:cNvPicPr>
          <p:nvPr/>
        </p:nvPicPr>
        <p:blipFill>
          <a:blip r:embed="rId3"/>
          <a:stretch>
            <a:fillRect/>
          </a:stretch>
        </p:blipFill>
        <p:spPr>
          <a:xfrm>
            <a:off x="6542532" y="1696212"/>
            <a:ext cx="192024" cy="192024"/>
          </a:xfrm>
          <a:prstGeom prst="rect">
            <a:avLst/>
          </a:prstGeom>
        </p:spPr>
      </p:pic>
      <p:sp>
        <p:nvSpPr>
          <p:cNvPr id="26" name="Text 21"/>
          <p:cNvSpPr txBox="1"/>
          <p:nvPr/>
        </p:nvSpPr>
        <p:spPr>
          <a:xfrm>
            <a:off x="6949440" y="1600200"/>
            <a:ext cx="4510735" cy="384048"/>
          </a:xfrm>
          <a:prstGeom prst="rect">
            <a:avLst/>
          </a:prstGeom>
          <a:noFill/>
          <a:ln/>
        </p:spPr>
        <p:txBody>
          <a:bodyPr wrap="square" lIns="0" tIns="0" rIns="0" bIns="0" rtlCol="0" anchor="ctr"/>
          <a:lstStyle/>
          <a:p>
            <a:pPr indent="0" marL="0">
              <a:buNone/>
            </a:pPr>
            <a:r>
              <a:rPr lang="en-US" sz="1300" b="1" spc="100" kern="0" dirty="0">
                <a:solidFill>
                  <a:srgbClr val="8B1E1E"/>
                </a:solidFill>
                <a:latin typeface="Courier New" pitchFamily="34" charset="0"/>
                <a:ea typeface="Courier New" pitchFamily="34" charset="-122"/>
                <a:cs typeface="Courier New" pitchFamily="34" charset="-120"/>
              </a:rPr>
              <a:t>EVIDENCE FOR THE PROSECUTION</a:t>
            </a:r>
            <a:endParaRPr lang="en-US" sz="1300" dirty="0"/>
          </a:p>
        </p:txBody>
      </p:sp>
      <p:sp>
        <p:nvSpPr>
          <p:cNvPr id="27" name="Text 22"/>
          <p:cNvSpPr txBox="1"/>
          <p:nvPr/>
        </p:nvSpPr>
        <p:spPr>
          <a:xfrm>
            <a:off x="6446520" y="2057400"/>
            <a:ext cx="4967935" cy="804672"/>
          </a:xfrm>
          <a:prstGeom prst="rect">
            <a:avLst/>
          </a:prstGeom>
          <a:noFill/>
          <a:ln/>
        </p:spPr>
        <p:txBody>
          <a:bodyPr wrap="square" lIns="0" tIns="0" rIns="0" bIns="0" rtlCol="0" anchor="t"/>
          <a:lstStyle/>
          <a:p>
            <a:pPr indent="0" marL="0">
              <a:buNone/>
            </a:pPr>
            <a:r>
              <a:rPr lang="en-US" sz="1500" dirty="0">
                <a:solidFill>
                  <a:schemeClr val="tx1"/>
                </a:solidFill>
              </a:rPr>
              <a:t>The phone number is the identity; users tricked into sharing the six-digit registration code lose their account.</a:t>
            </a:r>
            <a:endParaRPr lang="en-US" sz="1500" dirty="0"/>
          </a:p>
        </p:txBody>
      </p:sp>
      <p:sp>
        <p:nvSpPr>
          <p:cNvPr id="28" name="verdict"/>
          <p:cNvSpPr/>
          <p:nvPr/>
        </p:nvSpPr>
        <p:spPr>
          <a:xfrm>
            <a:off x="6263640" y="3108960"/>
            <a:ext cx="5333695" cy="146304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9" name="Text 24"/>
          <p:cNvSpPr txBox="1"/>
          <p:nvPr/>
        </p:nvSpPr>
        <p:spPr>
          <a:xfrm>
            <a:off x="6446520" y="3200400"/>
            <a:ext cx="1371600" cy="256032"/>
          </a:xfrm>
          <a:prstGeom prst="rect">
            <a:avLst/>
          </a:prstGeom>
          <a:noFill/>
          <a:ln/>
        </p:spPr>
        <p:txBody>
          <a:bodyPr wrap="square" lIns="0" tIns="0" rIns="0" bIns="0" rtlCol="0" anchor="ctr"/>
          <a:lstStyle/>
          <a:p>
            <a:pPr indent="0" marL="0">
              <a:buNone/>
            </a:pPr>
            <a:r>
              <a:rPr lang="en-US" sz="1100" b="1" spc="200" kern="0" dirty="0">
                <a:solidFill>
                  <a:srgbClr val="57534E"/>
                </a:solidFill>
                <a:latin typeface="Courier New" pitchFamily="34" charset="0"/>
                <a:ea typeface="Courier New" pitchFamily="34" charset="-122"/>
                <a:cs typeface="Courier New" pitchFamily="34" charset="-120"/>
              </a:rPr>
              <a:t>VERDICT</a:t>
            </a:r>
            <a:endParaRPr lang="en-US" sz="1100" dirty="0"/>
          </a:p>
        </p:txBody>
      </p:sp>
      <p:sp>
        <p:nvSpPr>
          <p:cNvPr id="30" name="verdict stamp"/>
          <p:cNvSpPr txBox="1"/>
          <p:nvPr/>
        </p:nvSpPr>
        <p:spPr>
          <a:xfrm rot="-420000">
            <a:off x="6446520" y="3611880"/>
            <a:ext cx="2103120" cy="566928"/>
          </a:xfrm>
          <a:prstGeom prst="rect">
            <a:avLst/>
          </a:prstGeom>
          <a:noFill/>
          <a:ln w="38100">
            <a:solidFill>
              <a:srgbClr val="166534"/>
            </a:solidFill>
          </a:ln>
        </p:spPr>
        <p:txBody>
          <a:bodyPr wrap="square" lIns="0" tIns="0" rIns="0" bIns="0" rtlCol="0" anchor="ctr"/>
          <a:lstStyle/>
          <a:p>
            <a:pPr algn="ctr" indent="0" marL="0">
              <a:buNone/>
            </a:pPr>
            <a:r>
              <a:rPr lang="en-US" sz="1800" b="1" spc="300" kern="0" dirty="0">
                <a:solidFill>
                  <a:srgbClr val="166534"/>
                </a:solidFill>
                <a:latin typeface="Courier New" pitchFamily="34" charset="0"/>
                <a:ea typeface="Courier New" pitchFamily="34" charset="-122"/>
                <a:cs typeface="Courier New" pitchFamily="34" charset="-120"/>
              </a:rPr>
              <a:t>NOT GUILTY</a:t>
            </a:r>
            <a:endParaRPr lang="en-US" sz="1800" dirty="0"/>
          </a:p>
        </p:txBody>
      </p:sp>
      <p:sp>
        <p:nvSpPr>
          <p:cNvPr id="31" name="Text 26"/>
          <p:cNvSpPr txBox="1"/>
          <p:nvPr/>
        </p:nvSpPr>
        <p:spPr>
          <a:xfrm>
            <a:off x="8686800" y="3200400"/>
            <a:ext cx="1188720" cy="1280160"/>
          </a:xfrm>
          <a:prstGeom prst="rect">
            <a:avLst/>
          </a:prstGeom>
          <a:noFill/>
          <a:ln/>
        </p:spPr>
        <p:txBody>
          <a:bodyPr wrap="square" lIns="0" tIns="0" rIns="0" bIns="0" rtlCol="0" anchor="ctr"/>
          <a:lstStyle/>
          <a:p>
            <a:pPr indent="0" marL="0">
              <a:buNone/>
            </a:pPr>
            <a:r>
              <a:rPr lang="en-US" sz="4000" b="1" dirty="0">
                <a:solidFill>
                  <a:srgbClr val="166534"/>
                </a:solidFill>
                <a:latin typeface="Cambria" pitchFamily="34" charset="0"/>
                <a:ea typeface="Cambria" pitchFamily="34" charset="-122"/>
                <a:cs typeface="Cambria" pitchFamily="34" charset="-120"/>
              </a:rPr>
              <a:t>20</a:t>
            </a:r>
            <a:pPr indent="0" marL="0">
              <a:buNone/>
            </a:pPr>
            <a:r>
              <a:rPr lang="en-US" sz="1600" dirty="0">
                <a:solidFill>
                  <a:srgbClr val="57534E"/>
                </a:solidFill>
                <a:latin typeface="Cambria" pitchFamily="34" charset="0"/>
                <a:ea typeface="Cambria" pitchFamily="34" charset="-122"/>
                <a:cs typeface="Cambria" pitchFamily="34" charset="-120"/>
              </a:rPr>
              <a:t> /25</a:t>
            </a:r>
            <a:endParaRPr lang="en-US" sz="4000" dirty="0"/>
          </a:p>
        </p:txBody>
      </p:sp>
      <p:graphicFrame>
        <p:nvGraphicFramePr>
          <p:cNvPr id="32" name="WhatsApp score chart" descr=""/>
          <p:cNvGraphicFramePr/>
          <p:nvPr/>
        </p:nvGraphicFramePr>
        <p:xfrm>
          <a:off x="9784080" y="3154680"/>
          <a:ext cx="1721815" cy="1371600"/>
        </p:xfrm>
        <a:graphic xmlns:a="http://schemas.openxmlformats.org/drawingml/2006/main">
          <a:graphicData uri="http://schemas.openxmlformats.org/drawingml/2006/chart">
            <c:chart xmlns:c="http://schemas.openxmlformats.org/drawingml/2006/chart" r:id="rId4"/>
          </a:graphicData>
        </a:graphic>
      </p:graphicFrame>
      <p:sp>
        <p:nvSpPr>
          <p:cNvPr id="33" name="sentence"/>
          <p:cNvSpPr/>
          <p:nvPr/>
        </p:nvSpPr>
        <p:spPr>
          <a:xfrm>
            <a:off x="6263640" y="4754880"/>
            <a:ext cx="5333695" cy="1188720"/>
          </a:xfrm>
          <a:prstGeom prst="rect">
            <a:avLst/>
          </a:prstGeom>
          <a:solidFill>
            <a:srgbClr val="FBF4E4"/>
          </a:solidFill>
          <a:ln w="12700">
            <a:solidFill>
              <a:srgbClr val="B7791F"/>
            </a:solidFill>
            <a:prstDash val="solid"/>
          </a:ln>
          <a:effectLst>
            <a:outerShdw sx="100000" sy="100000" kx="0" ky="0" algn="bl" rotWithShape="0" blurRad="76200" dist="25400" dir="5400000">
              <a:srgbClr val="000000">
                <a:alpha val="8000"/>
              </a:srgbClr>
            </a:outerShdw>
          </a:effectLst>
        </p:spPr>
      </p:sp>
      <p:sp>
        <p:nvSpPr>
          <p:cNvPr id="34" name="sentence circle"/>
          <p:cNvSpPr/>
          <p:nvPr/>
        </p:nvSpPr>
        <p:spPr>
          <a:xfrm>
            <a:off x="6446520" y="4864608"/>
            <a:ext cx="384048" cy="384048"/>
          </a:xfrm>
          <a:prstGeom prst="ellipse">
            <a:avLst/>
          </a:prstGeom>
          <a:solidFill>
            <a:srgbClr val="B7791F"/>
          </a:solidFill>
          <a:ln/>
        </p:spPr>
      </p:sp>
      <p:pic>
        <p:nvPicPr>
          <p:cNvPr id="35" name="sentence icon" descr="sentence">    </p:cNvPr>
          <p:cNvPicPr>
            <a:picLocks noChangeAspect="1"/>
          </p:cNvPicPr>
          <p:nvPr/>
        </p:nvPicPr>
        <p:blipFill>
          <a:blip r:embed="rId5"/>
          <a:stretch>
            <a:fillRect/>
          </a:stretch>
        </p:blipFill>
        <p:spPr>
          <a:xfrm>
            <a:off x="6542532" y="4960620"/>
            <a:ext cx="192024" cy="192024"/>
          </a:xfrm>
          <a:prstGeom prst="rect">
            <a:avLst/>
          </a:prstGeom>
        </p:spPr>
      </p:pic>
      <p:sp>
        <p:nvSpPr>
          <p:cNvPr id="36" name="Text 29"/>
          <p:cNvSpPr txBox="1"/>
          <p:nvPr/>
        </p:nvSpPr>
        <p:spPr>
          <a:xfrm>
            <a:off x="6949440" y="4864608"/>
            <a:ext cx="4510735" cy="384048"/>
          </a:xfrm>
          <a:prstGeom prst="rect">
            <a:avLst/>
          </a:prstGeom>
          <a:noFill/>
          <a:ln/>
        </p:spPr>
        <p:txBody>
          <a:bodyPr wrap="square" lIns="0" tIns="0" rIns="0" bIns="0" rtlCol="0" anchor="ctr"/>
          <a:lstStyle/>
          <a:p>
            <a:pPr indent="0" marL="0">
              <a:buNone/>
            </a:pPr>
            <a:r>
              <a:rPr lang="en-US" sz="1300" b="1" spc="100" kern="0" dirty="0">
                <a:solidFill>
                  <a:srgbClr val="8A5A12"/>
                </a:solidFill>
                <a:latin typeface="Courier New" pitchFamily="34" charset="0"/>
                <a:ea typeface="Courier New" pitchFamily="34" charset="-122"/>
                <a:cs typeface="Courier New" pitchFamily="34" charset="-120"/>
              </a:rPr>
              <a:t>COURT’S ADVICE</a:t>
            </a:r>
            <a:endParaRPr lang="en-US" sz="1300" dirty="0"/>
          </a:p>
        </p:txBody>
      </p:sp>
      <p:sp>
        <p:nvSpPr>
          <p:cNvPr id="37" name="Text 30"/>
          <p:cNvSpPr txBox="1"/>
          <p:nvPr/>
        </p:nvSpPr>
        <p:spPr>
          <a:xfrm>
            <a:off x="6446520" y="5303520"/>
            <a:ext cx="4967935" cy="594360"/>
          </a:xfrm>
          <a:prstGeom prst="rect">
            <a:avLst/>
          </a:prstGeom>
          <a:noFill/>
          <a:ln/>
        </p:spPr>
        <p:txBody>
          <a:bodyPr wrap="square" lIns="0" tIns="0" rIns="0" bIns="0" rtlCol="0" anchor="t"/>
          <a:lstStyle/>
          <a:p>
            <a:pPr indent="0" marL="0">
              <a:buNone/>
            </a:pPr>
            <a:r>
              <a:rPr lang="en-US" sz="1400" dirty="0">
                <a:solidFill>
                  <a:schemeClr val="tx1"/>
                </a:solidFill>
              </a:rPr>
              <a:t>A Bangla warning whenever a code is requested, and a mandatory two-step PIN.</a:t>
            </a:r>
            <a:endParaRPr lang="en-US" sz="1400" dirty="0"/>
          </a:p>
        </p:txBody>
      </p:sp>
      <p:sp>
        <p:nvSpPr>
          <p:cNvPr id="38" name="Text 31"/>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Sources: WhatsApp (2026); Help Net Security (2025).</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103120"/>
            <a:ext cx="3566160" cy="356616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CASE 4 OF 5  ·  THE PEOPLE v. GMAIL</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Gmail: not guilty, and the best-guarded account on trial</a:t>
            </a:r>
            <a:endParaRPr lang="en-US" sz="2800" dirty="0"/>
          </a:p>
        </p:txBody>
      </p:sp>
      <p:sp>
        <p:nvSpPr>
          <p:cNvPr id="5" name="defence circle"/>
          <p:cNvSpPr/>
          <p:nvPr/>
        </p:nvSpPr>
        <p:spPr>
          <a:xfrm>
            <a:off x="594360" y="1463040"/>
            <a:ext cx="384048" cy="384048"/>
          </a:xfrm>
          <a:prstGeom prst="ellipse">
            <a:avLst/>
          </a:prstGeom>
          <a:solidFill>
            <a:srgbClr val="166534"/>
          </a:solidFill>
          <a:ln/>
        </p:spPr>
      </p:sp>
      <p:pic>
        <p:nvPicPr>
          <p:cNvPr id="6" name="defence icon" descr="defence">    </p:cNvPr>
          <p:cNvPicPr>
            <a:picLocks noChangeAspect="1"/>
          </p:cNvPicPr>
          <p:nvPr/>
        </p:nvPicPr>
        <p:blipFill>
          <a:blip r:embed="rId2"/>
          <a:stretch>
            <a:fillRect/>
          </a:stretch>
        </p:blipFill>
        <p:spPr>
          <a:xfrm>
            <a:off x="690372" y="1559052"/>
            <a:ext cx="192024" cy="192024"/>
          </a:xfrm>
          <a:prstGeom prst="rect">
            <a:avLst/>
          </a:prstGeom>
        </p:spPr>
      </p:pic>
      <p:sp>
        <p:nvSpPr>
          <p:cNvPr id="7" name="Text 3"/>
          <p:cNvSpPr txBox="1"/>
          <p:nvPr/>
        </p:nvSpPr>
        <p:spPr>
          <a:xfrm>
            <a:off x="1097280" y="1463040"/>
            <a:ext cx="4572000" cy="384048"/>
          </a:xfrm>
          <a:prstGeom prst="rect">
            <a:avLst/>
          </a:prstGeom>
          <a:noFill/>
          <a:ln/>
        </p:spPr>
        <p:txBody>
          <a:bodyPr wrap="square" lIns="0" tIns="0" rIns="0" bIns="0" rtlCol="0" anchor="ctr"/>
          <a:lstStyle/>
          <a:p>
            <a:pPr indent="0" marL="0">
              <a:buNone/>
            </a:pPr>
            <a:r>
              <a:rPr lang="en-US" sz="1300" b="1" spc="100" kern="0" dirty="0">
                <a:solidFill>
                  <a:srgbClr val="166534"/>
                </a:solidFill>
                <a:latin typeface="Courier New" pitchFamily="34" charset="0"/>
                <a:ea typeface="Courier New" pitchFamily="34" charset="-122"/>
                <a:cs typeface="Courier New" pitchFamily="34" charset="-120"/>
              </a:rPr>
              <a:t>EVIDENCE FOR THE DEFENCE</a:t>
            </a:r>
            <a:endParaRPr lang="en-US" sz="1300" dirty="0"/>
          </a:p>
        </p:txBody>
      </p:sp>
      <p:sp>
        <p:nvSpPr>
          <p:cNvPr id="8" name="exhibit 1"/>
          <p:cNvSpPr/>
          <p:nvPr/>
        </p:nvSpPr>
        <p:spPr>
          <a:xfrm>
            <a:off x="594360" y="2011680"/>
            <a:ext cx="5349240" cy="585216"/>
          </a:xfrm>
          <a:prstGeom prst="rect">
            <a:avLst/>
          </a:prstGeom>
          <a:solidFill>
            <a:srgbClr val="FFFFFF"/>
          </a:solidFill>
          <a:ln w="12700">
            <a:solidFill>
              <a:srgbClr val="D6CFC4"/>
            </a:solidFill>
            <a:prstDash val="solid"/>
          </a:ln>
        </p:spPr>
      </p:sp>
      <p:sp>
        <p:nvSpPr>
          <p:cNvPr id="9" name="Text 5"/>
          <p:cNvSpPr txBox="1"/>
          <p:nvPr/>
        </p:nvSpPr>
        <p:spPr>
          <a:xfrm>
            <a:off x="704088" y="2121408"/>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a:t>
            </a:r>
            <a:endParaRPr lang="en-US" sz="1500" dirty="0"/>
          </a:p>
        </p:txBody>
      </p:sp>
      <p:sp>
        <p:nvSpPr>
          <p:cNvPr id="10" name="Text 6"/>
          <p:cNvSpPr txBox="1"/>
          <p:nvPr/>
        </p:nvSpPr>
        <p:spPr>
          <a:xfrm>
            <a:off x="1188720" y="2011680"/>
            <a:ext cx="4663440" cy="585216"/>
          </a:xfrm>
          <a:prstGeom prst="rect">
            <a:avLst/>
          </a:prstGeom>
          <a:noFill/>
          <a:ln/>
        </p:spPr>
        <p:txBody>
          <a:bodyPr wrap="square" lIns="0" tIns="0" rIns="0" bIns="0" rtlCol="0" anchor="ctr"/>
          <a:lstStyle/>
          <a:p>
            <a:pPr indent="0" marL="0">
              <a:buNone/>
            </a:pPr>
            <a:r>
              <a:rPr lang="en-US" sz="1500" dirty="0">
                <a:solidFill>
                  <a:schemeClr val="tx1"/>
                </a:solidFill>
              </a:rPr>
              <a:t>Passkeys as the default sign-in since Oct 2023</a:t>
            </a:r>
            <a:endParaRPr lang="en-US" sz="1500" dirty="0"/>
          </a:p>
        </p:txBody>
      </p:sp>
      <p:sp>
        <p:nvSpPr>
          <p:cNvPr id="11" name="exhibit 2"/>
          <p:cNvSpPr/>
          <p:nvPr/>
        </p:nvSpPr>
        <p:spPr>
          <a:xfrm>
            <a:off x="594360" y="2724912"/>
            <a:ext cx="5349240" cy="585216"/>
          </a:xfrm>
          <a:prstGeom prst="rect">
            <a:avLst/>
          </a:prstGeom>
          <a:solidFill>
            <a:srgbClr val="FFFFFF"/>
          </a:solidFill>
          <a:ln w="12700">
            <a:solidFill>
              <a:srgbClr val="D6CFC4"/>
            </a:solidFill>
            <a:prstDash val="solid"/>
          </a:ln>
        </p:spPr>
      </p:sp>
      <p:sp>
        <p:nvSpPr>
          <p:cNvPr id="12" name="Text 8"/>
          <p:cNvSpPr txBox="1"/>
          <p:nvPr/>
        </p:nvSpPr>
        <p:spPr>
          <a:xfrm>
            <a:off x="704088" y="2834640"/>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a:t>
            </a:r>
            <a:endParaRPr lang="en-US" sz="1500" dirty="0"/>
          </a:p>
        </p:txBody>
      </p:sp>
      <p:sp>
        <p:nvSpPr>
          <p:cNvPr id="13" name="Text 9"/>
          <p:cNvSpPr txBox="1"/>
          <p:nvPr/>
        </p:nvSpPr>
        <p:spPr>
          <a:xfrm>
            <a:off x="1188720" y="2724912"/>
            <a:ext cx="4663440" cy="585216"/>
          </a:xfrm>
          <a:prstGeom prst="rect">
            <a:avLst/>
          </a:prstGeom>
          <a:noFill/>
          <a:ln/>
        </p:spPr>
        <p:txBody>
          <a:bodyPr wrap="square" lIns="0" tIns="0" rIns="0" bIns="0" rtlCol="0" anchor="ctr"/>
          <a:lstStyle/>
          <a:p>
            <a:pPr indent="0" marL="0">
              <a:buNone/>
            </a:pPr>
            <a:r>
              <a:rPr lang="en-US" sz="1500" dirty="0">
                <a:solidFill>
                  <a:schemeClr val="tx1"/>
                </a:solidFill>
              </a:rPr>
              <a:t>2-Step Verification and Security Checkup</a:t>
            </a:r>
            <a:endParaRPr lang="en-US" sz="1500" dirty="0"/>
          </a:p>
        </p:txBody>
      </p:sp>
      <p:sp>
        <p:nvSpPr>
          <p:cNvPr id="14" name="exhibit 3"/>
          <p:cNvSpPr/>
          <p:nvPr/>
        </p:nvSpPr>
        <p:spPr>
          <a:xfrm>
            <a:off x="594360" y="3438144"/>
            <a:ext cx="5349240" cy="585216"/>
          </a:xfrm>
          <a:prstGeom prst="rect">
            <a:avLst/>
          </a:prstGeom>
          <a:solidFill>
            <a:srgbClr val="FFFFFF"/>
          </a:solidFill>
          <a:ln w="12700">
            <a:solidFill>
              <a:srgbClr val="D6CFC4"/>
            </a:solidFill>
            <a:prstDash val="solid"/>
          </a:ln>
        </p:spPr>
      </p:sp>
      <p:sp>
        <p:nvSpPr>
          <p:cNvPr id="15" name="Text 11"/>
          <p:cNvSpPr txBox="1"/>
          <p:nvPr/>
        </p:nvSpPr>
        <p:spPr>
          <a:xfrm>
            <a:off x="704088" y="3547872"/>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16" name="Text 12"/>
          <p:cNvSpPr txBox="1"/>
          <p:nvPr/>
        </p:nvSpPr>
        <p:spPr>
          <a:xfrm>
            <a:off x="1188720" y="3438144"/>
            <a:ext cx="4663440" cy="585216"/>
          </a:xfrm>
          <a:prstGeom prst="rect">
            <a:avLst/>
          </a:prstGeom>
          <a:noFill/>
          <a:ln/>
        </p:spPr>
        <p:txBody>
          <a:bodyPr wrap="square" lIns="0" tIns="0" rIns="0" bIns="0" rtlCol="0" anchor="ctr"/>
          <a:lstStyle/>
          <a:p>
            <a:pPr indent="0" marL="0">
              <a:buNone/>
            </a:pPr>
            <a:r>
              <a:rPr lang="en-US" sz="1500" dirty="0">
                <a:solidFill>
                  <a:schemeClr val="tx1"/>
                </a:solidFill>
              </a:rPr>
              <a:t>Critical alerts for suspicious sign-ins</a:t>
            </a:r>
            <a:endParaRPr lang="en-US" sz="1500" dirty="0"/>
          </a:p>
        </p:txBody>
      </p:sp>
      <p:sp>
        <p:nvSpPr>
          <p:cNvPr id="17" name="exhibit 4"/>
          <p:cNvSpPr/>
          <p:nvPr/>
        </p:nvSpPr>
        <p:spPr>
          <a:xfrm>
            <a:off x="594360" y="4151376"/>
            <a:ext cx="5349240" cy="585216"/>
          </a:xfrm>
          <a:prstGeom prst="rect">
            <a:avLst/>
          </a:prstGeom>
          <a:solidFill>
            <a:srgbClr val="FFFFFF"/>
          </a:solidFill>
          <a:ln w="12700">
            <a:solidFill>
              <a:srgbClr val="D6CFC4"/>
            </a:solidFill>
            <a:prstDash val="solid"/>
          </a:ln>
        </p:spPr>
      </p:sp>
      <p:sp>
        <p:nvSpPr>
          <p:cNvPr id="18" name="Text 14"/>
          <p:cNvSpPr txBox="1"/>
          <p:nvPr/>
        </p:nvSpPr>
        <p:spPr>
          <a:xfrm>
            <a:off x="704088" y="4261104"/>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D</a:t>
            </a:r>
            <a:endParaRPr lang="en-US" sz="1500" dirty="0"/>
          </a:p>
        </p:txBody>
      </p:sp>
      <p:sp>
        <p:nvSpPr>
          <p:cNvPr id="19" name="Text 15"/>
          <p:cNvSpPr txBox="1"/>
          <p:nvPr/>
        </p:nvSpPr>
        <p:spPr>
          <a:xfrm>
            <a:off x="1188720" y="4151376"/>
            <a:ext cx="4663440" cy="585216"/>
          </a:xfrm>
          <a:prstGeom prst="rect">
            <a:avLst/>
          </a:prstGeom>
          <a:noFill/>
          <a:ln/>
        </p:spPr>
        <p:txBody>
          <a:bodyPr wrap="square" lIns="0" tIns="0" rIns="0" bIns="0" rtlCol="0" anchor="ctr"/>
          <a:lstStyle/>
          <a:p>
            <a:pPr indent="0" marL="0">
              <a:buNone/>
            </a:pPr>
            <a:r>
              <a:rPr lang="en-US" sz="1500" dirty="0">
                <a:solidFill>
                  <a:schemeClr val="tx1"/>
                </a:solidFill>
              </a:rPr>
              <a:t>Filters block 99.9%+ of phishing and malware (Google)</a:t>
            </a:r>
            <a:endParaRPr lang="en-US" sz="1500" dirty="0"/>
          </a:p>
        </p:txBody>
      </p:sp>
      <p:sp>
        <p:nvSpPr>
          <p:cNvPr id="20" name="exhibit 5"/>
          <p:cNvSpPr/>
          <p:nvPr/>
        </p:nvSpPr>
        <p:spPr>
          <a:xfrm>
            <a:off x="594360" y="4864608"/>
            <a:ext cx="5349240" cy="585216"/>
          </a:xfrm>
          <a:prstGeom prst="rect">
            <a:avLst/>
          </a:prstGeom>
          <a:solidFill>
            <a:srgbClr val="FFFFFF"/>
          </a:solidFill>
          <a:ln w="12700">
            <a:solidFill>
              <a:srgbClr val="D6CFC4"/>
            </a:solidFill>
            <a:prstDash val="solid"/>
          </a:ln>
        </p:spPr>
      </p:sp>
      <p:sp>
        <p:nvSpPr>
          <p:cNvPr id="21" name="Text 17"/>
          <p:cNvSpPr txBox="1"/>
          <p:nvPr/>
        </p:nvSpPr>
        <p:spPr>
          <a:xfrm>
            <a:off x="704088" y="4974336"/>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E</a:t>
            </a:r>
            <a:endParaRPr lang="en-US" sz="1500" dirty="0"/>
          </a:p>
        </p:txBody>
      </p:sp>
      <p:sp>
        <p:nvSpPr>
          <p:cNvPr id="22" name="Text 18"/>
          <p:cNvSpPr txBox="1"/>
          <p:nvPr/>
        </p:nvSpPr>
        <p:spPr>
          <a:xfrm>
            <a:off x="1188720" y="4864608"/>
            <a:ext cx="4663440" cy="585216"/>
          </a:xfrm>
          <a:prstGeom prst="rect">
            <a:avLst/>
          </a:prstGeom>
          <a:noFill/>
          <a:ln/>
        </p:spPr>
        <p:txBody>
          <a:bodyPr wrap="square" lIns="0" tIns="0" rIns="0" bIns="0" rtlCol="0" anchor="ctr"/>
          <a:lstStyle/>
          <a:p>
            <a:pPr indent="0" marL="0">
              <a:buNone/>
            </a:pPr>
            <a:r>
              <a:rPr lang="en-US" sz="1500" dirty="0">
                <a:solidFill>
                  <a:schemeClr val="tx1"/>
                </a:solidFill>
              </a:rPr>
              <a:t>Advanced Protection Program for high-risk users</a:t>
            </a:r>
            <a:endParaRPr lang="en-US" sz="1500" dirty="0"/>
          </a:p>
        </p:txBody>
      </p:sp>
      <p:sp>
        <p:nvSpPr>
          <p:cNvPr id="23" name="prosecution"/>
          <p:cNvSpPr/>
          <p:nvPr/>
        </p:nvSpPr>
        <p:spPr>
          <a:xfrm>
            <a:off x="6263640" y="1463040"/>
            <a:ext cx="5333695" cy="1463040"/>
          </a:xfrm>
          <a:prstGeom prst="rect">
            <a:avLst/>
          </a:prstGeom>
          <a:solidFill>
            <a:srgbClr val="FBEDED"/>
          </a:solidFill>
          <a:ln w="12700">
            <a:solidFill>
              <a:srgbClr val="8B1E1E"/>
            </a:solidFill>
            <a:prstDash val="solid"/>
          </a:ln>
          <a:effectLst>
            <a:outerShdw sx="100000" sy="100000" kx="0" ky="0" algn="bl" rotWithShape="0" blurRad="76200" dist="25400" dir="5400000">
              <a:srgbClr val="000000">
                <a:alpha val="8000"/>
              </a:srgbClr>
            </a:outerShdw>
          </a:effectLst>
        </p:spPr>
      </p:sp>
      <p:sp>
        <p:nvSpPr>
          <p:cNvPr id="24" name="prosecution circle"/>
          <p:cNvSpPr/>
          <p:nvPr/>
        </p:nvSpPr>
        <p:spPr>
          <a:xfrm>
            <a:off x="6446520" y="1600200"/>
            <a:ext cx="384048" cy="384048"/>
          </a:xfrm>
          <a:prstGeom prst="ellipse">
            <a:avLst/>
          </a:prstGeom>
          <a:solidFill>
            <a:srgbClr val="8B1E1E"/>
          </a:solidFill>
          <a:ln/>
        </p:spPr>
      </p:sp>
      <p:pic>
        <p:nvPicPr>
          <p:cNvPr id="25" name="prosecution icon" descr="prosecution">    </p:cNvPr>
          <p:cNvPicPr>
            <a:picLocks noChangeAspect="1"/>
          </p:cNvPicPr>
          <p:nvPr/>
        </p:nvPicPr>
        <p:blipFill>
          <a:blip r:embed="rId3"/>
          <a:stretch>
            <a:fillRect/>
          </a:stretch>
        </p:blipFill>
        <p:spPr>
          <a:xfrm>
            <a:off x="6542532" y="1696212"/>
            <a:ext cx="192024" cy="192024"/>
          </a:xfrm>
          <a:prstGeom prst="rect">
            <a:avLst/>
          </a:prstGeom>
        </p:spPr>
      </p:pic>
      <p:sp>
        <p:nvSpPr>
          <p:cNvPr id="26" name="Text 21"/>
          <p:cNvSpPr txBox="1"/>
          <p:nvPr/>
        </p:nvSpPr>
        <p:spPr>
          <a:xfrm>
            <a:off x="6949440" y="1600200"/>
            <a:ext cx="4510735" cy="384048"/>
          </a:xfrm>
          <a:prstGeom prst="rect">
            <a:avLst/>
          </a:prstGeom>
          <a:noFill/>
          <a:ln/>
        </p:spPr>
        <p:txBody>
          <a:bodyPr wrap="square" lIns="0" tIns="0" rIns="0" bIns="0" rtlCol="0" anchor="ctr"/>
          <a:lstStyle/>
          <a:p>
            <a:pPr indent="0" marL="0">
              <a:buNone/>
            </a:pPr>
            <a:r>
              <a:rPr lang="en-US" sz="1300" b="1" spc="100" kern="0" dirty="0">
                <a:solidFill>
                  <a:srgbClr val="8B1E1E"/>
                </a:solidFill>
                <a:latin typeface="Courier New" pitchFamily="34" charset="0"/>
                <a:ea typeface="Courier New" pitchFamily="34" charset="-122"/>
                <a:cs typeface="Courier New" pitchFamily="34" charset="-120"/>
              </a:rPr>
              <a:t>EVIDENCE FOR THE PROSECUTION</a:t>
            </a:r>
            <a:endParaRPr lang="en-US" sz="1300" dirty="0"/>
          </a:p>
        </p:txBody>
      </p:sp>
      <p:sp>
        <p:nvSpPr>
          <p:cNvPr id="27" name="Text 22"/>
          <p:cNvSpPr txBox="1"/>
          <p:nvPr/>
        </p:nvSpPr>
        <p:spPr>
          <a:xfrm>
            <a:off x="6446520" y="2057400"/>
            <a:ext cx="4967935" cy="804672"/>
          </a:xfrm>
          <a:prstGeom prst="rect">
            <a:avLst/>
          </a:prstGeom>
          <a:noFill/>
          <a:ln/>
        </p:spPr>
        <p:txBody>
          <a:bodyPr wrap="square" lIns="0" tIns="0" rIns="0" bIns="0" rtlCol="0" anchor="t"/>
          <a:lstStyle/>
          <a:p>
            <a:pPr indent="0" marL="0">
              <a:buNone/>
            </a:pPr>
            <a:r>
              <a:rPr lang="en-US" sz="1500" dirty="0">
                <a:solidFill>
                  <a:schemeClr val="tx1"/>
                </a:solidFill>
              </a:rPr>
              <a:t>Personal Gmail is not end-to-end encrypted, and it controls password resets for every other account.</a:t>
            </a:r>
            <a:endParaRPr lang="en-US" sz="1500" dirty="0"/>
          </a:p>
        </p:txBody>
      </p:sp>
      <p:sp>
        <p:nvSpPr>
          <p:cNvPr id="28" name="verdict"/>
          <p:cNvSpPr/>
          <p:nvPr/>
        </p:nvSpPr>
        <p:spPr>
          <a:xfrm>
            <a:off x="6263640" y="3108960"/>
            <a:ext cx="5333695" cy="146304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9" name="Text 24"/>
          <p:cNvSpPr txBox="1"/>
          <p:nvPr/>
        </p:nvSpPr>
        <p:spPr>
          <a:xfrm>
            <a:off x="6446520" y="3200400"/>
            <a:ext cx="1371600" cy="256032"/>
          </a:xfrm>
          <a:prstGeom prst="rect">
            <a:avLst/>
          </a:prstGeom>
          <a:noFill/>
          <a:ln/>
        </p:spPr>
        <p:txBody>
          <a:bodyPr wrap="square" lIns="0" tIns="0" rIns="0" bIns="0" rtlCol="0" anchor="ctr"/>
          <a:lstStyle/>
          <a:p>
            <a:pPr indent="0" marL="0">
              <a:buNone/>
            </a:pPr>
            <a:r>
              <a:rPr lang="en-US" sz="1100" b="1" spc="200" kern="0" dirty="0">
                <a:solidFill>
                  <a:srgbClr val="57534E"/>
                </a:solidFill>
                <a:latin typeface="Courier New" pitchFamily="34" charset="0"/>
                <a:ea typeface="Courier New" pitchFamily="34" charset="-122"/>
                <a:cs typeface="Courier New" pitchFamily="34" charset="-120"/>
              </a:rPr>
              <a:t>VERDICT</a:t>
            </a:r>
            <a:endParaRPr lang="en-US" sz="1100" dirty="0"/>
          </a:p>
        </p:txBody>
      </p:sp>
      <p:sp>
        <p:nvSpPr>
          <p:cNvPr id="30" name="verdict stamp"/>
          <p:cNvSpPr txBox="1"/>
          <p:nvPr/>
        </p:nvSpPr>
        <p:spPr>
          <a:xfrm rot="-420000">
            <a:off x="6446520" y="3611880"/>
            <a:ext cx="2103120" cy="566928"/>
          </a:xfrm>
          <a:prstGeom prst="rect">
            <a:avLst/>
          </a:prstGeom>
          <a:noFill/>
          <a:ln w="38100">
            <a:solidFill>
              <a:srgbClr val="166534"/>
            </a:solidFill>
          </a:ln>
        </p:spPr>
        <p:txBody>
          <a:bodyPr wrap="square" lIns="0" tIns="0" rIns="0" bIns="0" rtlCol="0" anchor="ctr"/>
          <a:lstStyle/>
          <a:p>
            <a:pPr algn="ctr" indent="0" marL="0">
              <a:buNone/>
            </a:pPr>
            <a:r>
              <a:rPr lang="en-US" sz="1800" b="1" spc="300" kern="0" dirty="0">
                <a:solidFill>
                  <a:srgbClr val="166534"/>
                </a:solidFill>
                <a:latin typeface="Courier New" pitchFamily="34" charset="0"/>
                <a:ea typeface="Courier New" pitchFamily="34" charset="-122"/>
                <a:cs typeface="Courier New" pitchFamily="34" charset="-120"/>
              </a:rPr>
              <a:t>NOT GUILTY</a:t>
            </a:r>
            <a:endParaRPr lang="en-US" sz="1800" dirty="0"/>
          </a:p>
        </p:txBody>
      </p:sp>
      <p:sp>
        <p:nvSpPr>
          <p:cNvPr id="31" name="Text 26"/>
          <p:cNvSpPr txBox="1"/>
          <p:nvPr/>
        </p:nvSpPr>
        <p:spPr>
          <a:xfrm>
            <a:off x="8686800" y="3200400"/>
            <a:ext cx="1188720" cy="1280160"/>
          </a:xfrm>
          <a:prstGeom prst="rect">
            <a:avLst/>
          </a:prstGeom>
          <a:noFill/>
          <a:ln/>
        </p:spPr>
        <p:txBody>
          <a:bodyPr wrap="square" lIns="0" tIns="0" rIns="0" bIns="0" rtlCol="0" anchor="ctr"/>
          <a:lstStyle/>
          <a:p>
            <a:pPr indent="0" marL="0">
              <a:buNone/>
            </a:pPr>
            <a:r>
              <a:rPr lang="en-US" sz="4000" b="1" dirty="0">
                <a:solidFill>
                  <a:srgbClr val="166534"/>
                </a:solidFill>
                <a:latin typeface="Cambria" pitchFamily="34" charset="0"/>
                <a:ea typeface="Cambria" pitchFamily="34" charset="-122"/>
                <a:cs typeface="Cambria" pitchFamily="34" charset="-120"/>
              </a:rPr>
              <a:t>20</a:t>
            </a:r>
            <a:pPr indent="0" marL="0">
              <a:buNone/>
            </a:pPr>
            <a:r>
              <a:rPr lang="en-US" sz="1600" dirty="0">
                <a:solidFill>
                  <a:srgbClr val="57534E"/>
                </a:solidFill>
                <a:latin typeface="Cambria" pitchFamily="34" charset="0"/>
                <a:ea typeface="Cambria" pitchFamily="34" charset="-122"/>
                <a:cs typeface="Cambria" pitchFamily="34" charset="-120"/>
              </a:rPr>
              <a:t> /25</a:t>
            </a:r>
            <a:endParaRPr lang="en-US" sz="4000" dirty="0"/>
          </a:p>
        </p:txBody>
      </p:sp>
      <p:graphicFrame>
        <p:nvGraphicFramePr>
          <p:cNvPr id="32" name="Gmail score chart" descr=""/>
          <p:cNvGraphicFramePr/>
          <p:nvPr/>
        </p:nvGraphicFramePr>
        <p:xfrm>
          <a:off x="9784080" y="3154680"/>
          <a:ext cx="1721815" cy="1371600"/>
        </p:xfrm>
        <a:graphic xmlns:a="http://schemas.openxmlformats.org/drawingml/2006/main">
          <a:graphicData uri="http://schemas.openxmlformats.org/drawingml/2006/chart">
            <c:chart xmlns:c="http://schemas.openxmlformats.org/drawingml/2006/chart" r:id="rId4"/>
          </a:graphicData>
        </a:graphic>
      </p:graphicFrame>
      <p:sp>
        <p:nvSpPr>
          <p:cNvPr id="33" name="sentence"/>
          <p:cNvSpPr/>
          <p:nvPr/>
        </p:nvSpPr>
        <p:spPr>
          <a:xfrm>
            <a:off x="6263640" y="4754880"/>
            <a:ext cx="5333695" cy="1188720"/>
          </a:xfrm>
          <a:prstGeom prst="rect">
            <a:avLst/>
          </a:prstGeom>
          <a:solidFill>
            <a:srgbClr val="FBF4E4"/>
          </a:solidFill>
          <a:ln w="12700">
            <a:solidFill>
              <a:srgbClr val="B7791F"/>
            </a:solidFill>
            <a:prstDash val="solid"/>
          </a:ln>
          <a:effectLst>
            <a:outerShdw sx="100000" sy="100000" kx="0" ky="0" algn="bl" rotWithShape="0" blurRad="76200" dist="25400" dir="5400000">
              <a:srgbClr val="000000">
                <a:alpha val="8000"/>
              </a:srgbClr>
            </a:outerShdw>
          </a:effectLst>
        </p:spPr>
      </p:sp>
      <p:sp>
        <p:nvSpPr>
          <p:cNvPr id="34" name="sentence circle"/>
          <p:cNvSpPr/>
          <p:nvPr/>
        </p:nvSpPr>
        <p:spPr>
          <a:xfrm>
            <a:off x="6446520" y="4864608"/>
            <a:ext cx="384048" cy="384048"/>
          </a:xfrm>
          <a:prstGeom prst="ellipse">
            <a:avLst/>
          </a:prstGeom>
          <a:solidFill>
            <a:srgbClr val="B7791F"/>
          </a:solidFill>
          <a:ln/>
        </p:spPr>
      </p:sp>
      <p:pic>
        <p:nvPicPr>
          <p:cNvPr id="35" name="sentence icon" descr="sentence">    </p:cNvPr>
          <p:cNvPicPr>
            <a:picLocks noChangeAspect="1"/>
          </p:cNvPicPr>
          <p:nvPr/>
        </p:nvPicPr>
        <p:blipFill>
          <a:blip r:embed="rId5"/>
          <a:stretch>
            <a:fillRect/>
          </a:stretch>
        </p:blipFill>
        <p:spPr>
          <a:xfrm>
            <a:off x="6542532" y="4960620"/>
            <a:ext cx="192024" cy="192024"/>
          </a:xfrm>
          <a:prstGeom prst="rect">
            <a:avLst/>
          </a:prstGeom>
        </p:spPr>
      </p:pic>
      <p:sp>
        <p:nvSpPr>
          <p:cNvPr id="36" name="Text 29"/>
          <p:cNvSpPr txBox="1"/>
          <p:nvPr/>
        </p:nvSpPr>
        <p:spPr>
          <a:xfrm>
            <a:off x="6949440" y="4864608"/>
            <a:ext cx="4510735" cy="384048"/>
          </a:xfrm>
          <a:prstGeom prst="rect">
            <a:avLst/>
          </a:prstGeom>
          <a:noFill/>
          <a:ln/>
        </p:spPr>
        <p:txBody>
          <a:bodyPr wrap="square" lIns="0" tIns="0" rIns="0" bIns="0" rtlCol="0" anchor="ctr"/>
          <a:lstStyle/>
          <a:p>
            <a:pPr indent="0" marL="0">
              <a:buNone/>
            </a:pPr>
            <a:r>
              <a:rPr lang="en-US" sz="1300" b="1" spc="100" kern="0" dirty="0">
                <a:solidFill>
                  <a:srgbClr val="8A5A12"/>
                </a:solidFill>
                <a:latin typeface="Courier New" pitchFamily="34" charset="0"/>
                <a:ea typeface="Courier New" pitchFamily="34" charset="-122"/>
                <a:cs typeface="Courier New" pitchFamily="34" charset="-120"/>
              </a:rPr>
              <a:t>COURT’S ADVICE</a:t>
            </a:r>
            <a:endParaRPr lang="en-US" sz="1300" dirty="0"/>
          </a:p>
        </p:txBody>
      </p:sp>
      <p:sp>
        <p:nvSpPr>
          <p:cNvPr id="37" name="Text 30"/>
          <p:cNvSpPr txBox="1"/>
          <p:nvPr/>
        </p:nvSpPr>
        <p:spPr>
          <a:xfrm>
            <a:off x="6446520" y="5303520"/>
            <a:ext cx="4967935" cy="594360"/>
          </a:xfrm>
          <a:prstGeom prst="rect">
            <a:avLst/>
          </a:prstGeom>
          <a:noFill/>
          <a:ln/>
        </p:spPr>
        <p:txBody>
          <a:bodyPr wrap="square" lIns="0" tIns="0" rIns="0" bIns="0" rtlCol="0" anchor="t"/>
          <a:lstStyle/>
          <a:p>
            <a:pPr indent="0" marL="0">
              <a:buNone/>
            </a:pPr>
            <a:r>
              <a:rPr lang="en-US" sz="1400" dirty="0">
                <a:solidFill>
                  <a:schemeClr val="tx1"/>
                </a:solidFill>
              </a:rPr>
              <a:t>Optional end-to-end encryption for personal mail, and lookalike warnings for bKash, Nagad and banks.</a:t>
            </a:r>
            <a:endParaRPr lang="en-US" sz="1400" dirty="0"/>
          </a:p>
        </p:txBody>
      </p:sp>
      <p:sp>
        <p:nvSpPr>
          <p:cNvPr id="38" name="Text 31"/>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Sources: Google (2023); Engadget (2025).</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1737360" y="2103120"/>
            <a:ext cx="3566160" cy="3566160"/>
          </a:xfrm>
          <a:prstGeom prst="rect">
            <a:avLst/>
          </a:prstGeom>
        </p:spPr>
      </p:pic>
      <p:sp>
        <p:nvSpPr>
          <p:cNvPr id="3" name="case tag"/>
          <p:cNvSpPr txBox="1"/>
          <p:nvPr/>
        </p:nvSpPr>
        <p:spPr>
          <a:xfrm>
            <a:off x="594360" y="329184"/>
            <a:ext cx="11002975" cy="256032"/>
          </a:xfrm>
          <a:prstGeom prst="rect">
            <a:avLst/>
          </a:prstGeom>
          <a:noFill/>
          <a:ln/>
        </p:spPr>
        <p:txBody>
          <a:bodyPr wrap="square" lIns="0" tIns="0" rIns="0" bIns="0" rtlCol="0" anchor="ctr"/>
          <a:lstStyle/>
          <a:p>
            <a:pPr indent="0" marL="0">
              <a:buNone/>
            </a:pPr>
            <a:r>
              <a:rPr lang="en-US" sz="1200" b="1" spc="200" kern="0" dirty="0">
                <a:solidFill>
                  <a:srgbClr val="8B1E1E"/>
                </a:solidFill>
                <a:latin typeface="Courier New" pitchFamily="34" charset="0"/>
                <a:ea typeface="Courier New" pitchFamily="34" charset="-122"/>
                <a:cs typeface="Courier New" pitchFamily="34" charset="-120"/>
              </a:rPr>
              <a:t>CASE 5 OF 5  ·  THE PEOPLE v. TELEGRAM</a:t>
            </a:r>
            <a:endParaRPr lang="en-US" sz="1200" dirty="0"/>
          </a:p>
        </p:txBody>
      </p:sp>
      <p:sp>
        <p:nvSpPr>
          <p:cNvPr id="4" name="Text 0"/>
          <p:cNvSpPr/>
          <p:nvPr>
            <p:ph idx="100" type="title" hasCustomPrompt="1"/>
          </p:nvPr>
        </p:nvSpPr>
        <p:spPr>
          <a:xfrm>
            <a:off x="594360" y="621792"/>
            <a:ext cx="11002975" cy="640080"/>
          </a:xfrm>
          <a:prstGeom prst="rect">
            <a:avLst/>
          </a:prstGeom>
          <a:noFill/>
          <a:ln/>
        </p:spPr>
        <p:txBody>
          <a:bodyPr wrap="square" lIns="0" tIns="0" rIns="0" bIns="0" rtlCol="0" anchor="ctr"/>
          <a:lstStyle/>
          <a:p>
            <a:pPr algn="l" indent="0" marL="0">
              <a:buNone/>
            </a:pPr>
            <a:r>
              <a:rPr lang="en-US" sz="2800" b="1" dirty="0">
                <a:solidFill>
                  <a:schemeClr val="tx2"/>
                </a:solidFill>
              </a:rPr>
              <a:t>Telegram: guilty of promising more privacy than it delivers</a:t>
            </a:r>
            <a:endParaRPr lang="en-US" sz="2800" dirty="0"/>
          </a:p>
        </p:txBody>
      </p:sp>
      <p:sp>
        <p:nvSpPr>
          <p:cNvPr id="5" name="defence circle"/>
          <p:cNvSpPr/>
          <p:nvPr/>
        </p:nvSpPr>
        <p:spPr>
          <a:xfrm>
            <a:off x="594360" y="1463040"/>
            <a:ext cx="384048" cy="384048"/>
          </a:xfrm>
          <a:prstGeom prst="ellipse">
            <a:avLst/>
          </a:prstGeom>
          <a:solidFill>
            <a:srgbClr val="166534"/>
          </a:solidFill>
          <a:ln/>
        </p:spPr>
      </p:sp>
      <p:pic>
        <p:nvPicPr>
          <p:cNvPr id="6" name="defence icon" descr="defence">    </p:cNvPr>
          <p:cNvPicPr>
            <a:picLocks noChangeAspect="1"/>
          </p:cNvPicPr>
          <p:nvPr/>
        </p:nvPicPr>
        <p:blipFill>
          <a:blip r:embed="rId2"/>
          <a:stretch>
            <a:fillRect/>
          </a:stretch>
        </p:blipFill>
        <p:spPr>
          <a:xfrm>
            <a:off x="690372" y="1559052"/>
            <a:ext cx="192024" cy="192024"/>
          </a:xfrm>
          <a:prstGeom prst="rect">
            <a:avLst/>
          </a:prstGeom>
        </p:spPr>
      </p:pic>
      <p:sp>
        <p:nvSpPr>
          <p:cNvPr id="7" name="Text 3"/>
          <p:cNvSpPr txBox="1"/>
          <p:nvPr/>
        </p:nvSpPr>
        <p:spPr>
          <a:xfrm>
            <a:off x="1097280" y="1463040"/>
            <a:ext cx="4572000" cy="384048"/>
          </a:xfrm>
          <a:prstGeom prst="rect">
            <a:avLst/>
          </a:prstGeom>
          <a:noFill/>
          <a:ln/>
        </p:spPr>
        <p:txBody>
          <a:bodyPr wrap="square" lIns="0" tIns="0" rIns="0" bIns="0" rtlCol="0" anchor="ctr"/>
          <a:lstStyle/>
          <a:p>
            <a:pPr indent="0" marL="0">
              <a:buNone/>
            </a:pPr>
            <a:r>
              <a:rPr lang="en-US" sz="1300" b="1" spc="100" kern="0" dirty="0">
                <a:solidFill>
                  <a:srgbClr val="166534"/>
                </a:solidFill>
                <a:latin typeface="Courier New" pitchFamily="34" charset="0"/>
                <a:ea typeface="Courier New" pitchFamily="34" charset="-122"/>
                <a:cs typeface="Courier New" pitchFamily="34" charset="-120"/>
              </a:rPr>
              <a:t>EVIDENCE FOR THE DEFENCE</a:t>
            </a:r>
            <a:endParaRPr lang="en-US" sz="1300" dirty="0"/>
          </a:p>
        </p:txBody>
      </p:sp>
      <p:sp>
        <p:nvSpPr>
          <p:cNvPr id="8" name="exhibit 1"/>
          <p:cNvSpPr/>
          <p:nvPr/>
        </p:nvSpPr>
        <p:spPr>
          <a:xfrm>
            <a:off x="594360" y="2011680"/>
            <a:ext cx="5349240" cy="585216"/>
          </a:xfrm>
          <a:prstGeom prst="rect">
            <a:avLst/>
          </a:prstGeom>
          <a:solidFill>
            <a:srgbClr val="FFFFFF"/>
          </a:solidFill>
          <a:ln w="12700">
            <a:solidFill>
              <a:srgbClr val="D6CFC4"/>
            </a:solidFill>
            <a:prstDash val="solid"/>
          </a:ln>
        </p:spPr>
      </p:sp>
      <p:sp>
        <p:nvSpPr>
          <p:cNvPr id="9" name="Text 5"/>
          <p:cNvSpPr txBox="1"/>
          <p:nvPr/>
        </p:nvSpPr>
        <p:spPr>
          <a:xfrm>
            <a:off x="704088" y="2121408"/>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a:t>
            </a:r>
            <a:endParaRPr lang="en-US" sz="1500" dirty="0"/>
          </a:p>
        </p:txBody>
      </p:sp>
      <p:sp>
        <p:nvSpPr>
          <p:cNvPr id="10" name="Text 6"/>
          <p:cNvSpPr txBox="1"/>
          <p:nvPr/>
        </p:nvSpPr>
        <p:spPr>
          <a:xfrm>
            <a:off x="1188720" y="2011680"/>
            <a:ext cx="4663440" cy="585216"/>
          </a:xfrm>
          <a:prstGeom prst="rect">
            <a:avLst/>
          </a:prstGeom>
          <a:noFill/>
          <a:ln/>
        </p:spPr>
        <p:txBody>
          <a:bodyPr wrap="square" lIns="0" tIns="0" rIns="0" bIns="0" rtlCol="0" anchor="ctr"/>
          <a:lstStyle/>
          <a:p>
            <a:pPr indent="0" marL="0">
              <a:buNone/>
            </a:pPr>
            <a:r>
              <a:rPr lang="en-US" sz="1500" dirty="0">
                <a:solidFill>
                  <a:schemeClr val="tx1"/>
                </a:solidFill>
              </a:rPr>
              <a:t>Two-step verification cloud password</a:t>
            </a:r>
            <a:endParaRPr lang="en-US" sz="1500" dirty="0"/>
          </a:p>
        </p:txBody>
      </p:sp>
      <p:sp>
        <p:nvSpPr>
          <p:cNvPr id="11" name="exhibit 2"/>
          <p:cNvSpPr/>
          <p:nvPr/>
        </p:nvSpPr>
        <p:spPr>
          <a:xfrm>
            <a:off x="594360" y="2724912"/>
            <a:ext cx="5349240" cy="585216"/>
          </a:xfrm>
          <a:prstGeom prst="rect">
            <a:avLst/>
          </a:prstGeom>
          <a:solidFill>
            <a:srgbClr val="FFFFFF"/>
          </a:solidFill>
          <a:ln w="12700">
            <a:solidFill>
              <a:srgbClr val="D6CFC4"/>
            </a:solidFill>
            <a:prstDash val="solid"/>
          </a:ln>
        </p:spPr>
      </p:sp>
      <p:sp>
        <p:nvSpPr>
          <p:cNvPr id="12" name="Text 8"/>
          <p:cNvSpPr txBox="1"/>
          <p:nvPr/>
        </p:nvSpPr>
        <p:spPr>
          <a:xfrm>
            <a:off x="704088" y="2834640"/>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B</a:t>
            </a:r>
            <a:endParaRPr lang="en-US" sz="1500" dirty="0"/>
          </a:p>
        </p:txBody>
      </p:sp>
      <p:sp>
        <p:nvSpPr>
          <p:cNvPr id="13" name="Text 9"/>
          <p:cNvSpPr txBox="1"/>
          <p:nvPr/>
        </p:nvSpPr>
        <p:spPr>
          <a:xfrm>
            <a:off x="1188720" y="2724912"/>
            <a:ext cx="4663440" cy="585216"/>
          </a:xfrm>
          <a:prstGeom prst="rect">
            <a:avLst/>
          </a:prstGeom>
          <a:noFill/>
          <a:ln/>
        </p:spPr>
        <p:txBody>
          <a:bodyPr wrap="square" lIns="0" tIns="0" rIns="0" bIns="0" rtlCol="0" anchor="ctr"/>
          <a:lstStyle/>
          <a:p>
            <a:pPr indent="0" marL="0">
              <a:buNone/>
            </a:pPr>
            <a:r>
              <a:rPr lang="en-US" sz="1500" dirty="0">
                <a:solidFill>
                  <a:schemeClr val="tx1"/>
                </a:solidFill>
              </a:rPr>
              <a:t>Passcode lock and active-session control</a:t>
            </a:r>
            <a:endParaRPr lang="en-US" sz="1500" dirty="0"/>
          </a:p>
        </p:txBody>
      </p:sp>
      <p:sp>
        <p:nvSpPr>
          <p:cNvPr id="14" name="exhibit 3"/>
          <p:cNvSpPr/>
          <p:nvPr/>
        </p:nvSpPr>
        <p:spPr>
          <a:xfrm>
            <a:off x="594360" y="3438144"/>
            <a:ext cx="5349240" cy="585216"/>
          </a:xfrm>
          <a:prstGeom prst="rect">
            <a:avLst/>
          </a:prstGeom>
          <a:solidFill>
            <a:srgbClr val="FFFFFF"/>
          </a:solidFill>
          <a:ln w="12700">
            <a:solidFill>
              <a:srgbClr val="D6CFC4"/>
            </a:solidFill>
            <a:prstDash val="solid"/>
          </a:ln>
        </p:spPr>
      </p:sp>
      <p:sp>
        <p:nvSpPr>
          <p:cNvPr id="15" name="Text 11"/>
          <p:cNvSpPr txBox="1"/>
          <p:nvPr/>
        </p:nvSpPr>
        <p:spPr>
          <a:xfrm>
            <a:off x="704088" y="3547872"/>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a:t>
            </a:r>
            <a:endParaRPr lang="en-US" sz="1500" dirty="0"/>
          </a:p>
        </p:txBody>
      </p:sp>
      <p:sp>
        <p:nvSpPr>
          <p:cNvPr id="16" name="Text 12"/>
          <p:cNvSpPr txBox="1"/>
          <p:nvPr/>
        </p:nvSpPr>
        <p:spPr>
          <a:xfrm>
            <a:off x="1188720" y="3438144"/>
            <a:ext cx="4663440" cy="585216"/>
          </a:xfrm>
          <a:prstGeom prst="rect">
            <a:avLst/>
          </a:prstGeom>
          <a:noFill/>
          <a:ln/>
        </p:spPr>
        <p:txBody>
          <a:bodyPr wrap="square" lIns="0" tIns="0" rIns="0" bIns="0" rtlCol="0" anchor="ctr"/>
          <a:lstStyle/>
          <a:p>
            <a:pPr indent="0" marL="0">
              <a:buNone/>
            </a:pPr>
            <a:r>
              <a:rPr lang="en-US" sz="1500" dirty="0">
                <a:solidFill>
                  <a:schemeClr val="tx1"/>
                </a:solidFill>
              </a:rPr>
              <a:t>Hide phone number; connect by username</a:t>
            </a:r>
            <a:endParaRPr lang="en-US" sz="1500" dirty="0"/>
          </a:p>
        </p:txBody>
      </p:sp>
      <p:sp>
        <p:nvSpPr>
          <p:cNvPr id="17" name="exhibit 4"/>
          <p:cNvSpPr/>
          <p:nvPr/>
        </p:nvSpPr>
        <p:spPr>
          <a:xfrm>
            <a:off x="594360" y="4151376"/>
            <a:ext cx="5349240" cy="585216"/>
          </a:xfrm>
          <a:prstGeom prst="rect">
            <a:avLst/>
          </a:prstGeom>
          <a:solidFill>
            <a:srgbClr val="FFFFFF"/>
          </a:solidFill>
          <a:ln w="12700">
            <a:solidFill>
              <a:srgbClr val="D6CFC4"/>
            </a:solidFill>
            <a:prstDash val="solid"/>
          </a:ln>
        </p:spPr>
      </p:sp>
      <p:sp>
        <p:nvSpPr>
          <p:cNvPr id="18" name="Text 14"/>
          <p:cNvSpPr txBox="1"/>
          <p:nvPr/>
        </p:nvSpPr>
        <p:spPr>
          <a:xfrm>
            <a:off x="704088" y="4261104"/>
            <a:ext cx="365760" cy="365760"/>
          </a:xfrm>
          <a:prstGeom prst="rect">
            <a:avLst/>
          </a:prstGeom>
          <a:solidFill>
            <a:srgbClr val="166534"/>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D</a:t>
            </a:r>
            <a:endParaRPr lang="en-US" sz="1500" dirty="0"/>
          </a:p>
        </p:txBody>
      </p:sp>
      <p:sp>
        <p:nvSpPr>
          <p:cNvPr id="19" name="Text 15"/>
          <p:cNvSpPr txBox="1"/>
          <p:nvPr/>
        </p:nvSpPr>
        <p:spPr>
          <a:xfrm>
            <a:off x="1188720" y="4151376"/>
            <a:ext cx="4663440" cy="585216"/>
          </a:xfrm>
          <a:prstGeom prst="rect">
            <a:avLst/>
          </a:prstGeom>
          <a:noFill/>
          <a:ln/>
        </p:spPr>
        <p:txBody>
          <a:bodyPr wrap="square" lIns="0" tIns="0" rIns="0" bIns="0" rtlCol="0" anchor="ctr"/>
          <a:lstStyle/>
          <a:p>
            <a:pPr indent="0" marL="0">
              <a:buNone/>
            </a:pPr>
            <a:r>
              <a:rPr lang="en-US" sz="1500" dirty="0">
                <a:solidFill>
                  <a:schemeClr val="tx1"/>
                </a:solidFill>
              </a:rPr>
              <a:t>Secret Chats: end-to-end encrypted, self-destructing</a:t>
            </a:r>
            <a:endParaRPr lang="en-US" sz="1500" dirty="0"/>
          </a:p>
        </p:txBody>
      </p:sp>
      <p:sp>
        <p:nvSpPr>
          <p:cNvPr id="20" name="prosecution"/>
          <p:cNvSpPr/>
          <p:nvPr/>
        </p:nvSpPr>
        <p:spPr>
          <a:xfrm>
            <a:off x="6263640" y="1463040"/>
            <a:ext cx="5333695" cy="1463040"/>
          </a:xfrm>
          <a:prstGeom prst="rect">
            <a:avLst/>
          </a:prstGeom>
          <a:solidFill>
            <a:srgbClr val="FBEDED"/>
          </a:solidFill>
          <a:ln w="12700">
            <a:solidFill>
              <a:srgbClr val="8B1E1E"/>
            </a:solidFill>
            <a:prstDash val="solid"/>
          </a:ln>
          <a:effectLst>
            <a:outerShdw sx="100000" sy="100000" kx="0" ky="0" algn="bl" rotWithShape="0" blurRad="76200" dist="25400" dir="5400000">
              <a:srgbClr val="000000">
                <a:alpha val="8000"/>
              </a:srgbClr>
            </a:outerShdw>
          </a:effectLst>
        </p:spPr>
      </p:sp>
      <p:sp>
        <p:nvSpPr>
          <p:cNvPr id="21" name="prosecution circle"/>
          <p:cNvSpPr/>
          <p:nvPr/>
        </p:nvSpPr>
        <p:spPr>
          <a:xfrm>
            <a:off x="6446520" y="1600200"/>
            <a:ext cx="384048" cy="384048"/>
          </a:xfrm>
          <a:prstGeom prst="ellipse">
            <a:avLst/>
          </a:prstGeom>
          <a:solidFill>
            <a:srgbClr val="8B1E1E"/>
          </a:solidFill>
          <a:ln/>
        </p:spPr>
      </p:sp>
      <p:pic>
        <p:nvPicPr>
          <p:cNvPr id="22" name="prosecution icon" descr="prosecution">    </p:cNvPr>
          <p:cNvPicPr>
            <a:picLocks noChangeAspect="1"/>
          </p:cNvPicPr>
          <p:nvPr/>
        </p:nvPicPr>
        <p:blipFill>
          <a:blip r:embed="rId3"/>
          <a:stretch>
            <a:fillRect/>
          </a:stretch>
        </p:blipFill>
        <p:spPr>
          <a:xfrm>
            <a:off x="6542532" y="1696212"/>
            <a:ext cx="192024" cy="192024"/>
          </a:xfrm>
          <a:prstGeom prst="rect">
            <a:avLst/>
          </a:prstGeom>
        </p:spPr>
      </p:pic>
      <p:sp>
        <p:nvSpPr>
          <p:cNvPr id="23" name="Text 18"/>
          <p:cNvSpPr txBox="1"/>
          <p:nvPr/>
        </p:nvSpPr>
        <p:spPr>
          <a:xfrm>
            <a:off x="6949440" y="1600200"/>
            <a:ext cx="4510735" cy="384048"/>
          </a:xfrm>
          <a:prstGeom prst="rect">
            <a:avLst/>
          </a:prstGeom>
          <a:noFill/>
          <a:ln/>
        </p:spPr>
        <p:txBody>
          <a:bodyPr wrap="square" lIns="0" tIns="0" rIns="0" bIns="0" rtlCol="0" anchor="ctr"/>
          <a:lstStyle/>
          <a:p>
            <a:pPr indent="0" marL="0">
              <a:buNone/>
            </a:pPr>
            <a:r>
              <a:rPr lang="en-US" sz="1300" b="1" spc="100" kern="0" dirty="0">
                <a:solidFill>
                  <a:srgbClr val="8B1E1E"/>
                </a:solidFill>
                <a:latin typeface="Courier New" pitchFamily="34" charset="0"/>
                <a:ea typeface="Courier New" pitchFamily="34" charset="-122"/>
                <a:cs typeface="Courier New" pitchFamily="34" charset="-120"/>
              </a:rPr>
              <a:t>EVIDENCE FOR THE PROSECUTION</a:t>
            </a:r>
            <a:endParaRPr lang="en-US" sz="1300" dirty="0"/>
          </a:p>
        </p:txBody>
      </p:sp>
      <p:sp>
        <p:nvSpPr>
          <p:cNvPr id="24" name="Text 19"/>
          <p:cNvSpPr txBox="1"/>
          <p:nvPr/>
        </p:nvSpPr>
        <p:spPr>
          <a:xfrm>
            <a:off x="6446520" y="2057400"/>
            <a:ext cx="4967935" cy="804672"/>
          </a:xfrm>
          <a:prstGeom prst="rect">
            <a:avLst/>
          </a:prstGeom>
          <a:noFill/>
          <a:ln/>
        </p:spPr>
        <p:txBody>
          <a:bodyPr wrap="square" lIns="0" tIns="0" rIns="0" bIns="0" rtlCol="0" anchor="t"/>
          <a:lstStyle/>
          <a:p>
            <a:pPr indent="0" marL="0">
              <a:buNone/>
            </a:pPr>
            <a:r>
              <a:rPr lang="en-US" sz="1500" dirty="0">
                <a:solidFill>
                  <a:schemeClr val="tx1"/>
                </a:solidFill>
              </a:rPr>
              <a:t>Ordinary chats, groups and channels are not end-to-end encrypted; since Sept 2024, IPs and phone numbers can be shared on valid legal request.</a:t>
            </a:r>
            <a:endParaRPr lang="en-US" sz="1500" dirty="0"/>
          </a:p>
        </p:txBody>
      </p:sp>
      <p:sp>
        <p:nvSpPr>
          <p:cNvPr id="25" name="verdict"/>
          <p:cNvSpPr/>
          <p:nvPr/>
        </p:nvSpPr>
        <p:spPr>
          <a:xfrm>
            <a:off x="6263640" y="3108960"/>
            <a:ext cx="5333695" cy="1463040"/>
          </a:xfrm>
          <a:prstGeom prst="rect">
            <a:avLst/>
          </a:prstGeom>
          <a:solidFill>
            <a:srgbClr val="FFFFFF"/>
          </a:solidFill>
          <a:ln w="12700">
            <a:solidFill>
              <a:srgbClr val="D6CFC4"/>
            </a:solidFill>
            <a:prstDash val="solid"/>
          </a:ln>
          <a:effectLst>
            <a:outerShdw sx="100000" sy="100000" kx="0" ky="0" algn="bl" rotWithShape="0" blurRad="76200" dist="25400" dir="5400000">
              <a:srgbClr val="000000">
                <a:alpha val="8000"/>
              </a:srgbClr>
            </a:outerShdw>
          </a:effectLst>
        </p:spPr>
      </p:sp>
      <p:sp>
        <p:nvSpPr>
          <p:cNvPr id="26" name="Text 21"/>
          <p:cNvSpPr txBox="1"/>
          <p:nvPr/>
        </p:nvSpPr>
        <p:spPr>
          <a:xfrm>
            <a:off x="6446520" y="3200400"/>
            <a:ext cx="1371600" cy="256032"/>
          </a:xfrm>
          <a:prstGeom prst="rect">
            <a:avLst/>
          </a:prstGeom>
          <a:noFill/>
          <a:ln/>
        </p:spPr>
        <p:txBody>
          <a:bodyPr wrap="square" lIns="0" tIns="0" rIns="0" bIns="0" rtlCol="0" anchor="ctr"/>
          <a:lstStyle/>
          <a:p>
            <a:pPr indent="0" marL="0">
              <a:buNone/>
            </a:pPr>
            <a:r>
              <a:rPr lang="en-US" sz="1100" b="1" spc="200" kern="0" dirty="0">
                <a:solidFill>
                  <a:srgbClr val="57534E"/>
                </a:solidFill>
                <a:latin typeface="Courier New" pitchFamily="34" charset="0"/>
                <a:ea typeface="Courier New" pitchFamily="34" charset="-122"/>
                <a:cs typeface="Courier New" pitchFamily="34" charset="-120"/>
              </a:rPr>
              <a:t>VERDICT</a:t>
            </a:r>
            <a:endParaRPr lang="en-US" sz="1100" dirty="0"/>
          </a:p>
        </p:txBody>
      </p:sp>
      <p:sp>
        <p:nvSpPr>
          <p:cNvPr id="27" name="verdict stamp"/>
          <p:cNvSpPr txBox="1"/>
          <p:nvPr/>
        </p:nvSpPr>
        <p:spPr>
          <a:xfrm rot="-420000">
            <a:off x="6446520" y="3611880"/>
            <a:ext cx="2103120" cy="566928"/>
          </a:xfrm>
          <a:prstGeom prst="rect">
            <a:avLst/>
          </a:prstGeom>
          <a:noFill/>
          <a:ln w="38100">
            <a:solidFill>
              <a:srgbClr val="8B1E1E"/>
            </a:solidFill>
          </a:ln>
        </p:spPr>
        <p:txBody>
          <a:bodyPr wrap="square" lIns="0" tIns="0" rIns="0" bIns="0" rtlCol="0" anchor="ctr"/>
          <a:lstStyle/>
          <a:p>
            <a:pPr algn="ctr" indent="0" marL="0">
              <a:buNone/>
            </a:pPr>
            <a:r>
              <a:rPr lang="en-US" sz="2400" b="1" spc="300" kern="0" dirty="0">
                <a:solidFill>
                  <a:srgbClr val="8B1E1E"/>
                </a:solidFill>
                <a:latin typeface="Courier New" pitchFamily="34" charset="0"/>
                <a:ea typeface="Courier New" pitchFamily="34" charset="-122"/>
                <a:cs typeface="Courier New" pitchFamily="34" charset="-120"/>
              </a:rPr>
              <a:t>GUILTY</a:t>
            </a:r>
            <a:endParaRPr lang="en-US" sz="2400" dirty="0"/>
          </a:p>
        </p:txBody>
      </p:sp>
      <p:sp>
        <p:nvSpPr>
          <p:cNvPr id="28" name="Text 23"/>
          <p:cNvSpPr txBox="1"/>
          <p:nvPr/>
        </p:nvSpPr>
        <p:spPr>
          <a:xfrm>
            <a:off x="8686800" y="3200400"/>
            <a:ext cx="1188720" cy="1280160"/>
          </a:xfrm>
          <a:prstGeom prst="rect">
            <a:avLst/>
          </a:prstGeom>
          <a:noFill/>
          <a:ln/>
        </p:spPr>
        <p:txBody>
          <a:bodyPr wrap="square" lIns="0" tIns="0" rIns="0" bIns="0" rtlCol="0" anchor="ctr"/>
          <a:lstStyle/>
          <a:p>
            <a:pPr indent="0" marL="0">
              <a:buNone/>
            </a:pPr>
            <a:r>
              <a:rPr lang="en-US" sz="4000" b="1" dirty="0">
                <a:solidFill>
                  <a:srgbClr val="8B1E1E"/>
                </a:solidFill>
                <a:latin typeface="Cambria" pitchFamily="34" charset="0"/>
                <a:ea typeface="Cambria" pitchFamily="34" charset="-122"/>
                <a:cs typeface="Cambria" pitchFamily="34" charset="-120"/>
              </a:rPr>
              <a:t>14</a:t>
            </a:r>
            <a:pPr indent="0" marL="0">
              <a:buNone/>
            </a:pPr>
            <a:r>
              <a:rPr lang="en-US" sz="1600" dirty="0">
                <a:solidFill>
                  <a:srgbClr val="57534E"/>
                </a:solidFill>
                <a:latin typeface="Cambria" pitchFamily="34" charset="0"/>
                <a:ea typeface="Cambria" pitchFamily="34" charset="-122"/>
                <a:cs typeface="Cambria" pitchFamily="34" charset="-120"/>
              </a:rPr>
              <a:t> /25</a:t>
            </a:r>
            <a:endParaRPr lang="en-US" sz="4000" dirty="0"/>
          </a:p>
        </p:txBody>
      </p:sp>
      <p:graphicFrame>
        <p:nvGraphicFramePr>
          <p:cNvPr id="29" name="Telegram score chart" descr=""/>
          <p:cNvGraphicFramePr/>
          <p:nvPr/>
        </p:nvGraphicFramePr>
        <p:xfrm>
          <a:off x="9784080" y="3154680"/>
          <a:ext cx="1721815" cy="1371600"/>
        </p:xfrm>
        <a:graphic xmlns:a="http://schemas.openxmlformats.org/drawingml/2006/main">
          <a:graphicData uri="http://schemas.openxmlformats.org/drawingml/2006/chart">
            <c:chart xmlns:c="http://schemas.openxmlformats.org/drawingml/2006/chart" r:id="rId4"/>
          </a:graphicData>
        </a:graphic>
      </p:graphicFrame>
      <p:sp>
        <p:nvSpPr>
          <p:cNvPr id="30" name="sentence"/>
          <p:cNvSpPr/>
          <p:nvPr/>
        </p:nvSpPr>
        <p:spPr>
          <a:xfrm>
            <a:off x="6263640" y="4754880"/>
            <a:ext cx="5333695" cy="1188720"/>
          </a:xfrm>
          <a:prstGeom prst="rect">
            <a:avLst/>
          </a:prstGeom>
          <a:solidFill>
            <a:srgbClr val="FBF4E4"/>
          </a:solidFill>
          <a:ln w="12700">
            <a:solidFill>
              <a:srgbClr val="B7791F"/>
            </a:solidFill>
            <a:prstDash val="solid"/>
          </a:ln>
          <a:effectLst>
            <a:outerShdw sx="100000" sy="100000" kx="0" ky="0" algn="bl" rotWithShape="0" blurRad="76200" dist="25400" dir="5400000">
              <a:srgbClr val="000000">
                <a:alpha val="8000"/>
              </a:srgbClr>
            </a:outerShdw>
          </a:effectLst>
        </p:spPr>
      </p:sp>
      <p:sp>
        <p:nvSpPr>
          <p:cNvPr id="31" name="sentence circle"/>
          <p:cNvSpPr/>
          <p:nvPr/>
        </p:nvSpPr>
        <p:spPr>
          <a:xfrm>
            <a:off x="6446520" y="4864608"/>
            <a:ext cx="384048" cy="384048"/>
          </a:xfrm>
          <a:prstGeom prst="ellipse">
            <a:avLst/>
          </a:prstGeom>
          <a:solidFill>
            <a:srgbClr val="B7791F"/>
          </a:solidFill>
          <a:ln/>
        </p:spPr>
      </p:sp>
      <p:pic>
        <p:nvPicPr>
          <p:cNvPr id="32" name="sentence icon" descr="sentence">    </p:cNvPr>
          <p:cNvPicPr>
            <a:picLocks noChangeAspect="1"/>
          </p:cNvPicPr>
          <p:nvPr/>
        </p:nvPicPr>
        <p:blipFill>
          <a:blip r:embed="rId5"/>
          <a:stretch>
            <a:fillRect/>
          </a:stretch>
        </p:blipFill>
        <p:spPr>
          <a:xfrm>
            <a:off x="6542532" y="4960620"/>
            <a:ext cx="192024" cy="192024"/>
          </a:xfrm>
          <a:prstGeom prst="rect">
            <a:avLst/>
          </a:prstGeom>
        </p:spPr>
      </p:pic>
      <p:sp>
        <p:nvSpPr>
          <p:cNvPr id="33" name="Text 26"/>
          <p:cNvSpPr txBox="1"/>
          <p:nvPr/>
        </p:nvSpPr>
        <p:spPr>
          <a:xfrm>
            <a:off x="6949440" y="4864608"/>
            <a:ext cx="4510735" cy="384048"/>
          </a:xfrm>
          <a:prstGeom prst="rect">
            <a:avLst/>
          </a:prstGeom>
          <a:noFill/>
          <a:ln/>
        </p:spPr>
        <p:txBody>
          <a:bodyPr wrap="square" lIns="0" tIns="0" rIns="0" bIns="0" rtlCol="0" anchor="ctr"/>
          <a:lstStyle/>
          <a:p>
            <a:pPr indent="0" marL="0">
              <a:buNone/>
            </a:pPr>
            <a:r>
              <a:rPr lang="en-US" sz="1300" b="1" spc="100" kern="0" dirty="0">
                <a:solidFill>
                  <a:srgbClr val="8A5A12"/>
                </a:solidFill>
                <a:latin typeface="Courier New" pitchFamily="34" charset="0"/>
                <a:ea typeface="Courier New" pitchFamily="34" charset="-122"/>
                <a:cs typeface="Courier New" pitchFamily="34" charset="-120"/>
              </a:rPr>
              <a:t>SENTENCE: COURT-ORDERED FIX</a:t>
            </a:r>
            <a:endParaRPr lang="en-US" sz="1300" dirty="0"/>
          </a:p>
        </p:txBody>
      </p:sp>
      <p:sp>
        <p:nvSpPr>
          <p:cNvPr id="34" name="Text 27"/>
          <p:cNvSpPr txBox="1"/>
          <p:nvPr/>
        </p:nvSpPr>
        <p:spPr>
          <a:xfrm>
            <a:off x="6446520" y="5303520"/>
            <a:ext cx="4967935" cy="594360"/>
          </a:xfrm>
          <a:prstGeom prst="rect">
            <a:avLst/>
          </a:prstGeom>
          <a:noFill/>
          <a:ln/>
        </p:spPr>
        <p:txBody>
          <a:bodyPr wrap="square" lIns="0" tIns="0" rIns="0" bIns="0" rtlCol="0" anchor="t"/>
          <a:lstStyle/>
          <a:p>
            <a:pPr indent="0" marL="0">
              <a:buNone/>
            </a:pPr>
            <a:r>
              <a:rPr lang="en-US" sz="1400" dirty="0">
                <a:solidFill>
                  <a:schemeClr val="tx1"/>
                </a:solidFill>
              </a:rPr>
              <a:t>End-to-end encryption by default for one-to-one chats, and a two-step verification prompt at sign-up.</a:t>
            </a:r>
            <a:endParaRPr lang="en-US" sz="1400" dirty="0"/>
          </a:p>
        </p:txBody>
      </p:sp>
      <p:sp>
        <p:nvSpPr>
          <p:cNvPr id="35" name="Text 28"/>
          <p:cNvSpPr txBox="1"/>
          <p:nvPr/>
        </p:nvSpPr>
        <p:spPr>
          <a:xfrm>
            <a:off x="594360" y="6089904"/>
            <a:ext cx="11002975" cy="219456"/>
          </a:xfrm>
          <a:prstGeom prst="rect">
            <a:avLst/>
          </a:prstGeom>
          <a:noFill/>
          <a:ln/>
        </p:spPr>
        <p:txBody>
          <a:bodyPr wrap="square" lIns="0" tIns="0" rIns="0" bIns="0" rtlCol="0" anchor="ctr"/>
          <a:lstStyle/>
          <a:p>
            <a:pPr indent="0" marL="0">
              <a:buNone/>
            </a:pPr>
            <a:r>
              <a:rPr lang="en-US" sz="1000" i="1" dirty="0">
                <a:solidFill>
                  <a:srgbClr val="8A817C"/>
                </a:solidFill>
              </a:rPr>
              <a:t>Source: Engadget (2024).</a:t>
            </a:r>
            <a:endParaRPr lang="en-US" sz="1000" dirty="0"/>
          </a:p>
        </p:txBody>
      </p:sp>
      <p:sp>
        <p:nvSpPr>
          <p:cNvPr id="25" name="Slide Number Placeholder 0"/>
          <p:cNvSpPr>
            <a:spLocks noGrp="1"/>
          </p:cNvSpPr>
          <p:nvPr>
            <p:ph type="sldNum" sz="quarter" idx="4294967295"/>
          </p:nvPr>
        </p:nvSpPr>
        <p:spPr>
          <a:xfrm>
            <a:off x="10865815" y="6382512"/>
            <a:ext cx="73152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8A817C"/>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watermark" descr="preencoded.png">    </p:cNvPr>
          <p:cNvPicPr>
            <a:picLocks noChangeAspect="1"/>
          </p:cNvPicPr>
          <p:nvPr/>
        </p:nvPicPr>
        <p:blipFill>
          <a:blip r:embed="rId1"/>
          <a:stretch>
            <a:fillRect/>
          </a:stretch>
        </p:blipFill>
        <p:spPr>
          <a:xfrm>
            <a:off x="365760" y="1188720"/>
            <a:ext cx="4206240" cy="4206240"/>
          </a:xfrm>
          <a:prstGeom prst="rect">
            <a:avLst/>
          </a:prstGeom>
        </p:spPr>
      </p:pic>
      <p:sp>
        <p:nvSpPr>
          <p:cNvPr id="3" name="Text 0"/>
          <p:cNvSpPr txBox="1"/>
          <p:nvPr/>
        </p:nvSpPr>
        <p:spPr>
          <a:xfrm>
            <a:off x="594360" y="502920"/>
            <a:ext cx="11002975" cy="274320"/>
          </a:xfrm>
          <a:prstGeom prst="rect">
            <a:avLst/>
          </a:prstGeom>
          <a:noFill/>
          <a:ln/>
        </p:spPr>
        <p:txBody>
          <a:bodyPr wrap="square" lIns="0" tIns="0" rIns="0" bIns="0" rtlCol="0" anchor="ctr"/>
          <a:lstStyle/>
          <a:p>
            <a:pPr indent="0" marL="0">
              <a:buNone/>
            </a:pPr>
            <a:r>
              <a:rPr lang="en-US" sz="1300" b="1" spc="200" kern="0" dirty="0">
                <a:solidFill>
                  <a:schemeClr val="accent6"/>
                </a:solidFill>
                <a:latin typeface="Courier New" pitchFamily="34" charset="0"/>
                <a:ea typeface="Courier New" pitchFamily="34" charset="-122"/>
                <a:cs typeface="Courier New" pitchFamily="34" charset="-120"/>
              </a:rPr>
              <a:t>FINAL JUDGMENT  ·  CASE NO. MCCJ-525/2026</a:t>
            </a:r>
            <a:endParaRPr lang="en-US" sz="1300" dirty="0"/>
          </a:p>
        </p:txBody>
      </p:sp>
      <p:sp>
        <p:nvSpPr>
          <p:cNvPr id="4" name="Text 1"/>
          <p:cNvSpPr txBox="1"/>
          <p:nvPr/>
        </p:nvSpPr>
        <p:spPr>
          <a:xfrm>
            <a:off x="594360" y="868680"/>
            <a:ext cx="11002975" cy="6858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The court finds WhatsApp the most secure for individuals</a:t>
            </a:r>
            <a:endParaRPr lang="en-US" sz="3200" dirty="0"/>
          </a:p>
        </p:txBody>
      </p:sp>
      <p:sp>
        <p:nvSpPr>
          <p:cNvPr id="5" name="Text 2"/>
          <p:cNvSpPr txBox="1"/>
          <p:nvPr/>
        </p:nvSpPr>
        <p:spPr>
          <a:xfrm>
            <a:off x="594360" y="1828800"/>
            <a:ext cx="502920" cy="566928"/>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01</a:t>
            </a:r>
            <a:endParaRPr lang="en-US" sz="1800" dirty="0"/>
          </a:p>
        </p:txBody>
      </p:sp>
      <p:sp>
        <p:nvSpPr>
          <p:cNvPr id="6" name="WhatsApp circle"/>
          <p:cNvSpPr/>
          <p:nvPr/>
        </p:nvSpPr>
        <p:spPr>
          <a:xfrm>
            <a:off x="1143000" y="1883664"/>
            <a:ext cx="457200" cy="457200"/>
          </a:xfrm>
          <a:prstGeom prst="ellipse">
            <a:avLst/>
          </a:prstGeom>
          <a:solidFill>
            <a:srgbClr val="166534"/>
          </a:solidFill>
          <a:ln/>
        </p:spPr>
      </p:sp>
      <p:pic>
        <p:nvPicPr>
          <p:cNvPr id="7" name="WhatsApp icon" descr="WhatsApp">    </p:cNvPr>
          <p:cNvPicPr>
            <a:picLocks noChangeAspect="1"/>
          </p:cNvPicPr>
          <p:nvPr/>
        </p:nvPicPr>
        <p:blipFill>
          <a:blip r:embed="rId2"/>
          <a:stretch>
            <a:fillRect/>
          </a:stretch>
        </p:blipFill>
        <p:spPr>
          <a:xfrm>
            <a:off x="1257300" y="1997964"/>
            <a:ext cx="228600" cy="228600"/>
          </a:xfrm>
          <a:prstGeom prst="rect">
            <a:avLst/>
          </a:prstGeom>
        </p:spPr>
      </p:pic>
      <p:sp>
        <p:nvSpPr>
          <p:cNvPr id="8" name="Text 4"/>
          <p:cNvSpPr txBox="1"/>
          <p:nvPr/>
        </p:nvSpPr>
        <p:spPr>
          <a:xfrm>
            <a:off x="1737360" y="1828800"/>
            <a:ext cx="1280160" cy="566928"/>
          </a:xfrm>
          <a:prstGeom prst="rect">
            <a:avLst/>
          </a:prstGeom>
          <a:noFill/>
          <a:ln/>
        </p:spPr>
        <p:txBody>
          <a:bodyPr wrap="square" lIns="0" tIns="0" rIns="0" bIns="0" rtlCol="0" anchor="ctr"/>
          <a:lstStyle/>
          <a:p>
            <a:pPr indent="0" marL="0">
              <a:buNone/>
            </a:pPr>
            <a:r>
              <a:rPr lang="en-US" sz="1700" b="1" dirty="0">
                <a:solidFill>
                  <a:schemeClr val="bg1"/>
                </a:solidFill>
              </a:rPr>
              <a:t>WhatsApp</a:t>
            </a:r>
            <a:endParaRPr lang="en-US" sz="1700" dirty="0"/>
          </a:p>
        </p:txBody>
      </p:sp>
      <p:sp>
        <p:nvSpPr>
          <p:cNvPr id="9" name="WhatsApp track"/>
          <p:cNvSpPr/>
          <p:nvPr/>
        </p:nvSpPr>
        <p:spPr>
          <a:xfrm>
            <a:off x="3063240" y="1984248"/>
            <a:ext cx="3291840" cy="256032"/>
          </a:xfrm>
          <a:prstGeom prst="rect">
            <a:avLst/>
          </a:prstGeom>
          <a:solidFill>
            <a:srgbClr val="FFFFFF">
              <a:alpha val="12000"/>
            </a:srgbClr>
          </a:solidFill>
          <a:ln/>
        </p:spPr>
      </p:sp>
      <p:sp>
        <p:nvSpPr>
          <p:cNvPr id="10" name="WhatsApp bar"/>
          <p:cNvSpPr/>
          <p:nvPr/>
        </p:nvSpPr>
        <p:spPr>
          <a:xfrm>
            <a:off x="3063240" y="1984248"/>
            <a:ext cx="2633472" cy="256032"/>
          </a:xfrm>
          <a:prstGeom prst="rect">
            <a:avLst/>
          </a:prstGeom>
          <a:solidFill>
            <a:srgbClr val="3FA568"/>
          </a:solidFill>
          <a:ln/>
        </p:spPr>
      </p:sp>
      <p:sp>
        <p:nvSpPr>
          <p:cNvPr id="11" name="Text 7"/>
          <p:cNvSpPr txBox="1"/>
          <p:nvPr/>
        </p:nvSpPr>
        <p:spPr>
          <a:xfrm>
            <a:off x="5806440" y="1828800"/>
            <a:ext cx="1783080" cy="566928"/>
          </a:xfrm>
          <a:prstGeom prst="rect">
            <a:avLst/>
          </a:prstGeom>
          <a:noFill/>
          <a:ln/>
        </p:spPr>
        <p:txBody>
          <a:bodyPr wrap="square" lIns="0" tIns="0" rIns="0" bIns="0" rtlCol="0" anchor="ctr"/>
          <a:lstStyle/>
          <a:p>
            <a:pPr indent="0" marL="0">
              <a:buNone/>
            </a:pPr>
            <a:r>
              <a:rPr lang="en-US" sz="1100" b="1" dirty="0">
                <a:solidFill>
                  <a:srgbClr val="8FD6A8"/>
                </a:solidFill>
                <a:latin typeface="Courier New" pitchFamily="34" charset="0"/>
                <a:ea typeface="Courier New" pitchFamily="34" charset="-122"/>
                <a:cs typeface="Courier New" pitchFamily="34" charset="-120"/>
              </a:rPr>
              <a:t>20/25 · NOT GUILTY</a:t>
            </a:r>
            <a:endParaRPr lang="en-US" sz="1100" dirty="0"/>
          </a:p>
        </p:txBody>
      </p:sp>
      <p:sp>
        <p:nvSpPr>
          <p:cNvPr id="12" name="Text 8"/>
          <p:cNvSpPr txBox="1"/>
          <p:nvPr/>
        </p:nvSpPr>
        <p:spPr>
          <a:xfrm>
            <a:off x="594360" y="2615184"/>
            <a:ext cx="502920" cy="566928"/>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01</a:t>
            </a:r>
            <a:endParaRPr lang="en-US" sz="1800" dirty="0"/>
          </a:p>
        </p:txBody>
      </p:sp>
      <p:sp>
        <p:nvSpPr>
          <p:cNvPr id="13" name="Gmail circle"/>
          <p:cNvSpPr/>
          <p:nvPr/>
        </p:nvSpPr>
        <p:spPr>
          <a:xfrm>
            <a:off x="1143000" y="2670048"/>
            <a:ext cx="457200" cy="457200"/>
          </a:xfrm>
          <a:prstGeom prst="ellipse">
            <a:avLst/>
          </a:prstGeom>
          <a:solidFill>
            <a:srgbClr val="166534"/>
          </a:solidFill>
          <a:ln/>
        </p:spPr>
      </p:sp>
      <p:pic>
        <p:nvPicPr>
          <p:cNvPr id="14" name="Gmail icon" descr="Gmail">    </p:cNvPr>
          <p:cNvPicPr>
            <a:picLocks noChangeAspect="1"/>
          </p:cNvPicPr>
          <p:nvPr/>
        </p:nvPicPr>
        <p:blipFill>
          <a:blip r:embed="rId3"/>
          <a:stretch>
            <a:fillRect/>
          </a:stretch>
        </p:blipFill>
        <p:spPr>
          <a:xfrm>
            <a:off x="1257300" y="2784348"/>
            <a:ext cx="228600" cy="228600"/>
          </a:xfrm>
          <a:prstGeom prst="rect">
            <a:avLst/>
          </a:prstGeom>
        </p:spPr>
      </p:pic>
      <p:sp>
        <p:nvSpPr>
          <p:cNvPr id="15" name="Text 10"/>
          <p:cNvSpPr txBox="1"/>
          <p:nvPr/>
        </p:nvSpPr>
        <p:spPr>
          <a:xfrm>
            <a:off x="1737360" y="2615184"/>
            <a:ext cx="1280160" cy="566928"/>
          </a:xfrm>
          <a:prstGeom prst="rect">
            <a:avLst/>
          </a:prstGeom>
          <a:noFill/>
          <a:ln/>
        </p:spPr>
        <p:txBody>
          <a:bodyPr wrap="square" lIns="0" tIns="0" rIns="0" bIns="0" rtlCol="0" anchor="ctr"/>
          <a:lstStyle/>
          <a:p>
            <a:pPr indent="0" marL="0">
              <a:buNone/>
            </a:pPr>
            <a:r>
              <a:rPr lang="en-US" sz="1700" b="1" dirty="0">
                <a:solidFill>
                  <a:schemeClr val="bg1"/>
                </a:solidFill>
              </a:rPr>
              <a:t>Gmail</a:t>
            </a:r>
            <a:endParaRPr lang="en-US" sz="1700" dirty="0"/>
          </a:p>
        </p:txBody>
      </p:sp>
      <p:sp>
        <p:nvSpPr>
          <p:cNvPr id="16" name="Gmail track"/>
          <p:cNvSpPr/>
          <p:nvPr/>
        </p:nvSpPr>
        <p:spPr>
          <a:xfrm>
            <a:off x="3063240" y="2770632"/>
            <a:ext cx="3291840" cy="256032"/>
          </a:xfrm>
          <a:prstGeom prst="rect">
            <a:avLst/>
          </a:prstGeom>
          <a:solidFill>
            <a:srgbClr val="FFFFFF">
              <a:alpha val="12000"/>
            </a:srgbClr>
          </a:solidFill>
          <a:ln/>
        </p:spPr>
      </p:sp>
      <p:sp>
        <p:nvSpPr>
          <p:cNvPr id="17" name="Gmail bar"/>
          <p:cNvSpPr/>
          <p:nvPr/>
        </p:nvSpPr>
        <p:spPr>
          <a:xfrm>
            <a:off x="3063240" y="2770632"/>
            <a:ext cx="2633472" cy="256032"/>
          </a:xfrm>
          <a:prstGeom prst="rect">
            <a:avLst/>
          </a:prstGeom>
          <a:solidFill>
            <a:srgbClr val="3FA568"/>
          </a:solidFill>
          <a:ln/>
        </p:spPr>
      </p:sp>
      <p:sp>
        <p:nvSpPr>
          <p:cNvPr id="18" name="Text 13"/>
          <p:cNvSpPr txBox="1"/>
          <p:nvPr/>
        </p:nvSpPr>
        <p:spPr>
          <a:xfrm>
            <a:off x="5806440" y="2615184"/>
            <a:ext cx="1783080" cy="566928"/>
          </a:xfrm>
          <a:prstGeom prst="rect">
            <a:avLst/>
          </a:prstGeom>
          <a:noFill/>
          <a:ln/>
        </p:spPr>
        <p:txBody>
          <a:bodyPr wrap="square" lIns="0" tIns="0" rIns="0" bIns="0" rtlCol="0" anchor="ctr"/>
          <a:lstStyle/>
          <a:p>
            <a:pPr indent="0" marL="0">
              <a:buNone/>
            </a:pPr>
            <a:r>
              <a:rPr lang="en-US" sz="1100" b="1" dirty="0">
                <a:solidFill>
                  <a:srgbClr val="8FD6A8"/>
                </a:solidFill>
                <a:latin typeface="Courier New" pitchFamily="34" charset="0"/>
                <a:ea typeface="Courier New" pitchFamily="34" charset="-122"/>
                <a:cs typeface="Courier New" pitchFamily="34" charset="-120"/>
              </a:rPr>
              <a:t>20/25 · NOT GUILTY</a:t>
            </a:r>
            <a:endParaRPr lang="en-US" sz="1100" dirty="0"/>
          </a:p>
        </p:txBody>
      </p:sp>
      <p:sp>
        <p:nvSpPr>
          <p:cNvPr id="19" name="Text 14"/>
          <p:cNvSpPr txBox="1"/>
          <p:nvPr/>
        </p:nvSpPr>
        <p:spPr>
          <a:xfrm>
            <a:off x="594360" y="3401568"/>
            <a:ext cx="502920" cy="566928"/>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03</a:t>
            </a:r>
            <a:endParaRPr lang="en-US" sz="1800" dirty="0"/>
          </a:p>
        </p:txBody>
      </p:sp>
      <p:sp>
        <p:nvSpPr>
          <p:cNvPr id="20" name="Facebook circle"/>
          <p:cNvSpPr/>
          <p:nvPr/>
        </p:nvSpPr>
        <p:spPr>
          <a:xfrm>
            <a:off x="1143000" y="3456432"/>
            <a:ext cx="457200" cy="457200"/>
          </a:xfrm>
          <a:prstGeom prst="ellipse">
            <a:avLst/>
          </a:prstGeom>
          <a:solidFill>
            <a:srgbClr val="8B1E1E"/>
          </a:solidFill>
          <a:ln/>
        </p:spPr>
      </p:sp>
      <p:pic>
        <p:nvPicPr>
          <p:cNvPr id="21" name="Facebook icon" descr="Facebook">    </p:cNvPr>
          <p:cNvPicPr>
            <a:picLocks noChangeAspect="1"/>
          </p:cNvPicPr>
          <p:nvPr/>
        </p:nvPicPr>
        <p:blipFill>
          <a:blip r:embed="rId4"/>
          <a:stretch>
            <a:fillRect/>
          </a:stretch>
        </p:blipFill>
        <p:spPr>
          <a:xfrm>
            <a:off x="1257300" y="3570732"/>
            <a:ext cx="228600" cy="228600"/>
          </a:xfrm>
          <a:prstGeom prst="rect">
            <a:avLst/>
          </a:prstGeom>
        </p:spPr>
      </p:pic>
      <p:sp>
        <p:nvSpPr>
          <p:cNvPr id="22" name="Text 16"/>
          <p:cNvSpPr txBox="1"/>
          <p:nvPr/>
        </p:nvSpPr>
        <p:spPr>
          <a:xfrm>
            <a:off x="1737360" y="3401568"/>
            <a:ext cx="1280160" cy="566928"/>
          </a:xfrm>
          <a:prstGeom prst="rect">
            <a:avLst/>
          </a:prstGeom>
          <a:noFill/>
          <a:ln/>
        </p:spPr>
        <p:txBody>
          <a:bodyPr wrap="square" lIns="0" tIns="0" rIns="0" bIns="0" rtlCol="0" anchor="ctr"/>
          <a:lstStyle/>
          <a:p>
            <a:pPr indent="0" marL="0">
              <a:buNone/>
            </a:pPr>
            <a:r>
              <a:rPr lang="en-US" sz="1700" b="1" dirty="0">
                <a:solidFill>
                  <a:schemeClr val="bg1"/>
                </a:solidFill>
              </a:rPr>
              <a:t>Facebook</a:t>
            </a:r>
            <a:endParaRPr lang="en-US" sz="1700" dirty="0"/>
          </a:p>
        </p:txBody>
      </p:sp>
      <p:sp>
        <p:nvSpPr>
          <p:cNvPr id="23" name="Facebook track"/>
          <p:cNvSpPr/>
          <p:nvPr/>
        </p:nvSpPr>
        <p:spPr>
          <a:xfrm>
            <a:off x="3063240" y="3557016"/>
            <a:ext cx="3291840" cy="256032"/>
          </a:xfrm>
          <a:prstGeom prst="rect">
            <a:avLst/>
          </a:prstGeom>
          <a:solidFill>
            <a:srgbClr val="FFFFFF">
              <a:alpha val="12000"/>
            </a:srgbClr>
          </a:solidFill>
          <a:ln/>
        </p:spPr>
      </p:sp>
      <p:sp>
        <p:nvSpPr>
          <p:cNvPr id="24" name="Facebook bar"/>
          <p:cNvSpPr/>
          <p:nvPr/>
        </p:nvSpPr>
        <p:spPr>
          <a:xfrm>
            <a:off x="3063240" y="3557016"/>
            <a:ext cx="2106778" cy="256032"/>
          </a:xfrm>
          <a:prstGeom prst="rect">
            <a:avLst/>
          </a:prstGeom>
          <a:solidFill>
            <a:srgbClr val="C0504D"/>
          </a:solidFill>
          <a:ln/>
        </p:spPr>
      </p:sp>
      <p:sp>
        <p:nvSpPr>
          <p:cNvPr id="25" name="Text 19"/>
          <p:cNvSpPr txBox="1"/>
          <p:nvPr/>
        </p:nvSpPr>
        <p:spPr>
          <a:xfrm>
            <a:off x="5279746" y="3401568"/>
            <a:ext cx="1783080" cy="566928"/>
          </a:xfrm>
          <a:prstGeom prst="rect">
            <a:avLst/>
          </a:prstGeom>
          <a:noFill/>
          <a:ln/>
        </p:spPr>
        <p:txBody>
          <a:bodyPr wrap="square" lIns="0" tIns="0" rIns="0" bIns="0" rtlCol="0" anchor="ctr"/>
          <a:lstStyle/>
          <a:p>
            <a:pPr indent="0" marL="0">
              <a:buNone/>
            </a:pPr>
            <a:r>
              <a:rPr lang="en-US" sz="1100" b="1" dirty="0">
                <a:solidFill>
                  <a:srgbClr val="F2A7A5"/>
                </a:solidFill>
                <a:latin typeface="Courier New" pitchFamily="34" charset="0"/>
                <a:ea typeface="Courier New" pitchFamily="34" charset="-122"/>
                <a:cs typeface="Courier New" pitchFamily="34" charset="-120"/>
              </a:rPr>
              <a:t>16/25 · GUILTY</a:t>
            </a:r>
            <a:endParaRPr lang="en-US" sz="1100" dirty="0"/>
          </a:p>
        </p:txBody>
      </p:sp>
      <p:sp>
        <p:nvSpPr>
          <p:cNvPr id="26" name="Text 20"/>
          <p:cNvSpPr txBox="1"/>
          <p:nvPr/>
        </p:nvSpPr>
        <p:spPr>
          <a:xfrm>
            <a:off x="594360" y="4187952"/>
            <a:ext cx="502920" cy="566928"/>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03</a:t>
            </a:r>
            <a:endParaRPr lang="en-US" sz="1800" dirty="0"/>
          </a:p>
        </p:txBody>
      </p:sp>
      <p:sp>
        <p:nvSpPr>
          <p:cNvPr id="27" name="Instagram circle"/>
          <p:cNvSpPr/>
          <p:nvPr/>
        </p:nvSpPr>
        <p:spPr>
          <a:xfrm>
            <a:off x="1143000" y="4242816"/>
            <a:ext cx="457200" cy="457200"/>
          </a:xfrm>
          <a:prstGeom prst="ellipse">
            <a:avLst/>
          </a:prstGeom>
          <a:solidFill>
            <a:srgbClr val="8B1E1E"/>
          </a:solidFill>
          <a:ln/>
        </p:spPr>
      </p:sp>
      <p:pic>
        <p:nvPicPr>
          <p:cNvPr id="28" name="Instagram icon" descr="Instagram">    </p:cNvPr>
          <p:cNvPicPr>
            <a:picLocks noChangeAspect="1"/>
          </p:cNvPicPr>
          <p:nvPr/>
        </p:nvPicPr>
        <p:blipFill>
          <a:blip r:embed="rId5"/>
          <a:stretch>
            <a:fillRect/>
          </a:stretch>
        </p:blipFill>
        <p:spPr>
          <a:xfrm>
            <a:off x="1257300" y="4357116"/>
            <a:ext cx="228600" cy="228600"/>
          </a:xfrm>
          <a:prstGeom prst="rect">
            <a:avLst/>
          </a:prstGeom>
        </p:spPr>
      </p:pic>
      <p:sp>
        <p:nvSpPr>
          <p:cNvPr id="29" name="Text 22"/>
          <p:cNvSpPr txBox="1"/>
          <p:nvPr/>
        </p:nvSpPr>
        <p:spPr>
          <a:xfrm>
            <a:off x="1737360" y="4187952"/>
            <a:ext cx="1280160" cy="566928"/>
          </a:xfrm>
          <a:prstGeom prst="rect">
            <a:avLst/>
          </a:prstGeom>
          <a:noFill/>
          <a:ln/>
        </p:spPr>
        <p:txBody>
          <a:bodyPr wrap="square" lIns="0" tIns="0" rIns="0" bIns="0" rtlCol="0" anchor="ctr"/>
          <a:lstStyle/>
          <a:p>
            <a:pPr indent="0" marL="0">
              <a:buNone/>
            </a:pPr>
            <a:r>
              <a:rPr lang="en-US" sz="1700" b="1" dirty="0">
                <a:solidFill>
                  <a:schemeClr val="bg1"/>
                </a:solidFill>
              </a:rPr>
              <a:t>Instagram</a:t>
            </a:r>
            <a:endParaRPr lang="en-US" sz="1700" dirty="0"/>
          </a:p>
        </p:txBody>
      </p:sp>
      <p:sp>
        <p:nvSpPr>
          <p:cNvPr id="30" name="Instagram track"/>
          <p:cNvSpPr/>
          <p:nvPr/>
        </p:nvSpPr>
        <p:spPr>
          <a:xfrm>
            <a:off x="3063240" y="4343400"/>
            <a:ext cx="3291840" cy="256032"/>
          </a:xfrm>
          <a:prstGeom prst="rect">
            <a:avLst/>
          </a:prstGeom>
          <a:solidFill>
            <a:srgbClr val="FFFFFF">
              <a:alpha val="12000"/>
            </a:srgbClr>
          </a:solidFill>
          <a:ln/>
        </p:spPr>
      </p:sp>
      <p:sp>
        <p:nvSpPr>
          <p:cNvPr id="31" name="Instagram bar"/>
          <p:cNvSpPr/>
          <p:nvPr/>
        </p:nvSpPr>
        <p:spPr>
          <a:xfrm>
            <a:off x="3063240" y="4343400"/>
            <a:ext cx="2106778" cy="256032"/>
          </a:xfrm>
          <a:prstGeom prst="rect">
            <a:avLst/>
          </a:prstGeom>
          <a:solidFill>
            <a:srgbClr val="C0504D"/>
          </a:solidFill>
          <a:ln/>
        </p:spPr>
      </p:sp>
      <p:sp>
        <p:nvSpPr>
          <p:cNvPr id="32" name="Text 25"/>
          <p:cNvSpPr txBox="1"/>
          <p:nvPr/>
        </p:nvSpPr>
        <p:spPr>
          <a:xfrm>
            <a:off x="5279746" y="4187952"/>
            <a:ext cx="1783080" cy="566928"/>
          </a:xfrm>
          <a:prstGeom prst="rect">
            <a:avLst/>
          </a:prstGeom>
          <a:noFill/>
          <a:ln/>
        </p:spPr>
        <p:txBody>
          <a:bodyPr wrap="square" lIns="0" tIns="0" rIns="0" bIns="0" rtlCol="0" anchor="ctr"/>
          <a:lstStyle/>
          <a:p>
            <a:pPr indent="0" marL="0">
              <a:buNone/>
            </a:pPr>
            <a:r>
              <a:rPr lang="en-US" sz="1100" b="1" dirty="0">
                <a:solidFill>
                  <a:srgbClr val="F2A7A5"/>
                </a:solidFill>
                <a:latin typeface="Courier New" pitchFamily="34" charset="0"/>
                <a:ea typeface="Courier New" pitchFamily="34" charset="-122"/>
                <a:cs typeface="Courier New" pitchFamily="34" charset="-120"/>
              </a:rPr>
              <a:t>16/25 · GUILTY</a:t>
            </a:r>
            <a:endParaRPr lang="en-US" sz="1100" dirty="0"/>
          </a:p>
        </p:txBody>
      </p:sp>
      <p:sp>
        <p:nvSpPr>
          <p:cNvPr id="33" name="Text 26"/>
          <p:cNvSpPr txBox="1"/>
          <p:nvPr/>
        </p:nvSpPr>
        <p:spPr>
          <a:xfrm>
            <a:off x="594360" y="4974336"/>
            <a:ext cx="502920" cy="566928"/>
          </a:xfrm>
          <a:prstGeom prst="rect">
            <a:avLst/>
          </a:prstGeom>
          <a:noFill/>
          <a:ln/>
        </p:spPr>
        <p:txBody>
          <a:bodyPr wrap="square" lIns="0" tIns="0" rIns="0" bIns="0" rtlCol="0" anchor="ctr"/>
          <a:lstStyle/>
          <a:p>
            <a:pPr indent="0" marL="0">
              <a:buNone/>
            </a:pPr>
            <a:r>
              <a:rPr lang="en-US" sz="1800" b="1" dirty="0">
                <a:solidFill>
                  <a:schemeClr val="accent6"/>
                </a:solidFill>
                <a:latin typeface="Courier New" pitchFamily="34" charset="0"/>
                <a:ea typeface="Courier New" pitchFamily="34" charset="-122"/>
                <a:cs typeface="Courier New" pitchFamily="34" charset="-120"/>
              </a:rPr>
              <a:t>05</a:t>
            </a:r>
            <a:endParaRPr lang="en-US" sz="1800" dirty="0"/>
          </a:p>
        </p:txBody>
      </p:sp>
      <p:sp>
        <p:nvSpPr>
          <p:cNvPr id="34" name="Telegram circle"/>
          <p:cNvSpPr/>
          <p:nvPr/>
        </p:nvSpPr>
        <p:spPr>
          <a:xfrm>
            <a:off x="1143000" y="5029200"/>
            <a:ext cx="457200" cy="457200"/>
          </a:xfrm>
          <a:prstGeom prst="ellipse">
            <a:avLst/>
          </a:prstGeom>
          <a:solidFill>
            <a:srgbClr val="8B1E1E"/>
          </a:solidFill>
          <a:ln/>
        </p:spPr>
      </p:sp>
      <p:pic>
        <p:nvPicPr>
          <p:cNvPr id="35" name="Telegram icon" descr="Telegram">    </p:cNvPr>
          <p:cNvPicPr>
            <a:picLocks noChangeAspect="1"/>
          </p:cNvPicPr>
          <p:nvPr/>
        </p:nvPicPr>
        <p:blipFill>
          <a:blip r:embed="rId6"/>
          <a:stretch>
            <a:fillRect/>
          </a:stretch>
        </p:blipFill>
        <p:spPr>
          <a:xfrm>
            <a:off x="1257300" y="5143500"/>
            <a:ext cx="228600" cy="228600"/>
          </a:xfrm>
          <a:prstGeom prst="rect">
            <a:avLst/>
          </a:prstGeom>
        </p:spPr>
      </p:pic>
      <p:sp>
        <p:nvSpPr>
          <p:cNvPr id="36" name="Text 28"/>
          <p:cNvSpPr txBox="1"/>
          <p:nvPr/>
        </p:nvSpPr>
        <p:spPr>
          <a:xfrm>
            <a:off x="1737360" y="4974336"/>
            <a:ext cx="1280160" cy="566928"/>
          </a:xfrm>
          <a:prstGeom prst="rect">
            <a:avLst/>
          </a:prstGeom>
          <a:noFill/>
          <a:ln/>
        </p:spPr>
        <p:txBody>
          <a:bodyPr wrap="square" lIns="0" tIns="0" rIns="0" bIns="0" rtlCol="0" anchor="ctr"/>
          <a:lstStyle/>
          <a:p>
            <a:pPr indent="0" marL="0">
              <a:buNone/>
            </a:pPr>
            <a:r>
              <a:rPr lang="en-US" sz="1700" b="1" dirty="0">
                <a:solidFill>
                  <a:schemeClr val="bg1"/>
                </a:solidFill>
              </a:rPr>
              <a:t>Telegram</a:t>
            </a:r>
            <a:endParaRPr lang="en-US" sz="1700" dirty="0"/>
          </a:p>
        </p:txBody>
      </p:sp>
      <p:sp>
        <p:nvSpPr>
          <p:cNvPr id="37" name="Telegram track"/>
          <p:cNvSpPr/>
          <p:nvPr/>
        </p:nvSpPr>
        <p:spPr>
          <a:xfrm>
            <a:off x="3063240" y="5129784"/>
            <a:ext cx="3291840" cy="256032"/>
          </a:xfrm>
          <a:prstGeom prst="rect">
            <a:avLst/>
          </a:prstGeom>
          <a:solidFill>
            <a:srgbClr val="FFFFFF">
              <a:alpha val="12000"/>
            </a:srgbClr>
          </a:solidFill>
          <a:ln/>
        </p:spPr>
      </p:sp>
      <p:sp>
        <p:nvSpPr>
          <p:cNvPr id="38" name="Telegram bar"/>
          <p:cNvSpPr/>
          <p:nvPr/>
        </p:nvSpPr>
        <p:spPr>
          <a:xfrm>
            <a:off x="3063240" y="5129784"/>
            <a:ext cx="1843430" cy="256032"/>
          </a:xfrm>
          <a:prstGeom prst="rect">
            <a:avLst/>
          </a:prstGeom>
          <a:solidFill>
            <a:srgbClr val="C0504D"/>
          </a:solidFill>
          <a:ln/>
        </p:spPr>
      </p:sp>
      <p:sp>
        <p:nvSpPr>
          <p:cNvPr id="39" name="Text 31"/>
          <p:cNvSpPr txBox="1"/>
          <p:nvPr/>
        </p:nvSpPr>
        <p:spPr>
          <a:xfrm>
            <a:off x="5016398" y="4974336"/>
            <a:ext cx="1783080" cy="566928"/>
          </a:xfrm>
          <a:prstGeom prst="rect">
            <a:avLst/>
          </a:prstGeom>
          <a:noFill/>
          <a:ln/>
        </p:spPr>
        <p:txBody>
          <a:bodyPr wrap="square" lIns="0" tIns="0" rIns="0" bIns="0" rtlCol="0" anchor="ctr"/>
          <a:lstStyle/>
          <a:p>
            <a:pPr indent="0" marL="0">
              <a:buNone/>
            </a:pPr>
            <a:r>
              <a:rPr lang="en-US" sz="1100" b="1" dirty="0">
                <a:solidFill>
                  <a:srgbClr val="F2A7A5"/>
                </a:solidFill>
                <a:latin typeface="Courier New" pitchFamily="34" charset="0"/>
                <a:ea typeface="Courier New" pitchFamily="34" charset="-122"/>
                <a:cs typeface="Courier New" pitchFamily="34" charset="-120"/>
              </a:rPr>
              <a:t>14/25 · GUILTY</a:t>
            </a:r>
            <a:endParaRPr lang="en-US" sz="1100" dirty="0"/>
          </a:p>
        </p:txBody>
      </p:sp>
      <p:sp>
        <p:nvSpPr>
          <p:cNvPr id="40" name="ruling 1"/>
          <p:cNvSpPr/>
          <p:nvPr/>
        </p:nvSpPr>
        <p:spPr>
          <a:xfrm>
            <a:off x="8001000" y="1828800"/>
            <a:ext cx="3596335" cy="1188720"/>
          </a:xfrm>
          <a:prstGeom prst="rect">
            <a:avLst/>
          </a:prstGeom>
          <a:solidFill>
            <a:srgbClr val="FFFFFF">
              <a:alpha val="8000"/>
            </a:srgbClr>
          </a:solidFill>
          <a:ln w="9525">
            <a:solidFill>
              <a:srgbClr val="E2B85A"/>
            </a:solidFill>
            <a:prstDash val="solid"/>
          </a:ln>
        </p:spPr>
      </p:sp>
      <p:sp>
        <p:nvSpPr>
          <p:cNvPr id="41" name="Text 33"/>
          <p:cNvSpPr txBox="1"/>
          <p:nvPr/>
        </p:nvSpPr>
        <p:spPr>
          <a:xfrm>
            <a:off x="8183880" y="1938528"/>
            <a:ext cx="3230575" cy="320040"/>
          </a:xfrm>
          <a:prstGeom prst="rect">
            <a:avLst/>
          </a:prstGeom>
          <a:noFill/>
          <a:ln/>
        </p:spPr>
        <p:txBody>
          <a:bodyPr wrap="square" lIns="0" tIns="0" rIns="0" bIns="0" rtlCol="0" anchor="ctr"/>
          <a:lstStyle/>
          <a:p>
            <a:pPr indent="0" marL="0">
              <a:buNone/>
            </a:pPr>
            <a:r>
              <a:rPr lang="en-US" sz="1300" b="1" dirty="0">
                <a:solidFill>
                  <a:schemeClr val="accent6"/>
                </a:solidFill>
                <a:latin typeface="Courier New" pitchFamily="34" charset="0"/>
                <a:ea typeface="Courier New" pitchFamily="34" charset="-122"/>
                <a:cs typeface="Courier New" pitchFamily="34" charset="-120"/>
              </a:rPr>
              <a:t>MOST SECURE: WHATSAPP</a:t>
            </a:r>
            <a:endParaRPr lang="en-US" sz="1300" dirty="0"/>
          </a:p>
        </p:txBody>
      </p:sp>
      <p:sp>
        <p:nvSpPr>
          <p:cNvPr id="42" name="Text 34"/>
          <p:cNvSpPr txBox="1"/>
          <p:nvPr/>
        </p:nvSpPr>
        <p:spPr>
          <a:xfrm>
            <a:off x="8183880" y="2286000"/>
            <a:ext cx="3230575" cy="658368"/>
          </a:xfrm>
          <a:prstGeom prst="rect">
            <a:avLst/>
          </a:prstGeom>
          <a:noFill/>
          <a:ln/>
        </p:spPr>
        <p:txBody>
          <a:bodyPr wrap="square" lIns="0" tIns="0" rIns="0" bIns="0" rtlCol="0" anchor="t"/>
          <a:lstStyle/>
          <a:p>
            <a:pPr indent="0" marL="0">
              <a:buNone/>
            </a:pPr>
            <a:r>
              <a:rPr lang="en-US" sz="1400" dirty="0">
                <a:solidFill>
                  <a:srgbClr val="E7E0D6"/>
                </a:solidFill>
              </a:rPr>
              <a:t>Its strongest lock, end-to-end encryption, works from installation with no setup.</a:t>
            </a:r>
            <a:endParaRPr lang="en-US" sz="1400" dirty="0"/>
          </a:p>
        </p:txBody>
      </p:sp>
      <p:sp>
        <p:nvSpPr>
          <p:cNvPr id="43" name="ruling 2"/>
          <p:cNvSpPr/>
          <p:nvPr/>
        </p:nvSpPr>
        <p:spPr>
          <a:xfrm>
            <a:off x="8001000" y="3200400"/>
            <a:ext cx="3596335" cy="1188720"/>
          </a:xfrm>
          <a:prstGeom prst="rect">
            <a:avLst/>
          </a:prstGeom>
          <a:solidFill>
            <a:srgbClr val="FFFFFF">
              <a:alpha val="8000"/>
            </a:srgbClr>
          </a:solidFill>
          <a:ln w="9525">
            <a:solidFill>
              <a:srgbClr val="E2B85A"/>
            </a:solidFill>
            <a:prstDash val="solid"/>
          </a:ln>
        </p:spPr>
      </p:sp>
      <p:sp>
        <p:nvSpPr>
          <p:cNvPr id="44" name="Text 36"/>
          <p:cNvSpPr txBox="1"/>
          <p:nvPr/>
        </p:nvSpPr>
        <p:spPr>
          <a:xfrm>
            <a:off x="8183880" y="3310128"/>
            <a:ext cx="3230575" cy="320040"/>
          </a:xfrm>
          <a:prstGeom prst="rect">
            <a:avLst/>
          </a:prstGeom>
          <a:noFill/>
          <a:ln/>
        </p:spPr>
        <p:txBody>
          <a:bodyPr wrap="square" lIns="0" tIns="0" rIns="0" bIns="0" rtlCol="0" anchor="ctr"/>
          <a:lstStyle/>
          <a:p>
            <a:pPr indent="0" marL="0">
              <a:buNone/>
            </a:pPr>
            <a:r>
              <a:rPr lang="en-US" sz="1300" b="1" dirty="0">
                <a:solidFill>
                  <a:schemeClr val="accent6"/>
                </a:solidFill>
                <a:latin typeface="Courier New" pitchFamily="34" charset="0"/>
                <a:ea typeface="Courier New" pitchFamily="34" charset="-122"/>
                <a:cs typeface="Courier New" pitchFamily="34" charset="-120"/>
              </a:rPr>
              <a:t>GUARD IT HARDEST: GMAIL</a:t>
            </a:r>
            <a:endParaRPr lang="en-US" sz="1300" dirty="0"/>
          </a:p>
        </p:txBody>
      </p:sp>
      <p:sp>
        <p:nvSpPr>
          <p:cNvPr id="45" name="Text 37"/>
          <p:cNvSpPr txBox="1"/>
          <p:nvPr/>
        </p:nvSpPr>
        <p:spPr>
          <a:xfrm>
            <a:off x="8183880" y="3657600"/>
            <a:ext cx="3230575" cy="658368"/>
          </a:xfrm>
          <a:prstGeom prst="rect">
            <a:avLst/>
          </a:prstGeom>
          <a:noFill/>
          <a:ln/>
        </p:spPr>
        <p:txBody>
          <a:bodyPr wrap="square" lIns="0" tIns="0" rIns="0" bIns="0" rtlCol="0" anchor="t"/>
          <a:lstStyle/>
          <a:p>
            <a:pPr indent="0" marL="0">
              <a:buNone/>
            </a:pPr>
            <a:r>
              <a:rPr lang="en-US" sz="1400" dirty="0">
                <a:solidFill>
                  <a:srgbClr val="E7E0D6"/>
                </a:solidFill>
              </a:rPr>
              <a:t>Best login protection, and the master key to every other account.</a:t>
            </a:r>
            <a:endParaRPr lang="en-US" sz="1400" dirty="0"/>
          </a:p>
        </p:txBody>
      </p:sp>
      <p:sp>
        <p:nvSpPr>
          <p:cNvPr id="46" name="ruling 3"/>
          <p:cNvSpPr/>
          <p:nvPr/>
        </p:nvSpPr>
        <p:spPr>
          <a:xfrm>
            <a:off x="8001000" y="4572000"/>
            <a:ext cx="3596335" cy="1188720"/>
          </a:xfrm>
          <a:prstGeom prst="rect">
            <a:avLst/>
          </a:prstGeom>
          <a:solidFill>
            <a:srgbClr val="FFFFFF">
              <a:alpha val="8000"/>
            </a:srgbClr>
          </a:solidFill>
          <a:ln w="9525">
            <a:solidFill>
              <a:srgbClr val="E2B85A"/>
            </a:solidFill>
            <a:prstDash val="solid"/>
          </a:ln>
        </p:spPr>
      </p:sp>
      <p:sp>
        <p:nvSpPr>
          <p:cNvPr id="47" name="Text 39"/>
          <p:cNvSpPr txBox="1"/>
          <p:nvPr/>
        </p:nvSpPr>
        <p:spPr>
          <a:xfrm>
            <a:off x="8183880" y="4681728"/>
            <a:ext cx="3230575" cy="320040"/>
          </a:xfrm>
          <a:prstGeom prst="rect">
            <a:avLst/>
          </a:prstGeom>
          <a:noFill/>
          <a:ln/>
        </p:spPr>
        <p:txBody>
          <a:bodyPr wrap="square" lIns="0" tIns="0" rIns="0" bIns="0" rtlCol="0" anchor="ctr"/>
          <a:lstStyle/>
          <a:p>
            <a:pPr indent="0" marL="0">
              <a:buNone/>
            </a:pPr>
            <a:r>
              <a:rPr lang="en-US" sz="1300" b="1" dirty="0">
                <a:solidFill>
                  <a:schemeClr val="accent6"/>
                </a:solidFill>
                <a:latin typeface="Courier New" pitchFamily="34" charset="0"/>
                <a:ea typeface="Courier New" pitchFamily="34" charset="-122"/>
                <a:cs typeface="Courier New" pitchFamily="34" charset="-120"/>
              </a:rPr>
              <a:t>LEAST SECURE: TELEGRAM</a:t>
            </a:r>
            <a:endParaRPr lang="en-US" sz="1300" dirty="0"/>
          </a:p>
        </p:txBody>
      </p:sp>
      <p:sp>
        <p:nvSpPr>
          <p:cNvPr id="48" name="Text 40"/>
          <p:cNvSpPr txBox="1"/>
          <p:nvPr/>
        </p:nvSpPr>
        <p:spPr>
          <a:xfrm>
            <a:off x="8183880" y="5029200"/>
            <a:ext cx="3230575" cy="658368"/>
          </a:xfrm>
          <a:prstGeom prst="rect">
            <a:avLst/>
          </a:prstGeom>
          <a:noFill/>
          <a:ln/>
        </p:spPr>
        <p:txBody>
          <a:bodyPr wrap="square" lIns="0" tIns="0" rIns="0" bIns="0" rtlCol="0" anchor="t"/>
          <a:lstStyle/>
          <a:p>
            <a:pPr indent="0" marL="0">
              <a:buNone/>
            </a:pPr>
            <a:r>
              <a:rPr lang="en-US" sz="1400" dirty="0">
                <a:solidFill>
                  <a:srgbClr val="E7E0D6"/>
                </a:solidFill>
              </a:rPr>
              <a:t>Its privacy reputation is stronger than its defaults.</a:t>
            </a:r>
            <a:endParaRPr lang="en-US" sz="1400" dirty="0"/>
          </a:p>
        </p:txBody>
      </p:sp>
      <p:sp>
        <p:nvSpPr>
          <p:cNvPr id="49" name="Text 41"/>
          <p:cNvSpPr txBox="1"/>
          <p:nvPr/>
        </p:nvSpPr>
        <p:spPr>
          <a:xfrm>
            <a:off x="594360" y="5989320"/>
            <a:ext cx="11002975" cy="228600"/>
          </a:xfrm>
          <a:prstGeom prst="rect">
            <a:avLst/>
          </a:prstGeom>
          <a:noFill/>
          <a:ln/>
        </p:spPr>
        <p:txBody>
          <a:bodyPr wrap="square" lIns="0" tIns="0" rIns="0" bIns="0" rtlCol="0" anchor="ctr"/>
          <a:lstStyle/>
          <a:p>
            <a:pPr indent="0" marL="0">
              <a:buNone/>
            </a:pPr>
            <a:r>
              <a:rPr lang="en-US" sz="1000" i="1" dirty="0">
                <a:solidFill>
                  <a:srgbClr val="B8AFA6"/>
                </a:solidFill>
              </a:rPr>
              <a:t>Scores reflect the group’s assessment of default and available settings, October 2026.</a:t>
            </a:r>
            <a:endParaRPr lang="en-US" sz="1000" dirty="0"/>
          </a:p>
        </p:txBody>
      </p:sp>
      <p:sp>
        <p:nvSpPr>
          <p:cNvPr id="51" name="Text 0"/>
          <p:cNvSpPr/>
          <p:nvPr>
            <p:ph idx="100" type="title" hasCustomPrompt="1"/>
          </p:nvPr>
        </p:nvSpPr>
        <p:spPr>
          <a:xfrm>
            <a:off x="594360" y="1828800"/>
            <a:ext cx="7498080" cy="1737360"/>
          </a:xfrm>
          <a:prstGeom prst="rect">
            <a:avLst/>
          </a:prstGeom>
          <a:noFill/>
          <a:ln/>
        </p:spPr>
        <p:txBody>
          <a:bodyPr wrap="square" lIns="0" tIns="0" rIns="0" bIns="0" rtlCol="0" anchor="b"/>
          <a:lstStyle/>
          <a:p>
            <a:pPr algn="l" indent="0" marL="0">
              <a:buNone/>
            </a:pPr>
            <a:endParaRPr lang="en-US" sz="5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502920"/>
            <a:ext cx="11002975" cy="274320"/>
          </a:xfrm>
          <a:prstGeom prst="rect">
            <a:avLst/>
          </a:prstGeom>
          <a:noFill/>
          <a:ln/>
        </p:spPr>
        <p:txBody>
          <a:bodyPr wrap="square" lIns="0" tIns="0" rIns="0" bIns="0" rtlCol="0" anchor="ctr"/>
          <a:lstStyle/>
          <a:p>
            <a:pPr indent="0" marL="0">
              <a:buNone/>
            </a:pPr>
            <a:r>
              <a:rPr lang="en-US" sz="1300" b="1" spc="200" kern="0" dirty="0">
                <a:solidFill>
                  <a:schemeClr val="accent6"/>
                </a:solidFill>
                <a:latin typeface="Courier New" pitchFamily="34" charset="0"/>
                <a:ea typeface="Courier New" pitchFamily="34" charset="-122"/>
                <a:cs typeface="Courier New" pitchFamily="34" charset="-120"/>
              </a:rPr>
              <a:t>ORDERS OF THE COURT  ·  EFFECTIVE TONIGHT</a:t>
            </a:r>
            <a:endParaRPr lang="en-US" sz="1300" dirty="0"/>
          </a:p>
        </p:txBody>
      </p:sp>
      <p:sp>
        <p:nvSpPr>
          <p:cNvPr id="3" name="Text 1"/>
          <p:cNvSpPr txBox="1"/>
          <p:nvPr/>
        </p:nvSpPr>
        <p:spPr>
          <a:xfrm>
            <a:off x="594360" y="868680"/>
            <a:ext cx="11002975" cy="73152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The most secure app is the one you set up</a:t>
            </a:r>
            <a:endParaRPr lang="en-US" sz="3600" dirty="0"/>
          </a:p>
        </p:txBody>
      </p:sp>
      <p:sp>
        <p:nvSpPr>
          <p:cNvPr id="4" name="order 1"/>
          <p:cNvSpPr/>
          <p:nvPr/>
        </p:nvSpPr>
        <p:spPr>
          <a:xfrm>
            <a:off x="594360" y="2011680"/>
            <a:ext cx="2057400" cy="2651760"/>
          </a:xfrm>
          <a:prstGeom prst="rect">
            <a:avLst/>
          </a:prstGeom>
          <a:solidFill>
            <a:srgbClr val="FFFFFF">
              <a:alpha val="7000"/>
            </a:srgbClr>
          </a:solidFill>
          <a:ln w="9525">
            <a:solidFill>
              <a:srgbClr val="E2B85A"/>
            </a:solidFill>
            <a:prstDash val="solid"/>
          </a:ln>
        </p:spPr>
      </p:sp>
      <p:sp>
        <p:nvSpPr>
          <p:cNvPr id="5" name="Text 3"/>
          <p:cNvSpPr txBox="1"/>
          <p:nvPr/>
        </p:nvSpPr>
        <p:spPr>
          <a:xfrm>
            <a:off x="795528" y="2212848"/>
            <a:ext cx="1655064" cy="274320"/>
          </a:xfrm>
          <a:prstGeom prst="rect">
            <a:avLst/>
          </a:prstGeom>
          <a:noFill/>
          <a:ln/>
        </p:spPr>
        <p:txBody>
          <a:bodyPr wrap="square" lIns="0" tIns="0" rIns="0" bIns="0" rtlCol="0" anchor="ctr"/>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COURT ORDER</a:t>
            </a:r>
            <a:endParaRPr lang="en-US" sz="1200" dirty="0"/>
          </a:p>
        </p:txBody>
      </p:sp>
      <p:sp>
        <p:nvSpPr>
          <p:cNvPr id="6" name="Text 4"/>
          <p:cNvSpPr txBox="1"/>
          <p:nvPr/>
        </p:nvSpPr>
        <p:spPr>
          <a:xfrm>
            <a:off x="795528" y="2514600"/>
            <a:ext cx="91440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1</a:t>
            </a:r>
            <a:endParaRPr lang="en-US" sz="4400" dirty="0"/>
          </a:p>
        </p:txBody>
      </p:sp>
      <p:sp>
        <p:nvSpPr>
          <p:cNvPr id="7" name="Text 5"/>
          <p:cNvSpPr txBox="1"/>
          <p:nvPr/>
        </p:nvSpPr>
        <p:spPr>
          <a:xfrm>
            <a:off x="795528" y="3291840"/>
            <a:ext cx="1655064" cy="1280160"/>
          </a:xfrm>
          <a:prstGeom prst="rect">
            <a:avLst/>
          </a:prstGeom>
          <a:noFill/>
          <a:ln/>
        </p:spPr>
        <p:txBody>
          <a:bodyPr wrap="square" lIns="0" tIns="0" rIns="0" bIns="0" rtlCol="0" anchor="t"/>
          <a:lstStyle/>
          <a:p>
            <a:pPr indent="0" marL="0">
              <a:buNone/>
            </a:pPr>
            <a:r>
              <a:rPr lang="en-US" sz="1500" dirty="0">
                <a:solidFill>
                  <a:schemeClr val="bg1"/>
                </a:solidFill>
              </a:rPr>
              <a:t>Enable two-factor authentication or a passkey on every account</a:t>
            </a:r>
            <a:endParaRPr lang="en-US" sz="1500" dirty="0"/>
          </a:p>
        </p:txBody>
      </p:sp>
      <p:sp>
        <p:nvSpPr>
          <p:cNvPr id="8" name="order 2"/>
          <p:cNvSpPr/>
          <p:nvPr/>
        </p:nvSpPr>
        <p:spPr>
          <a:xfrm>
            <a:off x="2830754" y="2011680"/>
            <a:ext cx="2057400" cy="2651760"/>
          </a:xfrm>
          <a:prstGeom prst="rect">
            <a:avLst/>
          </a:prstGeom>
          <a:solidFill>
            <a:srgbClr val="FFFFFF">
              <a:alpha val="7000"/>
            </a:srgbClr>
          </a:solidFill>
          <a:ln w="9525">
            <a:solidFill>
              <a:srgbClr val="E2B85A"/>
            </a:solidFill>
            <a:prstDash val="solid"/>
          </a:ln>
        </p:spPr>
      </p:sp>
      <p:sp>
        <p:nvSpPr>
          <p:cNvPr id="9" name="Text 7"/>
          <p:cNvSpPr txBox="1"/>
          <p:nvPr/>
        </p:nvSpPr>
        <p:spPr>
          <a:xfrm>
            <a:off x="3031922" y="2212848"/>
            <a:ext cx="1655064" cy="274320"/>
          </a:xfrm>
          <a:prstGeom prst="rect">
            <a:avLst/>
          </a:prstGeom>
          <a:noFill/>
          <a:ln/>
        </p:spPr>
        <p:txBody>
          <a:bodyPr wrap="square" lIns="0" tIns="0" rIns="0" bIns="0" rtlCol="0" anchor="ctr"/>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COURT ORDER</a:t>
            </a:r>
            <a:endParaRPr lang="en-US" sz="1200" dirty="0"/>
          </a:p>
        </p:txBody>
      </p:sp>
      <p:sp>
        <p:nvSpPr>
          <p:cNvPr id="10" name="Text 8"/>
          <p:cNvSpPr txBox="1"/>
          <p:nvPr/>
        </p:nvSpPr>
        <p:spPr>
          <a:xfrm>
            <a:off x="3031922" y="2514600"/>
            <a:ext cx="91440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2</a:t>
            </a:r>
            <a:endParaRPr lang="en-US" sz="4400" dirty="0"/>
          </a:p>
        </p:txBody>
      </p:sp>
      <p:sp>
        <p:nvSpPr>
          <p:cNvPr id="11" name="Text 9"/>
          <p:cNvSpPr txBox="1"/>
          <p:nvPr/>
        </p:nvSpPr>
        <p:spPr>
          <a:xfrm>
            <a:off x="3031922" y="3291840"/>
            <a:ext cx="1655064" cy="1280160"/>
          </a:xfrm>
          <a:prstGeom prst="rect">
            <a:avLst/>
          </a:prstGeom>
          <a:noFill/>
          <a:ln/>
        </p:spPr>
        <p:txBody>
          <a:bodyPr wrap="square" lIns="0" tIns="0" rIns="0" bIns="0" rtlCol="0" anchor="t"/>
          <a:lstStyle/>
          <a:p>
            <a:pPr indent="0" marL="0">
              <a:buNone/>
            </a:pPr>
            <a:r>
              <a:rPr lang="en-US" sz="1500" dirty="0">
                <a:solidFill>
                  <a:schemeClr val="bg1"/>
                </a:solidFill>
              </a:rPr>
              <a:t>Set a two-step verification PIN on WhatsApp</a:t>
            </a:r>
            <a:endParaRPr lang="en-US" sz="1500" dirty="0"/>
          </a:p>
        </p:txBody>
      </p:sp>
      <p:sp>
        <p:nvSpPr>
          <p:cNvPr id="12" name="order 3"/>
          <p:cNvSpPr/>
          <p:nvPr/>
        </p:nvSpPr>
        <p:spPr>
          <a:xfrm>
            <a:off x="5067148" y="2011680"/>
            <a:ext cx="2057400" cy="2651760"/>
          </a:xfrm>
          <a:prstGeom prst="rect">
            <a:avLst/>
          </a:prstGeom>
          <a:solidFill>
            <a:srgbClr val="FFFFFF">
              <a:alpha val="7000"/>
            </a:srgbClr>
          </a:solidFill>
          <a:ln w="9525">
            <a:solidFill>
              <a:srgbClr val="E2B85A"/>
            </a:solidFill>
            <a:prstDash val="solid"/>
          </a:ln>
        </p:spPr>
      </p:sp>
      <p:sp>
        <p:nvSpPr>
          <p:cNvPr id="13" name="Text 11"/>
          <p:cNvSpPr txBox="1"/>
          <p:nvPr/>
        </p:nvSpPr>
        <p:spPr>
          <a:xfrm>
            <a:off x="5268316" y="2212848"/>
            <a:ext cx="1655064" cy="274320"/>
          </a:xfrm>
          <a:prstGeom prst="rect">
            <a:avLst/>
          </a:prstGeom>
          <a:noFill/>
          <a:ln/>
        </p:spPr>
        <p:txBody>
          <a:bodyPr wrap="square" lIns="0" tIns="0" rIns="0" bIns="0" rtlCol="0" anchor="ctr"/>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COURT ORDER</a:t>
            </a:r>
            <a:endParaRPr lang="en-US" sz="1200" dirty="0"/>
          </a:p>
        </p:txBody>
      </p:sp>
      <p:sp>
        <p:nvSpPr>
          <p:cNvPr id="14" name="Text 12"/>
          <p:cNvSpPr txBox="1"/>
          <p:nvPr/>
        </p:nvSpPr>
        <p:spPr>
          <a:xfrm>
            <a:off x="5268316" y="2514600"/>
            <a:ext cx="91440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3</a:t>
            </a:r>
            <a:endParaRPr lang="en-US" sz="4400" dirty="0"/>
          </a:p>
        </p:txBody>
      </p:sp>
      <p:sp>
        <p:nvSpPr>
          <p:cNvPr id="15" name="Text 13"/>
          <p:cNvSpPr txBox="1"/>
          <p:nvPr/>
        </p:nvSpPr>
        <p:spPr>
          <a:xfrm>
            <a:off x="5268316" y="3291840"/>
            <a:ext cx="1655064" cy="1280160"/>
          </a:xfrm>
          <a:prstGeom prst="rect">
            <a:avLst/>
          </a:prstGeom>
          <a:noFill/>
          <a:ln/>
        </p:spPr>
        <p:txBody>
          <a:bodyPr wrap="square" lIns="0" tIns="0" rIns="0" bIns="0" rtlCol="0" anchor="t"/>
          <a:lstStyle/>
          <a:p>
            <a:pPr indent="0" marL="0">
              <a:buNone/>
            </a:pPr>
            <a:r>
              <a:rPr lang="en-US" sz="1500" dirty="0">
                <a:solidFill>
                  <a:schemeClr val="bg1"/>
                </a:solidFill>
              </a:rPr>
              <a:t>Never share an OTP or six-digit code with anyone</a:t>
            </a:r>
            <a:endParaRPr lang="en-US" sz="1500" dirty="0"/>
          </a:p>
        </p:txBody>
      </p:sp>
      <p:sp>
        <p:nvSpPr>
          <p:cNvPr id="16" name="order 4"/>
          <p:cNvSpPr/>
          <p:nvPr/>
        </p:nvSpPr>
        <p:spPr>
          <a:xfrm>
            <a:off x="7303541" y="2011680"/>
            <a:ext cx="2057400" cy="2651760"/>
          </a:xfrm>
          <a:prstGeom prst="rect">
            <a:avLst/>
          </a:prstGeom>
          <a:solidFill>
            <a:srgbClr val="FFFFFF">
              <a:alpha val="7000"/>
            </a:srgbClr>
          </a:solidFill>
          <a:ln w="9525">
            <a:solidFill>
              <a:srgbClr val="E2B85A"/>
            </a:solidFill>
            <a:prstDash val="solid"/>
          </a:ln>
        </p:spPr>
      </p:sp>
      <p:sp>
        <p:nvSpPr>
          <p:cNvPr id="17" name="Text 15"/>
          <p:cNvSpPr txBox="1"/>
          <p:nvPr/>
        </p:nvSpPr>
        <p:spPr>
          <a:xfrm>
            <a:off x="7504709" y="2212848"/>
            <a:ext cx="1655064" cy="274320"/>
          </a:xfrm>
          <a:prstGeom prst="rect">
            <a:avLst/>
          </a:prstGeom>
          <a:noFill/>
          <a:ln/>
        </p:spPr>
        <p:txBody>
          <a:bodyPr wrap="square" lIns="0" tIns="0" rIns="0" bIns="0" rtlCol="0" anchor="ctr"/>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COURT ORDER</a:t>
            </a:r>
            <a:endParaRPr lang="en-US" sz="1200" dirty="0"/>
          </a:p>
        </p:txBody>
      </p:sp>
      <p:sp>
        <p:nvSpPr>
          <p:cNvPr id="18" name="Text 16"/>
          <p:cNvSpPr txBox="1"/>
          <p:nvPr/>
        </p:nvSpPr>
        <p:spPr>
          <a:xfrm>
            <a:off x="7504709" y="2514600"/>
            <a:ext cx="91440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4</a:t>
            </a:r>
            <a:endParaRPr lang="en-US" sz="4400" dirty="0"/>
          </a:p>
        </p:txBody>
      </p:sp>
      <p:sp>
        <p:nvSpPr>
          <p:cNvPr id="19" name="Text 17"/>
          <p:cNvSpPr txBox="1"/>
          <p:nvPr/>
        </p:nvSpPr>
        <p:spPr>
          <a:xfrm>
            <a:off x="7504709" y="3291840"/>
            <a:ext cx="1655064" cy="1280160"/>
          </a:xfrm>
          <a:prstGeom prst="rect">
            <a:avLst/>
          </a:prstGeom>
          <a:noFill/>
          <a:ln/>
        </p:spPr>
        <p:txBody>
          <a:bodyPr wrap="square" lIns="0" tIns="0" rIns="0" bIns="0" rtlCol="0" anchor="t"/>
          <a:lstStyle/>
          <a:p>
            <a:pPr indent="0" marL="0">
              <a:buNone/>
            </a:pPr>
            <a:r>
              <a:rPr lang="en-US" sz="1500" dirty="0">
                <a:solidFill>
                  <a:schemeClr val="bg1"/>
                </a:solidFill>
              </a:rPr>
              <a:t>Confirm your recovery email and phone number</a:t>
            </a:r>
            <a:endParaRPr lang="en-US" sz="1500" dirty="0"/>
          </a:p>
        </p:txBody>
      </p:sp>
      <p:sp>
        <p:nvSpPr>
          <p:cNvPr id="20" name="order 5"/>
          <p:cNvSpPr/>
          <p:nvPr/>
        </p:nvSpPr>
        <p:spPr>
          <a:xfrm>
            <a:off x="9539935" y="2011680"/>
            <a:ext cx="2057400" cy="2651760"/>
          </a:xfrm>
          <a:prstGeom prst="rect">
            <a:avLst/>
          </a:prstGeom>
          <a:solidFill>
            <a:srgbClr val="FFFFFF">
              <a:alpha val="7000"/>
            </a:srgbClr>
          </a:solidFill>
          <a:ln w="9525">
            <a:solidFill>
              <a:srgbClr val="E2B85A"/>
            </a:solidFill>
            <a:prstDash val="solid"/>
          </a:ln>
        </p:spPr>
      </p:sp>
      <p:sp>
        <p:nvSpPr>
          <p:cNvPr id="21" name="Text 19"/>
          <p:cNvSpPr txBox="1"/>
          <p:nvPr/>
        </p:nvSpPr>
        <p:spPr>
          <a:xfrm>
            <a:off x="9741103" y="2212848"/>
            <a:ext cx="1655064" cy="274320"/>
          </a:xfrm>
          <a:prstGeom prst="rect">
            <a:avLst/>
          </a:prstGeom>
          <a:noFill/>
          <a:ln/>
        </p:spPr>
        <p:txBody>
          <a:bodyPr wrap="square" lIns="0" tIns="0" rIns="0" bIns="0" rtlCol="0" anchor="ctr"/>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COURT ORDER</a:t>
            </a:r>
            <a:endParaRPr lang="en-US" sz="1200" dirty="0"/>
          </a:p>
        </p:txBody>
      </p:sp>
      <p:sp>
        <p:nvSpPr>
          <p:cNvPr id="22" name="Text 20"/>
          <p:cNvSpPr txBox="1"/>
          <p:nvPr/>
        </p:nvSpPr>
        <p:spPr>
          <a:xfrm>
            <a:off x="9741103" y="2514600"/>
            <a:ext cx="914400" cy="685800"/>
          </a:xfrm>
          <a:prstGeom prst="rect">
            <a:avLst/>
          </a:prstGeom>
          <a:noFill/>
          <a:ln/>
        </p:spPr>
        <p:txBody>
          <a:bodyPr wrap="square" lIns="0" tIns="0" rIns="0" bIns="0" rtlCol="0" anchor="ctr"/>
          <a:lstStyle/>
          <a:p>
            <a:pPr indent="0" marL="0">
              <a:buNone/>
            </a:pPr>
            <a:r>
              <a:rPr lang="en-US" sz="4400" b="1" dirty="0">
                <a:solidFill>
                  <a:schemeClr val="accent6"/>
                </a:solidFill>
                <a:latin typeface="Cambria" pitchFamily="34" charset="0"/>
                <a:ea typeface="Cambria" pitchFamily="34" charset="-122"/>
                <a:cs typeface="Cambria" pitchFamily="34" charset="-120"/>
              </a:rPr>
              <a:t>5</a:t>
            </a:r>
            <a:endParaRPr lang="en-US" sz="4400" dirty="0"/>
          </a:p>
        </p:txBody>
      </p:sp>
      <p:sp>
        <p:nvSpPr>
          <p:cNvPr id="23" name="Text 21"/>
          <p:cNvSpPr txBox="1"/>
          <p:nvPr/>
        </p:nvSpPr>
        <p:spPr>
          <a:xfrm>
            <a:off x="9741103" y="3291840"/>
            <a:ext cx="1655064" cy="1280160"/>
          </a:xfrm>
          <a:prstGeom prst="rect">
            <a:avLst/>
          </a:prstGeom>
          <a:noFill/>
          <a:ln/>
        </p:spPr>
        <p:txBody>
          <a:bodyPr wrap="square" lIns="0" tIns="0" rIns="0" bIns="0" rtlCol="0" anchor="t"/>
          <a:lstStyle/>
          <a:p>
            <a:pPr indent="0" marL="0">
              <a:buNone/>
            </a:pPr>
            <a:r>
              <a:rPr lang="en-US" sz="1500" dirty="0">
                <a:solidFill>
                  <a:schemeClr val="bg1"/>
                </a:solidFill>
              </a:rPr>
              <a:t>Log out of any device you do not recognise</a:t>
            </a:r>
            <a:endParaRPr lang="en-US" sz="1500" dirty="0"/>
          </a:p>
        </p:txBody>
      </p:sp>
      <p:pic>
        <p:nvPicPr>
          <p:cNvPr id="24" name="gavel" descr="Gavel">    </p:cNvPr>
          <p:cNvPicPr>
            <a:picLocks noChangeAspect="1"/>
          </p:cNvPicPr>
          <p:nvPr/>
        </p:nvPicPr>
        <p:blipFill>
          <a:blip r:embed="rId1"/>
          <a:stretch>
            <a:fillRect/>
          </a:stretch>
        </p:blipFill>
        <p:spPr>
          <a:xfrm>
            <a:off x="594360" y="5120640"/>
            <a:ext cx="548640" cy="548640"/>
          </a:xfrm>
          <a:prstGeom prst="rect">
            <a:avLst/>
          </a:prstGeom>
        </p:spPr>
      </p:pic>
      <p:sp>
        <p:nvSpPr>
          <p:cNvPr id="25" name="Text 22"/>
          <p:cNvSpPr txBox="1"/>
          <p:nvPr/>
        </p:nvSpPr>
        <p:spPr>
          <a:xfrm>
            <a:off x="1325880" y="5120640"/>
            <a:ext cx="914400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Court is adjourned. </a:t>
            </a:r>
            <a:pPr indent="0" marL="0">
              <a:buNone/>
            </a:pPr>
            <a:r>
              <a:rPr lang="en-US" sz="2400" i="1" dirty="0">
                <a:solidFill>
                  <a:srgbClr val="E7E0D6"/>
                </a:solidFill>
                <a:latin typeface="Cambria" pitchFamily="34" charset="0"/>
                <a:ea typeface="Cambria" pitchFamily="34" charset="-122"/>
                <a:cs typeface="Cambria" pitchFamily="34" charset="-120"/>
              </a:rPr>
              <a:t>Thank you. Questions from the gallery?</a:t>
            </a:r>
            <a:endParaRPr lang="en-US" sz="2400" dirty="0"/>
          </a:p>
        </p:txBody>
      </p:sp>
      <p:sp>
        <p:nvSpPr>
          <p:cNvPr id="27" name="Text 0"/>
          <p:cNvSpPr/>
          <p:nvPr>
            <p:ph idx="100" type="title" hasCustomPrompt="1"/>
          </p:nvPr>
        </p:nvSpPr>
        <p:spPr>
          <a:xfrm>
            <a:off x="594360" y="1828800"/>
            <a:ext cx="7498080" cy="1737360"/>
          </a:xfrm>
          <a:prstGeom prst="rect">
            <a:avLst/>
          </a:prstGeom>
          <a:noFill/>
          <a:ln/>
        </p:spPr>
        <p:txBody>
          <a:bodyPr wrap="square" lIns="0" tIns="0" rIns="0" bIns="0" rtlCol="0" anchor="b"/>
          <a:lstStyle/>
          <a:p>
            <a:pPr algn="l" indent="0" marL="0">
              <a:buNone/>
            </a:pPr>
            <a:endParaRPr lang="en-US" sz="5200" dirty="0"/>
          </a:p>
        </p:txBody>
      </p:sp>
    </p:spTree>
  </p:cSld>
  <p:clrMapOvr>
    <a:masterClrMapping/>
  </p:clrMapOvr>
</p:sld>
</file>

<file path=ppt/theme/theme1.xml><?xml version="1.0" encoding="utf-8"?>
<a:theme xmlns:a="http://schemas.openxmlformats.org/drawingml/2006/main" name="The People v Your Apps">
  <a:themeElements>
    <a:clrScheme name="The People v Your Apps">
      <a:dk1>
        <a:srgbClr val="1C1917"/>
      </a:dk1>
      <a:lt1>
        <a:srgbClr val="FFFFFF"/>
      </a:lt1>
      <a:dk2>
        <a:srgbClr val="1F1A17"/>
      </a:dk2>
      <a:lt2>
        <a:srgbClr val="F5F1EA"/>
      </a:lt2>
      <a:accent1>
        <a:srgbClr val="8B1E1E"/>
      </a:accent1>
      <a:accent2>
        <a:srgbClr val="B7791F"/>
      </a:accent2>
      <a:accent3>
        <a:srgbClr val="1E3A5F"/>
      </a:accent3>
      <a:accent4>
        <a:srgbClr val="166534"/>
      </a:accent4>
      <a:accent5>
        <a:srgbClr val="57534E"/>
      </a:accent5>
      <a:accent6>
        <a:srgbClr val="E2B85A"/>
      </a:accent6>
      <a:hlink>
        <a:srgbClr val="1E3A5F"/>
      </a:hlink>
      <a:folHlink>
        <a:srgbClr val="8B1E1E"/>
      </a:folHlink>
    </a:clrScheme>
    <a:fontScheme name="The People v Your Ap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People v. Your Apps: A Security Trial of Five Online Platforms</dc:title>
  <dc:subject>MCCJ 525 Cybercrimes and Security</dc:subject>
  <dc:creator>PptxGenJS</dc:creator>
  <cp:lastModifiedBy>PptxGenJS</cp:lastModifiedBy>
  <cp:revision>1</cp:revision>
  <dcterms:created xsi:type="dcterms:W3CDTF">2026-10-17T16:47:07Z</dcterms:created>
  <dcterms:modified xsi:type="dcterms:W3CDTF">2026-10-17T16:47:07Z</dcterms:modified>
</cp:coreProperties>
</file>