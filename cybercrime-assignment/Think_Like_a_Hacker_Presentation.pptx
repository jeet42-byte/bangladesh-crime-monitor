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Offender’s View" id="{acc86f5a-f20d-004b-f166-3ab826b9a364}">
          <p14:sldIdLst>
            <p14:sldId id="256"/>
            <p14:sldId id="257"/>
          </p14:sldIdLst>
        </p14:section>
        <p14:section name="The Targets" id="{2bef28b1-3192-f226-fd37-d7d383c1cce7}">
          <p14:sldIdLst>
            <p14:sldId id="258"/>
            <p14:sldId id="259"/>
            <p14:sldId id="260"/>
            <p14:sldId id="261"/>
            <p14:sldId id="262"/>
            <p14:sldId id="263"/>
          </p14:sldIdLst>
        </p14:section>
        <p14:section name="The Verdict" id="{ce49e036-e874-e6af-cd95-8165caef49a9}">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[Name] (about 1 minute)
[Start by looking around the room slowly.]
Imagine, for the next ten minutes, that you are not a student. You are a cybercriminal. You are sitting in a small room with a laptop, and every account in this room is a possible target.
Which one would you go after first? The one with the most money? The most followers? No. You would go after the easiest one.
Good morning. We are Group [__], and our presentation is called "Think Like a Hacker." To understand how secure Facebook, Instagram, WhatsApp, Gmail and Telegram really are, we decided to look at them the way an offender does: not "what features does this app have?", but "what stands between me and this account?"
As criminology students, we have a theory for exactly this question.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[Name] (about 1 minute)
This is Routine Activity Theory, from Cohen and Felson, 1979. It says a crime happens when three things meet: [point to each corner] a motivated offender, a suitable target, and the absence of a capable guardian.
Online, the offenders are scammers, hackers and extortionists. The targets are us: around 64 million Bangladeshis on Facebook alone.
[Right side.] The numbers prove it. In the Cyber Crime Awareness Foundation's 2024 study, account hacking was the number one cybercrime, affecting 21.65 percent of victims. 78.78 percent of victims were aged 18 to 30. And only 12 percent reported it to the police.
Here is the key idea of our presentation. We cannot remove the offenders, and we cannot stop being targets. The one corner we control is the guardian: the security features on our accounts, and whether we switch them on.
So in this presentation, we measure each platform's guardians. [Member 2] will explain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[Name] (about 1 minute)
Thank you, [Member 1]. So how does a hacker decide which account to attack? We believe they ask five questions. [Read the red questions in a hacker's voice.]
"Can I get in with just a stolen password?"
"Can the messages be read on the company's servers?"
"Will the owner be warned that I'm in?"
"Can I lock the real owner out?"
"Can I find and message the victim?"
[Point to the blue column.] Each question is answered by a guardian: login protection, encryption by default, threat alerts, recovery safety and privacy controls. We scored each guardian from 1 to 5, so the strongest possible platform scores 25.
We gathered the evidence from the security settings on our own accounts, and checked it against official help pages and recent news.
And instead of going alphabetically, we will go the way a hacker would: from the softest target to the hardest. The softest target, surprisingly, is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[Name] (about 1 minute)
[Switch into "hacker voice" for the red quote.] "Most chats aren't end-to-end encrypted, and few users ever set a cloud password. I join their groups and wait."
[Normal voice.] Target one: Telegram. Guardian strength: 14 out of 25, the softest target.
Many students think Telegram is the most private app. But only "Secret Chats" are end-to-end encrypted, and you must start them manually. Ordinary chats, groups and channels are stored on Telegram's servers. And since September 2024, Telegram says it will share the IP addresses and phone numbers of rule-breakers with authorities on valid legal requests.
[Middle column.] The guardians do exist: a two-step cloud password, a passcode lock, active-session control, and the option to hide your phone number.
[Blue card.] The guardian we would add: end-to-end encryption by default for one-to-one chats, and a prompt to set up two-step verification at sign-up.
[Member 3] takes the next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[Name] (about 1 minute)
[Hacker voice.] "I phish the password with a fake copyright violation notice, then swap the recovery email and phone before the owner wakes up."
[Normal voice.] Target two: Facebook. Guardian strength: 16 out of 25.
Facebook's front door is well guarded: two-factor authentication through an app, SMS or a security key, login alerts, remote log-out, passkeys since June 2025, profile lock, and Messenger chats encrypted by default.
[Red weak spot.] But the back door is recovery. Once a hacker is in, they can change the recovery email and phone number within minutes, while the real owner waits days or weeks to get the account back. Recovery safety scored just 2 out of 5. [Point to the meter.]
[Blue card.] The guardian we would add: a 48-hour cool-down before recovery details can change, alerts to the old email and phone, and real human support in Bangla.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[Name] (about 1 minute)
[Hacker voice.] "I get in through linked Meta accounts and read the DMs. They aren't end-to-end encrypted, so private photos become my leverage."
[Normal voice.] Target three: Instagram. Guardian strength: 16 out of 25.
That quote describes how sextortion often begins. Instagram DMs were never end-to-end encrypted by default, and on 8 May 2026 Meta removed even the optional encrypted chats. On encryption, Instagram scored just 1 out of 5. [Point to the meter.]
[Middle column.] The other guardians are decent: Meta's two-factor authentication and login alerts, Restrict and Hidden Words against harassment, private-by-default Teen Accounts, and a clever one: "Emails from Instagram", which lists every real security email from the last 14 days, so you can expose a fake one.
[Blue card.] The guardian we would add: restore encrypted DMs as the default, and blur unsolicited explicit images for every user, not just teenagers.
[Member 4] will take the two hardest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[Name] (about 1 minute)
Thank you, [Member 3]. [Hacker voice.] "Gmail is the master key: every reset link lands here. But with a passkey, there is no password for me to phish."
[Normal voice.] Target four: Gmail. Guardian strength: 20 out of 25, joint highest.
Think about it: when you click "forgot password" on Facebook, Instagram or even bKash, where does the link go? Your email. That is why hackers want Gmail most.
[Middle column.] And that is why Google guards it so heavily: passkeys as the default sign-in since October 2023, 2-Step Verification, a Security Checkup, critical sign-in alerts, and filters that Google says block over 99.9 percent of phishing and malware.
[Red weak spot.] The weak spot is us: people who reuse passwords and never switch on 2-Step Verification. Also, personal Gmail is not end-to-end encrypted.
[Blue card.] We would add optional end-to-end encryption, and warnings for emails imitating bKash, Nagad or local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[Name] (about 1 minute)
[Hacker voice.] "I can't break the encryption, so I break the person: I sent my code to you by mistake, please forward it."
[Normal voice.] Target five: WhatsApp, the hardest target. Guardian strength: 20 out of 25.
Every personal chat and call on WhatsApp is end-to-end encrypted by default; not even WhatsApp can read them. It has a six-digit two-step PIN, passkeys, passkey-locked backups since October 2025, and since January 2026, Strict Account Settings, a one-tap lockdown.
[Red weak spot.] So hackers don't attack the technology. They attack the human. Many of us have seen this exact message. Without a two-step PIN, one shared code hands over the whole account.
[Blue card.] The guardian we would add: a clear Bangla warning whenever a registration code is requested, and a mandatory two-step PIN.
[Member 5] will now give the hacker's final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[Name] (about 1 minute)
Thank you, [Member 4]. So, if you were the hacker, which account would you go after? [Point left to right.]
Telegram is the softest target at 14. Facebook and Instagram follow at 16. Gmail and WhatsApp are the hardest, both at 20.
Our verdict: WhatsApp is the most secure platform for an individual user. Not because it has the most features, but because its strongest guardian, end-to-end encryption, is switched on from day one. You don't need to do anything. That matters, because most people never open their settings.
Gmail is the prize every hacker wants, because it is the master key to every other account. Protect it with a passkey or 2-Step Verification.
And Telegram teaches us that a reputation for privacy is not the same as privacy by default.
But notice what the hacker did on almost every slide: they didn't break the technology. They went around it, through a weak password, a shared code, or a setting that was never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[Name] (about 1 minute)
Remember the triangle from Routine Activity Theory? Offender, target, guardian. We cannot remove the offenders. We cannot stop being targets. But each of us can become a capable guardian, tonight, in five minutes. [Go through the cards.]
One: turn on two-factor authentication or a passkey everywhere, and stolen passwords stop working.
Two: set a WhatsApp two-step PIN, and the code scam fails.
Three: never share an OTP with anyone. Not a friend, not "Facebook support", not "bKash".
Four: check your recovery email and phone, so no one can take over silently.
Five: log out of devices you don't recognise.
[Pause. Read the last line slowly.] Hackers look for the easiest target. Don't be it.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7863840" cy="205740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rgbClr val="9AA0AA"/>
                </a:solidFill>
              </a:rPr>
              <a:t>THINK LIKE A HACKER  /  MCCJ 525</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rosshair backdrop" descr="preencoded.png">    </p:cNvPr>
          <p:cNvPicPr>
            <a:picLocks noChangeAspect="1"/>
          </p:cNvPicPr>
          <p:nvPr/>
        </p:nvPicPr>
        <p:blipFill>
          <a:blip r:embed="rId1"/>
          <a:stretch>
            <a:fillRect/>
          </a:stretch>
        </p:blipFill>
        <p:spPr>
          <a:xfrm>
            <a:off x="6949440" y="-365760"/>
            <a:ext cx="6035040" cy="6035040"/>
          </a:xfrm>
          <a:prstGeom prst="rect">
            <a:avLst/>
          </a:prstGeom>
        </p:spPr>
      </p:pic>
      <p:pic>
        <p:nvPicPr>
          <p:cNvPr id="3" name="crosshair" descr="Crosshair">    </p:cNvPr>
          <p:cNvPicPr>
            <a:picLocks noChangeAspect="1"/>
          </p:cNvPicPr>
          <p:nvPr/>
        </p:nvPicPr>
        <p:blipFill>
          <a:blip r:embed="rId2"/>
          <a:stretch>
            <a:fillRect/>
          </a:stretch>
        </p:blipFill>
        <p:spPr>
          <a:xfrm>
            <a:off x="8732520" y="1417320"/>
            <a:ext cx="2468880" cy="2468880"/>
          </a:xfrm>
          <a:prstGeom prst="rect">
            <a:avLst/>
          </a:prstGeom>
        </p:spPr>
      </p:pic>
      <p:sp>
        <p:nvSpPr>
          <p:cNvPr id="4" name="kicker"/>
          <p:cNvSpPr txBox="1"/>
          <p:nvPr/>
        </p:nvSpPr>
        <p:spPr>
          <a:xfrm>
            <a:off x="548640" y="1234440"/>
            <a:ext cx="11094415" cy="274320"/>
          </a:xfrm>
          <a:prstGeom prst="rect">
            <a:avLst/>
          </a:prstGeom>
          <a:noFill/>
          <a:ln/>
        </p:spPr>
        <p:txBody>
          <a:bodyPr wrap="square" lIns="0" tIns="0" rIns="0" bIns="0" rtlCol="0" anchor="ctr"/>
          <a:lstStyle/>
          <a:p>
            <a:pPr indent="0" marL="0">
              <a:buNone/>
            </a:pPr>
            <a:r>
              <a:rPr lang="en-US" sz="1300" b="1" spc="300" kern="0" dirty="0">
                <a:solidFill>
                  <a:srgbClr val="FF6B5E"/>
                </a:solidFill>
              </a:rPr>
              <a:t>MCCJ 525  /  CYBERCRIMES AND SECURITY</a:t>
            </a:r>
            <a:endParaRPr lang="en-US" sz="1300" dirty="0"/>
          </a:p>
        </p:txBody>
      </p:sp>
      <p:sp>
        <p:nvSpPr>
          <p:cNvPr id="5" name="Text 0"/>
          <p:cNvSpPr/>
          <p:nvPr>
            <p:ph idx="100" type="title" hasCustomPrompt="1"/>
          </p:nvPr>
        </p:nvSpPr>
        <p:spPr>
          <a:xfrm>
            <a:off x="548640" y="1554480"/>
            <a:ext cx="7863840" cy="2057400"/>
          </a:xfrm>
          <a:prstGeom prst="rect">
            <a:avLst/>
          </a:prstGeom>
          <a:noFill/>
          <a:ln/>
        </p:spPr>
        <p:txBody>
          <a:bodyPr wrap="square" lIns="0" tIns="0" rIns="0" bIns="0" rtlCol="0" anchor="b"/>
          <a:lstStyle/>
          <a:p>
            <a:pPr algn="l" indent="0" marL="0">
              <a:buNone/>
            </a:pPr>
            <a:r>
              <a:rPr lang="en-US" sz="6400" b="1" dirty="0">
                <a:solidFill>
                  <a:schemeClr val="bg1"/>
                </a:solidFill>
              </a:rPr>
              <a:t>Think Like a Hacker</a:t>
            </a:r>
            <a:endParaRPr lang="en-US" sz="6400" dirty="0"/>
          </a:p>
        </p:txBody>
      </p:sp>
      <p:sp>
        <p:nvSpPr>
          <p:cNvPr id="6" name="Text 2"/>
          <p:cNvSpPr txBox="1"/>
          <p:nvPr/>
        </p:nvSpPr>
        <p:spPr>
          <a:xfrm>
            <a:off x="548640" y="3886200"/>
            <a:ext cx="7680960" cy="822960"/>
          </a:xfrm>
          <a:prstGeom prst="rect">
            <a:avLst/>
          </a:prstGeom>
          <a:noFill/>
          <a:ln/>
        </p:spPr>
        <p:txBody>
          <a:bodyPr wrap="square" lIns="0" tIns="0" rIns="0" bIns="0" rtlCol="0" anchor="t"/>
          <a:lstStyle/>
          <a:p>
            <a:pPr indent="0" marL="0">
              <a:buNone/>
            </a:pPr>
            <a:r>
              <a:rPr lang="en-US" sz="2200" dirty="0">
                <a:solidFill>
                  <a:srgbClr val="D5D8DE"/>
                </a:solidFill>
              </a:rPr>
              <a:t>Five platforms through the offender’s eyes, </a:t>
            </a:r>
            <a:pPr indent="0" marL="0">
              <a:buNone/>
            </a:pPr>
            <a:r>
              <a:rPr lang="en-US" sz="2200" b="1" dirty="0">
                <a:solidFill>
                  <a:schemeClr val="bg1"/>
                </a:solidFill>
              </a:rPr>
              <a:t>and the guardians that stop them</a:t>
            </a:r>
            <a:endParaRPr lang="en-US" sz="2200" dirty="0"/>
          </a:p>
        </p:txBody>
      </p:sp>
      <p:sp>
        <p:nvSpPr>
          <p:cNvPr id="7" name="Text 3"/>
          <p:cNvSpPr txBox="1"/>
          <p:nvPr/>
        </p:nvSpPr>
        <p:spPr>
          <a:xfrm>
            <a:off x="548640" y="5120640"/>
            <a:ext cx="8229600" cy="73152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[Member 1]  /  [Member 2]  /  [Member 3]  /  [Member 4]  /  [Member 5]</a:t>
            </a:r>
            <a:endParaRPr lang="en-US" sz="1400" dirty="0"/>
          </a:p>
          <a:p>
            <a:pPr indent="0" marL="0">
              <a:spcAft>
                <a:spcPts val="400"/>
              </a:spcAft>
              <a:buNone/>
            </a:pPr>
            <a:r>
              <a:rPr lang="en-US" sz="1400" dirty="0">
                <a:solidFill>
                  <a:srgbClr val="9AA0AA"/>
                </a:solidFill>
              </a:rPr>
              <a:t>Group [__]  |  [Department], [University]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01  /  THE THEORY</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Crime happens when three things meet in the same place</a:t>
            </a:r>
            <a:endParaRPr lang="en-US" sz="3000" dirty="0"/>
          </a:p>
        </p:txBody>
      </p:sp>
      <p:sp>
        <p:nvSpPr>
          <p:cNvPr id="4" name="edge 1"/>
          <p:cNvSpPr/>
          <p:nvPr/>
        </p:nvSpPr>
        <p:spPr>
          <a:xfrm flipV="1">
            <a:off x="1303020" y="2080260"/>
            <a:ext cx="1920240" cy="3017520"/>
          </a:xfrm>
          <a:prstGeom prst="line">
            <a:avLst/>
          </a:prstGeom>
          <a:noFill/>
          <a:ln w="31750">
            <a:solidFill>
              <a:srgbClr val="D9DCE1"/>
            </a:solidFill>
            <a:prstDash val="solid"/>
          </a:ln>
        </p:spPr>
      </p:sp>
      <p:sp>
        <p:nvSpPr>
          <p:cNvPr id="5" name="edge 2"/>
          <p:cNvSpPr/>
          <p:nvPr/>
        </p:nvSpPr>
        <p:spPr>
          <a:xfrm>
            <a:off x="1303020" y="5097780"/>
            <a:ext cx="3840480" cy="914"/>
          </a:xfrm>
          <a:prstGeom prst="line">
            <a:avLst/>
          </a:prstGeom>
          <a:noFill/>
          <a:ln w="31750">
            <a:solidFill>
              <a:srgbClr val="D9DCE1"/>
            </a:solidFill>
            <a:prstDash val="solid"/>
          </a:ln>
        </p:spPr>
      </p:sp>
      <p:sp>
        <p:nvSpPr>
          <p:cNvPr id="6" name="edge 3"/>
          <p:cNvSpPr/>
          <p:nvPr/>
        </p:nvSpPr>
        <p:spPr>
          <a:xfrm>
            <a:off x="3223260" y="2080260"/>
            <a:ext cx="1920240" cy="3017520"/>
          </a:xfrm>
          <a:prstGeom prst="line">
            <a:avLst/>
          </a:prstGeom>
          <a:noFill/>
          <a:ln w="31750">
            <a:solidFill>
              <a:srgbClr val="D9DCE1"/>
            </a:solidFill>
            <a:prstDash val="solid"/>
          </a:ln>
        </p:spPr>
      </p:sp>
      <p:sp>
        <p:nvSpPr>
          <p:cNvPr id="7" name="Text 5"/>
          <p:cNvSpPr txBox="1"/>
          <p:nvPr/>
        </p:nvSpPr>
        <p:spPr>
          <a:xfrm>
            <a:off x="2377440" y="3657600"/>
            <a:ext cx="1691640" cy="457200"/>
          </a:xfrm>
          <a:prstGeom prst="rect">
            <a:avLst/>
          </a:prstGeom>
          <a:noFill/>
          <a:ln/>
        </p:spPr>
        <p:txBody>
          <a:bodyPr wrap="square" lIns="0" tIns="0" rIns="0" bIns="0" rtlCol="0" anchor="ctr"/>
          <a:lstStyle/>
          <a:p>
            <a:pPr algn="ctr" indent="0" marL="0">
              <a:buNone/>
            </a:pPr>
            <a:r>
              <a:rPr lang="en-US" sz="2200" b="1" spc="300" kern="0" dirty="0">
                <a:solidFill>
                  <a:srgbClr val="E0312B"/>
                </a:solidFill>
              </a:rPr>
              <a:t>CRIME</a:t>
            </a:r>
            <a:endParaRPr lang="en-US" sz="2200" dirty="0"/>
          </a:p>
        </p:txBody>
      </p:sp>
      <p:sp>
        <p:nvSpPr>
          <p:cNvPr id="8" name="MOTIVATED OFFENDER circle"/>
          <p:cNvSpPr/>
          <p:nvPr/>
        </p:nvSpPr>
        <p:spPr>
          <a:xfrm>
            <a:off x="2788920" y="1645920"/>
            <a:ext cx="868680" cy="868680"/>
          </a:xfrm>
          <a:prstGeom prst="ellipse">
            <a:avLst/>
          </a:prstGeom>
          <a:solidFill>
            <a:srgbClr val="E0312B"/>
          </a:solidFill>
          <a:ln/>
        </p:spPr>
      </p:sp>
      <p:pic>
        <p:nvPicPr>
          <p:cNvPr id="9" name="MOTIVATED OFFENDER icon" descr="MOTIVATED OFFENDER">    </p:cNvPr>
          <p:cNvPicPr>
            <a:picLocks noChangeAspect="1"/>
          </p:cNvPicPr>
          <p:nvPr/>
        </p:nvPicPr>
        <p:blipFill>
          <a:blip r:embed="rId1"/>
          <a:stretch>
            <a:fillRect/>
          </a:stretch>
        </p:blipFill>
        <p:spPr>
          <a:xfrm>
            <a:off x="3006090" y="1863090"/>
            <a:ext cx="434340" cy="434340"/>
          </a:xfrm>
          <a:prstGeom prst="rect">
            <a:avLst/>
          </a:prstGeom>
        </p:spPr>
      </p:pic>
      <p:sp>
        <p:nvSpPr>
          <p:cNvPr id="10" name="SUITABLE TARGET circle"/>
          <p:cNvSpPr/>
          <p:nvPr/>
        </p:nvSpPr>
        <p:spPr>
          <a:xfrm>
            <a:off x="868680" y="4663440"/>
            <a:ext cx="868680" cy="868680"/>
          </a:xfrm>
          <a:prstGeom prst="ellipse">
            <a:avLst/>
          </a:prstGeom>
          <a:solidFill>
            <a:srgbClr val="15171C"/>
          </a:solidFill>
          <a:ln/>
        </p:spPr>
      </p:sp>
      <p:pic>
        <p:nvPicPr>
          <p:cNvPr id="11" name="SUITABLE TARGET icon" descr="SUITABLE TARGET">    </p:cNvPr>
          <p:cNvPicPr>
            <a:picLocks noChangeAspect="1"/>
          </p:cNvPicPr>
          <p:nvPr/>
        </p:nvPicPr>
        <p:blipFill>
          <a:blip r:embed="rId2"/>
          <a:stretch>
            <a:fillRect/>
          </a:stretch>
        </p:blipFill>
        <p:spPr>
          <a:xfrm>
            <a:off x="1085850" y="4880610"/>
            <a:ext cx="434340" cy="434340"/>
          </a:xfrm>
          <a:prstGeom prst="rect">
            <a:avLst/>
          </a:prstGeom>
        </p:spPr>
      </p:pic>
      <p:sp>
        <p:nvSpPr>
          <p:cNvPr id="12" name="NO CAPABLE GUARDIAN circle"/>
          <p:cNvSpPr/>
          <p:nvPr/>
        </p:nvSpPr>
        <p:spPr>
          <a:xfrm>
            <a:off x="4709160" y="4663440"/>
            <a:ext cx="868680" cy="868680"/>
          </a:xfrm>
          <a:prstGeom prst="ellipse">
            <a:avLst/>
          </a:prstGeom>
          <a:solidFill>
            <a:srgbClr val="2557D6"/>
          </a:solidFill>
          <a:ln/>
        </p:spPr>
      </p:sp>
      <p:pic>
        <p:nvPicPr>
          <p:cNvPr id="13" name="NO CAPABLE GUARDIAN icon" descr="NO CAPABLE GUARDIAN">    </p:cNvPr>
          <p:cNvPicPr>
            <a:picLocks noChangeAspect="1"/>
          </p:cNvPicPr>
          <p:nvPr/>
        </p:nvPicPr>
        <p:blipFill>
          <a:blip r:embed="rId3"/>
          <a:stretch>
            <a:fillRect/>
          </a:stretch>
        </p:blipFill>
        <p:spPr>
          <a:xfrm>
            <a:off x="4926330" y="4880610"/>
            <a:ext cx="434340" cy="434340"/>
          </a:xfrm>
          <a:prstGeom prst="rect">
            <a:avLst/>
          </a:prstGeom>
        </p:spPr>
      </p:pic>
      <p:sp>
        <p:nvSpPr>
          <p:cNvPr id="14" name="Text 9"/>
          <p:cNvSpPr txBox="1"/>
          <p:nvPr/>
        </p:nvSpPr>
        <p:spPr>
          <a:xfrm>
            <a:off x="3794760" y="1691640"/>
            <a:ext cx="2743200" cy="731520"/>
          </a:xfrm>
          <a:prstGeom prst="rect">
            <a:avLst/>
          </a:prstGeom>
          <a:noFill/>
          <a:ln/>
        </p:spPr>
        <p:txBody>
          <a:bodyPr wrap="square" lIns="0" tIns="0" rIns="0" bIns="0" rtlCol="0" anchor="ctr"/>
          <a:lstStyle/>
          <a:p>
            <a:pPr indent="0" marL="0">
              <a:buNone/>
            </a:pPr>
            <a:r>
              <a:rPr lang="en-US" sz="1300" b="1" spc="100" kern="0" dirty="0">
                <a:solidFill>
                  <a:srgbClr val="E0312B"/>
                </a:solidFill>
              </a:rPr>
              <a:t>MOTIVATED OFFENDER</a:t>
            </a:r>
            <a:endParaRPr lang="en-US" sz="1300" dirty="0"/>
          </a:p>
          <a:p>
            <a:pPr indent="0" marL="0">
              <a:buNone/>
            </a:pPr>
            <a:r>
              <a:rPr lang="en-US" sz="1300" dirty="0">
                <a:solidFill>
                  <a:srgbClr val="5B6170"/>
                </a:solidFill>
              </a:rPr>
              <a:t>Scammers, hackers, extortionists</a:t>
            </a:r>
            <a:endParaRPr lang="en-US" sz="1300" dirty="0"/>
          </a:p>
        </p:txBody>
      </p:sp>
      <p:sp>
        <p:nvSpPr>
          <p:cNvPr id="15" name="Text 10"/>
          <p:cNvSpPr txBox="1"/>
          <p:nvPr/>
        </p:nvSpPr>
        <p:spPr>
          <a:xfrm>
            <a:off x="548640" y="5577840"/>
            <a:ext cx="2743200" cy="502920"/>
          </a:xfrm>
          <a:prstGeom prst="rect">
            <a:avLst/>
          </a:prstGeom>
          <a:noFill/>
          <a:ln/>
        </p:spPr>
        <p:txBody>
          <a:bodyPr wrap="square" lIns="0" tIns="0" rIns="0" bIns="0" rtlCol="0" anchor="t"/>
          <a:lstStyle/>
          <a:p>
            <a:pPr indent="0" marL="0">
              <a:buNone/>
            </a:pPr>
            <a:r>
              <a:rPr lang="en-US" sz="1300" b="1" spc="100" kern="0" dirty="0">
                <a:solidFill>
                  <a:srgbClr val="15171C"/>
                </a:solidFill>
              </a:rPr>
              <a:t>SUITABLE TARGET</a:t>
            </a:r>
            <a:endParaRPr lang="en-US" sz="1300" dirty="0"/>
          </a:p>
          <a:p>
            <a:pPr indent="0" marL="0">
              <a:buNone/>
            </a:pPr>
            <a:r>
              <a:rPr lang="en-US" sz="1300" dirty="0">
                <a:solidFill>
                  <a:srgbClr val="5B6170"/>
                </a:solidFill>
              </a:rPr>
              <a:t>≈64M Facebook users in Bangladesh</a:t>
            </a:r>
            <a:endParaRPr lang="en-US" sz="1300" dirty="0"/>
          </a:p>
        </p:txBody>
      </p:sp>
      <p:sp>
        <p:nvSpPr>
          <p:cNvPr id="16" name="Text 11"/>
          <p:cNvSpPr txBox="1"/>
          <p:nvPr/>
        </p:nvSpPr>
        <p:spPr>
          <a:xfrm>
            <a:off x="4023360" y="5577840"/>
            <a:ext cx="2834640" cy="502920"/>
          </a:xfrm>
          <a:prstGeom prst="rect">
            <a:avLst/>
          </a:prstGeom>
          <a:noFill/>
          <a:ln/>
        </p:spPr>
        <p:txBody>
          <a:bodyPr wrap="square" lIns="0" tIns="0" rIns="0" bIns="0" rtlCol="0" anchor="t"/>
          <a:lstStyle/>
          <a:p>
            <a:pPr indent="0" marL="0">
              <a:buNone/>
            </a:pPr>
            <a:r>
              <a:rPr lang="en-US" sz="1300" b="1" spc="100" kern="0" dirty="0">
                <a:solidFill>
                  <a:srgbClr val="2557D6"/>
                </a:solidFill>
              </a:rPr>
              <a:t>NO CAPABLE GUARDIAN</a:t>
            </a:r>
            <a:endParaRPr lang="en-US" sz="1300" dirty="0"/>
          </a:p>
          <a:p>
            <a:pPr indent="0" marL="0">
              <a:buNone/>
            </a:pPr>
            <a:r>
              <a:rPr lang="en-US" sz="1300" dirty="0">
                <a:solidFill>
                  <a:srgbClr val="5B6170"/>
                </a:solidFill>
              </a:rPr>
              <a:t>Weak or switched-off security</a:t>
            </a:r>
            <a:endParaRPr lang="en-US" sz="1300" dirty="0"/>
          </a:p>
        </p:txBody>
      </p:sp>
      <p:sp>
        <p:nvSpPr>
          <p:cNvPr id="17" name="Text 12"/>
          <p:cNvSpPr txBox="1"/>
          <p:nvPr/>
        </p:nvSpPr>
        <p:spPr>
          <a:xfrm>
            <a:off x="7086600" y="1600200"/>
            <a:ext cx="4556455" cy="274320"/>
          </a:xfrm>
          <a:prstGeom prst="rect">
            <a:avLst/>
          </a:prstGeom>
          <a:noFill/>
          <a:ln/>
        </p:spPr>
        <p:txBody>
          <a:bodyPr wrap="square" lIns="0" tIns="0" rIns="0" bIns="0" rtlCol="0" anchor="ctr"/>
          <a:lstStyle/>
          <a:p>
            <a:pPr indent="0" marL="0">
              <a:buNone/>
            </a:pPr>
            <a:r>
              <a:rPr lang="en-US" sz="1100" b="1" spc="100" kern="0" dirty="0">
                <a:solidFill>
                  <a:srgbClr val="5B6170"/>
                </a:solidFill>
              </a:rPr>
              <a:t>ROUTINE ACTIVITY THEORY  /  COHEN &amp; FELSON (1979)</a:t>
            </a:r>
            <a:endParaRPr lang="en-US" sz="1100" dirty="0"/>
          </a:p>
        </p:txBody>
      </p:sp>
      <p:sp>
        <p:nvSpPr>
          <p:cNvPr id="18" name="Text 13"/>
          <p:cNvSpPr txBox="1"/>
          <p:nvPr/>
        </p:nvSpPr>
        <p:spPr>
          <a:xfrm>
            <a:off x="7086600" y="1920240"/>
            <a:ext cx="4556455" cy="1097280"/>
          </a:xfrm>
          <a:prstGeom prst="rect">
            <a:avLst/>
          </a:prstGeom>
          <a:noFill/>
          <a:ln/>
        </p:spPr>
        <p:txBody>
          <a:bodyPr wrap="square" lIns="0" tIns="0" rIns="0" bIns="0" rtlCol="0" anchor="t"/>
          <a:lstStyle/>
          <a:p>
            <a:pPr indent="0" marL="0">
              <a:buNone/>
            </a:pPr>
            <a:r>
              <a:rPr lang="en-US" sz="2000" b="1" dirty="0">
                <a:solidFill>
                  <a:srgbClr val="15171C"/>
                </a:solidFill>
              </a:rPr>
              <a:t>We can’t remove the offenders, and we can’t stop being targets. The one corner we control is the guardian.</a:t>
            </a:r>
            <a:endParaRPr lang="en-US" sz="2000" dirty="0"/>
          </a:p>
        </p:txBody>
      </p:sp>
      <p:sp>
        <p:nvSpPr>
          <p:cNvPr id="19" name="Text 14"/>
          <p:cNvSpPr txBox="1"/>
          <p:nvPr/>
        </p:nvSpPr>
        <p:spPr>
          <a:xfrm>
            <a:off x="7086600" y="3246120"/>
            <a:ext cx="1600200" cy="731520"/>
          </a:xfrm>
          <a:prstGeom prst="rect">
            <a:avLst/>
          </a:prstGeom>
          <a:noFill/>
          <a:ln/>
        </p:spPr>
        <p:txBody>
          <a:bodyPr wrap="square" lIns="0" tIns="0" rIns="0" bIns="0" rtlCol="0" anchor="ctr"/>
          <a:lstStyle/>
          <a:p>
            <a:pPr indent="0" marL="0">
              <a:buNone/>
            </a:pPr>
            <a:r>
              <a:rPr lang="en-US" sz="3200" b="1" dirty="0">
                <a:solidFill>
                  <a:srgbClr val="E0312B"/>
                </a:solidFill>
              </a:rPr>
              <a:t>21.65%</a:t>
            </a:r>
            <a:endParaRPr lang="en-US" sz="3200" dirty="0"/>
          </a:p>
        </p:txBody>
      </p:sp>
      <p:sp>
        <p:nvSpPr>
          <p:cNvPr id="20" name="Text 15"/>
          <p:cNvSpPr txBox="1"/>
          <p:nvPr/>
        </p:nvSpPr>
        <p:spPr>
          <a:xfrm>
            <a:off x="8778240" y="3246120"/>
            <a:ext cx="2864815" cy="731520"/>
          </a:xfrm>
          <a:prstGeom prst="rect">
            <a:avLst/>
          </a:prstGeom>
          <a:noFill/>
          <a:ln/>
        </p:spPr>
        <p:txBody>
          <a:bodyPr wrap="square" lIns="0" tIns="0" rIns="0" bIns="0" rtlCol="0" anchor="ctr"/>
          <a:lstStyle/>
          <a:p>
            <a:pPr indent="0" marL="0">
              <a:buNone/>
            </a:pPr>
            <a:r>
              <a:rPr lang="en-US" sz="1500" dirty="0">
                <a:solidFill>
                  <a:srgbClr val="15171C"/>
                </a:solidFill>
              </a:rPr>
              <a:t>of victims had an account hacked, the #1 cybercrime</a:t>
            </a:r>
            <a:endParaRPr lang="en-US" sz="1500" dirty="0"/>
          </a:p>
        </p:txBody>
      </p:sp>
      <p:sp>
        <p:nvSpPr>
          <p:cNvPr id="21" name="Shape 16"/>
          <p:cNvSpPr/>
          <p:nvPr/>
        </p:nvSpPr>
        <p:spPr>
          <a:xfrm>
            <a:off x="7086600" y="4050792"/>
            <a:ext cx="4556455" cy="0"/>
          </a:xfrm>
          <a:prstGeom prst="line">
            <a:avLst/>
          </a:prstGeom>
          <a:noFill/>
          <a:ln w="12700">
            <a:solidFill>
              <a:srgbClr val="D9DCE1"/>
            </a:solidFill>
            <a:prstDash val="solid"/>
          </a:ln>
        </p:spPr>
      </p:sp>
      <p:sp>
        <p:nvSpPr>
          <p:cNvPr id="22" name="Text 17"/>
          <p:cNvSpPr txBox="1"/>
          <p:nvPr/>
        </p:nvSpPr>
        <p:spPr>
          <a:xfrm>
            <a:off x="7086600" y="4114800"/>
            <a:ext cx="1600200" cy="731520"/>
          </a:xfrm>
          <a:prstGeom prst="rect">
            <a:avLst/>
          </a:prstGeom>
          <a:noFill/>
          <a:ln/>
        </p:spPr>
        <p:txBody>
          <a:bodyPr wrap="square" lIns="0" tIns="0" rIns="0" bIns="0" rtlCol="0" anchor="ctr"/>
          <a:lstStyle/>
          <a:p>
            <a:pPr indent="0" marL="0">
              <a:buNone/>
            </a:pPr>
            <a:r>
              <a:rPr lang="en-US" sz="3200" b="1" dirty="0">
                <a:solidFill>
                  <a:srgbClr val="E0312B"/>
                </a:solidFill>
              </a:rPr>
              <a:t>78.78%</a:t>
            </a:r>
            <a:endParaRPr lang="en-US" sz="3200" dirty="0"/>
          </a:p>
        </p:txBody>
      </p:sp>
      <p:sp>
        <p:nvSpPr>
          <p:cNvPr id="23" name="Text 18"/>
          <p:cNvSpPr txBox="1"/>
          <p:nvPr/>
        </p:nvSpPr>
        <p:spPr>
          <a:xfrm>
            <a:off x="8778240" y="4114800"/>
            <a:ext cx="2864815" cy="731520"/>
          </a:xfrm>
          <a:prstGeom prst="rect">
            <a:avLst/>
          </a:prstGeom>
          <a:noFill/>
          <a:ln/>
        </p:spPr>
        <p:txBody>
          <a:bodyPr wrap="square" lIns="0" tIns="0" rIns="0" bIns="0" rtlCol="0" anchor="ctr"/>
          <a:lstStyle/>
          <a:p>
            <a:pPr indent="0" marL="0">
              <a:buNone/>
            </a:pPr>
            <a:r>
              <a:rPr lang="en-US" sz="1500" dirty="0">
                <a:solidFill>
                  <a:srgbClr val="15171C"/>
                </a:solidFill>
              </a:rPr>
              <a:t>of victims are aged 18–30</a:t>
            </a:r>
            <a:endParaRPr lang="en-US" sz="1500" dirty="0"/>
          </a:p>
        </p:txBody>
      </p:sp>
      <p:sp>
        <p:nvSpPr>
          <p:cNvPr id="24" name="Shape 19"/>
          <p:cNvSpPr/>
          <p:nvPr/>
        </p:nvSpPr>
        <p:spPr>
          <a:xfrm>
            <a:off x="7086600" y="4919472"/>
            <a:ext cx="4556455" cy="0"/>
          </a:xfrm>
          <a:prstGeom prst="line">
            <a:avLst/>
          </a:prstGeom>
          <a:noFill/>
          <a:ln w="12700">
            <a:solidFill>
              <a:srgbClr val="D9DCE1"/>
            </a:solidFill>
            <a:prstDash val="solid"/>
          </a:ln>
        </p:spPr>
      </p:sp>
      <p:sp>
        <p:nvSpPr>
          <p:cNvPr id="25" name="Text 20"/>
          <p:cNvSpPr txBox="1"/>
          <p:nvPr/>
        </p:nvSpPr>
        <p:spPr>
          <a:xfrm>
            <a:off x="7086600" y="4983480"/>
            <a:ext cx="1600200" cy="731520"/>
          </a:xfrm>
          <a:prstGeom prst="rect">
            <a:avLst/>
          </a:prstGeom>
          <a:noFill/>
          <a:ln/>
        </p:spPr>
        <p:txBody>
          <a:bodyPr wrap="square" lIns="0" tIns="0" rIns="0" bIns="0" rtlCol="0" anchor="ctr"/>
          <a:lstStyle/>
          <a:p>
            <a:pPr indent="0" marL="0">
              <a:buNone/>
            </a:pPr>
            <a:r>
              <a:rPr lang="en-US" sz="3200" b="1" dirty="0">
                <a:solidFill>
                  <a:srgbClr val="E0312B"/>
                </a:solidFill>
              </a:rPr>
              <a:t>12%</a:t>
            </a:r>
            <a:endParaRPr lang="en-US" sz="3200" dirty="0"/>
          </a:p>
        </p:txBody>
      </p:sp>
      <p:sp>
        <p:nvSpPr>
          <p:cNvPr id="26" name="Text 21"/>
          <p:cNvSpPr txBox="1"/>
          <p:nvPr/>
        </p:nvSpPr>
        <p:spPr>
          <a:xfrm>
            <a:off x="8778240" y="4983480"/>
            <a:ext cx="2864815" cy="731520"/>
          </a:xfrm>
          <a:prstGeom prst="rect">
            <a:avLst/>
          </a:prstGeom>
          <a:noFill/>
          <a:ln/>
        </p:spPr>
        <p:txBody>
          <a:bodyPr wrap="square" lIns="0" tIns="0" rIns="0" bIns="0" rtlCol="0" anchor="ctr"/>
          <a:lstStyle/>
          <a:p>
            <a:pPr indent="0" marL="0">
              <a:buNone/>
            </a:pPr>
            <a:r>
              <a:rPr lang="en-US" sz="1500" dirty="0">
                <a:solidFill>
                  <a:srgbClr val="15171C"/>
                </a:solidFill>
              </a:rPr>
              <a:t>reported it to the police</a:t>
            </a:r>
            <a:endParaRPr lang="en-US" sz="1500" dirty="0"/>
          </a:p>
        </p:txBody>
      </p:sp>
      <p:sp>
        <p:nvSpPr>
          <p:cNvPr id="27" name="Text 22"/>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Sources: Cohen &amp; Felson (1979); Cyber Crime Awareness Foundation (2024), reported by Dhaka Tribune; Statista (2025).</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02  /  THE OFFENDER’S CHECKLIST</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A hacker sizes up every account with five questions</a:t>
            </a:r>
            <a:endParaRPr lang="en-US" sz="3000" dirty="0"/>
          </a:p>
        </p:txBody>
      </p:sp>
      <p:sp>
        <p:nvSpPr>
          <p:cNvPr id="4" name="Text 2"/>
          <p:cNvSpPr txBox="1"/>
          <p:nvPr/>
        </p:nvSpPr>
        <p:spPr>
          <a:xfrm>
            <a:off x="548640" y="1600200"/>
            <a:ext cx="548640" cy="658368"/>
          </a:xfrm>
          <a:prstGeom prst="rect">
            <a:avLst/>
          </a:prstGeom>
          <a:noFill/>
          <a:ln/>
        </p:spPr>
        <p:txBody>
          <a:bodyPr wrap="square" lIns="0" tIns="0" rIns="0" bIns="0" rtlCol="0" anchor="ctr"/>
          <a:lstStyle/>
          <a:p>
            <a:pPr indent="0" marL="0">
              <a:buNone/>
            </a:pPr>
            <a:r>
              <a:rPr lang="en-US" sz="2200" b="1" dirty="0">
                <a:solidFill>
                  <a:srgbClr val="E0312B"/>
                </a:solidFill>
              </a:rPr>
              <a:t>01</a:t>
            </a:r>
            <a:endParaRPr lang="en-US" sz="2200" dirty="0"/>
          </a:p>
        </p:txBody>
      </p:sp>
      <p:sp>
        <p:nvSpPr>
          <p:cNvPr id="5" name="Text 3"/>
          <p:cNvSpPr txBox="1"/>
          <p:nvPr/>
        </p:nvSpPr>
        <p:spPr>
          <a:xfrm>
            <a:off x="1188720" y="1600200"/>
            <a:ext cx="5394960" cy="658368"/>
          </a:xfrm>
          <a:prstGeom prst="rect">
            <a:avLst/>
          </a:prstGeom>
          <a:noFill/>
          <a:ln/>
        </p:spPr>
        <p:txBody>
          <a:bodyPr wrap="square" lIns="0" tIns="0" rIns="0" bIns="0" rtlCol="0" anchor="ctr"/>
          <a:lstStyle/>
          <a:p>
            <a:pPr indent="0" marL="0">
              <a:buNone/>
            </a:pPr>
            <a:r>
              <a:rPr lang="en-US" sz="1800" i="1" dirty="0">
                <a:solidFill>
                  <a:srgbClr val="15171C"/>
                </a:solidFill>
              </a:rPr>
              <a:t>“Can I get in with just a stolen password?”</a:t>
            </a:r>
            <a:endParaRPr lang="en-US" sz="1800" dirty="0"/>
          </a:p>
        </p:txBody>
      </p:sp>
      <p:pic>
        <p:nvPicPr>
          <p:cNvPr id="6" name="guardian 1" descr="guardian">    </p:cNvPr>
          <p:cNvPicPr>
            <a:picLocks noChangeAspect="1"/>
          </p:cNvPicPr>
          <p:nvPr/>
        </p:nvPicPr>
        <p:blipFill>
          <a:blip r:embed="rId1"/>
          <a:stretch>
            <a:fillRect/>
          </a:stretch>
        </p:blipFill>
        <p:spPr>
          <a:xfrm>
            <a:off x="6812280" y="1783080"/>
            <a:ext cx="292608" cy="292608"/>
          </a:xfrm>
          <a:prstGeom prst="rect">
            <a:avLst/>
          </a:prstGeom>
        </p:spPr>
      </p:pic>
      <p:sp>
        <p:nvSpPr>
          <p:cNvPr id="7" name="Login protection circle"/>
          <p:cNvSpPr/>
          <p:nvPr/>
        </p:nvSpPr>
        <p:spPr>
          <a:xfrm>
            <a:off x="7269480" y="1691640"/>
            <a:ext cx="475488" cy="475488"/>
          </a:xfrm>
          <a:prstGeom prst="ellipse">
            <a:avLst/>
          </a:prstGeom>
          <a:solidFill>
            <a:srgbClr val="2557D6"/>
          </a:solidFill>
          <a:ln/>
        </p:spPr>
      </p:sp>
      <p:pic>
        <p:nvPicPr>
          <p:cNvPr id="8" name="Login protection icon" descr="Login protection">    </p:cNvPr>
          <p:cNvPicPr>
            <a:picLocks noChangeAspect="1"/>
          </p:cNvPicPr>
          <p:nvPr/>
        </p:nvPicPr>
        <p:blipFill>
          <a:blip r:embed="rId2"/>
          <a:stretch>
            <a:fillRect/>
          </a:stretch>
        </p:blipFill>
        <p:spPr>
          <a:xfrm>
            <a:off x="7388352" y="1810512"/>
            <a:ext cx="237744" cy="237744"/>
          </a:xfrm>
          <a:prstGeom prst="rect">
            <a:avLst/>
          </a:prstGeom>
        </p:spPr>
      </p:pic>
      <p:sp>
        <p:nvSpPr>
          <p:cNvPr id="9" name="Text 5"/>
          <p:cNvSpPr txBox="1"/>
          <p:nvPr/>
        </p:nvSpPr>
        <p:spPr>
          <a:xfrm>
            <a:off x="7863840" y="1600200"/>
            <a:ext cx="2560320" cy="658368"/>
          </a:xfrm>
          <a:prstGeom prst="rect">
            <a:avLst/>
          </a:prstGeom>
          <a:noFill/>
          <a:ln/>
        </p:spPr>
        <p:txBody>
          <a:bodyPr wrap="square" lIns="0" tIns="0" rIns="0" bIns="0" rtlCol="0" anchor="ctr"/>
          <a:lstStyle/>
          <a:p>
            <a:pPr indent="0" marL="0">
              <a:buNone/>
            </a:pPr>
            <a:r>
              <a:rPr lang="en-US" sz="1700" b="1" dirty="0">
                <a:solidFill>
                  <a:srgbClr val="2557D6"/>
                </a:solidFill>
              </a:rPr>
              <a:t>Login protection</a:t>
            </a:r>
            <a:endParaRPr lang="en-US" sz="1700" dirty="0"/>
          </a:p>
        </p:txBody>
      </p:sp>
      <p:sp>
        <p:nvSpPr>
          <p:cNvPr id="10" name="Shape 6"/>
          <p:cNvSpPr/>
          <p:nvPr/>
        </p:nvSpPr>
        <p:spPr>
          <a:xfrm>
            <a:off x="548640" y="2322576"/>
            <a:ext cx="11094415" cy="0"/>
          </a:xfrm>
          <a:prstGeom prst="line">
            <a:avLst/>
          </a:prstGeom>
          <a:noFill/>
          <a:ln w="12700">
            <a:solidFill>
              <a:srgbClr val="D9DCE1"/>
            </a:solidFill>
            <a:prstDash val="solid"/>
          </a:ln>
        </p:spPr>
      </p:sp>
      <p:sp>
        <p:nvSpPr>
          <p:cNvPr id="11" name="Text 7"/>
          <p:cNvSpPr txBox="1"/>
          <p:nvPr/>
        </p:nvSpPr>
        <p:spPr>
          <a:xfrm>
            <a:off x="548640" y="2386584"/>
            <a:ext cx="548640" cy="658368"/>
          </a:xfrm>
          <a:prstGeom prst="rect">
            <a:avLst/>
          </a:prstGeom>
          <a:noFill/>
          <a:ln/>
        </p:spPr>
        <p:txBody>
          <a:bodyPr wrap="square" lIns="0" tIns="0" rIns="0" bIns="0" rtlCol="0" anchor="ctr"/>
          <a:lstStyle/>
          <a:p>
            <a:pPr indent="0" marL="0">
              <a:buNone/>
            </a:pPr>
            <a:r>
              <a:rPr lang="en-US" sz="2200" b="1" dirty="0">
                <a:solidFill>
                  <a:srgbClr val="E0312B"/>
                </a:solidFill>
              </a:rPr>
              <a:t>02</a:t>
            </a:r>
            <a:endParaRPr lang="en-US" sz="2200" dirty="0"/>
          </a:p>
        </p:txBody>
      </p:sp>
      <p:sp>
        <p:nvSpPr>
          <p:cNvPr id="12" name="Text 8"/>
          <p:cNvSpPr txBox="1"/>
          <p:nvPr/>
        </p:nvSpPr>
        <p:spPr>
          <a:xfrm>
            <a:off x="1188720" y="2386584"/>
            <a:ext cx="5394960" cy="658368"/>
          </a:xfrm>
          <a:prstGeom prst="rect">
            <a:avLst/>
          </a:prstGeom>
          <a:noFill/>
          <a:ln/>
        </p:spPr>
        <p:txBody>
          <a:bodyPr wrap="square" lIns="0" tIns="0" rIns="0" bIns="0" rtlCol="0" anchor="ctr"/>
          <a:lstStyle/>
          <a:p>
            <a:pPr indent="0" marL="0">
              <a:buNone/>
            </a:pPr>
            <a:r>
              <a:rPr lang="en-US" sz="1800" i="1" dirty="0">
                <a:solidFill>
                  <a:srgbClr val="15171C"/>
                </a:solidFill>
              </a:rPr>
              <a:t>“Can messages be read on the company’s servers?”</a:t>
            </a:r>
            <a:endParaRPr lang="en-US" sz="1800" dirty="0"/>
          </a:p>
        </p:txBody>
      </p:sp>
      <p:pic>
        <p:nvPicPr>
          <p:cNvPr id="13" name="guardian 2" descr="guardian">    </p:cNvPr>
          <p:cNvPicPr>
            <a:picLocks noChangeAspect="1"/>
          </p:cNvPicPr>
          <p:nvPr/>
        </p:nvPicPr>
        <p:blipFill>
          <a:blip r:embed="rId3"/>
          <a:stretch>
            <a:fillRect/>
          </a:stretch>
        </p:blipFill>
        <p:spPr>
          <a:xfrm>
            <a:off x="6812280" y="2569464"/>
            <a:ext cx="292608" cy="292608"/>
          </a:xfrm>
          <a:prstGeom prst="rect">
            <a:avLst/>
          </a:prstGeom>
        </p:spPr>
      </p:pic>
      <p:sp>
        <p:nvSpPr>
          <p:cNvPr id="14" name="Encryption by default circle"/>
          <p:cNvSpPr/>
          <p:nvPr/>
        </p:nvSpPr>
        <p:spPr>
          <a:xfrm>
            <a:off x="7269480" y="2478024"/>
            <a:ext cx="475488" cy="475488"/>
          </a:xfrm>
          <a:prstGeom prst="ellipse">
            <a:avLst/>
          </a:prstGeom>
          <a:solidFill>
            <a:srgbClr val="2557D6"/>
          </a:solidFill>
          <a:ln/>
        </p:spPr>
      </p:sp>
      <p:pic>
        <p:nvPicPr>
          <p:cNvPr id="15" name="Encryption by default icon" descr="Encryption by default">    </p:cNvPr>
          <p:cNvPicPr>
            <a:picLocks noChangeAspect="1"/>
          </p:cNvPicPr>
          <p:nvPr/>
        </p:nvPicPr>
        <p:blipFill>
          <a:blip r:embed="rId4"/>
          <a:stretch>
            <a:fillRect/>
          </a:stretch>
        </p:blipFill>
        <p:spPr>
          <a:xfrm>
            <a:off x="7388352" y="2596896"/>
            <a:ext cx="237744" cy="237744"/>
          </a:xfrm>
          <a:prstGeom prst="rect">
            <a:avLst/>
          </a:prstGeom>
        </p:spPr>
      </p:pic>
      <p:sp>
        <p:nvSpPr>
          <p:cNvPr id="16" name="Text 10"/>
          <p:cNvSpPr txBox="1"/>
          <p:nvPr/>
        </p:nvSpPr>
        <p:spPr>
          <a:xfrm>
            <a:off x="7863840" y="2386584"/>
            <a:ext cx="2560320" cy="658368"/>
          </a:xfrm>
          <a:prstGeom prst="rect">
            <a:avLst/>
          </a:prstGeom>
          <a:noFill/>
          <a:ln/>
        </p:spPr>
        <p:txBody>
          <a:bodyPr wrap="square" lIns="0" tIns="0" rIns="0" bIns="0" rtlCol="0" anchor="ctr"/>
          <a:lstStyle/>
          <a:p>
            <a:pPr indent="0" marL="0">
              <a:buNone/>
            </a:pPr>
            <a:r>
              <a:rPr lang="en-US" sz="1700" b="1" dirty="0">
                <a:solidFill>
                  <a:srgbClr val="2557D6"/>
                </a:solidFill>
              </a:rPr>
              <a:t>Encryption by default</a:t>
            </a:r>
            <a:endParaRPr lang="en-US" sz="1700" dirty="0"/>
          </a:p>
        </p:txBody>
      </p:sp>
      <p:sp>
        <p:nvSpPr>
          <p:cNvPr id="17" name="Shape 11"/>
          <p:cNvSpPr/>
          <p:nvPr/>
        </p:nvSpPr>
        <p:spPr>
          <a:xfrm>
            <a:off x="548640" y="3108960"/>
            <a:ext cx="11094415" cy="0"/>
          </a:xfrm>
          <a:prstGeom prst="line">
            <a:avLst/>
          </a:prstGeom>
          <a:noFill/>
          <a:ln w="12700">
            <a:solidFill>
              <a:srgbClr val="D9DCE1"/>
            </a:solidFill>
            <a:prstDash val="solid"/>
          </a:ln>
        </p:spPr>
      </p:sp>
      <p:sp>
        <p:nvSpPr>
          <p:cNvPr id="18" name="Text 12"/>
          <p:cNvSpPr txBox="1"/>
          <p:nvPr/>
        </p:nvSpPr>
        <p:spPr>
          <a:xfrm>
            <a:off x="548640" y="3172968"/>
            <a:ext cx="548640" cy="658368"/>
          </a:xfrm>
          <a:prstGeom prst="rect">
            <a:avLst/>
          </a:prstGeom>
          <a:noFill/>
          <a:ln/>
        </p:spPr>
        <p:txBody>
          <a:bodyPr wrap="square" lIns="0" tIns="0" rIns="0" bIns="0" rtlCol="0" anchor="ctr"/>
          <a:lstStyle/>
          <a:p>
            <a:pPr indent="0" marL="0">
              <a:buNone/>
            </a:pPr>
            <a:r>
              <a:rPr lang="en-US" sz="2200" b="1" dirty="0">
                <a:solidFill>
                  <a:srgbClr val="E0312B"/>
                </a:solidFill>
              </a:rPr>
              <a:t>03</a:t>
            </a:r>
            <a:endParaRPr lang="en-US" sz="2200" dirty="0"/>
          </a:p>
        </p:txBody>
      </p:sp>
      <p:sp>
        <p:nvSpPr>
          <p:cNvPr id="19" name="Text 13"/>
          <p:cNvSpPr txBox="1"/>
          <p:nvPr/>
        </p:nvSpPr>
        <p:spPr>
          <a:xfrm>
            <a:off x="1188720" y="3172968"/>
            <a:ext cx="5394960" cy="658368"/>
          </a:xfrm>
          <a:prstGeom prst="rect">
            <a:avLst/>
          </a:prstGeom>
          <a:noFill/>
          <a:ln/>
        </p:spPr>
        <p:txBody>
          <a:bodyPr wrap="square" lIns="0" tIns="0" rIns="0" bIns="0" rtlCol="0" anchor="ctr"/>
          <a:lstStyle/>
          <a:p>
            <a:pPr indent="0" marL="0">
              <a:buNone/>
            </a:pPr>
            <a:r>
              <a:rPr lang="en-US" sz="1800" i="1" dirty="0">
                <a:solidFill>
                  <a:srgbClr val="15171C"/>
                </a:solidFill>
              </a:rPr>
              <a:t>“Will the owner be warned that I’m in?”</a:t>
            </a:r>
            <a:endParaRPr lang="en-US" sz="1800" dirty="0"/>
          </a:p>
        </p:txBody>
      </p:sp>
      <p:pic>
        <p:nvPicPr>
          <p:cNvPr id="20" name="guardian 3" descr="guardian">    </p:cNvPr>
          <p:cNvPicPr>
            <a:picLocks noChangeAspect="1"/>
          </p:cNvPicPr>
          <p:nvPr/>
        </p:nvPicPr>
        <p:blipFill>
          <a:blip r:embed="rId5"/>
          <a:stretch>
            <a:fillRect/>
          </a:stretch>
        </p:blipFill>
        <p:spPr>
          <a:xfrm>
            <a:off x="6812280" y="3355848"/>
            <a:ext cx="292608" cy="292608"/>
          </a:xfrm>
          <a:prstGeom prst="rect">
            <a:avLst/>
          </a:prstGeom>
        </p:spPr>
      </p:pic>
      <p:sp>
        <p:nvSpPr>
          <p:cNvPr id="21" name="Threat alerts circle"/>
          <p:cNvSpPr/>
          <p:nvPr/>
        </p:nvSpPr>
        <p:spPr>
          <a:xfrm>
            <a:off x="7269480" y="3264408"/>
            <a:ext cx="475488" cy="475488"/>
          </a:xfrm>
          <a:prstGeom prst="ellipse">
            <a:avLst/>
          </a:prstGeom>
          <a:solidFill>
            <a:srgbClr val="2557D6"/>
          </a:solidFill>
          <a:ln/>
        </p:spPr>
      </p:sp>
      <p:pic>
        <p:nvPicPr>
          <p:cNvPr id="22" name="Threat alerts icon" descr="Threat alerts">    </p:cNvPr>
          <p:cNvPicPr>
            <a:picLocks noChangeAspect="1"/>
          </p:cNvPicPr>
          <p:nvPr/>
        </p:nvPicPr>
        <p:blipFill>
          <a:blip r:embed="rId6"/>
          <a:stretch>
            <a:fillRect/>
          </a:stretch>
        </p:blipFill>
        <p:spPr>
          <a:xfrm>
            <a:off x="7388352" y="3383280"/>
            <a:ext cx="237744" cy="237744"/>
          </a:xfrm>
          <a:prstGeom prst="rect">
            <a:avLst/>
          </a:prstGeom>
        </p:spPr>
      </p:pic>
      <p:sp>
        <p:nvSpPr>
          <p:cNvPr id="23" name="Text 15"/>
          <p:cNvSpPr txBox="1"/>
          <p:nvPr/>
        </p:nvSpPr>
        <p:spPr>
          <a:xfrm>
            <a:off x="7863840" y="3172968"/>
            <a:ext cx="2560320" cy="658368"/>
          </a:xfrm>
          <a:prstGeom prst="rect">
            <a:avLst/>
          </a:prstGeom>
          <a:noFill/>
          <a:ln/>
        </p:spPr>
        <p:txBody>
          <a:bodyPr wrap="square" lIns="0" tIns="0" rIns="0" bIns="0" rtlCol="0" anchor="ctr"/>
          <a:lstStyle/>
          <a:p>
            <a:pPr indent="0" marL="0">
              <a:buNone/>
            </a:pPr>
            <a:r>
              <a:rPr lang="en-US" sz="1700" b="1" dirty="0">
                <a:solidFill>
                  <a:srgbClr val="2557D6"/>
                </a:solidFill>
              </a:rPr>
              <a:t>Threat alerts</a:t>
            </a:r>
            <a:endParaRPr lang="en-US" sz="1700" dirty="0"/>
          </a:p>
        </p:txBody>
      </p:sp>
      <p:sp>
        <p:nvSpPr>
          <p:cNvPr id="24" name="Shape 16"/>
          <p:cNvSpPr/>
          <p:nvPr/>
        </p:nvSpPr>
        <p:spPr>
          <a:xfrm>
            <a:off x="548640" y="3895344"/>
            <a:ext cx="11094415" cy="0"/>
          </a:xfrm>
          <a:prstGeom prst="line">
            <a:avLst/>
          </a:prstGeom>
          <a:noFill/>
          <a:ln w="12700">
            <a:solidFill>
              <a:srgbClr val="D9DCE1"/>
            </a:solidFill>
            <a:prstDash val="solid"/>
          </a:ln>
        </p:spPr>
      </p:sp>
      <p:sp>
        <p:nvSpPr>
          <p:cNvPr id="25" name="Text 17"/>
          <p:cNvSpPr txBox="1"/>
          <p:nvPr/>
        </p:nvSpPr>
        <p:spPr>
          <a:xfrm>
            <a:off x="548640" y="3959352"/>
            <a:ext cx="548640" cy="658368"/>
          </a:xfrm>
          <a:prstGeom prst="rect">
            <a:avLst/>
          </a:prstGeom>
          <a:noFill/>
          <a:ln/>
        </p:spPr>
        <p:txBody>
          <a:bodyPr wrap="square" lIns="0" tIns="0" rIns="0" bIns="0" rtlCol="0" anchor="ctr"/>
          <a:lstStyle/>
          <a:p>
            <a:pPr indent="0" marL="0">
              <a:buNone/>
            </a:pPr>
            <a:r>
              <a:rPr lang="en-US" sz="2200" b="1" dirty="0">
                <a:solidFill>
                  <a:srgbClr val="E0312B"/>
                </a:solidFill>
              </a:rPr>
              <a:t>04</a:t>
            </a:r>
            <a:endParaRPr lang="en-US" sz="2200" dirty="0"/>
          </a:p>
        </p:txBody>
      </p:sp>
      <p:sp>
        <p:nvSpPr>
          <p:cNvPr id="26" name="Text 18"/>
          <p:cNvSpPr txBox="1"/>
          <p:nvPr/>
        </p:nvSpPr>
        <p:spPr>
          <a:xfrm>
            <a:off x="1188720" y="3959352"/>
            <a:ext cx="5394960" cy="658368"/>
          </a:xfrm>
          <a:prstGeom prst="rect">
            <a:avLst/>
          </a:prstGeom>
          <a:noFill/>
          <a:ln/>
        </p:spPr>
        <p:txBody>
          <a:bodyPr wrap="square" lIns="0" tIns="0" rIns="0" bIns="0" rtlCol="0" anchor="ctr"/>
          <a:lstStyle/>
          <a:p>
            <a:pPr indent="0" marL="0">
              <a:buNone/>
            </a:pPr>
            <a:r>
              <a:rPr lang="en-US" sz="1800" i="1" dirty="0">
                <a:solidFill>
                  <a:srgbClr val="15171C"/>
                </a:solidFill>
              </a:rPr>
              <a:t>“Can I lock the real owner out?”</a:t>
            </a:r>
            <a:endParaRPr lang="en-US" sz="1800" dirty="0"/>
          </a:p>
        </p:txBody>
      </p:sp>
      <p:pic>
        <p:nvPicPr>
          <p:cNvPr id="27" name="guardian 4" descr="guardian">    </p:cNvPr>
          <p:cNvPicPr>
            <a:picLocks noChangeAspect="1"/>
          </p:cNvPicPr>
          <p:nvPr/>
        </p:nvPicPr>
        <p:blipFill>
          <a:blip r:embed="rId7"/>
          <a:stretch>
            <a:fillRect/>
          </a:stretch>
        </p:blipFill>
        <p:spPr>
          <a:xfrm>
            <a:off x="6812280" y="4142232"/>
            <a:ext cx="292608" cy="292608"/>
          </a:xfrm>
          <a:prstGeom prst="rect">
            <a:avLst/>
          </a:prstGeom>
        </p:spPr>
      </p:pic>
      <p:sp>
        <p:nvSpPr>
          <p:cNvPr id="28" name="Recovery safety circle"/>
          <p:cNvSpPr/>
          <p:nvPr/>
        </p:nvSpPr>
        <p:spPr>
          <a:xfrm>
            <a:off x="7269480" y="4050792"/>
            <a:ext cx="475488" cy="475488"/>
          </a:xfrm>
          <a:prstGeom prst="ellipse">
            <a:avLst/>
          </a:prstGeom>
          <a:solidFill>
            <a:srgbClr val="2557D6"/>
          </a:solidFill>
          <a:ln/>
        </p:spPr>
      </p:sp>
      <p:pic>
        <p:nvPicPr>
          <p:cNvPr id="29" name="Recovery safety icon" descr="Recovery safety">    </p:cNvPr>
          <p:cNvPicPr>
            <a:picLocks noChangeAspect="1"/>
          </p:cNvPicPr>
          <p:nvPr/>
        </p:nvPicPr>
        <p:blipFill>
          <a:blip r:embed="rId8"/>
          <a:stretch>
            <a:fillRect/>
          </a:stretch>
        </p:blipFill>
        <p:spPr>
          <a:xfrm>
            <a:off x="7388352" y="4169664"/>
            <a:ext cx="237744" cy="237744"/>
          </a:xfrm>
          <a:prstGeom prst="rect">
            <a:avLst/>
          </a:prstGeom>
        </p:spPr>
      </p:pic>
      <p:sp>
        <p:nvSpPr>
          <p:cNvPr id="30" name="Text 20"/>
          <p:cNvSpPr txBox="1"/>
          <p:nvPr/>
        </p:nvSpPr>
        <p:spPr>
          <a:xfrm>
            <a:off x="7863840" y="3959352"/>
            <a:ext cx="2560320" cy="658368"/>
          </a:xfrm>
          <a:prstGeom prst="rect">
            <a:avLst/>
          </a:prstGeom>
          <a:noFill/>
          <a:ln/>
        </p:spPr>
        <p:txBody>
          <a:bodyPr wrap="square" lIns="0" tIns="0" rIns="0" bIns="0" rtlCol="0" anchor="ctr"/>
          <a:lstStyle/>
          <a:p>
            <a:pPr indent="0" marL="0">
              <a:buNone/>
            </a:pPr>
            <a:r>
              <a:rPr lang="en-US" sz="1700" b="1" dirty="0">
                <a:solidFill>
                  <a:srgbClr val="2557D6"/>
                </a:solidFill>
              </a:rPr>
              <a:t>Recovery safety</a:t>
            </a:r>
            <a:endParaRPr lang="en-US" sz="1700" dirty="0"/>
          </a:p>
        </p:txBody>
      </p:sp>
      <p:sp>
        <p:nvSpPr>
          <p:cNvPr id="31" name="Shape 21"/>
          <p:cNvSpPr/>
          <p:nvPr/>
        </p:nvSpPr>
        <p:spPr>
          <a:xfrm>
            <a:off x="548640" y="4681728"/>
            <a:ext cx="11094415" cy="0"/>
          </a:xfrm>
          <a:prstGeom prst="line">
            <a:avLst/>
          </a:prstGeom>
          <a:noFill/>
          <a:ln w="12700">
            <a:solidFill>
              <a:srgbClr val="D9DCE1"/>
            </a:solidFill>
            <a:prstDash val="solid"/>
          </a:ln>
        </p:spPr>
      </p:sp>
      <p:sp>
        <p:nvSpPr>
          <p:cNvPr id="32" name="Text 22"/>
          <p:cNvSpPr txBox="1"/>
          <p:nvPr/>
        </p:nvSpPr>
        <p:spPr>
          <a:xfrm>
            <a:off x="548640" y="4745736"/>
            <a:ext cx="548640" cy="658368"/>
          </a:xfrm>
          <a:prstGeom prst="rect">
            <a:avLst/>
          </a:prstGeom>
          <a:noFill/>
          <a:ln/>
        </p:spPr>
        <p:txBody>
          <a:bodyPr wrap="square" lIns="0" tIns="0" rIns="0" bIns="0" rtlCol="0" anchor="ctr"/>
          <a:lstStyle/>
          <a:p>
            <a:pPr indent="0" marL="0">
              <a:buNone/>
            </a:pPr>
            <a:r>
              <a:rPr lang="en-US" sz="2200" b="1" dirty="0">
                <a:solidFill>
                  <a:srgbClr val="E0312B"/>
                </a:solidFill>
              </a:rPr>
              <a:t>05</a:t>
            </a:r>
            <a:endParaRPr lang="en-US" sz="2200" dirty="0"/>
          </a:p>
        </p:txBody>
      </p:sp>
      <p:sp>
        <p:nvSpPr>
          <p:cNvPr id="33" name="Text 23"/>
          <p:cNvSpPr txBox="1"/>
          <p:nvPr/>
        </p:nvSpPr>
        <p:spPr>
          <a:xfrm>
            <a:off x="1188720" y="4745736"/>
            <a:ext cx="5394960" cy="658368"/>
          </a:xfrm>
          <a:prstGeom prst="rect">
            <a:avLst/>
          </a:prstGeom>
          <a:noFill/>
          <a:ln/>
        </p:spPr>
        <p:txBody>
          <a:bodyPr wrap="square" lIns="0" tIns="0" rIns="0" bIns="0" rtlCol="0" anchor="ctr"/>
          <a:lstStyle/>
          <a:p>
            <a:pPr indent="0" marL="0">
              <a:buNone/>
            </a:pPr>
            <a:r>
              <a:rPr lang="en-US" sz="1800" i="1" dirty="0">
                <a:solidFill>
                  <a:srgbClr val="15171C"/>
                </a:solidFill>
              </a:rPr>
              <a:t>“Can I find and message the victim?”</a:t>
            </a:r>
            <a:endParaRPr lang="en-US" sz="1800" dirty="0"/>
          </a:p>
        </p:txBody>
      </p:sp>
      <p:pic>
        <p:nvPicPr>
          <p:cNvPr id="34" name="guardian 5" descr="guardian">    </p:cNvPr>
          <p:cNvPicPr>
            <a:picLocks noChangeAspect="1"/>
          </p:cNvPicPr>
          <p:nvPr/>
        </p:nvPicPr>
        <p:blipFill>
          <a:blip r:embed="rId9"/>
          <a:stretch>
            <a:fillRect/>
          </a:stretch>
        </p:blipFill>
        <p:spPr>
          <a:xfrm>
            <a:off x="6812280" y="4928616"/>
            <a:ext cx="292608" cy="292608"/>
          </a:xfrm>
          <a:prstGeom prst="rect">
            <a:avLst/>
          </a:prstGeom>
        </p:spPr>
      </p:pic>
      <p:sp>
        <p:nvSpPr>
          <p:cNvPr id="35" name="Privacy controls circle"/>
          <p:cNvSpPr/>
          <p:nvPr/>
        </p:nvSpPr>
        <p:spPr>
          <a:xfrm>
            <a:off x="7269480" y="4837176"/>
            <a:ext cx="475488" cy="475488"/>
          </a:xfrm>
          <a:prstGeom prst="ellipse">
            <a:avLst/>
          </a:prstGeom>
          <a:solidFill>
            <a:srgbClr val="2557D6"/>
          </a:solidFill>
          <a:ln/>
        </p:spPr>
      </p:sp>
      <p:pic>
        <p:nvPicPr>
          <p:cNvPr id="36" name="Privacy controls icon" descr="Privacy controls">    </p:cNvPr>
          <p:cNvPicPr>
            <a:picLocks noChangeAspect="1"/>
          </p:cNvPicPr>
          <p:nvPr/>
        </p:nvPicPr>
        <p:blipFill>
          <a:blip r:embed="rId10"/>
          <a:stretch>
            <a:fillRect/>
          </a:stretch>
        </p:blipFill>
        <p:spPr>
          <a:xfrm>
            <a:off x="7388352" y="4956048"/>
            <a:ext cx="237744" cy="237744"/>
          </a:xfrm>
          <a:prstGeom prst="rect">
            <a:avLst/>
          </a:prstGeom>
        </p:spPr>
      </p:pic>
      <p:sp>
        <p:nvSpPr>
          <p:cNvPr id="37" name="Text 25"/>
          <p:cNvSpPr txBox="1"/>
          <p:nvPr/>
        </p:nvSpPr>
        <p:spPr>
          <a:xfrm>
            <a:off x="7863840" y="4745736"/>
            <a:ext cx="2560320" cy="658368"/>
          </a:xfrm>
          <a:prstGeom prst="rect">
            <a:avLst/>
          </a:prstGeom>
          <a:noFill/>
          <a:ln/>
        </p:spPr>
        <p:txBody>
          <a:bodyPr wrap="square" lIns="0" tIns="0" rIns="0" bIns="0" rtlCol="0" anchor="ctr"/>
          <a:lstStyle/>
          <a:p>
            <a:pPr indent="0" marL="0">
              <a:buNone/>
            </a:pPr>
            <a:r>
              <a:rPr lang="en-US" sz="1700" b="1" dirty="0">
                <a:solidFill>
                  <a:srgbClr val="2557D6"/>
                </a:solidFill>
              </a:rPr>
              <a:t>Privacy controls</a:t>
            </a:r>
            <a:endParaRPr lang="en-US" sz="1700" dirty="0"/>
          </a:p>
        </p:txBody>
      </p:sp>
      <p:sp>
        <p:nvSpPr>
          <p:cNvPr id="38" name="Text 26"/>
          <p:cNvSpPr txBox="1"/>
          <p:nvPr/>
        </p:nvSpPr>
        <p:spPr>
          <a:xfrm>
            <a:off x="1188720" y="1280160"/>
            <a:ext cx="3657600" cy="256032"/>
          </a:xfrm>
          <a:prstGeom prst="rect">
            <a:avLst/>
          </a:prstGeom>
          <a:noFill/>
          <a:ln/>
        </p:spPr>
        <p:txBody>
          <a:bodyPr wrap="square" lIns="0" tIns="0" rIns="0" bIns="0" rtlCol="0" anchor="ctr"/>
          <a:lstStyle/>
          <a:p>
            <a:pPr indent="0" marL="0">
              <a:buNone/>
            </a:pPr>
            <a:r>
              <a:rPr lang="en-US" sz="1100" b="1" spc="200" kern="0" dirty="0">
                <a:solidFill>
                  <a:srgbClr val="E0312B"/>
                </a:solidFill>
              </a:rPr>
              <a:t>THE HACKER ASKS</a:t>
            </a:r>
            <a:endParaRPr lang="en-US" sz="1100" dirty="0"/>
          </a:p>
        </p:txBody>
      </p:sp>
      <p:sp>
        <p:nvSpPr>
          <p:cNvPr id="39" name="Text 27"/>
          <p:cNvSpPr txBox="1"/>
          <p:nvPr/>
        </p:nvSpPr>
        <p:spPr>
          <a:xfrm>
            <a:off x="7269480" y="1280160"/>
            <a:ext cx="4389120" cy="256032"/>
          </a:xfrm>
          <a:prstGeom prst="rect">
            <a:avLst/>
          </a:prstGeom>
          <a:noFill/>
          <a:ln/>
        </p:spPr>
        <p:txBody>
          <a:bodyPr wrap="square" lIns="0" tIns="0" rIns="0" bIns="0" rtlCol="0" anchor="ctr"/>
          <a:lstStyle/>
          <a:p>
            <a:pPr indent="0" marL="0">
              <a:buNone/>
            </a:pPr>
            <a:r>
              <a:rPr lang="en-US" sz="1100" b="1" spc="200" kern="0" dirty="0">
                <a:solidFill>
                  <a:srgbClr val="2557D6"/>
                </a:solidFill>
              </a:rPr>
              <a:t>THE GUARDIAN WE SCORED (1–5 EACH, MAX 25)</a:t>
            </a:r>
            <a:endParaRPr lang="en-US" sz="1100" dirty="0"/>
          </a:p>
        </p:txBody>
      </p:sp>
      <p:sp>
        <p:nvSpPr>
          <p:cNvPr id="40" name="Text 28"/>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300" dirty="0">
                <a:solidFill>
                  <a:srgbClr val="5B6170"/>
                </a:solidFill>
              </a:rPr>
              <a:t>Evidence: every security setting on our own accounts, cross-checked with official help pages and news (October 2026). Targets ranked from softest to hardest.</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03  /  SOFTEST TARGET  /  TELEGRAM</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Telegram: the softest target of the five</a:t>
            </a:r>
            <a:endParaRPr lang="en-US" sz="3000" dirty="0"/>
          </a:p>
        </p:txBody>
      </p:sp>
      <p:sp>
        <p:nvSpPr>
          <p:cNvPr id="4" name="hacker panel"/>
          <p:cNvSpPr/>
          <p:nvPr/>
        </p:nvSpPr>
        <p:spPr>
          <a:xfrm>
            <a:off x="548640" y="1600200"/>
            <a:ext cx="3794760" cy="4343400"/>
          </a:xfrm>
          <a:prstGeom prst="rect">
            <a:avLst/>
          </a:prstGeom>
          <a:solidFill>
            <a:srgbClr val="E0312B"/>
          </a:solidFill>
          <a:ln/>
        </p:spPr>
      </p:sp>
      <p:sp>
        <p:nvSpPr>
          <p:cNvPr id="5" name="Telegram circle"/>
          <p:cNvSpPr/>
          <p:nvPr/>
        </p:nvSpPr>
        <p:spPr>
          <a:xfrm>
            <a:off x="822960" y="1810512"/>
            <a:ext cx="548640" cy="548640"/>
          </a:xfrm>
          <a:prstGeom prst="ellipse">
            <a:avLst/>
          </a:prstGeom>
          <a:solidFill>
            <a:srgbClr val="8F1D18"/>
          </a:solidFill>
          <a:ln/>
        </p:spPr>
      </p:sp>
      <p:pic>
        <p:nvPicPr>
          <p:cNvPr id="6" name="Telegram icon" descr="Telegram">    </p:cNvPr>
          <p:cNvPicPr>
            <a:picLocks noChangeAspect="1"/>
          </p:cNvPicPr>
          <p:nvPr/>
        </p:nvPicPr>
        <p:blipFill>
          <a:blip r:embed="rId1"/>
          <a:stretch>
            <a:fillRect/>
          </a:stretch>
        </p:blipFill>
        <p:spPr>
          <a:xfrm>
            <a:off x="960120" y="1947672"/>
            <a:ext cx="274320" cy="274320"/>
          </a:xfrm>
          <a:prstGeom prst="rect">
            <a:avLst/>
          </a:prstGeom>
        </p:spPr>
      </p:pic>
      <p:pic>
        <p:nvPicPr>
          <p:cNvPr id="7" name="crosshair" descr="preencoded.png">    </p:cNvPr>
          <p:cNvPicPr>
            <a:picLocks noChangeAspect="1"/>
          </p:cNvPicPr>
          <p:nvPr/>
        </p:nvPicPr>
        <p:blipFill>
          <a:blip r:embed="rId2"/>
          <a:stretch>
            <a:fillRect/>
          </a:stretch>
        </p:blipFill>
        <p:spPr>
          <a:xfrm>
            <a:off x="2011680" y="2926080"/>
            <a:ext cx="2743200" cy="2743200"/>
          </a:xfrm>
          <a:prstGeom prst="rect">
            <a:avLst/>
          </a:prstGeom>
        </p:spPr>
      </p:pic>
      <p:sp>
        <p:nvSpPr>
          <p:cNvPr id="8" name="Text 4"/>
          <p:cNvSpPr txBox="1"/>
          <p:nvPr/>
        </p:nvSpPr>
        <p:spPr>
          <a:xfrm>
            <a:off x="1508760" y="1947672"/>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rPr>
              <a:t>THE HACKER’S PLAN</a:t>
            </a:r>
            <a:endParaRPr lang="en-US" sz="1200" dirty="0"/>
          </a:p>
        </p:txBody>
      </p:sp>
      <p:sp>
        <p:nvSpPr>
          <p:cNvPr id="9" name="Text 5"/>
          <p:cNvSpPr txBox="1"/>
          <p:nvPr/>
        </p:nvSpPr>
        <p:spPr>
          <a:xfrm>
            <a:off x="822960" y="2514600"/>
            <a:ext cx="3246120" cy="1691640"/>
          </a:xfrm>
          <a:prstGeom prst="rect">
            <a:avLst/>
          </a:prstGeom>
          <a:noFill/>
          <a:ln/>
        </p:spPr>
        <p:txBody>
          <a:bodyPr wrap="square" lIns="0" tIns="0" rIns="0" bIns="0" rtlCol="0" anchor="t"/>
          <a:lstStyle/>
          <a:p>
            <a:pPr indent="0" marL="0">
              <a:buNone/>
            </a:pPr>
            <a:r>
              <a:rPr lang="en-US" sz="1800" b="1" i="1" dirty="0">
                <a:solidFill>
                  <a:schemeClr val="bg1"/>
                </a:solidFill>
              </a:rPr>
              <a:t>“Most chats aren’t end-to-end encrypted, and few users ever set a cloud password. I join their groups and wait.”</a:t>
            </a:r>
            <a:endParaRPr lang="en-US" sz="1800" dirty="0"/>
          </a:p>
        </p:txBody>
      </p:sp>
      <p:sp>
        <p:nvSpPr>
          <p:cNvPr id="10" name="Text 6"/>
          <p:cNvSpPr txBox="1"/>
          <p:nvPr/>
        </p:nvSpPr>
        <p:spPr>
          <a:xfrm>
            <a:off x="822960" y="4343400"/>
            <a:ext cx="2743200" cy="274320"/>
          </a:xfrm>
          <a:prstGeom prst="rect">
            <a:avLst/>
          </a:prstGeom>
          <a:noFill/>
          <a:ln/>
        </p:spPr>
        <p:txBody>
          <a:bodyPr wrap="square" lIns="0" tIns="0" rIns="0" bIns="0" rtlCol="0" anchor="ctr"/>
          <a:lstStyle/>
          <a:p>
            <a:pPr indent="0" marL="0">
              <a:buNone/>
            </a:pPr>
            <a:r>
              <a:rPr lang="en-US" sz="1200" b="1" spc="200" kern="0" dirty="0">
                <a:solidFill>
                  <a:srgbClr val="FFD3CF"/>
                </a:solidFill>
              </a:rPr>
              <a:t>WEAK SPOT</a:t>
            </a:r>
            <a:endParaRPr lang="en-US" sz="1200" dirty="0"/>
          </a:p>
        </p:txBody>
      </p:sp>
      <p:sp>
        <p:nvSpPr>
          <p:cNvPr id="11" name="Text 7"/>
          <p:cNvSpPr txBox="1"/>
          <p:nvPr/>
        </p:nvSpPr>
        <p:spPr>
          <a:xfrm>
            <a:off x="822960" y="4645152"/>
            <a:ext cx="3246120" cy="1188720"/>
          </a:xfrm>
          <a:prstGeom prst="rect">
            <a:avLst/>
          </a:prstGeom>
          <a:noFill/>
          <a:ln/>
        </p:spPr>
        <p:txBody>
          <a:bodyPr wrap="square" lIns="0" tIns="0" rIns="0" bIns="0" rtlCol="0" anchor="t"/>
          <a:lstStyle/>
          <a:p>
            <a:pPr indent="0" marL="0">
              <a:buNone/>
            </a:pPr>
            <a:r>
              <a:rPr lang="en-US" sz="1400" dirty="0">
                <a:solidFill>
                  <a:schemeClr val="bg1"/>
                </a:solidFill>
              </a:rPr>
              <a:t>Encryption is opt-in: ordinary chats, groups and channels sit on Telegram’s servers. Since Sept 2024, IPs and numbers can be shared on valid legal request.</a:t>
            </a:r>
            <a:endParaRPr lang="en-US" sz="1400" dirty="0"/>
          </a:p>
        </p:txBody>
      </p:sp>
      <p:sp>
        <p:nvSpPr>
          <p:cNvPr id="12" name="Text 8"/>
          <p:cNvSpPr txBox="1"/>
          <p:nvPr/>
        </p:nvSpPr>
        <p:spPr>
          <a:xfrm>
            <a:off x="4617720" y="1627632"/>
            <a:ext cx="3703320" cy="274320"/>
          </a:xfrm>
          <a:prstGeom prst="rect">
            <a:avLst/>
          </a:prstGeom>
          <a:noFill/>
          <a:ln/>
        </p:spPr>
        <p:txBody>
          <a:bodyPr wrap="square" lIns="0" tIns="0" rIns="0" bIns="0" rtlCol="0" anchor="ctr"/>
          <a:lstStyle/>
          <a:p>
            <a:pPr indent="0" marL="0">
              <a:buNone/>
            </a:pPr>
            <a:r>
              <a:rPr lang="en-US" sz="1200" b="1" spc="200" kern="0" dirty="0">
                <a:solidFill>
                  <a:srgbClr val="2557D6"/>
                </a:solidFill>
              </a:rPr>
              <a:t>GUARDIANS IN THE WAY</a:t>
            </a:r>
            <a:endParaRPr lang="en-US" sz="1200" dirty="0"/>
          </a:p>
        </p:txBody>
      </p:sp>
      <p:pic>
        <p:nvPicPr>
          <p:cNvPr id="13" name="guard 1" descr="guardian">    </p:cNvPr>
          <p:cNvPicPr>
            <a:picLocks noChangeAspect="1"/>
          </p:cNvPicPr>
          <p:nvPr/>
        </p:nvPicPr>
        <p:blipFill>
          <a:blip r:embed="rId3"/>
          <a:stretch>
            <a:fillRect/>
          </a:stretch>
        </p:blipFill>
        <p:spPr>
          <a:xfrm>
            <a:off x="4617720" y="2139696"/>
            <a:ext cx="310896" cy="310896"/>
          </a:xfrm>
          <a:prstGeom prst="rect">
            <a:avLst/>
          </a:prstGeom>
        </p:spPr>
      </p:pic>
      <p:sp>
        <p:nvSpPr>
          <p:cNvPr id="14" name="Text 9"/>
          <p:cNvSpPr txBox="1"/>
          <p:nvPr/>
        </p:nvSpPr>
        <p:spPr>
          <a:xfrm>
            <a:off x="5074920" y="2029968"/>
            <a:ext cx="3246120" cy="548640"/>
          </a:xfrm>
          <a:prstGeom prst="rect">
            <a:avLst/>
          </a:prstGeom>
          <a:noFill/>
          <a:ln/>
        </p:spPr>
        <p:txBody>
          <a:bodyPr wrap="square" lIns="0" tIns="0" rIns="0" bIns="0" rtlCol="0" anchor="ctr"/>
          <a:lstStyle/>
          <a:p>
            <a:pPr indent="0" marL="0">
              <a:buNone/>
            </a:pPr>
            <a:r>
              <a:rPr lang="en-US" sz="1500" dirty="0">
                <a:solidFill>
                  <a:srgbClr val="15171C"/>
                </a:solidFill>
              </a:rPr>
              <a:t>Two-step cloud password</a:t>
            </a:r>
            <a:endParaRPr lang="en-US" sz="1500" dirty="0"/>
          </a:p>
        </p:txBody>
      </p:sp>
      <p:sp>
        <p:nvSpPr>
          <p:cNvPr id="15" name="Shape 10"/>
          <p:cNvSpPr/>
          <p:nvPr/>
        </p:nvSpPr>
        <p:spPr>
          <a:xfrm>
            <a:off x="4617720" y="2651760"/>
            <a:ext cx="3703320" cy="0"/>
          </a:xfrm>
          <a:prstGeom prst="line">
            <a:avLst/>
          </a:prstGeom>
          <a:noFill/>
          <a:ln w="12700">
            <a:solidFill>
              <a:srgbClr val="D9DCE1"/>
            </a:solidFill>
            <a:prstDash val="solid"/>
          </a:ln>
        </p:spPr>
      </p:sp>
      <p:pic>
        <p:nvPicPr>
          <p:cNvPr id="16" name="guard 2" descr="guardian">    </p:cNvPr>
          <p:cNvPicPr>
            <a:picLocks noChangeAspect="1"/>
          </p:cNvPicPr>
          <p:nvPr/>
        </p:nvPicPr>
        <p:blipFill>
          <a:blip r:embed="rId4"/>
          <a:stretch>
            <a:fillRect/>
          </a:stretch>
        </p:blipFill>
        <p:spPr>
          <a:xfrm>
            <a:off x="4617720" y="2852928"/>
            <a:ext cx="310896" cy="310896"/>
          </a:xfrm>
          <a:prstGeom prst="rect">
            <a:avLst/>
          </a:prstGeom>
        </p:spPr>
      </p:pic>
      <p:sp>
        <p:nvSpPr>
          <p:cNvPr id="17" name="Text 11"/>
          <p:cNvSpPr txBox="1"/>
          <p:nvPr/>
        </p:nvSpPr>
        <p:spPr>
          <a:xfrm>
            <a:off x="5074920" y="2743200"/>
            <a:ext cx="3246120" cy="548640"/>
          </a:xfrm>
          <a:prstGeom prst="rect">
            <a:avLst/>
          </a:prstGeom>
          <a:noFill/>
          <a:ln/>
        </p:spPr>
        <p:txBody>
          <a:bodyPr wrap="square" lIns="0" tIns="0" rIns="0" bIns="0" rtlCol="0" anchor="ctr"/>
          <a:lstStyle/>
          <a:p>
            <a:pPr indent="0" marL="0">
              <a:buNone/>
            </a:pPr>
            <a:r>
              <a:rPr lang="en-US" sz="1500" dirty="0">
                <a:solidFill>
                  <a:srgbClr val="15171C"/>
                </a:solidFill>
              </a:rPr>
              <a:t>Passcode lock and active-session control</a:t>
            </a:r>
            <a:endParaRPr lang="en-US" sz="1500" dirty="0"/>
          </a:p>
        </p:txBody>
      </p:sp>
      <p:sp>
        <p:nvSpPr>
          <p:cNvPr id="18" name="Shape 12"/>
          <p:cNvSpPr/>
          <p:nvPr/>
        </p:nvSpPr>
        <p:spPr>
          <a:xfrm>
            <a:off x="4617720" y="3364992"/>
            <a:ext cx="3703320" cy="0"/>
          </a:xfrm>
          <a:prstGeom prst="line">
            <a:avLst/>
          </a:prstGeom>
          <a:noFill/>
          <a:ln w="12700">
            <a:solidFill>
              <a:srgbClr val="D9DCE1"/>
            </a:solidFill>
            <a:prstDash val="solid"/>
          </a:ln>
        </p:spPr>
      </p:sp>
      <p:pic>
        <p:nvPicPr>
          <p:cNvPr id="19" name="guard 3" descr="guardian">    </p:cNvPr>
          <p:cNvPicPr>
            <a:picLocks noChangeAspect="1"/>
          </p:cNvPicPr>
          <p:nvPr/>
        </p:nvPicPr>
        <p:blipFill>
          <a:blip r:embed="rId5"/>
          <a:stretch>
            <a:fillRect/>
          </a:stretch>
        </p:blipFill>
        <p:spPr>
          <a:xfrm>
            <a:off x="4617720" y="3566160"/>
            <a:ext cx="310896" cy="310896"/>
          </a:xfrm>
          <a:prstGeom prst="rect">
            <a:avLst/>
          </a:prstGeom>
        </p:spPr>
      </p:pic>
      <p:sp>
        <p:nvSpPr>
          <p:cNvPr id="20" name="Text 13"/>
          <p:cNvSpPr txBox="1"/>
          <p:nvPr/>
        </p:nvSpPr>
        <p:spPr>
          <a:xfrm>
            <a:off x="5074920" y="3456432"/>
            <a:ext cx="3246120" cy="548640"/>
          </a:xfrm>
          <a:prstGeom prst="rect">
            <a:avLst/>
          </a:prstGeom>
          <a:noFill/>
          <a:ln/>
        </p:spPr>
        <p:txBody>
          <a:bodyPr wrap="square" lIns="0" tIns="0" rIns="0" bIns="0" rtlCol="0" anchor="ctr"/>
          <a:lstStyle/>
          <a:p>
            <a:pPr indent="0" marL="0">
              <a:buNone/>
            </a:pPr>
            <a:r>
              <a:rPr lang="en-US" sz="1500" dirty="0">
                <a:solidFill>
                  <a:srgbClr val="15171C"/>
                </a:solidFill>
              </a:rPr>
              <a:t>Hide phone number; connect by username</a:t>
            </a:r>
            <a:endParaRPr lang="en-US" sz="1500" dirty="0"/>
          </a:p>
        </p:txBody>
      </p:sp>
      <p:sp>
        <p:nvSpPr>
          <p:cNvPr id="21" name="Shape 14"/>
          <p:cNvSpPr/>
          <p:nvPr/>
        </p:nvSpPr>
        <p:spPr>
          <a:xfrm>
            <a:off x="4617720" y="4078224"/>
            <a:ext cx="3703320" cy="0"/>
          </a:xfrm>
          <a:prstGeom prst="line">
            <a:avLst/>
          </a:prstGeom>
          <a:noFill/>
          <a:ln w="12700">
            <a:solidFill>
              <a:srgbClr val="D9DCE1"/>
            </a:solidFill>
            <a:prstDash val="solid"/>
          </a:ln>
        </p:spPr>
      </p:sp>
      <p:pic>
        <p:nvPicPr>
          <p:cNvPr id="22" name="guard 4" descr="guardian">    </p:cNvPr>
          <p:cNvPicPr>
            <a:picLocks noChangeAspect="1"/>
          </p:cNvPicPr>
          <p:nvPr/>
        </p:nvPicPr>
        <p:blipFill>
          <a:blip r:embed="rId6"/>
          <a:stretch>
            <a:fillRect/>
          </a:stretch>
        </p:blipFill>
        <p:spPr>
          <a:xfrm>
            <a:off x="4617720" y="4279392"/>
            <a:ext cx="310896" cy="310896"/>
          </a:xfrm>
          <a:prstGeom prst="rect">
            <a:avLst/>
          </a:prstGeom>
        </p:spPr>
      </p:pic>
      <p:sp>
        <p:nvSpPr>
          <p:cNvPr id="23" name="Text 15"/>
          <p:cNvSpPr txBox="1"/>
          <p:nvPr/>
        </p:nvSpPr>
        <p:spPr>
          <a:xfrm>
            <a:off x="5074920" y="4169664"/>
            <a:ext cx="3246120" cy="548640"/>
          </a:xfrm>
          <a:prstGeom prst="rect">
            <a:avLst/>
          </a:prstGeom>
          <a:noFill/>
          <a:ln/>
        </p:spPr>
        <p:txBody>
          <a:bodyPr wrap="square" lIns="0" tIns="0" rIns="0" bIns="0" rtlCol="0" anchor="ctr"/>
          <a:lstStyle/>
          <a:p>
            <a:pPr indent="0" marL="0">
              <a:buNone/>
            </a:pPr>
            <a:r>
              <a:rPr lang="en-US" sz="1500" dirty="0">
                <a:solidFill>
                  <a:srgbClr val="15171C"/>
                </a:solidFill>
              </a:rPr>
              <a:t>Secret Chats: end-to-end encrypted</a:t>
            </a:r>
            <a:endParaRPr lang="en-US" sz="1500" dirty="0"/>
          </a:p>
        </p:txBody>
      </p:sp>
      <p:sp>
        <p:nvSpPr>
          <p:cNvPr id="24" name="Shape 16"/>
          <p:cNvSpPr/>
          <p:nvPr/>
        </p:nvSpPr>
        <p:spPr>
          <a:xfrm>
            <a:off x="4617720" y="4791456"/>
            <a:ext cx="3703320" cy="0"/>
          </a:xfrm>
          <a:prstGeom prst="line">
            <a:avLst/>
          </a:prstGeom>
          <a:noFill/>
          <a:ln w="12700">
            <a:solidFill>
              <a:srgbClr val="D9DCE1"/>
            </a:solidFill>
            <a:prstDash val="solid"/>
          </a:ln>
        </p:spPr>
      </p:sp>
      <p:sp>
        <p:nvSpPr>
          <p:cNvPr id="25" name="add card"/>
          <p:cNvSpPr/>
          <p:nvPr/>
        </p:nvSpPr>
        <p:spPr>
          <a:xfrm>
            <a:off x="4617720" y="4937760"/>
            <a:ext cx="3703320" cy="1005840"/>
          </a:xfrm>
          <a:prstGeom prst="rect">
            <a:avLst/>
          </a:prstGeom>
          <a:solidFill>
            <a:srgbClr val="EAF0FD"/>
          </a:solidFill>
          <a:ln/>
        </p:spPr>
      </p:sp>
      <p:sp>
        <p:nvSpPr>
          <p:cNvPr id="26" name="Text 18"/>
          <p:cNvSpPr txBox="1"/>
          <p:nvPr/>
        </p:nvSpPr>
        <p:spPr>
          <a:xfrm>
            <a:off x="4800600" y="4983480"/>
            <a:ext cx="3337560" cy="914400"/>
          </a:xfrm>
          <a:prstGeom prst="rect">
            <a:avLst/>
          </a:prstGeom>
          <a:noFill/>
          <a:ln/>
        </p:spPr>
        <p:txBody>
          <a:bodyPr wrap="square" lIns="0" tIns="0" rIns="0" bIns="0" rtlCol="0" anchor="ctr"/>
          <a:lstStyle/>
          <a:p>
            <a:pPr indent="0" marL="0">
              <a:buNone/>
            </a:pPr>
            <a:r>
              <a:rPr lang="en-US" sz="1100" b="1" spc="200" kern="0" dirty="0">
                <a:solidFill>
                  <a:srgbClr val="2557D6"/>
                </a:solidFill>
              </a:rPr>
              <a:t>GUARDIAN TO ADD</a:t>
            </a:r>
            <a:endParaRPr lang="en-US" sz="1100" dirty="0"/>
          </a:p>
          <a:p>
            <a:pPr indent="0" marL="0">
              <a:buNone/>
            </a:pPr>
            <a:r>
              <a:rPr lang="en-US" sz="1400" dirty="0">
                <a:solidFill>
                  <a:srgbClr val="15171C"/>
                </a:solidFill>
              </a:rPr>
              <a:t>Encrypt one-to-one chats by default, and prompt two-step verification at sign-up.</a:t>
            </a:r>
            <a:endParaRPr lang="en-US" sz="1100" dirty="0"/>
          </a:p>
        </p:txBody>
      </p:sp>
      <p:sp>
        <p:nvSpPr>
          <p:cNvPr id="27" name="Text 19"/>
          <p:cNvSpPr txBox="1"/>
          <p:nvPr/>
        </p:nvSpPr>
        <p:spPr>
          <a:xfrm>
            <a:off x="8595360" y="1627632"/>
            <a:ext cx="3047695" cy="274320"/>
          </a:xfrm>
          <a:prstGeom prst="rect">
            <a:avLst/>
          </a:prstGeom>
          <a:noFill/>
          <a:ln/>
        </p:spPr>
        <p:txBody>
          <a:bodyPr wrap="square" lIns="0" tIns="0" rIns="0" bIns="0" rtlCol="0" anchor="ctr"/>
          <a:lstStyle/>
          <a:p>
            <a:pPr indent="0" marL="0">
              <a:buNone/>
            </a:pPr>
            <a:r>
              <a:rPr lang="en-US" sz="1200" b="1" spc="200" kern="0" dirty="0">
                <a:solidFill>
                  <a:srgbClr val="5B6170"/>
                </a:solidFill>
              </a:rPr>
              <a:t>GUARDIAN STRENGTH</a:t>
            </a:r>
            <a:endParaRPr lang="en-US" sz="1200" dirty="0"/>
          </a:p>
        </p:txBody>
      </p:sp>
      <p:sp>
        <p:nvSpPr>
          <p:cNvPr id="28" name="strength"/>
          <p:cNvSpPr txBox="1"/>
          <p:nvPr/>
        </p:nvSpPr>
        <p:spPr>
          <a:xfrm>
            <a:off x="8595360" y="1920240"/>
            <a:ext cx="3047695" cy="1097280"/>
          </a:xfrm>
          <a:prstGeom prst="rect">
            <a:avLst/>
          </a:prstGeom>
          <a:noFill/>
          <a:ln/>
        </p:spPr>
        <p:txBody>
          <a:bodyPr wrap="square" lIns="0" tIns="0" rIns="0" bIns="0" rtlCol="0" anchor="ctr"/>
          <a:lstStyle/>
          <a:p>
            <a:pPr indent="0" marL="0">
              <a:buNone/>
            </a:pPr>
            <a:r>
              <a:rPr lang="en-US" sz="7200" b="1" dirty="0">
                <a:solidFill>
                  <a:srgbClr val="2557D6"/>
                </a:solidFill>
              </a:rPr>
              <a:t>14</a:t>
            </a:r>
            <a:pPr indent="0" marL="0">
              <a:buNone/>
            </a:pPr>
            <a:r>
              <a:rPr lang="en-US" sz="2400" b="1" dirty="0">
                <a:solidFill>
                  <a:srgbClr val="5B6170"/>
                </a:solidFill>
              </a:rPr>
              <a:t>/25</a:t>
            </a:r>
            <a:endParaRPr lang="en-US" sz="7200" dirty="0"/>
          </a:p>
        </p:txBody>
      </p:sp>
      <p:sp>
        <p:nvSpPr>
          <p:cNvPr id="29" name="Text 21"/>
          <p:cNvSpPr txBox="1"/>
          <p:nvPr/>
        </p:nvSpPr>
        <p:spPr>
          <a:xfrm>
            <a:off x="8595360" y="3063240"/>
            <a:ext cx="3047695" cy="329184"/>
          </a:xfrm>
          <a:prstGeom prst="rect">
            <a:avLst/>
          </a:prstGeom>
          <a:solidFill>
            <a:srgbClr val="E0312B"/>
          </a:solidFill>
          <a:ln/>
        </p:spPr>
        <p:txBody>
          <a:bodyPr wrap="square" lIns="0" tIns="0" rIns="0" bIns="0" rtlCol="0" anchor="ctr"/>
          <a:lstStyle/>
          <a:p>
            <a:pPr algn="ctr" indent="0" marL="0">
              <a:buNone/>
            </a:pPr>
            <a:r>
              <a:rPr lang="en-US" sz="1200" b="1" spc="200" kern="0" dirty="0">
                <a:solidFill>
                  <a:schemeClr val="bg1"/>
                </a:solidFill>
              </a:rPr>
              <a:t>SOFTEST TARGET</a:t>
            </a:r>
            <a:endParaRPr lang="en-US" sz="1200" dirty="0"/>
          </a:p>
        </p:txBody>
      </p:sp>
      <p:sp>
        <p:nvSpPr>
          <p:cNvPr id="30" name="Text 22"/>
          <p:cNvSpPr txBox="1"/>
          <p:nvPr/>
        </p:nvSpPr>
        <p:spPr>
          <a:xfrm>
            <a:off x="8595360" y="3657600"/>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Login</a:t>
            </a:r>
            <a:endParaRPr lang="en-US" sz="1100" dirty="0"/>
          </a:p>
        </p:txBody>
      </p:sp>
      <p:sp>
        <p:nvSpPr>
          <p:cNvPr id="31" name="meter Login 1"/>
          <p:cNvSpPr/>
          <p:nvPr/>
        </p:nvSpPr>
        <p:spPr>
          <a:xfrm>
            <a:off x="9601200" y="3694176"/>
            <a:ext cx="219456" cy="310896"/>
          </a:xfrm>
          <a:prstGeom prst="rect">
            <a:avLst/>
          </a:prstGeom>
          <a:solidFill>
            <a:srgbClr val="2557D6"/>
          </a:solidFill>
          <a:ln/>
        </p:spPr>
      </p:sp>
      <p:sp>
        <p:nvSpPr>
          <p:cNvPr id="32" name="meter Login 2"/>
          <p:cNvSpPr/>
          <p:nvPr/>
        </p:nvSpPr>
        <p:spPr>
          <a:xfrm>
            <a:off x="9866376" y="3694176"/>
            <a:ext cx="219456" cy="310896"/>
          </a:xfrm>
          <a:prstGeom prst="rect">
            <a:avLst/>
          </a:prstGeom>
          <a:solidFill>
            <a:srgbClr val="2557D6"/>
          </a:solidFill>
          <a:ln/>
        </p:spPr>
      </p:sp>
      <p:sp>
        <p:nvSpPr>
          <p:cNvPr id="33" name="meter Login 3"/>
          <p:cNvSpPr/>
          <p:nvPr/>
        </p:nvSpPr>
        <p:spPr>
          <a:xfrm>
            <a:off x="10131552" y="3694176"/>
            <a:ext cx="219456" cy="310896"/>
          </a:xfrm>
          <a:prstGeom prst="rect">
            <a:avLst/>
          </a:prstGeom>
          <a:solidFill>
            <a:srgbClr val="2557D6"/>
          </a:solidFill>
          <a:ln/>
        </p:spPr>
      </p:sp>
      <p:sp>
        <p:nvSpPr>
          <p:cNvPr id="34" name="meter Login 4"/>
          <p:cNvSpPr/>
          <p:nvPr/>
        </p:nvSpPr>
        <p:spPr>
          <a:xfrm>
            <a:off x="10396728" y="3694176"/>
            <a:ext cx="219456" cy="310896"/>
          </a:xfrm>
          <a:prstGeom prst="rect">
            <a:avLst/>
          </a:prstGeom>
          <a:solidFill>
            <a:srgbClr val="E5E7EB"/>
          </a:solidFill>
          <a:ln/>
        </p:spPr>
      </p:sp>
      <p:sp>
        <p:nvSpPr>
          <p:cNvPr id="35" name="meter Login 5"/>
          <p:cNvSpPr/>
          <p:nvPr/>
        </p:nvSpPr>
        <p:spPr>
          <a:xfrm>
            <a:off x="10661904" y="3694176"/>
            <a:ext cx="219456" cy="310896"/>
          </a:xfrm>
          <a:prstGeom prst="rect">
            <a:avLst/>
          </a:prstGeom>
          <a:solidFill>
            <a:srgbClr val="E5E7EB"/>
          </a:solidFill>
          <a:ln/>
        </p:spPr>
      </p:sp>
      <p:sp>
        <p:nvSpPr>
          <p:cNvPr id="36" name="Text 28"/>
          <p:cNvSpPr txBox="1"/>
          <p:nvPr/>
        </p:nvSpPr>
        <p:spPr>
          <a:xfrm>
            <a:off x="10972800" y="3657600"/>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37" name="Text 29"/>
          <p:cNvSpPr txBox="1"/>
          <p:nvPr/>
        </p:nvSpPr>
        <p:spPr>
          <a:xfrm>
            <a:off x="8595360" y="4096512"/>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Encryption</a:t>
            </a:r>
            <a:endParaRPr lang="en-US" sz="1100" dirty="0"/>
          </a:p>
        </p:txBody>
      </p:sp>
      <p:sp>
        <p:nvSpPr>
          <p:cNvPr id="38" name="meter Encryption 1"/>
          <p:cNvSpPr/>
          <p:nvPr/>
        </p:nvSpPr>
        <p:spPr>
          <a:xfrm>
            <a:off x="9601200" y="4133088"/>
            <a:ext cx="219456" cy="310896"/>
          </a:xfrm>
          <a:prstGeom prst="rect">
            <a:avLst/>
          </a:prstGeom>
          <a:solidFill>
            <a:srgbClr val="2557D6"/>
          </a:solidFill>
          <a:ln/>
        </p:spPr>
      </p:sp>
      <p:sp>
        <p:nvSpPr>
          <p:cNvPr id="39" name="meter Encryption 2"/>
          <p:cNvSpPr/>
          <p:nvPr/>
        </p:nvSpPr>
        <p:spPr>
          <a:xfrm>
            <a:off x="9866376" y="4133088"/>
            <a:ext cx="219456" cy="310896"/>
          </a:xfrm>
          <a:prstGeom prst="rect">
            <a:avLst/>
          </a:prstGeom>
          <a:solidFill>
            <a:srgbClr val="2557D6"/>
          </a:solidFill>
          <a:ln/>
        </p:spPr>
      </p:sp>
      <p:sp>
        <p:nvSpPr>
          <p:cNvPr id="40" name="meter Encryption 3"/>
          <p:cNvSpPr/>
          <p:nvPr/>
        </p:nvSpPr>
        <p:spPr>
          <a:xfrm>
            <a:off x="10131552" y="4133088"/>
            <a:ext cx="219456" cy="310896"/>
          </a:xfrm>
          <a:prstGeom prst="rect">
            <a:avLst/>
          </a:prstGeom>
          <a:solidFill>
            <a:srgbClr val="E5E7EB"/>
          </a:solidFill>
          <a:ln/>
        </p:spPr>
      </p:sp>
      <p:sp>
        <p:nvSpPr>
          <p:cNvPr id="41" name="meter Encryption 4"/>
          <p:cNvSpPr/>
          <p:nvPr/>
        </p:nvSpPr>
        <p:spPr>
          <a:xfrm>
            <a:off x="10396728" y="4133088"/>
            <a:ext cx="219456" cy="310896"/>
          </a:xfrm>
          <a:prstGeom prst="rect">
            <a:avLst/>
          </a:prstGeom>
          <a:solidFill>
            <a:srgbClr val="E5E7EB"/>
          </a:solidFill>
          <a:ln/>
        </p:spPr>
      </p:sp>
      <p:sp>
        <p:nvSpPr>
          <p:cNvPr id="42" name="meter Encryption 5"/>
          <p:cNvSpPr/>
          <p:nvPr/>
        </p:nvSpPr>
        <p:spPr>
          <a:xfrm>
            <a:off x="10661904" y="4133088"/>
            <a:ext cx="219456" cy="310896"/>
          </a:xfrm>
          <a:prstGeom prst="rect">
            <a:avLst/>
          </a:prstGeom>
          <a:solidFill>
            <a:srgbClr val="E5E7EB"/>
          </a:solidFill>
          <a:ln/>
        </p:spPr>
      </p:sp>
      <p:sp>
        <p:nvSpPr>
          <p:cNvPr id="43" name="Text 35"/>
          <p:cNvSpPr txBox="1"/>
          <p:nvPr/>
        </p:nvSpPr>
        <p:spPr>
          <a:xfrm>
            <a:off x="10972800" y="4096512"/>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2</a:t>
            </a:r>
            <a:endParaRPr lang="en-US" sz="1100" dirty="0"/>
          </a:p>
        </p:txBody>
      </p:sp>
      <p:sp>
        <p:nvSpPr>
          <p:cNvPr id="44" name="Text 36"/>
          <p:cNvSpPr txBox="1"/>
          <p:nvPr/>
        </p:nvSpPr>
        <p:spPr>
          <a:xfrm>
            <a:off x="8595360" y="4535424"/>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Alerts</a:t>
            </a:r>
            <a:endParaRPr lang="en-US" sz="1100" dirty="0"/>
          </a:p>
        </p:txBody>
      </p:sp>
      <p:sp>
        <p:nvSpPr>
          <p:cNvPr id="45" name="meter Alerts 1"/>
          <p:cNvSpPr/>
          <p:nvPr/>
        </p:nvSpPr>
        <p:spPr>
          <a:xfrm>
            <a:off x="9601200" y="4572000"/>
            <a:ext cx="219456" cy="310896"/>
          </a:xfrm>
          <a:prstGeom prst="rect">
            <a:avLst/>
          </a:prstGeom>
          <a:solidFill>
            <a:srgbClr val="2557D6"/>
          </a:solidFill>
          <a:ln/>
        </p:spPr>
      </p:sp>
      <p:sp>
        <p:nvSpPr>
          <p:cNvPr id="46" name="meter Alerts 2"/>
          <p:cNvSpPr/>
          <p:nvPr/>
        </p:nvSpPr>
        <p:spPr>
          <a:xfrm>
            <a:off x="9866376" y="4572000"/>
            <a:ext cx="219456" cy="310896"/>
          </a:xfrm>
          <a:prstGeom prst="rect">
            <a:avLst/>
          </a:prstGeom>
          <a:solidFill>
            <a:srgbClr val="2557D6"/>
          </a:solidFill>
          <a:ln/>
        </p:spPr>
      </p:sp>
      <p:sp>
        <p:nvSpPr>
          <p:cNvPr id="47" name="meter Alerts 3"/>
          <p:cNvSpPr/>
          <p:nvPr/>
        </p:nvSpPr>
        <p:spPr>
          <a:xfrm>
            <a:off x="10131552" y="4572000"/>
            <a:ext cx="219456" cy="310896"/>
          </a:xfrm>
          <a:prstGeom prst="rect">
            <a:avLst/>
          </a:prstGeom>
          <a:solidFill>
            <a:srgbClr val="2557D6"/>
          </a:solidFill>
          <a:ln/>
        </p:spPr>
      </p:sp>
      <p:sp>
        <p:nvSpPr>
          <p:cNvPr id="48" name="meter Alerts 4"/>
          <p:cNvSpPr/>
          <p:nvPr/>
        </p:nvSpPr>
        <p:spPr>
          <a:xfrm>
            <a:off x="10396728" y="4572000"/>
            <a:ext cx="219456" cy="310896"/>
          </a:xfrm>
          <a:prstGeom prst="rect">
            <a:avLst/>
          </a:prstGeom>
          <a:solidFill>
            <a:srgbClr val="E5E7EB"/>
          </a:solidFill>
          <a:ln/>
        </p:spPr>
      </p:sp>
      <p:sp>
        <p:nvSpPr>
          <p:cNvPr id="49" name="meter Alerts 5"/>
          <p:cNvSpPr/>
          <p:nvPr/>
        </p:nvSpPr>
        <p:spPr>
          <a:xfrm>
            <a:off x="10661904" y="4572000"/>
            <a:ext cx="219456" cy="310896"/>
          </a:xfrm>
          <a:prstGeom prst="rect">
            <a:avLst/>
          </a:prstGeom>
          <a:solidFill>
            <a:srgbClr val="E5E7EB"/>
          </a:solidFill>
          <a:ln/>
        </p:spPr>
      </p:sp>
      <p:sp>
        <p:nvSpPr>
          <p:cNvPr id="50" name="Text 42"/>
          <p:cNvSpPr txBox="1"/>
          <p:nvPr/>
        </p:nvSpPr>
        <p:spPr>
          <a:xfrm>
            <a:off x="10972800" y="4535424"/>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51" name="Text 43"/>
          <p:cNvSpPr txBox="1"/>
          <p:nvPr/>
        </p:nvSpPr>
        <p:spPr>
          <a:xfrm>
            <a:off x="8595360" y="4974336"/>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Recovery</a:t>
            </a:r>
            <a:endParaRPr lang="en-US" sz="1100" dirty="0"/>
          </a:p>
        </p:txBody>
      </p:sp>
      <p:sp>
        <p:nvSpPr>
          <p:cNvPr id="52" name="meter Recovery 1"/>
          <p:cNvSpPr/>
          <p:nvPr/>
        </p:nvSpPr>
        <p:spPr>
          <a:xfrm>
            <a:off x="9601200" y="5010912"/>
            <a:ext cx="219456" cy="310896"/>
          </a:xfrm>
          <a:prstGeom prst="rect">
            <a:avLst/>
          </a:prstGeom>
          <a:solidFill>
            <a:srgbClr val="2557D6"/>
          </a:solidFill>
          <a:ln/>
        </p:spPr>
      </p:sp>
      <p:sp>
        <p:nvSpPr>
          <p:cNvPr id="53" name="meter Recovery 2"/>
          <p:cNvSpPr/>
          <p:nvPr/>
        </p:nvSpPr>
        <p:spPr>
          <a:xfrm>
            <a:off x="9866376" y="5010912"/>
            <a:ext cx="219456" cy="310896"/>
          </a:xfrm>
          <a:prstGeom prst="rect">
            <a:avLst/>
          </a:prstGeom>
          <a:solidFill>
            <a:srgbClr val="2557D6"/>
          </a:solidFill>
          <a:ln/>
        </p:spPr>
      </p:sp>
      <p:sp>
        <p:nvSpPr>
          <p:cNvPr id="54" name="meter Recovery 3"/>
          <p:cNvSpPr/>
          <p:nvPr/>
        </p:nvSpPr>
        <p:spPr>
          <a:xfrm>
            <a:off x="10131552" y="5010912"/>
            <a:ext cx="219456" cy="310896"/>
          </a:xfrm>
          <a:prstGeom prst="rect">
            <a:avLst/>
          </a:prstGeom>
          <a:solidFill>
            <a:srgbClr val="E5E7EB"/>
          </a:solidFill>
          <a:ln/>
        </p:spPr>
      </p:sp>
      <p:sp>
        <p:nvSpPr>
          <p:cNvPr id="55" name="meter Recovery 4"/>
          <p:cNvSpPr/>
          <p:nvPr/>
        </p:nvSpPr>
        <p:spPr>
          <a:xfrm>
            <a:off x="10396728" y="5010912"/>
            <a:ext cx="219456" cy="310896"/>
          </a:xfrm>
          <a:prstGeom prst="rect">
            <a:avLst/>
          </a:prstGeom>
          <a:solidFill>
            <a:srgbClr val="E5E7EB"/>
          </a:solidFill>
          <a:ln/>
        </p:spPr>
      </p:sp>
      <p:sp>
        <p:nvSpPr>
          <p:cNvPr id="56" name="meter Recovery 5"/>
          <p:cNvSpPr/>
          <p:nvPr/>
        </p:nvSpPr>
        <p:spPr>
          <a:xfrm>
            <a:off x="10661904" y="5010912"/>
            <a:ext cx="219456" cy="310896"/>
          </a:xfrm>
          <a:prstGeom prst="rect">
            <a:avLst/>
          </a:prstGeom>
          <a:solidFill>
            <a:srgbClr val="E5E7EB"/>
          </a:solidFill>
          <a:ln/>
        </p:spPr>
      </p:sp>
      <p:sp>
        <p:nvSpPr>
          <p:cNvPr id="57" name="Text 49"/>
          <p:cNvSpPr txBox="1"/>
          <p:nvPr/>
        </p:nvSpPr>
        <p:spPr>
          <a:xfrm>
            <a:off x="10972800" y="4974336"/>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2</a:t>
            </a:r>
            <a:endParaRPr lang="en-US" sz="1100" dirty="0"/>
          </a:p>
        </p:txBody>
      </p:sp>
      <p:sp>
        <p:nvSpPr>
          <p:cNvPr id="58" name="Text 50"/>
          <p:cNvSpPr txBox="1"/>
          <p:nvPr/>
        </p:nvSpPr>
        <p:spPr>
          <a:xfrm>
            <a:off x="8595360" y="5413248"/>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Privacy</a:t>
            </a:r>
            <a:endParaRPr lang="en-US" sz="1100" dirty="0"/>
          </a:p>
        </p:txBody>
      </p:sp>
      <p:sp>
        <p:nvSpPr>
          <p:cNvPr id="59" name="meter Privacy 1"/>
          <p:cNvSpPr/>
          <p:nvPr/>
        </p:nvSpPr>
        <p:spPr>
          <a:xfrm>
            <a:off x="9601200" y="5449824"/>
            <a:ext cx="219456" cy="310896"/>
          </a:xfrm>
          <a:prstGeom prst="rect">
            <a:avLst/>
          </a:prstGeom>
          <a:solidFill>
            <a:srgbClr val="2557D6"/>
          </a:solidFill>
          <a:ln/>
        </p:spPr>
      </p:sp>
      <p:sp>
        <p:nvSpPr>
          <p:cNvPr id="60" name="meter Privacy 2"/>
          <p:cNvSpPr/>
          <p:nvPr/>
        </p:nvSpPr>
        <p:spPr>
          <a:xfrm>
            <a:off x="9866376" y="5449824"/>
            <a:ext cx="219456" cy="310896"/>
          </a:xfrm>
          <a:prstGeom prst="rect">
            <a:avLst/>
          </a:prstGeom>
          <a:solidFill>
            <a:srgbClr val="2557D6"/>
          </a:solidFill>
          <a:ln/>
        </p:spPr>
      </p:sp>
      <p:sp>
        <p:nvSpPr>
          <p:cNvPr id="61" name="meter Privacy 3"/>
          <p:cNvSpPr/>
          <p:nvPr/>
        </p:nvSpPr>
        <p:spPr>
          <a:xfrm>
            <a:off x="10131552" y="5449824"/>
            <a:ext cx="219456" cy="310896"/>
          </a:xfrm>
          <a:prstGeom prst="rect">
            <a:avLst/>
          </a:prstGeom>
          <a:solidFill>
            <a:srgbClr val="2557D6"/>
          </a:solidFill>
          <a:ln/>
        </p:spPr>
      </p:sp>
      <p:sp>
        <p:nvSpPr>
          <p:cNvPr id="62" name="meter Privacy 4"/>
          <p:cNvSpPr/>
          <p:nvPr/>
        </p:nvSpPr>
        <p:spPr>
          <a:xfrm>
            <a:off x="10396728" y="5449824"/>
            <a:ext cx="219456" cy="310896"/>
          </a:xfrm>
          <a:prstGeom prst="rect">
            <a:avLst/>
          </a:prstGeom>
          <a:solidFill>
            <a:srgbClr val="2557D6"/>
          </a:solidFill>
          <a:ln/>
        </p:spPr>
      </p:sp>
      <p:sp>
        <p:nvSpPr>
          <p:cNvPr id="63" name="meter Privacy 5"/>
          <p:cNvSpPr/>
          <p:nvPr/>
        </p:nvSpPr>
        <p:spPr>
          <a:xfrm>
            <a:off x="10661904" y="5449824"/>
            <a:ext cx="219456" cy="310896"/>
          </a:xfrm>
          <a:prstGeom prst="rect">
            <a:avLst/>
          </a:prstGeom>
          <a:solidFill>
            <a:srgbClr val="E5E7EB"/>
          </a:solidFill>
          <a:ln/>
        </p:spPr>
      </p:sp>
      <p:sp>
        <p:nvSpPr>
          <p:cNvPr id="64" name="Text 56"/>
          <p:cNvSpPr txBox="1"/>
          <p:nvPr/>
        </p:nvSpPr>
        <p:spPr>
          <a:xfrm>
            <a:off x="10972800" y="5413248"/>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65" name="Text 5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 Engadget (2024).</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04  /  TARGET 2  /  FACEBOOK</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Facebook: strong locks, but the back door is recovery</a:t>
            </a:r>
            <a:endParaRPr lang="en-US" sz="3000" dirty="0"/>
          </a:p>
        </p:txBody>
      </p:sp>
      <p:sp>
        <p:nvSpPr>
          <p:cNvPr id="4" name="hacker panel"/>
          <p:cNvSpPr/>
          <p:nvPr/>
        </p:nvSpPr>
        <p:spPr>
          <a:xfrm>
            <a:off x="548640" y="1600200"/>
            <a:ext cx="3794760" cy="4343400"/>
          </a:xfrm>
          <a:prstGeom prst="rect">
            <a:avLst/>
          </a:prstGeom>
          <a:solidFill>
            <a:srgbClr val="E0312B"/>
          </a:solidFill>
          <a:ln/>
        </p:spPr>
      </p:sp>
      <p:sp>
        <p:nvSpPr>
          <p:cNvPr id="5" name="Facebook circle"/>
          <p:cNvSpPr/>
          <p:nvPr/>
        </p:nvSpPr>
        <p:spPr>
          <a:xfrm>
            <a:off x="822960" y="1810512"/>
            <a:ext cx="548640" cy="548640"/>
          </a:xfrm>
          <a:prstGeom prst="ellipse">
            <a:avLst/>
          </a:prstGeom>
          <a:solidFill>
            <a:srgbClr val="8F1D18"/>
          </a:solidFill>
          <a:ln/>
        </p:spPr>
      </p:sp>
      <p:pic>
        <p:nvPicPr>
          <p:cNvPr id="6" name="Facebook icon" descr="Facebook">    </p:cNvPr>
          <p:cNvPicPr>
            <a:picLocks noChangeAspect="1"/>
          </p:cNvPicPr>
          <p:nvPr/>
        </p:nvPicPr>
        <p:blipFill>
          <a:blip r:embed="rId1"/>
          <a:stretch>
            <a:fillRect/>
          </a:stretch>
        </p:blipFill>
        <p:spPr>
          <a:xfrm>
            <a:off x="960120" y="1947672"/>
            <a:ext cx="274320" cy="274320"/>
          </a:xfrm>
          <a:prstGeom prst="rect">
            <a:avLst/>
          </a:prstGeom>
        </p:spPr>
      </p:pic>
      <p:pic>
        <p:nvPicPr>
          <p:cNvPr id="7" name="crosshair" descr="preencoded.png">    </p:cNvPr>
          <p:cNvPicPr>
            <a:picLocks noChangeAspect="1"/>
          </p:cNvPicPr>
          <p:nvPr/>
        </p:nvPicPr>
        <p:blipFill>
          <a:blip r:embed="rId2"/>
          <a:stretch>
            <a:fillRect/>
          </a:stretch>
        </p:blipFill>
        <p:spPr>
          <a:xfrm>
            <a:off x="2011680" y="2926080"/>
            <a:ext cx="2743200" cy="2743200"/>
          </a:xfrm>
          <a:prstGeom prst="rect">
            <a:avLst/>
          </a:prstGeom>
        </p:spPr>
      </p:pic>
      <p:sp>
        <p:nvSpPr>
          <p:cNvPr id="8" name="Text 4"/>
          <p:cNvSpPr txBox="1"/>
          <p:nvPr/>
        </p:nvSpPr>
        <p:spPr>
          <a:xfrm>
            <a:off x="1508760" y="1947672"/>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rPr>
              <a:t>THE HACKER’S PLAN</a:t>
            </a:r>
            <a:endParaRPr lang="en-US" sz="1200" dirty="0"/>
          </a:p>
        </p:txBody>
      </p:sp>
      <p:sp>
        <p:nvSpPr>
          <p:cNvPr id="9" name="Text 5"/>
          <p:cNvSpPr txBox="1"/>
          <p:nvPr/>
        </p:nvSpPr>
        <p:spPr>
          <a:xfrm>
            <a:off x="822960" y="2514600"/>
            <a:ext cx="3246120" cy="1691640"/>
          </a:xfrm>
          <a:prstGeom prst="rect">
            <a:avLst/>
          </a:prstGeom>
          <a:noFill/>
          <a:ln/>
        </p:spPr>
        <p:txBody>
          <a:bodyPr wrap="square" lIns="0" tIns="0" rIns="0" bIns="0" rtlCol="0" anchor="t"/>
          <a:lstStyle/>
          <a:p>
            <a:pPr indent="0" marL="0">
              <a:buNone/>
            </a:pPr>
            <a:r>
              <a:rPr lang="en-US" sz="1800" b="1" i="1" dirty="0">
                <a:solidFill>
                  <a:schemeClr val="bg1"/>
                </a:solidFill>
              </a:rPr>
              <a:t>“I phish the password with a fake “copyright violation” notice, then swap the recovery email and phone before the owner wakes up.”</a:t>
            </a:r>
            <a:endParaRPr lang="en-US" sz="1800" dirty="0"/>
          </a:p>
        </p:txBody>
      </p:sp>
      <p:sp>
        <p:nvSpPr>
          <p:cNvPr id="10" name="Text 6"/>
          <p:cNvSpPr txBox="1"/>
          <p:nvPr/>
        </p:nvSpPr>
        <p:spPr>
          <a:xfrm>
            <a:off x="822960" y="4343400"/>
            <a:ext cx="2743200" cy="274320"/>
          </a:xfrm>
          <a:prstGeom prst="rect">
            <a:avLst/>
          </a:prstGeom>
          <a:noFill/>
          <a:ln/>
        </p:spPr>
        <p:txBody>
          <a:bodyPr wrap="square" lIns="0" tIns="0" rIns="0" bIns="0" rtlCol="0" anchor="ctr"/>
          <a:lstStyle/>
          <a:p>
            <a:pPr indent="0" marL="0">
              <a:buNone/>
            </a:pPr>
            <a:r>
              <a:rPr lang="en-US" sz="1200" b="1" spc="200" kern="0" dirty="0">
                <a:solidFill>
                  <a:srgbClr val="FFD3CF"/>
                </a:solidFill>
              </a:rPr>
              <a:t>WEAK SPOT</a:t>
            </a:r>
            <a:endParaRPr lang="en-US" sz="1200" dirty="0"/>
          </a:p>
        </p:txBody>
      </p:sp>
      <p:sp>
        <p:nvSpPr>
          <p:cNvPr id="11" name="Text 7"/>
          <p:cNvSpPr txBox="1"/>
          <p:nvPr/>
        </p:nvSpPr>
        <p:spPr>
          <a:xfrm>
            <a:off x="822960" y="4645152"/>
            <a:ext cx="3246120" cy="1188720"/>
          </a:xfrm>
          <a:prstGeom prst="rect">
            <a:avLst/>
          </a:prstGeom>
          <a:noFill/>
          <a:ln/>
        </p:spPr>
        <p:txBody>
          <a:bodyPr wrap="square" lIns="0" tIns="0" rIns="0" bIns="0" rtlCol="0" anchor="t"/>
          <a:lstStyle/>
          <a:p>
            <a:pPr indent="0" marL="0">
              <a:buNone/>
            </a:pPr>
            <a:r>
              <a:rPr lang="en-US" sz="1400" dirty="0">
                <a:solidFill>
                  <a:schemeClr val="bg1"/>
                </a:solidFill>
              </a:rPr>
              <a:t>Recovery details can be changed in minutes, while getting the account back is slow and largely automated.</a:t>
            </a:r>
            <a:endParaRPr lang="en-US" sz="1400" dirty="0"/>
          </a:p>
        </p:txBody>
      </p:sp>
      <p:sp>
        <p:nvSpPr>
          <p:cNvPr id="12" name="Text 8"/>
          <p:cNvSpPr txBox="1"/>
          <p:nvPr/>
        </p:nvSpPr>
        <p:spPr>
          <a:xfrm>
            <a:off x="4617720" y="1627632"/>
            <a:ext cx="3703320" cy="274320"/>
          </a:xfrm>
          <a:prstGeom prst="rect">
            <a:avLst/>
          </a:prstGeom>
          <a:noFill/>
          <a:ln/>
        </p:spPr>
        <p:txBody>
          <a:bodyPr wrap="square" lIns="0" tIns="0" rIns="0" bIns="0" rtlCol="0" anchor="ctr"/>
          <a:lstStyle/>
          <a:p>
            <a:pPr indent="0" marL="0">
              <a:buNone/>
            </a:pPr>
            <a:r>
              <a:rPr lang="en-US" sz="1200" b="1" spc="200" kern="0" dirty="0">
                <a:solidFill>
                  <a:srgbClr val="2557D6"/>
                </a:solidFill>
              </a:rPr>
              <a:t>GUARDIANS IN THE WAY</a:t>
            </a:r>
            <a:endParaRPr lang="en-US" sz="1200" dirty="0"/>
          </a:p>
        </p:txBody>
      </p:sp>
      <p:pic>
        <p:nvPicPr>
          <p:cNvPr id="13" name="guard 1" descr="guardian">    </p:cNvPr>
          <p:cNvPicPr>
            <a:picLocks noChangeAspect="1"/>
          </p:cNvPicPr>
          <p:nvPr/>
        </p:nvPicPr>
        <p:blipFill>
          <a:blip r:embed="rId3"/>
          <a:stretch>
            <a:fillRect/>
          </a:stretch>
        </p:blipFill>
        <p:spPr>
          <a:xfrm>
            <a:off x="4617720" y="2139696"/>
            <a:ext cx="310896" cy="310896"/>
          </a:xfrm>
          <a:prstGeom prst="rect">
            <a:avLst/>
          </a:prstGeom>
        </p:spPr>
      </p:pic>
      <p:sp>
        <p:nvSpPr>
          <p:cNvPr id="14" name="Text 9"/>
          <p:cNvSpPr txBox="1"/>
          <p:nvPr/>
        </p:nvSpPr>
        <p:spPr>
          <a:xfrm>
            <a:off x="5074920" y="2029968"/>
            <a:ext cx="3246120" cy="548640"/>
          </a:xfrm>
          <a:prstGeom prst="rect">
            <a:avLst/>
          </a:prstGeom>
          <a:noFill/>
          <a:ln/>
        </p:spPr>
        <p:txBody>
          <a:bodyPr wrap="square" lIns="0" tIns="0" rIns="0" bIns="0" rtlCol="0" anchor="ctr"/>
          <a:lstStyle/>
          <a:p>
            <a:pPr indent="0" marL="0">
              <a:buNone/>
            </a:pPr>
            <a:r>
              <a:rPr lang="en-US" sz="1500" dirty="0">
                <a:solidFill>
                  <a:srgbClr val="15171C"/>
                </a:solidFill>
              </a:rPr>
              <a:t>Two-factor authentication: app, SMS or key</a:t>
            </a:r>
            <a:endParaRPr lang="en-US" sz="1500" dirty="0"/>
          </a:p>
        </p:txBody>
      </p:sp>
      <p:sp>
        <p:nvSpPr>
          <p:cNvPr id="15" name="Shape 10"/>
          <p:cNvSpPr/>
          <p:nvPr/>
        </p:nvSpPr>
        <p:spPr>
          <a:xfrm>
            <a:off x="4617720" y="2651760"/>
            <a:ext cx="3703320" cy="0"/>
          </a:xfrm>
          <a:prstGeom prst="line">
            <a:avLst/>
          </a:prstGeom>
          <a:noFill/>
          <a:ln w="12700">
            <a:solidFill>
              <a:srgbClr val="D9DCE1"/>
            </a:solidFill>
            <a:prstDash val="solid"/>
          </a:ln>
        </p:spPr>
      </p:sp>
      <p:pic>
        <p:nvPicPr>
          <p:cNvPr id="16" name="guard 2" descr="guardian">    </p:cNvPr>
          <p:cNvPicPr>
            <a:picLocks noChangeAspect="1"/>
          </p:cNvPicPr>
          <p:nvPr/>
        </p:nvPicPr>
        <p:blipFill>
          <a:blip r:embed="rId4"/>
          <a:stretch>
            <a:fillRect/>
          </a:stretch>
        </p:blipFill>
        <p:spPr>
          <a:xfrm>
            <a:off x="4617720" y="2852928"/>
            <a:ext cx="310896" cy="310896"/>
          </a:xfrm>
          <a:prstGeom prst="rect">
            <a:avLst/>
          </a:prstGeom>
        </p:spPr>
      </p:pic>
      <p:sp>
        <p:nvSpPr>
          <p:cNvPr id="17" name="Text 11"/>
          <p:cNvSpPr txBox="1"/>
          <p:nvPr/>
        </p:nvSpPr>
        <p:spPr>
          <a:xfrm>
            <a:off x="5074920" y="2743200"/>
            <a:ext cx="3246120" cy="548640"/>
          </a:xfrm>
          <a:prstGeom prst="rect">
            <a:avLst/>
          </a:prstGeom>
          <a:noFill/>
          <a:ln/>
        </p:spPr>
        <p:txBody>
          <a:bodyPr wrap="square" lIns="0" tIns="0" rIns="0" bIns="0" rtlCol="0" anchor="ctr"/>
          <a:lstStyle/>
          <a:p>
            <a:pPr indent="0" marL="0">
              <a:buNone/>
            </a:pPr>
            <a:r>
              <a:rPr lang="en-US" sz="1500" dirty="0">
                <a:solidFill>
                  <a:srgbClr val="15171C"/>
                </a:solidFill>
              </a:rPr>
              <a:t>Login alerts and remote log-out</a:t>
            </a:r>
            <a:endParaRPr lang="en-US" sz="1500" dirty="0"/>
          </a:p>
        </p:txBody>
      </p:sp>
      <p:sp>
        <p:nvSpPr>
          <p:cNvPr id="18" name="Shape 12"/>
          <p:cNvSpPr/>
          <p:nvPr/>
        </p:nvSpPr>
        <p:spPr>
          <a:xfrm>
            <a:off x="4617720" y="3364992"/>
            <a:ext cx="3703320" cy="0"/>
          </a:xfrm>
          <a:prstGeom prst="line">
            <a:avLst/>
          </a:prstGeom>
          <a:noFill/>
          <a:ln w="12700">
            <a:solidFill>
              <a:srgbClr val="D9DCE1"/>
            </a:solidFill>
            <a:prstDash val="solid"/>
          </a:ln>
        </p:spPr>
      </p:sp>
      <p:pic>
        <p:nvPicPr>
          <p:cNvPr id="19" name="guard 3" descr="guardian">    </p:cNvPr>
          <p:cNvPicPr>
            <a:picLocks noChangeAspect="1"/>
          </p:cNvPicPr>
          <p:nvPr/>
        </p:nvPicPr>
        <p:blipFill>
          <a:blip r:embed="rId5"/>
          <a:stretch>
            <a:fillRect/>
          </a:stretch>
        </p:blipFill>
        <p:spPr>
          <a:xfrm>
            <a:off x="4617720" y="3566160"/>
            <a:ext cx="310896" cy="310896"/>
          </a:xfrm>
          <a:prstGeom prst="rect">
            <a:avLst/>
          </a:prstGeom>
        </p:spPr>
      </p:pic>
      <p:sp>
        <p:nvSpPr>
          <p:cNvPr id="20" name="Text 13"/>
          <p:cNvSpPr txBox="1"/>
          <p:nvPr/>
        </p:nvSpPr>
        <p:spPr>
          <a:xfrm>
            <a:off x="5074920" y="3456432"/>
            <a:ext cx="3246120" cy="548640"/>
          </a:xfrm>
          <a:prstGeom prst="rect">
            <a:avLst/>
          </a:prstGeom>
          <a:noFill/>
          <a:ln/>
        </p:spPr>
        <p:txBody>
          <a:bodyPr wrap="square" lIns="0" tIns="0" rIns="0" bIns="0" rtlCol="0" anchor="ctr"/>
          <a:lstStyle/>
          <a:p>
            <a:pPr indent="0" marL="0">
              <a:buNone/>
            </a:pPr>
            <a:r>
              <a:rPr lang="en-US" sz="1500" dirty="0">
                <a:solidFill>
                  <a:srgbClr val="15171C"/>
                </a:solidFill>
              </a:rPr>
              <a:t>Passkeys on mobile since June 2025</a:t>
            </a:r>
            <a:endParaRPr lang="en-US" sz="1500" dirty="0"/>
          </a:p>
        </p:txBody>
      </p:sp>
      <p:sp>
        <p:nvSpPr>
          <p:cNvPr id="21" name="Shape 14"/>
          <p:cNvSpPr/>
          <p:nvPr/>
        </p:nvSpPr>
        <p:spPr>
          <a:xfrm>
            <a:off x="4617720" y="4078224"/>
            <a:ext cx="3703320" cy="0"/>
          </a:xfrm>
          <a:prstGeom prst="line">
            <a:avLst/>
          </a:prstGeom>
          <a:noFill/>
          <a:ln w="12700">
            <a:solidFill>
              <a:srgbClr val="D9DCE1"/>
            </a:solidFill>
            <a:prstDash val="solid"/>
          </a:ln>
        </p:spPr>
      </p:sp>
      <p:pic>
        <p:nvPicPr>
          <p:cNvPr id="22" name="guard 4" descr="guardian">    </p:cNvPr>
          <p:cNvPicPr>
            <a:picLocks noChangeAspect="1"/>
          </p:cNvPicPr>
          <p:nvPr/>
        </p:nvPicPr>
        <p:blipFill>
          <a:blip r:embed="rId6"/>
          <a:stretch>
            <a:fillRect/>
          </a:stretch>
        </p:blipFill>
        <p:spPr>
          <a:xfrm>
            <a:off x="4617720" y="4279392"/>
            <a:ext cx="310896" cy="310896"/>
          </a:xfrm>
          <a:prstGeom prst="rect">
            <a:avLst/>
          </a:prstGeom>
        </p:spPr>
      </p:pic>
      <p:sp>
        <p:nvSpPr>
          <p:cNvPr id="23" name="Text 15"/>
          <p:cNvSpPr txBox="1"/>
          <p:nvPr/>
        </p:nvSpPr>
        <p:spPr>
          <a:xfrm>
            <a:off x="5074920" y="4169664"/>
            <a:ext cx="3246120" cy="548640"/>
          </a:xfrm>
          <a:prstGeom prst="rect">
            <a:avLst/>
          </a:prstGeom>
          <a:noFill/>
          <a:ln/>
        </p:spPr>
        <p:txBody>
          <a:bodyPr wrap="square" lIns="0" tIns="0" rIns="0" bIns="0" rtlCol="0" anchor="ctr"/>
          <a:lstStyle/>
          <a:p>
            <a:pPr indent="0" marL="0">
              <a:buNone/>
            </a:pPr>
            <a:r>
              <a:rPr lang="en-US" sz="1500" dirty="0">
                <a:solidFill>
                  <a:srgbClr val="15171C"/>
                </a:solidFill>
              </a:rPr>
              <a:t>Profile lock; Messenger encrypted by default</a:t>
            </a:r>
            <a:endParaRPr lang="en-US" sz="1500" dirty="0"/>
          </a:p>
        </p:txBody>
      </p:sp>
      <p:sp>
        <p:nvSpPr>
          <p:cNvPr id="24" name="Shape 16"/>
          <p:cNvSpPr/>
          <p:nvPr/>
        </p:nvSpPr>
        <p:spPr>
          <a:xfrm>
            <a:off x="4617720" y="4791456"/>
            <a:ext cx="3703320" cy="0"/>
          </a:xfrm>
          <a:prstGeom prst="line">
            <a:avLst/>
          </a:prstGeom>
          <a:noFill/>
          <a:ln w="12700">
            <a:solidFill>
              <a:srgbClr val="D9DCE1"/>
            </a:solidFill>
            <a:prstDash val="solid"/>
          </a:ln>
        </p:spPr>
      </p:sp>
      <p:sp>
        <p:nvSpPr>
          <p:cNvPr id="25" name="add card"/>
          <p:cNvSpPr/>
          <p:nvPr/>
        </p:nvSpPr>
        <p:spPr>
          <a:xfrm>
            <a:off x="4617720" y="4937760"/>
            <a:ext cx="3703320" cy="1005840"/>
          </a:xfrm>
          <a:prstGeom prst="rect">
            <a:avLst/>
          </a:prstGeom>
          <a:solidFill>
            <a:srgbClr val="EAF0FD"/>
          </a:solidFill>
          <a:ln/>
        </p:spPr>
      </p:sp>
      <p:sp>
        <p:nvSpPr>
          <p:cNvPr id="26" name="Text 18"/>
          <p:cNvSpPr txBox="1"/>
          <p:nvPr/>
        </p:nvSpPr>
        <p:spPr>
          <a:xfrm>
            <a:off x="4800600" y="4983480"/>
            <a:ext cx="3337560" cy="914400"/>
          </a:xfrm>
          <a:prstGeom prst="rect">
            <a:avLst/>
          </a:prstGeom>
          <a:noFill/>
          <a:ln/>
        </p:spPr>
        <p:txBody>
          <a:bodyPr wrap="square" lIns="0" tIns="0" rIns="0" bIns="0" rtlCol="0" anchor="ctr"/>
          <a:lstStyle/>
          <a:p>
            <a:pPr indent="0" marL="0">
              <a:buNone/>
            </a:pPr>
            <a:r>
              <a:rPr lang="en-US" sz="1100" b="1" spc="200" kern="0" dirty="0">
                <a:solidFill>
                  <a:srgbClr val="2557D6"/>
                </a:solidFill>
              </a:rPr>
              <a:t>GUARDIAN TO ADD</a:t>
            </a:r>
            <a:endParaRPr lang="en-US" sz="1100" dirty="0"/>
          </a:p>
          <a:p>
            <a:pPr indent="0" marL="0">
              <a:buNone/>
            </a:pPr>
            <a:r>
              <a:rPr lang="en-US" sz="1400" dirty="0">
                <a:solidFill>
                  <a:srgbClr val="15171C"/>
                </a:solidFill>
              </a:rPr>
              <a:t>A 48-hour cool-down on recovery changes, alerts to old contacts, and Bangla-language human support.</a:t>
            </a:r>
            <a:endParaRPr lang="en-US" sz="1100" dirty="0"/>
          </a:p>
        </p:txBody>
      </p:sp>
      <p:sp>
        <p:nvSpPr>
          <p:cNvPr id="27" name="Text 19"/>
          <p:cNvSpPr txBox="1"/>
          <p:nvPr/>
        </p:nvSpPr>
        <p:spPr>
          <a:xfrm>
            <a:off x="8595360" y="1627632"/>
            <a:ext cx="3047695" cy="274320"/>
          </a:xfrm>
          <a:prstGeom prst="rect">
            <a:avLst/>
          </a:prstGeom>
          <a:noFill/>
          <a:ln/>
        </p:spPr>
        <p:txBody>
          <a:bodyPr wrap="square" lIns="0" tIns="0" rIns="0" bIns="0" rtlCol="0" anchor="ctr"/>
          <a:lstStyle/>
          <a:p>
            <a:pPr indent="0" marL="0">
              <a:buNone/>
            </a:pPr>
            <a:r>
              <a:rPr lang="en-US" sz="1200" b="1" spc="200" kern="0" dirty="0">
                <a:solidFill>
                  <a:srgbClr val="5B6170"/>
                </a:solidFill>
              </a:rPr>
              <a:t>GUARDIAN STRENGTH</a:t>
            </a:r>
            <a:endParaRPr lang="en-US" sz="1200" dirty="0"/>
          </a:p>
        </p:txBody>
      </p:sp>
      <p:sp>
        <p:nvSpPr>
          <p:cNvPr id="28" name="strength"/>
          <p:cNvSpPr txBox="1"/>
          <p:nvPr/>
        </p:nvSpPr>
        <p:spPr>
          <a:xfrm>
            <a:off x="8595360" y="1920240"/>
            <a:ext cx="3047695" cy="1097280"/>
          </a:xfrm>
          <a:prstGeom prst="rect">
            <a:avLst/>
          </a:prstGeom>
          <a:noFill/>
          <a:ln/>
        </p:spPr>
        <p:txBody>
          <a:bodyPr wrap="square" lIns="0" tIns="0" rIns="0" bIns="0" rtlCol="0" anchor="ctr"/>
          <a:lstStyle/>
          <a:p>
            <a:pPr indent="0" marL="0">
              <a:buNone/>
            </a:pPr>
            <a:r>
              <a:rPr lang="en-US" sz="7200" b="1" dirty="0">
                <a:solidFill>
                  <a:srgbClr val="2557D6"/>
                </a:solidFill>
              </a:rPr>
              <a:t>16</a:t>
            </a:r>
            <a:pPr indent="0" marL="0">
              <a:buNone/>
            </a:pPr>
            <a:r>
              <a:rPr lang="en-US" sz="2400" b="1" dirty="0">
                <a:solidFill>
                  <a:srgbClr val="5B6170"/>
                </a:solidFill>
              </a:rPr>
              <a:t>/25</a:t>
            </a:r>
            <a:endParaRPr lang="en-US" sz="7200" dirty="0"/>
          </a:p>
        </p:txBody>
      </p:sp>
      <p:sp>
        <p:nvSpPr>
          <p:cNvPr id="29" name="Text 21"/>
          <p:cNvSpPr txBox="1"/>
          <p:nvPr/>
        </p:nvSpPr>
        <p:spPr>
          <a:xfrm>
            <a:off x="8595360" y="3063240"/>
            <a:ext cx="3047695" cy="329184"/>
          </a:xfrm>
          <a:prstGeom prst="rect">
            <a:avLst/>
          </a:prstGeom>
          <a:solidFill>
            <a:srgbClr val="15171C"/>
          </a:solidFill>
          <a:ln/>
        </p:spPr>
        <p:txBody>
          <a:bodyPr wrap="square" lIns="0" tIns="0" rIns="0" bIns="0" rtlCol="0" anchor="ctr"/>
          <a:lstStyle/>
          <a:p>
            <a:pPr algn="ctr" indent="0" marL="0">
              <a:buNone/>
            </a:pPr>
            <a:r>
              <a:rPr lang="en-US" sz="1200" b="1" spc="200" kern="0" dirty="0">
                <a:solidFill>
                  <a:schemeClr val="bg1"/>
                </a:solidFill>
              </a:rPr>
              <a:t>TARGET 2</a:t>
            </a:r>
            <a:endParaRPr lang="en-US" sz="1200" dirty="0"/>
          </a:p>
        </p:txBody>
      </p:sp>
      <p:sp>
        <p:nvSpPr>
          <p:cNvPr id="30" name="Text 22"/>
          <p:cNvSpPr txBox="1"/>
          <p:nvPr/>
        </p:nvSpPr>
        <p:spPr>
          <a:xfrm>
            <a:off x="8595360" y="3657600"/>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Login</a:t>
            </a:r>
            <a:endParaRPr lang="en-US" sz="1100" dirty="0"/>
          </a:p>
        </p:txBody>
      </p:sp>
      <p:sp>
        <p:nvSpPr>
          <p:cNvPr id="31" name="meter Login 1"/>
          <p:cNvSpPr/>
          <p:nvPr/>
        </p:nvSpPr>
        <p:spPr>
          <a:xfrm>
            <a:off x="9601200" y="3694176"/>
            <a:ext cx="219456" cy="310896"/>
          </a:xfrm>
          <a:prstGeom prst="rect">
            <a:avLst/>
          </a:prstGeom>
          <a:solidFill>
            <a:srgbClr val="2557D6"/>
          </a:solidFill>
          <a:ln/>
        </p:spPr>
      </p:sp>
      <p:sp>
        <p:nvSpPr>
          <p:cNvPr id="32" name="meter Login 2"/>
          <p:cNvSpPr/>
          <p:nvPr/>
        </p:nvSpPr>
        <p:spPr>
          <a:xfrm>
            <a:off x="9866376" y="3694176"/>
            <a:ext cx="219456" cy="310896"/>
          </a:xfrm>
          <a:prstGeom prst="rect">
            <a:avLst/>
          </a:prstGeom>
          <a:solidFill>
            <a:srgbClr val="2557D6"/>
          </a:solidFill>
          <a:ln/>
        </p:spPr>
      </p:sp>
      <p:sp>
        <p:nvSpPr>
          <p:cNvPr id="33" name="meter Login 3"/>
          <p:cNvSpPr/>
          <p:nvPr/>
        </p:nvSpPr>
        <p:spPr>
          <a:xfrm>
            <a:off x="10131552" y="3694176"/>
            <a:ext cx="219456" cy="310896"/>
          </a:xfrm>
          <a:prstGeom prst="rect">
            <a:avLst/>
          </a:prstGeom>
          <a:solidFill>
            <a:srgbClr val="2557D6"/>
          </a:solidFill>
          <a:ln/>
        </p:spPr>
      </p:sp>
      <p:sp>
        <p:nvSpPr>
          <p:cNvPr id="34" name="meter Login 4"/>
          <p:cNvSpPr/>
          <p:nvPr/>
        </p:nvSpPr>
        <p:spPr>
          <a:xfrm>
            <a:off x="10396728" y="3694176"/>
            <a:ext cx="219456" cy="310896"/>
          </a:xfrm>
          <a:prstGeom prst="rect">
            <a:avLst/>
          </a:prstGeom>
          <a:solidFill>
            <a:srgbClr val="2557D6"/>
          </a:solidFill>
          <a:ln/>
        </p:spPr>
      </p:sp>
      <p:sp>
        <p:nvSpPr>
          <p:cNvPr id="35" name="meter Login 5"/>
          <p:cNvSpPr/>
          <p:nvPr/>
        </p:nvSpPr>
        <p:spPr>
          <a:xfrm>
            <a:off x="10661904" y="3694176"/>
            <a:ext cx="219456" cy="310896"/>
          </a:xfrm>
          <a:prstGeom prst="rect">
            <a:avLst/>
          </a:prstGeom>
          <a:solidFill>
            <a:srgbClr val="E5E7EB"/>
          </a:solidFill>
          <a:ln/>
        </p:spPr>
      </p:sp>
      <p:sp>
        <p:nvSpPr>
          <p:cNvPr id="36" name="Text 28"/>
          <p:cNvSpPr txBox="1"/>
          <p:nvPr/>
        </p:nvSpPr>
        <p:spPr>
          <a:xfrm>
            <a:off x="10972800" y="3657600"/>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37" name="Text 29"/>
          <p:cNvSpPr txBox="1"/>
          <p:nvPr/>
        </p:nvSpPr>
        <p:spPr>
          <a:xfrm>
            <a:off x="8595360" y="4096512"/>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Encryption</a:t>
            </a:r>
            <a:endParaRPr lang="en-US" sz="1100" dirty="0"/>
          </a:p>
        </p:txBody>
      </p:sp>
      <p:sp>
        <p:nvSpPr>
          <p:cNvPr id="38" name="meter Encryption 1"/>
          <p:cNvSpPr/>
          <p:nvPr/>
        </p:nvSpPr>
        <p:spPr>
          <a:xfrm>
            <a:off x="9601200" y="4133088"/>
            <a:ext cx="219456" cy="310896"/>
          </a:xfrm>
          <a:prstGeom prst="rect">
            <a:avLst/>
          </a:prstGeom>
          <a:solidFill>
            <a:srgbClr val="2557D6"/>
          </a:solidFill>
          <a:ln/>
        </p:spPr>
      </p:sp>
      <p:sp>
        <p:nvSpPr>
          <p:cNvPr id="39" name="meter Encryption 2"/>
          <p:cNvSpPr/>
          <p:nvPr/>
        </p:nvSpPr>
        <p:spPr>
          <a:xfrm>
            <a:off x="9866376" y="4133088"/>
            <a:ext cx="219456" cy="310896"/>
          </a:xfrm>
          <a:prstGeom prst="rect">
            <a:avLst/>
          </a:prstGeom>
          <a:solidFill>
            <a:srgbClr val="2557D6"/>
          </a:solidFill>
          <a:ln/>
        </p:spPr>
      </p:sp>
      <p:sp>
        <p:nvSpPr>
          <p:cNvPr id="40" name="meter Encryption 3"/>
          <p:cNvSpPr/>
          <p:nvPr/>
        </p:nvSpPr>
        <p:spPr>
          <a:xfrm>
            <a:off x="10131552" y="4133088"/>
            <a:ext cx="219456" cy="310896"/>
          </a:xfrm>
          <a:prstGeom prst="rect">
            <a:avLst/>
          </a:prstGeom>
          <a:solidFill>
            <a:srgbClr val="2557D6"/>
          </a:solidFill>
          <a:ln/>
        </p:spPr>
      </p:sp>
      <p:sp>
        <p:nvSpPr>
          <p:cNvPr id="41" name="meter Encryption 4"/>
          <p:cNvSpPr/>
          <p:nvPr/>
        </p:nvSpPr>
        <p:spPr>
          <a:xfrm>
            <a:off x="10396728" y="4133088"/>
            <a:ext cx="219456" cy="310896"/>
          </a:xfrm>
          <a:prstGeom prst="rect">
            <a:avLst/>
          </a:prstGeom>
          <a:solidFill>
            <a:srgbClr val="E5E7EB"/>
          </a:solidFill>
          <a:ln/>
        </p:spPr>
      </p:sp>
      <p:sp>
        <p:nvSpPr>
          <p:cNvPr id="42" name="meter Encryption 5"/>
          <p:cNvSpPr/>
          <p:nvPr/>
        </p:nvSpPr>
        <p:spPr>
          <a:xfrm>
            <a:off x="10661904" y="4133088"/>
            <a:ext cx="219456" cy="310896"/>
          </a:xfrm>
          <a:prstGeom prst="rect">
            <a:avLst/>
          </a:prstGeom>
          <a:solidFill>
            <a:srgbClr val="E5E7EB"/>
          </a:solidFill>
          <a:ln/>
        </p:spPr>
      </p:sp>
      <p:sp>
        <p:nvSpPr>
          <p:cNvPr id="43" name="Text 35"/>
          <p:cNvSpPr txBox="1"/>
          <p:nvPr/>
        </p:nvSpPr>
        <p:spPr>
          <a:xfrm>
            <a:off x="10972800" y="4096512"/>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44" name="Text 36"/>
          <p:cNvSpPr txBox="1"/>
          <p:nvPr/>
        </p:nvSpPr>
        <p:spPr>
          <a:xfrm>
            <a:off x="8595360" y="4535424"/>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Alerts</a:t>
            </a:r>
            <a:endParaRPr lang="en-US" sz="1100" dirty="0"/>
          </a:p>
        </p:txBody>
      </p:sp>
      <p:sp>
        <p:nvSpPr>
          <p:cNvPr id="45" name="meter Alerts 1"/>
          <p:cNvSpPr/>
          <p:nvPr/>
        </p:nvSpPr>
        <p:spPr>
          <a:xfrm>
            <a:off x="9601200" y="4572000"/>
            <a:ext cx="219456" cy="310896"/>
          </a:xfrm>
          <a:prstGeom prst="rect">
            <a:avLst/>
          </a:prstGeom>
          <a:solidFill>
            <a:srgbClr val="2557D6"/>
          </a:solidFill>
          <a:ln/>
        </p:spPr>
      </p:sp>
      <p:sp>
        <p:nvSpPr>
          <p:cNvPr id="46" name="meter Alerts 2"/>
          <p:cNvSpPr/>
          <p:nvPr/>
        </p:nvSpPr>
        <p:spPr>
          <a:xfrm>
            <a:off x="9866376" y="4572000"/>
            <a:ext cx="219456" cy="310896"/>
          </a:xfrm>
          <a:prstGeom prst="rect">
            <a:avLst/>
          </a:prstGeom>
          <a:solidFill>
            <a:srgbClr val="2557D6"/>
          </a:solidFill>
          <a:ln/>
        </p:spPr>
      </p:sp>
      <p:sp>
        <p:nvSpPr>
          <p:cNvPr id="47" name="meter Alerts 3"/>
          <p:cNvSpPr/>
          <p:nvPr/>
        </p:nvSpPr>
        <p:spPr>
          <a:xfrm>
            <a:off x="10131552" y="4572000"/>
            <a:ext cx="219456" cy="310896"/>
          </a:xfrm>
          <a:prstGeom prst="rect">
            <a:avLst/>
          </a:prstGeom>
          <a:solidFill>
            <a:srgbClr val="2557D6"/>
          </a:solidFill>
          <a:ln/>
        </p:spPr>
      </p:sp>
      <p:sp>
        <p:nvSpPr>
          <p:cNvPr id="48" name="meter Alerts 4"/>
          <p:cNvSpPr/>
          <p:nvPr/>
        </p:nvSpPr>
        <p:spPr>
          <a:xfrm>
            <a:off x="10396728" y="4572000"/>
            <a:ext cx="219456" cy="310896"/>
          </a:xfrm>
          <a:prstGeom prst="rect">
            <a:avLst/>
          </a:prstGeom>
          <a:solidFill>
            <a:srgbClr val="2557D6"/>
          </a:solidFill>
          <a:ln/>
        </p:spPr>
      </p:sp>
      <p:sp>
        <p:nvSpPr>
          <p:cNvPr id="49" name="meter Alerts 5"/>
          <p:cNvSpPr/>
          <p:nvPr/>
        </p:nvSpPr>
        <p:spPr>
          <a:xfrm>
            <a:off x="10661904" y="4572000"/>
            <a:ext cx="219456" cy="310896"/>
          </a:xfrm>
          <a:prstGeom prst="rect">
            <a:avLst/>
          </a:prstGeom>
          <a:solidFill>
            <a:srgbClr val="E5E7EB"/>
          </a:solidFill>
          <a:ln/>
        </p:spPr>
      </p:sp>
      <p:sp>
        <p:nvSpPr>
          <p:cNvPr id="50" name="Text 42"/>
          <p:cNvSpPr txBox="1"/>
          <p:nvPr/>
        </p:nvSpPr>
        <p:spPr>
          <a:xfrm>
            <a:off x="10972800" y="4535424"/>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51" name="Text 43"/>
          <p:cNvSpPr txBox="1"/>
          <p:nvPr/>
        </p:nvSpPr>
        <p:spPr>
          <a:xfrm>
            <a:off x="8595360" y="4974336"/>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Recovery</a:t>
            </a:r>
            <a:endParaRPr lang="en-US" sz="1100" dirty="0"/>
          </a:p>
        </p:txBody>
      </p:sp>
      <p:sp>
        <p:nvSpPr>
          <p:cNvPr id="52" name="meter Recovery 1"/>
          <p:cNvSpPr/>
          <p:nvPr/>
        </p:nvSpPr>
        <p:spPr>
          <a:xfrm>
            <a:off x="9601200" y="5010912"/>
            <a:ext cx="219456" cy="310896"/>
          </a:xfrm>
          <a:prstGeom prst="rect">
            <a:avLst/>
          </a:prstGeom>
          <a:solidFill>
            <a:srgbClr val="2557D6"/>
          </a:solidFill>
          <a:ln/>
        </p:spPr>
      </p:sp>
      <p:sp>
        <p:nvSpPr>
          <p:cNvPr id="53" name="meter Recovery 2"/>
          <p:cNvSpPr/>
          <p:nvPr/>
        </p:nvSpPr>
        <p:spPr>
          <a:xfrm>
            <a:off x="9866376" y="5010912"/>
            <a:ext cx="219456" cy="310896"/>
          </a:xfrm>
          <a:prstGeom prst="rect">
            <a:avLst/>
          </a:prstGeom>
          <a:solidFill>
            <a:srgbClr val="2557D6"/>
          </a:solidFill>
          <a:ln/>
        </p:spPr>
      </p:sp>
      <p:sp>
        <p:nvSpPr>
          <p:cNvPr id="54" name="meter Recovery 3"/>
          <p:cNvSpPr/>
          <p:nvPr/>
        </p:nvSpPr>
        <p:spPr>
          <a:xfrm>
            <a:off x="10131552" y="5010912"/>
            <a:ext cx="219456" cy="310896"/>
          </a:xfrm>
          <a:prstGeom prst="rect">
            <a:avLst/>
          </a:prstGeom>
          <a:solidFill>
            <a:srgbClr val="E5E7EB"/>
          </a:solidFill>
          <a:ln/>
        </p:spPr>
      </p:sp>
      <p:sp>
        <p:nvSpPr>
          <p:cNvPr id="55" name="meter Recovery 4"/>
          <p:cNvSpPr/>
          <p:nvPr/>
        </p:nvSpPr>
        <p:spPr>
          <a:xfrm>
            <a:off x="10396728" y="5010912"/>
            <a:ext cx="219456" cy="310896"/>
          </a:xfrm>
          <a:prstGeom prst="rect">
            <a:avLst/>
          </a:prstGeom>
          <a:solidFill>
            <a:srgbClr val="E5E7EB"/>
          </a:solidFill>
          <a:ln/>
        </p:spPr>
      </p:sp>
      <p:sp>
        <p:nvSpPr>
          <p:cNvPr id="56" name="meter Recovery 5"/>
          <p:cNvSpPr/>
          <p:nvPr/>
        </p:nvSpPr>
        <p:spPr>
          <a:xfrm>
            <a:off x="10661904" y="5010912"/>
            <a:ext cx="219456" cy="310896"/>
          </a:xfrm>
          <a:prstGeom prst="rect">
            <a:avLst/>
          </a:prstGeom>
          <a:solidFill>
            <a:srgbClr val="E5E7EB"/>
          </a:solidFill>
          <a:ln/>
        </p:spPr>
      </p:sp>
      <p:sp>
        <p:nvSpPr>
          <p:cNvPr id="57" name="Text 49"/>
          <p:cNvSpPr txBox="1"/>
          <p:nvPr/>
        </p:nvSpPr>
        <p:spPr>
          <a:xfrm>
            <a:off x="10972800" y="4974336"/>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2</a:t>
            </a:r>
            <a:endParaRPr lang="en-US" sz="1100" dirty="0"/>
          </a:p>
        </p:txBody>
      </p:sp>
      <p:sp>
        <p:nvSpPr>
          <p:cNvPr id="58" name="Text 50"/>
          <p:cNvSpPr txBox="1"/>
          <p:nvPr/>
        </p:nvSpPr>
        <p:spPr>
          <a:xfrm>
            <a:off x="8595360" y="5413248"/>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Privacy</a:t>
            </a:r>
            <a:endParaRPr lang="en-US" sz="1100" dirty="0"/>
          </a:p>
        </p:txBody>
      </p:sp>
      <p:sp>
        <p:nvSpPr>
          <p:cNvPr id="59" name="meter Privacy 1"/>
          <p:cNvSpPr/>
          <p:nvPr/>
        </p:nvSpPr>
        <p:spPr>
          <a:xfrm>
            <a:off x="9601200" y="5449824"/>
            <a:ext cx="219456" cy="310896"/>
          </a:xfrm>
          <a:prstGeom prst="rect">
            <a:avLst/>
          </a:prstGeom>
          <a:solidFill>
            <a:srgbClr val="2557D6"/>
          </a:solidFill>
          <a:ln/>
        </p:spPr>
      </p:sp>
      <p:sp>
        <p:nvSpPr>
          <p:cNvPr id="60" name="meter Privacy 2"/>
          <p:cNvSpPr/>
          <p:nvPr/>
        </p:nvSpPr>
        <p:spPr>
          <a:xfrm>
            <a:off x="9866376" y="5449824"/>
            <a:ext cx="219456" cy="310896"/>
          </a:xfrm>
          <a:prstGeom prst="rect">
            <a:avLst/>
          </a:prstGeom>
          <a:solidFill>
            <a:srgbClr val="2557D6"/>
          </a:solidFill>
          <a:ln/>
        </p:spPr>
      </p:sp>
      <p:sp>
        <p:nvSpPr>
          <p:cNvPr id="61" name="meter Privacy 3"/>
          <p:cNvSpPr/>
          <p:nvPr/>
        </p:nvSpPr>
        <p:spPr>
          <a:xfrm>
            <a:off x="10131552" y="5449824"/>
            <a:ext cx="219456" cy="310896"/>
          </a:xfrm>
          <a:prstGeom prst="rect">
            <a:avLst/>
          </a:prstGeom>
          <a:solidFill>
            <a:srgbClr val="2557D6"/>
          </a:solidFill>
          <a:ln/>
        </p:spPr>
      </p:sp>
      <p:sp>
        <p:nvSpPr>
          <p:cNvPr id="62" name="meter Privacy 4"/>
          <p:cNvSpPr/>
          <p:nvPr/>
        </p:nvSpPr>
        <p:spPr>
          <a:xfrm>
            <a:off x="10396728" y="5449824"/>
            <a:ext cx="219456" cy="310896"/>
          </a:xfrm>
          <a:prstGeom prst="rect">
            <a:avLst/>
          </a:prstGeom>
          <a:solidFill>
            <a:srgbClr val="E5E7EB"/>
          </a:solidFill>
          <a:ln/>
        </p:spPr>
      </p:sp>
      <p:sp>
        <p:nvSpPr>
          <p:cNvPr id="63" name="meter Privacy 5"/>
          <p:cNvSpPr/>
          <p:nvPr/>
        </p:nvSpPr>
        <p:spPr>
          <a:xfrm>
            <a:off x="10661904" y="5449824"/>
            <a:ext cx="219456" cy="310896"/>
          </a:xfrm>
          <a:prstGeom prst="rect">
            <a:avLst/>
          </a:prstGeom>
          <a:solidFill>
            <a:srgbClr val="E5E7EB"/>
          </a:solidFill>
          <a:ln/>
        </p:spPr>
      </p:sp>
      <p:sp>
        <p:nvSpPr>
          <p:cNvPr id="64" name="Text 56"/>
          <p:cNvSpPr txBox="1"/>
          <p:nvPr/>
        </p:nvSpPr>
        <p:spPr>
          <a:xfrm>
            <a:off x="10972800" y="5413248"/>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65" name="Text 5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Sources: Meta (2025); Crisan (2023).</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05  /  TARGET 3  /  INSTAGRAM</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Instagram: once inside, the DMs are an open book</a:t>
            </a:r>
            <a:endParaRPr lang="en-US" sz="3000" dirty="0"/>
          </a:p>
        </p:txBody>
      </p:sp>
      <p:sp>
        <p:nvSpPr>
          <p:cNvPr id="4" name="hacker panel"/>
          <p:cNvSpPr/>
          <p:nvPr/>
        </p:nvSpPr>
        <p:spPr>
          <a:xfrm>
            <a:off x="548640" y="1600200"/>
            <a:ext cx="3794760" cy="4343400"/>
          </a:xfrm>
          <a:prstGeom prst="rect">
            <a:avLst/>
          </a:prstGeom>
          <a:solidFill>
            <a:srgbClr val="E0312B"/>
          </a:solidFill>
          <a:ln/>
        </p:spPr>
      </p:sp>
      <p:sp>
        <p:nvSpPr>
          <p:cNvPr id="5" name="Instagram circle"/>
          <p:cNvSpPr/>
          <p:nvPr/>
        </p:nvSpPr>
        <p:spPr>
          <a:xfrm>
            <a:off x="822960" y="1810512"/>
            <a:ext cx="548640" cy="548640"/>
          </a:xfrm>
          <a:prstGeom prst="ellipse">
            <a:avLst/>
          </a:prstGeom>
          <a:solidFill>
            <a:srgbClr val="8F1D18"/>
          </a:solidFill>
          <a:ln/>
        </p:spPr>
      </p:sp>
      <p:pic>
        <p:nvPicPr>
          <p:cNvPr id="6" name="Instagram icon" descr="Instagram">    </p:cNvPr>
          <p:cNvPicPr>
            <a:picLocks noChangeAspect="1"/>
          </p:cNvPicPr>
          <p:nvPr/>
        </p:nvPicPr>
        <p:blipFill>
          <a:blip r:embed="rId1"/>
          <a:stretch>
            <a:fillRect/>
          </a:stretch>
        </p:blipFill>
        <p:spPr>
          <a:xfrm>
            <a:off x="960120" y="1947672"/>
            <a:ext cx="274320" cy="274320"/>
          </a:xfrm>
          <a:prstGeom prst="rect">
            <a:avLst/>
          </a:prstGeom>
        </p:spPr>
      </p:pic>
      <p:pic>
        <p:nvPicPr>
          <p:cNvPr id="7" name="crosshair" descr="preencoded.png">    </p:cNvPr>
          <p:cNvPicPr>
            <a:picLocks noChangeAspect="1"/>
          </p:cNvPicPr>
          <p:nvPr/>
        </p:nvPicPr>
        <p:blipFill>
          <a:blip r:embed="rId2"/>
          <a:stretch>
            <a:fillRect/>
          </a:stretch>
        </p:blipFill>
        <p:spPr>
          <a:xfrm>
            <a:off x="2011680" y="2926080"/>
            <a:ext cx="2743200" cy="2743200"/>
          </a:xfrm>
          <a:prstGeom prst="rect">
            <a:avLst/>
          </a:prstGeom>
        </p:spPr>
      </p:pic>
      <p:sp>
        <p:nvSpPr>
          <p:cNvPr id="8" name="Text 4"/>
          <p:cNvSpPr txBox="1"/>
          <p:nvPr/>
        </p:nvSpPr>
        <p:spPr>
          <a:xfrm>
            <a:off x="1508760" y="1947672"/>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rPr>
              <a:t>THE HACKER’S PLAN</a:t>
            </a:r>
            <a:endParaRPr lang="en-US" sz="1200" dirty="0"/>
          </a:p>
        </p:txBody>
      </p:sp>
      <p:sp>
        <p:nvSpPr>
          <p:cNvPr id="9" name="Text 5"/>
          <p:cNvSpPr txBox="1"/>
          <p:nvPr/>
        </p:nvSpPr>
        <p:spPr>
          <a:xfrm>
            <a:off x="822960" y="2514600"/>
            <a:ext cx="3246120" cy="1691640"/>
          </a:xfrm>
          <a:prstGeom prst="rect">
            <a:avLst/>
          </a:prstGeom>
          <a:noFill/>
          <a:ln/>
        </p:spPr>
        <p:txBody>
          <a:bodyPr wrap="square" lIns="0" tIns="0" rIns="0" bIns="0" rtlCol="0" anchor="t"/>
          <a:lstStyle/>
          <a:p>
            <a:pPr indent="0" marL="0">
              <a:buNone/>
            </a:pPr>
            <a:r>
              <a:rPr lang="en-US" sz="1800" b="1" i="1" dirty="0">
                <a:solidFill>
                  <a:schemeClr val="bg1"/>
                </a:solidFill>
              </a:rPr>
              <a:t>“I get in through linked Meta accounts and read the DMs. They aren’t end-to-end encrypted, so private photos become my leverage.”</a:t>
            </a:r>
            <a:endParaRPr lang="en-US" sz="1800" dirty="0"/>
          </a:p>
        </p:txBody>
      </p:sp>
      <p:sp>
        <p:nvSpPr>
          <p:cNvPr id="10" name="Text 6"/>
          <p:cNvSpPr txBox="1"/>
          <p:nvPr/>
        </p:nvSpPr>
        <p:spPr>
          <a:xfrm>
            <a:off x="822960" y="4343400"/>
            <a:ext cx="2743200" cy="274320"/>
          </a:xfrm>
          <a:prstGeom prst="rect">
            <a:avLst/>
          </a:prstGeom>
          <a:noFill/>
          <a:ln/>
        </p:spPr>
        <p:txBody>
          <a:bodyPr wrap="square" lIns="0" tIns="0" rIns="0" bIns="0" rtlCol="0" anchor="ctr"/>
          <a:lstStyle/>
          <a:p>
            <a:pPr indent="0" marL="0">
              <a:buNone/>
            </a:pPr>
            <a:r>
              <a:rPr lang="en-US" sz="1200" b="1" spc="200" kern="0" dirty="0">
                <a:solidFill>
                  <a:srgbClr val="FFD3CF"/>
                </a:solidFill>
              </a:rPr>
              <a:t>WEAK SPOT</a:t>
            </a:r>
            <a:endParaRPr lang="en-US" sz="1200" dirty="0"/>
          </a:p>
        </p:txBody>
      </p:sp>
      <p:sp>
        <p:nvSpPr>
          <p:cNvPr id="11" name="Text 7"/>
          <p:cNvSpPr txBox="1"/>
          <p:nvPr/>
        </p:nvSpPr>
        <p:spPr>
          <a:xfrm>
            <a:off x="822960" y="4645152"/>
            <a:ext cx="3246120" cy="1188720"/>
          </a:xfrm>
          <a:prstGeom prst="rect">
            <a:avLst/>
          </a:prstGeom>
          <a:noFill/>
          <a:ln/>
        </p:spPr>
        <p:txBody>
          <a:bodyPr wrap="square" lIns="0" tIns="0" rIns="0" bIns="0" rtlCol="0" anchor="t"/>
          <a:lstStyle/>
          <a:p>
            <a:pPr indent="0" marL="0">
              <a:buNone/>
            </a:pPr>
            <a:r>
              <a:rPr lang="en-US" sz="1400" dirty="0">
                <a:solidFill>
                  <a:schemeClr val="bg1"/>
                </a:solidFill>
              </a:rPr>
              <a:t>DMs were never encrypted by default, and Meta removed the optional encrypted chats on 8 May 2026.</a:t>
            </a:r>
            <a:endParaRPr lang="en-US" sz="1400" dirty="0"/>
          </a:p>
        </p:txBody>
      </p:sp>
      <p:sp>
        <p:nvSpPr>
          <p:cNvPr id="12" name="Text 8"/>
          <p:cNvSpPr txBox="1"/>
          <p:nvPr/>
        </p:nvSpPr>
        <p:spPr>
          <a:xfrm>
            <a:off x="4617720" y="1627632"/>
            <a:ext cx="3703320" cy="274320"/>
          </a:xfrm>
          <a:prstGeom prst="rect">
            <a:avLst/>
          </a:prstGeom>
          <a:noFill/>
          <a:ln/>
        </p:spPr>
        <p:txBody>
          <a:bodyPr wrap="square" lIns="0" tIns="0" rIns="0" bIns="0" rtlCol="0" anchor="ctr"/>
          <a:lstStyle/>
          <a:p>
            <a:pPr indent="0" marL="0">
              <a:buNone/>
            </a:pPr>
            <a:r>
              <a:rPr lang="en-US" sz="1200" b="1" spc="200" kern="0" dirty="0">
                <a:solidFill>
                  <a:srgbClr val="2557D6"/>
                </a:solidFill>
              </a:rPr>
              <a:t>GUARDIANS IN THE WAY</a:t>
            </a:r>
            <a:endParaRPr lang="en-US" sz="1200" dirty="0"/>
          </a:p>
        </p:txBody>
      </p:sp>
      <p:pic>
        <p:nvPicPr>
          <p:cNvPr id="13" name="guard 1" descr="guardian">    </p:cNvPr>
          <p:cNvPicPr>
            <a:picLocks noChangeAspect="1"/>
          </p:cNvPicPr>
          <p:nvPr/>
        </p:nvPicPr>
        <p:blipFill>
          <a:blip r:embed="rId3"/>
          <a:stretch>
            <a:fillRect/>
          </a:stretch>
        </p:blipFill>
        <p:spPr>
          <a:xfrm>
            <a:off x="4617720" y="2139696"/>
            <a:ext cx="310896" cy="310896"/>
          </a:xfrm>
          <a:prstGeom prst="rect">
            <a:avLst/>
          </a:prstGeom>
        </p:spPr>
      </p:pic>
      <p:sp>
        <p:nvSpPr>
          <p:cNvPr id="14" name="Text 9"/>
          <p:cNvSpPr txBox="1"/>
          <p:nvPr/>
        </p:nvSpPr>
        <p:spPr>
          <a:xfrm>
            <a:off x="5074920" y="2029968"/>
            <a:ext cx="3246120" cy="548640"/>
          </a:xfrm>
          <a:prstGeom prst="rect">
            <a:avLst/>
          </a:prstGeom>
          <a:noFill/>
          <a:ln/>
        </p:spPr>
        <p:txBody>
          <a:bodyPr wrap="square" lIns="0" tIns="0" rIns="0" bIns="0" rtlCol="0" anchor="ctr"/>
          <a:lstStyle/>
          <a:p>
            <a:pPr indent="0" marL="0">
              <a:buNone/>
            </a:pPr>
            <a:r>
              <a:rPr lang="en-US" sz="1500" dirty="0">
                <a:solidFill>
                  <a:srgbClr val="15171C"/>
                </a:solidFill>
              </a:rPr>
              <a:t>Same Meta 2FA, login alerts and login activity</a:t>
            </a:r>
            <a:endParaRPr lang="en-US" sz="1500" dirty="0"/>
          </a:p>
        </p:txBody>
      </p:sp>
      <p:sp>
        <p:nvSpPr>
          <p:cNvPr id="15" name="Shape 10"/>
          <p:cNvSpPr/>
          <p:nvPr/>
        </p:nvSpPr>
        <p:spPr>
          <a:xfrm>
            <a:off x="4617720" y="2651760"/>
            <a:ext cx="3703320" cy="0"/>
          </a:xfrm>
          <a:prstGeom prst="line">
            <a:avLst/>
          </a:prstGeom>
          <a:noFill/>
          <a:ln w="12700">
            <a:solidFill>
              <a:srgbClr val="D9DCE1"/>
            </a:solidFill>
            <a:prstDash val="solid"/>
          </a:ln>
        </p:spPr>
      </p:sp>
      <p:pic>
        <p:nvPicPr>
          <p:cNvPr id="16" name="guard 2" descr="guardian">    </p:cNvPr>
          <p:cNvPicPr>
            <a:picLocks noChangeAspect="1"/>
          </p:cNvPicPr>
          <p:nvPr/>
        </p:nvPicPr>
        <p:blipFill>
          <a:blip r:embed="rId4"/>
          <a:stretch>
            <a:fillRect/>
          </a:stretch>
        </p:blipFill>
        <p:spPr>
          <a:xfrm>
            <a:off x="4617720" y="2852928"/>
            <a:ext cx="310896" cy="310896"/>
          </a:xfrm>
          <a:prstGeom prst="rect">
            <a:avLst/>
          </a:prstGeom>
        </p:spPr>
      </p:pic>
      <p:sp>
        <p:nvSpPr>
          <p:cNvPr id="17" name="Text 11"/>
          <p:cNvSpPr txBox="1"/>
          <p:nvPr/>
        </p:nvSpPr>
        <p:spPr>
          <a:xfrm>
            <a:off x="5074920" y="2743200"/>
            <a:ext cx="3246120" cy="548640"/>
          </a:xfrm>
          <a:prstGeom prst="rect">
            <a:avLst/>
          </a:prstGeom>
          <a:noFill/>
          <a:ln/>
        </p:spPr>
        <p:txBody>
          <a:bodyPr wrap="square" lIns="0" tIns="0" rIns="0" bIns="0" rtlCol="0" anchor="ctr"/>
          <a:lstStyle/>
          <a:p>
            <a:pPr indent="0" marL="0">
              <a:buNone/>
            </a:pPr>
            <a:r>
              <a:rPr lang="en-US" sz="1500" dirty="0">
                <a:solidFill>
                  <a:srgbClr val="15171C"/>
                </a:solidFill>
              </a:rPr>
              <a:t>“Emails from Instagram” exposes fake emails</a:t>
            </a:r>
            <a:endParaRPr lang="en-US" sz="1500" dirty="0"/>
          </a:p>
        </p:txBody>
      </p:sp>
      <p:sp>
        <p:nvSpPr>
          <p:cNvPr id="18" name="Shape 12"/>
          <p:cNvSpPr/>
          <p:nvPr/>
        </p:nvSpPr>
        <p:spPr>
          <a:xfrm>
            <a:off x="4617720" y="3364992"/>
            <a:ext cx="3703320" cy="0"/>
          </a:xfrm>
          <a:prstGeom prst="line">
            <a:avLst/>
          </a:prstGeom>
          <a:noFill/>
          <a:ln w="12700">
            <a:solidFill>
              <a:srgbClr val="D9DCE1"/>
            </a:solidFill>
            <a:prstDash val="solid"/>
          </a:ln>
        </p:spPr>
      </p:sp>
      <p:pic>
        <p:nvPicPr>
          <p:cNvPr id="19" name="guard 3" descr="guardian">    </p:cNvPr>
          <p:cNvPicPr>
            <a:picLocks noChangeAspect="1"/>
          </p:cNvPicPr>
          <p:nvPr/>
        </p:nvPicPr>
        <p:blipFill>
          <a:blip r:embed="rId5"/>
          <a:stretch>
            <a:fillRect/>
          </a:stretch>
        </p:blipFill>
        <p:spPr>
          <a:xfrm>
            <a:off x="4617720" y="3566160"/>
            <a:ext cx="310896" cy="310896"/>
          </a:xfrm>
          <a:prstGeom prst="rect">
            <a:avLst/>
          </a:prstGeom>
        </p:spPr>
      </p:pic>
      <p:sp>
        <p:nvSpPr>
          <p:cNvPr id="20" name="Text 13"/>
          <p:cNvSpPr txBox="1"/>
          <p:nvPr/>
        </p:nvSpPr>
        <p:spPr>
          <a:xfrm>
            <a:off x="5074920" y="3456432"/>
            <a:ext cx="3246120" cy="548640"/>
          </a:xfrm>
          <a:prstGeom prst="rect">
            <a:avLst/>
          </a:prstGeom>
          <a:noFill/>
          <a:ln/>
        </p:spPr>
        <p:txBody>
          <a:bodyPr wrap="square" lIns="0" tIns="0" rIns="0" bIns="0" rtlCol="0" anchor="ctr"/>
          <a:lstStyle/>
          <a:p>
            <a:pPr indent="0" marL="0">
              <a:buNone/>
            </a:pPr>
            <a:r>
              <a:rPr lang="en-US" sz="1500" dirty="0">
                <a:solidFill>
                  <a:srgbClr val="15171C"/>
                </a:solidFill>
              </a:rPr>
              <a:t>Restrict and Hidden Words</a:t>
            </a:r>
            <a:endParaRPr lang="en-US" sz="1500" dirty="0"/>
          </a:p>
        </p:txBody>
      </p:sp>
      <p:sp>
        <p:nvSpPr>
          <p:cNvPr id="21" name="Shape 14"/>
          <p:cNvSpPr/>
          <p:nvPr/>
        </p:nvSpPr>
        <p:spPr>
          <a:xfrm>
            <a:off x="4617720" y="4078224"/>
            <a:ext cx="3703320" cy="0"/>
          </a:xfrm>
          <a:prstGeom prst="line">
            <a:avLst/>
          </a:prstGeom>
          <a:noFill/>
          <a:ln w="12700">
            <a:solidFill>
              <a:srgbClr val="D9DCE1"/>
            </a:solidFill>
            <a:prstDash val="solid"/>
          </a:ln>
        </p:spPr>
      </p:sp>
      <p:pic>
        <p:nvPicPr>
          <p:cNvPr id="22" name="guard 4" descr="guardian">    </p:cNvPr>
          <p:cNvPicPr>
            <a:picLocks noChangeAspect="1"/>
          </p:cNvPicPr>
          <p:nvPr/>
        </p:nvPicPr>
        <p:blipFill>
          <a:blip r:embed="rId6"/>
          <a:stretch>
            <a:fillRect/>
          </a:stretch>
        </p:blipFill>
        <p:spPr>
          <a:xfrm>
            <a:off x="4617720" y="4279392"/>
            <a:ext cx="310896" cy="310896"/>
          </a:xfrm>
          <a:prstGeom prst="rect">
            <a:avLst/>
          </a:prstGeom>
        </p:spPr>
      </p:pic>
      <p:sp>
        <p:nvSpPr>
          <p:cNvPr id="23" name="Text 15"/>
          <p:cNvSpPr txBox="1"/>
          <p:nvPr/>
        </p:nvSpPr>
        <p:spPr>
          <a:xfrm>
            <a:off x="5074920" y="4169664"/>
            <a:ext cx="3246120" cy="548640"/>
          </a:xfrm>
          <a:prstGeom prst="rect">
            <a:avLst/>
          </a:prstGeom>
          <a:noFill/>
          <a:ln/>
        </p:spPr>
        <p:txBody>
          <a:bodyPr wrap="square" lIns="0" tIns="0" rIns="0" bIns="0" rtlCol="0" anchor="ctr"/>
          <a:lstStyle/>
          <a:p>
            <a:pPr indent="0" marL="0">
              <a:buNone/>
            </a:pPr>
            <a:r>
              <a:rPr lang="en-US" sz="1500" dirty="0">
                <a:solidFill>
                  <a:srgbClr val="15171C"/>
                </a:solidFill>
              </a:rPr>
              <a:t>Teen Accounts private by default</a:t>
            </a:r>
            <a:endParaRPr lang="en-US" sz="1500" dirty="0"/>
          </a:p>
        </p:txBody>
      </p:sp>
      <p:sp>
        <p:nvSpPr>
          <p:cNvPr id="24" name="Shape 16"/>
          <p:cNvSpPr/>
          <p:nvPr/>
        </p:nvSpPr>
        <p:spPr>
          <a:xfrm>
            <a:off x="4617720" y="4791456"/>
            <a:ext cx="3703320" cy="0"/>
          </a:xfrm>
          <a:prstGeom prst="line">
            <a:avLst/>
          </a:prstGeom>
          <a:noFill/>
          <a:ln w="12700">
            <a:solidFill>
              <a:srgbClr val="D9DCE1"/>
            </a:solidFill>
            <a:prstDash val="solid"/>
          </a:ln>
        </p:spPr>
      </p:sp>
      <p:sp>
        <p:nvSpPr>
          <p:cNvPr id="25" name="add card"/>
          <p:cNvSpPr/>
          <p:nvPr/>
        </p:nvSpPr>
        <p:spPr>
          <a:xfrm>
            <a:off x="4617720" y="4937760"/>
            <a:ext cx="3703320" cy="1005840"/>
          </a:xfrm>
          <a:prstGeom prst="rect">
            <a:avLst/>
          </a:prstGeom>
          <a:solidFill>
            <a:srgbClr val="EAF0FD"/>
          </a:solidFill>
          <a:ln/>
        </p:spPr>
      </p:sp>
      <p:sp>
        <p:nvSpPr>
          <p:cNvPr id="26" name="Text 18"/>
          <p:cNvSpPr txBox="1"/>
          <p:nvPr/>
        </p:nvSpPr>
        <p:spPr>
          <a:xfrm>
            <a:off x="4800600" y="4983480"/>
            <a:ext cx="3337560" cy="914400"/>
          </a:xfrm>
          <a:prstGeom prst="rect">
            <a:avLst/>
          </a:prstGeom>
          <a:noFill/>
          <a:ln/>
        </p:spPr>
        <p:txBody>
          <a:bodyPr wrap="square" lIns="0" tIns="0" rIns="0" bIns="0" rtlCol="0" anchor="ctr"/>
          <a:lstStyle/>
          <a:p>
            <a:pPr indent="0" marL="0">
              <a:buNone/>
            </a:pPr>
            <a:r>
              <a:rPr lang="en-US" sz="1100" b="1" spc="200" kern="0" dirty="0">
                <a:solidFill>
                  <a:srgbClr val="2557D6"/>
                </a:solidFill>
              </a:rPr>
              <a:t>GUARDIAN TO ADD</a:t>
            </a:r>
            <a:endParaRPr lang="en-US" sz="1100" dirty="0"/>
          </a:p>
          <a:p>
            <a:pPr indent="0" marL="0">
              <a:buNone/>
            </a:pPr>
            <a:r>
              <a:rPr lang="en-US" sz="1400" dirty="0">
                <a:solidFill>
                  <a:srgbClr val="15171C"/>
                </a:solidFill>
              </a:rPr>
              <a:t>Restore end-to-end encrypted DMs as the default, and blur unsolicited explicit images for all users.</a:t>
            </a:r>
            <a:endParaRPr lang="en-US" sz="1100" dirty="0"/>
          </a:p>
        </p:txBody>
      </p:sp>
      <p:sp>
        <p:nvSpPr>
          <p:cNvPr id="27" name="Text 19"/>
          <p:cNvSpPr txBox="1"/>
          <p:nvPr/>
        </p:nvSpPr>
        <p:spPr>
          <a:xfrm>
            <a:off x="8595360" y="1627632"/>
            <a:ext cx="3047695" cy="274320"/>
          </a:xfrm>
          <a:prstGeom prst="rect">
            <a:avLst/>
          </a:prstGeom>
          <a:noFill/>
          <a:ln/>
        </p:spPr>
        <p:txBody>
          <a:bodyPr wrap="square" lIns="0" tIns="0" rIns="0" bIns="0" rtlCol="0" anchor="ctr"/>
          <a:lstStyle/>
          <a:p>
            <a:pPr indent="0" marL="0">
              <a:buNone/>
            </a:pPr>
            <a:r>
              <a:rPr lang="en-US" sz="1200" b="1" spc="200" kern="0" dirty="0">
                <a:solidFill>
                  <a:srgbClr val="5B6170"/>
                </a:solidFill>
              </a:rPr>
              <a:t>GUARDIAN STRENGTH</a:t>
            </a:r>
            <a:endParaRPr lang="en-US" sz="1200" dirty="0"/>
          </a:p>
        </p:txBody>
      </p:sp>
      <p:sp>
        <p:nvSpPr>
          <p:cNvPr id="28" name="strength"/>
          <p:cNvSpPr txBox="1"/>
          <p:nvPr/>
        </p:nvSpPr>
        <p:spPr>
          <a:xfrm>
            <a:off x="8595360" y="1920240"/>
            <a:ext cx="3047695" cy="1097280"/>
          </a:xfrm>
          <a:prstGeom prst="rect">
            <a:avLst/>
          </a:prstGeom>
          <a:noFill/>
          <a:ln/>
        </p:spPr>
        <p:txBody>
          <a:bodyPr wrap="square" lIns="0" tIns="0" rIns="0" bIns="0" rtlCol="0" anchor="ctr"/>
          <a:lstStyle/>
          <a:p>
            <a:pPr indent="0" marL="0">
              <a:buNone/>
            </a:pPr>
            <a:r>
              <a:rPr lang="en-US" sz="7200" b="1" dirty="0">
                <a:solidFill>
                  <a:srgbClr val="2557D6"/>
                </a:solidFill>
              </a:rPr>
              <a:t>16</a:t>
            </a:r>
            <a:pPr indent="0" marL="0">
              <a:buNone/>
            </a:pPr>
            <a:r>
              <a:rPr lang="en-US" sz="2400" b="1" dirty="0">
                <a:solidFill>
                  <a:srgbClr val="5B6170"/>
                </a:solidFill>
              </a:rPr>
              <a:t>/25</a:t>
            </a:r>
            <a:endParaRPr lang="en-US" sz="7200" dirty="0"/>
          </a:p>
        </p:txBody>
      </p:sp>
      <p:sp>
        <p:nvSpPr>
          <p:cNvPr id="29" name="Text 21"/>
          <p:cNvSpPr txBox="1"/>
          <p:nvPr/>
        </p:nvSpPr>
        <p:spPr>
          <a:xfrm>
            <a:off x="8595360" y="3063240"/>
            <a:ext cx="3047695" cy="329184"/>
          </a:xfrm>
          <a:prstGeom prst="rect">
            <a:avLst/>
          </a:prstGeom>
          <a:solidFill>
            <a:srgbClr val="15171C"/>
          </a:solidFill>
          <a:ln/>
        </p:spPr>
        <p:txBody>
          <a:bodyPr wrap="square" lIns="0" tIns="0" rIns="0" bIns="0" rtlCol="0" anchor="ctr"/>
          <a:lstStyle/>
          <a:p>
            <a:pPr algn="ctr" indent="0" marL="0">
              <a:buNone/>
            </a:pPr>
            <a:r>
              <a:rPr lang="en-US" sz="1200" b="1" spc="200" kern="0" dirty="0">
                <a:solidFill>
                  <a:schemeClr val="bg1"/>
                </a:solidFill>
              </a:rPr>
              <a:t>TARGET 3</a:t>
            </a:r>
            <a:endParaRPr lang="en-US" sz="1200" dirty="0"/>
          </a:p>
        </p:txBody>
      </p:sp>
      <p:sp>
        <p:nvSpPr>
          <p:cNvPr id="30" name="Text 22"/>
          <p:cNvSpPr txBox="1"/>
          <p:nvPr/>
        </p:nvSpPr>
        <p:spPr>
          <a:xfrm>
            <a:off x="8595360" y="3657600"/>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Login</a:t>
            </a:r>
            <a:endParaRPr lang="en-US" sz="1100" dirty="0"/>
          </a:p>
        </p:txBody>
      </p:sp>
      <p:sp>
        <p:nvSpPr>
          <p:cNvPr id="31" name="meter Login 1"/>
          <p:cNvSpPr/>
          <p:nvPr/>
        </p:nvSpPr>
        <p:spPr>
          <a:xfrm>
            <a:off x="9601200" y="3694176"/>
            <a:ext cx="219456" cy="310896"/>
          </a:xfrm>
          <a:prstGeom prst="rect">
            <a:avLst/>
          </a:prstGeom>
          <a:solidFill>
            <a:srgbClr val="2557D6"/>
          </a:solidFill>
          <a:ln/>
        </p:spPr>
      </p:sp>
      <p:sp>
        <p:nvSpPr>
          <p:cNvPr id="32" name="meter Login 2"/>
          <p:cNvSpPr/>
          <p:nvPr/>
        </p:nvSpPr>
        <p:spPr>
          <a:xfrm>
            <a:off x="9866376" y="3694176"/>
            <a:ext cx="219456" cy="310896"/>
          </a:xfrm>
          <a:prstGeom prst="rect">
            <a:avLst/>
          </a:prstGeom>
          <a:solidFill>
            <a:srgbClr val="2557D6"/>
          </a:solidFill>
          <a:ln/>
        </p:spPr>
      </p:sp>
      <p:sp>
        <p:nvSpPr>
          <p:cNvPr id="33" name="meter Login 3"/>
          <p:cNvSpPr/>
          <p:nvPr/>
        </p:nvSpPr>
        <p:spPr>
          <a:xfrm>
            <a:off x="10131552" y="3694176"/>
            <a:ext cx="219456" cy="310896"/>
          </a:xfrm>
          <a:prstGeom prst="rect">
            <a:avLst/>
          </a:prstGeom>
          <a:solidFill>
            <a:srgbClr val="2557D6"/>
          </a:solidFill>
          <a:ln/>
        </p:spPr>
      </p:sp>
      <p:sp>
        <p:nvSpPr>
          <p:cNvPr id="34" name="meter Login 4"/>
          <p:cNvSpPr/>
          <p:nvPr/>
        </p:nvSpPr>
        <p:spPr>
          <a:xfrm>
            <a:off x="10396728" y="3694176"/>
            <a:ext cx="219456" cy="310896"/>
          </a:xfrm>
          <a:prstGeom prst="rect">
            <a:avLst/>
          </a:prstGeom>
          <a:solidFill>
            <a:srgbClr val="2557D6"/>
          </a:solidFill>
          <a:ln/>
        </p:spPr>
      </p:sp>
      <p:sp>
        <p:nvSpPr>
          <p:cNvPr id="35" name="meter Login 5"/>
          <p:cNvSpPr/>
          <p:nvPr/>
        </p:nvSpPr>
        <p:spPr>
          <a:xfrm>
            <a:off x="10661904" y="3694176"/>
            <a:ext cx="219456" cy="310896"/>
          </a:xfrm>
          <a:prstGeom prst="rect">
            <a:avLst/>
          </a:prstGeom>
          <a:solidFill>
            <a:srgbClr val="E5E7EB"/>
          </a:solidFill>
          <a:ln/>
        </p:spPr>
      </p:sp>
      <p:sp>
        <p:nvSpPr>
          <p:cNvPr id="36" name="Text 28"/>
          <p:cNvSpPr txBox="1"/>
          <p:nvPr/>
        </p:nvSpPr>
        <p:spPr>
          <a:xfrm>
            <a:off x="10972800" y="3657600"/>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37" name="Text 29"/>
          <p:cNvSpPr txBox="1"/>
          <p:nvPr/>
        </p:nvSpPr>
        <p:spPr>
          <a:xfrm>
            <a:off x="8595360" y="4096512"/>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Encryption</a:t>
            </a:r>
            <a:endParaRPr lang="en-US" sz="1100" dirty="0"/>
          </a:p>
        </p:txBody>
      </p:sp>
      <p:sp>
        <p:nvSpPr>
          <p:cNvPr id="38" name="meter Encryption 1"/>
          <p:cNvSpPr/>
          <p:nvPr/>
        </p:nvSpPr>
        <p:spPr>
          <a:xfrm>
            <a:off x="9601200" y="4133088"/>
            <a:ext cx="219456" cy="310896"/>
          </a:xfrm>
          <a:prstGeom prst="rect">
            <a:avLst/>
          </a:prstGeom>
          <a:solidFill>
            <a:srgbClr val="2557D6"/>
          </a:solidFill>
          <a:ln/>
        </p:spPr>
      </p:sp>
      <p:sp>
        <p:nvSpPr>
          <p:cNvPr id="39" name="meter Encryption 2"/>
          <p:cNvSpPr/>
          <p:nvPr/>
        </p:nvSpPr>
        <p:spPr>
          <a:xfrm>
            <a:off x="9866376" y="4133088"/>
            <a:ext cx="219456" cy="310896"/>
          </a:xfrm>
          <a:prstGeom prst="rect">
            <a:avLst/>
          </a:prstGeom>
          <a:solidFill>
            <a:srgbClr val="E5E7EB"/>
          </a:solidFill>
          <a:ln/>
        </p:spPr>
      </p:sp>
      <p:sp>
        <p:nvSpPr>
          <p:cNvPr id="40" name="meter Encryption 3"/>
          <p:cNvSpPr/>
          <p:nvPr/>
        </p:nvSpPr>
        <p:spPr>
          <a:xfrm>
            <a:off x="10131552" y="4133088"/>
            <a:ext cx="219456" cy="310896"/>
          </a:xfrm>
          <a:prstGeom prst="rect">
            <a:avLst/>
          </a:prstGeom>
          <a:solidFill>
            <a:srgbClr val="E5E7EB"/>
          </a:solidFill>
          <a:ln/>
        </p:spPr>
      </p:sp>
      <p:sp>
        <p:nvSpPr>
          <p:cNvPr id="41" name="meter Encryption 4"/>
          <p:cNvSpPr/>
          <p:nvPr/>
        </p:nvSpPr>
        <p:spPr>
          <a:xfrm>
            <a:off x="10396728" y="4133088"/>
            <a:ext cx="219456" cy="310896"/>
          </a:xfrm>
          <a:prstGeom prst="rect">
            <a:avLst/>
          </a:prstGeom>
          <a:solidFill>
            <a:srgbClr val="E5E7EB"/>
          </a:solidFill>
          <a:ln/>
        </p:spPr>
      </p:sp>
      <p:sp>
        <p:nvSpPr>
          <p:cNvPr id="42" name="meter Encryption 5"/>
          <p:cNvSpPr/>
          <p:nvPr/>
        </p:nvSpPr>
        <p:spPr>
          <a:xfrm>
            <a:off x="10661904" y="4133088"/>
            <a:ext cx="219456" cy="310896"/>
          </a:xfrm>
          <a:prstGeom prst="rect">
            <a:avLst/>
          </a:prstGeom>
          <a:solidFill>
            <a:srgbClr val="E5E7EB"/>
          </a:solidFill>
          <a:ln/>
        </p:spPr>
      </p:sp>
      <p:sp>
        <p:nvSpPr>
          <p:cNvPr id="43" name="Text 35"/>
          <p:cNvSpPr txBox="1"/>
          <p:nvPr/>
        </p:nvSpPr>
        <p:spPr>
          <a:xfrm>
            <a:off x="10972800" y="4096512"/>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1</a:t>
            </a:r>
            <a:endParaRPr lang="en-US" sz="1100" dirty="0"/>
          </a:p>
        </p:txBody>
      </p:sp>
      <p:sp>
        <p:nvSpPr>
          <p:cNvPr id="44" name="Text 36"/>
          <p:cNvSpPr txBox="1"/>
          <p:nvPr/>
        </p:nvSpPr>
        <p:spPr>
          <a:xfrm>
            <a:off x="8595360" y="4535424"/>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Alerts</a:t>
            </a:r>
            <a:endParaRPr lang="en-US" sz="1100" dirty="0"/>
          </a:p>
        </p:txBody>
      </p:sp>
      <p:sp>
        <p:nvSpPr>
          <p:cNvPr id="45" name="meter Alerts 1"/>
          <p:cNvSpPr/>
          <p:nvPr/>
        </p:nvSpPr>
        <p:spPr>
          <a:xfrm>
            <a:off x="9601200" y="4572000"/>
            <a:ext cx="219456" cy="310896"/>
          </a:xfrm>
          <a:prstGeom prst="rect">
            <a:avLst/>
          </a:prstGeom>
          <a:solidFill>
            <a:srgbClr val="2557D6"/>
          </a:solidFill>
          <a:ln/>
        </p:spPr>
      </p:sp>
      <p:sp>
        <p:nvSpPr>
          <p:cNvPr id="46" name="meter Alerts 2"/>
          <p:cNvSpPr/>
          <p:nvPr/>
        </p:nvSpPr>
        <p:spPr>
          <a:xfrm>
            <a:off x="9866376" y="4572000"/>
            <a:ext cx="219456" cy="310896"/>
          </a:xfrm>
          <a:prstGeom prst="rect">
            <a:avLst/>
          </a:prstGeom>
          <a:solidFill>
            <a:srgbClr val="2557D6"/>
          </a:solidFill>
          <a:ln/>
        </p:spPr>
      </p:sp>
      <p:sp>
        <p:nvSpPr>
          <p:cNvPr id="47" name="meter Alerts 3"/>
          <p:cNvSpPr/>
          <p:nvPr/>
        </p:nvSpPr>
        <p:spPr>
          <a:xfrm>
            <a:off x="10131552" y="4572000"/>
            <a:ext cx="219456" cy="310896"/>
          </a:xfrm>
          <a:prstGeom prst="rect">
            <a:avLst/>
          </a:prstGeom>
          <a:solidFill>
            <a:srgbClr val="2557D6"/>
          </a:solidFill>
          <a:ln/>
        </p:spPr>
      </p:sp>
      <p:sp>
        <p:nvSpPr>
          <p:cNvPr id="48" name="meter Alerts 4"/>
          <p:cNvSpPr/>
          <p:nvPr/>
        </p:nvSpPr>
        <p:spPr>
          <a:xfrm>
            <a:off x="10396728" y="4572000"/>
            <a:ext cx="219456" cy="310896"/>
          </a:xfrm>
          <a:prstGeom prst="rect">
            <a:avLst/>
          </a:prstGeom>
          <a:solidFill>
            <a:srgbClr val="2557D6"/>
          </a:solidFill>
          <a:ln/>
        </p:spPr>
      </p:sp>
      <p:sp>
        <p:nvSpPr>
          <p:cNvPr id="49" name="meter Alerts 5"/>
          <p:cNvSpPr/>
          <p:nvPr/>
        </p:nvSpPr>
        <p:spPr>
          <a:xfrm>
            <a:off x="10661904" y="4572000"/>
            <a:ext cx="219456" cy="310896"/>
          </a:xfrm>
          <a:prstGeom prst="rect">
            <a:avLst/>
          </a:prstGeom>
          <a:solidFill>
            <a:srgbClr val="E5E7EB"/>
          </a:solidFill>
          <a:ln/>
        </p:spPr>
      </p:sp>
      <p:sp>
        <p:nvSpPr>
          <p:cNvPr id="50" name="Text 42"/>
          <p:cNvSpPr txBox="1"/>
          <p:nvPr/>
        </p:nvSpPr>
        <p:spPr>
          <a:xfrm>
            <a:off x="10972800" y="4535424"/>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51" name="Text 43"/>
          <p:cNvSpPr txBox="1"/>
          <p:nvPr/>
        </p:nvSpPr>
        <p:spPr>
          <a:xfrm>
            <a:off x="8595360" y="4974336"/>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Recovery</a:t>
            </a:r>
            <a:endParaRPr lang="en-US" sz="1100" dirty="0"/>
          </a:p>
        </p:txBody>
      </p:sp>
      <p:sp>
        <p:nvSpPr>
          <p:cNvPr id="52" name="meter Recovery 1"/>
          <p:cNvSpPr/>
          <p:nvPr/>
        </p:nvSpPr>
        <p:spPr>
          <a:xfrm>
            <a:off x="9601200" y="5010912"/>
            <a:ext cx="219456" cy="310896"/>
          </a:xfrm>
          <a:prstGeom prst="rect">
            <a:avLst/>
          </a:prstGeom>
          <a:solidFill>
            <a:srgbClr val="2557D6"/>
          </a:solidFill>
          <a:ln/>
        </p:spPr>
      </p:sp>
      <p:sp>
        <p:nvSpPr>
          <p:cNvPr id="53" name="meter Recovery 2"/>
          <p:cNvSpPr/>
          <p:nvPr/>
        </p:nvSpPr>
        <p:spPr>
          <a:xfrm>
            <a:off x="9866376" y="5010912"/>
            <a:ext cx="219456" cy="310896"/>
          </a:xfrm>
          <a:prstGeom prst="rect">
            <a:avLst/>
          </a:prstGeom>
          <a:solidFill>
            <a:srgbClr val="2557D6"/>
          </a:solidFill>
          <a:ln/>
        </p:spPr>
      </p:sp>
      <p:sp>
        <p:nvSpPr>
          <p:cNvPr id="54" name="meter Recovery 3"/>
          <p:cNvSpPr/>
          <p:nvPr/>
        </p:nvSpPr>
        <p:spPr>
          <a:xfrm>
            <a:off x="10131552" y="5010912"/>
            <a:ext cx="219456" cy="310896"/>
          </a:xfrm>
          <a:prstGeom prst="rect">
            <a:avLst/>
          </a:prstGeom>
          <a:solidFill>
            <a:srgbClr val="2557D6"/>
          </a:solidFill>
          <a:ln/>
        </p:spPr>
      </p:sp>
      <p:sp>
        <p:nvSpPr>
          <p:cNvPr id="55" name="meter Recovery 4"/>
          <p:cNvSpPr/>
          <p:nvPr/>
        </p:nvSpPr>
        <p:spPr>
          <a:xfrm>
            <a:off x="10396728" y="5010912"/>
            <a:ext cx="219456" cy="310896"/>
          </a:xfrm>
          <a:prstGeom prst="rect">
            <a:avLst/>
          </a:prstGeom>
          <a:solidFill>
            <a:srgbClr val="E5E7EB"/>
          </a:solidFill>
          <a:ln/>
        </p:spPr>
      </p:sp>
      <p:sp>
        <p:nvSpPr>
          <p:cNvPr id="56" name="meter Recovery 5"/>
          <p:cNvSpPr/>
          <p:nvPr/>
        </p:nvSpPr>
        <p:spPr>
          <a:xfrm>
            <a:off x="10661904" y="5010912"/>
            <a:ext cx="219456" cy="310896"/>
          </a:xfrm>
          <a:prstGeom prst="rect">
            <a:avLst/>
          </a:prstGeom>
          <a:solidFill>
            <a:srgbClr val="E5E7EB"/>
          </a:solidFill>
          <a:ln/>
        </p:spPr>
      </p:sp>
      <p:sp>
        <p:nvSpPr>
          <p:cNvPr id="57" name="Text 49"/>
          <p:cNvSpPr txBox="1"/>
          <p:nvPr/>
        </p:nvSpPr>
        <p:spPr>
          <a:xfrm>
            <a:off x="10972800" y="4974336"/>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58" name="Text 50"/>
          <p:cNvSpPr txBox="1"/>
          <p:nvPr/>
        </p:nvSpPr>
        <p:spPr>
          <a:xfrm>
            <a:off x="8595360" y="5413248"/>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Privacy</a:t>
            </a:r>
            <a:endParaRPr lang="en-US" sz="1100" dirty="0"/>
          </a:p>
        </p:txBody>
      </p:sp>
      <p:sp>
        <p:nvSpPr>
          <p:cNvPr id="59" name="meter Privacy 1"/>
          <p:cNvSpPr/>
          <p:nvPr/>
        </p:nvSpPr>
        <p:spPr>
          <a:xfrm>
            <a:off x="9601200" y="5449824"/>
            <a:ext cx="219456" cy="310896"/>
          </a:xfrm>
          <a:prstGeom prst="rect">
            <a:avLst/>
          </a:prstGeom>
          <a:solidFill>
            <a:srgbClr val="2557D6"/>
          </a:solidFill>
          <a:ln/>
        </p:spPr>
      </p:sp>
      <p:sp>
        <p:nvSpPr>
          <p:cNvPr id="60" name="meter Privacy 2"/>
          <p:cNvSpPr/>
          <p:nvPr/>
        </p:nvSpPr>
        <p:spPr>
          <a:xfrm>
            <a:off x="9866376" y="5449824"/>
            <a:ext cx="219456" cy="310896"/>
          </a:xfrm>
          <a:prstGeom prst="rect">
            <a:avLst/>
          </a:prstGeom>
          <a:solidFill>
            <a:srgbClr val="2557D6"/>
          </a:solidFill>
          <a:ln/>
        </p:spPr>
      </p:sp>
      <p:sp>
        <p:nvSpPr>
          <p:cNvPr id="61" name="meter Privacy 3"/>
          <p:cNvSpPr/>
          <p:nvPr/>
        </p:nvSpPr>
        <p:spPr>
          <a:xfrm>
            <a:off x="10131552" y="5449824"/>
            <a:ext cx="219456" cy="310896"/>
          </a:xfrm>
          <a:prstGeom prst="rect">
            <a:avLst/>
          </a:prstGeom>
          <a:solidFill>
            <a:srgbClr val="2557D6"/>
          </a:solidFill>
          <a:ln/>
        </p:spPr>
      </p:sp>
      <p:sp>
        <p:nvSpPr>
          <p:cNvPr id="62" name="meter Privacy 4"/>
          <p:cNvSpPr/>
          <p:nvPr/>
        </p:nvSpPr>
        <p:spPr>
          <a:xfrm>
            <a:off x="10396728" y="5449824"/>
            <a:ext cx="219456" cy="310896"/>
          </a:xfrm>
          <a:prstGeom prst="rect">
            <a:avLst/>
          </a:prstGeom>
          <a:solidFill>
            <a:srgbClr val="2557D6"/>
          </a:solidFill>
          <a:ln/>
        </p:spPr>
      </p:sp>
      <p:sp>
        <p:nvSpPr>
          <p:cNvPr id="63" name="meter Privacy 5"/>
          <p:cNvSpPr/>
          <p:nvPr/>
        </p:nvSpPr>
        <p:spPr>
          <a:xfrm>
            <a:off x="10661904" y="5449824"/>
            <a:ext cx="219456" cy="310896"/>
          </a:xfrm>
          <a:prstGeom prst="rect">
            <a:avLst/>
          </a:prstGeom>
          <a:solidFill>
            <a:srgbClr val="E5E7EB"/>
          </a:solidFill>
          <a:ln/>
        </p:spPr>
      </p:sp>
      <p:sp>
        <p:nvSpPr>
          <p:cNvPr id="64" name="Text 56"/>
          <p:cNvSpPr txBox="1"/>
          <p:nvPr/>
        </p:nvSpPr>
        <p:spPr>
          <a:xfrm>
            <a:off x="10972800" y="5413248"/>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65" name="Text 5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 Euronews (2026).</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06  /  TARGET 4  /  GMAIL</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Gmail: the prize every hacker wants, and the hardest to steal</a:t>
            </a:r>
            <a:endParaRPr lang="en-US" sz="3000" dirty="0"/>
          </a:p>
        </p:txBody>
      </p:sp>
      <p:sp>
        <p:nvSpPr>
          <p:cNvPr id="4" name="hacker panel"/>
          <p:cNvSpPr/>
          <p:nvPr/>
        </p:nvSpPr>
        <p:spPr>
          <a:xfrm>
            <a:off x="548640" y="1600200"/>
            <a:ext cx="3794760" cy="4343400"/>
          </a:xfrm>
          <a:prstGeom prst="rect">
            <a:avLst/>
          </a:prstGeom>
          <a:solidFill>
            <a:srgbClr val="E0312B"/>
          </a:solidFill>
          <a:ln/>
        </p:spPr>
      </p:sp>
      <p:sp>
        <p:nvSpPr>
          <p:cNvPr id="5" name="Gmail circle"/>
          <p:cNvSpPr/>
          <p:nvPr/>
        </p:nvSpPr>
        <p:spPr>
          <a:xfrm>
            <a:off x="822960" y="1810512"/>
            <a:ext cx="548640" cy="548640"/>
          </a:xfrm>
          <a:prstGeom prst="ellipse">
            <a:avLst/>
          </a:prstGeom>
          <a:solidFill>
            <a:srgbClr val="8F1D18"/>
          </a:solidFill>
          <a:ln/>
        </p:spPr>
      </p:sp>
      <p:pic>
        <p:nvPicPr>
          <p:cNvPr id="6" name="Gmail icon" descr="Gmail">    </p:cNvPr>
          <p:cNvPicPr>
            <a:picLocks noChangeAspect="1"/>
          </p:cNvPicPr>
          <p:nvPr/>
        </p:nvPicPr>
        <p:blipFill>
          <a:blip r:embed="rId1"/>
          <a:stretch>
            <a:fillRect/>
          </a:stretch>
        </p:blipFill>
        <p:spPr>
          <a:xfrm>
            <a:off x="960120" y="1947672"/>
            <a:ext cx="274320" cy="274320"/>
          </a:xfrm>
          <a:prstGeom prst="rect">
            <a:avLst/>
          </a:prstGeom>
        </p:spPr>
      </p:pic>
      <p:pic>
        <p:nvPicPr>
          <p:cNvPr id="7" name="crosshair" descr="preencoded.png">    </p:cNvPr>
          <p:cNvPicPr>
            <a:picLocks noChangeAspect="1"/>
          </p:cNvPicPr>
          <p:nvPr/>
        </p:nvPicPr>
        <p:blipFill>
          <a:blip r:embed="rId2"/>
          <a:stretch>
            <a:fillRect/>
          </a:stretch>
        </p:blipFill>
        <p:spPr>
          <a:xfrm>
            <a:off x="2011680" y="2926080"/>
            <a:ext cx="2743200" cy="2743200"/>
          </a:xfrm>
          <a:prstGeom prst="rect">
            <a:avLst/>
          </a:prstGeom>
        </p:spPr>
      </p:pic>
      <p:sp>
        <p:nvSpPr>
          <p:cNvPr id="8" name="Text 4"/>
          <p:cNvSpPr txBox="1"/>
          <p:nvPr/>
        </p:nvSpPr>
        <p:spPr>
          <a:xfrm>
            <a:off x="1508760" y="1947672"/>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rPr>
              <a:t>THE HACKER’S PLAN</a:t>
            </a:r>
            <a:endParaRPr lang="en-US" sz="1200" dirty="0"/>
          </a:p>
        </p:txBody>
      </p:sp>
      <p:sp>
        <p:nvSpPr>
          <p:cNvPr id="9" name="Text 5"/>
          <p:cNvSpPr txBox="1"/>
          <p:nvPr/>
        </p:nvSpPr>
        <p:spPr>
          <a:xfrm>
            <a:off x="822960" y="2514600"/>
            <a:ext cx="3246120" cy="1691640"/>
          </a:xfrm>
          <a:prstGeom prst="rect">
            <a:avLst/>
          </a:prstGeom>
          <a:noFill/>
          <a:ln/>
        </p:spPr>
        <p:txBody>
          <a:bodyPr wrap="square" lIns="0" tIns="0" rIns="0" bIns="0" rtlCol="0" anchor="t"/>
          <a:lstStyle/>
          <a:p>
            <a:pPr indent="0" marL="0">
              <a:buNone/>
            </a:pPr>
            <a:r>
              <a:rPr lang="en-US" sz="1800" b="1" i="1" dirty="0">
                <a:solidFill>
                  <a:schemeClr val="bg1"/>
                </a:solidFill>
              </a:rPr>
              <a:t>“Gmail is the master key: every reset link lands here. But with a passkey, there is no password for me to phish.”</a:t>
            </a:r>
            <a:endParaRPr lang="en-US" sz="1800" dirty="0"/>
          </a:p>
        </p:txBody>
      </p:sp>
      <p:sp>
        <p:nvSpPr>
          <p:cNvPr id="10" name="Text 6"/>
          <p:cNvSpPr txBox="1"/>
          <p:nvPr/>
        </p:nvSpPr>
        <p:spPr>
          <a:xfrm>
            <a:off x="822960" y="4343400"/>
            <a:ext cx="2743200" cy="274320"/>
          </a:xfrm>
          <a:prstGeom prst="rect">
            <a:avLst/>
          </a:prstGeom>
          <a:noFill/>
          <a:ln/>
        </p:spPr>
        <p:txBody>
          <a:bodyPr wrap="square" lIns="0" tIns="0" rIns="0" bIns="0" rtlCol="0" anchor="ctr"/>
          <a:lstStyle/>
          <a:p>
            <a:pPr indent="0" marL="0">
              <a:buNone/>
            </a:pPr>
            <a:r>
              <a:rPr lang="en-US" sz="1200" b="1" spc="200" kern="0" dirty="0">
                <a:solidFill>
                  <a:srgbClr val="FFD3CF"/>
                </a:solidFill>
              </a:rPr>
              <a:t>WEAK SPOT</a:t>
            </a:r>
            <a:endParaRPr lang="en-US" sz="1200" dirty="0"/>
          </a:p>
        </p:txBody>
      </p:sp>
      <p:sp>
        <p:nvSpPr>
          <p:cNvPr id="11" name="Text 7"/>
          <p:cNvSpPr txBox="1"/>
          <p:nvPr/>
        </p:nvSpPr>
        <p:spPr>
          <a:xfrm>
            <a:off x="822960" y="4645152"/>
            <a:ext cx="3246120" cy="1188720"/>
          </a:xfrm>
          <a:prstGeom prst="rect">
            <a:avLst/>
          </a:prstGeom>
          <a:noFill/>
          <a:ln/>
        </p:spPr>
        <p:txBody>
          <a:bodyPr wrap="square" lIns="0" tIns="0" rIns="0" bIns="0" rtlCol="0" anchor="t"/>
          <a:lstStyle/>
          <a:p>
            <a:pPr indent="0" marL="0">
              <a:buNone/>
            </a:pPr>
            <a:r>
              <a:rPr lang="en-US" sz="1400" dirty="0">
                <a:solidFill>
                  <a:schemeClr val="bg1"/>
                </a:solidFill>
              </a:rPr>
              <a:t>Personal mail is not end-to-end encrypted, and users who reuse passwords without 2-Step Verification hand over the master key.</a:t>
            </a:r>
            <a:endParaRPr lang="en-US" sz="1400" dirty="0"/>
          </a:p>
        </p:txBody>
      </p:sp>
      <p:sp>
        <p:nvSpPr>
          <p:cNvPr id="12" name="Text 8"/>
          <p:cNvSpPr txBox="1"/>
          <p:nvPr/>
        </p:nvSpPr>
        <p:spPr>
          <a:xfrm>
            <a:off x="4617720" y="1627632"/>
            <a:ext cx="3703320" cy="274320"/>
          </a:xfrm>
          <a:prstGeom prst="rect">
            <a:avLst/>
          </a:prstGeom>
          <a:noFill/>
          <a:ln/>
        </p:spPr>
        <p:txBody>
          <a:bodyPr wrap="square" lIns="0" tIns="0" rIns="0" bIns="0" rtlCol="0" anchor="ctr"/>
          <a:lstStyle/>
          <a:p>
            <a:pPr indent="0" marL="0">
              <a:buNone/>
            </a:pPr>
            <a:r>
              <a:rPr lang="en-US" sz="1200" b="1" spc="200" kern="0" dirty="0">
                <a:solidFill>
                  <a:srgbClr val="2557D6"/>
                </a:solidFill>
              </a:rPr>
              <a:t>GUARDIANS IN THE WAY</a:t>
            </a:r>
            <a:endParaRPr lang="en-US" sz="1200" dirty="0"/>
          </a:p>
        </p:txBody>
      </p:sp>
      <p:pic>
        <p:nvPicPr>
          <p:cNvPr id="13" name="guard 1" descr="guardian">    </p:cNvPr>
          <p:cNvPicPr>
            <a:picLocks noChangeAspect="1"/>
          </p:cNvPicPr>
          <p:nvPr/>
        </p:nvPicPr>
        <p:blipFill>
          <a:blip r:embed="rId3"/>
          <a:stretch>
            <a:fillRect/>
          </a:stretch>
        </p:blipFill>
        <p:spPr>
          <a:xfrm>
            <a:off x="4617720" y="2139696"/>
            <a:ext cx="310896" cy="310896"/>
          </a:xfrm>
          <a:prstGeom prst="rect">
            <a:avLst/>
          </a:prstGeom>
        </p:spPr>
      </p:pic>
      <p:sp>
        <p:nvSpPr>
          <p:cNvPr id="14" name="Text 9"/>
          <p:cNvSpPr txBox="1"/>
          <p:nvPr/>
        </p:nvSpPr>
        <p:spPr>
          <a:xfrm>
            <a:off x="5074920" y="2029968"/>
            <a:ext cx="3246120" cy="548640"/>
          </a:xfrm>
          <a:prstGeom prst="rect">
            <a:avLst/>
          </a:prstGeom>
          <a:noFill/>
          <a:ln/>
        </p:spPr>
        <p:txBody>
          <a:bodyPr wrap="square" lIns="0" tIns="0" rIns="0" bIns="0" rtlCol="0" anchor="ctr"/>
          <a:lstStyle/>
          <a:p>
            <a:pPr indent="0" marL="0">
              <a:buNone/>
            </a:pPr>
            <a:r>
              <a:rPr lang="en-US" sz="1500" dirty="0">
                <a:solidFill>
                  <a:srgbClr val="15171C"/>
                </a:solidFill>
              </a:rPr>
              <a:t>Passkeys as the default sign-in since Oct 2023</a:t>
            </a:r>
            <a:endParaRPr lang="en-US" sz="1500" dirty="0"/>
          </a:p>
        </p:txBody>
      </p:sp>
      <p:sp>
        <p:nvSpPr>
          <p:cNvPr id="15" name="Shape 10"/>
          <p:cNvSpPr/>
          <p:nvPr/>
        </p:nvSpPr>
        <p:spPr>
          <a:xfrm>
            <a:off x="4617720" y="2651760"/>
            <a:ext cx="3703320" cy="0"/>
          </a:xfrm>
          <a:prstGeom prst="line">
            <a:avLst/>
          </a:prstGeom>
          <a:noFill/>
          <a:ln w="12700">
            <a:solidFill>
              <a:srgbClr val="D9DCE1"/>
            </a:solidFill>
            <a:prstDash val="solid"/>
          </a:ln>
        </p:spPr>
      </p:sp>
      <p:pic>
        <p:nvPicPr>
          <p:cNvPr id="16" name="guard 2" descr="guardian">    </p:cNvPr>
          <p:cNvPicPr>
            <a:picLocks noChangeAspect="1"/>
          </p:cNvPicPr>
          <p:nvPr/>
        </p:nvPicPr>
        <p:blipFill>
          <a:blip r:embed="rId4"/>
          <a:stretch>
            <a:fillRect/>
          </a:stretch>
        </p:blipFill>
        <p:spPr>
          <a:xfrm>
            <a:off x="4617720" y="2852928"/>
            <a:ext cx="310896" cy="310896"/>
          </a:xfrm>
          <a:prstGeom prst="rect">
            <a:avLst/>
          </a:prstGeom>
        </p:spPr>
      </p:pic>
      <p:sp>
        <p:nvSpPr>
          <p:cNvPr id="17" name="Text 11"/>
          <p:cNvSpPr txBox="1"/>
          <p:nvPr/>
        </p:nvSpPr>
        <p:spPr>
          <a:xfrm>
            <a:off x="5074920" y="2743200"/>
            <a:ext cx="3246120" cy="548640"/>
          </a:xfrm>
          <a:prstGeom prst="rect">
            <a:avLst/>
          </a:prstGeom>
          <a:noFill/>
          <a:ln/>
        </p:spPr>
        <p:txBody>
          <a:bodyPr wrap="square" lIns="0" tIns="0" rIns="0" bIns="0" rtlCol="0" anchor="ctr"/>
          <a:lstStyle/>
          <a:p>
            <a:pPr indent="0" marL="0">
              <a:buNone/>
            </a:pPr>
            <a:r>
              <a:rPr lang="en-US" sz="1500" dirty="0">
                <a:solidFill>
                  <a:srgbClr val="15171C"/>
                </a:solidFill>
              </a:rPr>
              <a:t>2-Step Verification and Security Checkup</a:t>
            </a:r>
            <a:endParaRPr lang="en-US" sz="1500" dirty="0"/>
          </a:p>
        </p:txBody>
      </p:sp>
      <p:sp>
        <p:nvSpPr>
          <p:cNvPr id="18" name="Shape 12"/>
          <p:cNvSpPr/>
          <p:nvPr/>
        </p:nvSpPr>
        <p:spPr>
          <a:xfrm>
            <a:off x="4617720" y="3364992"/>
            <a:ext cx="3703320" cy="0"/>
          </a:xfrm>
          <a:prstGeom prst="line">
            <a:avLst/>
          </a:prstGeom>
          <a:noFill/>
          <a:ln w="12700">
            <a:solidFill>
              <a:srgbClr val="D9DCE1"/>
            </a:solidFill>
            <a:prstDash val="solid"/>
          </a:ln>
        </p:spPr>
      </p:sp>
      <p:pic>
        <p:nvPicPr>
          <p:cNvPr id="19" name="guard 3" descr="guardian">    </p:cNvPr>
          <p:cNvPicPr>
            <a:picLocks noChangeAspect="1"/>
          </p:cNvPicPr>
          <p:nvPr/>
        </p:nvPicPr>
        <p:blipFill>
          <a:blip r:embed="rId5"/>
          <a:stretch>
            <a:fillRect/>
          </a:stretch>
        </p:blipFill>
        <p:spPr>
          <a:xfrm>
            <a:off x="4617720" y="3566160"/>
            <a:ext cx="310896" cy="310896"/>
          </a:xfrm>
          <a:prstGeom prst="rect">
            <a:avLst/>
          </a:prstGeom>
        </p:spPr>
      </p:pic>
      <p:sp>
        <p:nvSpPr>
          <p:cNvPr id="20" name="Text 13"/>
          <p:cNvSpPr txBox="1"/>
          <p:nvPr/>
        </p:nvSpPr>
        <p:spPr>
          <a:xfrm>
            <a:off x="5074920" y="3456432"/>
            <a:ext cx="3246120" cy="548640"/>
          </a:xfrm>
          <a:prstGeom prst="rect">
            <a:avLst/>
          </a:prstGeom>
          <a:noFill/>
          <a:ln/>
        </p:spPr>
        <p:txBody>
          <a:bodyPr wrap="square" lIns="0" tIns="0" rIns="0" bIns="0" rtlCol="0" anchor="ctr"/>
          <a:lstStyle/>
          <a:p>
            <a:pPr indent="0" marL="0">
              <a:buNone/>
            </a:pPr>
            <a:r>
              <a:rPr lang="en-US" sz="1500" dirty="0">
                <a:solidFill>
                  <a:srgbClr val="15171C"/>
                </a:solidFill>
              </a:rPr>
              <a:t>Critical alerts for suspicious sign-ins</a:t>
            </a:r>
            <a:endParaRPr lang="en-US" sz="1500" dirty="0"/>
          </a:p>
        </p:txBody>
      </p:sp>
      <p:sp>
        <p:nvSpPr>
          <p:cNvPr id="21" name="Shape 14"/>
          <p:cNvSpPr/>
          <p:nvPr/>
        </p:nvSpPr>
        <p:spPr>
          <a:xfrm>
            <a:off x="4617720" y="4078224"/>
            <a:ext cx="3703320" cy="0"/>
          </a:xfrm>
          <a:prstGeom prst="line">
            <a:avLst/>
          </a:prstGeom>
          <a:noFill/>
          <a:ln w="12700">
            <a:solidFill>
              <a:srgbClr val="D9DCE1"/>
            </a:solidFill>
            <a:prstDash val="solid"/>
          </a:ln>
        </p:spPr>
      </p:sp>
      <p:pic>
        <p:nvPicPr>
          <p:cNvPr id="22" name="guard 4" descr="guardian">    </p:cNvPr>
          <p:cNvPicPr>
            <a:picLocks noChangeAspect="1"/>
          </p:cNvPicPr>
          <p:nvPr/>
        </p:nvPicPr>
        <p:blipFill>
          <a:blip r:embed="rId6"/>
          <a:stretch>
            <a:fillRect/>
          </a:stretch>
        </p:blipFill>
        <p:spPr>
          <a:xfrm>
            <a:off x="4617720" y="4279392"/>
            <a:ext cx="310896" cy="310896"/>
          </a:xfrm>
          <a:prstGeom prst="rect">
            <a:avLst/>
          </a:prstGeom>
        </p:spPr>
      </p:pic>
      <p:sp>
        <p:nvSpPr>
          <p:cNvPr id="23" name="Text 15"/>
          <p:cNvSpPr txBox="1"/>
          <p:nvPr/>
        </p:nvSpPr>
        <p:spPr>
          <a:xfrm>
            <a:off x="5074920" y="4169664"/>
            <a:ext cx="3246120" cy="548640"/>
          </a:xfrm>
          <a:prstGeom prst="rect">
            <a:avLst/>
          </a:prstGeom>
          <a:noFill/>
          <a:ln/>
        </p:spPr>
        <p:txBody>
          <a:bodyPr wrap="square" lIns="0" tIns="0" rIns="0" bIns="0" rtlCol="0" anchor="ctr"/>
          <a:lstStyle/>
          <a:p>
            <a:pPr indent="0" marL="0">
              <a:buNone/>
            </a:pPr>
            <a:r>
              <a:rPr lang="en-US" sz="1500" dirty="0">
                <a:solidFill>
                  <a:srgbClr val="15171C"/>
                </a:solidFill>
              </a:rPr>
              <a:t>Blocks 99.9%+ of phishing and malware (Google)</a:t>
            </a:r>
            <a:endParaRPr lang="en-US" sz="1500" dirty="0"/>
          </a:p>
        </p:txBody>
      </p:sp>
      <p:sp>
        <p:nvSpPr>
          <p:cNvPr id="24" name="Shape 16"/>
          <p:cNvSpPr/>
          <p:nvPr/>
        </p:nvSpPr>
        <p:spPr>
          <a:xfrm>
            <a:off x="4617720" y="4791456"/>
            <a:ext cx="3703320" cy="0"/>
          </a:xfrm>
          <a:prstGeom prst="line">
            <a:avLst/>
          </a:prstGeom>
          <a:noFill/>
          <a:ln w="12700">
            <a:solidFill>
              <a:srgbClr val="D9DCE1"/>
            </a:solidFill>
            <a:prstDash val="solid"/>
          </a:ln>
        </p:spPr>
      </p:sp>
      <p:sp>
        <p:nvSpPr>
          <p:cNvPr id="25" name="add card"/>
          <p:cNvSpPr/>
          <p:nvPr/>
        </p:nvSpPr>
        <p:spPr>
          <a:xfrm>
            <a:off x="4617720" y="4937760"/>
            <a:ext cx="3703320" cy="1005840"/>
          </a:xfrm>
          <a:prstGeom prst="rect">
            <a:avLst/>
          </a:prstGeom>
          <a:solidFill>
            <a:srgbClr val="EAF0FD"/>
          </a:solidFill>
          <a:ln/>
        </p:spPr>
      </p:sp>
      <p:sp>
        <p:nvSpPr>
          <p:cNvPr id="26" name="Text 18"/>
          <p:cNvSpPr txBox="1"/>
          <p:nvPr/>
        </p:nvSpPr>
        <p:spPr>
          <a:xfrm>
            <a:off x="4800600" y="4983480"/>
            <a:ext cx="3337560" cy="914400"/>
          </a:xfrm>
          <a:prstGeom prst="rect">
            <a:avLst/>
          </a:prstGeom>
          <a:noFill/>
          <a:ln/>
        </p:spPr>
        <p:txBody>
          <a:bodyPr wrap="square" lIns="0" tIns="0" rIns="0" bIns="0" rtlCol="0" anchor="ctr"/>
          <a:lstStyle/>
          <a:p>
            <a:pPr indent="0" marL="0">
              <a:buNone/>
            </a:pPr>
            <a:r>
              <a:rPr lang="en-US" sz="1100" b="1" spc="200" kern="0" dirty="0">
                <a:solidFill>
                  <a:srgbClr val="2557D6"/>
                </a:solidFill>
              </a:rPr>
              <a:t>GUARDIAN TO ADD</a:t>
            </a:r>
            <a:endParaRPr lang="en-US" sz="1100" dirty="0"/>
          </a:p>
          <a:p>
            <a:pPr indent="0" marL="0">
              <a:buNone/>
            </a:pPr>
            <a:r>
              <a:rPr lang="en-US" sz="1400" dirty="0">
                <a:solidFill>
                  <a:srgbClr val="15171C"/>
                </a:solidFill>
              </a:rPr>
              <a:t>Optional end-to-end encryption for personal mail, and lookalike warnings for bKash, Nagad and local banks.</a:t>
            </a:r>
            <a:endParaRPr lang="en-US" sz="1100" dirty="0"/>
          </a:p>
        </p:txBody>
      </p:sp>
      <p:sp>
        <p:nvSpPr>
          <p:cNvPr id="27" name="Text 19"/>
          <p:cNvSpPr txBox="1"/>
          <p:nvPr/>
        </p:nvSpPr>
        <p:spPr>
          <a:xfrm>
            <a:off x="8595360" y="1627632"/>
            <a:ext cx="3047695" cy="274320"/>
          </a:xfrm>
          <a:prstGeom prst="rect">
            <a:avLst/>
          </a:prstGeom>
          <a:noFill/>
          <a:ln/>
        </p:spPr>
        <p:txBody>
          <a:bodyPr wrap="square" lIns="0" tIns="0" rIns="0" bIns="0" rtlCol="0" anchor="ctr"/>
          <a:lstStyle/>
          <a:p>
            <a:pPr indent="0" marL="0">
              <a:buNone/>
            </a:pPr>
            <a:r>
              <a:rPr lang="en-US" sz="1200" b="1" spc="200" kern="0" dirty="0">
                <a:solidFill>
                  <a:srgbClr val="5B6170"/>
                </a:solidFill>
              </a:rPr>
              <a:t>GUARDIAN STRENGTH</a:t>
            </a:r>
            <a:endParaRPr lang="en-US" sz="1200" dirty="0"/>
          </a:p>
        </p:txBody>
      </p:sp>
      <p:sp>
        <p:nvSpPr>
          <p:cNvPr id="28" name="strength"/>
          <p:cNvSpPr txBox="1"/>
          <p:nvPr/>
        </p:nvSpPr>
        <p:spPr>
          <a:xfrm>
            <a:off x="8595360" y="1920240"/>
            <a:ext cx="3047695" cy="1097280"/>
          </a:xfrm>
          <a:prstGeom prst="rect">
            <a:avLst/>
          </a:prstGeom>
          <a:noFill/>
          <a:ln/>
        </p:spPr>
        <p:txBody>
          <a:bodyPr wrap="square" lIns="0" tIns="0" rIns="0" bIns="0" rtlCol="0" anchor="ctr"/>
          <a:lstStyle/>
          <a:p>
            <a:pPr indent="0" marL="0">
              <a:buNone/>
            </a:pPr>
            <a:r>
              <a:rPr lang="en-US" sz="7200" b="1" dirty="0">
                <a:solidFill>
                  <a:srgbClr val="2557D6"/>
                </a:solidFill>
              </a:rPr>
              <a:t>20</a:t>
            </a:r>
            <a:pPr indent="0" marL="0">
              <a:buNone/>
            </a:pPr>
            <a:r>
              <a:rPr lang="en-US" sz="2400" b="1" dirty="0">
                <a:solidFill>
                  <a:srgbClr val="5B6170"/>
                </a:solidFill>
              </a:rPr>
              <a:t>/25</a:t>
            </a:r>
            <a:endParaRPr lang="en-US" sz="7200" dirty="0"/>
          </a:p>
        </p:txBody>
      </p:sp>
      <p:sp>
        <p:nvSpPr>
          <p:cNvPr id="29" name="Text 21"/>
          <p:cNvSpPr txBox="1"/>
          <p:nvPr/>
        </p:nvSpPr>
        <p:spPr>
          <a:xfrm>
            <a:off x="8595360" y="3063240"/>
            <a:ext cx="3047695" cy="329184"/>
          </a:xfrm>
          <a:prstGeom prst="rect">
            <a:avLst/>
          </a:prstGeom>
          <a:solidFill>
            <a:srgbClr val="15171C"/>
          </a:solidFill>
          <a:ln/>
        </p:spPr>
        <p:txBody>
          <a:bodyPr wrap="square" lIns="0" tIns="0" rIns="0" bIns="0" rtlCol="0" anchor="ctr"/>
          <a:lstStyle/>
          <a:p>
            <a:pPr algn="ctr" indent="0" marL="0">
              <a:buNone/>
            </a:pPr>
            <a:r>
              <a:rPr lang="en-US" sz="1200" b="1" spc="200" kern="0" dirty="0">
                <a:solidFill>
                  <a:schemeClr val="bg1"/>
                </a:solidFill>
              </a:rPr>
              <a:t>TARGET 4</a:t>
            </a:r>
            <a:endParaRPr lang="en-US" sz="1200" dirty="0"/>
          </a:p>
        </p:txBody>
      </p:sp>
      <p:sp>
        <p:nvSpPr>
          <p:cNvPr id="30" name="Text 22"/>
          <p:cNvSpPr txBox="1"/>
          <p:nvPr/>
        </p:nvSpPr>
        <p:spPr>
          <a:xfrm>
            <a:off x="8595360" y="3657600"/>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Login</a:t>
            </a:r>
            <a:endParaRPr lang="en-US" sz="1100" dirty="0"/>
          </a:p>
        </p:txBody>
      </p:sp>
      <p:sp>
        <p:nvSpPr>
          <p:cNvPr id="31" name="meter Login 1"/>
          <p:cNvSpPr/>
          <p:nvPr/>
        </p:nvSpPr>
        <p:spPr>
          <a:xfrm>
            <a:off x="9601200" y="3694176"/>
            <a:ext cx="219456" cy="310896"/>
          </a:xfrm>
          <a:prstGeom prst="rect">
            <a:avLst/>
          </a:prstGeom>
          <a:solidFill>
            <a:srgbClr val="2557D6"/>
          </a:solidFill>
          <a:ln/>
        </p:spPr>
      </p:sp>
      <p:sp>
        <p:nvSpPr>
          <p:cNvPr id="32" name="meter Login 2"/>
          <p:cNvSpPr/>
          <p:nvPr/>
        </p:nvSpPr>
        <p:spPr>
          <a:xfrm>
            <a:off x="9866376" y="3694176"/>
            <a:ext cx="219456" cy="310896"/>
          </a:xfrm>
          <a:prstGeom prst="rect">
            <a:avLst/>
          </a:prstGeom>
          <a:solidFill>
            <a:srgbClr val="2557D6"/>
          </a:solidFill>
          <a:ln/>
        </p:spPr>
      </p:sp>
      <p:sp>
        <p:nvSpPr>
          <p:cNvPr id="33" name="meter Login 3"/>
          <p:cNvSpPr/>
          <p:nvPr/>
        </p:nvSpPr>
        <p:spPr>
          <a:xfrm>
            <a:off x="10131552" y="3694176"/>
            <a:ext cx="219456" cy="310896"/>
          </a:xfrm>
          <a:prstGeom prst="rect">
            <a:avLst/>
          </a:prstGeom>
          <a:solidFill>
            <a:srgbClr val="2557D6"/>
          </a:solidFill>
          <a:ln/>
        </p:spPr>
      </p:sp>
      <p:sp>
        <p:nvSpPr>
          <p:cNvPr id="34" name="meter Login 4"/>
          <p:cNvSpPr/>
          <p:nvPr/>
        </p:nvSpPr>
        <p:spPr>
          <a:xfrm>
            <a:off x="10396728" y="3694176"/>
            <a:ext cx="219456" cy="310896"/>
          </a:xfrm>
          <a:prstGeom prst="rect">
            <a:avLst/>
          </a:prstGeom>
          <a:solidFill>
            <a:srgbClr val="2557D6"/>
          </a:solidFill>
          <a:ln/>
        </p:spPr>
      </p:sp>
      <p:sp>
        <p:nvSpPr>
          <p:cNvPr id="35" name="meter Login 5"/>
          <p:cNvSpPr/>
          <p:nvPr/>
        </p:nvSpPr>
        <p:spPr>
          <a:xfrm>
            <a:off x="10661904" y="3694176"/>
            <a:ext cx="219456" cy="310896"/>
          </a:xfrm>
          <a:prstGeom prst="rect">
            <a:avLst/>
          </a:prstGeom>
          <a:solidFill>
            <a:srgbClr val="2557D6"/>
          </a:solidFill>
          <a:ln/>
        </p:spPr>
      </p:sp>
      <p:sp>
        <p:nvSpPr>
          <p:cNvPr id="36" name="Text 28"/>
          <p:cNvSpPr txBox="1"/>
          <p:nvPr/>
        </p:nvSpPr>
        <p:spPr>
          <a:xfrm>
            <a:off x="10972800" y="3657600"/>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5</a:t>
            </a:r>
            <a:endParaRPr lang="en-US" sz="1100" dirty="0"/>
          </a:p>
        </p:txBody>
      </p:sp>
      <p:sp>
        <p:nvSpPr>
          <p:cNvPr id="37" name="Text 29"/>
          <p:cNvSpPr txBox="1"/>
          <p:nvPr/>
        </p:nvSpPr>
        <p:spPr>
          <a:xfrm>
            <a:off x="8595360" y="4096512"/>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Encryption</a:t>
            </a:r>
            <a:endParaRPr lang="en-US" sz="1100" dirty="0"/>
          </a:p>
        </p:txBody>
      </p:sp>
      <p:sp>
        <p:nvSpPr>
          <p:cNvPr id="38" name="meter Encryption 1"/>
          <p:cNvSpPr/>
          <p:nvPr/>
        </p:nvSpPr>
        <p:spPr>
          <a:xfrm>
            <a:off x="9601200" y="4133088"/>
            <a:ext cx="219456" cy="310896"/>
          </a:xfrm>
          <a:prstGeom prst="rect">
            <a:avLst/>
          </a:prstGeom>
          <a:solidFill>
            <a:srgbClr val="2557D6"/>
          </a:solidFill>
          <a:ln/>
        </p:spPr>
      </p:sp>
      <p:sp>
        <p:nvSpPr>
          <p:cNvPr id="39" name="meter Encryption 2"/>
          <p:cNvSpPr/>
          <p:nvPr/>
        </p:nvSpPr>
        <p:spPr>
          <a:xfrm>
            <a:off x="9866376" y="4133088"/>
            <a:ext cx="219456" cy="310896"/>
          </a:xfrm>
          <a:prstGeom prst="rect">
            <a:avLst/>
          </a:prstGeom>
          <a:solidFill>
            <a:srgbClr val="2557D6"/>
          </a:solidFill>
          <a:ln/>
        </p:spPr>
      </p:sp>
      <p:sp>
        <p:nvSpPr>
          <p:cNvPr id="40" name="meter Encryption 3"/>
          <p:cNvSpPr/>
          <p:nvPr/>
        </p:nvSpPr>
        <p:spPr>
          <a:xfrm>
            <a:off x="10131552" y="4133088"/>
            <a:ext cx="219456" cy="310896"/>
          </a:xfrm>
          <a:prstGeom prst="rect">
            <a:avLst/>
          </a:prstGeom>
          <a:solidFill>
            <a:srgbClr val="2557D6"/>
          </a:solidFill>
          <a:ln/>
        </p:spPr>
      </p:sp>
      <p:sp>
        <p:nvSpPr>
          <p:cNvPr id="41" name="meter Encryption 4"/>
          <p:cNvSpPr/>
          <p:nvPr/>
        </p:nvSpPr>
        <p:spPr>
          <a:xfrm>
            <a:off x="10396728" y="4133088"/>
            <a:ext cx="219456" cy="310896"/>
          </a:xfrm>
          <a:prstGeom prst="rect">
            <a:avLst/>
          </a:prstGeom>
          <a:solidFill>
            <a:srgbClr val="E5E7EB"/>
          </a:solidFill>
          <a:ln/>
        </p:spPr>
      </p:sp>
      <p:sp>
        <p:nvSpPr>
          <p:cNvPr id="42" name="meter Encryption 5"/>
          <p:cNvSpPr/>
          <p:nvPr/>
        </p:nvSpPr>
        <p:spPr>
          <a:xfrm>
            <a:off x="10661904" y="4133088"/>
            <a:ext cx="219456" cy="310896"/>
          </a:xfrm>
          <a:prstGeom prst="rect">
            <a:avLst/>
          </a:prstGeom>
          <a:solidFill>
            <a:srgbClr val="E5E7EB"/>
          </a:solidFill>
          <a:ln/>
        </p:spPr>
      </p:sp>
      <p:sp>
        <p:nvSpPr>
          <p:cNvPr id="43" name="Text 35"/>
          <p:cNvSpPr txBox="1"/>
          <p:nvPr/>
        </p:nvSpPr>
        <p:spPr>
          <a:xfrm>
            <a:off x="10972800" y="4096512"/>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44" name="Text 36"/>
          <p:cNvSpPr txBox="1"/>
          <p:nvPr/>
        </p:nvSpPr>
        <p:spPr>
          <a:xfrm>
            <a:off x="8595360" y="4535424"/>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Alerts</a:t>
            </a:r>
            <a:endParaRPr lang="en-US" sz="1100" dirty="0"/>
          </a:p>
        </p:txBody>
      </p:sp>
      <p:sp>
        <p:nvSpPr>
          <p:cNvPr id="45" name="meter Alerts 1"/>
          <p:cNvSpPr/>
          <p:nvPr/>
        </p:nvSpPr>
        <p:spPr>
          <a:xfrm>
            <a:off x="9601200" y="4572000"/>
            <a:ext cx="219456" cy="310896"/>
          </a:xfrm>
          <a:prstGeom prst="rect">
            <a:avLst/>
          </a:prstGeom>
          <a:solidFill>
            <a:srgbClr val="2557D6"/>
          </a:solidFill>
          <a:ln/>
        </p:spPr>
      </p:sp>
      <p:sp>
        <p:nvSpPr>
          <p:cNvPr id="46" name="meter Alerts 2"/>
          <p:cNvSpPr/>
          <p:nvPr/>
        </p:nvSpPr>
        <p:spPr>
          <a:xfrm>
            <a:off x="9866376" y="4572000"/>
            <a:ext cx="219456" cy="310896"/>
          </a:xfrm>
          <a:prstGeom prst="rect">
            <a:avLst/>
          </a:prstGeom>
          <a:solidFill>
            <a:srgbClr val="2557D6"/>
          </a:solidFill>
          <a:ln/>
        </p:spPr>
      </p:sp>
      <p:sp>
        <p:nvSpPr>
          <p:cNvPr id="47" name="meter Alerts 3"/>
          <p:cNvSpPr/>
          <p:nvPr/>
        </p:nvSpPr>
        <p:spPr>
          <a:xfrm>
            <a:off x="10131552" y="4572000"/>
            <a:ext cx="219456" cy="310896"/>
          </a:xfrm>
          <a:prstGeom prst="rect">
            <a:avLst/>
          </a:prstGeom>
          <a:solidFill>
            <a:srgbClr val="2557D6"/>
          </a:solidFill>
          <a:ln/>
        </p:spPr>
      </p:sp>
      <p:sp>
        <p:nvSpPr>
          <p:cNvPr id="48" name="meter Alerts 4"/>
          <p:cNvSpPr/>
          <p:nvPr/>
        </p:nvSpPr>
        <p:spPr>
          <a:xfrm>
            <a:off x="10396728" y="4572000"/>
            <a:ext cx="219456" cy="310896"/>
          </a:xfrm>
          <a:prstGeom prst="rect">
            <a:avLst/>
          </a:prstGeom>
          <a:solidFill>
            <a:srgbClr val="2557D6"/>
          </a:solidFill>
          <a:ln/>
        </p:spPr>
      </p:sp>
      <p:sp>
        <p:nvSpPr>
          <p:cNvPr id="49" name="meter Alerts 5"/>
          <p:cNvSpPr/>
          <p:nvPr/>
        </p:nvSpPr>
        <p:spPr>
          <a:xfrm>
            <a:off x="10661904" y="4572000"/>
            <a:ext cx="219456" cy="310896"/>
          </a:xfrm>
          <a:prstGeom prst="rect">
            <a:avLst/>
          </a:prstGeom>
          <a:solidFill>
            <a:srgbClr val="2557D6"/>
          </a:solidFill>
          <a:ln/>
        </p:spPr>
      </p:sp>
      <p:sp>
        <p:nvSpPr>
          <p:cNvPr id="50" name="Text 42"/>
          <p:cNvSpPr txBox="1"/>
          <p:nvPr/>
        </p:nvSpPr>
        <p:spPr>
          <a:xfrm>
            <a:off x="10972800" y="4535424"/>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5</a:t>
            </a:r>
            <a:endParaRPr lang="en-US" sz="1100" dirty="0"/>
          </a:p>
        </p:txBody>
      </p:sp>
      <p:sp>
        <p:nvSpPr>
          <p:cNvPr id="51" name="Text 43"/>
          <p:cNvSpPr txBox="1"/>
          <p:nvPr/>
        </p:nvSpPr>
        <p:spPr>
          <a:xfrm>
            <a:off x="8595360" y="4974336"/>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Recovery</a:t>
            </a:r>
            <a:endParaRPr lang="en-US" sz="1100" dirty="0"/>
          </a:p>
        </p:txBody>
      </p:sp>
      <p:sp>
        <p:nvSpPr>
          <p:cNvPr id="52" name="meter Recovery 1"/>
          <p:cNvSpPr/>
          <p:nvPr/>
        </p:nvSpPr>
        <p:spPr>
          <a:xfrm>
            <a:off x="9601200" y="5010912"/>
            <a:ext cx="219456" cy="310896"/>
          </a:xfrm>
          <a:prstGeom prst="rect">
            <a:avLst/>
          </a:prstGeom>
          <a:solidFill>
            <a:srgbClr val="2557D6"/>
          </a:solidFill>
          <a:ln/>
        </p:spPr>
      </p:sp>
      <p:sp>
        <p:nvSpPr>
          <p:cNvPr id="53" name="meter Recovery 2"/>
          <p:cNvSpPr/>
          <p:nvPr/>
        </p:nvSpPr>
        <p:spPr>
          <a:xfrm>
            <a:off x="9866376" y="5010912"/>
            <a:ext cx="219456" cy="310896"/>
          </a:xfrm>
          <a:prstGeom prst="rect">
            <a:avLst/>
          </a:prstGeom>
          <a:solidFill>
            <a:srgbClr val="2557D6"/>
          </a:solidFill>
          <a:ln/>
        </p:spPr>
      </p:sp>
      <p:sp>
        <p:nvSpPr>
          <p:cNvPr id="54" name="meter Recovery 3"/>
          <p:cNvSpPr/>
          <p:nvPr/>
        </p:nvSpPr>
        <p:spPr>
          <a:xfrm>
            <a:off x="10131552" y="5010912"/>
            <a:ext cx="219456" cy="310896"/>
          </a:xfrm>
          <a:prstGeom prst="rect">
            <a:avLst/>
          </a:prstGeom>
          <a:solidFill>
            <a:srgbClr val="2557D6"/>
          </a:solidFill>
          <a:ln/>
        </p:spPr>
      </p:sp>
      <p:sp>
        <p:nvSpPr>
          <p:cNvPr id="55" name="meter Recovery 4"/>
          <p:cNvSpPr/>
          <p:nvPr/>
        </p:nvSpPr>
        <p:spPr>
          <a:xfrm>
            <a:off x="10396728" y="5010912"/>
            <a:ext cx="219456" cy="310896"/>
          </a:xfrm>
          <a:prstGeom prst="rect">
            <a:avLst/>
          </a:prstGeom>
          <a:solidFill>
            <a:srgbClr val="2557D6"/>
          </a:solidFill>
          <a:ln/>
        </p:spPr>
      </p:sp>
      <p:sp>
        <p:nvSpPr>
          <p:cNvPr id="56" name="meter Recovery 5"/>
          <p:cNvSpPr/>
          <p:nvPr/>
        </p:nvSpPr>
        <p:spPr>
          <a:xfrm>
            <a:off x="10661904" y="5010912"/>
            <a:ext cx="219456" cy="310896"/>
          </a:xfrm>
          <a:prstGeom prst="rect">
            <a:avLst/>
          </a:prstGeom>
          <a:solidFill>
            <a:srgbClr val="E5E7EB"/>
          </a:solidFill>
          <a:ln/>
        </p:spPr>
      </p:sp>
      <p:sp>
        <p:nvSpPr>
          <p:cNvPr id="57" name="Text 49"/>
          <p:cNvSpPr txBox="1"/>
          <p:nvPr/>
        </p:nvSpPr>
        <p:spPr>
          <a:xfrm>
            <a:off x="10972800" y="4974336"/>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58" name="Text 50"/>
          <p:cNvSpPr txBox="1"/>
          <p:nvPr/>
        </p:nvSpPr>
        <p:spPr>
          <a:xfrm>
            <a:off x="8595360" y="5413248"/>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Privacy</a:t>
            </a:r>
            <a:endParaRPr lang="en-US" sz="1100" dirty="0"/>
          </a:p>
        </p:txBody>
      </p:sp>
      <p:sp>
        <p:nvSpPr>
          <p:cNvPr id="59" name="meter Privacy 1"/>
          <p:cNvSpPr/>
          <p:nvPr/>
        </p:nvSpPr>
        <p:spPr>
          <a:xfrm>
            <a:off x="9601200" y="5449824"/>
            <a:ext cx="219456" cy="310896"/>
          </a:xfrm>
          <a:prstGeom prst="rect">
            <a:avLst/>
          </a:prstGeom>
          <a:solidFill>
            <a:srgbClr val="2557D6"/>
          </a:solidFill>
          <a:ln/>
        </p:spPr>
      </p:sp>
      <p:sp>
        <p:nvSpPr>
          <p:cNvPr id="60" name="meter Privacy 2"/>
          <p:cNvSpPr/>
          <p:nvPr/>
        </p:nvSpPr>
        <p:spPr>
          <a:xfrm>
            <a:off x="9866376" y="5449824"/>
            <a:ext cx="219456" cy="310896"/>
          </a:xfrm>
          <a:prstGeom prst="rect">
            <a:avLst/>
          </a:prstGeom>
          <a:solidFill>
            <a:srgbClr val="2557D6"/>
          </a:solidFill>
          <a:ln/>
        </p:spPr>
      </p:sp>
      <p:sp>
        <p:nvSpPr>
          <p:cNvPr id="61" name="meter Privacy 3"/>
          <p:cNvSpPr/>
          <p:nvPr/>
        </p:nvSpPr>
        <p:spPr>
          <a:xfrm>
            <a:off x="10131552" y="5449824"/>
            <a:ext cx="219456" cy="310896"/>
          </a:xfrm>
          <a:prstGeom prst="rect">
            <a:avLst/>
          </a:prstGeom>
          <a:solidFill>
            <a:srgbClr val="2557D6"/>
          </a:solidFill>
          <a:ln/>
        </p:spPr>
      </p:sp>
      <p:sp>
        <p:nvSpPr>
          <p:cNvPr id="62" name="meter Privacy 4"/>
          <p:cNvSpPr/>
          <p:nvPr/>
        </p:nvSpPr>
        <p:spPr>
          <a:xfrm>
            <a:off x="10396728" y="5449824"/>
            <a:ext cx="219456" cy="310896"/>
          </a:xfrm>
          <a:prstGeom prst="rect">
            <a:avLst/>
          </a:prstGeom>
          <a:solidFill>
            <a:srgbClr val="E5E7EB"/>
          </a:solidFill>
          <a:ln/>
        </p:spPr>
      </p:sp>
      <p:sp>
        <p:nvSpPr>
          <p:cNvPr id="63" name="meter Privacy 5"/>
          <p:cNvSpPr/>
          <p:nvPr/>
        </p:nvSpPr>
        <p:spPr>
          <a:xfrm>
            <a:off x="10661904" y="5449824"/>
            <a:ext cx="219456" cy="310896"/>
          </a:xfrm>
          <a:prstGeom prst="rect">
            <a:avLst/>
          </a:prstGeom>
          <a:solidFill>
            <a:srgbClr val="E5E7EB"/>
          </a:solidFill>
          <a:ln/>
        </p:spPr>
      </p:sp>
      <p:sp>
        <p:nvSpPr>
          <p:cNvPr id="64" name="Text 56"/>
          <p:cNvSpPr txBox="1"/>
          <p:nvPr/>
        </p:nvSpPr>
        <p:spPr>
          <a:xfrm>
            <a:off x="10972800" y="5413248"/>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65" name="Text 5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Sources: Google (2023); Engadget (2025).</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300" b="1" spc="300" kern="0" dirty="0">
                <a:solidFill>
                  <a:srgbClr val="E0312B"/>
                </a:solidFill>
              </a:rPr>
              <a:t>07  /  HARDEST TARGET  /  WHATSAPP</a:t>
            </a:r>
            <a:endParaRPr lang="en-US" sz="13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000" b="1" dirty="0">
                <a:solidFill>
                  <a:schemeClr val="tx1"/>
                </a:solidFill>
              </a:rPr>
              <a:t>WhatsApp: the hardest target, so hackers attack the person</a:t>
            </a:r>
            <a:endParaRPr lang="en-US" sz="3000" dirty="0"/>
          </a:p>
        </p:txBody>
      </p:sp>
      <p:sp>
        <p:nvSpPr>
          <p:cNvPr id="4" name="hacker panel"/>
          <p:cNvSpPr/>
          <p:nvPr/>
        </p:nvSpPr>
        <p:spPr>
          <a:xfrm>
            <a:off x="548640" y="1600200"/>
            <a:ext cx="3794760" cy="4343400"/>
          </a:xfrm>
          <a:prstGeom prst="rect">
            <a:avLst/>
          </a:prstGeom>
          <a:solidFill>
            <a:srgbClr val="E0312B"/>
          </a:solidFill>
          <a:ln/>
        </p:spPr>
      </p:sp>
      <p:sp>
        <p:nvSpPr>
          <p:cNvPr id="5" name="WhatsApp circle"/>
          <p:cNvSpPr/>
          <p:nvPr/>
        </p:nvSpPr>
        <p:spPr>
          <a:xfrm>
            <a:off x="822960" y="1810512"/>
            <a:ext cx="548640" cy="548640"/>
          </a:xfrm>
          <a:prstGeom prst="ellipse">
            <a:avLst/>
          </a:prstGeom>
          <a:solidFill>
            <a:srgbClr val="8F1D18"/>
          </a:solidFill>
          <a:ln/>
        </p:spPr>
      </p:sp>
      <p:pic>
        <p:nvPicPr>
          <p:cNvPr id="6" name="WhatsApp icon" descr="WhatsApp">    </p:cNvPr>
          <p:cNvPicPr>
            <a:picLocks noChangeAspect="1"/>
          </p:cNvPicPr>
          <p:nvPr/>
        </p:nvPicPr>
        <p:blipFill>
          <a:blip r:embed="rId1"/>
          <a:stretch>
            <a:fillRect/>
          </a:stretch>
        </p:blipFill>
        <p:spPr>
          <a:xfrm>
            <a:off x="960120" y="1947672"/>
            <a:ext cx="274320" cy="274320"/>
          </a:xfrm>
          <a:prstGeom prst="rect">
            <a:avLst/>
          </a:prstGeom>
        </p:spPr>
      </p:pic>
      <p:pic>
        <p:nvPicPr>
          <p:cNvPr id="7" name="crosshair" descr="preencoded.png">    </p:cNvPr>
          <p:cNvPicPr>
            <a:picLocks noChangeAspect="1"/>
          </p:cNvPicPr>
          <p:nvPr/>
        </p:nvPicPr>
        <p:blipFill>
          <a:blip r:embed="rId2"/>
          <a:stretch>
            <a:fillRect/>
          </a:stretch>
        </p:blipFill>
        <p:spPr>
          <a:xfrm>
            <a:off x="2011680" y="2926080"/>
            <a:ext cx="2743200" cy="2743200"/>
          </a:xfrm>
          <a:prstGeom prst="rect">
            <a:avLst/>
          </a:prstGeom>
        </p:spPr>
      </p:pic>
      <p:sp>
        <p:nvSpPr>
          <p:cNvPr id="8" name="Text 4"/>
          <p:cNvSpPr txBox="1"/>
          <p:nvPr/>
        </p:nvSpPr>
        <p:spPr>
          <a:xfrm>
            <a:off x="1508760" y="1947672"/>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rPr>
              <a:t>THE HACKER’S PLAN</a:t>
            </a:r>
            <a:endParaRPr lang="en-US" sz="1200" dirty="0"/>
          </a:p>
        </p:txBody>
      </p:sp>
      <p:sp>
        <p:nvSpPr>
          <p:cNvPr id="9" name="Text 5"/>
          <p:cNvSpPr txBox="1"/>
          <p:nvPr/>
        </p:nvSpPr>
        <p:spPr>
          <a:xfrm>
            <a:off x="822960" y="2514600"/>
            <a:ext cx="3246120" cy="1691640"/>
          </a:xfrm>
          <a:prstGeom prst="rect">
            <a:avLst/>
          </a:prstGeom>
          <a:noFill/>
          <a:ln/>
        </p:spPr>
        <p:txBody>
          <a:bodyPr wrap="square" lIns="0" tIns="0" rIns="0" bIns="0" rtlCol="0" anchor="t"/>
          <a:lstStyle/>
          <a:p>
            <a:pPr indent="0" marL="0">
              <a:buNone/>
            </a:pPr>
            <a:r>
              <a:rPr lang="en-US" sz="1800" b="1" i="1" dirty="0">
                <a:solidFill>
                  <a:schemeClr val="bg1"/>
                </a:solidFill>
              </a:rPr>
              <a:t>“I can’t break the encryption, so I break the person: ‘I sent my code to you by mistake, please forward it.’”</a:t>
            </a:r>
            <a:endParaRPr lang="en-US" sz="1800" dirty="0"/>
          </a:p>
        </p:txBody>
      </p:sp>
      <p:sp>
        <p:nvSpPr>
          <p:cNvPr id="10" name="Text 6"/>
          <p:cNvSpPr txBox="1"/>
          <p:nvPr/>
        </p:nvSpPr>
        <p:spPr>
          <a:xfrm>
            <a:off x="822960" y="4343400"/>
            <a:ext cx="2743200" cy="274320"/>
          </a:xfrm>
          <a:prstGeom prst="rect">
            <a:avLst/>
          </a:prstGeom>
          <a:noFill/>
          <a:ln/>
        </p:spPr>
        <p:txBody>
          <a:bodyPr wrap="square" lIns="0" tIns="0" rIns="0" bIns="0" rtlCol="0" anchor="ctr"/>
          <a:lstStyle/>
          <a:p>
            <a:pPr indent="0" marL="0">
              <a:buNone/>
            </a:pPr>
            <a:r>
              <a:rPr lang="en-US" sz="1200" b="1" spc="200" kern="0" dirty="0">
                <a:solidFill>
                  <a:srgbClr val="FFD3CF"/>
                </a:solidFill>
              </a:rPr>
              <a:t>WEAK SPOT</a:t>
            </a:r>
            <a:endParaRPr lang="en-US" sz="1200" dirty="0"/>
          </a:p>
        </p:txBody>
      </p:sp>
      <p:sp>
        <p:nvSpPr>
          <p:cNvPr id="11" name="Text 7"/>
          <p:cNvSpPr txBox="1"/>
          <p:nvPr/>
        </p:nvSpPr>
        <p:spPr>
          <a:xfrm>
            <a:off x="822960" y="4645152"/>
            <a:ext cx="3246120" cy="1188720"/>
          </a:xfrm>
          <a:prstGeom prst="rect">
            <a:avLst/>
          </a:prstGeom>
          <a:noFill/>
          <a:ln/>
        </p:spPr>
        <p:txBody>
          <a:bodyPr wrap="square" lIns="0" tIns="0" rIns="0" bIns="0" rtlCol="0" anchor="t"/>
          <a:lstStyle/>
          <a:p>
            <a:pPr indent="0" marL="0">
              <a:buNone/>
            </a:pPr>
            <a:r>
              <a:rPr lang="en-US" sz="1400" dirty="0">
                <a:solidFill>
                  <a:schemeClr val="bg1"/>
                </a:solidFill>
              </a:rPr>
              <a:t>The phone number is the identity. Without a two-step PIN, one shared six-digit code hands over the account.</a:t>
            </a:r>
            <a:endParaRPr lang="en-US" sz="1400" dirty="0"/>
          </a:p>
        </p:txBody>
      </p:sp>
      <p:sp>
        <p:nvSpPr>
          <p:cNvPr id="12" name="Text 8"/>
          <p:cNvSpPr txBox="1"/>
          <p:nvPr/>
        </p:nvSpPr>
        <p:spPr>
          <a:xfrm>
            <a:off x="4617720" y="1627632"/>
            <a:ext cx="3703320" cy="274320"/>
          </a:xfrm>
          <a:prstGeom prst="rect">
            <a:avLst/>
          </a:prstGeom>
          <a:noFill/>
          <a:ln/>
        </p:spPr>
        <p:txBody>
          <a:bodyPr wrap="square" lIns="0" tIns="0" rIns="0" bIns="0" rtlCol="0" anchor="ctr"/>
          <a:lstStyle/>
          <a:p>
            <a:pPr indent="0" marL="0">
              <a:buNone/>
            </a:pPr>
            <a:r>
              <a:rPr lang="en-US" sz="1200" b="1" spc="200" kern="0" dirty="0">
                <a:solidFill>
                  <a:srgbClr val="2557D6"/>
                </a:solidFill>
              </a:rPr>
              <a:t>GUARDIANS IN THE WAY</a:t>
            </a:r>
            <a:endParaRPr lang="en-US" sz="1200" dirty="0"/>
          </a:p>
        </p:txBody>
      </p:sp>
      <p:pic>
        <p:nvPicPr>
          <p:cNvPr id="13" name="guard 1" descr="guardian">    </p:cNvPr>
          <p:cNvPicPr>
            <a:picLocks noChangeAspect="1"/>
          </p:cNvPicPr>
          <p:nvPr/>
        </p:nvPicPr>
        <p:blipFill>
          <a:blip r:embed="rId3"/>
          <a:stretch>
            <a:fillRect/>
          </a:stretch>
        </p:blipFill>
        <p:spPr>
          <a:xfrm>
            <a:off x="4617720" y="2139696"/>
            <a:ext cx="310896" cy="310896"/>
          </a:xfrm>
          <a:prstGeom prst="rect">
            <a:avLst/>
          </a:prstGeom>
        </p:spPr>
      </p:pic>
      <p:sp>
        <p:nvSpPr>
          <p:cNvPr id="14" name="Text 9"/>
          <p:cNvSpPr txBox="1"/>
          <p:nvPr/>
        </p:nvSpPr>
        <p:spPr>
          <a:xfrm>
            <a:off x="5074920" y="2029968"/>
            <a:ext cx="3246120" cy="548640"/>
          </a:xfrm>
          <a:prstGeom prst="rect">
            <a:avLst/>
          </a:prstGeom>
          <a:noFill/>
          <a:ln/>
        </p:spPr>
        <p:txBody>
          <a:bodyPr wrap="square" lIns="0" tIns="0" rIns="0" bIns="0" rtlCol="0" anchor="ctr"/>
          <a:lstStyle/>
          <a:p>
            <a:pPr indent="0" marL="0">
              <a:buNone/>
            </a:pPr>
            <a:r>
              <a:rPr lang="en-US" sz="1500" dirty="0">
                <a:solidFill>
                  <a:srgbClr val="15171C"/>
                </a:solidFill>
              </a:rPr>
              <a:t>End-to-end encryption on every chat and call</a:t>
            </a:r>
            <a:endParaRPr lang="en-US" sz="1500" dirty="0"/>
          </a:p>
        </p:txBody>
      </p:sp>
      <p:sp>
        <p:nvSpPr>
          <p:cNvPr id="15" name="Shape 10"/>
          <p:cNvSpPr/>
          <p:nvPr/>
        </p:nvSpPr>
        <p:spPr>
          <a:xfrm>
            <a:off x="4617720" y="2651760"/>
            <a:ext cx="3703320" cy="0"/>
          </a:xfrm>
          <a:prstGeom prst="line">
            <a:avLst/>
          </a:prstGeom>
          <a:noFill/>
          <a:ln w="12700">
            <a:solidFill>
              <a:srgbClr val="D9DCE1"/>
            </a:solidFill>
            <a:prstDash val="solid"/>
          </a:ln>
        </p:spPr>
      </p:sp>
      <p:pic>
        <p:nvPicPr>
          <p:cNvPr id="16" name="guard 2" descr="guardian">    </p:cNvPr>
          <p:cNvPicPr>
            <a:picLocks noChangeAspect="1"/>
          </p:cNvPicPr>
          <p:nvPr/>
        </p:nvPicPr>
        <p:blipFill>
          <a:blip r:embed="rId4"/>
          <a:stretch>
            <a:fillRect/>
          </a:stretch>
        </p:blipFill>
        <p:spPr>
          <a:xfrm>
            <a:off x="4617720" y="2852928"/>
            <a:ext cx="310896" cy="310896"/>
          </a:xfrm>
          <a:prstGeom prst="rect">
            <a:avLst/>
          </a:prstGeom>
        </p:spPr>
      </p:pic>
      <p:sp>
        <p:nvSpPr>
          <p:cNvPr id="17" name="Text 11"/>
          <p:cNvSpPr txBox="1"/>
          <p:nvPr/>
        </p:nvSpPr>
        <p:spPr>
          <a:xfrm>
            <a:off x="5074920" y="2743200"/>
            <a:ext cx="3246120" cy="548640"/>
          </a:xfrm>
          <a:prstGeom prst="rect">
            <a:avLst/>
          </a:prstGeom>
          <a:noFill/>
          <a:ln/>
        </p:spPr>
        <p:txBody>
          <a:bodyPr wrap="square" lIns="0" tIns="0" rIns="0" bIns="0" rtlCol="0" anchor="ctr"/>
          <a:lstStyle/>
          <a:p>
            <a:pPr indent="0" marL="0">
              <a:buNone/>
            </a:pPr>
            <a:r>
              <a:rPr lang="en-US" sz="1500" dirty="0">
                <a:solidFill>
                  <a:srgbClr val="15171C"/>
                </a:solidFill>
              </a:rPr>
              <a:t>Six-digit two-step verification PIN</a:t>
            </a:r>
            <a:endParaRPr lang="en-US" sz="1500" dirty="0"/>
          </a:p>
        </p:txBody>
      </p:sp>
      <p:sp>
        <p:nvSpPr>
          <p:cNvPr id="18" name="Shape 12"/>
          <p:cNvSpPr/>
          <p:nvPr/>
        </p:nvSpPr>
        <p:spPr>
          <a:xfrm>
            <a:off x="4617720" y="3364992"/>
            <a:ext cx="3703320" cy="0"/>
          </a:xfrm>
          <a:prstGeom prst="line">
            <a:avLst/>
          </a:prstGeom>
          <a:noFill/>
          <a:ln w="12700">
            <a:solidFill>
              <a:srgbClr val="D9DCE1"/>
            </a:solidFill>
            <a:prstDash val="solid"/>
          </a:ln>
        </p:spPr>
      </p:sp>
      <p:pic>
        <p:nvPicPr>
          <p:cNvPr id="19" name="guard 3" descr="guardian">    </p:cNvPr>
          <p:cNvPicPr>
            <a:picLocks noChangeAspect="1"/>
          </p:cNvPicPr>
          <p:nvPr/>
        </p:nvPicPr>
        <p:blipFill>
          <a:blip r:embed="rId5"/>
          <a:stretch>
            <a:fillRect/>
          </a:stretch>
        </p:blipFill>
        <p:spPr>
          <a:xfrm>
            <a:off x="4617720" y="3566160"/>
            <a:ext cx="310896" cy="310896"/>
          </a:xfrm>
          <a:prstGeom prst="rect">
            <a:avLst/>
          </a:prstGeom>
        </p:spPr>
      </p:pic>
      <p:sp>
        <p:nvSpPr>
          <p:cNvPr id="20" name="Text 13"/>
          <p:cNvSpPr txBox="1"/>
          <p:nvPr/>
        </p:nvSpPr>
        <p:spPr>
          <a:xfrm>
            <a:off x="5074920" y="3456432"/>
            <a:ext cx="3246120" cy="548640"/>
          </a:xfrm>
          <a:prstGeom prst="rect">
            <a:avLst/>
          </a:prstGeom>
          <a:noFill/>
          <a:ln/>
        </p:spPr>
        <p:txBody>
          <a:bodyPr wrap="square" lIns="0" tIns="0" rIns="0" bIns="0" rtlCol="0" anchor="ctr"/>
          <a:lstStyle/>
          <a:p>
            <a:pPr indent="0" marL="0">
              <a:buNone/>
            </a:pPr>
            <a:r>
              <a:rPr lang="en-US" sz="1500" dirty="0">
                <a:solidFill>
                  <a:srgbClr val="15171C"/>
                </a:solidFill>
              </a:rPr>
              <a:t>Passkeys and passkey-locked backups</a:t>
            </a:r>
            <a:endParaRPr lang="en-US" sz="1500" dirty="0"/>
          </a:p>
        </p:txBody>
      </p:sp>
      <p:sp>
        <p:nvSpPr>
          <p:cNvPr id="21" name="Shape 14"/>
          <p:cNvSpPr/>
          <p:nvPr/>
        </p:nvSpPr>
        <p:spPr>
          <a:xfrm>
            <a:off x="4617720" y="4078224"/>
            <a:ext cx="3703320" cy="0"/>
          </a:xfrm>
          <a:prstGeom prst="line">
            <a:avLst/>
          </a:prstGeom>
          <a:noFill/>
          <a:ln w="12700">
            <a:solidFill>
              <a:srgbClr val="D9DCE1"/>
            </a:solidFill>
            <a:prstDash val="solid"/>
          </a:ln>
        </p:spPr>
      </p:sp>
      <p:pic>
        <p:nvPicPr>
          <p:cNvPr id="22" name="guard 4" descr="guardian">    </p:cNvPr>
          <p:cNvPicPr>
            <a:picLocks noChangeAspect="1"/>
          </p:cNvPicPr>
          <p:nvPr/>
        </p:nvPicPr>
        <p:blipFill>
          <a:blip r:embed="rId6"/>
          <a:stretch>
            <a:fillRect/>
          </a:stretch>
        </p:blipFill>
        <p:spPr>
          <a:xfrm>
            <a:off x="4617720" y="4279392"/>
            <a:ext cx="310896" cy="310896"/>
          </a:xfrm>
          <a:prstGeom prst="rect">
            <a:avLst/>
          </a:prstGeom>
        </p:spPr>
      </p:pic>
      <p:sp>
        <p:nvSpPr>
          <p:cNvPr id="23" name="Text 15"/>
          <p:cNvSpPr txBox="1"/>
          <p:nvPr/>
        </p:nvSpPr>
        <p:spPr>
          <a:xfrm>
            <a:off x="5074920" y="4169664"/>
            <a:ext cx="3246120" cy="548640"/>
          </a:xfrm>
          <a:prstGeom prst="rect">
            <a:avLst/>
          </a:prstGeom>
          <a:noFill/>
          <a:ln/>
        </p:spPr>
        <p:txBody>
          <a:bodyPr wrap="square" lIns="0" tIns="0" rIns="0" bIns="0" rtlCol="0" anchor="ctr"/>
          <a:lstStyle/>
          <a:p>
            <a:pPr indent="0" marL="0">
              <a:buNone/>
            </a:pPr>
            <a:r>
              <a:rPr lang="en-US" sz="1500" dirty="0">
                <a:solidFill>
                  <a:srgbClr val="15171C"/>
                </a:solidFill>
              </a:rPr>
              <a:t>Strict Account Settings (Jan 2026)</a:t>
            </a:r>
            <a:endParaRPr lang="en-US" sz="1500" dirty="0"/>
          </a:p>
        </p:txBody>
      </p:sp>
      <p:sp>
        <p:nvSpPr>
          <p:cNvPr id="24" name="Shape 16"/>
          <p:cNvSpPr/>
          <p:nvPr/>
        </p:nvSpPr>
        <p:spPr>
          <a:xfrm>
            <a:off x="4617720" y="4791456"/>
            <a:ext cx="3703320" cy="0"/>
          </a:xfrm>
          <a:prstGeom prst="line">
            <a:avLst/>
          </a:prstGeom>
          <a:noFill/>
          <a:ln w="12700">
            <a:solidFill>
              <a:srgbClr val="D9DCE1"/>
            </a:solidFill>
            <a:prstDash val="solid"/>
          </a:ln>
        </p:spPr>
      </p:sp>
      <p:sp>
        <p:nvSpPr>
          <p:cNvPr id="25" name="add card"/>
          <p:cNvSpPr/>
          <p:nvPr/>
        </p:nvSpPr>
        <p:spPr>
          <a:xfrm>
            <a:off x="4617720" y="4937760"/>
            <a:ext cx="3703320" cy="1005840"/>
          </a:xfrm>
          <a:prstGeom prst="rect">
            <a:avLst/>
          </a:prstGeom>
          <a:solidFill>
            <a:srgbClr val="EAF0FD"/>
          </a:solidFill>
          <a:ln/>
        </p:spPr>
      </p:sp>
      <p:sp>
        <p:nvSpPr>
          <p:cNvPr id="26" name="Text 18"/>
          <p:cNvSpPr txBox="1"/>
          <p:nvPr/>
        </p:nvSpPr>
        <p:spPr>
          <a:xfrm>
            <a:off x="4800600" y="4983480"/>
            <a:ext cx="3337560" cy="914400"/>
          </a:xfrm>
          <a:prstGeom prst="rect">
            <a:avLst/>
          </a:prstGeom>
          <a:noFill/>
          <a:ln/>
        </p:spPr>
        <p:txBody>
          <a:bodyPr wrap="square" lIns="0" tIns="0" rIns="0" bIns="0" rtlCol="0" anchor="ctr"/>
          <a:lstStyle/>
          <a:p>
            <a:pPr indent="0" marL="0">
              <a:buNone/>
            </a:pPr>
            <a:r>
              <a:rPr lang="en-US" sz="1100" b="1" spc="200" kern="0" dirty="0">
                <a:solidFill>
                  <a:srgbClr val="2557D6"/>
                </a:solidFill>
              </a:rPr>
              <a:t>GUARDIAN TO ADD</a:t>
            </a:r>
            <a:endParaRPr lang="en-US" sz="1100" dirty="0"/>
          </a:p>
          <a:p>
            <a:pPr indent="0" marL="0">
              <a:buNone/>
            </a:pPr>
            <a:r>
              <a:rPr lang="en-US" sz="1400" dirty="0">
                <a:solidFill>
                  <a:srgbClr val="15171C"/>
                </a:solidFill>
              </a:rPr>
              <a:t>A Bangla warning whenever a registration code is requested, and a mandatory two-step PIN.</a:t>
            </a:r>
            <a:endParaRPr lang="en-US" sz="1100" dirty="0"/>
          </a:p>
        </p:txBody>
      </p:sp>
      <p:sp>
        <p:nvSpPr>
          <p:cNvPr id="27" name="Text 19"/>
          <p:cNvSpPr txBox="1"/>
          <p:nvPr/>
        </p:nvSpPr>
        <p:spPr>
          <a:xfrm>
            <a:off x="8595360" y="1627632"/>
            <a:ext cx="3047695" cy="274320"/>
          </a:xfrm>
          <a:prstGeom prst="rect">
            <a:avLst/>
          </a:prstGeom>
          <a:noFill/>
          <a:ln/>
        </p:spPr>
        <p:txBody>
          <a:bodyPr wrap="square" lIns="0" tIns="0" rIns="0" bIns="0" rtlCol="0" anchor="ctr"/>
          <a:lstStyle/>
          <a:p>
            <a:pPr indent="0" marL="0">
              <a:buNone/>
            </a:pPr>
            <a:r>
              <a:rPr lang="en-US" sz="1200" b="1" spc="200" kern="0" dirty="0">
                <a:solidFill>
                  <a:srgbClr val="5B6170"/>
                </a:solidFill>
              </a:rPr>
              <a:t>GUARDIAN STRENGTH</a:t>
            </a:r>
            <a:endParaRPr lang="en-US" sz="1200" dirty="0"/>
          </a:p>
        </p:txBody>
      </p:sp>
      <p:sp>
        <p:nvSpPr>
          <p:cNvPr id="28" name="strength"/>
          <p:cNvSpPr txBox="1"/>
          <p:nvPr/>
        </p:nvSpPr>
        <p:spPr>
          <a:xfrm>
            <a:off x="8595360" y="1920240"/>
            <a:ext cx="3047695" cy="1097280"/>
          </a:xfrm>
          <a:prstGeom prst="rect">
            <a:avLst/>
          </a:prstGeom>
          <a:noFill/>
          <a:ln/>
        </p:spPr>
        <p:txBody>
          <a:bodyPr wrap="square" lIns="0" tIns="0" rIns="0" bIns="0" rtlCol="0" anchor="ctr"/>
          <a:lstStyle/>
          <a:p>
            <a:pPr indent="0" marL="0">
              <a:buNone/>
            </a:pPr>
            <a:r>
              <a:rPr lang="en-US" sz="7200" b="1" dirty="0">
                <a:solidFill>
                  <a:srgbClr val="2557D6"/>
                </a:solidFill>
              </a:rPr>
              <a:t>20</a:t>
            </a:r>
            <a:pPr indent="0" marL="0">
              <a:buNone/>
            </a:pPr>
            <a:r>
              <a:rPr lang="en-US" sz="2400" b="1" dirty="0">
                <a:solidFill>
                  <a:srgbClr val="5B6170"/>
                </a:solidFill>
              </a:rPr>
              <a:t>/25</a:t>
            </a:r>
            <a:endParaRPr lang="en-US" sz="7200" dirty="0"/>
          </a:p>
        </p:txBody>
      </p:sp>
      <p:sp>
        <p:nvSpPr>
          <p:cNvPr id="29" name="Text 21"/>
          <p:cNvSpPr txBox="1"/>
          <p:nvPr/>
        </p:nvSpPr>
        <p:spPr>
          <a:xfrm>
            <a:off x="8595360" y="3063240"/>
            <a:ext cx="3047695" cy="329184"/>
          </a:xfrm>
          <a:prstGeom prst="rect">
            <a:avLst/>
          </a:prstGeom>
          <a:solidFill>
            <a:srgbClr val="2557D6"/>
          </a:solidFill>
          <a:ln/>
        </p:spPr>
        <p:txBody>
          <a:bodyPr wrap="square" lIns="0" tIns="0" rIns="0" bIns="0" rtlCol="0" anchor="ctr"/>
          <a:lstStyle/>
          <a:p>
            <a:pPr algn="ctr" indent="0" marL="0">
              <a:buNone/>
            </a:pPr>
            <a:r>
              <a:rPr lang="en-US" sz="1200" b="1" spc="200" kern="0" dirty="0">
                <a:solidFill>
                  <a:schemeClr val="bg1"/>
                </a:solidFill>
              </a:rPr>
              <a:t>HARDEST TARGET</a:t>
            </a:r>
            <a:endParaRPr lang="en-US" sz="1200" dirty="0"/>
          </a:p>
        </p:txBody>
      </p:sp>
      <p:sp>
        <p:nvSpPr>
          <p:cNvPr id="30" name="Text 22"/>
          <p:cNvSpPr txBox="1"/>
          <p:nvPr/>
        </p:nvSpPr>
        <p:spPr>
          <a:xfrm>
            <a:off x="8595360" y="3657600"/>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Login</a:t>
            </a:r>
            <a:endParaRPr lang="en-US" sz="1100" dirty="0"/>
          </a:p>
        </p:txBody>
      </p:sp>
      <p:sp>
        <p:nvSpPr>
          <p:cNvPr id="31" name="meter Login 1"/>
          <p:cNvSpPr/>
          <p:nvPr/>
        </p:nvSpPr>
        <p:spPr>
          <a:xfrm>
            <a:off x="9601200" y="3694176"/>
            <a:ext cx="219456" cy="310896"/>
          </a:xfrm>
          <a:prstGeom prst="rect">
            <a:avLst/>
          </a:prstGeom>
          <a:solidFill>
            <a:srgbClr val="2557D6"/>
          </a:solidFill>
          <a:ln/>
        </p:spPr>
      </p:sp>
      <p:sp>
        <p:nvSpPr>
          <p:cNvPr id="32" name="meter Login 2"/>
          <p:cNvSpPr/>
          <p:nvPr/>
        </p:nvSpPr>
        <p:spPr>
          <a:xfrm>
            <a:off x="9866376" y="3694176"/>
            <a:ext cx="219456" cy="310896"/>
          </a:xfrm>
          <a:prstGeom prst="rect">
            <a:avLst/>
          </a:prstGeom>
          <a:solidFill>
            <a:srgbClr val="2557D6"/>
          </a:solidFill>
          <a:ln/>
        </p:spPr>
      </p:sp>
      <p:sp>
        <p:nvSpPr>
          <p:cNvPr id="33" name="meter Login 3"/>
          <p:cNvSpPr/>
          <p:nvPr/>
        </p:nvSpPr>
        <p:spPr>
          <a:xfrm>
            <a:off x="10131552" y="3694176"/>
            <a:ext cx="219456" cy="310896"/>
          </a:xfrm>
          <a:prstGeom prst="rect">
            <a:avLst/>
          </a:prstGeom>
          <a:solidFill>
            <a:srgbClr val="2557D6"/>
          </a:solidFill>
          <a:ln/>
        </p:spPr>
      </p:sp>
      <p:sp>
        <p:nvSpPr>
          <p:cNvPr id="34" name="meter Login 4"/>
          <p:cNvSpPr/>
          <p:nvPr/>
        </p:nvSpPr>
        <p:spPr>
          <a:xfrm>
            <a:off x="10396728" y="3694176"/>
            <a:ext cx="219456" cy="310896"/>
          </a:xfrm>
          <a:prstGeom prst="rect">
            <a:avLst/>
          </a:prstGeom>
          <a:solidFill>
            <a:srgbClr val="2557D6"/>
          </a:solidFill>
          <a:ln/>
        </p:spPr>
      </p:sp>
      <p:sp>
        <p:nvSpPr>
          <p:cNvPr id="35" name="meter Login 5"/>
          <p:cNvSpPr/>
          <p:nvPr/>
        </p:nvSpPr>
        <p:spPr>
          <a:xfrm>
            <a:off x="10661904" y="3694176"/>
            <a:ext cx="219456" cy="310896"/>
          </a:xfrm>
          <a:prstGeom prst="rect">
            <a:avLst/>
          </a:prstGeom>
          <a:solidFill>
            <a:srgbClr val="E5E7EB"/>
          </a:solidFill>
          <a:ln/>
        </p:spPr>
      </p:sp>
      <p:sp>
        <p:nvSpPr>
          <p:cNvPr id="36" name="Text 28"/>
          <p:cNvSpPr txBox="1"/>
          <p:nvPr/>
        </p:nvSpPr>
        <p:spPr>
          <a:xfrm>
            <a:off x="10972800" y="3657600"/>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4</a:t>
            </a:r>
            <a:endParaRPr lang="en-US" sz="1100" dirty="0"/>
          </a:p>
        </p:txBody>
      </p:sp>
      <p:sp>
        <p:nvSpPr>
          <p:cNvPr id="37" name="Text 29"/>
          <p:cNvSpPr txBox="1"/>
          <p:nvPr/>
        </p:nvSpPr>
        <p:spPr>
          <a:xfrm>
            <a:off x="8595360" y="4096512"/>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Encryption</a:t>
            </a:r>
            <a:endParaRPr lang="en-US" sz="1100" dirty="0"/>
          </a:p>
        </p:txBody>
      </p:sp>
      <p:sp>
        <p:nvSpPr>
          <p:cNvPr id="38" name="meter Encryption 1"/>
          <p:cNvSpPr/>
          <p:nvPr/>
        </p:nvSpPr>
        <p:spPr>
          <a:xfrm>
            <a:off x="9601200" y="4133088"/>
            <a:ext cx="219456" cy="310896"/>
          </a:xfrm>
          <a:prstGeom prst="rect">
            <a:avLst/>
          </a:prstGeom>
          <a:solidFill>
            <a:srgbClr val="2557D6"/>
          </a:solidFill>
          <a:ln/>
        </p:spPr>
      </p:sp>
      <p:sp>
        <p:nvSpPr>
          <p:cNvPr id="39" name="meter Encryption 2"/>
          <p:cNvSpPr/>
          <p:nvPr/>
        </p:nvSpPr>
        <p:spPr>
          <a:xfrm>
            <a:off x="9866376" y="4133088"/>
            <a:ext cx="219456" cy="310896"/>
          </a:xfrm>
          <a:prstGeom prst="rect">
            <a:avLst/>
          </a:prstGeom>
          <a:solidFill>
            <a:srgbClr val="2557D6"/>
          </a:solidFill>
          <a:ln/>
        </p:spPr>
      </p:sp>
      <p:sp>
        <p:nvSpPr>
          <p:cNvPr id="40" name="meter Encryption 3"/>
          <p:cNvSpPr/>
          <p:nvPr/>
        </p:nvSpPr>
        <p:spPr>
          <a:xfrm>
            <a:off x="10131552" y="4133088"/>
            <a:ext cx="219456" cy="310896"/>
          </a:xfrm>
          <a:prstGeom prst="rect">
            <a:avLst/>
          </a:prstGeom>
          <a:solidFill>
            <a:srgbClr val="2557D6"/>
          </a:solidFill>
          <a:ln/>
        </p:spPr>
      </p:sp>
      <p:sp>
        <p:nvSpPr>
          <p:cNvPr id="41" name="meter Encryption 4"/>
          <p:cNvSpPr/>
          <p:nvPr/>
        </p:nvSpPr>
        <p:spPr>
          <a:xfrm>
            <a:off x="10396728" y="4133088"/>
            <a:ext cx="219456" cy="310896"/>
          </a:xfrm>
          <a:prstGeom prst="rect">
            <a:avLst/>
          </a:prstGeom>
          <a:solidFill>
            <a:srgbClr val="2557D6"/>
          </a:solidFill>
          <a:ln/>
        </p:spPr>
      </p:sp>
      <p:sp>
        <p:nvSpPr>
          <p:cNvPr id="42" name="meter Encryption 5"/>
          <p:cNvSpPr/>
          <p:nvPr/>
        </p:nvSpPr>
        <p:spPr>
          <a:xfrm>
            <a:off x="10661904" y="4133088"/>
            <a:ext cx="219456" cy="310896"/>
          </a:xfrm>
          <a:prstGeom prst="rect">
            <a:avLst/>
          </a:prstGeom>
          <a:solidFill>
            <a:srgbClr val="2557D6"/>
          </a:solidFill>
          <a:ln/>
        </p:spPr>
      </p:sp>
      <p:sp>
        <p:nvSpPr>
          <p:cNvPr id="43" name="Text 35"/>
          <p:cNvSpPr txBox="1"/>
          <p:nvPr/>
        </p:nvSpPr>
        <p:spPr>
          <a:xfrm>
            <a:off x="10972800" y="4096512"/>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5</a:t>
            </a:r>
            <a:endParaRPr lang="en-US" sz="1100" dirty="0"/>
          </a:p>
        </p:txBody>
      </p:sp>
      <p:sp>
        <p:nvSpPr>
          <p:cNvPr id="44" name="Text 36"/>
          <p:cNvSpPr txBox="1"/>
          <p:nvPr/>
        </p:nvSpPr>
        <p:spPr>
          <a:xfrm>
            <a:off x="8595360" y="4535424"/>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Alerts</a:t>
            </a:r>
            <a:endParaRPr lang="en-US" sz="1100" dirty="0"/>
          </a:p>
        </p:txBody>
      </p:sp>
      <p:sp>
        <p:nvSpPr>
          <p:cNvPr id="45" name="meter Alerts 1"/>
          <p:cNvSpPr/>
          <p:nvPr/>
        </p:nvSpPr>
        <p:spPr>
          <a:xfrm>
            <a:off x="9601200" y="4572000"/>
            <a:ext cx="219456" cy="310896"/>
          </a:xfrm>
          <a:prstGeom prst="rect">
            <a:avLst/>
          </a:prstGeom>
          <a:solidFill>
            <a:srgbClr val="2557D6"/>
          </a:solidFill>
          <a:ln/>
        </p:spPr>
      </p:sp>
      <p:sp>
        <p:nvSpPr>
          <p:cNvPr id="46" name="meter Alerts 2"/>
          <p:cNvSpPr/>
          <p:nvPr/>
        </p:nvSpPr>
        <p:spPr>
          <a:xfrm>
            <a:off x="9866376" y="4572000"/>
            <a:ext cx="219456" cy="310896"/>
          </a:xfrm>
          <a:prstGeom prst="rect">
            <a:avLst/>
          </a:prstGeom>
          <a:solidFill>
            <a:srgbClr val="2557D6"/>
          </a:solidFill>
          <a:ln/>
        </p:spPr>
      </p:sp>
      <p:sp>
        <p:nvSpPr>
          <p:cNvPr id="47" name="meter Alerts 3"/>
          <p:cNvSpPr/>
          <p:nvPr/>
        </p:nvSpPr>
        <p:spPr>
          <a:xfrm>
            <a:off x="10131552" y="4572000"/>
            <a:ext cx="219456" cy="310896"/>
          </a:xfrm>
          <a:prstGeom prst="rect">
            <a:avLst/>
          </a:prstGeom>
          <a:solidFill>
            <a:srgbClr val="2557D6"/>
          </a:solidFill>
          <a:ln/>
        </p:spPr>
      </p:sp>
      <p:sp>
        <p:nvSpPr>
          <p:cNvPr id="48" name="meter Alerts 4"/>
          <p:cNvSpPr/>
          <p:nvPr/>
        </p:nvSpPr>
        <p:spPr>
          <a:xfrm>
            <a:off x="10396728" y="4572000"/>
            <a:ext cx="219456" cy="310896"/>
          </a:xfrm>
          <a:prstGeom prst="rect">
            <a:avLst/>
          </a:prstGeom>
          <a:solidFill>
            <a:srgbClr val="E5E7EB"/>
          </a:solidFill>
          <a:ln/>
        </p:spPr>
      </p:sp>
      <p:sp>
        <p:nvSpPr>
          <p:cNvPr id="49" name="meter Alerts 5"/>
          <p:cNvSpPr/>
          <p:nvPr/>
        </p:nvSpPr>
        <p:spPr>
          <a:xfrm>
            <a:off x="10661904" y="4572000"/>
            <a:ext cx="219456" cy="310896"/>
          </a:xfrm>
          <a:prstGeom prst="rect">
            <a:avLst/>
          </a:prstGeom>
          <a:solidFill>
            <a:srgbClr val="E5E7EB"/>
          </a:solidFill>
          <a:ln/>
        </p:spPr>
      </p:sp>
      <p:sp>
        <p:nvSpPr>
          <p:cNvPr id="50" name="Text 42"/>
          <p:cNvSpPr txBox="1"/>
          <p:nvPr/>
        </p:nvSpPr>
        <p:spPr>
          <a:xfrm>
            <a:off x="10972800" y="4535424"/>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51" name="Text 43"/>
          <p:cNvSpPr txBox="1"/>
          <p:nvPr/>
        </p:nvSpPr>
        <p:spPr>
          <a:xfrm>
            <a:off x="8595360" y="4974336"/>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Recovery</a:t>
            </a:r>
            <a:endParaRPr lang="en-US" sz="1100" dirty="0"/>
          </a:p>
        </p:txBody>
      </p:sp>
      <p:sp>
        <p:nvSpPr>
          <p:cNvPr id="52" name="meter Recovery 1"/>
          <p:cNvSpPr/>
          <p:nvPr/>
        </p:nvSpPr>
        <p:spPr>
          <a:xfrm>
            <a:off x="9601200" y="5010912"/>
            <a:ext cx="219456" cy="310896"/>
          </a:xfrm>
          <a:prstGeom prst="rect">
            <a:avLst/>
          </a:prstGeom>
          <a:solidFill>
            <a:srgbClr val="2557D6"/>
          </a:solidFill>
          <a:ln/>
        </p:spPr>
      </p:sp>
      <p:sp>
        <p:nvSpPr>
          <p:cNvPr id="53" name="meter Recovery 2"/>
          <p:cNvSpPr/>
          <p:nvPr/>
        </p:nvSpPr>
        <p:spPr>
          <a:xfrm>
            <a:off x="9866376" y="5010912"/>
            <a:ext cx="219456" cy="310896"/>
          </a:xfrm>
          <a:prstGeom prst="rect">
            <a:avLst/>
          </a:prstGeom>
          <a:solidFill>
            <a:srgbClr val="2557D6"/>
          </a:solidFill>
          <a:ln/>
        </p:spPr>
      </p:sp>
      <p:sp>
        <p:nvSpPr>
          <p:cNvPr id="54" name="meter Recovery 3"/>
          <p:cNvSpPr/>
          <p:nvPr/>
        </p:nvSpPr>
        <p:spPr>
          <a:xfrm>
            <a:off x="10131552" y="5010912"/>
            <a:ext cx="219456" cy="310896"/>
          </a:xfrm>
          <a:prstGeom prst="rect">
            <a:avLst/>
          </a:prstGeom>
          <a:solidFill>
            <a:srgbClr val="2557D6"/>
          </a:solidFill>
          <a:ln/>
        </p:spPr>
      </p:sp>
      <p:sp>
        <p:nvSpPr>
          <p:cNvPr id="55" name="meter Recovery 4"/>
          <p:cNvSpPr/>
          <p:nvPr/>
        </p:nvSpPr>
        <p:spPr>
          <a:xfrm>
            <a:off x="10396728" y="5010912"/>
            <a:ext cx="219456" cy="310896"/>
          </a:xfrm>
          <a:prstGeom prst="rect">
            <a:avLst/>
          </a:prstGeom>
          <a:solidFill>
            <a:srgbClr val="E5E7EB"/>
          </a:solidFill>
          <a:ln/>
        </p:spPr>
      </p:sp>
      <p:sp>
        <p:nvSpPr>
          <p:cNvPr id="56" name="meter Recovery 5"/>
          <p:cNvSpPr/>
          <p:nvPr/>
        </p:nvSpPr>
        <p:spPr>
          <a:xfrm>
            <a:off x="10661904" y="5010912"/>
            <a:ext cx="219456" cy="310896"/>
          </a:xfrm>
          <a:prstGeom prst="rect">
            <a:avLst/>
          </a:prstGeom>
          <a:solidFill>
            <a:srgbClr val="E5E7EB"/>
          </a:solidFill>
          <a:ln/>
        </p:spPr>
      </p:sp>
      <p:sp>
        <p:nvSpPr>
          <p:cNvPr id="57" name="Text 49"/>
          <p:cNvSpPr txBox="1"/>
          <p:nvPr/>
        </p:nvSpPr>
        <p:spPr>
          <a:xfrm>
            <a:off x="10972800" y="4974336"/>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3</a:t>
            </a:r>
            <a:endParaRPr lang="en-US" sz="1100" dirty="0"/>
          </a:p>
        </p:txBody>
      </p:sp>
      <p:sp>
        <p:nvSpPr>
          <p:cNvPr id="58" name="Text 50"/>
          <p:cNvSpPr txBox="1"/>
          <p:nvPr/>
        </p:nvSpPr>
        <p:spPr>
          <a:xfrm>
            <a:off x="8595360" y="5413248"/>
            <a:ext cx="960120" cy="384048"/>
          </a:xfrm>
          <a:prstGeom prst="rect">
            <a:avLst/>
          </a:prstGeom>
          <a:noFill/>
          <a:ln/>
        </p:spPr>
        <p:txBody>
          <a:bodyPr wrap="square" lIns="0" tIns="0" rIns="0" bIns="0" rtlCol="0" anchor="ctr"/>
          <a:lstStyle/>
          <a:p>
            <a:pPr indent="0" marL="0">
              <a:buNone/>
            </a:pPr>
            <a:r>
              <a:rPr lang="en-US" sz="1100" b="1" dirty="0">
                <a:solidFill>
                  <a:srgbClr val="5B6170"/>
                </a:solidFill>
              </a:rPr>
              <a:t>Privacy</a:t>
            </a:r>
            <a:endParaRPr lang="en-US" sz="1100" dirty="0"/>
          </a:p>
        </p:txBody>
      </p:sp>
      <p:sp>
        <p:nvSpPr>
          <p:cNvPr id="59" name="meter Privacy 1"/>
          <p:cNvSpPr/>
          <p:nvPr/>
        </p:nvSpPr>
        <p:spPr>
          <a:xfrm>
            <a:off x="9601200" y="5449824"/>
            <a:ext cx="219456" cy="310896"/>
          </a:xfrm>
          <a:prstGeom prst="rect">
            <a:avLst/>
          </a:prstGeom>
          <a:solidFill>
            <a:srgbClr val="2557D6"/>
          </a:solidFill>
          <a:ln/>
        </p:spPr>
      </p:sp>
      <p:sp>
        <p:nvSpPr>
          <p:cNvPr id="60" name="meter Privacy 2"/>
          <p:cNvSpPr/>
          <p:nvPr/>
        </p:nvSpPr>
        <p:spPr>
          <a:xfrm>
            <a:off x="9866376" y="5449824"/>
            <a:ext cx="219456" cy="310896"/>
          </a:xfrm>
          <a:prstGeom prst="rect">
            <a:avLst/>
          </a:prstGeom>
          <a:solidFill>
            <a:srgbClr val="2557D6"/>
          </a:solidFill>
          <a:ln/>
        </p:spPr>
      </p:sp>
      <p:sp>
        <p:nvSpPr>
          <p:cNvPr id="61" name="meter Privacy 3"/>
          <p:cNvSpPr/>
          <p:nvPr/>
        </p:nvSpPr>
        <p:spPr>
          <a:xfrm>
            <a:off x="10131552" y="5449824"/>
            <a:ext cx="219456" cy="310896"/>
          </a:xfrm>
          <a:prstGeom prst="rect">
            <a:avLst/>
          </a:prstGeom>
          <a:solidFill>
            <a:srgbClr val="2557D6"/>
          </a:solidFill>
          <a:ln/>
        </p:spPr>
      </p:sp>
      <p:sp>
        <p:nvSpPr>
          <p:cNvPr id="62" name="meter Privacy 4"/>
          <p:cNvSpPr/>
          <p:nvPr/>
        </p:nvSpPr>
        <p:spPr>
          <a:xfrm>
            <a:off x="10396728" y="5449824"/>
            <a:ext cx="219456" cy="310896"/>
          </a:xfrm>
          <a:prstGeom prst="rect">
            <a:avLst/>
          </a:prstGeom>
          <a:solidFill>
            <a:srgbClr val="2557D6"/>
          </a:solidFill>
          <a:ln/>
        </p:spPr>
      </p:sp>
      <p:sp>
        <p:nvSpPr>
          <p:cNvPr id="63" name="meter Privacy 5"/>
          <p:cNvSpPr/>
          <p:nvPr/>
        </p:nvSpPr>
        <p:spPr>
          <a:xfrm>
            <a:off x="10661904" y="5449824"/>
            <a:ext cx="219456" cy="310896"/>
          </a:xfrm>
          <a:prstGeom prst="rect">
            <a:avLst/>
          </a:prstGeom>
          <a:solidFill>
            <a:srgbClr val="2557D6"/>
          </a:solidFill>
          <a:ln/>
        </p:spPr>
      </p:sp>
      <p:sp>
        <p:nvSpPr>
          <p:cNvPr id="64" name="Text 56"/>
          <p:cNvSpPr txBox="1"/>
          <p:nvPr/>
        </p:nvSpPr>
        <p:spPr>
          <a:xfrm>
            <a:off x="10972800" y="5413248"/>
            <a:ext cx="274320" cy="384048"/>
          </a:xfrm>
          <a:prstGeom prst="rect">
            <a:avLst/>
          </a:prstGeom>
          <a:noFill/>
          <a:ln/>
        </p:spPr>
        <p:txBody>
          <a:bodyPr wrap="square" lIns="0" tIns="0" rIns="0" bIns="0" rtlCol="0" anchor="ctr"/>
          <a:lstStyle/>
          <a:p>
            <a:pPr indent="0" marL="0">
              <a:buNone/>
            </a:pPr>
            <a:r>
              <a:rPr lang="en-US" sz="1100" b="1" dirty="0">
                <a:solidFill>
                  <a:srgbClr val="15171C"/>
                </a:solidFill>
              </a:rPr>
              <a:t>5</a:t>
            </a:r>
            <a:endParaRPr lang="en-US" sz="1100" dirty="0"/>
          </a:p>
        </p:txBody>
      </p:sp>
      <p:sp>
        <p:nvSpPr>
          <p:cNvPr id="65" name="Text 5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Sources: WhatsApp (2026); Help Net Security (2025).</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A0AA"/>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457200"/>
            <a:ext cx="11094415" cy="274320"/>
          </a:xfrm>
          <a:prstGeom prst="rect">
            <a:avLst/>
          </a:prstGeom>
          <a:noFill/>
          <a:ln/>
        </p:spPr>
        <p:txBody>
          <a:bodyPr wrap="square" lIns="0" tIns="0" rIns="0" bIns="0" rtlCol="0" anchor="ctr"/>
          <a:lstStyle/>
          <a:p>
            <a:pPr indent="0" marL="0">
              <a:buNone/>
            </a:pPr>
            <a:r>
              <a:rPr lang="en-US" sz="1300" b="1" spc="300" kern="0" dirty="0">
                <a:solidFill>
                  <a:srgbClr val="FF6B5E"/>
                </a:solidFill>
              </a:rPr>
              <a:t>08  /  THE HACKER’S VERDICT</a:t>
            </a:r>
            <a:endParaRPr lang="en-US" sz="1300" dirty="0"/>
          </a:p>
        </p:txBody>
      </p:sp>
      <p:sp>
        <p:nvSpPr>
          <p:cNvPr id="3" name="Text 1"/>
          <p:cNvSpPr txBox="1"/>
          <p:nvPr/>
        </p:nvSpPr>
        <p:spPr>
          <a:xfrm>
            <a:off x="548640" y="822960"/>
            <a:ext cx="11094415" cy="731520"/>
          </a:xfrm>
          <a:prstGeom prst="rect">
            <a:avLst/>
          </a:prstGeom>
          <a:noFill/>
          <a:ln/>
        </p:spPr>
        <p:txBody>
          <a:bodyPr wrap="square" lIns="0" tIns="0" rIns="0" bIns="0" rtlCol="0" anchor="ctr"/>
          <a:lstStyle/>
          <a:p>
            <a:pPr indent="0" marL="0">
              <a:buNone/>
            </a:pPr>
            <a:r>
              <a:rPr lang="en-US" sz="3000" b="1" dirty="0">
                <a:solidFill>
                  <a:schemeClr val="bg1"/>
                </a:solidFill>
              </a:rPr>
              <a:t>WhatsApp is the hardest target, and the most secure for you</a:t>
            </a:r>
            <a:endParaRPr lang="en-US" sz="3000" dirty="0"/>
          </a:p>
        </p:txBody>
      </p:sp>
      <p:sp>
        <p:nvSpPr>
          <p:cNvPr id="4" name="Text 2"/>
          <p:cNvSpPr txBox="1"/>
          <p:nvPr/>
        </p:nvSpPr>
        <p:spPr>
          <a:xfrm>
            <a:off x="548640" y="1783080"/>
            <a:ext cx="1828800" cy="274320"/>
          </a:xfrm>
          <a:prstGeom prst="rect">
            <a:avLst/>
          </a:prstGeom>
          <a:noFill/>
          <a:ln/>
        </p:spPr>
        <p:txBody>
          <a:bodyPr wrap="square" lIns="0" tIns="0" rIns="0" bIns="0" rtlCol="0" anchor="ctr"/>
          <a:lstStyle/>
          <a:p>
            <a:pPr indent="0" marL="0">
              <a:buNone/>
            </a:pPr>
            <a:r>
              <a:rPr lang="en-US" sz="1200" b="1" spc="200" kern="0" dirty="0">
                <a:solidFill>
                  <a:srgbClr val="FF6B5E"/>
                </a:solidFill>
              </a:rPr>
              <a:t>SOFTEST</a:t>
            </a:r>
            <a:endParaRPr lang="en-US" sz="1200" dirty="0"/>
          </a:p>
        </p:txBody>
      </p:sp>
      <p:sp>
        <p:nvSpPr>
          <p:cNvPr id="5" name="Text 3"/>
          <p:cNvSpPr txBox="1"/>
          <p:nvPr/>
        </p:nvSpPr>
        <p:spPr>
          <a:xfrm>
            <a:off x="5852160" y="1783080"/>
            <a:ext cx="1828800" cy="274320"/>
          </a:xfrm>
          <a:prstGeom prst="rect">
            <a:avLst/>
          </a:prstGeom>
          <a:noFill/>
          <a:ln/>
        </p:spPr>
        <p:txBody>
          <a:bodyPr wrap="square" lIns="0" tIns="0" rIns="0" bIns="0" rtlCol="0" anchor="ctr"/>
          <a:lstStyle/>
          <a:p>
            <a:pPr algn="r" indent="0" marL="0">
              <a:buNone/>
            </a:pPr>
            <a:r>
              <a:rPr lang="en-US" sz="1200" b="1" spc="200" kern="0" dirty="0">
                <a:solidFill>
                  <a:srgbClr val="8FB0FF"/>
                </a:solidFill>
              </a:rPr>
              <a:t>HARDEST</a:t>
            </a:r>
            <a:endParaRPr lang="en-US" sz="1200" dirty="0"/>
          </a:p>
        </p:txBody>
      </p:sp>
      <p:sp>
        <p:nvSpPr>
          <p:cNvPr id="6" name="Telegram column"/>
          <p:cNvSpPr/>
          <p:nvPr/>
        </p:nvSpPr>
        <p:spPr>
          <a:xfrm>
            <a:off x="713232" y="3939235"/>
            <a:ext cx="1097280" cy="1638605"/>
          </a:xfrm>
          <a:prstGeom prst="rect">
            <a:avLst/>
          </a:prstGeom>
          <a:solidFill>
            <a:srgbClr val="E0312B"/>
          </a:solidFill>
          <a:ln/>
        </p:spPr>
      </p:sp>
      <p:sp>
        <p:nvSpPr>
          <p:cNvPr id="7" name="Text 5"/>
          <p:cNvSpPr txBox="1"/>
          <p:nvPr/>
        </p:nvSpPr>
        <p:spPr>
          <a:xfrm>
            <a:off x="713232" y="3436315"/>
            <a:ext cx="1097280" cy="457200"/>
          </a:xfrm>
          <a:prstGeom prst="rect">
            <a:avLst/>
          </a:prstGeom>
          <a:noFill/>
          <a:ln/>
        </p:spPr>
        <p:txBody>
          <a:bodyPr wrap="square" lIns="0" tIns="0" rIns="0" bIns="0" rtlCol="0" anchor="ctr"/>
          <a:lstStyle/>
          <a:p>
            <a:pPr algn="ctr" indent="0" marL="0">
              <a:buNone/>
            </a:pPr>
            <a:r>
              <a:rPr lang="en-US" sz="2400" b="1" dirty="0">
                <a:solidFill>
                  <a:schemeClr val="bg1"/>
                </a:solidFill>
              </a:rPr>
              <a:t>14</a:t>
            </a:r>
            <a:endParaRPr lang="en-US" sz="2400" dirty="0"/>
          </a:p>
        </p:txBody>
      </p:sp>
      <p:sp>
        <p:nvSpPr>
          <p:cNvPr id="8" name="Telegram circle"/>
          <p:cNvSpPr/>
          <p:nvPr/>
        </p:nvSpPr>
        <p:spPr>
          <a:xfrm>
            <a:off x="1033272" y="4103827"/>
            <a:ext cx="457200" cy="457200"/>
          </a:xfrm>
          <a:prstGeom prst="ellipse">
            <a:avLst/>
          </a:prstGeom>
          <a:solidFill>
            <a:srgbClr val="15171C"/>
          </a:solidFill>
          <a:ln/>
        </p:spPr>
      </p:sp>
      <p:pic>
        <p:nvPicPr>
          <p:cNvPr id="9" name="Telegram icon" descr="Telegram">    </p:cNvPr>
          <p:cNvPicPr>
            <a:picLocks noChangeAspect="1"/>
          </p:cNvPicPr>
          <p:nvPr/>
        </p:nvPicPr>
        <p:blipFill>
          <a:blip r:embed="rId1"/>
          <a:stretch>
            <a:fillRect/>
          </a:stretch>
        </p:blipFill>
        <p:spPr>
          <a:xfrm>
            <a:off x="1147572" y="4218127"/>
            <a:ext cx="228600" cy="228600"/>
          </a:xfrm>
          <a:prstGeom prst="rect">
            <a:avLst/>
          </a:prstGeom>
        </p:spPr>
      </p:pic>
      <p:sp>
        <p:nvSpPr>
          <p:cNvPr id="10" name="Text 7"/>
          <p:cNvSpPr txBox="1"/>
          <p:nvPr/>
        </p:nvSpPr>
        <p:spPr>
          <a:xfrm>
            <a:off x="548640" y="5650992"/>
            <a:ext cx="1426464" cy="320040"/>
          </a:xfrm>
          <a:prstGeom prst="rect">
            <a:avLst/>
          </a:prstGeom>
          <a:noFill/>
          <a:ln/>
        </p:spPr>
        <p:txBody>
          <a:bodyPr wrap="square" lIns="0" tIns="0" rIns="0" bIns="0" rtlCol="0" anchor="ctr"/>
          <a:lstStyle/>
          <a:p>
            <a:pPr algn="ctr" indent="0" marL="0">
              <a:buNone/>
            </a:pPr>
            <a:r>
              <a:rPr lang="en-US" sz="1400" b="1" dirty="0">
                <a:solidFill>
                  <a:srgbClr val="D5D8DE"/>
                </a:solidFill>
              </a:rPr>
              <a:t>Telegram</a:t>
            </a:r>
            <a:endParaRPr lang="en-US" sz="1400" dirty="0"/>
          </a:p>
        </p:txBody>
      </p:sp>
      <p:sp>
        <p:nvSpPr>
          <p:cNvPr id="11" name="Facebook column"/>
          <p:cNvSpPr/>
          <p:nvPr/>
        </p:nvSpPr>
        <p:spPr>
          <a:xfrm>
            <a:off x="2139696" y="3705149"/>
            <a:ext cx="1097280" cy="1872691"/>
          </a:xfrm>
          <a:prstGeom prst="rect">
            <a:avLst/>
          </a:prstGeom>
          <a:solidFill>
            <a:srgbClr val="4A505C"/>
          </a:solidFill>
          <a:ln/>
        </p:spPr>
      </p:sp>
      <p:sp>
        <p:nvSpPr>
          <p:cNvPr id="12" name="Text 9"/>
          <p:cNvSpPr txBox="1"/>
          <p:nvPr/>
        </p:nvSpPr>
        <p:spPr>
          <a:xfrm>
            <a:off x="2139696" y="3202229"/>
            <a:ext cx="1097280" cy="457200"/>
          </a:xfrm>
          <a:prstGeom prst="rect">
            <a:avLst/>
          </a:prstGeom>
          <a:noFill/>
          <a:ln/>
        </p:spPr>
        <p:txBody>
          <a:bodyPr wrap="square" lIns="0" tIns="0" rIns="0" bIns="0" rtlCol="0" anchor="ctr"/>
          <a:lstStyle/>
          <a:p>
            <a:pPr algn="ctr" indent="0" marL="0">
              <a:buNone/>
            </a:pPr>
            <a:r>
              <a:rPr lang="en-US" sz="2400" b="1" dirty="0">
                <a:solidFill>
                  <a:schemeClr val="bg1"/>
                </a:solidFill>
              </a:rPr>
              <a:t>16</a:t>
            </a:r>
            <a:endParaRPr lang="en-US" sz="2400" dirty="0"/>
          </a:p>
        </p:txBody>
      </p:sp>
      <p:sp>
        <p:nvSpPr>
          <p:cNvPr id="13" name="Facebook circle"/>
          <p:cNvSpPr/>
          <p:nvPr/>
        </p:nvSpPr>
        <p:spPr>
          <a:xfrm>
            <a:off x="2459736" y="3869741"/>
            <a:ext cx="457200" cy="457200"/>
          </a:xfrm>
          <a:prstGeom prst="ellipse">
            <a:avLst/>
          </a:prstGeom>
          <a:solidFill>
            <a:srgbClr val="15171C"/>
          </a:solidFill>
          <a:ln/>
        </p:spPr>
      </p:sp>
      <p:pic>
        <p:nvPicPr>
          <p:cNvPr id="14" name="Facebook icon" descr="Facebook">    </p:cNvPr>
          <p:cNvPicPr>
            <a:picLocks noChangeAspect="1"/>
          </p:cNvPicPr>
          <p:nvPr/>
        </p:nvPicPr>
        <p:blipFill>
          <a:blip r:embed="rId2"/>
          <a:stretch>
            <a:fillRect/>
          </a:stretch>
        </p:blipFill>
        <p:spPr>
          <a:xfrm>
            <a:off x="2574036" y="3984041"/>
            <a:ext cx="228600" cy="228600"/>
          </a:xfrm>
          <a:prstGeom prst="rect">
            <a:avLst/>
          </a:prstGeom>
        </p:spPr>
      </p:pic>
      <p:sp>
        <p:nvSpPr>
          <p:cNvPr id="15" name="Text 11"/>
          <p:cNvSpPr txBox="1"/>
          <p:nvPr/>
        </p:nvSpPr>
        <p:spPr>
          <a:xfrm>
            <a:off x="1975104" y="5650992"/>
            <a:ext cx="1426464" cy="320040"/>
          </a:xfrm>
          <a:prstGeom prst="rect">
            <a:avLst/>
          </a:prstGeom>
          <a:noFill/>
          <a:ln/>
        </p:spPr>
        <p:txBody>
          <a:bodyPr wrap="square" lIns="0" tIns="0" rIns="0" bIns="0" rtlCol="0" anchor="ctr"/>
          <a:lstStyle/>
          <a:p>
            <a:pPr algn="ctr" indent="0" marL="0">
              <a:buNone/>
            </a:pPr>
            <a:r>
              <a:rPr lang="en-US" sz="1400" b="1" dirty="0">
                <a:solidFill>
                  <a:srgbClr val="D5D8DE"/>
                </a:solidFill>
              </a:rPr>
              <a:t>Facebook</a:t>
            </a:r>
            <a:endParaRPr lang="en-US" sz="1400" dirty="0"/>
          </a:p>
        </p:txBody>
      </p:sp>
      <p:sp>
        <p:nvSpPr>
          <p:cNvPr id="16" name="Instagram column"/>
          <p:cNvSpPr/>
          <p:nvPr/>
        </p:nvSpPr>
        <p:spPr>
          <a:xfrm>
            <a:off x="3566160" y="3705149"/>
            <a:ext cx="1097280" cy="1872691"/>
          </a:xfrm>
          <a:prstGeom prst="rect">
            <a:avLst/>
          </a:prstGeom>
          <a:solidFill>
            <a:srgbClr val="4A505C"/>
          </a:solidFill>
          <a:ln/>
        </p:spPr>
      </p:sp>
      <p:sp>
        <p:nvSpPr>
          <p:cNvPr id="17" name="Text 13"/>
          <p:cNvSpPr txBox="1"/>
          <p:nvPr/>
        </p:nvSpPr>
        <p:spPr>
          <a:xfrm>
            <a:off x="3566160" y="3202229"/>
            <a:ext cx="1097280" cy="457200"/>
          </a:xfrm>
          <a:prstGeom prst="rect">
            <a:avLst/>
          </a:prstGeom>
          <a:noFill/>
          <a:ln/>
        </p:spPr>
        <p:txBody>
          <a:bodyPr wrap="square" lIns="0" tIns="0" rIns="0" bIns="0" rtlCol="0" anchor="ctr"/>
          <a:lstStyle/>
          <a:p>
            <a:pPr algn="ctr" indent="0" marL="0">
              <a:buNone/>
            </a:pPr>
            <a:r>
              <a:rPr lang="en-US" sz="2400" b="1" dirty="0">
                <a:solidFill>
                  <a:schemeClr val="bg1"/>
                </a:solidFill>
              </a:rPr>
              <a:t>16</a:t>
            </a:r>
            <a:endParaRPr lang="en-US" sz="2400" dirty="0"/>
          </a:p>
        </p:txBody>
      </p:sp>
      <p:sp>
        <p:nvSpPr>
          <p:cNvPr id="18" name="Instagram circle"/>
          <p:cNvSpPr/>
          <p:nvPr/>
        </p:nvSpPr>
        <p:spPr>
          <a:xfrm>
            <a:off x="3886200" y="3869741"/>
            <a:ext cx="457200" cy="457200"/>
          </a:xfrm>
          <a:prstGeom prst="ellipse">
            <a:avLst/>
          </a:prstGeom>
          <a:solidFill>
            <a:srgbClr val="15171C"/>
          </a:solidFill>
          <a:ln/>
        </p:spPr>
      </p:sp>
      <p:pic>
        <p:nvPicPr>
          <p:cNvPr id="19" name="Instagram icon" descr="Instagram">    </p:cNvPr>
          <p:cNvPicPr>
            <a:picLocks noChangeAspect="1"/>
          </p:cNvPicPr>
          <p:nvPr/>
        </p:nvPicPr>
        <p:blipFill>
          <a:blip r:embed="rId3"/>
          <a:stretch>
            <a:fillRect/>
          </a:stretch>
        </p:blipFill>
        <p:spPr>
          <a:xfrm>
            <a:off x="4000500" y="3984041"/>
            <a:ext cx="228600" cy="228600"/>
          </a:xfrm>
          <a:prstGeom prst="rect">
            <a:avLst/>
          </a:prstGeom>
        </p:spPr>
      </p:pic>
      <p:sp>
        <p:nvSpPr>
          <p:cNvPr id="20" name="Text 15"/>
          <p:cNvSpPr txBox="1"/>
          <p:nvPr/>
        </p:nvSpPr>
        <p:spPr>
          <a:xfrm>
            <a:off x="3401568" y="5650992"/>
            <a:ext cx="1426464" cy="320040"/>
          </a:xfrm>
          <a:prstGeom prst="rect">
            <a:avLst/>
          </a:prstGeom>
          <a:noFill/>
          <a:ln/>
        </p:spPr>
        <p:txBody>
          <a:bodyPr wrap="square" lIns="0" tIns="0" rIns="0" bIns="0" rtlCol="0" anchor="ctr"/>
          <a:lstStyle/>
          <a:p>
            <a:pPr algn="ctr" indent="0" marL="0">
              <a:buNone/>
            </a:pPr>
            <a:r>
              <a:rPr lang="en-US" sz="1400" b="1" dirty="0">
                <a:solidFill>
                  <a:srgbClr val="D5D8DE"/>
                </a:solidFill>
              </a:rPr>
              <a:t>Instagram</a:t>
            </a:r>
            <a:endParaRPr lang="en-US" sz="1400" dirty="0"/>
          </a:p>
        </p:txBody>
      </p:sp>
      <p:sp>
        <p:nvSpPr>
          <p:cNvPr id="21" name="Gmail column"/>
          <p:cNvSpPr/>
          <p:nvPr/>
        </p:nvSpPr>
        <p:spPr>
          <a:xfrm>
            <a:off x="4992624" y="3236976"/>
            <a:ext cx="1097280" cy="2340864"/>
          </a:xfrm>
          <a:prstGeom prst="rect">
            <a:avLst/>
          </a:prstGeom>
          <a:solidFill>
            <a:srgbClr val="3E6FE0"/>
          </a:solidFill>
          <a:ln/>
        </p:spPr>
      </p:sp>
      <p:sp>
        <p:nvSpPr>
          <p:cNvPr id="22" name="Text 17"/>
          <p:cNvSpPr txBox="1"/>
          <p:nvPr/>
        </p:nvSpPr>
        <p:spPr>
          <a:xfrm>
            <a:off x="4992624" y="2734056"/>
            <a:ext cx="1097280" cy="457200"/>
          </a:xfrm>
          <a:prstGeom prst="rect">
            <a:avLst/>
          </a:prstGeom>
          <a:noFill/>
          <a:ln/>
        </p:spPr>
        <p:txBody>
          <a:bodyPr wrap="square" lIns="0" tIns="0" rIns="0" bIns="0" rtlCol="0" anchor="ctr"/>
          <a:lstStyle/>
          <a:p>
            <a:pPr algn="ctr" indent="0" marL="0">
              <a:buNone/>
            </a:pPr>
            <a:r>
              <a:rPr lang="en-US" sz="2400" b="1" dirty="0">
                <a:solidFill>
                  <a:schemeClr val="bg1"/>
                </a:solidFill>
              </a:rPr>
              <a:t>20</a:t>
            </a:r>
            <a:endParaRPr lang="en-US" sz="2400" dirty="0"/>
          </a:p>
        </p:txBody>
      </p:sp>
      <p:sp>
        <p:nvSpPr>
          <p:cNvPr id="23" name="Gmail circle"/>
          <p:cNvSpPr/>
          <p:nvPr/>
        </p:nvSpPr>
        <p:spPr>
          <a:xfrm>
            <a:off x="5312664" y="3401568"/>
            <a:ext cx="457200" cy="457200"/>
          </a:xfrm>
          <a:prstGeom prst="ellipse">
            <a:avLst/>
          </a:prstGeom>
          <a:solidFill>
            <a:srgbClr val="15171C"/>
          </a:solidFill>
          <a:ln/>
        </p:spPr>
      </p:sp>
      <p:pic>
        <p:nvPicPr>
          <p:cNvPr id="24" name="Gmail icon" descr="Gmail">    </p:cNvPr>
          <p:cNvPicPr>
            <a:picLocks noChangeAspect="1"/>
          </p:cNvPicPr>
          <p:nvPr/>
        </p:nvPicPr>
        <p:blipFill>
          <a:blip r:embed="rId4"/>
          <a:stretch>
            <a:fillRect/>
          </a:stretch>
        </p:blipFill>
        <p:spPr>
          <a:xfrm>
            <a:off x="5426964" y="3515868"/>
            <a:ext cx="228600" cy="228600"/>
          </a:xfrm>
          <a:prstGeom prst="rect">
            <a:avLst/>
          </a:prstGeom>
        </p:spPr>
      </p:pic>
      <p:sp>
        <p:nvSpPr>
          <p:cNvPr id="25" name="Text 19"/>
          <p:cNvSpPr txBox="1"/>
          <p:nvPr/>
        </p:nvSpPr>
        <p:spPr>
          <a:xfrm>
            <a:off x="4828032" y="5650992"/>
            <a:ext cx="1426464" cy="320040"/>
          </a:xfrm>
          <a:prstGeom prst="rect">
            <a:avLst/>
          </a:prstGeom>
          <a:noFill/>
          <a:ln/>
        </p:spPr>
        <p:txBody>
          <a:bodyPr wrap="square" lIns="0" tIns="0" rIns="0" bIns="0" rtlCol="0" anchor="ctr"/>
          <a:lstStyle/>
          <a:p>
            <a:pPr algn="ctr" indent="0" marL="0">
              <a:buNone/>
            </a:pPr>
            <a:r>
              <a:rPr lang="en-US" sz="1400" b="1" dirty="0">
                <a:solidFill>
                  <a:srgbClr val="D5D8DE"/>
                </a:solidFill>
              </a:rPr>
              <a:t>Gmail</a:t>
            </a:r>
            <a:endParaRPr lang="en-US" sz="1400" dirty="0"/>
          </a:p>
        </p:txBody>
      </p:sp>
      <p:sp>
        <p:nvSpPr>
          <p:cNvPr id="26" name="WhatsApp column"/>
          <p:cNvSpPr/>
          <p:nvPr/>
        </p:nvSpPr>
        <p:spPr>
          <a:xfrm>
            <a:off x="6419088" y="3236976"/>
            <a:ext cx="1097280" cy="2340864"/>
          </a:xfrm>
          <a:prstGeom prst="rect">
            <a:avLst/>
          </a:prstGeom>
          <a:solidFill>
            <a:srgbClr val="2557D6"/>
          </a:solidFill>
          <a:ln/>
        </p:spPr>
      </p:sp>
      <p:sp>
        <p:nvSpPr>
          <p:cNvPr id="27" name="Text 21"/>
          <p:cNvSpPr txBox="1"/>
          <p:nvPr/>
        </p:nvSpPr>
        <p:spPr>
          <a:xfrm>
            <a:off x="6419088" y="2734056"/>
            <a:ext cx="1097280" cy="457200"/>
          </a:xfrm>
          <a:prstGeom prst="rect">
            <a:avLst/>
          </a:prstGeom>
          <a:noFill/>
          <a:ln/>
        </p:spPr>
        <p:txBody>
          <a:bodyPr wrap="square" lIns="0" tIns="0" rIns="0" bIns="0" rtlCol="0" anchor="ctr"/>
          <a:lstStyle/>
          <a:p>
            <a:pPr algn="ctr" indent="0" marL="0">
              <a:buNone/>
            </a:pPr>
            <a:r>
              <a:rPr lang="en-US" sz="2400" b="1" dirty="0">
                <a:solidFill>
                  <a:schemeClr val="bg1"/>
                </a:solidFill>
              </a:rPr>
              <a:t>20</a:t>
            </a:r>
            <a:endParaRPr lang="en-US" sz="2400" dirty="0"/>
          </a:p>
        </p:txBody>
      </p:sp>
      <p:sp>
        <p:nvSpPr>
          <p:cNvPr id="28" name="WhatsApp circle"/>
          <p:cNvSpPr/>
          <p:nvPr/>
        </p:nvSpPr>
        <p:spPr>
          <a:xfrm>
            <a:off x="6739128" y="3401568"/>
            <a:ext cx="457200" cy="457200"/>
          </a:xfrm>
          <a:prstGeom prst="ellipse">
            <a:avLst/>
          </a:prstGeom>
          <a:solidFill>
            <a:srgbClr val="15171C"/>
          </a:solidFill>
          <a:ln/>
        </p:spPr>
      </p:sp>
      <p:pic>
        <p:nvPicPr>
          <p:cNvPr id="29" name="WhatsApp icon" descr="WhatsApp">    </p:cNvPr>
          <p:cNvPicPr>
            <a:picLocks noChangeAspect="1"/>
          </p:cNvPicPr>
          <p:nvPr/>
        </p:nvPicPr>
        <p:blipFill>
          <a:blip r:embed="rId5"/>
          <a:stretch>
            <a:fillRect/>
          </a:stretch>
        </p:blipFill>
        <p:spPr>
          <a:xfrm>
            <a:off x="6853428" y="3515868"/>
            <a:ext cx="228600" cy="228600"/>
          </a:xfrm>
          <a:prstGeom prst="rect">
            <a:avLst/>
          </a:prstGeom>
        </p:spPr>
      </p:pic>
      <p:sp>
        <p:nvSpPr>
          <p:cNvPr id="30" name="Text 23"/>
          <p:cNvSpPr txBox="1"/>
          <p:nvPr/>
        </p:nvSpPr>
        <p:spPr>
          <a:xfrm>
            <a:off x="6254496" y="5650992"/>
            <a:ext cx="1426464" cy="320040"/>
          </a:xfrm>
          <a:prstGeom prst="rect">
            <a:avLst/>
          </a:prstGeom>
          <a:noFill/>
          <a:ln/>
        </p:spPr>
        <p:txBody>
          <a:bodyPr wrap="square" lIns="0" tIns="0" rIns="0" bIns="0" rtlCol="0" anchor="ctr"/>
          <a:lstStyle/>
          <a:p>
            <a:pPr algn="ctr" indent="0" marL="0">
              <a:buNone/>
            </a:pPr>
            <a:r>
              <a:rPr lang="en-US" sz="1400" b="1" dirty="0">
                <a:solidFill>
                  <a:srgbClr val="D5D8DE"/>
                </a:solidFill>
              </a:rPr>
              <a:t>WhatsApp</a:t>
            </a:r>
            <a:endParaRPr lang="en-US" sz="1400" dirty="0"/>
          </a:p>
        </p:txBody>
      </p:sp>
      <p:sp>
        <p:nvSpPr>
          <p:cNvPr id="31" name="Text 24"/>
          <p:cNvSpPr txBox="1"/>
          <p:nvPr/>
        </p:nvSpPr>
        <p:spPr>
          <a:xfrm>
            <a:off x="8092440" y="1828800"/>
            <a:ext cx="3550615" cy="292608"/>
          </a:xfrm>
          <a:prstGeom prst="rect">
            <a:avLst/>
          </a:prstGeom>
          <a:noFill/>
          <a:ln/>
        </p:spPr>
        <p:txBody>
          <a:bodyPr wrap="square" lIns="0" tIns="0" rIns="0" bIns="0" rtlCol="0" anchor="ctr"/>
          <a:lstStyle/>
          <a:p>
            <a:pPr indent="0" marL="0">
              <a:buNone/>
            </a:pPr>
            <a:r>
              <a:rPr lang="en-US" sz="1300" b="1" spc="100" kern="0" dirty="0">
                <a:solidFill>
                  <a:srgbClr val="8FB0FF"/>
                </a:solidFill>
              </a:rPr>
              <a:t>HARDEST TO HACK: WHATSAPP</a:t>
            </a:r>
            <a:endParaRPr lang="en-US" sz="1300" dirty="0"/>
          </a:p>
        </p:txBody>
      </p:sp>
      <p:sp>
        <p:nvSpPr>
          <p:cNvPr id="32" name="Text 25"/>
          <p:cNvSpPr txBox="1"/>
          <p:nvPr/>
        </p:nvSpPr>
        <p:spPr>
          <a:xfrm>
            <a:off x="8092440" y="2157984"/>
            <a:ext cx="3550615" cy="731520"/>
          </a:xfrm>
          <a:prstGeom prst="rect">
            <a:avLst/>
          </a:prstGeom>
          <a:noFill/>
          <a:ln/>
        </p:spPr>
        <p:txBody>
          <a:bodyPr wrap="square" lIns="0" tIns="0" rIns="0" bIns="0" rtlCol="0" anchor="t"/>
          <a:lstStyle/>
          <a:p>
            <a:pPr indent="0" marL="0">
              <a:buNone/>
            </a:pPr>
            <a:r>
              <a:rPr lang="en-US" sz="1500" dirty="0">
                <a:solidFill>
                  <a:srgbClr val="D5D8DE"/>
                </a:solidFill>
              </a:rPr>
              <a:t>Its strongest guardian, end-to-end encryption, is on from day one with no setup.</a:t>
            </a:r>
            <a:endParaRPr lang="en-US" sz="1500" dirty="0"/>
          </a:p>
        </p:txBody>
      </p:sp>
      <p:sp>
        <p:nvSpPr>
          <p:cNvPr id="33" name="Shape 26"/>
          <p:cNvSpPr/>
          <p:nvPr/>
        </p:nvSpPr>
        <p:spPr>
          <a:xfrm>
            <a:off x="8092440" y="2990088"/>
            <a:ext cx="3550615" cy="0"/>
          </a:xfrm>
          <a:prstGeom prst="line">
            <a:avLst/>
          </a:prstGeom>
          <a:noFill/>
          <a:ln w="12700">
            <a:solidFill>
              <a:srgbClr val="3A3F48"/>
            </a:solidFill>
            <a:prstDash val="solid"/>
          </a:ln>
        </p:spPr>
      </p:sp>
      <p:sp>
        <p:nvSpPr>
          <p:cNvPr id="34" name="Text 27"/>
          <p:cNvSpPr txBox="1"/>
          <p:nvPr/>
        </p:nvSpPr>
        <p:spPr>
          <a:xfrm>
            <a:off x="8092440" y="3154680"/>
            <a:ext cx="3550615" cy="292608"/>
          </a:xfrm>
          <a:prstGeom prst="rect">
            <a:avLst/>
          </a:prstGeom>
          <a:noFill/>
          <a:ln/>
        </p:spPr>
        <p:txBody>
          <a:bodyPr wrap="square" lIns="0" tIns="0" rIns="0" bIns="0" rtlCol="0" anchor="ctr"/>
          <a:lstStyle/>
          <a:p>
            <a:pPr indent="0" marL="0">
              <a:buNone/>
            </a:pPr>
            <a:r>
              <a:rPr lang="en-US" sz="1300" b="1" spc="100" kern="0" dirty="0">
                <a:solidFill>
                  <a:srgbClr val="8FB0FF"/>
                </a:solidFill>
              </a:rPr>
              <a:t>THE PRIZE TO GUARD: GMAIL</a:t>
            </a:r>
            <a:endParaRPr lang="en-US" sz="1300" dirty="0"/>
          </a:p>
        </p:txBody>
      </p:sp>
      <p:sp>
        <p:nvSpPr>
          <p:cNvPr id="35" name="Text 28"/>
          <p:cNvSpPr txBox="1"/>
          <p:nvPr/>
        </p:nvSpPr>
        <p:spPr>
          <a:xfrm>
            <a:off x="8092440" y="3483864"/>
            <a:ext cx="3550615" cy="731520"/>
          </a:xfrm>
          <a:prstGeom prst="rect">
            <a:avLst/>
          </a:prstGeom>
          <a:noFill/>
          <a:ln/>
        </p:spPr>
        <p:txBody>
          <a:bodyPr wrap="square" lIns="0" tIns="0" rIns="0" bIns="0" rtlCol="0" anchor="t"/>
          <a:lstStyle/>
          <a:p>
            <a:pPr indent="0" marL="0">
              <a:buNone/>
            </a:pPr>
            <a:r>
              <a:rPr lang="en-US" sz="1500" dirty="0">
                <a:solidFill>
                  <a:srgbClr val="D5D8DE"/>
                </a:solidFill>
              </a:rPr>
              <a:t>The master key to every other account; protect it with a passkey.</a:t>
            </a:r>
            <a:endParaRPr lang="en-US" sz="1500" dirty="0"/>
          </a:p>
        </p:txBody>
      </p:sp>
      <p:sp>
        <p:nvSpPr>
          <p:cNvPr id="36" name="Shape 29"/>
          <p:cNvSpPr/>
          <p:nvPr/>
        </p:nvSpPr>
        <p:spPr>
          <a:xfrm>
            <a:off x="8092440" y="4315968"/>
            <a:ext cx="3550615" cy="0"/>
          </a:xfrm>
          <a:prstGeom prst="line">
            <a:avLst/>
          </a:prstGeom>
          <a:noFill/>
          <a:ln w="12700">
            <a:solidFill>
              <a:srgbClr val="3A3F48"/>
            </a:solidFill>
            <a:prstDash val="solid"/>
          </a:ln>
        </p:spPr>
      </p:sp>
      <p:sp>
        <p:nvSpPr>
          <p:cNvPr id="37" name="Text 30"/>
          <p:cNvSpPr txBox="1"/>
          <p:nvPr/>
        </p:nvSpPr>
        <p:spPr>
          <a:xfrm>
            <a:off x="8092440" y="4480560"/>
            <a:ext cx="3550615" cy="292608"/>
          </a:xfrm>
          <a:prstGeom prst="rect">
            <a:avLst/>
          </a:prstGeom>
          <a:noFill/>
          <a:ln/>
        </p:spPr>
        <p:txBody>
          <a:bodyPr wrap="square" lIns="0" tIns="0" rIns="0" bIns="0" rtlCol="0" anchor="ctr"/>
          <a:lstStyle/>
          <a:p>
            <a:pPr indent="0" marL="0">
              <a:buNone/>
            </a:pPr>
            <a:r>
              <a:rPr lang="en-US" sz="1300" b="1" spc="100" kern="0" dirty="0">
                <a:solidFill>
                  <a:srgbClr val="FF6B5E"/>
                </a:solidFill>
              </a:rPr>
              <a:t>SOFTEST TARGET: TELEGRAM</a:t>
            </a:r>
            <a:endParaRPr lang="en-US" sz="1300" dirty="0"/>
          </a:p>
        </p:txBody>
      </p:sp>
      <p:sp>
        <p:nvSpPr>
          <p:cNvPr id="38" name="Text 31"/>
          <p:cNvSpPr txBox="1"/>
          <p:nvPr/>
        </p:nvSpPr>
        <p:spPr>
          <a:xfrm>
            <a:off x="8092440" y="4809744"/>
            <a:ext cx="3550615" cy="731520"/>
          </a:xfrm>
          <a:prstGeom prst="rect">
            <a:avLst/>
          </a:prstGeom>
          <a:noFill/>
          <a:ln/>
        </p:spPr>
        <p:txBody>
          <a:bodyPr wrap="square" lIns="0" tIns="0" rIns="0" bIns="0" rtlCol="0" anchor="t"/>
          <a:lstStyle/>
          <a:p>
            <a:pPr indent="0" marL="0">
              <a:buNone/>
            </a:pPr>
            <a:r>
              <a:rPr lang="en-US" sz="1500" dirty="0">
                <a:solidFill>
                  <a:srgbClr val="D5D8DE"/>
                </a:solidFill>
              </a:rPr>
              <a:t>A privacy reputation stronger than its defaults.</a:t>
            </a:r>
            <a:endParaRPr lang="en-US" sz="1500" dirty="0"/>
          </a:p>
        </p:txBody>
      </p:sp>
      <p:sp>
        <p:nvSpPr>
          <p:cNvPr id="39" name="Text 32"/>
          <p:cNvSpPr txBox="1"/>
          <p:nvPr/>
        </p:nvSpPr>
        <p:spPr>
          <a:xfrm>
            <a:off x="548640" y="6080760"/>
            <a:ext cx="11094415" cy="219456"/>
          </a:xfrm>
          <a:prstGeom prst="rect">
            <a:avLst/>
          </a:prstGeom>
          <a:noFill/>
          <a:ln/>
        </p:spPr>
        <p:txBody>
          <a:bodyPr wrap="square" lIns="0" tIns="0" rIns="0" bIns="0" rtlCol="0" anchor="ctr"/>
          <a:lstStyle/>
          <a:p>
            <a:pPr indent="0" marL="0">
              <a:buNone/>
            </a:pPr>
            <a:r>
              <a:rPr lang="en-US" sz="1000" i="1" dirty="0">
                <a:solidFill>
                  <a:srgbClr val="8A909B"/>
                </a:solidFill>
              </a:rPr>
              <a:t>Guardian strength out of 25; the group’s assessment of default and available settings, October 2026.</a:t>
            </a:r>
            <a:endParaRPr lang="en-US" sz="1000" dirty="0"/>
          </a:p>
        </p:txBody>
      </p:sp>
      <p:sp>
        <p:nvSpPr>
          <p:cNvPr id="41" name="Text 0"/>
          <p:cNvSpPr/>
          <p:nvPr>
            <p:ph idx="100" type="title" hasCustomPrompt="1"/>
          </p:nvPr>
        </p:nvSpPr>
        <p:spPr>
          <a:xfrm>
            <a:off x="548640" y="1554480"/>
            <a:ext cx="7863840" cy="2057400"/>
          </a:xfrm>
          <a:prstGeom prst="rect">
            <a:avLst/>
          </a:prstGeom>
          <a:noFill/>
          <a:ln/>
        </p:spPr>
        <p:txBody>
          <a:bodyPr wrap="square" lIns="0" tIns="0" rIns="0" bIns="0" rtlCol="0" anchor="b"/>
          <a:lstStyle/>
          <a:p>
            <a:pPr algn="l" indent="0" marL="0">
              <a:buNone/>
            </a:pPr>
            <a:endParaRPr lang="en-US" sz="6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crosshair backdrop" descr="preencoded.png">    </p:cNvPr>
          <p:cNvPicPr>
            <a:picLocks noChangeAspect="1"/>
          </p:cNvPicPr>
          <p:nvPr/>
        </p:nvPicPr>
        <p:blipFill>
          <a:blip r:embed="rId1"/>
          <a:stretch>
            <a:fillRect/>
          </a:stretch>
        </p:blipFill>
        <p:spPr>
          <a:xfrm>
            <a:off x="7680960" y="548640"/>
            <a:ext cx="5120640" cy="5120640"/>
          </a:xfrm>
          <a:prstGeom prst="rect">
            <a:avLst/>
          </a:prstGeom>
        </p:spPr>
      </p:pic>
      <p:sp>
        <p:nvSpPr>
          <p:cNvPr id="3" name="kicker"/>
          <p:cNvSpPr txBox="1"/>
          <p:nvPr/>
        </p:nvSpPr>
        <p:spPr>
          <a:xfrm>
            <a:off x="548640" y="457200"/>
            <a:ext cx="11094415" cy="274320"/>
          </a:xfrm>
          <a:prstGeom prst="rect">
            <a:avLst/>
          </a:prstGeom>
          <a:noFill/>
          <a:ln/>
        </p:spPr>
        <p:txBody>
          <a:bodyPr wrap="square" lIns="0" tIns="0" rIns="0" bIns="0" rtlCol="0" anchor="ctr"/>
          <a:lstStyle/>
          <a:p>
            <a:pPr indent="0" marL="0">
              <a:buNone/>
            </a:pPr>
            <a:r>
              <a:rPr lang="en-US" sz="1300" b="1" spc="300" kern="0" dirty="0">
                <a:solidFill>
                  <a:srgbClr val="FF6B5E"/>
                </a:solidFill>
              </a:rPr>
              <a:t>09  /  BE THE CAPABLE GUARDIAN</a:t>
            </a:r>
            <a:endParaRPr lang="en-US" sz="1300" dirty="0"/>
          </a:p>
        </p:txBody>
      </p:sp>
      <p:sp>
        <p:nvSpPr>
          <p:cNvPr id="4" name="Text 1"/>
          <p:cNvSpPr txBox="1"/>
          <p:nvPr/>
        </p:nvSpPr>
        <p:spPr>
          <a:xfrm>
            <a:off x="548640" y="822960"/>
            <a:ext cx="11094415" cy="777240"/>
          </a:xfrm>
          <a:prstGeom prst="rect">
            <a:avLst/>
          </a:prstGeom>
          <a:noFill/>
          <a:ln/>
        </p:spPr>
        <p:txBody>
          <a:bodyPr wrap="square" lIns="0" tIns="0" rIns="0" bIns="0" rtlCol="0" anchor="ctr"/>
          <a:lstStyle/>
          <a:p>
            <a:pPr indent="0" marL="0">
              <a:buNone/>
            </a:pPr>
            <a:r>
              <a:rPr lang="en-US" sz="3600" b="1" dirty="0">
                <a:solidFill>
                  <a:schemeClr val="bg1"/>
                </a:solidFill>
              </a:rPr>
              <a:t>Make yourself the target hackers skip</a:t>
            </a:r>
            <a:endParaRPr lang="en-US" sz="3600" dirty="0"/>
          </a:p>
        </p:txBody>
      </p:sp>
      <p:sp>
        <p:nvSpPr>
          <p:cNvPr id="5" name="action 1"/>
          <p:cNvSpPr/>
          <p:nvPr/>
        </p:nvSpPr>
        <p:spPr>
          <a:xfrm>
            <a:off x="548640" y="1920240"/>
            <a:ext cx="2057400" cy="2743200"/>
          </a:xfrm>
          <a:prstGeom prst="rect">
            <a:avLst/>
          </a:prstGeom>
          <a:solidFill>
            <a:srgbClr val="1E222A"/>
          </a:solidFill>
          <a:ln/>
        </p:spPr>
      </p:sp>
      <p:sp>
        <p:nvSpPr>
          <p:cNvPr id="6" name="Text 3"/>
          <p:cNvSpPr txBox="1"/>
          <p:nvPr/>
        </p:nvSpPr>
        <p:spPr>
          <a:xfrm>
            <a:off x="749808" y="2194560"/>
            <a:ext cx="1097280" cy="548640"/>
          </a:xfrm>
          <a:prstGeom prst="rect">
            <a:avLst/>
          </a:prstGeom>
          <a:noFill/>
          <a:ln/>
        </p:spPr>
        <p:txBody>
          <a:bodyPr wrap="square" lIns="0" tIns="0" rIns="0" bIns="0" rtlCol="0" anchor="ctr"/>
          <a:lstStyle/>
          <a:p>
            <a:pPr indent="0" marL="0">
              <a:buNone/>
            </a:pPr>
            <a:r>
              <a:rPr lang="en-US" sz="3000" b="1" dirty="0">
                <a:solidFill>
                  <a:srgbClr val="8FB0FF"/>
                </a:solidFill>
              </a:rPr>
              <a:t>01</a:t>
            </a:r>
            <a:endParaRPr lang="en-US" sz="3000" dirty="0"/>
          </a:p>
        </p:txBody>
      </p:sp>
      <p:sp>
        <p:nvSpPr>
          <p:cNvPr id="7" name="Text 4"/>
          <p:cNvSpPr txBox="1"/>
          <p:nvPr/>
        </p:nvSpPr>
        <p:spPr>
          <a:xfrm>
            <a:off x="749808" y="2834640"/>
            <a:ext cx="1655064" cy="1005840"/>
          </a:xfrm>
          <a:prstGeom prst="rect">
            <a:avLst/>
          </a:prstGeom>
          <a:noFill/>
          <a:ln/>
        </p:spPr>
        <p:txBody>
          <a:bodyPr wrap="square" lIns="0" tIns="0" rIns="0" bIns="0" rtlCol="0" anchor="t"/>
          <a:lstStyle/>
          <a:p>
            <a:pPr indent="0" marL="0">
              <a:buNone/>
            </a:pPr>
            <a:r>
              <a:rPr lang="en-US" sz="1600" b="1" dirty="0">
                <a:solidFill>
                  <a:schemeClr val="bg1"/>
                </a:solidFill>
              </a:rPr>
              <a:t>Turn on 2FA or a passkey everywhere</a:t>
            </a:r>
            <a:endParaRPr lang="en-US" sz="1600" dirty="0"/>
          </a:p>
        </p:txBody>
      </p:sp>
      <p:sp>
        <p:nvSpPr>
          <p:cNvPr id="8" name="Text 5"/>
          <p:cNvSpPr txBox="1"/>
          <p:nvPr/>
        </p:nvSpPr>
        <p:spPr>
          <a:xfrm>
            <a:off x="749808" y="3931920"/>
            <a:ext cx="1655064" cy="594360"/>
          </a:xfrm>
          <a:prstGeom prst="rect">
            <a:avLst/>
          </a:prstGeom>
          <a:noFill/>
          <a:ln/>
        </p:spPr>
        <p:txBody>
          <a:bodyPr wrap="square" lIns="0" tIns="0" rIns="0" bIns="0" rtlCol="0" anchor="t"/>
          <a:lstStyle/>
          <a:p>
            <a:pPr indent="0" marL="0">
              <a:buNone/>
            </a:pPr>
            <a:r>
              <a:rPr lang="en-US" sz="1300" dirty="0">
                <a:solidFill>
                  <a:srgbClr val="B8BEC9"/>
                </a:solidFill>
              </a:rPr>
              <a:t>Stolen passwords stop working</a:t>
            </a:r>
            <a:endParaRPr lang="en-US" sz="1300" dirty="0"/>
          </a:p>
        </p:txBody>
      </p:sp>
      <p:sp>
        <p:nvSpPr>
          <p:cNvPr id="9" name="action 2"/>
          <p:cNvSpPr/>
          <p:nvPr/>
        </p:nvSpPr>
        <p:spPr>
          <a:xfrm>
            <a:off x="2807894" y="1920240"/>
            <a:ext cx="2057400" cy="2743200"/>
          </a:xfrm>
          <a:prstGeom prst="rect">
            <a:avLst/>
          </a:prstGeom>
          <a:solidFill>
            <a:srgbClr val="1E222A"/>
          </a:solidFill>
          <a:ln/>
        </p:spPr>
      </p:sp>
      <p:sp>
        <p:nvSpPr>
          <p:cNvPr id="10" name="Text 7"/>
          <p:cNvSpPr txBox="1"/>
          <p:nvPr/>
        </p:nvSpPr>
        <p:spPr>
          <a:xfrm>
            <a:off x="3009062" y="2194560"/>
            <a:ext cx="1097280" cy="548640"/>
          </a:xfrm>
          <a:prstGeom prst="rect">
            <a:avLst/>
          </a:prstGeom>
          <a:noFill/>
          <a:ln/>
        </p:spPr>
        <p:txBody>
          <a:bodyPr wrap="square" lIns="0" tIns="0" rIns="0" bIns="0" rtlCol="0" anchor="ctr"/>
          <a:lstStyle/>
          <a:p>
            <a:pPr indent="0" marL="0">
              <a:buNone/>
            </a:pPr>
            <a:r>
              <a:rPr lang="en-US" sz="3000" b="1" dirty="0">
                <a:solidFill>
                  <a:srgbClr val="8FB0FF"/>
                </a:solidFill>
              </a:rPr>
              <a:t>02</a:t>
            </a:r>
            <a:endParaRPr lang="en-US" sz="3000" dirty="0"/>
          </a:p>
        </p:txBody>
      </p:sp>
      <p:sp>
        <p:nvSpPr>
          <p:cNvPr id="11" name="Text 8"/>
          <p:cNvSpPr txBox="1"/>
          <p:nvPr/>
        </p:nvSpPr>
        <p:spPr>
          <a:xfrm>
            <a:off x="3009062" y="2834640"/>
            <a:ext cx="1655064" cy="1005840"/>
          </a:xfrm>
          <a:prstGeom prst="rect">
            <a:avLst/>
          </a:prstGeom>
          <a:noFill/>
          <a:ln/>
        </p:spPr>
        <p:txBody>
          <a:bodyPr wrap="square" lIns="0" tIns="0" rIns="0" bIns="0" rtlCol="0" anchor="t"/>
          <a:lstStyle/>
          <a:p>
            <a:pPr indent="0" marL="0">
              <a:buNone/>
            </a:pPr>
            <a:r>
              <a:rPr lang="en-US" sz="1600" b="1" dirty="0">
                <a:solidFill>
                  <a:schemeClr val="bg1"/>
                </a:solidFill>
              </a:rPr>
              <a:t>Set a WhatsApp two-step PIN</a:t>
            </a:r>
            <a:endParaRPr lang="en-US" sz="1600" dirty="0"/>
          </a:p>
        </p:txBody>
      </p:sp>
      <p:sp>
        <p:nvSpPr>
          <p:cNvPr id="12" name="Text 9"/>
          <p:cNvSpPr txBox="1"/>
          <p:nvPr/>
        </p:nvSpPr>
        <p:spPr>
          <a:xfrm>
            <a:off x="3009062" y="3931920"/>
            <a:ext cx="1655064" cy="594360"/>
          </a:xfrm>
          <a:prstGeom prst="rect">
            <a:avLst/>
          </a:prstGeom>
          <a:noFill/>
          <a:ln/>
        </p:spPr>
        <p:txBody>
          <a:bodyPr wrap="square" lIns="0" tIns="0" rIns="0" bIns="0" rtlCol="0" anchor="t"/>
          <a:lstStyle/>
          <a:p>
            <a:pPr indent="0" marL="0">
              <a:buNone/>
            </a:pPr>
            <a:r>
              <a:rPr lang="en-US" sz="1300" dirty="0">
                <a:solidFill>
                  <a:srgbClr val="B8BEC9"/>
                </a:solidFill>
              </a:rPr>
              <a:t>The code scam fails</a:t>
            </a:r>
            <a:endParaRPr lang="en-US" sz="1300" dirty="0"/>
          </a:p>
        </p:txBody>
      </p:sp>
      <p:sp>
        <p:nvSpPr>
          <p:cNvPr id="13" name="action 3"/>
          <p:cNvSpPr/>
          <p:nvPr/>
        </p:nvSpPr>
        <p:spPr>
          <a:xfrm>
            <a:off x="5067148" y="1920240"/>
            <a:ext cx="2057400" cy="2743200"/>
          </a:xfrm>
          <a:prstGeom prst="rect">
            <a:avLst/>
          </a:prstGeom>
          <a:solidFill>
            <a:srgbClr val="1E222A"/>
          </a:solidFill>
          <a:ln/>
        </p:spPr>
      </p:sp>
      <p:sp>
        <p:nvSpPr>
          <p:cNvPr id="14" name="Text 11"/>
          <p:cNvSpPr txBox="1"/>
          <p:nvPr/>
        </p:nvSpPr>
        <p:spPr>
          <a:xfrm>
            <a:off x="5268316" y="2194560"/>
            <a:ext cx="1097280" cy="548640"/>
          </a:xfrm>
          <a:prstGeom prst="rect">
            <a:avLst/>
          </a:prstGeom>
          <a:noFill/>
          <a:ln/>
        </p:spPr>
        <p:txBody>
          <a:bodyPr wrap="square" lIns="0" tIns="0" rIns="0" bIns="0" rtlCol="0" anchor="ctr"/>
          <a:lstStyle/>
          <a:p>
            <a:pPr indent="0" marL="0">
              <a:buNone/>
            </a:pPr>
            <a:r>
              <a:rPr lang="en-US" sz="3000" b="1" dirty="0">
                <a:solidFill>
                  <a:srgbClr val="8FB0FF"/>
                </a:solidFill>
              </a:rPr>
              <a:t>03</a:t>
            </a:r>
            <a:endParaRPr lang="en-US" sz="3000" dirty="0"/>
          </a:p>
        </p:txBody>
      </p:sp>
      <p:sp>
        <p:nvSpPr>
          <p:cNvPr id="15" name="Text 12"/>
          <p:cNvSpPr txBox="1"/>
          <p:nvPr/>
        </p:nvSpPr>
        <p:spPr>
          <a:xfrm>
            <a:off x="5268316" y="2834640"/>
            <a:ext cx="1655064" cy="1005840"/>
          </a:xfrm>
          <a:prstGeom prst="rect">
            <a:avLst/>
          </a:prstGeom>
          <a:noFill/>
          <a:ln/>
        </p:spPr>
        <p:txBody>
          <a:bodyPr wrap="square" lIns="0" tIns="0" rIns="0" bIns="0" rtlCol="0" anchor="t"/>
          <a:lstStyle/>
          <a:p>
            <a:pPr indent="0" marL="0">
              <a:buNone/>
            </a:pPr>
            <a:r>
              <a:rPr lang="en-US" sz="1600" b="1" dirty="0">
                <a:solidFill>
                  <a:schemeClr val="bg1"/>
                </a:solidFill>
              </a:rPr>
              <a:t>Never share an OTP with anyone</a:t>
            </a:r>
            <a:endParaRPr lang="en-US" sz="1600" dirty="0"/>
          </a:p>
        </p:txBody>
      </p:sp>
      <p:sp>
        <p:nvSpPr>
          <p:cNvPr id="16" name="Text 13"/>
          <p:cNvSpPr txBox="1"/>
          <p:nvPr/>
        </p:nvSpPr>
        <p:spPr>
          <a:xfrm>
            <a:off x="5268316" y="3931920"/>
            <a:ext cx="1655064" cy="594360"/>
          </a:xfrm>
          <a:prstGeom prst="rect">
            <a:avLst/>
          </a:prstGeom>
          <a:noFill/>
          <a:ln/>
        </p:spPr>
        <p:txBody>
          <a:bodyPr wrap="square" lIns="0" tIns="0" rIns="0" bIns="0" rtlCol="0" anchor="t"/>
          <a:lstStyle/>
          <a:p>
            <a:pPr indent="0" marL="0">
              <a:buNone/>
            </a:pPr>
            <a:r>
              <a:rPr lang="en-US" sz="1300" dirty="0">
                <a:solidFill>
                  <a:srgbClr val="B8BEC9"/>
                </a:solidFill>
              </a:rPr>
              <a:t>No one can “borrow” your account</a:t>
            </a:r>
            <a:endParaRPr lang="en-US" sz="1300" dirty="0"/>
          </a:p>
        </p:txBody>
      </p:sp>
      <p:sp>
        <p:nvSpPr>
          <p:cNvPr id="17" name="action 4"/>
          <p:cNvSpPr/>
          <p:nvPr/>
        </p:nvSpPr>
        <p:spPr>
          <a:xfrm>
            <a:off x="7326401" y="1920240"/>
            <a:ext cx="2057400" cy="2743200"/>
          </a:xfrm>
          <a:prstGeom prst="rect">
            <a:avLst/>
          </a:prstGeom>
          <a:solidFill>
            <a:srgbClr val="1E222A"/>
          </a:solidFill>
          <a:ln/>
        </p:spPr>
      </p:sp>
      <p:sp>
        <p:nvSpPr>
          <p:cNvPr id="18" name="Text 15"/>
          <p:cNvSpPr txBox="1"/>
          <p:nvPr/>
        </p:nvSpPr>
        <p:spPr>
          <a:xfrm>
            <a:off x="7527569" y="2194560"/>
            <a:ext cx="1097280" cy="548640"/>
          </a:xfrm>
          <a:prstGeom prst="rect">
            <a:avLst/>
          </a:prstGeom>
          <a:noFill/>
          <a:ln/>
        </p:spPr>
        <p:txBody>
          <a:bodyPr wrap="square" lIns="0" tIns="0" rIns="0" bIns="0" rtlCol="0" anchor="ctr"/>
          <a:lstStyle/>
          <a:p>
            <a:pPr indent="0" marL="0">
              <a:buNone/>
            </a:pPr>
            <a:r>
              <a:rPr lang="en-US" sz="3000" b="1" dirty="0">
                <a:solidFill>
                  <a:srgbClr val="8FB0FF"/>
                </a:solidFill>
              </a:rPr>
              <a:t>04</a:t>
            </a:r>
            <a:endParaRPr lang="en-US" sz="3000" dirty="0"/>
          </a:p>
        </p:txBody>
      </p:sp>
      <p:sp>
        <p:nvSpPr>
          <p:cNvPr id="19" name="Text 16"/>
          <p:cNvSpPr txBox="1"/>
          <p:nvPr/>
        </p:nvSpPr>
        <p:spPr>
          <a:xfrm>
            <a:off x="7527569" y="2834640"/>
            <a:ext cx="1655064" cy="1005840"/>
          </a:xfrm>
          <a:prstGeom prst="rect">
            <a:avLst/>
          </a:prstGeom>
          <a:noFill/>
          <a:ln/>
        </p:spPr>
        <p:txBody>
          <a:bodyPr wrap="square" lIns="0" tIns="0" rIns="0" bIns="0" rtlCol="0" anchor="t"/>
          <a:lstStyle/>
          <a:p>
            <a:pPr indent="0" marL="0">
              <a:buNone/>
            </a:pPr>
            <a:r>
              <a:rPr lang="en-US" sz="1600" b="1" dirty="0">
                <a:solidFill>
                  <a:schemeClr val="bg1"/>
                </a:solidFill>
              </a:rPr>
              <a:t>Check recovery email and phone</a:t>
            </a:r>
            <a:endParaRPr lang="en-US" sz="1600" dirty="0"/>
          </a:p>
        </p:txBody>
      </p:sp>
      <p:sp>
        <p:nvSpPr>
          <p:cNvPr id="20" name="Text 17"/>
          <p:cNvSpPr txBox="1"/>
          <p:nvPr/>
        </p:nvSpPr>
        <p:spPr>
          <a:xfrm>
            <a:off x="7527569" y="3931920"/>
            <a:ext cx="1655064" cy="594360"/>
          </a:xfrm>
          <a:prstGeom prst="rect">
            <a:avLst/>
          </a:prstGeom>
          <a:noFill/>
          <a:ln/>
        </p:spPr>
        <p:txBody>
          <a:bodyPr wrap="square" lIns="0" tIns="0" rIns="0" bIns="0" rtlCol="0" anchor="t"/>
          <a:lstStyle/>
          <a:p>
            <a:pPr indent="0" marL="0">
              <a:buNone/>
            </a:pPr>
            <a:r>
              <a:rPr lang="en-US" sz="1300" dirty="0">
                <a:solidFill>
                  <a:srgbClr val="B8BEC9"/>
                </a:solidFill>
              </a:rPr>
              <a:t>No silent takeovers</a:t>
            </a:r>
            <a:endParaRPr lang="en-US" sz="1300" dirty="0"/>
          </a:p>
        </p:txBody>
      </p:sp>
      <p:sp>
        <p:nvSpPr>
          <p:cNvPr id="21" name="action 5"/>
          <p:cNvSpPr/>
          <p:nvPr/>
        </p:nvSpPr>
        <p:spPr>
          <a:xfrm>
            <a:off x="9585655" y="1920240"/>
            <a:ext cx="2057400" cy="2743200"/>
          </a:xfrm>
          <a:prstGeom prst="rect">
            <a:avLst/>
          </a:prstGeom>
          <a:solidFill>
            <a:srgbClr val="1E222A"/>
          </a:solidFill>
          <a:ln/>
        </p:spPr>
      </p:sp>
      <p:sp>
        <p:nvSpPr>
          <p:cNvPr id="22" name="Text 19"/>
          <p:cNvSpPr txBox="1"/>
          <p:nvPr/>
        </p:nvSpPr>
        <p:spPr>
          <a:xfrm>
            <a:off x="9786823" y="2194560"/>
            <a:ext cx="1097280" cy="548640"/>
          </a:xfrm>
          <a:prstGeom prst="rect">
            <a:avLst/>
          </a:prstGeom>
          <a:noFill/>
          <a:ln/>
        </p:spPr>
        <p:txBody>
          <a:bodyPr wrap="square" lIns="0" tIns="0" rIns="0" bIns="0" rtlCol="0" anchor="ctr"/>
          <a:lstStyle/>
          <a:p>
            <a:pPr indent="0" marL="0">
              <a:buNone/>
            </a:pPr>
            <a:r>
              <a:rPr lang="en-US" sz="3000" b="1" dirty="0">
                <a:solidFill>
                  <a:srgbClr val="8FB0FF"/>
                </a:solidFill>
              </a:rPr>
              <a:t>05</a:t>
            </a:r>
            <a:endParaRPr lang="en-US" sz="3000" dirty="0"/>
          </a:p>
        </p:txBody>
      </p:sp>
      <p:sp>
        <p:nvSpPr>
          <p:cNvPr id="23" name="Text 20"/>
          <p:cNvSpPr txBox="1"/>
          <p:nvPr/>
        </p:nvSpPr>
        <p:spPr>
          <a:xfrm>
            <a:off x="9786823" y="2834640"/>
            <a:ext cx="1655064" cy="1005840"/>
          </a:xfrm>
          <a:prstGeom prst="rect">
            <a:avLst/>
          </a:prstGeom>
          <a:noFill/>
          <a:ln/>
        </p:spPr>
        <p:txBody>
          <a:bodyPr wrap="square" lIns="0" tIns="0" rIns="0" bIns="0" rtlCol="0" anchor="t"/>
          <a:lstStyle/>
          <a:p>
            <a:pPr indent="0" marL="0">
              <a:buNone/>
            </a:pPr>
            <a:r>
              <a:rPr lang="en-US" sz="1600" b="1" dirty="0">
                <a:solidFill>
                  <a:schemeClr val="bg1"/>
                </a:solidFill>
              </a:rPr>
              <a:t>Log out unknown devices</a:t>
            </a:r>
            <a:endParaRPr lang="en-US" sz="1600" dirty="0"/>
          </a:p>
        </p:txBody>
      </p:sp>
      <p:sp>
        <p:nvSpPr>
          <p:cNvPr id="24" name="Text 21"/>
          <p:cNvSpPr txBox="1"/>
          <p:nvPr/>
        </p:nvSpPr>
        <p:spPr>
          <a:xfrm>
            <a:off x="9786823" y="3931920"/>
            <a:ext cx="1655064" cy="594360"/>
          </a:xfrm>
          <a:prstGeom prst="rect">
            <a:avLst/>
          </a:prstGeom>
          <a:noFill/>
          <a:ln/>
        </p:spPr>
        <p:txBody>
          <a:bodyPr wrap="square" lIns="0" tIns="0" rIns="0" bIns="0" rtlCol="0" anchor="t"/>
          <a:lstStyle/>
          <a:p>
            <a:pPr indent="0" marL="0">
              <a:buNone/>
            </a:pPr>
            <a:r>
              <a:rPr lang="en-US" sz="1300" dirty="0">
                <a:solidFill>
                  <a:srgbClr val="B8BEC9"/>
                </a:solidFill>
              </a:rPr>
              <a:t>Intruders get kicked out</a:t>
            </a:r>
            <a:endParaRPr lang="en-US" sz="1300" dirty="0"/>
          </a:p>
        </p:txBody>
      </p:sp>
      <p:sp>
        <p:nvSpPr>
          <p:cNvPr id="25" name="Text 22"/>
          <p:cNvSpPr txBox="1"/>
          <p:nvPr/>
        </p:nvSpPr>
        <p:spPr>
          <a:xfrm>
            <a:off x="548640" y="4983480"/>
            <a:ext cx="11094415" cy="548640"/>
          </a:xfrm>
          <a:prstGeom prst="rect">
            <a:avLst/>
          </a:prstGeom>
          <a:noFill/>
          <a:ln/>
        </p:spPr>
        <p:txBody>
          <a:bodyPr wrap="square" lIns="0" tIns="0" rIns="0" bIns="0" rtlCol="0" anchor="ctr"/>
          <a:lstStyle/>
          <a:p>
            <a:pPr indent="0" marL="0">
              <a:buNone/>
            </a:pPr>
            <a:r>
              <a:rPr lang="en-US" sz="2600" dirty="0">
                <a:solidFill>
                  <a:srgbClr val="D5D8DE"/>
                </a:solidFill>
              </a:rPr>
              <a:t>Hackers look for the easiest target. </a:t>
            </a:r>
            <a:pPr indent="0" marL="0">
              <a:buNone/>
            </a:pPr>
            <a:r>
              <a:rPr lang="en-US" sz="2600" b="1" dirty="0">
                <a:solidFill>
                  <a:srgbClr val="FF6B5E"/>
                </a:solidFill>
              </a:rPr>
              <a:t>Don’t be it.</a:t>
            </a:r>
            <a:endParaRPr lang="en-US" sz="2600" dirty="0"/>
          </a:p>
        </p:txBody>
      </p:sp>
      <p:sp>
        <p:nvSpPr>
          <p:cNvPr id="26" name="Text 23"/>
          <p:cNvSpPr txBox="1"/>
          <p:nvPr/>
        </p:nvSpPr>
        <p:spPr>
          <a:xfrm>
            <a:off x="548640" y="5669280"/>
            <a:ext cx="5486400" cy="411480"/>
          </a:xfrm>
          <a:prstGeom prst="rect">
            <a:avLst/>
          </a:prstGeom>
          <a:noFill/>
          <a:ln/>
        </p:spPr>
        <p:txBody>
          <a:bodyPr wrap="square" lIns="0" tIns="0" rIns="0" bIns="0" rtlCol="0" anchor="ctr"/>
          <a:lstStyle/>
          <a:p>
            <a:pPr indent="0" marL="0">
              <a:buNone/>
            </a:pPr>
            <a:r>
              <a:rPr lang="en-US" sz="1800" b="1" dirty="0">
                <a:solidFill>
                  <a:schemeClr val="bg1"/>
                </a:solidFill>
              </a:rPr>
              <a:t>Thank you  /  Questions?</a:t>
            </a:r>
            <a:endParaRPr lang="en-US" sz="1800" dirty="0"/>
          </a:p>
        </p:txBody>
      </p:sp>
      <p:sp>
        <p:nvSpPr>
          <p:cNvPr id="28" name="Text 0"/>
          <p:cNvSpPr/>
          <p:nvPr>
            <p:ph idx="100" type="title" hasCustomPrompt="1"/>
          </p:nvPr>
        </p:nvSpPr>
        <p:spPr>
          <a:xfrm>
            <a:off x="548640" y="1554480"/>
            <a:ext cx="7863840" cy="2057400"/>
          </a:xfrm>
          <a:prstGeom prst="rect">
            <a:avLst/>
          </a:prstGeom>
          <a:noFill/>
          <a:ln/>
        </p:spPr>
        <p:txBody>
          <a:bodyPr wrap="square" lIns="0" tIns="0" rIns="0" bIns="0" rtlCol="0" anchor="b"/>
          <a:lstStyle/>
          <a:p>
            <a:pPr algn="l" indent="0" marL="0">
              <a:buNone/>
            </a:pPr>
            <a:endParaRPr lang="en-US" sz="6400" dirty="0"/>
          </a:p>
        </p:txBody>
      </p:sp>
    </p:spTree>
  </p:cSld>
  <p:clrMapOvr>
    <a:masterClrMapping/>
  </p:clrMapOvr>
</p:sld>
</file>

<file path=ppt/theme/theme1.xml><?xml version="1.0" encoding="utf-8"?>
<a:theme xmlns:a="http://schemas.openxmlformats.org/drawingml/2006/main" name="Think Like a Hacker">
  <a:themeElements>
    <a:clrScheme name="Think Like a Hacker">
      <a:dk1>
        <a:srgbClr val="15171C"/>
      </a:dk1>
      <a:lt1>
        <a:srgbClr val="FFFFFF"/>
      </a:lt1>
      <a:dk2>
        <a:srgbClr val="111418"/>
      </a:dk2>
      <a:lt2>
        <a:srgbClr val="F3F4F6"/>
      </a:lt2>
      <a:accent1>
        <a:srgbClr val="E0312B"/>
      </a:accent1>
      <a:accent2>
        <a:srgbClr val="2557D6"/>
      </a:accent2>
      <a:accent3>
        <a:srgbClr val="F59E0B"/>
      </a:accent3>
      <a:accent4>
        <a:srgbClr val="0F9D58"/>
      </a:accent4>
      <a:accent5>
        <a:srgbClr val="6B7280"/>
      </a:accent5>
      <a:accent6>
        <a:srgbClr val="FF6B5E"/>
      </a:accent6>
      <a:hlink>
        <a:srgbClr val="2557D6"/>
      </a:hlink>
      <a:folHlink>
        <a:srgbClr val="E0312B"/>
      </a:folHlink>
    </a:clrScheme>
    <a:fontScheme name="Think Like a Hack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 Like a Hacker: Five Platforms Through the Offender’s Eyes</dc:title>
  <dc:subject>MCCJ 525 Cybercrimes and Security</dc:subject>
  <dc:creator>PptxGenJS</dc:creator>
  <cp:lastModifiedBy>PptxGenJS</cp:lastModifiedBy>
  <cp:revision>1</cp:revision>
  <dcterms:created xsi:type="dcterms:W3CDTF">2026-10-17T16:56:35Z</dcterms:created>
  <dcterms:modified xsi:type="dcterms:W3CDTF">2026-10-17T16:56:35Z</dcterms:modified>
</cp:coreProperties>
</file>